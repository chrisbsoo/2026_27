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2.xml" ContentType="application/vnd.openxmlformats-officedocument.drawingml.chart+xml"/>
  <Override PartName="/ppt/notesSlides/notesSlide25.xml" ContentType="application/vnd.openxmlformats-officedocument.presentationml.notesSlide+xml"/>
  <Override PartName="/ppt/charts/chart3.xml" ContentType="application/vnd.openxmlformats-officedocument.drawingml.chart+xml"/>
  <Override PartName="/ppt/notesSlides/notesSlide26.xml" ContentType="application/vnd.openxmlformats-officedocument.presentationml.notesSlide+xml"/>
  <Override PartName="/ppt/charts/chart4.xml" ContentType="application/vnd.openxmlformats-officedocument.drawingml.chart+xml"/>
  <Override PartName="/ppt/notesSlides/notesSlide27.xml" ContentType="application/vnd.openxmlformats-officedocument.presentationml.notesSlide+xml"/>
  <Override PartName="/ppt/charts/chart5.xml" ContentType="application/vnd.openxmlformats-officedocument.drawingml.chart+xml"/>
  <Override PartName="/ppt/notesSlides/notesSlide28.xml" ContentType="application/vnd.openxmlformats-officedocument.presentationml.notesSlide+xml"/>
  <Override PartName="/ppt/charts/chart6.xml" ContentType="application/vnd.openxmlformats-officedocument.drawingml.chart+xml"/>
  <Override PartName="/ppt/notesSlides/notesSlide29.xml" ContentType="application/vnd.openxmlformats-officedocument.presentationml.notesSlide+xml"/>
  <Override PartName="/ppt/charts/chart7.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10.xml" ContentType="application/vnd.openxmlformats-officedocument.drawingml.chart+xml"/>
  <Override PartName="/ppt/notesSlides/notesSlide36.xml" ContentType="application/vnd.openxmlformats-officedocument.presentationml.notesSlide+xml"/>
  <Override PartName="/ppt/charts/chart11.xml" ContentType="application/vnd.openxmlformats-officedocument.drawingml.chart+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12.xml" ContentType="application/vnd.openxmlformats-officedocument.drawingml.chart+xml"/>
  <Override PartName="/ppt/notesSlides/notesSlide39.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notesSlides/notesSlide40.xml" ContentType="application/vnd.openxmlformats-officedocument.presentationml.notesSlide+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47"/>
  </p:notesMasterIdLst>
  <p:sldIdLst>
    <p:sldId id="256" r:id="rId3"/>
    <p:sldId id="257" r:id="rId4"/>
    <p:sldId id="258" r:id="rId5"/>
    <p:sldId id="259" r:id="rId6"/>
    <p:sldId id="260" r:id="rId7"/>
    <p:sldId id="262" r:id="rId8"/>
    <p:sldId id="263" r:id="rId9"/>
    <p:sldId id="264" r:id="rId10"/>
    <p:sldId id="296" r:id="rId11"/>
    <p:sldId id="299" r:id="rId12"/>
    <p:sldId id="270" r:id="rId13"/>
    <p:sldId id="271" r:id="rId14"/>
    <p:sldId id="272" r:id="rId15"/>
    <p:sldId id="267" r:id="rId16"/>
    <p:sldId id="301" r:id="rId17"/>
    <p:sldId id="269" r:id="rId18"/>
    <p:sldId id="268" r:id="rId19"/>
    <p:sldId id="273" r:id="rId20"/>
    <p:sldId id="303" r:id="rId21"/>
    <p:sldId id="274" r:id="rId22"/>
    <p:sldId id="275" r:id="rId23"/>
    <p:sldId id="276" r:id="rId24"/>
    <p:sldId id="277" r:id="rId25"/>
    <p:sldId id="297" r:id="rId26"/>
    <p:sldId id="302" r:id="rId27"/>
    <p:sldId id="278" r:id="rId28"/>
    <p:sldId id="279" r:id="rId29"/>
    <p:sldId id="300" r:id="rId30"/>
    <p:sldId id="280" r:id="rId31"/>
    <p:sldId id="281" r:id="rId32"/>
    <p:sldId id="282" r:id="rId33"/>
    <p:sldId id="283" r:id="rId34"/>
    <p:sldId id="284" r:id="rId35"/>
    <p:sldId id="298" r:id="rId36"/>
    <p:sldId id="286" r:id="rId37"/>
    <p:sldId id="287" r:id="rId38"/>
    <p:sldId id="288" r:id="rId39"/>
    <p:sldId id="289" r:id="rId40"/>
    <p:sldId id="290" r:id="rId41"/>
    <p:sldId id="291" r:id="rId42"/>
    <p:sldId id="292" r:id="rId43"/>
    <p:sldId id="293" r:id="rId44"/>
    <p:sldId id="294" r:id="rId45"/>
    <p:sldId id="295" r:id="rId4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7F83"/>
    <a:srgbClr val="3E79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24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o Colomboni" userId="dd40f206-3c8d-4cae-a481-e04c30f4a734" providerId="ADAL" clId="{60E66902-36BF-4793-9F68-7CEF37DD1CC7}"/>
    <pc:docChg chg="modSld">
      <pc:chgData name="Roberto Colomboni" userId="dd40f206-3c8d-4cae-a481-e04c30f4a734" providerId="ADAL" clId="{60E66902-36BF-4793-9F68-7CEF37DD1CC7}" dt="2026-10-06T11:06:27.655" v="142" actId="20577"/>
      <pc:docMkLst>
        <pc:docMk/>
      </pc:docMkLst>
      <pc:sldChg chg="modSp mod">
        <pc:chgData name="Roberto Colomboni" userId="dd40f206-3c8d-4cae-a481-e04c30f4a734" providerId="ADAL" clId="{60E66902-36BF-4793-9F68-7CEF37DD1CC7}" dt="2026-10-06T11:06:27.655" v="142" actId="20577"/>
        <pc:sldMkLst>
          <pc:docMk/>
          <pc:sldMk cId="556765960" sldId="293"/>
        </pc:sldMkLst>
        <pc:spChg chg="mod">
          <ac:chgData name="Roberto Colomboni" userId="dd40f206-3c8d-4cae-a481-e04c30f4a734" providerId="ADAL" clId="{60E66902-36BF-4793-9F68-7CEF37DD1CC7}" dt="2026-10-06T11:06:27.655" v="142" actId="20577"/>
          <ac:spMkLst>
            <pc:docMk/>
            <pc:sldMk cId="556765960" sldId="293"/>
            <ac:spMk id="8" creationId="{7AFDAF17-BA98-4773-9B6D-AC59EC084D3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ReLU</c:v>
          </c:tx>
          <c:spPr>
            <a:ln w="29528">
              <a:solidFill>
                <a:srgbClr val="087F83"/>
              </a:solidFill>
            </a:ln>
          </c:spPr>
          <c:marker>
            <c:symbol val="none"/>
          </c:marker>
          <c:xVal>
            <c:numRef>
              <c:f>'Chart Data'!$A$2:$A$102</c:f>
              <c:numCache>
                <c:formatCode>General</c:formatCode>
                <c:ptCount val="101"/>
                <c:pt idx="0">
                  <c:v>-2</c:v>
                </c:pt>
                <c:pt idx="1">
                  <c:v>-1.95</c:v>
                </c:pt>
                <c:pt idx="2">
                  <c:v>-1.9</c:v>
                </c:pt>
                <c:pt idx="3">
                  <c:v>-1.85</c:v>
                </c:pt>
                <c:pt idx="4">
                  <c:v>-1.8</c:v>
                </c:pt>
                <c:pt idx="5">
                  <c:v>-1.75</c:v>
                </c:pt>
                <c:pt idx="6">
                  <c:v>-1.7</c:v>
                </c:pt>
                <c:pt idx="7">
                  <c:v>-1.65</c:v>
                </c:pt>
                <c:pt idx="8">
                  <c:v>-1.6</c:v>
                </c:pt>
                <c:pt idx="9">
                  <c:v>-1.55</c:v>
                </c:pt>
                <c:pt idx="10">
                  <c:v>-1.5</c:v>
                </c:pt>
                <c:pt idx="11">
                  <c:v>-1.45</c:v>
                </c:pt>
                <c:pt idx="12">
                  <c:v>-1.4</c:v>
                </c:pt>
                <c:pt idx="13">
                  <c:v>-1.35</c:v>
                </c:pt>
                <c:pt idx="14">
                  <c:v>-1.3</c:v>
                </c:pt>
                <c:pt idx="15">
                  <c:v>-1.25</c:v>
                </c:pt>
                <c:pt idx="16">
                  <c:v>-1.2</c:v>
                </c:pt>
                <c:pt idx="17">
                  <c:v>-1.15</c:v>
                </c:pt>
                <c:pt idx="18">
                  <c:v>-1.1</c:v>
                </c:pt>
                <c:pt idx="19">
                  <c:v>-1.05</c:v>
                </c:pt>
                <c:pt idx="20">
                  <c:v>-1</c:v>
                </c:pt>
                <c:pt idx="21">
                  <c:v>-0.95</c:v>
                </c:pt>
                <c:pt idx="22">
                  <c:v>-0.9</c:v>
                </c:pt>
                <c:pt idx="23">
                  <c:v>-0.85</c:v>
                </c:pt>
                <c:pt idx="24">
                  <c:v>-0.8</c:v>
                </c:pt>
                <c:pt idx="25">
                  <c:v>-0.75</c:v>
                </c:pt>
                <c:pt idx="26">
                  <c:v>-0.7</c:v>
                </c:pt>
                <c:pt idx="27">
                  <c:v>-0.65</c:v>
                </c:pt>
                <c:pt idx="28">
                  <c:v>-0.6</c:v>
                </c:pt>
                <c:pt idx="29">
                  <c:v>-0.55</c:v>
                </c:pt>
                <c:pt idx="30">
                  <c:v>-0.5</c:v>
                </c:pt>
                <c:pt idx="31">
                  <c:v>-0.45</c:v>
                </c:pt>
                <c:pt idx="32">
                  <c:v>-0.4</c:v>
                </c:pt>
                <c:pt idx="33">
                  <c:v>-0.35</c:v>
                </c:pt>
                <c:pt idx="34">
                  <c:v>-0.3</c:v>
                </c:pt>
                <c:pt idx="35">
                  <c:v>-0.25</c:v>
                </c:pt>
                <c:pt idx="36">
                  <c:v>-0.2</c:v>
                </c:pt>
                <c:pt idx="37">
                  <c:v>-0.15</c:v>
                </c:pt>
                <c:pt idx="38">
                  <c:v>-0.1</c:v>
                </c:pt>
                <c:pt idx="39">
                  <c:v>-0.05</c:v>
                </c:pt>
                <c:pt idx="40">
                  <c:v>0</c:v>
                </c:pt>
                <c:pt idx="41">
                  <c:v>0.05</c:v>
                </c:pt>
                <c:pt idx="42">
                  <c:v>0.1</c:v>
                </c:pt>
                <c:pt idx="43">
                  <c:v>0.15</c:v>
                </c:pt>
                <c:pt idx="44">
                  <c:v>0.2</c:v>
                </c:pt>
                <c:pt idx="45">
                  <c:v>0.25</c:v>
                </c:pt>
                <c:pt idx="46">
                  <c:v>0.3</c:v>
                </c:pt>
                <c:pt idx="47">
                  <c:v>0.35</c:v>
                </c:pt>
                <c:pt idx="48">
                  <c:v>0.4</c:v>
                </c:pt>
                <c:pt idx="49">
                  <c:v>0.45</c:v>
                </c:pt>
                <c:pt idx="50">
                  <c:v>0.5</c:v>
                </c:pt>
                <c:pt idx="51">
                  <c:v>0.55</c:v>
                </c:pt>
                <c:pt idx="52">
                  <c:v>0.6</c:v>
                </c:pt>
                <c:pt idx="53">
                  <c:v>0.65</c:v>
                </c:pt>
                <c:pt idx="54">
                  <c:v>0.7</c:v>
                </c:pt>
                <c:pt idx="55">
                  <c:v>0.75</c:v>
                </c:pt>
                <c:pt idx="56">
                  <c:v>0.8</c:v>
                </c:pt>
                <c:pt idx="57">
                  <c:v>0.85</c:v>
                </c:pt>
                <c:pt idx="58">
                  <c:v>0.9</c:v>
                </c:pt>
                <c:pt idx="59">
                  <c:v>0.95</c:v>
                </c:pt>
                <c:pt idx="60">
                  <c:v>1</c:v>
                </c:pt>
                <c:pt idx="61">
                  <c:v>1.05</c:v>
                </c:pt>
                <c:pt idx="62">
                  <c:v>1.1</c:v>
                </c:pt>
                <c:pt idx="63">
                  <c:v>1.15</c:v>
                </c:pt>
                <c:pt idx="64">
                  <c:v>1.2</c:v>
                </c:pt>
                <c:pt idx="65">
                  <c:v>1.25</c:v>
                </c:pt>
                <c:pt idx="66">
                  <c:v>1.3</c:v>
                </c:pt>
                <c:pt idx="67">
                  <c:v>1.35</c:v>
                </c:pt>
                <c:pt idx="68">
                  <c:v>1.4</c:v>
                </c:pt>
                <c:pt idx="69">
                  <c:v>1.45</c:v>
                </c:pt>
                <c:pt idx="70">
                  <c:v>1.5</c:v>
                </c:pt>
                <c:pt idx="71">
                  <c:v>1.55</c:v>
                </c:pt>
                <c:pt idx="72">
                  <c:v>1.6</c:v>
                </c:pt>
                <c:pt idx="73">
                  <c:v>1.65</c:v>
                </c:pt>
                <c:pt idx="74">
                  <c:v>1.7</c:v>
                </c:pt>
                <c:pt idx="75">
                  <c:v>1.75</c:v>
                </c:pt>
                <c:pt idx="76">
                  <c:v>1.8</c:v>
                </c:pt>
                <c:pt idx="77">
                  <c:v>1.85</c:v>
                </c:pt>
                <c:pt idx="78">
                  <c:v>1.9</c:v>
                </c:pt>
                <c:pt idx="79">
                  <c:v>1.95</c:v>
                </c:pt>
                <c:pt idx="80">
                  <c:v>2</c:v>
                </c:pt>
                <c:pt idx="81">
                  <c:v>2.05</c:v>
                </c:pt>
                <c:pt idx="82">
                  <c:v>2.1</c:v>
                </c:pt>
                <c:pt idx="83">
                  <c:v>2.15</c:v>
                </c:pt>
                <c:pt idx="84">
                  <c:v>2.2</c:v>
                </c:pt>
                <c:pt idx="85">
                  <c:v>2.25</c:v>
                </c:pt>
                <c:pt idx="86">
                  <c:v>2.3</c:v>
                </c:pt>
                <c:pt idx="87">
                  <c:v>2.35</c:v>
                </c:pt>
                <c:pt idx="88">
                  <c:v>2.4</c:v>
                </c:pt>
                <c:pt idx="89">
                  <c:v>2.45</c:v>
                </c:pt>
                <c:pt idx="90">
                  <c:v>2.5</c:v>
                </c:pt>
                <c:pt idx="91">
                  <c:v>2.55</c:v>
                </c:pt>
                <c:pt idx="92">
                  <c:v>2.6</c:v>
                </c:pt>
                <c:pt idx="93">
                  <c:v>2.65</c:v>
                </c:pt>
                <c:pt idx="94">
                  <c:v>2.7</c:v>
                </c:pt>
                <c:pt idx="95">
                  <c:v>2.75</c:v>
                </c:pt>
                <c:pt idx="96">
                  <c:v>2.8</c:v>
                </c:pt>
                <c:pt idx="97">
                  <c:v>2.85</c:v>
                </c:pt>
                <c:pt idx="98">
                  <c:v>2.9</c:v>
                </c:pt>
                <c:pt idx="99">
                  <c:v>2.95</c:v>
                </c:pt>
                <c:pt idx="100">
                  <c:v>3</c:v>
                </c:pt>
              </c:numCache>
            </c:numRef>
          </c:xVal>
          <c:yVal>
            <c:numRef>
              <c:f>'Chart Data'!$B$2:$B$102</c:f>
              <c:numCache>
                <c:formatCode>General</c:formatCode>
                <c:ptCount val="1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0.05</c:v>
                </c:pt>
                <c:pt idx="42">
                  <c:v>0.1</c:v>
                </c:pt>
                <c:pt idx="43">
                  <c:v>0.15</c:v>
                </c:pt>
                <c:pt idx="44">
                  <c:v>0.2</c:v>
                </c:pt>
                <c:pt idx="45">
                  <c:v>0.25</c:v>
                </c:pt>
                <c:pt idx="46">
                  <c:v>0.3</c:v>
                </c:pt>
                <c:pt idx="47">
                  <c:v>0.35</c:v>
                </c:pt>
                <c:pt idx="48">
                  <c:v>0.4</c:v>
                </c:pt>
                <c:pt idx="49">
                  <c:v>0.45</c:v>
                </c:pt>
                <c:pt idx="50">
                  <c:v>0.5</c:v>
                </c:pt>
                <c:pt idx="51">
                  <c:v>0.55</c:v>
                </c:pt>
                <c:pt idx="52">
                  <c:v>0.6</c:v>
                </c:pt>
                <c:pt idx="53">
                  <c:v>0.65</c:v>
                </c:pt>
                <c:pt idx="54">
                  <c:v>0.7</c:v>
                </c:pt>
                <c:pt idx="55">
                  <c:v>0.75</c:v>
                </c:pt>
                <c:pt idx="56">
                  <c:v>0.8</c:v>
                </c:pt>
                <c:pt idx="57">
                  <c:v>0.85</c:v>
                </c:pt>
                <c:pt idx="58">
                  <c:v>0.9</c:v>
                </c:pt>
                <c:pt idx="59">
                  <c:v>0.95</c:v>
                </c:pt>
                <c:pt idx="60">
                  <c:v>1</c:v>
                </c:pt>
                <c:pt idx="61">
                  <c:v>1.05</c:v>
                </c:pt>
                <c:pt idx="62">
                  <c:v>1.1</c:v>
                </c:pt>
                <c:pt idx="63">
                  <c:v>1.15</c:v>
                </c:pt>
                <c:pt idx="64">
                  <c:v>1.2</c:v>
                </c:pt>
                <c:pt idx="65">
                  <c:v>1.25</c:v>
                </c:pt>
                <c:pt idx="66">
                  <c:v>1.3</c:v>
                </c:pt>
                <c:pt idx="67">
                  <c:v>1.35</c:v>
                </c:pt>
                <c:pt idx="68">
                  <c:v>1.4</c:v>
                </c:pt>
                <c:pt idx="69">
                  <c:v>1.45</c:v>
                </c:pt>
                <c:pt idx="70">
                  <c:v>1.5</c:v>
                </c:pt>
                <c:pt idx="71">
                  <c:v>1.55</c:v>
                </c:pt>
                <c:pt idx="72">
                  <c:v>1.6</c:v>
                </c:pt>
                <c:pt idx="73">
                  <c:v>1.65</c:v>
                </c:pt>
                <c:pt idx="74">
                  <c:v>1.7</c:v>
                </c:pt>
                <c:pt idx="75">
                  <c:v>1.75</c:v>
                </c:pt>
                <c:pt idx="76">
                  <c:v>1.8</c:v>
                </c:pt>
                <c:pt idx="77">
                  <c:v>1.85</c:v>
                </c:pt>
                <c:pt idx="78">
                  <c:v>1.9</c:v>
                </c:pt>
                <c:pt idx="79">
                  <c:v>1.95</c:v>
                </c:pt>
                <c:pt idx="80">
                  <c:v>2</c:v>
                </c:pt>
                <c:pt idx="81">
                  <c:v>2.05</c:v>
                </c:pt>
                <c:pt idx="82">
                  <c:v>2.1</c:v>
                </c:pt>
                <c:pt idx="83">
                  <c:v>2.15</c:v>
                </c:pt>
                <c:pt idx="84">
                  <c:v>2.2</c:v>
                </c:pt>
                <c:pt idx="85">
                  <c:v>2.25</c:v>
                </c:pt>
                <c:pt idx="86">
                  <c:v>2.3</c:v>
                </c:pt>
                <c:pt idx="87">
                  <c:v>2.35</c:v>
                </c:pt>
                <c:pt idx="88">
                  <c:v>2.4</c:v>
                </c:pt>
                <c:pt idx="89">
                  <c:v>2.45</c:v>
                </c:pt>
                <c:pt idx="90">
                  <c:v>2.5</c:v>
                </c:pt>
                <c:pt idx="91">
                  <c:v>2.55</c:v>
                </c:pt>
                <c:pt idx="92">
                  <c:v>2.6</c:v>
                </c:pt>
                <c:pt idx="93">
                  <c:v>2.65</c:v>
                </c:pt>
                <c:pt idx="94">
                  <c:v>2.7</c:v>
                </c:pt>
                <c:pt idx="95">
                  <c:v>2.75</c:v>
                </c:pt>
                <c:pt idx="96">
                  <c:v>2.8</c:v>
                </c:pt>
                <c:pt idx="97">
                  <c:v>2.85</c:v>
                </c:pt>
                <c:pt idx="98">
                  <c:v>2.9</c:v>
                </c:pt>
                <c:pt idx="99">
                  <c:v>2.95</c:v>
                </c:pt>
                <c:pt idx="100">
                  <c:v>3</c:v>
                </c:pt>
              </c:numCache>
            </c:numRef>
          </c:yVal>
          <c:smooth val="0"/>
          <c:extLst>
            <c:ext xmlns:c16="http://schemas.microsoft.com/office/drawing/2014/chart" uri="{C3380CC4-5D6E-409C-BE32-E72D297353CC}">
              <c16:uniqueId val="{00000000-0EC2-48E4-B745-882E94E4F004}"/>
            </c:ext>
          </c:extLst>
        </c:ser>
        <c:dLbls>
          <c:showLegendKey val="0"/>
          <c:showVal val="0"/>
          <c:showCatName val="0"/>
          <c:showSerName val="0"/>
          <c:showPercent val="0"/>
          <c:showBubbleSize val="0"/>
        </c:dLbls>
        <c:axId val="48650112"/>
        <c:axId val="48672768"/>
      </c:scatterChart>
      <c:valAx>
        <c:axId val="48672768"/>
        <c:scaling>
          <c:orientation val="minMax"/>
          <c:max val="3.5"/>
          <c:min val="-0.5"/>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ReLU(a)</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2"/>
        <c:crossBetween val="midCat"/>
        <c:majorUnit val="0.5"/>
      </c:valAx>
      <c:valAx>
        <c:axId val="48650112"/>
        <c:scaling>
          <c:orientation val="minMax"/>
          <c:max val="3"/>
          <c:min val="-2"/>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5"/>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T(x)</c:v>
          </c:tx>
          <c:spPr>
            <a:ln w="33338">
              <a:solidFill>
                <a:srgbClr val="087F83"/>
              </a:solidFill>
            </a:ln>
          </c:spPr>
          <c:marker>
            <c:symbol val="none"/>
          </c:marker>
          <c:xVal>
            <c:numRef>
              <c:f>'Chart Data'!$A$2:$A$82</c:f>
              <c:numCache>
                <c:formatCode>General</c:formatCode>
                <c:ptCount val="81"/>
                <c:pt idx="0">
                  <c:v>-1</c:v>
                </c:pt>
                <c:pt idx="1">
                  <c:v>-0.95</c:v>
                </c:pt>
                <c:pt idx="2">
                  <c:v>-0.9</c:v>
                </c:pt>
                <c:pt idx="3">
                  <c:v>-0.85</c:v>
                </c:pt>
                <c:pt idx="4">
                  <c:v>-0.8</c:v>
                </c:pt>
                <c:pt idx="5">
                  <c:v>-0.75</c:v>
                </c:pt>
                <c:pt idx="6">
                  <c:v>-0.7</c:v>
                </c:pt>
                <c:pt idx="7">
                  <c:v>-0.65</c:v>
                </c:pt>
                <c:pt idx="8">
                  <c:v>-0.6</c:v>
                </c:pt>
                <c:pt idx="9">
                  <c:v>-0.55</c:v>
                </c:pt>
                <c:pt idx="10">
                  <c:v>-0.5</c:v>
                </c:pt>
                <c:pt idx="11">
                  <c:v>-0.45</c:v>
                </c:pt>
                <c:pt idx="12">
                  <c:v>-0.4</c:v>
                </c:pt>
                <c:pt idx="13">
                  <c:v>-0.35</c:v>
                </c:pt>
                <c:pt idx="14">
                  <c:v>-0.3</c:v>
                </c:pt>
                <c:pt idx="15">
                  <c:v>-0.25</c:v>
                </c:pt>
                <c:pt idx="16">
                  <c:v>-0.2</c:v>
                </c:pt>
                <c:pt idx="17">
                  <c:v>-0.15</c:v>
                </c:pt>
                <c:pt idx="18">
                  <c:v>-0.1</c:v>
                </c:pt>
                <c:pt idx="19">
                  <c:v>-0.05</c:v>
                </c:pt>
                <c:pt idx="20">
                  <c:v>0</c:v>
                </c:pt>
                <c:pt idx="21">
                  <c:v>0.05</c:v>
                </c:pt>
                <c:pt idx="22">
                  <c:v>0.1</c:v>
                </c:pt>
                <c:pt idx="23">
                  <c:v>0.15</c:v>
                </c:pt>
                <c:pt idx="24">
                  <c:v>0.2</c:v>
                </c:pt>
                <c:pt idx="25">
                  <c:v>0.25</c:v>
                </c:pt>
                <c:pt idx="26">
                  <c:v>0.3</c:v>
                </c:pt>
                <c:pt idx="27">
                  <c:v>0.35</c:v>
                </c:pt>
                <c:pt idx="28">
                  <c:v>0.4</c:v>
                </c:pt>
                <c:pt idx="29">
                  <c:v>0.45</c:v>
                </c:pt>
                <c:pt idx="30">
                  <c:v>0.5</c:v>
                </c:pt>
                <c:pt idx="31">
                  <c:v>0.55</c:v>
                </c:pt>
                <c:pt idx="32">
                  <c:v>0.6</c:v>
                </c:pt>
                <c:pt idx="33">
                  <c:v>0.65</c:v>
                </c:pt>
                <c:pt idx="34">
                  <c:v>0.7</c:v>
                </c:pt>
                <c:pt idx="35">
                  <c:v>0.75</c:v>
                </c:pt>
                <c:pt idx="36">
                  <c:v>0.8</c:v>
                </c:pt>
                <c:pt idx="37">
                  <c:v>0.85</c:v>
                </c:pt>
                <c:pt idx="38">
                  <c:v>0.9</c:v>
                </c:pt>
                <c:pt idx="39">
                  <c:v>0.95</c:v>
                </c:pt>
                <c:pt idx="40">
                  <c:v>1</c:v>
                </c:pt>
                <c:pt idx="41">
                  <c:v>1.05</c:v>
                </c:pt>
                <c:pt idx="42">
                  <c:v>1.1</c:v>
                </c:pt>
                <c:pt idx="43">
                  <c:v>1.15</c:v>
                </c:pt>
                <c:pt idx="44">
                  <c:v>1.2</c:v>
                </c:pt>
                <c:pt idx="45">
                  <c:v>1.25</c:v>
                </c:pt>
                <c:pt idx="46">
                  <c:v>1.3</c:v>
                </c:pt>
                <c:pt idx="47">
                  <c:v>1.35</c:v>
                </c:pt>
                <c:pt idx="48">
                  <c:v>1.4</c:v>
                </c:pt>
                <c:pt idx="49">
                  <c:v>1.45</c:v>
                </c:pt>
                <c:pt idx="50">
                  <c:v>1.5</c:v>
                </c:pt>
                <c:pt idx="51">
                  <c:v>1.55</c:v>
                </c:pt>
                <c:pt idx="52">
                  <c:v>1.6</c:v>
                </c:pt>
                <c:pt idx="53">
                  <c:v>1.65</c:v>
                </c:pt>
                <c:pt idx="54">
                  <c:v>1.7</c:v>
                </c:pt>
                <c:pt idx="55">
                  <c:v>1.75</c:v>
                </c:pt>
                <c:pt idx="56">
                  <c:v>1.8</c:v>
                </c:pt>
                <c:pt idx="57">
                  <c:v>1.85</c:v>
                </c:pt>
                <c:pt idx="58">
                  <c:v>1.9</c:v>
                </c:pt>
                <c:pt idx="59">
                  <c:v>1.95</c:v>
                </c:pt>
                <c:pt idx="60">
                  <c:v>2</c:v>
                </c:pt>
                <c:pt idx="61">
                  <c:v>2.05</c:v>
                </c:pt>
                <c:pt idx="62">
                  <c:v>2.1</c:v>
                </c:pt>
                <c:pt idx="63">
                  <c:v>2.15</c:v>
                </c:pt>
                <c:pt idx="64">
                  <c:v>2.2</c:v>
                </c:pt>
                <c:pt idx="65">
                  <c:v>2.25</c:v>
                </c:pt>
                <c:pt idx="66">
                  <c:v>2.3</c:v>
                </c:pt>
                <c:pt idx="67">
                  <c:v>2.35</c:v>
                </c:pt>
                <c:pt idx="68">
                  <c:v>2.4</c:v>
                </c:pt>
                <c:pt idx="69">
                  <c:v>2.45</c:v>
                </c:pt>
                <c:pt idx="70">
                  <c:v>2.5</c:v>
                </c:pt>
                <c:pt idx="71">
                  <c:v>2.55</c:v>
                </c:pt>
                <c:pt idx="72">
                  <c:v>2.6</c:v>
                </c:pt>
                <c:pt idx="73">
                  <c:v>2.65</c:v>
                </c:pt>
                <c:pt idx="74">
                  <c:v>2.7</c:v>
                </c:pt>
                <c:pt idx="75">
                  <c:v>2.75</c:v>
                </c:pt>
                <c:pt idx="76">
                  <c:v>2.8</c:v>
                </c:pt>
                <c:pt idx="77">
                  <c:v>2.85</c:v>
                </c:pt>
                <c:pt idx="78">
                  <c:v>2.9</c:v>
                </c:pt>
                <c:pt idx="79">
                  <c:v>2.95</c:v>
                </c:pt>
                <c:pt idx="80">
                  <c:v>3</c:v>
                </c:pt>
              </c:numCache>
            </c:numRef>
          </c:xVal>
          <c:yVal>
            <c:numRef>
              <c:f>'Chart Data'!$B$2:$B$82</c:f>
              <c:numCache>
                <c:formatCode>General</c:formatCode>
                <c:ptCount val="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0.05</c:v>
                </c:pt>
                <c:pt idx="22">
                  <c:v>0.1</c:v>
                </c:pt>
                <c:pt idx="23">
                  <c:v>0.15</c:v>
                </c:pt>
                <c:pt idx="24">
                  <c:v>0.2</c:v>
                </c:pt>
                <c:pt idx="25">
                  <c:v>0.25</c:v>
                </c:pt>
                <c:pt idx="26">
                  <c:v>0.3</c:v>
                </c:pt>
                <c:pt idx="27">
                  <c:v>0.35</c:v>
                </c:pt>
                <c:pt idx="28">
                  <c:v>0.4</c:v>
                </c:pt>
                <c:pt idx="29">
                  <c:v>0.45</c:v>
                </c:pt>
                <c:pt idx="30">
                  <c:v>0.5</c:v>
                </c:pt>
                <c:pt idx="31">
                  <c:v>0.55</c:v>
                </c:pt>
                <c:pt idx="32">
                  <c:v>0.6</c:v>
                </c:pt>
                <c:pt idx="33">
                  <c:v>0.65</c:v>
                </c:pt>
                <c:pt idx="34">
                  <c:v>0.7</c:v>
                </c:pt>
                <c:pt idx="35">
                  <c:v>0.75</c:v>
                </c:pt>
                <c:pt idx="36">
                  <c:v>0.8</c:v>
                </c:pt>
                <c:pt idx="37">
                  <c:v>0.85</c:v>
                </c:pt>
                <c:pt idx="38">
                  <c:v>0.9</c:v>
                </c:pt>
                <c:pt idx="39">
                  <c:v>0.95</c:v>
                </c:pt>
                <c:pt idx="40">
                  <c:v>1</c:v>
                </c:pt>
                <c:pt idx="41">
                  <c:v>0.95</c:v>
                </c:pt>
                <c:pt idx="42">
                  <c:v>0.9</c:v>
                </c:pt>
                <c:pt idx="43">
                  <c:v>0.85</c:v>
                </c:pt>
                <c:pt idx="44">
                  <c:v>0.8</c:v>
                </c:pt>
                <c:pt idx="45">
                  <c:v>0.75</c:v>
                </c:pt>
                <c:pt idx="46">
                  <c:v>0.7</c:v>
                </c:pt>
                <c:pt idx="47">
                  <c:v>0.65</c:v>
                </c:pt>
                <c:pt idx="48">
                  <c:v>0.6</c:v>
                </c:pt>
                <c:pt idx="49">
                  <c:v>0.55</c:v>
                </c:pt>
                <c:pt idx="50">
                  <c:v>0.5</c:v>
                </c:pt>
                <c:pt idx="51">
                  <c:v>0.45</c:v>
                </c:pt>
                <c:pt idx="52">
                  <c:v>0.4</c:v>
                </c:pt>
                <c:pt idx="53">
                  <c:v>0.35</c:v>
                </c:pt>
                <c:pt idx="54">
                  <c:v>0.3</c:v>
                </c:pt>
                <c:pt idx="55">
                  <c:v>0.25</c:v>
                </c:pt>
                <c:pt idx="56">
                  <c:v>0.2</c:v>
                </c:pt>
                <c:pt idx="57">
                  <c:v>0.15</c:v>
                </c:pt>
                <c:pt idx="58">
                  <c:v>0.1</c:v>
                </c:pt>
                <c:pt idx="59">
                  <c:v>0.05</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yVal>
          <c:smooth val="0"/>
          <c:extLst>
            <c:ext xmlns:c16="http://schemas.microsoft.com/office/drawing/2014/chart" uri="{C3380CC4-5D6E-409C-BE32-E72D297353CC}">
              <c16:uniqueId val="{00000000-422C-4CDF-9D19-49199147CA50}"/>
            </c:ext>
          </c:extLst>
        </c:ser>
        <c:dLbls>
          <c:showLegendKey val="0"/>
          <c:showVal val="0"/>
          <c:showCatName val="0"/>
          <c:showSerName val="0"/>
          <c:showPercent val="0"/>
          <c:showBubbleSize val="0"/>
        </c:dLbls>
        <c:axId val="48650112"/>
        <c:axId val="48672768"/>
      </c:scatterChart>
      <c:valAx>
        <c:axId val="48672768"/>
        <c:scaling>
          <c:orientation val="minMax"/>
          <c:max val="1.25"/>
          <c:min val="0"/>
        </c:scaling>
        <c:delete val="0"/>
        <c:axPos val="l"/>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1"/>
        <c:crossBetween val="midCat"/>
        <c:majorUnit val="0.5"/>
      </c:valAx>
      <c:valAx>
        <c:axId val="48650112"/>
        <c:scaling>
          <c:orientation val="minMax"/>
          <c:max val="3"/>
          <c:min val="-1"/>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Target triangle</c:v>
          </c:tx>
          <c:spPr>
            <a:ln w="20002">
              <a:solidFill>
                <a:srgbClr val="BBC5D0"/>
              </a:solidFill>
              <a:prstDash val="dash"/>
            </a:ln>
          </c:spPr>
          <c:marker>
            <c:symbol val="none"/>
          </c:marker>
          <c:xVal>
            <c:numRef>
              <c:f>'Chart Data'!$A$2:$A$82</c:f>
              <c:numCache>
                <c:formatCode>General</c:formatCode>
                <c:ptCount val="81"/>
                <c:pt idx="0">
                  <c:v>-1</c:v>
                </c:pt>
                <c:pt idx="1">
                  <c:v>-0.95</c:v>
                </c:pt>
                <c:pt idx="2">
                  <c:v>-0.9</c:v>
                </c:pt>
                <c:pt idx="3">
                  <c:v>-0.85</c:v>
                </c:pt>
                <c:pt idx="4">
                  <c:v>-0.8</c:v>
                </c:pt>
                <c:pt idx="5">
                  <c:v>-0.75</c:v>
                </c:pt>
                <c:pt idx="6">
                  <c:v>-0.7</c:v>
                </c:pt>
                <c:pt idx="7">
                  <c:v>-0.65</c:v>
                </c:pt>
                <c:pt idx="8">
                  <c:v>-0.6</c:v>
                </c:pt>
                <c:pt idx="9">
                  <c:v>-0.55</c:v>
                </c:pt>
                <c:pt idx="10">
                  <c:v>-0.5</c:v>
                </c:pt>
                <c:pt idx="11">
                  <c:v>-0.45</c:v>
                </c:pt>
                <c:pt idx="12">
                  <c:v>-0.4</c:v>
                </c:pt>
                <c:pt idx="13">
                  <c:v>-0.35</c:v>
                </c:pt>
                <c:pt idx="14">
                  <c:v>-0.3</c:v>
                </c:pt>
                <c:pt idx="15">
                  <c:v>-0.25</c:v>
                </c:pt>
                <c:pt idx="16">
                  <c:v>-0.2</c:v>
                </c:pt>
                <c:pt idx="17">
                  <c:v>-0.15</c:v>
                </c:pt>
                <c:pt idx="18">
                  <c:v>-0.1</c:v>
                </c:pt>
                <c:pt idx="19">
                  <c:v>-0.05</c:v>
                </c:pt>
                <c:pt idx="20">
                  <c:v>0</c:v>
                </c:pt>
                <c:pt idx="21">
                  <c:v>0.05</c:v>
                </c:pt>
                <c:pt idx="22">
                  <c:v>0.1</c:v>
                </c:pt>
                <c:pt idx="23">
                  <c:v>0.15</c:v>
                </c:pt>
                <c:pt idx="24">
                  <c:v>0.2</c:v>
                </c:pt>
                <c:pt idx="25">
                  <c:v>0.25</c:v>
                </c:pt>
                <c:pt idx="26">
                  <c:v>0.3</c:v>
                </c:pt>
                <c:pt idx="27">
                  <c:v>0.35</c:v>
                </c:pt>
                <c:pt idx="28">
                  <c:v>0.4</c:v>
                </c:pt>
                <c:pt idx="29">
                  <c:v>0.45</c:v>
                </c:pt>
                <c:pt idx="30">
                  <c:v>0.5</c:v>
                </c:pt>
                <c:pt idx="31">
                  <c:v>0.55</c:v>
                </c:pt>
                <c:pt idx="32">
                  <c:v>0.6</c:v>
                </c:pt>
                <c:pt idx="33">
                  <c:v>0.65</c:v>
                </c:pt>
                <c:pt idx="34">
                  <c:v>0.7</c:v>
                </c:pt>
                <c:pt idx="35">
                  <c:v>0.75</c:v>
                </c:pt>
                <c:pt idx="36">
                  <c:v>0.8</c:v>
                </c:pt>
                <c:pt idx="37">
                  <c:v>0.85</c:v>
                </c:pt>
                <c:pt idx="38">
                  <c:v>0.9</c:v>
                </c:pt>
                <c:pt idx="39">
                  <c:v>0.95</c:v>
                </c:pt>
                <c:pt idx="40">
                  <c:v>1</c:v>
                </c:pt>
                <c:pt idx="41">
                  <c:v>1.05</c:v>
                </c:pt>
                <c:pt idx="42">
                  <c:v>1.1</c:v>
                </c:pt>
                <c:pt idx="43">
                  <c:v>1.15</c:v>
                </c:pt>
                <c:pt idx="44">
                  <c:v>1.2</c:v>
                </c:pt>
                <c:pt idx="45">
                  <c:v>1.25</c:v>
                </c:pt>
                <c:pt idx="46">
                  <c:v>1.3</c:v>
                </c:pt>
                <c:pt idx="47">
                  <c:v>1.35</c:v>
                </c:pt>
                <c:pt idx="48">
                  <c:v>1.4</c:v>
                </c:pt>
                <c:pt idx="49">
                  <c:v>1.45</c:v>
                </c:pt>
                <c:pt idx="50">
                  <c:v>1.5</c:v>
                </c:pt>
                <c:pt idx="51">
                  <c:v>1.55</c:v>
                </c:pt>
                <c:pt idx="52">
                  <c:v>1.6</c:v>
                </c:pt>
                <c:pt idx="53">
                  <c:v>1.65</c:v>
                </c:pt>
                <c:pt idx="54">
                  <c:v>1.7</c:v>
                </c:pt>
                <c:pt idx="55">
                  <c:v>1.75</c:v>
                </c:pt>
                <c:pt idx="56">
                  <c:v>1.8</c:v>
                </c:pt>
                <c:pt idx="57">
                  <c:v>1.85</c:v>
                </c:pt>
                <c:pt idx="58">
                  <c:v>1.9</c:v>
                </c:pt>
                <c:pt idx="59">
                  <c:v>1.95</c:v>
                </c:pt>
                <c:pt idx="60">
                  <c:v>2</c:v>
                </c:pt>
                <c:pt idx="61">
                  <c:v>2.05</c:v>
                </c:pt>
                <c:pt idx="62">
                  <c:v>2.1</c:v>
                </c:pt>
                <c:pt idx="63">
                  <c:v>2.15</c:v>
                </c:pt>
                <c:pt idx="64">
                  <c:v>2.2</c:v>
                </c:pt>
                <c:pt idx="65">
                  <c:v>2.25</c:v>
                </c:pt>
                <c:pt idx="66">
                  <c:v>2.3</c:v>
                </c:pt>
                <c:pt idx="67">
                  <c:v>2.35</c:v>
                </c:pt>
                <c:pt idx="68">
                  <c:v>2.4</c:v>
                </c:pt>
                <c:pt idx="69">
                  <c:v>2.45</c:v>
                </c:pt>
                <c:pt idx="70">
                  <c:v>2.5</c:v>
                </c:pt>
                <c:pt idx="71">
                  <c:v>2.55</c:v>
                </c:pt>
                <c:pt idx="72">
                  <c:v>2.6</c:v>
                </c:pt>
                <c:pt idx="73">
                  <c:v>2.65</c:v>
                </c:pt>
                <c:pt idx="74">
                  <c:v>2.7</c:v>
                </c:pt>
                <c:pt idx="75">
                  <c:v>2.75</c:v>
                </c:pt>
                <c:pt idx="76">
                  <c:v>2.8</c:v>
                </c:pt>
                <c:pt idx="77">
                  <c:v>2.85</c:v>
                </c:pt>
                <c:pt idx="78">
                  <c:v>2.9</c:v>
                </c:pt>
                <c:pt idx="79">
                  <c:v>2.95</c:v>
                </c:pt>
                <c:pt idx="80">
                  <c:v>3</c:v>
                </c:pt>
              </c:numCache>
            </c:numRef>
          </c:xVal>
          <c:yVal>
            <c:numRef>
              <c:f>'Chart Data'!$B$2:$B$82</c:f>
              <c:numCache>
                <c:formatCode>General</c:formatCode>
                <c:ptCount val="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0.05</c:v>
                </c:pt>
                <c:pt idx="22">
                  <c:v>0.1</c:v>
                </c:pt>
                <c:pt idx="23">
                  <c:v>0.15</c:v>
                </c:pt>
                <c:pt idx="24">
                  <c:v>0.2</c:v>
                </c:pt>
                <c:pt idx="25">
                  <c:v>0.25</c:v>
                </c:pt>
                <c:pt idx="26">
                  <c:v>0.3</c:v>
                </c:pt>
                <c:pt idx="27">
                  <c:v>0.35</c:v>
                </c:pt>
                <c:pt idx="28">
                  <c:v>0.4</c:v>
                </c:pt>
                <c:pt idx="29">
                  <c:v>0.45</c:v>
                </c:pt>
                <c:pt idx="30">
                  <c:v>0.5</c:v>
                </c:pt>
                <c:pt idx="31">
                  <c:v>0.55</c:v>
                </c:pt>
                <c:pt idx="32">
                  <c:v>0.6</c:v>
                </c:pt>
                <c:pt idx="33">
                  <c:v>0.65</c:v>
                </c:pt>
                <c:pt idx="34">
                  <c:v>0.7</c:v>
                </c:pt>
                <c:pt idx="35">
                  <c:v>0.75</c:v>
                </c:pt>
                <c:pt idx="36">
                  <c:v>0.8</c:v>
                </c:pt>
                <c:pt idx="37">
                  <c:v>0.85</c:v>
                </c:pt>
                <c:pt idx="38">
                  <c:v>0.9</c:v>
                </c:pt>
                <c:pt idx="39">
                  <c:v>0.95</c:v>
                </c:pt>
                <c:pt idx="40">
                  <c:v>1</c:v>
                </c:pt>
                <c:pt idx="41">
                  <c:v>0.95</c:v>
                </c:pt>
                <c:pt idx="42">
                  <c:v>0.9</c:v>
                </c:pt>
                <c:pt idx="43">
                  <c:v>0.85</c:v>
                </c:pt>
                <c:pt idx="44">
                  <c:v>0.8</c:v>
                </c:pt>
                <c:pt idx="45">
                  <c:v>0.75</c:v>
                </c:pt>
                <c:pt idx="46">
                  <c:v>0.7</c:v>
                </c:pt>
                <c:pt idx="47">
                  <c:v>0.65</c:v>
                </c:pt>
                <c:pt idx="48">
                  <c:v>0.6</c:v>
                </c:pt>
                <c:pt idx="49">
                  <c:v>0.55</c:v>
                </c:pt>
                <c:pt idx="50">
                  <c:v>0.5</c:v>
                </c:pt>
                <c:pt idx="51">
                  <c:v>0.45</c:v>
                </c:pt>
                <c:pt idx="52">
                  <c:v>0.4</c:v>
                </c:pt>
                <c:pt idx="53">
                  <c:v>0.35</c:v>
                </c:pt>
                <c:pt idx="54">
                  <c:v>0.3</c:v>
                </c:pt>
                <c:pt idx="55">
                  <c:v>0.25</c:v>
                </c:pt>
                <c:pt idx="56">
                  <c:v>0.2</c:v>
                </c:pt>
                <c:pt idx="57">
                  <c:v>0.15</c:v>
                </c:pt>
                <c:pt idx="58">
                  <c:v>0.1</c:v>
                </c:pt>
                <c:pt idx="59">
                  <c:v>0.05</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yVal>
          <c:smooth val="0"/>
          <c:extLst>
            <c:ext xmlns:c16="http://schemas.microsoft.com/office/drawing/2014/chart" uri="{C3380CC4-5D6E-409C-BE32-E72D297353CC}">
              <c16:uniqueId val="{00000000-E384-494A-8B1D-A9F8E19BCBD0}"/>
            </c:ext>
          </c:extLst>
        </c:ser>
        <c:ser>
          <c:idx val="1"/>
          <c:order val="1"/>
          <c:tx>
            <c:v>ReLU(x)</c:v>
          </c:tx>
          <c:spPr>
            <a:ln w="33338">
              <a:solidFill>
                <a:srgbClr val="087F83"/>
              </a:solidFill>
            </a:ln>
          </c:spPr>
          <c:marker>
            <c:symbol val="none"/>
          </c:marker>
          <c:xVal>
            <c:numRef>
              <c:f>'Chart Data'!$C$2:$C$82</c:f>
              <c:numCache>
                <c:formatCode>General</c:formatCode>
                <c:ptCount val="81"/>
                <c:pt idx="0">
                  <c:v>-1</c:v>
                </c:pt>
                <c:pt idx="1">
                  <c:v>-0.95</c:v>
                </c:pt>
                <c:pt idx="2">
                  <c:v>-0.9</c:v>
                </c:pt>
                <c:pt idx="3">
                  <c:v>-0.85</c:v>
                </c:pt>
                <c:pt idx="4">
                  <c:v>-0.8</c:v>
                </c:pt>
                <c:pt idx="5">
                  <c:v>-0.75</c:v>
                </c:pt>
                <c:pt idx="6">
                  <c:v>-0.7</c:v>
                </c:pt>
                <c:pt idx="7">
                  <c:v>-0.65</c:v>
                </c:pt>
                <c:pt idx="8">
                  <c:v>-0.6</c:v>
                </c:pt>
                <c:pt idx="9">
                  <c:v>-0.55</c:v>
                </c:pt>
                <c:pt idx="10">
                  <c:v>-0.5</c:v>
                </c:pt>
                <c:pt idx="11">
                  <c:v>-0.45</c:v>
                </c:pt>
                <c:pt idx="12">
                  <c:v>-0.4</c:v>
                </c:pt>
                <c:pt idx="13">
                  <c:v>-0.35</c:v>
                </c:pt>
                <c:pt idx="14">
                  <c:v>-0.3</c:v>
                </c:pt>
                <c:pt idx="15">
                  <c:v>-0.25</c:v>
                </c:pt>
                <c:pt idx="16">
                  <c:v>-0.2</c:v>
                </c:pt>
                <c:pt idx="17">
                  <c:v>-0.15</c:v>
                </c:pt>
                <c:pt idx="18">
                  <c:v>-0.1</c:v>
                </c:pt>
                <c:pt idx="19">
                  <c:v>-0.05</c:v>
                </c:pt>
                <c:pt idx="20">
                  <c:v>0</c:v>
                </c:pt>
                <c:pt idx="21">
                  <c:v>0.05</c:v>
                </c:pt>
                <c:pt idx="22">
                  <c:v>0.1</c:v>
                </c:pt>
                <c:pt idx="23">
                  <c:v>0.15</c:v>
                </c:pt>
                <c:pt idx="24">
                  <c:v>0.2</c:v>
                </c:pt>
                <c:pt idx="25">
                  <c:v>0.25</c:v>
                </c:pt>
                <c:pt idx="26">
                  <c:v>0.3</c:v>
                </c:pt>
                <c:pt idx="27">
                  <c:v>0.35</c:v>
                </c:pt>
                <c:pt idx="28">
                  <c:v>0.4</c:v>
                </c:pt>
                <c:pt idx="29">
                  <c:v>0.45</c:v>
                </c:pt>
                <c:pt idx="30">
                  <c:v>0.5</c:v>
                </c:pt>
                <c:pt idx="31">
                  <c:v>0.55</c:v>
                </c:pt>
                <c:pt idx="32">
                  <c:v>0.6</c:v>
                </c:pt>
                <c:pt idx="33">
                  <c:v>0.65</c:v>
                </c:pt>
                <c:pt idx="34">
                  <c:v>0.7</c:v>
                </c:pt>
                <c:pt idx="35">
                  <c:v>0.75</c:v>
                </c:pt>
                <c:pt idx="36">
                  <c:v>0.8</c:v>
                </c:pt>
                <c:pt idx="37">
                  <c:v>0.85</c:v>
                </c:pt>
                <c:pt idx="38">
                  <c:v>0.9</c:v>
                </c:pt>
                <c:pt idx="39">
                  <c:v>0.95</c:v>
                </c:pt>
                <c:pt idx="40">
                  <c:v>1</c:v>
                </c:pt>
                <c:pt idx="41">
                  <c:v>1.05</c:v>
                </c:pt>
                <c:pt idx="42">
                  <c:v>1.1</c:v>
                </c:pt>
                <c:pt idx="43">
                  <c:v>1.15</c:v>
                </c:pt>
                <c:pt idx="44">
                  <c:v>1.2</c:v>
                </c:pt>
                <c:pt idx="45">
                  <c:v>1.25</c:v>
                </c:pt>
                <c:pt idx="46">
                  <c:v>1.3</c:v>
                </c:pt>
                <c:pt idx="47">
                  <c:v>1.35</c:v>
                </c:pt>
                <c:pt idx="48">
                  <c:v>1.4</c:v>
                </c:pt>
                <c:pt idx="49">
                  <c:v>1.45</c:v>
                </c:pt>
                <c:pt idx="50">
                  <c:v>1.5</c:v>
                </c:pt>
                <c:pt idx="51">
                  <c:v>1.55</c:v>
                </c:pt>
                <c:pt idx="52">
                  <c:v>1.6</c:v>
                </c:pt>
                <c:pt idx="53">
                  <c:v>1.65</c:v>
                </c:pt>
                <c:pt idx="54">
                  <c:v>1.7</c:v>
                </c:pt>
                <c:pt idx="55">
                  <c:v>1.75</c:v>
                </c:pt>
                <c:pt idx="56">
                  <c:v>1.8</c:v>
                </c:pt>
                <c:pt idx="57">
                  <c:v>1.85</c:v>
                </c:pt>
                <c:pt idx="58">
                  <c:v>1.9</c:v>
                </c:pt>
                <c:pt idx="59">
                  <c:v>1.95</c:v>
                </c:pt>
                <c:pt idx="60">
                  <c:v>2</c:v>
                </c:pt>
                <c:pt idx="61">
                  <c:v>2.05</c:v>
                </c:pt>
                <c:pt idx="62">
                  <c:v>2.1</c:v>
                </c:pt>
                <c:pt idx="63">
                  <c:v>2.15</c:v>
                </c:pt>
                <c:pt idx="64">
                  <c:v>2.2</c:v>
                </c:pt>
                <c:pt idx="65">
                  <c:v>2.25</c:v>
                </c:pt>
                <c:pt idx="66">
                  <c:v>2.3</c:v>
                </c:pt>
                <c:pt idx="67">
                  <c:v>2.35</c:v>
                </c:pt>
                <c:pt idx="68">
                  <c:v>2.4</c:v>
                </c:pt>
                <c:pt idx="69">
                  <c:v>2.45</c:v>
                </c:pt>
                <c:pt idx="70">
                  <c:v>2.5</c:v>
                </c:pt>
                <c:pt idx="71">
                  <c:v>2.55</c:v>
                </c:pt>
                <c:pt idx="72">
                  <c:v>2.6</c:v>
                </c:pt>
                <c:pt idx="73">
                  <c:v>2.65</c:v>
                </c:pt>
                <c:pt idx="74">
                  <c:v>2.7</c:v>
                </c:pt>
                <c:pt idx="75">
                  <c:v>2.75</c:v>
                </c:pt>
                <c:pt idx="76">
                  <c:v>2.8</c:v>
                </c:pt>
                <c:pt idx="77">
                  <c:v>2.85</c:v>
                </c:pt>
                <c:pt idx="78">
                  <c:v>2.9</c:v>
                </c:pt>
                <c:pt idx="79">
                  <c:v>2.95</c:v>
                </c:pt>
                <c:pt idx="80">
                  <c:v>3</c:v>
                </c:pt>
              </c:numCache>
            </c:numRef>
          </c:xVal>
          <c:yVal>
            <c:numRef>
              <c:f>'Chart Data'!$D$2:$D$82</c:f>
              <c:numCache>
                <c:formatCode>General</c:formatCode>
                <c:ptCount val="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0.05</c:v>
                </c:pt>
                <c:pt idx="22">
                  <c:v>0.1</c:v>
                </c:pt>
                <c:pt idx="23">
                  <c:v>0.15</c:v>
                </c:pt>
                <c:pt idx="24">
                  <c:v>0.2</c:v>
                </c:pt>
                <c:pt idx="25">
                  <c:v>0.25</c:v>
                </c:pt>
                <c:pt idx="26">
                  <c:v>0.3</c:v>
                </c:pt>
                <c:pt idx="27">
                  <c:v>0.35</c:v>
                </c:pt>
                <c:pt idx="28">
                  <c:v>0.4</c:v>
                </c:pt>
                <c:pt idx="29">
                  <c:v>0.45</c:v>
                </c:pt>
                <c:pt idx="30">
                  <c:v>0.5</c:v>
                </c:pt>
                <c:pt idx="31">
                  <c:v>0.55</c:v>
                </c:pt>
                <c:pt idx="32">
                  <c:v>0.6</c:v>
                </c:pt>
                <c:pt idx="33">
                  <c:v>0.65</c:v>
                </c:pt>
                <c:pt idx="34">
                  <c:v>0.7</c:v>
                </c:pt>
                <c:pt idx="35">
                  <c:v>0.75</c:v>
                </c:pt>
                <c:pt idx="36">
                  <c:v>0.8</c:v>
                </c:pt>
                <c:pt idx="37">
                  <c:v>0.85</c:v>
                </c:pt>
                <c:pt idx="38">
                  <c:v>0.9</c:v>
                </c:pt>
                <c:pt idx="39">
                  <c:v>0.95</c:v>
                </c:pt>
                <c:pt idx="40">
                  <c:v>1</c:v>
                </c:pt>
                <c:pt idx="41">
                  <c:v>1.05</c:v>
                </c:pt>
                <c:pt idx="42">
                  <c:v>1.1</c:v>
                </c:pt>
                <c:pt idx="43">
                  <c:v>1.15</c:v>
                </c:pt>
                <c:pt idx="44">
                  <c:v>1.2</c:v>
                </c:pt>
                <c:pt idx="45">
                  <c:v>1.25</c:v>
                </c:pt>
                <c:pt idx="46">
                  <c:v>1.3</c:v>
                </c:pt>
                <c:pt idx="47">
                  <c:v>1.35</c:v>
                </c:pt>
                <c:pt idx="48">
                  <c:v>1.4</c:v>
                </c:pt>
                <c:pt idx="49">
                  <c:v>1.45</c:v>
                </c:pt>
                <c:pt idx="50">
                  <c:v>1.5</c:v>
                </c:pt>
                <c:pt idx="51">
                  <c:v>1.55</c:v>
                </c:pt>
                <c:pt idx="52">
                  <c:v>1.6</c:v>
                </c:pt>
                <c:pt idx="53">
                  <c:v>1.65</c:v>
                </c:pt>
                <c:pt idx="54">
                  <c:v>1.7</c:v>
                </c:pt>
                <c:pt idx="55">
                  <c:v>1.75</c:v>
                </c:pt>
                <c:pt idx="56">
                  <c:v>1.8</c:v>
                </c:pt>
                <c:pt idx="57">
                  <c:v>1.85</c:v>
                </c:pt>
                <c:pt idx="58">
                  <c:v>1.9</c:v>
                </c:pt>
                <c:pt idx="59">
                  <c:v>1.95</c:v>
                </c:pt>
                <c:pt idx="60">
                  <c:v>2</c:v>
                </c:pt>
                <c:pt idx="61">
                  <c:v>2.05</c:v>
                </c:pt>
                <c:pt idx="62">
                  <c:v>2.1</c:v>
                </c:pt>
                <c:pt idx="63">
                  <c:v>2.15</c:v>
                </c:pt>
                <c:pt idx="64">
                  <c:v>2.2</c:v>
                </c:pt>
                <c:pt idx="65">
                  <c:v>2.25</c:v>
                </c:pt>
                <c:pt idx="66">
                  <c:v>2.3</c:v>
                </c:pt>
                <c:pt idx="67">
                  <c:v>2.35</c:v>
                </c:pt>
                <c:pt idx="68">
                  <c:v>2.4</c:v>
                </c:pt>
                <c:pt idx="69">
                  <c:v>2.45</c:v>
                </c:pt>
                <c:pt idx="70">
                  <c:v>2.5</c:v>
                </c:pt>
                <c:pt idx="71">
                  <c:v>2.55</c:v>
                </c:pt>
                <c:pt idx="72">
                  <c:v>2.6</c:v>
                </c:pt>
                <c:pt idx="73">
                  <c:v>2.65</c:v>
                </c:pt>
                <c:pt idx="74">
                  <c:v>2.7</c:v>
                </c:pt>
                <c:pt idx="75">
                  <c:v>2.75</c:v>
                </c:pt>
                <c:pt idx="76">
                  <c:v>2.8</c:v>
                </c:pt>
                <c:pt idx="77">
                  <c:v>2.85</c:v>
                </c:pt>
                <c:pt idx="78">
                  <c:v>2.9</c:v>
                </c:pt>
                <c:pt idx="79">
                  <c:v>2.95</c:v>
                </c:pt>
                <c:pt idx="80">
                  <c:v>3</c:v>
                </c:pt>
              </c:numCache>
            </c:numRef>
          </c:yVal>
          <c:smooth val="0"/>
          <c:extLst>
            <c:ext xmlns:c16="http://schemas.microsoft.com/office/drawing/2014/chart" uri="{C3380CC4-5D6E-409C-BE32-E72D297353CC}">
              <c16:uniqueId val="{00000001-E384-494A-8B1D-A9F8E19BCBD0}"/>
            </c:ext>
          </c:extLst>
        </c:ser>
        <c:dLbls>
          <c:showLegendKey val="0"/>
          <c:showVal val="0"/>
          <c:showCatName val="0"/>
          <c:showSerName val="0"/>
          <c:showPercent val="0"/>
          <c:showBubbleSize val="0"/>
        </c:dLbls>
        <c:axId val="48650112"/>
        <c:axId val="48672768"/>
      </c:scatterChart>
      <c:valAx>
        <c:axId val="48672768"/>
        <c:scaling>
          <c:orientation val="minMax"/>
          <c:max val="3"/>
          <c:min val="-1"/>
        </c:scaling>
        <c:delete val="0"/>
        <c:axPos val="l"/>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1"/>
        <c:crossBetween val="midCat"/>
        <c:majorUnit val="1"/>
      </c:valAx>
      <c:valAx>
        <c:axId val="48650112"/>
        <c:scaling>
          <c:orientation val="minMax"/>
          <c:max val="3"/>
          <c:min val="-1"/>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1"/>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Target triangle</c:v>
          </c:tx>
          <c:spPr>
            <a:ln w="20002">
              <a:solidFill>
                <a:srgbClr val="BBC5D0"/>
              </a:solidFill>
              <a:prstDash val="dash"/>
            </a:ln>
          </c:spPr>
          <c:marker>
            <c:symbol val="none"/>
          </c:marker>
          <c:xVal>
            <c:numRef>
              <c:f>'Chart Data'!$A$2:$A$82</c:f>
              <c:numCache>
                <c:formatCode>General</c:formatCode>
                <c:ptCount val="81"/>
                <c:pt idx="0">
                  <c:v>-1</c:v>
                </c:pt>
                <c:pt idx="1">
                  <c:v>-0.95</c:v>
                </c:pt>
                <c:pt idx="2">
                  <c:v>-0.9</c:v>
                </c:pt>
                <c:pt idx="3">
                  <c:v>-0.85</c:v>
                </c:pt>
                <c:pt idx="4">
                  <c:v>-0.8</c:v>
                </c:pt>
                <c:pt idx="5">
                  <c:v>-0.75</c:v>
                </c:pt>
                <c:pt idx="6">
                  <c:v>-0.7</c:v>
                </c:pt>
                <c:pt idx="7">
                  <c:v>-0.65</c:v>
                </c:pt>
                <c:pt idx="8">
                  <c:v>-0.6</c:v>
                </c:pt>
                <c:pt idx="9">
                  <c:v>-0.55</c:v>
                </c:pt>
                <c:pt idx="10">
                  <c:v>-0.5</c:v>
                </c:pt>
                <c:pt idx="11">
                  <c:v>-0.45</c:v>
                </c:pt>
                <c:pt idx="12">
                  <c:v>-0.4</c:v>
                </c:pt>
                <c:pt idx="13">
                  <c:v>-0.35</c:v>
                </c:pt>
                <c:pt idx="14">
                  <c:v>-0.3</c:v>
                </c:pt>
                <c:pt idx="15">
                  <c:v>-0.25</c:v>
                </c:pt>
                <c:pt idx="16">
                  <c:v>-0.2</c:v>
                </c:pt>
                <c:pt idx="17">
                  <c:v>-0.15</c:v>
                </c:pt>
                <c:pt idx="18">
                  <c:v>-0.1</c:v>
                </c:pt>
                <c:pt idx="19">
                  <c:v>-0.05</c:v>
                </c:pt>
                <c:pt idx="20">
                  <c:v>0</c:v>
                </c:pt>
                <c:pt idx="21">
                  <c:v>0.05</c:v>
                </c:pt>
                <c:pt idx="22">
                  <c:v>0.1</c:v>
                </c:pt>
                <c:pt idx="23">
                  <c:v>0.15</c:v>
                </c:pt>
                <c:pt idx="24">
                  <c:v>0.2</c:v>
                </c:pt>
                <c:pt idx="25">
                  <c:v>0.25</c:v>
                </c:pt>
                <c:pt idx="26">
                  <c:v>0.3</c:v>
                </c:pt>
                <c:pt idx="27">
                  <c:v>0.35</c:v>
                </c:pt>
                <c:pt idx="28">
                  <c:v>0.4</c:v>
                </c:pt>
                <c:pt idx="29">
                  <c:v>0.45</c:v>
                </c:pt>
                <c:pt idx="30">
                  <c:v>0.5</c:v>
                </c:pt>
                <c:pt idx="31">
                  <c:v>0.55</c:v>
                </c:pt>
                <c:pt idx="32">
                  <c:v>0.6</c:v>
                </c:pt>
                <c:pt idx="33">
                  <c:v>0.65</c:v>
                </c:pt>
                <c:pt idx="34">
                  <c:v>0.7</c:v>
                </c:pt>
                <c:pt idx="35">
                  <c:v>0.75</c:v>
                </c:pt>
                <c:pt idx="36">
                  <c:v>0.8</c:v>
                </c:pt>
                <c:pt idx="37">
                  <c:v>0.85</c:v>
                </c:pt>
                <c:pt idx="38">
                  <c:v>0.9</c:v>
                </c:pt>
                <c:pt idx="39">
                  <c:v>0.95</c:v>
                </c:pt>
                <c:pt idx="40">
                  <c:v>1</c:v>
                </c:pt>
                <c:pt idx="41">
                  <c:v>1.05</c:v>
                </c:pt>
                <c:pt idx="42">
                  <c:v>1.1</c:v>
                </c:pt>
                <c:pt idx="43">
                  <c:v>1.15</c:v>
                </c:pt>
                <c:pt idx="44">
                  <c:v>1.2</c:v>
                </c:pt>
                <c:pt idx="45">
                  <c:v>1.25</c:v>
                </c:pt>
                <c:pt idx="46">
                  <c:v>1.3</c:v>
                </c:pt>
                <c:pt idx="47">
                  <c:v>1.35</c:v>
                </c:pt>
                <c:pt idx="48">
                  <c:v>1.4</c:v>
                </c:pt>
                <c:pt idx="49">
                  <c:v>1.45</c:v>
                </c:pt>
                <c:pt idx="50">
                  <c:v>1.5</c:v>
                </c:pt>
                <c:pt idx="51">
                  <c:v>1.55</c:v>
                </c:pt>
                <c:pt idx="52">
                  <c:v>1.6</c:v>
                </c:pt>
                <c:pt idx="53">
                  <c:v>1.65</c:v>
                </c:pt>
                <c:pt idx="54">
                  <c:v>1.7</c:v>
                </c:pt>
                <c:pt idx="55">
                  <c:v>1.75</c:v>
                </c:pt>
                <c:pt idx="56">
                  <c:v>1.8</c:v>
                </c:pt>
                <c:pt idx="57">
                  <c:v>1.85</c:v>
                </c:pt>
                <c:pt idx="58">
                  <c:v>1.9</c:v>
                </c:pt>
                <c:pt idx="59">
                  <c:v>1.95</c:v>
                </c:pt>
                <c:pt idx="60">
                  <c:v>2</c:v>
                </c:pt>
                <c:pt idx="61">
                  <c:v>2.05</c:v>
                </c:pt>
                <c:pt idx="62">
                  <c:v>2.1</c:v>
                </c:pt>
                <c:pt idx="63">
                  <c:v>2.15</c:v>
                </c:pt>
                <c:pt idx="64">
                  <c:v>2.2</c:v>
                </c:pt>
                <c:pt idx="65">
                  <c:v>2.25</c:v>
                </c:pt>
                <c:pt idx="66">
                  <c:v>2.3</c:v>
                </c:pt>
                <c:pt idx="67">
                  <c:v>2.35</c:v>
                </c:pt>
                <c:pt idx="68">
                  <c:v>2.4</c:v>
                </c:pt>
                <c:pt idx="69">
                  <c:v>2.45</c:v>
                </c:pt>
                <c:pt idx="70">
                  <c:v>2.5</c:v>
                </c:pt>
                <c:pt idx="71">
                  <c:v>2.55</c:v>
                </c:pt>
                <c:pt idx="72">
                  <c:v>2.6</c:v>
                </c:pt>
                <c:pt idx="73">
                  <c:v>2.65</c:v>
                </c:pt>
                <c:pt idx="74">
                  <c:v>2.7</c:v>
                </c:pt>
                <c:pt idx="75">
                  <c:v>2.75</c:v>
                </c:pt>
                <c:pt idx="76">
                  <c:v>2.8</c:v>
                </c:pt>
                <c:pt idx="77">
                  <c:v>2.85</c:v>
                </c:pt>
                <c:pt idx="78">
                  <c:v>2.9</c:v>
                </c:pt>
                <c:pt idx="79">
                  <c:v>2.95</c:v>
                </c:pt>
                <c:pt idx="80">
                  <c:v>3</c:v>
                </c:pt>
              </c:numCache>
            </c:numRef>
          </c:xVal>
          <c:yVal>
            <c:numRef>
              <c:f>'Chart Data'!$B$2:$B$82</c:f>
              <c:numCache>
                <c:formatCode>General</c:formatCode>
                <c:ptCount val="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0.05</c:v>
                </c:pt>
                <c:pt idx="22">
                  <c:v>0.1</c:v>
                </c:pt>
                <c:pt idx="23">
                  <c:v>0.15</c:v>
                </c:pt>
                <c:pt idx="24">
                  <c:v>0.2</c:v>
                </c:pt>
                <c:pt idx="25">
                  <c:v>0.25</c:v>
                </c:pt>
                <c:pt idx="26">
                  <c:v>0.3</c:v>
                </c:pt>
                <c:pt idx="27">
                  <c:v>0.35</c:v>
                </c:pt>
                <c:pt idx="28">
                  <c:v>0.4</c:v>
                </c:pt>
                <c:pt idx="29">
                  <c:v>0.45</c:v>
                </c:pt>
                <c:pt idx="30">
                  <c:v>0.5</c:v>
                </c:pt>
                <c:pt idx="31">
                  <c:v>0.55</c:v>
                </c:pt>
                <c:pt idx="32">
                  <c:v>0.6</c:v>
                </c:pt>
                <c:pt idx="33">
                  <c:v>0.65</c:v>
                </c:pt>
                <c:pt idx="34">
                  <c:v>0.7</c:v>
                </c:pt>
                <c:pt idx="35">
                  <c:v>0.75</c:v>
                </c:pt>
                <c:pt idx="36">
                  <c:v>0.8</c:v>
                </c:pt>
                <c:pt idx="37">
                  <c:v>0.85</c:v>
                </c:pt>
                <c:pt idx="38">
                  <c:v>0.9</c:v>
                </c:pt>
                <c:pt idx="39">
                  <c:v>0.95</c:v>
                </c:pt>
                <c:pt idx="40">
                  <c:v>1</c:v>
                </c:pt>
                <c:pt idx="41">
                  <c:v>0.95</c:v>
                </c:pt>
                <c:pt idx="42">
                  <c:v>0.9</c:v>
                </c:pt>
                <c:pt idx="43">
                  <c:v>0.85</c:v>
                </c:pt>
                <c:pt idx="44">
                  <c:v>0.8</c:v>
                </c:pt>
                <c:pt idx="45">
                  <c:v>0.75</c:v>
                </c:pt>
                <c:pt idx="46">
                  <c:v>0.7</c:v>
                </c:pt>
                <c:pt idx="47">
                  <c:v>0.65</c:v>
                </c:pt>
                <c:pt idx="48">
                  <c:v>0.6</c:v>
                </c:pt>
                <c:pt idx="49">
                  <c:v>0.55</c:v>
                </c:pt>
                <c:pt idx="50">
                  <c:v>0.5</c:v>
                </c:pt>
                <c:pt idx="51">
                  <c:v>0.45</c:v>
                </c:pt>
                <c:pt idx="52">
                  <c:v>0.4</c:v>
                </c:pt>
                <c:pt idx="53">
                  <c:v>0.35</c:v>
                </c:pt>
                <c:pt idx="54">
                  <c:v>0.3</c:v>
                </c:pt>
                <c:pt idx="55">
                  <c:v>0.25</c:v>
                </c:pt>
                <c:pt idx="56">
                  <c:v>0.2</c:v>
                </c:pt>
                <c:pt idx="57">
                  <c:v>0.15</c:v>
                </c:pt>
                <c:pt idx="58">
                  <c:v>0.1</c:v>
                </c:pt>
                <c:pt idx="59">
                  <c:v>0.05</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yVal>
          <c:smooth val="0"/>
          <c:extLst>
            <c:ext xmlns:c16="http://schemas.microsoft.com/office/drawing/2014/chart" uri="{C3380CC4-5D6E-409C-BE32-E72D297353CC}">
              <c16:uniqueId val="{00000000-AD36-4EEC-BED0-6A31D1FFFAAD}"/>
            </c:ext>
          </c:extLst>
        </c:ser>
        <c:ser>
          <c:idx val="1"/>
          <c:order val="1"/>
          <c:tx>
            <c:v>ReLU(x) − 2 ReLU(x − 1)</c:v>
          </c:tx>
          <c:spPr>
            <a:ln w="33338">
              <a:solidFill>
                <a:srgbClr val="087F83"/>
              </a:solidFill>
            </a:ln>
          </c:spPr>
          <c:marker>
            <c:symbol val="none"/>
          </c:marker>
          <c:xVal>
            <c:numRef>
              <c:f>'Chart Data'!$C$2:$C$82</c:f>
              <c:numCache>
                <c:formatCode>General</c:formatCode>
                <c:ptCount val="81"/>
                <c:pt idx="0">
                  <c:v>-1</c:v>
                </c:pt>
                <c:pt idx="1">
                  <c:v>-0.95</c:v>
                </c:pt>
                <c:pt idx="2">
                  <c:v>-0.9</c:v>
                </c:pt>
                <c:pt idx="3">
                  <c:v>-0.85</c:v>
                </c:pt>
                <c:pt idx="4">
                  <c:v>-0.8</c:v>
                </c:pt>
                <c:pt idx="5">
                  <c:v>-0.75</c:v>
                </c:pt>
                <c:pt idx="6">
                  <c:v>-0.7</c:v>
                </c:pt>
                <c:pt idx="7">
                  <c:v>-0.65</c:v>
                </c:pt>
                <c:pt idx="8">
                  <c:v>-0.6</c:v>
                </c:pt>
                <c:pt idx="9">
                  <c:v>-0.55</c:v>
                </c:pt>
                <c:pt idx="10">
                  <c:v>-0.5</c:v>
                </c:pt>
                <c:pt idx="11">
                  <c:v>-0.45</c:v>
                </c:pt>
                <c:pt idx="12">
                  <c:v>-0.4</c:v>
                </c:pt>
                <c:pt idx="13">
                  <c:v>-0.35</c:v>
                </c:pt>
                <c:pt idx="14">
                  <c:v>-0.3</c:v>
                </c:pt>
                <c:pt idx="15">
                  <c:v>-0.25</c:v>
                </c:pt>
                <c:pt idx="16">
                  <c:v>-0.2</c:v>
                </c:pt>
                <c:pt idx="17">
                  <c:v>-0.15</c:v>
                </c:pt>
                <c:pt idx="18">
                  <c:v>-0.1</c:v>
                </c:pt>
                <c:pt idx="19">
                  <c:v>-0.05</c:v>
                </c:pt>
                <c:pt idx="20">
                  <c:v>0</c:v>
                </c:pt>
                <c:pt idx="21">
                  <c:v>0.05</c:v>
                </c:pt>
                <c:pt idx="22">
                  <c:v>0.1</c:v>
                </c:pt>
                <c:pt idx="23">
                  <c:v>0.15</c:v>
                </c:pt>
                <c:pt idx="24">
                  <c:v>0.2</c:v>
                </c:pt>
                <c:pt idx="25">
                  <c:v>0.25</c:v>
                </c:pt>
                <c:pt idx="26">
                  <c:v>0.3</c:v>
                </c:pt>
                <c:pt idx="27">
                  <c:v>0.35</c:v>
                </c:pt>
                <c:pt idx="28">
                  <c:v>0.4</c:v>
                </c:pt>
                <c:pt idx="29">
                  <c:v>0.45</c:v>
                </c:pt>
                <c:pt idx="30">
                  <c:v>0.5</c:v>
                </c:pt>
                <c:pt idx="31">
                  <c:v>0.55</c:v>
                </c:pt>
                <c:pt idx="32">
                  <c:v>0.6</c:v>
                </c:pt>
                <c:pt idx="33">
                  <c:v>0.65</c:v>
                </c:pt>
                <c:pt idx="34">
                  <c:v>0.7</c:v>
                </c:pt>
                <c:pt idx="35">
                  <c:v>0.75</c:v>
                </c:pt>
                <c:pt idx="36">
                  <c:v>0.8</c:v>
                </c:pt>
                <c:pt idx="37">
                  <c:v>0.85</c:v>
                </c:pt>
                <c:pt idx="38">
                  <c:v>0.9</c:v>
                </c:pt>
                <c:pt idx="39">
                  <c:v>0.95</c:v>
                </c:pt>
                <c:pt idx="40">
                  <c:v>1</c:v>
                </c:pt>
                <c:pt idx="41">
                  <c:v>1.05</c:v>
                </c:pt>
                <c:pt idx="42">
                  <c:v>1.1</c:v>
                </c:pt>
                <c:pt idx="43">
                  <c:v>1.15</c:v>
                </c:pt>
                <c:pt idx="44">
                  <c:v>1.2</c:v>
                </c:pt>
                <c:pt idx="45">
                  <c:v>1.25</c:v>
                </c:pt>
                <c:pt idx="46">
                  <c:v>1.3</c:v>
                </c:pt>
                <c:pt idx="47">
                  <c:v>1.35</c:v>
                </c:pt>
                <c:pt idx="48">
                  <c:v>1.4</c:v>
                </c:pt>
                <c:pt idx="49">
                  <c:v>1.45</c:v>
                </c:pt>
                <c:pt idx="50">
                  <c:v>1.5</c:v>
                </c:pt>
                <c:pt idx="51">
                  <c:v>1.55</c:v>
                </c:pt>
                <c:pt idx="52">
                  <c:v>1.6</c:v>
                </c:pt>
                <c:pt idx="53">
                  <c:v>1.65</c:v>
                </c:pt>
                <c:pt idx="54">
                  <c:v>1.7</c:v>
                </c:pt>
                <c:pt idx="55">
                  <c:v>1.75</c:v>
                </c:pt>
                <c:pt idx="56">
                  <c:v>1.8</c:v>
                </c:pt>
                <c:pt idx="57">
                  <c:v>1.85</c:v>
                </c:pt>
                <c:pt idx="58">
                  <c:v>1.9</c:v>
                </c:pt>
                <c:pt idx="59">
                  <c:v>1.95</c:v>
                </c:pt>
                <c:pt idx="60">
                  <c:v>2</c:v>
                </c:pt>
                <c:pt idx="61">
                  <c:v>2.05</c:v>
                </c:pt>
                <c:pt idx="62">
                  <c:v>2.1</c:v>
                </c:pt>
                <c:pt idx="63">
                  <c:v>2.15</c:v>
                </c:pt>
                <c:pt idx="64">
                  <c:v>2.2</c:v>
                </c:pt>
                <c:pt idx="65">
                  <c:v>2.25</c:v>
                </c:pt>
                <c:pt idx="66">
                  <c:v>2.3</c:v>
                </c:pt>
                <c:pt idx="67">
                  <c:v>2.35</c:v>
                </c:pt>
                <c:pt idx="68">
                  <c:v>2.4</c:v>
                </c:pt>
                <c:pt idx="69">
                  <c:v>2.45</c:v>
                </c:pt>
                <c:pt idx="70">
                  <c:v>2.5</c:v>
                </c:pt>
                <c:pt idx="71">
                  <c:v>2.55</c:v>
                </c:pt>
                <c:pt idx="72">
                  <c:v>2.6</c:v>
                </c:pt>
                <c:pt idx="73">
                  <c:v>2.65</c:v>
                </c:pt>
                <c:pt idx="74">
                  <c:v>2.7</c:v>
                </c:pt>
                <c:pt idx="75">
                  <c:v>2.75</c:v>
                </c:pt>
                <c:pt idx="76">
                  <c:v>2.8</c:v>
                </c:pt>
                <c:pt idx="77">
                  <c:v>2.85</c:v>
                </c:pt>
                <c:pt idx="78">
                  <c:v>2.9</c:v>
                </c:pt>
                <c:pt idx="79">
                  <c:v>2.95</c:v>
                </c:pt>
                <c:pt idx="80">
                  <c:v>3</c:v>
                </c:pt>
              </c:numCache>
            </c:numRef>
          </c:xVal>
          <c:yVal>
            <c:numRef>
              <c:f>'Chart Data'!$D$2:$D$82</c:f>
              <c:numCache>
                <c:formatCode>General</c:formatCode>
                <c:ptCount val="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0.05</c:v>
                </c:pt>
                <c:pt idx="22">
                  <c:v>0.1</c:v>
                </c:pt>
                <c:pt idx="23">
                  <c:v>0.15</c:v>
                </c:pt>
                <c:pt idx="24">
                  <c:v>0.2</c:v>
                </c:pt>
                <c:pt idx="25">
                  <c:v>0.25</c:v>
                </c:pt>
                <c:pt idx="26">
                  <c:v>0.3</c:v>
                </c:pt>
                <c:pt idx="27">
                  <c:v>0.35</c:v>
                </c:pt>
                <c:pt idx="28">
                  <c:v>0.4</c:v>
                </c:pt>
                <c:pt idx="29">
                  <c:v>0.45</c:v>
                </c:pt>
                <c:pt idx="30">
                  <c:v>0.5</c:v>
                </c:pt>
                <c:pt idx="31">
                  <c:v>0.55</c:v>
                </c:pt>
                <c:pt idx="32">
                  <c:v>0.6</c:v>
                </c:pt>
                <c:pt idx="33">
                  <c:v>0.65</c:v>
                </c:pt>
                <c:pt idx="34">
                  <c:v>0.7</c:v>
                </c:pt>
                <c:pt idx="35">
                  <c:v>0.75</c:v>
                </c:pt>
                <c:pt idx="36">
                  <c:v>0.8</c:v>
                </c:pt>
                <c:pt idx="37">
                  <c:v>0.85</c:v>
                </c:pt>
                <c:pt idx="38">
                  <c:v>0.9</c:v>
                </c:pt>
                <c:pt idx="39">
                  <c:v>0.95</c:v>
                </c:pt>
                <c:pt idx="40">
                  <c:v>1</c:v>
                </c:pt>
                <c:pt idx="41">
                  <c:v>0.95</c:v>
                </c:pt>
                <c:pt idx="42">
                  <c:v>0.9</c:v>
                </c:pt>
                <c:pt idx="43">
                  <c:v>0.85</c:v>
                </c:pt>
                <c:pt idx="44">
                  <c:v>0.8</c:v>
                </c:pt>
                <c:pt idx="45">
                  <c:v>0.75</c:v>
                </c:pt>
                <c:pt idx="46">
                  <c:v>0.7</c:v>
                </c:pt>
                <c:pt idx="47">
                  <c:v>0.65</c:v>
                </c:pt>
                <c:pt idx="48">
                  <c:v>0.6</c:v>
                </c:pt>
                <c:pt idx="49">
                  <c:v>0.55</c:v>
                </c:pt>
                <c:pt idx="50">
                  <c:v>0.5</c:v>
                </c:pt>
                <c:pt idx="51">
                  <c:v>0.45</c:v>
                </c:pt>
                <c:pt idx="52">
                  <c:v>0.4</c:v>
                </c:pt>
                <c:pt idx="53">
                  <c:v>0.35</c:v>
                </c:pt>
                <c:pt idx="54">
                  <c:v>0.3</c:v>
                </c:pt>
                <c:pt idx="55">
                  <c:v>0.25</c:v>
                </c:pt>
                <c:pt idx="56">
                  <c:v>0.2</c:v>
                </c:pt>
                <c:pt idx="57">
                  <c:v>0.15</c:v>
                </c:pt>
                <c:pt idx="58">
                  <c:v>0.1</c:v>
                </c:pt>
                <c:pt idx="59">
                  <c:v>0.05</c:v>
                </c:pt>
                <c:pt idx="60">
                  <c:v>0</c:v>
                </c:pt>
                <c:pt idx="61">
                  <c:v>-0.0499999999999998</c:v>
                </c:pt>
                <c:pt idx="62">
                  <c:v>-0.1</c:v>
                </c:pt>
                <c:pt idx="63">
                  <c:v>-0.15</c:v>
                </c:pt>
                <c:pt idx="64">
                  <c:v>-0.2</c:v>
                </c:pt>
                <c:pt idx="65">
                  <c:v>-0.25</c:v>
                </c:pt>
                <c:pt idx="66">
                  <c:v>-0.3</c:v>
                </c:pt>
                <c:pt idx="67">
                  <c:v>-0.35</c:v>
                </c:pt>
                <c:pt idx="68">
                  <c:v>-0.4</c:v>
                </c:pt>
                <c:pt idx="69">
                  <c:v>-0.45</c:v>
                </c:pt>
                <c:pt idx="70">
                  <c:v>-0.5</c:v>
                </c:pt>
                <c:pt idx="71">
                  <c:v>-0.55</c:v>
                </c:pt>
                <c:pt idx="72">
                  <c:v>-0.6</c:v>
                </c:pt>
                <c:pt idx="73">
                  <c:v>-0.65</c:v>
                </c:pt>
                <c:pt idx="74">
                  <c:v>-0.7</c:v>
                </c:pt>
                <c:pt idx="75">
                  <c:v>-0.75</c:v>
                </c:pt>
                <c:pt idx="76">
                  <c:v>-0.8</c:v>
                </c:pt>
                <c:pt idx="77">
                  <c:v>-0.85</c:v>
                </c:pt>
                <c:pt idx="78">
                  <c:v>-0.9</c:v>
                </c:pt>
                <c:pt idx="79">
                  <c:v>-0.95</c:v>
                </c:pt>
                <c:pt idx="80">
                  <c:v>-1</c:v>
                </c:pt>
              </c:numCache>
            </c:numRef>
          </c:yVal>
          <c:smooth val="0"/>
          <c:extLst>
            <c:ext xmlns:c16="http://schemas.microsoft.com/office/drawing/2014/chart" uri="{C3380CC4-5D6E-409C-BE32-E72D297353CC}">
              <c16:uniqueId val="{00000001-AD36-4EEC-BED0-6A31D1FFFAAD}"/>
            </c:ext>
          </c:extLst>
        </c:ser>
        <c:dLbls>
          <c:showLegendKey val="0"/>
          <c:showVal val="0"/>
          <c:showCatName val="0"/>
          <c:showSerName val="0"/>
          <c:showPercent val="0"/>
          <c:showBubbleSize val="0"/>
        </c:dLbls>
        <c:axId val="48650112"/>
        <c:axId val="48672768"/>
      </c:scatterChart>
      <c:valAx>
        <c:axId val="48672768"/>
        <c:scaling>
          <c:orientation val="minMax"/>
          <c:max val="3"/>
          <c:min val="-1"/>
        </c:scaling>
        <c:delete val="0"/>
        <c:axPos val="l"/>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1"/>
        <c:crossBetween val="midCat"/>
        <c:majorUnit val="1"/>
      </c:valAx>
      <c:valAx>
        <c:axId val="48650112"/>
        <c:scaling>
          <c:orientation val="minMax"/>
          <c:max val="3"/>
          <c:min val="-1"/>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1"/>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T(x)</c:v>
          </c:tx>
          <c:spPr>
            <a:ln w="33338">
              <a:solidFill>
                <a:srgbClr val="087F83"/>
              </a:solidFill>
            </a:ln>
          </c:spPr>
          <c:marker>
            <c:symbol val="none"/>
          </c:marker>
          <c:xVal>
            <c:numRef>
              <c:f>'Chart Data'!$A$2:$A$82</c:f>
              <c:numCache>
                <c:formatCode>General</c:formatCode>
                <c:ptCount val="81"/>
                <c:pt idx="0">
                  <c:v>-1</c:v>
                </c:pt>
                <c:pt idx="1">
                  <c:v>-0.95</c:v>
                </c:pt>
                <c:pt idx="2">
                  <c:v>-0.9</c:v>
                </c:pt>
                <c:pt idx="3">
                  <c:v>-0.85</c:v>
                </c:pt>
                <c:pt idx="4">
                  <c:v>-0.8</c:v>
                </c:pt>
                <c:pt idx="5">
                  <c:v>-0.75</c:v>
                </c:pt>
                <c:pt idx="6">
                  <c:v>-0.7</c:v>
                </c:pt>
                <c:pt idx="7">
                  <c:v>-0.65</c:v>
                </c:pt>
                <c:pt idx="8">
                  <c:v>-0.6</c:v>
                </c:pt>
                <c:pt idx="9">
                  <c:v>-0.55</c:v>
                </c:pt>
                <c:pt idx="10">
                  <c:v>-0.5</c:v>
                </c:pt>
                <c:pt idx="11">
                  <c:v>-0.45</c:v>
                </c:pt>
                <c:pt idx="12">
                  <c:v>-0.4</c:v>
                </c:pt>
                <c:pt idx="13">
                  <c:v>-0.35</c:v>
                </c:pt>
                <c:pt idx="14">
                  <c:v>-0.3</c:v>
                </c:pt>
                <c:pt idx="15">
                  <c:v>-0.25</c:v>
                </c:pt>
                <c:pt idx="16">
                  <c:v>-0.2</c:v>
                </c:pt>
                <c:pt idx="17">
                  <c:v>-0.15</c:v>
                </c:pt>
                <c:pt idx="18">
                  <c:v>-0.1</c:v>
                </c:pt>
                <c:pt idx="19">
                  <c:v>-0.05</c:v>
                </c:pt>
                <c:pt idx="20">
                  <c:v>0</c:v>
                </c:pt>
                <c:pt idx="21">
                  <c:v>0.05</c:v>
                </c:pt>
                <c:pt idx="22">
                  <c:v>0.1</c:v>
                </c:pt>
                <c:pt idx="23">
                  <c:v>0.15</c:v>
                </c:pt>
                <c:pt idx="24">
                  <c:v>0.2</c:v>
                </c:pt>
                <c:pt idx="25">
                  <c:v>0.25</c:v>
                </c:pt>
                <c:pt idx="26">
                  <c:v>0.3</c:v>
                </c:pt>
                <c:pt idx="27">
                  <c:v>0.35</c:v>
                </c:pt>
                <c:pt idx="28">
                  <c:v>0.4</c:v>
                </c:pt>
                <c:pt idx="29">
                  <c:v>0.45</c:v>
                </c:pt>
                <c:pt idx="30">
                  <c:v>0.5</c:v>
                </c:pt>
                <c:pt idx="31">
                  <c:v>0.55</c:v>
                </c:pt>
                <c:pt idx="32">
                  <c:v>0.6</c:v>
                </c:pt>
                <c:pt idx="33">
                  <c:v>0.65</c:v>
                </c:pt>
                <c:pt idx="34">
                  <c:v>0.7</c:v>
                </c:pt>
                <c:pt idx="35">
                  <c:v>0.75</c:v>
                </c:pt>
                <c:pt idx="36">
                  <c:v>0.8</c:v>
                </c:pt>
                <c:pt idx="37">
                  <c:v>0.85</c:v>
                </c:pt>
                <c:pt idx="38">
                  <c:v>0.9</c:v>
                </c:pt>
                <c:pt idx="39">
                  <c:v>0.95</c:v>
                </c:pt>
                <c:pt idx="40">
                  <c:v>1</c:v>
                </c:pt>
                <c:pt idx="41">
                  <c:v>1.05</c:v>
                </c:pt>
                <c:pt idx="42">
                  <c:v>1.1</c:v>
                </c:pt>
                <c:pt idx="43">
                  <c:v>1.15</c:v>
                </c:pt>
                <c:pt idx="44">
                  <c:v>1.2</c:v>
                </c:pt>
                <c:pt idx="45">
                  <c:v>1.25</c:v>
                </c:pt>
                <c:pt idx="46">
                  <c:v>1.3</c:v>
                </c:pt>
                <c:pt idx="47">
                  <c:v>1.35</c:v>
                </c:pt>
                <c:pt idx="48">
                  <c:v>1.4</c:v>
                </c:pt>
                <c:pt idx="49">
                  <c:v>1.45</c:v>
                </c:pt>
                <c:pt idx="50">
                  <c:v>1.5</c:v>
                </c:pt>
                <c:pt idx="51">
                  <c:v>1.55</c:v>
                </c:pt>
                <c:pt idx="52">
                  <c:v>1.6</c:v>
                </c:pt>
                <c:pt idx="53">
                  <c:v>1.65</c:v>
                </c:pt>
                <c:pt idx="54">
                  <c:v>1.7</c:v>
                </c:pt>
                <c:pt idx="55">
                  <c:v>1.75</c:v>
                </c:pt>
                <c:pt idx="56">
                  <c:v>1.8</c:v>
                </c:pt>
                <c:pt idx="57">
                  <c:v>1.85</c:v>
                </c:pt>
                <c:pt idx="58">
                  <c:v>1.9</c:v>
                </c:pt>
                <c:pt idx="59">
                  <c:v>1.95</c:v>
                </c:pt>
                <c:pt idx="60">
                  <c:v>2</c:v>
                </c:pt>
                <c:pt idx="61">
                  <c:v>2.05</c:v>
                </c:pt>
                <c:pt idx="62">
                  <c:v>2.1</c:v>
                </c:pt>
                <c:pt idx="63">
                  <c:v>2.15</c:v>
                </c:pt>
                <c:pt idx="64">
                  <c:v>2.2</c:v>
                </c:pt>
                <c:pt idx="65">
                  <c:v>2.25</c:v>
                </c:pt>
                <c:pt idx="66">
                  <c:v>2.3</c:v>
                </c:pt>
                <c:pt idx="67">
                  <c:v>2.35</c:v>
                </c:pt>
                <c:pt idx="68">
                  <c:v>2.4</c:v>
                </c:pt>
                <c:pt idx="69">
                  <c:v>2.45</c:v>
                </c:pt>
                <c:pt idx="70">
                  <c:v>2.5</c:v>
                </c:pt>
                <c:pt idx="71">
                  <c:v>2.55</c:v>
                </c:pt>
                <c:pt idx="72">
                  <c:v>2.6</c:v>
                </c:pt>
                <c:pt idx="73">
                  <c:v>2.65</c:v>
                </c:pt>
                <c:pt idx="74">
                  <c:v>2.7</c:v>
                </c:pt>
                <c:pt idx="75">
                  <c:v>2.75</c:v>
                </c:pt>
                <c:pt idx="76">
                  <c:v>2.8</c:v>
                </c:pt>
                <c:pt idx="77">
                  <c:v>2.85</c:v>
                </c:pt>
                <c:pt idx="78">
                  <c:v>2.9</c:v>
                </c:pt>
                <c:pt idx="79">
                  <c:v>2.95</c:v>
                </c:pt>
                <c:pt idx="80">
                  <c:v>3</c:v>
                </c:pt>
              </c:numCache>
            </c:numRef>
          </c:xVal>
          <c:yVal>
            <c:numRef>
              <c:f>'Chart Data'!$B$2:$B$82</c:f>
              <c:numCache>
                <c:formatCode>General</c:formatCode>
                <c:ptCount val="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0.05</c:v>
                </c:pt>
                <c:pt idx="22">
                  <c:v>0.1</c:v>
                </c:pt>
                <c:pt idx="23">
                  <c:v>0.15</c:v>
                </c:pt>
                <c:pt idx="24">
                  <c:v>0.2</c:v>
                </c:pt>
                <c:pt idx="25">
                  <c:v>0.25</c:v>
                </c:pt>
                <c:pt idx="26">
                  <c:v>0.3</c:v>
                </c:pt>
                <c:pt idx="27">
                  <c:v>0.35</c:v>
                </c:pt>
                <c:pt idx="28">
                  <c:v>0.4</c:v>
                </c:pt>
                <c:pt idx="29">
                  <c:v>0.45</c:v>
                </c:pt>
                <c:pt idx="30">
                  <c:v>0.5</c:v>
                </c:pt>
                <c:pt idx="31">
                  <c:v>0.55</c:v>
                </c:pt>
                <c:pt idx="32">
                  <c:v>0.6</c:v>
                </c:pt>
                <c:pt idx="33">
                  <c:v>0.65</c:v>
                </c:pt>
                <c:pt idx="34">
                  <c:v>0.7</c:v>
                </c:pt>
                <c:pt idx="35">
                  <c:v>0.75</c:v>
                </c:pt>
                <c:pt idx="36">
                  <c:v>0.8</c:v>
                </c:pt>
                <c:pt idx="37">
                  <c:v>0.85</c:v>
                </c:pt>
                <c:pt idx="38">
                  <c:v>0.9</c:v>
                </c:pt>
                <c:pt idx="39">
                  <c:v>0.95</c:v>
                </c:pt>
                <c:pt idx="40">
                  <c:v>1</c:v>
                </c:pt>
                <c:pt idx="41">
                  <c:v>0.95</c:v>
                </c:pt>
                <c:pt idx="42">
                  <c:v>0.9</c:v>
                </c:pt>
                <c:pt idx="43">
                  <c:v>0.85</c:v>
                </c:pt>
                <c:pt idx="44">
                  <c:v>0.8</c:v>
                </c:pt>
                <c:pt idx="45">
                  <c:v>0.75</c:v>
                </c:pt>
                <c:pt idx="46">
                  <c:v>0.7</c:v>
                </c:pt>
                <c:pt idx="47">
                  <c:v>0.65</c:v>
                </c:pt>
                <c:pt idx="48">
                  <c:v>0.6</c:v>
                </c:pt>
                <c:pt idx="49">
                  <c:v>0.55</c:v>
                </c:pt>
                <c:pt idx="50">
                  <c:v>0.5</c:v>
                </c:pt>
                <c:pt idx="51">
                  <c:v>0.45</c:v>
                </c:pt>
                <c:pt idx="52">
                  <c:v>0.4</c:v>
                </c:pt>
                <c:pt idx="53">
                  <c:v>0.35</c:v>
                </c:pt>
                <c:pt idx="54">
                  <c:v>0.3</c:v>
                </c:pt>
                <c:pt idx="55">
                  <c:v>0.25</c:v>
                </c:pt>
                <c:pt idx="56">
                  <c:v>0.2</c:v>
                </c:pt>
                <c:pt idx="57">
                  <c:v>0.15</c:v>
                </c:pt>
                <c:pt idx="58">
                  <c:v>0.1</c:v>
                </c:pt>
                <c:pt idx="59">
                  <c:v>0.05</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yVal>
          <c:smooth val="0"/>
          <c:extLst>
            <c:ext xmlns:c16="http://schemas.microsoft.com/office/drawing/2014/chart" uri="{C3380CC4-5D6E-409C-BE32-E72D297353CC}">
              <c16:uniqueId val="{00000000-422C-4CDF-9D19-49199147CA50}"/>
            </c:ext>
          </c:extLst>
        </c:ser>
        <c:dLbls>
          <c:showLegendKey val="0"/>
          <c:showVal val="0"/>
          <c:showCatName val="0"/>
          <c:showSerName val="0"/>
          <c:showPercent val="0"/>
          <c:showBubbleSize val="0"/>
        </c:dLbls>
        <c:axId val="48650112"/>
        <c:axId val="48672768"/>
      </c:scatterChart>
      <c:valAx>
        <c:axId val="48672768"/>
        <c:scaling>
          <c:orientation val="minMax"/>
          <c:max val="3"/>
          <c:min val="-1"/>
        </c:scaling>
        <c:delete val="0"/>
        <c:axPos val="l"/>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1"/>
        <c:crossBetween val="midCat"/>
        <c:majorUnit val="1"/>
      </c:valAx>
      <c:valAx>
        <c:axId val="48650112"/>
        <c:scaling>
          <c:orientation val="minMax"/>
          <c:max val="3"/>
          <c:min val="-1"/>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1"/>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T(x)</c:v>
          </c:tx>
          <c:spPr>
            <a:ln w="33338">
              <a:solidFill>
                <a:srgbClr val="087F83"/>
              </a:solidFill>
            </a:ln>
          </c:spPr>
          <c:marker>
            <c:symbol val="none"/>
          </c:marker>
          <c:xVal>
            <c:numRef>
              <c:f>'Chart Data'!$A$2:$A$82</c:f>
              <c:numCache>
                <c:formatCode>General</c:formatCode>
                <c:ptCount val="81"/>
                <c:pt idx="0">
                  <c:v>-1</c:v>
                </c:pt>
                <c:pt idx="1">
                  <c:v>-0.95</c:v>
                </c:pt>
                <c:pt idx="2">
                  <c:v>-0.9</c:v>
                </c:pt>
                <c:pt idx="3">
                  <c:v>-0.85</c:v>
                </c:pt>
                <c:pt idx="4">
                  <c:v>-0.8</c:v>
                </c:pt>
                <c:pt idx="5">
                  <c:v>-0.75</c:v>
                </c:pt>
                <c:pt idx="6">
                  <c:v>-0.7</c:v>
                </c:pt>
                <c:pt idx="7">
                  <c:v>-0.65</c:v>
                </c:pt>
                <c:pt idx="8">
                  <c:v>-0.6</c:v>
                </c:pt>
                <c:pt idx="9">
                  <c:v>-0.55</c:v>
                </c:pt>
                <c:pt idx="10">
                  <c:v>-0.5</c:v>
                </c:pt>
                <c:pt idx="11">
                  <c:v>-0.45</c:v>
                </c:pt>
                <c:pt idx="12">
                  <c:v>-0.4</c:v>
                </c:pt>
                <c:pt idx="13">
                  <c:v>-0.35</c:v>
                </c:pt>
                <c:pt idx="14">
                  <c:v>-0.3</c:v>
                </c:pt>
                <c:pt idx="15">
                  <c:v>-0.25</c:v>
                </c:pt>
                <c:pt idx="16">
                  <c:v>-0.2</c:v>
                </c:pt>
                <c:pt idx="17">
                  <c:v>-0.15</c:v>
                </c:pt>
                <c:pt idx="18">
                  <c:v>-0.1</c:v>
                </c:pt>
                <c:pt idx="19">
                  <c:v>-0.05</c:v>
                </c:pt>
                <c:pt idx="20">
                  <c:v>0</c:v>
                </c:pt>
                <c:pt idx="21">
                  <c:v>0.05</c:v>
                </c:pt>
                <c:pt idx="22">
                  <c:v>0.1</c:v>
                </c:pt>
                <c:pt idx="23">
                  <c:v>0.15</c:v>
                </c:pt>
                <c:pt idx="24">
                  <c:v>0.2</c:v>
                </c:pt>
                <c:pt idx="25">
                  <c:v>0.25</c:v>
                </c:pt>
                <c:pt idx="26">
                  <c:v>0.3</c:v>
                </c:pt>
                <c:pt idx="27">
                  <c:v>0.35</c:v>
                </c:pt>
                <c:pt idx="28">
                  <c:v>0.4</c:v>
                </c:pt>
                <c:pt idx="29">
                  <c:v>0.45</c:v>
                </c:pt>
                <c:pt idx="30">
                  <c:v>0.5</c:v>
                </c:pt>
                <c:pt idx="31">
                  <c:v>0.55</c:v>
                </c:pt>
                <c:pt idx="32">
                  <c:v>0.6</c:v>
                </c:pt>
                <c:pt idx="33">
                  <c:v>0.65</c:v>
                </c:pt>
                <c:pt idx="34">
                  <c:v>0.7</c:v>
                </c:pt>
                <c:pt idx="35">
                  <c:v>0.75</c:v>
                </c:pt>
                <c:pt idx="36">
                  <c:v>0.8</c:v>
                </c:pt>
                <c:pt idx="37">
                  <c:v>0.85</c:v>
                </c:pt>
                <c:pt idx="38">
                  <c:v>0.9</c:v>
                </c:pt>
                <c:pt idx="39">
                  <c:v>0.95</c:v>
                </c:pt>
                <c:pt idx="40">
                  <c:v>1</c:v>
                </c:pt>
                <c:pt idx="41">
                  <c:v>1.05</c:v>
                </c:pt>
                <c:pt idx="42">
                  <c:v>1.1</c:v>
                </c:pt>
                <c:pt idx="43">
                  <c:v>1.15</c:v>
                </c:pt>
                <c:pt idx="44">
                  <c:v>1.2</c:v>
                </c:pt>
                <c:pt idx="45">
                  <c:v>1.25</c:v>
                </c:pt>
                <c:pt idx="46">
                  <c:v>1.3</c:v>
                </c:pt>
                <c:pt idx="47">
                  <c:v>1.35</c:v>
                </c:pt>
                <c:pt idx="48">
                  <c:v>1.4</c:v>
                </c:pt>
                <c:pt idx="49">
                  <c:v>1.45</c:v>
                </c:pt>
                <c:pt idx="50">
                  <c:v>1.5</c:v>
                </c:pt>
                <c:pt idx="51">
                  <c:v>1.55</c:v>
                </c:pt>
                <c:pt idx="52">
                  <c:v>1.6</c:v>
                </c:pt>
                <c:pt idx="53">
                  <c:v>1.65</c:v>
                </c:pt>
                <c:pt idx="54">
                  <c:v>1.7</c:v>
                </c:pt>
                <c:pt idx="55">
                  <c:v>1.75</c:v>
                </c:pt>
                <c:pt idx="56">
                  <c:v>1.8</c:v>
                </c:pt>
                <c:pt idx="57">
                  <c:v>1.85</c:v>
                </c:pt>
                <c:pt idx="58">
                  <c:v>1.9</c:v>
                </c:pt>
                <c:pt idx="59">
                  <c:v>1.95</c:v>
                </c:pt>
                <c:pt idx="60">
                  <c:v>2</c:v>
                </c:pt>
                <c:pt idx="61">
                  <c:v>2.05</c:v>
                </c:pt>
                <c:pt idx="62">
                  <c:v>2.1</c:v>
                </c:pt>
                <c:pt idx="63">
                  <c:v>2.15</c:v>
                </c:pt>
                <c:pt idx="64">
                  <c:v>2.2</c:v>
                </c:pt>
                <c:pt idx="65">
                  <c:v>2.25</c:v>
                </c:pt>
                <c:pt idx="66">
                  <c:v>2.3</c:v>
                </c:pt>
                <c:pt idx="67">
                  <c:v>2.35</c:v>
                </c:pt>
                <c:pt idx="68">
                  <c:v>2.4</c:v>
                </c:pt>
                <c:pt idx="69">
                  <c:v>2.45</c:v>
                </c:pt>
                <c:pt idx="70">
                  <c:v>2.5</c:v>
                </c:pt>
                <c:pt idx="71">
                  <c:v>2.55</c:v>
                </c:pt>
                <c:pt idx="72">
                  <c:v>2.6</c:v>
                </c:pt>
                <c:pt idx="73">
                  <c:v>2.65</c:v>
                </c:pt>
                <c:pt idx="74">
                  <c:v>2.7</c:v>
                </c:pt>
                <c:pt idx="75">
                  <c:v>2.75</c:v>
                </c:pt>
                <c:pt idx="76">
                  <c:v>2.8</c:v>
                </c:pt>
                <c:pt idx="77">
                  <c:v>2.85</c:v>
                </c:pt>
                <c:pt idx="78">
                  <c:v>2.9</c:v>
                </c:pt>
                <c:pt idx="79">
                  <c:v>2.95</c:v>
                </c:pt>
                <c:pt idx="80">
                  <c:v>3</c:v>
                </c:pt>
              </c:numCache>
            </c:numRef>
          </c:xVal>
          <c:yVal>
            <c:numRef>
              <c:f>'Chart Data'!$B$2:$B$82</c:f>
              <c:numCache>
                <c:formatCode>General</c:formatCode>
                <c:ptCount val="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0.05</c:v>
                </c:pt>
                <c:pt idx="22">
                  <c:v>0.1</c:v>
                </c:pt>
                <c:pt idx="23">
                  <c:v>0.15</c:v>
                </c:pt>
                <c:pt idx="24">
                  <c:v>0.2</c:v>
                </c:pt>
                <c:pt idx="25">
                  <c:v>0.25</c:v>
                </c:pt>
                <c:pt idx="26">
                  <c:v>0.3</c:v>
                </c:pt>
                <c:pt idx="27">
                  <c:v>0.35</c:v>
                </c:pt>
                <c:pt idx="28">
                  <c:v>0.4</c:v>
                </c:pt>
                <c:pt idx="29">
                  <c:v>0.45</c:v>
                </c:pt>
                <c:pt idx="30">
                  <c:v>0.5</c:v>
                </c:pt>
                <c:pt idx="31">
                  <c:v>0.55</c:v>
                </c:pt>
                <c:pt idx="32">
                  <c:v>0.6</c:v>
                </c:pt>
                <c:pt idx="33">
                  <c:v>0.65</c:v>
                </c:pt>
                <c:pt idx="34">
                  <c:v>0.7</c:v>
                </c:pt>
                <c:pt idx="35">
                  <c:v>0.75</c:v>
                </c:pt>
                <c:pt idx="36">
                  <c:v>0.8</c:v>
                </c:pt>
                <c:pt idx="37">
                  <c:v>0.85</c:v>
                </c:pt>
                <c:pt idx="38">
                  <c:v>0.9</c:v>
                </c:pt>
                <c:pt idx="39">
                  <c:v>0.95</c:v>
                </c:pt>
                <c:pt idx="40">
                  <c:v>1</c:v>
                </c:pt>
                <c:pt idx="41">
                  <c:v>0.95</c:v>
                </c:pt>
                <c:pt idx="42">
                  <c:v>0.9</c:v>
                </c:pt>
                <c:pt idx="43">
                  <c:v>0.85</c:v>
                </c:pt>
                <c:pt idx="44">
                  <c:v>0.8</c:v>
                </c:pt>
                <c:pt idx="45">
                  <c:v>0.75</c:v>
                </c:pt>
                <c:pt idx="46">
                  <c:v>0.7</c:v>
                </c:pt>
                <c:pt idx="47">
                  <c:v>0.65</c:v>
                </c:pt>
                <c:pt idx="48">
                  <c:v>0.6</c:v>
                </c:pt>
                <c:pt idx="49">
                  <c:v>0.55</c:v>
                </c:pt>
                <c:pt idx="50">
                  <c:v>0.5</c:v>
                </c:pt>
                <c:pt idx="51">
                  <c:v>0.45</c:v>
                </c:pt>
                <c:pt idx="52">
                  <c:v>0.4</c:v>
                </c:pt>
                <c:pt idx="53">
                  <c:v>0.35</c:v>
                </c:pt>
                <c:pt idx="54">
                  <c:v>0.3</c:v>
                </c:pt>
                <c:pt idx="55">
                  <c:v>0.25</c:v>
                </c:pt>
                <c:pt idx="56">
                  <c:v>0.2</c:v>
                </c:pt>
                <c:pt idx="57">
                  <c:v>0.15</c:v>
                </c:pt>
                <c:pt idx="58">
                  <c:v>0.1</c:v>
                </c:pt>
                <c:pt idx="59">
                  <c:v>0.05</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yVal>
          <c:smooth val="0"/>
          <c:extLst>
            <c:ext xmlns:c16="http://schemas.microsoft.com/office/drawing/2014/chart" uri="{C3380CC4-5D6E-409C-BE32-E72D297353CC}">
              <c16:uniqueId val="{00000000-422C-4CDF-9D19-49199147CA50}"/>
            </c:ext>
          </c:extLst>
        </c:ser>
        <c:dLbls>
          <c:showLegendKey val="0"/>
          <c:showVal val="0"/>
          <c:showCatName val="0"/>
          <c:showSerName val="0"/>
          <c:showPercent val="0"/>
          <c:showBubbleSize val="0"/>
        </c:dLbls>
        <c:axId val="48650112"/>
        <c:axId val="48672768"/>
      </c:scatterChart>
      <c:valAx>
        <c:axId val="48672768"/>
        <c:scaling>
          <c:orientation val="minMax"/>
          <c:max val="3"/>
          <c:min val="-1"/>
        </c:scaling>
        <c:delete val="0"/>
        <c:axPos val="l"/>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1"/>
        <c:crossBetween val="midCat"/>
        <c:majorUnit val="1"/>
      </c:valAx>
      <c:valAx>
        <c:axId val="48650112"/>
        <c:scaling>
          <c:orientation val="minMax"/>
          <c:max val="3"/>
          <c:min val="-1"/>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1"/>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Class 0</c:v>
          </c:tx>
          <c:spPr>
            <a:ln w="0">
              <a:noFill/>
            </a:ln>
          </c:spPr>
          <c:marker>
            <c:symbol val="circle"/>
            <c:size val="11"/>
            <c:spPr>
              <a:solidFill>
                <a:srgbClr val="326CB2"/>
              </a:solidFill>
              <a:ln w="9525">
                <a:solidFill>
                  <a:srgbClr val="326CB2"/>
                </a:solidFill>
              </a:ln>
            </c:spPr>
          </c:marker>
          <c:xVal>
            <c:numRef>
              <c:f>'Chart Data'!$A$2:$A$3</c:f>
              <c:numCache>
                <c:formatCode>General</c:formatCode>
                <c:ptCount val="2"/>
                <c:pt idx="0">
                  <c:v>0</c:v>
                </c:pt>
                <c:pt idx="1">
                  <c:v>1</c:v>
                </c:pt>
              </c:numCache>
            </c:numRef>
          </c:xVal>
          <c:yVal>
            <c:numRef>
              <c:f>'Chart Data'!$B$2:$B$3</c:f>
              <c:numCache>
                <c:formatCode>General</c:formatCode>
                <c:ptCount val="2"/>
                <c:pt idx="0">
                  <c:v>0</c:v>
                </c:pt>
                <c:pt idx="1">
                  <c:v>1</c:v>
                </c:pt>
              </c:numCache>
            </c:numRef>
          </c:yVal>
          <c:smooth val="1"/>
          <c:extLst>
            <c:ext xmlns:c16="http://schemas.microsoft.com/office/drawing/2014/chart" uri="{C3380CC4-5D6E-409C-BE32-E72D297353CC}">
              <c16:uniqueId val="{00000000-00ED-464D-B288-EBB028ABB98F}"/>
            </c:ext>
          </c:extLst>
        </c:ser>
        <c:ser>
          <c:idx val="1"/>
          <c:order val="1"/>
          <c:tx>
            <c:v>Class 1</c:v>
          </c:tx>
          <c:spPr>
            <a:ln w="0">
              <a:noFill/>
            </a:ln>
          </c:spPr>
          <c:marker>
            <c:symbol val="triangle"/>
            <c:size val="12"/>
            <c:spPr>
              <a:solidFill>
                <a:srgbClr val="C45C28"/>
              </a:solidFill>
              <a:ln w="9525">
                <a:solidFill>
                  <a:srgbClr val="C45C28"/>
                </a:solidFill>
              </a:ln>
            </c:spPr>
          </c:marker>
          <c:xVal>
            <c:numRef>
              <c:f>'Chart Data'!$C$2:$C$3</c:f>
              <c:numCache>
                <c:formatCode>General</c:formatCode>
                <c:ptCount val="2"/>
                <c:pt idx="0">
                  <c:v>1</c:v>
                </c:pt>
                <c:pt idx="1">
                  <c:v>0</c:v>
                </c:pt>
              </c:numCache>
            </c:numRef>
          </c:xVal>
          <c:yVal>
            <c:numRef>
              <c:f>'Chart Data'!$D$2:$D$3</c:f>
              <c:numCache>
                <c:formatCode>General</c:formatCode>
                <c:ptCount val="2"/>
                <c:pt idx="0">
                  <c:v>0</c:v>
                </c:pt>
                <c:pt idx="1">
                  <c:v>1</c:v>
                </c:pt>
              </c:numCache>
            </c:numRef>
          </c:yVal>
          <c:smooth val="1"/>
          <c:extLst>
            <c:ext xmlns:c16="http://schemas.microsoft.com/office/drawing/2014/chart" uri="{C3380CC4-5D6E-409C-BE32-E72D297353CC}">
              <c16:uniqueId val="{00000001-00ED-464D-B288-EBB028ABB98F}"/>
            </c:ext>
          </c:extLst>
        </c:ser>
        <c:dLbls>
          <c:showLegendKey val="0"/>
          <c:showVal val="0"/>
          <c:showCatName val="0"/>
          <c:showSerName val="0"/>
          <c:showPercent val="0"/>
          <c:showBubbleSize val="0"/>
        </c:dLbls>
        <c:axId val="48650112"/>
        <c:axId val="48672768"/>
      </c:scatterChart>
      <c:valAx>
        <c:axId val="48672768"/>
        <c:scaling>
          <c:orientation val="minMax"/>
          <c:max val="1.25"/>
          <c:min val="-0.25"/>
        </c:scaling>
        <c:delete val="0"/>
        <c:axPos val="l"/>
        <c:majorGridlines>
          <c:spPr>
            <a:ln w="6191">
              <a:solidFill>
                <a:srgbClr val="DCE3EB"/>
              </a:solidFill>
            </a:ln>
          </c:spPr>
        </c:majorGridlines>
        <c:title>
          <c:tx>
            <c:rich>
              <a:bodyPr/>
              <a:lstStyle/>
              <a:p>
                <a:r>
                  <a:rPr lang="it-IT" sz="1650" dirty="0">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0.25"/>
        <c:crossBetween val="midCat"/>
        <c:majorUnit val="0.25"/>
      </c:valAx>
      <c:valAx>
        <c:axId val="48650112"/>
        <c:scaling>
          <c:orientation val="minMax"/>
          <c:max val="1.25"/>
          <c:min val="-0.2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25"/>
        <c:crossBetween val="midCat"/>
        <c:majorUnit val="0.2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Class 0</c:v>
          </c:tx>
          <c:spPr>
            <a:ln w="0">
              <a:noFill/>
            </a:ln>
          </c:spPr>
          <c:marker>
            <c:symbol val="circle"/>
            <c:size val="11"/>
            <c:spPr>
              <a:solidFill>
                <a:srgbClr val="326CB2"/>
              </a:solidFill>
              <a:ln w="9525">
                <a:solidFill>
                  <a:srgbClr val="326CB2"/>
                </a:solidFill>
              </a:ln>
            </c:spPr>
          </c:marker>
          <c:xVal>
            <c:numRef>
              <c:f>'Chart Data'!$A$2:$A$3</c:f>
              <c:numCache>
                <c:formatCode>General</c:formatCode>
                <c:ptCount val="2"/>
                <c:pt idx="0">
                  <c:v>0</c:v>
                </c:pt>
                <c:pt idx="1">
                  <c:v>1</c:v>
                </c:pt>
              </c:numCache>
            </c:numRef>
          </c:xVal>
          <c:yVal>
            <c:numRef>
              <c:f>'Chart Data'!$B$2:$B$3</c:f>
              <c:numCache>
                <c:formatCode>General</c:formatCode>
                <c:ptCount val="2"/>
                <c:pt idx="0">
                  <c:v>0</c:v>
                </c:pt>
                <c:pt idx="1">
                  <c:v>1</c:v>
                </c:pt>
              </c:numCache>
            </c:numRef>
          </c:yVal>
          <c:smooth val="1"/>
          <c:extLst>
            <c:ext xmlns:c16="http://schemas.microsoft.com/office/drawing/2014/chart" uri="{C3380CC4-5D6E-409C-BE32-E72D297353CC}">
              <c16:uniqueId val="{00000000-2B58-4968-8F73-C02AD810444E}"/>
            </c:ext>
          </c:extLst>
        </c:ser>
        <c:ser>
          <c:idx val="1"/>
          <c:order val="1"/>
          <c:tx>
            <c:v>Class 1</c:v>
          </c:tx>
          <c:spPr>
            <a:ln w="0">
              <a:noFill/>
            </a:ln>
          </c:spPr>
          <c:marker>
            <c:symbol val="triangle"/>
            <c:size val="12"/>
            <c:spPr>
              <a:solidFill>
                <a:srgbClr val="C45C28"/>
              </a:solidFill>
              <a:ln w="9525">
                <a:solidFill>
                  <a:srgbClr val="C45C28"/>
                </a:solidFill>
              </a:ln>
            </c:spPr>
          </c:marker>
          <c:xVal>
            <c:numRef>
              <c:f>'Chart Data'!$C$2:$C$3</c:f>
              <c:numCache>
                <c:formatCode>General</c:formatCode>
                <c:ptCount val="2"/>
                <c:pt idx="0">
                  <c:v>1</c:v>
                </c:pt>
                <c:pt idx="1">
                  <c:v>0</c:v>
                </c:pt>
              </c:numCache>
            </c:numRef>
          </c:xVal>
          <c:yVal>
            <c:numRef>
              <c:f>'Chart Data'!$D$2:$D$3</c:f>
              <c:numCache>
                <c:formatCode>General</c:formatCode>
                <c:ptCount val="2"/>
                <c:pt idx="0">
                  <c:v>0</c:v>
                </c:pt>
                <c:pt idx="1">
                  <c:v>1</c:v>
                </c:pt>
              </c:numCache>
            </c:numRef>
          </c:yVal>
          <c:smooth val="1"/>
          <c:extLst>
            <c:ext xmlns:c16="http://schemas.microsoft.com/office/drawing/2014/chart" uri="{C3380CC4-5D6E-409C-BE32-E72D297353CC}">
              <c16:uniqueId val="{00000001-2B58-4968-8F73-C02AD810444E}"/>
            </c:ext>
          </c:extLst>
        </c:ser>
        <c:ser>
          <c:idx val="2"/>
          <c:order val="2"/>
          <c:tx>
            <c:v>Decision boundary</c:v>
          </c:tx>
          <c:spPr>
            <a:ln w="21908">
              <a:solidFill>
                <a:srgbClr val="087F83"/>
              </a:solidFill>
            </a:ln>
          </c:spPr>
          <c:marker>
            <c:symbol val="none"/>
          </c:marker>
          <c:xVal>
            <c:numRef>
              <c:f>'Chart Data'!$E$2:$E$3</c:f>
              <c:numCache>
                <c:formatCode>General</c:formatCode>
                <c:ptCount val="2"/>
                <c:pt idx="0">
                  <c:v>-0.25</c:v>
                </c:pt>
                <c:pt idx="1">
                  <c:v>0.75</c:v>
                </c:pt>
              </c:numCache>
            </c:numRef>
          </c:xVal>
          <c:yVal>
            <c:numRef>
              <c:f>'Chart Data'!$F$2:$F$3</c:f>
              <c:numCache>
                <c:formatCode>General</c:formatCode>
                <c:ptCount val="2"/>
                <c:pt idx="0">
                  <c:v>0.25</c:v>
                </c:pt>
                <c:pt idx="1">
                  <c:v>1.25</c:v>
                </c:pt>
              </c:numCache>
            </c:numRef>
          </c:yVal>
          <c:smooth val="1"/>
          <c:extLst>
            <c:ext xmlns:c16="http://schemas.microsoft.com/office/drawing/2014/chart" uri="{C3380CC4-5D6E-409C-BE32-E72D297353CC}">
              <c16:uniqueId val="{00000002-2B58-4968-8F73-C02AD810444E}"/>
            </c:ext>
          </c:extLst>
        </c:ser>
        <c:ser>
          <c:idx val="3"/>
          <c:order val="3"/>
          <c:tx>
            <c:v>Decision boundary</c:v>
          </c:tx>
          <c:spPr>
            <a:ln w="21908">
              <a:solidFill>
                <a:srgbClr val="087F83"/>
              </a:solidFill>
            </a:ln>
          </c:spPr>
          <c:marker>
            <c:symbol val="none"/>
          </c:marker>
          <c:xVal>
            <c:numRef>
              <c:f>'Chart Data'!$G$2:$G$3</c:f>
              <c:numCache>
                <c:formatCode>General</c:formatCode>
                <c:ptCount val="2"/>
                <c:pt idx="0">
                  <c:v>0.25</c:v>
                </c:pt>
                <c:pt idx="1">
                  <c:v>1.25</c:v>
                </c:pt>
              </c:numCache>
            </c:numRef>
          </c:xVal>
          <c:yVal>
            <c:numRef>
              <c:f>'Chart Data'!$H$2:$H$3</c:f>
              <c:numCache>
                <c:formatCode>General</c:formatCode>
                <c:ptCount val="2"/>
                <c:pt idx="0">
                  <c:v>-0.25</c:v>
                </c:pt>
                <c:pt idx="1">
                  <c:v>0.75</c:v>
                </c:pt>
              </c:numCache>
            </c:numRef>
          </c:yVal>
          <c:smooth val="1"/>
          <c:extLst>
            <c:ext xmlns:c16="http://schemas.microsoft.com/office/drawing/2014/chart" uri="{C3380CC4-5D6E-409C-BE32-E72D297353CC}">
              <c16:uniqueId val="{00000003-2B58-4968-8F73-C02AD810444E}"/>
            </c:ext>
          </c:extLst>
        </c:ser>
        <c:dLbls>
          <c:showLegendKey val="0"/>
          <c:showVal val="0"/>
          <c:showCatName val="0"/>
          <c:showSerName val="0"/>
          <c:showPercent val="0"/>
          <c:showBubbleSize val="0"/>
        </c:dLbls>
        <c:axId val="48650112"/>
        <c:axId val="48672768"/>
      </c:scatterChart>
      <c:valAx>
        <c:axId val="48672768"/>
        <c:scaling>
          <c:orientation val="minMax"/>
          <c:max val="1.25"/>
          <c:min val="-0.25"/>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x₂</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0.25"/>
        <c:crossBetween val="midCat"/>
        <c:majorUnit val="0.25"/>
      </c:valAx>
      <c:valAx>
        <c:axId val="48650112"/>
        <c:scaling>
          <c:orientation val="minMax"/>
          <c:max val="1.25"/>
          <c:min val="-0.2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25"/>
        <c:crossBetween val="midCat"/>
        <c:majorUnit val="0.2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Class 0 (2 observations)</c:v>
          </c:tx>
          <c:spPr>
            <a:ln w="0">
              <a:noFill/>
            </a:ln>
          </c:spPr>
          <c:marker>
            <c:symbol val="circle"/>
            <c:size val="12"/>
            <c:spPr>
              <a:solidFill>
                <a:srgbClr val="326CB2"/>
              </a:solidFill>
              <a:ln w="9525">
                <a:solidFill>
                  <a:srgbClr val="326CB2"/>
                </a:solidFill>
              </a:ln>
            </c:spPr>
          </c:marker>
          <c:xVal>
            <c:numRef>
              <c:f>'Chart Data'!$A$2:$A$2</c:f>
              <c:numCache>
                <c:formatCode>General</c:formatCode>
                <c:ptCount val="1"/>
                <c:pt idx="0">
                  <c:v>0</c:v>
                </c:pt>
              </c:numCache>
            </c:numRef>
          </c:xVal>
          <c:yVal>
            <c:numRef>
              <c:f>'Chart Data'!$B$2:$B$2</c:f>
              <c:numCache>
                <c:formatCode>General</c:formatCode>
                <c:ptCount val="1"/>
                <c:pt idx="0">
                  <c:v>0</c:v>
                </c:pt>
              </c:numCache>
            </c:numRef>
          </c:yVal>
          <c:smooth val="1"/>
          <c:extLst>
            <c:ext xmlns:c16="http://schemas.microsoft.com/office/drawing/2014/chart" uri="{C3380CC4-5D6E-409C-BE32-E72D297353CC}">
              <c16:uniqueId val="{00000000-944E-4AE0-8144-21810AFAC8D1}"/>
            </c:ext>
          </c:extLst>
        </c:ser>
        <c:ser>
          <c:idx val="1"/>
          <c:order val="1"/>
          <c:tx>
            <c:v>Class 1</c:v>
          </c:tx>
          <c:spPr>
            <a:ln w="0">
              <a:noFill/>
            </a:ln>
          </c:spPr>
          <c:marker>
            <c:symbol val="triangle"/>
            <c:size val="12"/>
            <c:spPr>
              <a:solidFill>
                <a:srgbClr val="C45C28"/>
              </a:solidFill>
              <a:ln w="9525">
                <a:solidFill>
                  <a:srgbClr val="C45C28"/>
                </a:solidFill>
              </a:ln>
            </c:spPr>
          </c:marker>
          <c:xVal>
            <c:numRef>
              <c:f>'Chart Data'!$C$2:$C$3</c:f>
              <c:numCache>
                <c:formatCode>General</c:formatCode>
                <c:ptCount val="2"/>
                <c:pt idx="0">
                  <c:v>1</c:v>
                </c:pt>
                <c:pt idx="1">
                  <c:v>0</c:v>
                </c:pt>
              </c:numCache>
            </c:numRef>
          </c:xVal>
          <c:yVal>
            <c:numRef>
              <c:f>'Chart Data'!$D$2:$D$3</c:f>
              <c:numCache>
                <c:formatCode>General</c:formatCode>
                <c:ptCount val="2"/>
                <c:pt idx="0">
                  <c:v>0</c:v>
                </c:pt>
                <c:pt idx="1">
                  <c:v>1</c:v>
                </c:pt>
              </c:numCache>
            </c:numRef>
          </c:yVal>
          <c:smooth val="1"/>
          <c:extLst>
            <c:ext xmlns:c16="http://schemas.microsoft.com/office/drawing/2014/chart" uri="{C3380CC4-5D6E-409C-BE32-E72D297353CC}">
              <c16:uniqueId val="{00000001-944E-4AE0-8144-21810AFAC8D1}"/>
            </c:ext>
          </c:extLst>
        </c:ser>
        <c:ser>
          <c:idx val="2"/>
          <c:order val="2"/>
          <c:tx>
            <c:v>Decision boundary</c:v>
          </c:tx>
          <c:spPr>
            <a:ln w="21908">
              <a:solidFill>
                <a:srgbClr val="087F83"/>
              </a:solidFill>
            </a:ln>
          </c:spPr>
          <c:marker>
            <c:symbol val="none"/>
          </c:marker>
          <c:xVal>
            <c:numRef>
              <c:f>'Chart Data'!$E$2:$E$3</c:f>
              <c:numCache>
                <c:formatCode>General</c:formatCode>
                <c:ptCount val="2"/>
                <c:pt idx="0">
                  <c:v>-0.25</c:v>
                </c:pt>
                <c:pt idx="1">
                  <c:v>0.75</c:v>
                </c:pt>
              </c:numCache>
            </c:numRef>
          </c:xVal>
          <c:yVal>
            <c:numRef>
              <c:f>'Chart Data'!$F$2:$F$3</c:f>
              <c:numCache>
                <c:formatCode>General</c:formatCode>
                <c:ptCount val="2"/>
                <c:pt idx="0">
                  <c:v>0.75</c:v>
                </c:pt>
                <c:pt idx="1">
                  <c:v>-0.25</c:v>
                </c:pt>
              </c:numCache>
            </c:numRef>
          </c:yVal>
          <c:smooth val="1"/>
          <c:extLst>
            <c:ext xmlns:c16="http://schemas.microsoft.com/office/drawing/2014/chart" uri="{C3380CC4-5D6E-409C-BE32-E72D297353CC}">
              <c16:uniqueId val="{00000002-944E-4AE0-8144-21810AFAC8D1}"/>
            </c:ext>
          </c:extLst>
        </c:ser>
        <c:dLbls>
          <c:showLegendKey val="0"/>
          <c:showVal val="0"/>
          <c:showCatName val="0"/>
          <c:showSerName val="0"/>
          <c:showPercent val="0"/>
          <c:showBubbleSize val="0"/>
        </c:dLbls>
        <c:axId val="48650112"/>
        <c:axId val="48672768"/>
      </c:scatterChart>
      <c:valAx>
        <c:axId val="48672768"/>
        <c:scaling>
          <c:orientation val="minMax"/>
          <c:max val="1.25"/>
          <c:min val="-0.25"/>
        </c:scaling>
        <c:delete val="0"/>
        <c:axPos val="l"/>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0.25"/>
        <c:crossBetween val="midCat"/>
        <c:majorUnit val="0.25"/>
      </c:valAx>
      <c:valAx>
        <c:axId val="48650112"/>
        <c:scaling>
          <c:orientation val="minMax"/>
          <c:max val="1.25"/>
          <c:min val="-0.2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25"/>
        <c:crossBetween val="midCat"/>
        <c:majorUnit val="0.2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θ = -1</c:v>
          </c:tx>
          <c:spPr>
            <a:ln w="29528">
              <a:solidFill>
                <a:srgbClr val="326CB2"/>
              </a:solidFill>
            </a:ln>
          </c:spPr>
          <c:marker>
            <c:symbol val="none"/>
          </c:marker>
          <c:xVal>
            <c:numRef>
              <c:f>'Chart Data'!$A$2:$A$182</c:f>
              <c:numCache>
                <c:formatCode>General</c:formatCode>
                <c:ptCount val="181"/>
                <c:pt idx="0">
                  <c:v>-4.5</c:v>
                </c:pt>
                <c:pt idx="1">
                  <c:v>-4.45</c:v>
                </c:pt>
                <c:pt idx="2">
                  <c:v>-4.4</c:v>
                </c:pt>
                <c:pt idx="3">
                  <c:v>-4.35</c:v>
                </c:pt>
                <c:pt idx="4">
                  <c:v>-4.3</c:v>
                </c:pt>
                <c:pt idx="5">
                  <c:v>-4.25</c:v>
                </c:pt>
                <c:pt idx="6">
                  <c:v>-4.2</c:v>
                </c:pt>
                <c:pt idx="7">
                  <c:v>-4.15</c:v>
                </c:pt>
                <c:pt idx="8">
                  <c:v>-4.1</c:v>
                </c:pt>
                <c:pt idx="9">
                  <c:v>-4.05</c:v>
                </c:pt>
                <c:pt idx="10">
                  <c:v>-4</c:v>
                </c:pt>
                <c:pt idx="11">
                  <c:v>-3.95</c:v>
                </c:pt>
                <c:pt idx="12">
                  <c:v>-3.9</c:v>
                </c:pt>
                <c:pt idx="13">
                  <c:v>-3.85</c:v>
                </c:pt>
                <c:pt idx="14">
                  <c:v>-3.8</c:v>
                </c:pt>
                <c:pt idx="15">
                  <c:v>-3.75</c:v>
                </c:pt>
                <c:pt idx="16">
                  <c:v>-3.7</c:v>
                </c:pt>
                <c:pt idx="17">
                  <c:v>-3.65</c:v>
                </c:pt>
                <c:pt idx="18">
                  <c:v>-3.6</c:v>
                </c:pt>
                <c:pt idx="19">
                  <c:v>-3.55</c:v>
                </c:pt>
                <c:pt idx="20">
                  <c:v>-3.5</c:v>
                </c:pt>
                <c:pt idx="21">
                  <c:v>-3.45</c:v>
                </c:pt>
                <c:pt idx="22">
                  <c:v>-3.4</c:v>
                </c:pt>
                <c:pt idx="23">
                  <c:v>-3.35</c:v>
                </c:pt>
                <c:pt idx="24">
                  <c:v>-3.3</c:v>
                </c:pt>
                <c:pt idx="25">
                  <c:v>-3.25</c:v>
                </c:pt>
                <c:pt idx="26">
                  <c:v>-3.2</c:v>
                </c:pt>
                <c:pt idx="27">
                  <c:v>-3.15</c:v>
                </c:pt>
                <c:pt idx="28">
                  <c:v>-3.1</c:v>
                </c:pt>
                <c:pt idx="29">
                  <c:v>-3.05</c:v>
                </c:pt>
                <c:pt idx="30">
                  <c:v>-3</c:v>
                </c:pt>
                <c:pt idx="31">
                  <c:v>-2.95</c:v>
                </c:pt>
                <c:pt idx="32">
                  <c:v>-2.9</c:v>
                </c:pt>
                <c:pt idx="33">
                  <c:v>-2.85</c:v>
                </c:pt>
                <c:pt idx="34">
                  <c:v>-2.8</c:v>
                </c:pt>
                <c:pt idx="35">
                  <c:v>-2.75</c:v>
                </c:pt>
                <c:pt idx="36">
                  <c:v>-2.7</c:v>
                </c:pt>
                <c:pt idx="37">
                  <c:v>-2.65</c:v>
                </c:pt>
                <c:pt idx="38">
                  <c:v>-2.6</c:v>
                </c:pt>
                <c:pt idx="39">
                  <c:v>-2.55</c:v>
                </c:pt>
                <c:pt idx="40">
                  <c:v>-2.5</c:v>
                </c:pt>
                <c:pt idx="41">
                  <c:v>-2.45</c:v>
                </c:pt>
                <c:pt idx="42">
                  <c:v>-2.4</c:v>
                </c:pt>
                <c:pt idx="43">
                  <c:v>-2.35</c:v>
                </c:pt>
                <c:pt idx="44">
                  <c:v>-2.3</c:v>
                </c:pt>
                <c:pt idx="45">
                  <c:v>-2.25</c:v>
                </c:pt>
                <c:pt idx="46">
                  <c:v>-2.2</c:v>
                </c:pt>
                <c:pt idx="47">
                  <c:v>-2.15</c:v>
                </c:pt>
                <c:pt idx="48">
                  <c:v>-2.1</c:v>
                </c:pt>
                <c:pt idx="49">
                  <c:v>-2.05</c:v>
                </c:pt>
                <c:pt idx="50">
                  <c:v>-2</c:v>
                </c:pt>
                <c:pt idx="51">
                  <c:v>-1.95</c:v>
                </c:pt>
                <c:pt idx="52">
                  <c:v>-1.9</c:v>
                </c:pt>
                <c:pt idx="53">
                  <c:v>-1.85</c:v>
                </c:pt>
                <c:pt idx="54">
                  <c:v>-1.8</c:v>
                </c:pt>
                <c:pt idx="55">
                  <c:v>-1.75</c:v>
                </c:pt>
                <c:pt idx="56">
                  <c:v>-1.7</c:v>
                </c:pt>
                <c:pt idx="57">
                  <c:v>-1.65</c:v>
                </c:pt>
                <c:pt idx="58">
                  <c:v>-1.6</c:v>
                </c:pt>
                <c:pt idx="59">
                  <c:v>-1.55</c:v>
                </c:pt>
                <c:pt idx="60">
                  <c:v>-1.5</c:v>
                </c:pt>
                <c:pt idx="61">
                  <c:v>-1.45</c:v>
                </c:pt>
                <c:pt idx="62">
                  <c:v>-1.4</c:v>
                </c:pt>
                <c:pt idx="63">
                  <c:v>-1.35</c:v>
                </c:pt>
                <c:pt idx="64">
                  <c:v>-1.3</c:v>
                </c:pt>
                <c:pt idx="65">
                  <c:v>-1.25</c:v>
                </c:pt>
                <c:pt idx="66">
                  <c:v>-1.2</c:v>
                </c:pt>
                <c:pt idx="67">
                  <c:v>-1.15</c:v>
                </c:pt>
                <c:pt idx="68">
                  <c:v>-1.1</c:v>
                </c:pt>
                <c:pt idx="69">
                  <c:v>-1.05</c:v>
                </c:pt>
                <c:pt idx="70">
                  <c:v>-1</c:v>
                </c:pt>
                <c:pt idx="71">
                  <c:v>-0.95</c:v>
                </c:pt>
                <c:pt idx="72">
                  <c:v>-0.9</c:v>
                </c:pt>
                <c:pt idx="73">
                  <c:v>-0.85</c:v>
                </c:pt>
                <c:pt idx="74">
                  <c:v>-0.8</c:v>
                </c:pt>
                <c:pt idx="75">
                  <c:v>-0.75</c:v>
                </c:pt>
                <c:pt idx="76">
                  <c:v>-0.7</c:v>
                </c:pt>
                <c:pt idx="77">
                  <c:v>-0.65</c:v>
                </c:pt>
                <c:pt idx="78">
                  <c:v>-0.6</c:v>
                </c:pt>
                <c:pt idx="79">
                  <c:v>-0.55</c:v>
                </c:pt>
                <c:pt idx="80">
                  <c:v>-0.5</c:v>
                </c:pt>
                <c:pt idx="81">
                  <c:v>-0.45</c:v>
                </c:pt>
                <c:pt idx="82">
                  <c:v>-0.4</c:v>
                </c:pt>
                <c:pt idx="83">
                  <c:v>-0.35</c:v>
                </c:pt>
                <c:pt idx="84">
                  <c:v>-0.3</c:v>
                </c:pt>
                <c:pt idx="85">
                  <c:v>-0.25</c:v>
                </c:pt>
                <c:pt idx="86">
                  <c:v>-0.2</c:v>
                </c:pt>
                <c:pt idx="87">
                  <c:v>-0.15</c:v>
                </c:pt>
                <c:pt idx="88">
                  <c:v>-0.1</c:v>
                </c:pt>
                <c:pt idx="89">
                  <c:v>-0.05</c:v>
                </c:pt>
                <c:pt idx="90">
                  <c:v>0</c:v>
                </c:pt>
                <c:pt idx="91">
                  <c:v>0.05</c:v>
                </c:pt>
                <c:pt idx="92">
                  <c:v>0.1</c:v>
                </c:pt>
                <c:pt idx="93">
                  <c:v>0.15</c:v>
                </c:pt>
                <c:pt idx="94">
                  <c:v>0.2</c:v>
                </c:pt>
                <c:pt idx="95">
                  <c:v>0.25</c:v>
                </c:pt>
                <c:pt idx="96">
                  <c:v>0.3</c:v>
                </c:pt>
                <c:pt idx="97">
                  <c:v>0.35</c:v>
                </c:pt>
                <c:pt idx="98">
                  <c:v>0.4</c:v>
                </c:pt>
                <c:pt idx="99">
                  <c:v>0.45</c:v>
                </c:pt>
                <c:pt idx="100">
                  <c:v>0.5</c:v>
                </c:pt>
                <c:pt idx="101">
                  <c:v>0.55</c:v>
                </c:pt>
                <c:pt idx="102">
                  <c:v>0.6</c:v>
                </c:pt>
                <c:pt idx="103">
                  <c:v>0.65</c:v>
                </c:pt>
                <c:pt idx="104">
                  <c:v>0.7</c:v>
                </c:pt>
                <c:pt idx="105">
                  <c:v>0.75</c:v>
                </c:pt>
                <c:pt idx="106">
                  <c:v>0.8</c:v>
                </c:pt>
                <c:pt idx="107">
                  <c:v>0.85</c:v>
                </c:pt>
                <c:pt idx="108">
                  <c:v>0.9</c:v>
                </c:pt>
                <c:pt idx="109">
                  <c:v>0.95</c:v>
                </c:pt>
                <c:pt idx="110">
                  <c:v>1</c:v>
                </c:pt>
                <c:pt idx="111">
                  <c:v>1.05</c:v>
                </c:pt>
                <c:pt idx="112">
                  <c:v>1.1</c:v>
                </c:pt>
                <c:pt idx="113">
                  <c:v>1.15</c:v>
                </c:pt>
                <c:pt idx="114">
                  <c:v>1.2</c:v>
                </c:pt>
                <c:pt idx="115">
                  <c:v>1.25</c:v>
                </c:pt>
                <c:pt idx="116">
                  <c:v>1.3</c:v>
                </c:pt>
                <c:pt idx="117">
                  <c:v>1.35</c:v>
                </c:pt>
                <c:pt idx="118">
                  <c:v>1.4</c:v>
                </c:pt>
                <c:pt idx="119">
                  <c:v>1.45</c:v>
                </c:pt>
                <c:pt idx="120">
                  <c:v>1.5</c:v>
                </c:pt>
                <c:pt idx="121">
                  <c:v>1.55</c:v>
                </c:pt>
                <c:pt idx="122">
                  <c:v>1.6</c:v>
                </c:pt>
                <c:pt idx="123">
                  <c:v>1.65</c:v>
                </c:pt>
                <c:pt idx="124">
                  <c:v>1.7</c:v>
                </c:pt>
                <c:pt idx="125">
                  <c:v>1.75</c:v>
                </c:pt>
                <c:pt idx="126">
                  <c:v>1.8</c:v>
                </c:pt>
                <c:pt idx="127">
                  <c:v>1.85</c:v>
                </c:pt>
                <c:pt idx="128">
                  <c:v>1.9</c:v>
                </c:pt>
                <c:pt idx="129">
                  <c:v>1.95</c:v>
                </c:pt>
                <c:pt idx="130">
                  <c:v>2</c:v>
                </c:pt>
                <c:pt idx="131">
                  <c:v>2.05</c:v>
                </c:pt>
                <c:pt idx="132">
                  <c:v>2.1</c:v>
                </c:pt>
                <c:pt idx="133">
                  <c:v>2.15</c:v>
                </c:pt>
                <c:pt idx="134">
                  <c:v>2.2</c:v>
                </c:pt>
                <c:pt idx="135">
                  <c:v>2.25</c:v>
                </c:pt>
                <c:pt idx="136">
                  <c:v>2.3</c:v>
                </c:pt>
                <c:pt idx="137">
                  <c:v>2.35</c:v>
                </c:pt>
                <c:pt idx="138">
                  <c:v>2.4</c:v>
                </c:pt>
                <c:pt idx="139">
                  <c:v>2.45</c:v>
                </c:pt>
                <c:pt idx="140">
                  <c:v>2.5</c:v>
                </c:pt>
                <c:pt idx="141">
                  <c:v>2.55</c:v>
                </c:pt>
                <c:pt idx="142">
                  <c:v>2.6</c:v>
                </c:pt>
                <c:pt idx="143">
                  <c:v>2.65</c:v>
                </c:pt>
                <c:pt idx="144">
                  <c:v>2.7</c:v>
                </c:pt>
                <c:pt idx="145">
                  <c:v>2.75</c:v>
                </c:pt>
                <c:pt idx="146">
                  <c:v>2.8</c:v>
                </c:pt>
                <c:pt idx="147">
                  <c:v>2.85</c:v>
                </c:pt>
                <c:pt idx="148">
                  <c:v>2.9</c:v>
                </c:pt>
                <c:pt idx="149">
                  <c:v>2.95</c:v>
                </c:pt>
                <c:pt idx="150">
                  <c:v>3</c:v>
                </c:pt>
                <c:pt idx="151">
                  <c:v>3.05</c:v>
                </c:pt>
                <c:pt idx="152">
                  <c:v>3.1</c:v>
                </c:pt>
                <c:pt idx="153">
                  <c:v>3.15</c:v>
                </c:pt>
                <c:pt idx="154">
                  <c:v>3.2</c:v>
                </c:pt>
                <c:pt idx="155">
                  <c:v>3.25</c:v>
                </c:pt>
                <c:pt idx="156">
                  <c:v>3.3</c:v>
                </c:pt>
                <c:pt idx="157">
                  <c:v>3.35</c:v>
                </c:pt>
                <c:pt idx="158">
                  <c:v>3.4</c:v>
                </c:pt>
                <c:pt idx="159">
                  <c:v>3.45</c:v>
                </c:pt>
                <c:pt idx="160">
                  <c:v>3.5</c:v>
                </c:pt>
                <c:pt idx="161">
                  <c:v>3.55</c:v>
                </c:pt>
                <c:pt idx="162">
                  <c:v>3.6</c:v>
                </c:pt>
                <c:pt idx="163">
                  <c:v>3.65</c:v>
                </c:pt>
                <c:pt idx="164">
                  <c:v>3.7</c:v>
                </c:pt>
                <c:pt idx="165">
                  <c:v>3.75</c:v>
                </c:pt>
                <c:pt idx="166">
                  <c:v>3.8</c:v>
                </c:pt>
                <c:pt idx="167">
                  <c:v>3.85</c:v>
                </c:pt>
                <c:pt idx="168">
                  <c:v>3.9</c:v>
                </c:pt>
                <c:pt idx="169">
                  <c:v>3.95</c:v>
                </c:pt>
                <c:pt idx="170">
                  <c:v>4</c:v>
                </c:pt>
                <c:pt idx="171">
                  <c:v>4.05</c:v>
                </c:pt>
                <c:pt idx="172">
                  <c:v>4.1</c:v>
                </c:pt>
                <c:pt idx="173">
                  <c:v>4.15</c:v>
                </c:pt>
                <c:pt idx="174">
                  <c:v>4.2</c:v>
                </c:pt>
                <c:pt idx="175">
                  <c:v>4.25</c:v>
                </c:pt>
                <c:pt idx="176">
                  <c:v>4.3</c:v>
                </c:pt>
                <c:pt idx="177">
                  <c:v>4.35</c:v>
                </c:pt>
                <c:pt idx="178">
                  <c:v>4.4</c:v>
                </c:pt>
                <c:pt idx="179">
                  <c:v>4.45</c:v>
                </c:pt>
                <c:pt idx="180">
                  <c:v>4.5</c:v>
                </c:pt>
              </c:numCache>
            </c:numRef>
          </c:xVal>
          <c:yVal>
            <c:numRef>
              <c:f>'Chart Data'!$B$2:$B$182</c:f>
              <c:numCache>
                <c:formatCode>General</c:formatCode>
                <c:ptCount val="181"/>
                <c:pt idx="0">
                  <c:v>0.5</c:v>
                </c:pt>
                <c:pt idx="1">
                  <c:v>0.45</c:v>
                </c:pt>
                <c:pt idx="2">
                  <c:v>0.4</c:v>
                </c:pt>
                <c:pt idx="3">
                  <c:v>0.35</c:v>
                </c:pt>
                <c:pt idx="4">
                  <c:v>0.3</c:v>
                </c:pt>
                <c:pt idx="5">
                  <c:v>0.25</c:v>
                </c:pt>
                <c:pt idx="6">
                  <c:v>0.2</c:v>
                </c:pt>
                <c:pt idx="7">
                  <c:v>0.15</c:v>
                </c:pt>
                <c:pt idx="8">
                  <c:v>0.0999999999999996</c:v>
                </c:pt>
                <c:pt idx="9">
                  <c:v>0.0499999999999998</c:v>
                </c:pt>
                <c:pt idx="10">
                  <c:v>0</c:v>
                </c:pt>
                <c:pt idx="11">
                  <c:v>-0.0499999999999998</c:v>
                </c:pt>
                <c:pt idx="12">
                  <c:v>-0.1</c:v>
                </c:pt>
                <c:pt idx="13">
                  <c:v>-0.15</c:v>
                </c:pt>
                <c:pt idx="14">
                  <c:v>-0.2</c:v>
                </c:pt>
                <c:pt idx="15">
                  <c:v>-0.25</c:v>
                </c:pt>
                <c:pt idx="16">
                  <c:v>-0.3</c:v>
                </c:pt>
                <c:pt idx="17">
                  <c:v>-0.35</c:v>
                </c:pt>
                <c:pt idx="18">
                  <c:v>-0.4</c:v>
                </c:pt>
                <c:pt idx="19">
                  <c:v>-0.45</c:v>
                </c:pt>
                <c:pt idx="20">
                  <c:v>-0.5</c:v>
                </c:pt>
                <c:pt idx="21">
                  <c:v>-0.55</c:v>
                </c:pt>
                <c:pt idx="22">
                  <c:v>-0.6</c:v>
                </c:pt>
                <c:pt idx="23">
                  <c:v>-0.65</c:v>
                </c:pt>
                <c:pt idx="24">
                  <c:v>-0.7</c:v>
                </c:pt>
                <c:pt idx="25">
                  <c:v>-0.75</c:v>
                </c:pt>
                <c:pt idx="26">
                  <c:v>-0.8</c:v>
                </c:pt>
                <c:pt idx="27">
                  <c:v>-0.85</c:v>
                </c:pt>
                <c:pt idx="28">
                  <c:v>-0.9</c:v>
                </c:pt>
                <c:pt idx="29">
                  <c:v>-0.95</c:v>
                </c:pt>
                <c:pt idx="30">
                  <c:v>-1</c:v>
                </c:pt>
                <c:pt idx="31">
                  <c:v>-1.05</c:v>
                </c:pt>
                <c:pt idx="32">
                  <c:v>-1.1</c:v>
                </c:pt>
                <c:pt idx="33">
                  <c:v>-1.15</c:v>
                </c:pt>
                <c:pt idx="34">
                  <c:v>-1.2</c:v>
                </c:pt>
                <c:pt idx="35">
                  <c:v>-1.25</c:v>
                </c:pt>
                <c:pt idx="36">
                  <c:v>-1.3</c:v>
                </c:pt>
                <c:pt idx="37">
                  <c:v>-1.35</c:v>
                </c:pt>
                <c:pt idx="38">
                  <c:v>-1.4</c:v>
                </c:pt>
                <c:pt idx="39">
                  <c:v>-1.45</c:v>
                </c:pt>
                <c:pt idx="40">
                  <c:v>-1.5</c:v>
                </c:pt>
                <c:pt idx="41">
                  <c:v>-1.55</c:v>
                </c:pt>
                <c:pt idx="42">
                  <c:v>-1.6</c:v>
                </c:pt>
                <c:pt idx="43">
                  <c:v>-1.65</c:v>
                </c:pt>
                <c:pt idx="44">
                  <c:v>-1.7</c:v>
                </c:pt>
                <c:pt idx="45">
                  <c:v>-1.75</c:v>
                </c:pt>
                <c:pt idx="46">
                  <c:v>-1.8</c:v>
                </c:pt>
                <c:pt idx="47">
                  <c:v>-1.85</c:v>
                </c:pt>
                <c:pt idx="48">
                  <c:v>-1.9</c:v>
                </c:pt>
                <c:pt idx="49">
                  <c:v>-1.95</c:v>
                </c:pt>
                <c:pt idx="50">
                  <c:v>-2</c:v>
                </c:pt>
                <c:pt idx="51">
                  <c:v>-2.05</c:v>
                </c:pt>
                <c:pt idx="52">
                  <c:v>-2.1</c:v>
                </c:pt>
                <c:pt idx="53">
                  <c:v>-2.15</c:v>
                </c:pt>
                <c:pt idx="54">
                  <c:v>-2.2</c:v>
                </c:pt>
                <c:pt idx="55">
                  <c:v>-2.25</c:v>
                </c:pt>
                <c:pt idx="56">
                  <c:v>-2.3</c:v>
                </c:pt>
                <c:pt idx="57">
                  <c:v>-2.35</c:v>
                </c:pt>
                <c:pt idx="58">
                  <c:v>-2.4</c:v>
                </c:pt>
                <c:pt idx="59">
                  <c:v>-2.45</c:v>
                </c:pt>
                <c:pt idx="60">
                  <c:v>-2.5</c:v>
                </c:pt>
                <c:pt idx="61">
                  <c:v>-2.55</c:v>
                </c:pt>
                <c:pt idx="62">
                  <c:v>-2.6</c:v>
                </c:pt>
                <c:pt idx="63">
                  <c:v>-2.65</c:v>
                </c:pt>
                <c:pt idx="64">
                  <c:v>-2.7</c:v>
                </c:pt>
                <c:pt idx="65">
                  <c:v>-2.75</c:v>
                </c:pt>
                <c:pt idx="66">
                  <c:v>-2.8</c:v>
                </c:pt>
                <c:pt idx="67">
                  <c:v>-2.85</c:v>
                </c:pt>
                <c:pt idx="68">
                  <c:v>-2.9</c:v>
                </c:pt>
                <c:pt idx="69">
                  <c:v>-2.95</c:v>
                </c:pt>
                <c:pt idx="70">
                  <c:v>-3</c:v>
                </c:pt>
                <c:pt idx="71">
                  <c:v>-2.95</c:v>
                </c:pt>
                <c:pt idx="72">
                  <c:v>-2.9</c:v>
                </c:pt>
                <c:pt idx="73">
                  <c:v>-2.85</c:v>
                </c:pt>
                <c:pt idx="74">
                  <c:v>-2.8</c:v>
                </c:pt>
                <c:pt idx="75">
                  <c:v>-2.75</c:v>
                </c:pt>
                <c:pt idx="76">
                  <c:v>-2.7</c:v>
                </c:pt>
                <c:pt idx="77">
                  <c:v>-2.65</c:v>
                </c:pt>
                <c:pt idx="78">
                  <c:v>-2.6</c:v>
                </c:pt>
                <c:pt idx="79">
                  <c:v>-2.55</c:v>
                </c:pt>
                <c:pt idx="80">
                  <c:v>-2.5</c:v>
                </c:pt>
                <c:pt idx="81">
                  <c:v>-2.45</c:v>
                </c:pt>
                <c:pt idx="82">
                  <c:v>-2.4</c:v>
                </c:pt>
                <c:pt idx="83">
                  <c:v>-2.35</c:v>
                </c:pt>
                <c:pt idx="84">
                  <c:v>-2.3</c:v>
                </c:pt>
                <c:pt idx="85">
                  <c:v>-2.25</c:v>
                </c:pt>
                <c:pt idx="86">
                  <c:v>-2.2</c:v>
                </c:pt>
                <c:pt idx="87">
                  <c:v>-2.15</c:v>
                </c:pt>
                <c:pt idx="88">
                  <c:v>-2.1</c:v>
                </c:pt>
                <c:pt idx="89">
                  <c:v>-2.05</c:v>
                </c:pt>
                <c:pt idx="90">
                  <c:v>-2</c:v>
                </c:pt>
                <c:pt idx="91">
                  <c:v>-1.95</c:v>
                </c:pt>
                <c:pt idx="92">
                  <c:v>-1.9</c:v>
                </c:pt>
                <c:pt idx="93">
                  <c:v>-1.85</c:v>
                </c:pt>
                <c:pt idx="94">
                  <c:v>-1.8</c:v>
                </c:pt>
                <c:pt idx="95">
                  <c:v>-1.75</c:v>
                </c:pt>
                <c:pt idx="96">
                  <c:v>-1.7</c:v>
                </c:pt>
                <c:pt idx="97">
                  <c:v>-1.65</c:v>
                </c:pt>
                <c:pt idx="98">
                  <c:v>-1.6</c:v>
                </c:pt>
                <c:pt idx="99">
                  <c:v>-1.55</c:v>
                </c:pt>
                <c:pt idx="100">
                  <c:v>-1.5</c:v>
                </c:pt>
                <c:pt idx="101">
                  <c:v>-1.45</c:v>
                </c:pt>
                <c:pt idx="102">
                  <c:v>-1.4</c:v>
                </c:pt>
                <c:pt idx="103">
                  <c:v>-1.35</c:v>
                </c:pt>
                <c:pt idx="104">
                  <c:v>-1.3</c:v>
                </c:pt>
                <c:pt idx="105">
                  <c:v>-1.25</c:v>
                </c:pt>
                <c:pt idx="106">
                  <c:v>-1.2</c:v>
                </c:pt>
                <c:pt idx="107">
                  <c:v>-1.15</c:v>
                </c:pt>
                <c:pt idx="108">
                  <c:v>-1.1</c:v>
                </c:pt>
                <c:pt idx="109">
                  <c:v>-1.05</c:v>
                </c:pt>
                <c:pt idx="110">
                  <c:v>-1</c:v>
                </c:pt>
                <c:pt idx="111">
                  <c:v>-0.95</c:v>
                </c:pt>
                <c:pt idx="112">
                  <c:v>-0.9</c:v>
                </c:pt>
                <c:pt idx="113">
                  <c:v>-0.85</c:v>
                </c:pt>
                <c:pt idx="114">
                  <c:v>-0.8</c:v>
                </c:pt>
                <c:pt idx="115">
                  <c:v>-0.75</c:v>
                </c:pt>
                <c:pt idx="116">
                  <c:v>-0.7</c:v>
                </c:pt>
                <c:pt idx="117">
                  <c:v>-0.65</c:v>
                </c:pt>
                <c:pt idx="118">
                  <c:v>-0.6</c:v>
                </c:pt>
                <c:pt idx="119">
                  <c:v>-0.55</c:v>
                </c:pt>
                <c:pt idx="120">
                  <c:v>-0.5</c:v>
                </c:pt>
                <c:pt idx="121">
                  <c:v>-0.45</c:v>
                </c:pt>
                <c:pt idx="122">
                  <c:v>-0.4</c:v>
                </c:pt>
                <c:pt idx="123">
                  <c:v>-0.35</c:v>
                </c:pt>
                <c:pt idx="124">
                  <c:v>-0.3</c:v>
                </c:pt>
                <c:pt idx="125">
                  <c:v>-0.25</c:v>
                </c:pt>
                <c:pt idx="126">
                  <c:v>-0.2</c:v>
                </c:pt>
                <c:pt idx="127">
                  <c:v>-0.15</c:v>
                </c:pt>
                <c:pt idx="128">
                  <c:v>-0.1</c:v>
                </c:pt>
                <c:pt idx="129">
                  <c:v>-0.0499999999999998</c:v>
                </c:pt>
                <c:pt idx="130">
                  <c:v>0</c:v>
                </c:pt>
                <c:pt idx="131">
                  <c:v>0.0499999999999998</c:v>
                </c:pt>
                <c:pt idx="132">
                  <c:v>0.1</c:v>
                </c:pt>
                <c:pt idx="133">
                  <c:v>0.15</c:v>
                </c:pt>
                <c:pt idx="134">
                  <c:v>0.2</c:v>
                </c:pt>
                <c:pt idx="135">
                  <c:v>0.25</c:v>
                </c:pt>
                <c:pt idx="136">
                  <c:v>0.3</c:v>
                </c:pt>
                <c:pt idx="137">
                  <c:v>0.35</c:v>
                </c:pt>
                <c:pt idx="138">
                  <c:v>0.4</c:v>
                </c:pt>
                <c:pt idx="139">
                  <c:v>0.45</c:v>
                </c:pt>
                <c:pt idx="140">
                  <c:v>0.5</c:v>
                </c:pt>
                <c:pt idx="141">
                  <c:v>0.55</c:v>
                </c:pt>
                <c:pt idx="142">
                  <c:v>0.6</c:v>
                </c:pt>
                <c:pt idx="143">
                  <c:v>0.65</c:v>
                </c:pt>
                <c:pt idx="144">
                  <c:v>0.7</c:v>
                </c:pt>
                <c:pt idx="145">
                  <c:v>0.75</c:v>
                </c:pt>
                <c:pt idx="146">
                  <c:v>0.8</c:v>
                </c:pt>
                <c:pt idx="147">
                  <c:v>0.85</c:v>
                </c:pt>
                <c:pt idx="148">
                  <c:v>0.9</c:v>
                </c:pt>
                <c:pt idx="149">
                  <c:v>0.95</c:v>
                </c:pt>
                <c:pt idx="150">
                  <c:v>1</c:v>
                </c:pt>
                <c:pt idx="151">
                  <c:v>1.05</c:v>
                </c:pt>
                <c:pt idx="152">
                  <c:v>1.1</c:v>
                </c:pt>
                <c:pt idx="153">
                  <c:v>1.15</c:v>
                </c:pt>
                <c:pt idx="154">
                  <c:v>1.2</c:v>
                </c:pt>
                <c:pt idx="155">
                  <c:v>1.25</c:v>
                </c:pt>
                <c:pt idx="156">
                  <c:v>1.3</c:v>
                </c:pt>
                <c:pt idx="157">
                  <c:v>1.35</c:v>
                </c:pt>
                <c:pt idx="158">
                  <c:v>1.4</c:v>
                </c:pt>
                <c:pt idx="159">
                  <c:v>1.45</c:v>
                </c:pt>
                <c:pt idx="160">
                  <c:v>1.5</c:v>
                </c:pt>
                <c:pt idx="161">
                  <c:v>1.55</c:v>
                </c:pt>
                <c:pt idx="162">
                  <c:v>1.6</c:v>
                </c:pt>
                <c:pt idx="163">
                  <c:v>1.65</c:v>
                </c:pt>
                <c:pt idx="164">
                  <c:v>1.7</c:v>
                </c:pt>
                <c:pt idx="165">
                  <c:v>1.75</c:v>
                </c:pt>
                <c:pt idx="166">
                  <c:v>1.8</c:v>
                </c:pt>
                <c:pt idx="167">
                  <c:v>1.85</c:v>
                </c:pt>
                <c:pt idx="168">
                  <c:v>1.9</c:v>
                </c:pt>
                <c:pt idx="169">
                  <c:v>1.95</c:v>
                </c:pt>
                <c:pt idx="170">
                  <c:v>2</c:v>
                </c:pt>
                <c:pt idx="171">
                  <c:v>2.05</c:v>
                </c:pt>
                <c:pt idx="172">
                  <c:v>2.1</c:v>
                </c:pt>
                <c:pt idx="173">
                  <c:v>2.15</c:v>
                </c:pt>
                <c:pt idx="174">
                  <c:v>2.2</c:v>
                </c:pt>
                <c:pt idx="175">
                  <c:v>2.25</c:v>
                </c:pt>
                <c:pt idx="176">
                  <c:v>2.3</c:v>
                </c:pt>
                <c:pt idx="177">
                  <c:v>2.35</c:v>
                </c:pt>
                <c:pt idx="178">
                  <c:v>2.4</c:v>
                </c:pt>
                <c:pt idx="179">
                  <c:v>2.45</c:v>
                </c:pt>
                <c:pt idx="180">
                  <c:v>2.5</c:v>
                </c:pt>
              </c:numCache>
            </c:numRef>
          </c:yVal>
          <c:smooth val="0"/>
          <c:extLst>
            <c:ext xmlns:c16="http://schemas.microsoft.com/office/drawing/2014/chart" uri="{C3380CC4-5D6E-409C-BE32-E72D297353CC}">
              <c16:uniqueId val="{00000000-D995-45D0-AF4F-057EAB323F7F}"/>
            </c:ext>
          </c:extLst>
        </c:ser>
        <c:ser>
          <c:idx val="1"/>
          <c:order val="1"/>
          <c:tx>
            <c:v>θ = 1</c:v>
          </c:tx>
          <c:spPr>
            <a:ln w="29528">
              <a:solidFill>
                <a:srgbClr val="C45C28"/>
              </a:solidFill>
            </a:ln>
          </c:spPr>
          <c:marker>
            <c:symbol val="none"/>
          </c:marker>
          <c:xVal>
            <c:numRef>
              <c:f>'Chart Data'!$C$2:$C$182</c:f>
              <c:numCache>
                <c:formatCode>General</c:formatCode>
                <c:ptCount val="181"/>
                <c:pt idx="0">
                  <c:v>-4.5</c:v>
                </c:pt>
                <c:pt idx="1">
                  <c:v>-4.45</c:v>
                </c:pt>
                <c:pt idx="2">
                  <c:v>-4.4</c:v>
                </c:pt>
                <c:pt idx="3">
                  <c:v>-4.35</c:v>
                </c:pt>
                <c:pt idx="4">
                  <c:v>-4.3</c:v>
                </c:pt>
                <c:pt idx="5">
                  <c:v>-4.25</c:v>
                </c:pt>
                <c:pt idx="6">
                  <c:v>-4.2</c:v>
                </c:pt>
                <c:pt idx="7">
                  <c:v>-4.15</c:v>
                </c:pt>
                <c:pt idx="8">
                  <c:v>-4.1</c:v>
                </c:pt>
                <c:pt idx="9">
                  <c:v>-4.05</c:v>
                </c:pt>
                <c:pt idx="10">
                  <c:v>-4</c:v>
                </c:pt>
                <c:pt idx="11">
                  <c:v>-3.95</c:v>
                </c:pt>
                <c:pt idx="12">
                  <c:v>-3.9</c:v>
                </c:pt>
                <c:pt idx="13">
                  <c:v>-3.85</c:v>
                </c:pt>
                <c:pt idx="14">
                  <c:v>-3.8</c:v>
                </c:pt>
                <c:pt idx="15">
                  <c:v>-3.75</c:v>
                </c:pt>
                <c:pt idx="16">
                  <c:v>-3.7</c:v>
                </c:pt>
                <c:pt idx="17">
                  <c:v>-3.65</c:v>
                </c:pt>
                <c:pt idx="18">
                  <c:v>-3.6</c:v>
                </c:pt>
                <c:pt idx="19">
                  <c:v>-3.55</c:v>
                </c:pt>
                <c:pt idx="20">
                  <c:v>-3.5</c:v>
                </c:pt>
                <c:pt idx="21">
                  <c:v>-3.45</c:v>
                </c:pt>
                <c:pt idx="22">
                  <c:v>-3.4</c:v>
                </c:pt>
                <c:pt idx="23">
                  <c:v>-3.35</c:v>
                </c:pt>
                <c:pt idx="24">
                  <c:v>-3.3</c:v>
                </c:pt>
                <c:pt idx="25">
                  <c:v>-3.25</c:v>
                </c:pt>
                <c:pt idx="26">
                  <c:v>-3.2</c:v>
                </c:pt>
                <c:pt idx="27">
                  <c:v>-3.15</c:v>
                </c:pt>
                <c:pt idx="28">
                  <c:v>-3.1</c:v>
                </c:pt>
                <c:pt idx="29">
                  <c:v>-3.05</c:v>
                </c:pt>
                <c:pt idx="30">
                  <c:v>-3</c:v>
                </c:pt>
                <c:pt idx="31">
                  <c:v>-2.95</c:v>
                </c:pt>
                <c:pt idx="32">
                  <c:v>-2.9</c:v>
                </c:pt>
                <c:pt idx="33">
                  <c:v>-2.85</c:v>
                </c:pt>
                <c:pt idx="34">
                  <c:v>-2.8</c:v>
                </c:pt>
                <c:pt idx="35">
                  <c:v>-2.75</c:v>
                </c:pt>
                <c:pt idx="36">
                  <c:v>-2.7</c:v>
                </c:pt>
                <c:pt idx="37">
                  <c:v>-2.65</c:v>
                </c:pt>
                <c:pt idx="38">
                  <c:v>-2.6</c:v>
                </c:pt>
                <c:pt idx="39">
                  <c:v>-2.55</c:v>
                </c:pt>
                <c:pt idx="40">
                  <c:v>-2.5</c:v>
                </c:pt>
                <c:pt idx="41">
                  <c:v>-2.45</c:v>
                </c:pt>
                <c:pt idx="42">
                  <c:v>-2.4</c:v>
                </c:pt>
                <c:pt idx="43">
                  <c:v>-2.35</c:v>
                </c:pt>
                <c:pt idx="44">
                  <c:v>-2.3</c:v>
                </c:pt>
                <c:pt idx="45">
                  <c:v>-2.25</c:v>
                </c:pt>
                <c:pt idx="46">
                  <c:v>-2.2</c:v>
                </c:pt>
                <c:pt idx="47">
                  <c:v>-2.15</c:v>
                </c:pt>
                <c:pt idx="48">
                  <c:v>-2.1</c:v>
                </c:pt>
                <c:pt idx="49">
                  <c:v>-2.05</c:v>
                </c:pt>
                <c:pt idx="50">
                  <c:v>-2</c:v>
                </c:pt>
                <c:pt idx="51">
                  <c:v>-1.95</c:v>
                </c:pt>
                <c:pt idx="52">
                  <c:v>-1.9</c:v>
                </c:pt>
                <c:pt idx="53">
                  <c:v>-1.85</c:v>
                </c:pt>
                <c:pt idx="54">
                  <c:v>-1.8</c:v>
                </c:pt>
                <c:pt idx="55">
                  <c:v>-1.75</c:v>
                </c:pt>
                <c:pt idx="56">
                  <c:v>-1.7</c:v>
                </c:pt>
                <c:pt idx="57">
                  <c:v>-1.65</c:v>
                </c:pt>
                <c:pt idx="58">
                  <c:v>-1.6</c:v>
                </c:pt>
                <c:pt idx="59">
                  <c:v>-1.55</c:v>
                </c:pt>
                <c:pt idx="60">
                  <c:v>-1.5</c:v>
                </c:pt>
                <c:pt idx="61">
                  <c:v>-1.45</c:v>
                </c:pt>
                <c:pt idx="62">
                  <c:v>-1.4</c:v>
                </c:pt>
                <c:pt idx="63">
                  <c:v>-1.35</c:v>
                </c:pt>
                <c:pt idx="64">
                  <c:v>-1.3</c:v>
                </c:pt>
                <c:pt idx="65">
                  <c:v>-1.25</c:v>
                </c:pt>
                <c:pt idx="66">
                  <c:v>-1.2</c:v>
                </c:pt>
                <c:pt idx="67">
                  <c:v>-1.15</c:v>
                </c:pt>
                <c:pt idx="68">
                  <c:v>-1.1</c:v>
                </c:pt>
                <c:pt idx="69">
                  <c:v>-1.05</c:v>
                </c:pt>
                <c:pt idx="70">
                  <c:v>-1</c:v>
                </c:pt>
                <c:pt idx="71">
                  <c:v>-0.95</c:v>
                </c:pt>
                <c:pt idx="72">
                  <c:v>-0.9</c:v>
                </c:pt>
                <c:pt idx="73">
                  <c:v>-0.85</c:v>
                </c:pt>
                <c:pt idx="74">
                  <c:v>-0.8</c:v>
                </c:pt>
                <c:pt idx="75">
                  <c:v>-0.75</c:v>
                </c:pt>
                <c:pt idx="76">
                  <c:v>-0.7</c:v>
                </c:pt>
                <c:pt idx="77">
                  <c:v>-0.65</c:v>
                </c:pt>
                <c:pt idx="78">
                  <c:v>-0.6</c:v>
                </c:pt>
                <c:pt idx="79">
                  <c:v>-0.55</c:v>
                </c:pt>
                <c:pt idx="80">
                  <c:v>-0.5</c:v>
                </c:pt>
                <c:pt idx="81">
                  <c:v>-0.45</c:v>
                </c:pt>
                <c:pt idx="82">
                  <c:v>-0.4</c:v>
                </c:pt>
                <c:pt idx="83">
                  <c:v>-0.35</c:v>
                </c:pt>
                <c:pt idx="84">
                  <c:v>-0.3</c:v>
                </c:pt>
                <c:pt idx="85">
                  <c:v>-0.25</c:v>
                </c:pt>
                <c:pt idx="86">
                  <c:v>-0.2</c:v>
                </c:pt>
                <c:pt idx="87">
                  <c:v>-0.15</c:v>
                </c:pt>
                <c:pt idx="88">
                  <c:v>-0.1</c:v>
                </c:pt>
                <c:pt idx="89">
                  <c:v>-0.05</c:v>
                </c:pt>
                <c:pt idx="90">
                  <c:v>0</c:v>
                </c:pt>
                <c:pt idx="91">
                  <c:v>0.05</c:v>
                </c:pt>
                <c:pt idx="92">
                  <c:v>0.1</c:v>
                </c:pt>
                <c:pt idx="93">
                  <c:v>0.15</c:v>
                </c:pt>
                <c:pt idx="94">
                  <c:v>0.2</c:v>
                </c:pt>
                <c:pt idx="95">
                  <c:v>0.25</c:v>
                </c:pt>
                <c:pt idx="96">
                  <c:v>0.3</c:v>
                </c:pt>
                <c:pt idx="97">
                  <c:v>0.35</c:v>
                </c:pt>
                <c:pt idx="98">
                  <c:v>0.4</c:v>
                </c:pt>
                <c:pt idx="99">
                  <c:v>0.45</c:v>
                </c:pt>
                <c:pt idx="100">
                  <c:v>0.5</c:v>
                </c:pt>
                <c:pt idx="101">
                  <c:v>0.55</c:v>
                </c:pt>
                <c:pt idx="102">
                  <c:v>0.6</c:v>
                </c:pt>
                <c:pt idx="103">
                  <c:v>0.65</c:v>
                </c:pt>
                <c:pt idx="104">
                  <c:v>0.7</c:v>
                </c:pt>
                <c:pt idx="105">
                  <c:v>0.75</c:v>
                </c:pt>
                <c:pt idx="106">
                  <c:v>0.8</c:v>
                </c:pt>
                <c:pt idx="107">
                  <c:v>0.85</c:v>
                </c:pt>
                <c:pt idx="108">
                  <c:v>0.9</c:v>
                </c:pt>
                <c:pt idx="109">
                  <c:v>0.95</c:v>
                </c:pt>
                <c:pt idx="110">
                  <c:v>1</c:v>
                </c:pt>
                <c:pt idx="111">
                  <c:v>1.05</c:v>
                </c:pt>
                <c:pt idx="112">
                  <c:v>1.1</c:v>
                </c:pt>
                <c:pt idx="113">
                  <c:v>1.15</c:v>
                </c:pt>
                <c:pt idx="114">
                  <c:v>1.2</c:v>
                </c:pt>
                <c:pt idx="115">
                  <c:v>1.25</c:v>
                </c:pt>
                <c:pt idx="116">
                  <c:v>1.3</c:v>
                </c:pt>
                <c:pt idx="117">
                  <c:v>1.35</c:v>
                </c:pt>
                <c:pt idx="118">
                  <c:v>1.4</c:v>
                </c:pt>
                <c:pt idx="119">
                  <c:v>1.45</c:v>
                </c:pt>
                <c:pt idx="120">
                  <c:v>1.5</c:v>
                </c:pt>
                <c:pt idx="121">
                  <c:v>1.55</c:v>
                </c:pt>
                <c:pt idx="122">
                  <c:v>1.6</c:v>
                </c:pt>
                <c:pt idx="123">
                  <c:v>1.65</c:v>
                </c:pt>
                <c:pt idx="124">
                  <c:v>1.7</c:v>
                </c:pt>
                <c:pt idx="125">
                  <c:v>1.75</c:v>
                </c:pt>
                <c:pt idx="126">
                  <c:v>1.8</c:v>
                </c:pt>
                <c:pt idx="127">
                  <c:v>1.85</c:v>
                </c:pt>
                <c:pt idx="128">
                  <c:v>1.9</c:v>
                </c:pt>
                <c:pt idx="129">
                  <c:v>1.95</c:v>
                </c:pt>
                <c:pt idx="130">
                  <c:v>2</c:v>
                </c:pt>
                <c:pt idx="131">
                  <c:v>2.05</c:v>
                </c:pt>
                <c:pt idx="132">
                  <c:v>2.1</c:v>
                </c:pt>
                <c:pt idx="133">
                  <c:v>2.15</c:v>
                </c:pt>
                <c:pt idx="134">
                  <c:v>2.2</c:v>
                </c:pt>
                <c:pt idx="135">
                  <c:v>2.25</c:v>
                </c:pt>
                <c:pt idx="136">
                  <c:v>2.3</c:v>
                </c:pt>
                <c:pt idx="137">
                  <c:v>2.35</c:v>
                </c:pt>
                <c:pt idx="138">
                  <c:v>2.4</c:v>
                </c:pt>
                <c:pt idx="139">
                  <c:v>2.45</c:v>
                </c:pt>
                <c:pt idx="140">
                  <c:v>2.5</c:v>
                </c:pt>
                <c:pt idx="141">
                  <c:v>2.55</c:v>
                </c:pt>
                <c:pt idx="142">
                  <c:v>2.6</c:v>
                </c:pt>
                <c:pt idx="143">
                  <c:v>2.65</c:v>
                </c:pt>
                <c:pt idx="144">
                  <c:v>2.7</c:v>
                </c:pt>
                <c:pt idx="145">
                  <c:v>2.75</c:v>
                </c:pt>
                <c:pt idx="146">
                  <c:v>2.8</c:v>
                </c:pt>
                <c:pt idx="147">
                  <c:v>2.85</c:v>
                </c:pt>
                <c:pt idx="148">
                  <c:v>2.9</c:v>
                </c:pt>
                <c:pt idx="149">
                  <c:v>2.95</c:v>
                </c:pt>
                <c:pt idx="150">
                  <c:v>3</c:v>
                </c:pt>
                <c:pt idx="151">
                  <c:v>3.05</c:v>
                </c:pt>
                <c:pt idx="152">
                  <c:v>3.1</c:v>
                </c:pt>
                <c:pt idx="153">
                  <c:v>3.15</c:v>
                </c:pt>
                <c:pt idx="154">
                  <c:v>3.2</c:v>
                </c:pt>
                <c:pt idx="155">
                  <c:v>3.25</c:v>
                </c:pt>
                <c:pt idx="156">
                  <c:v>3.3</c:v>
                </c:pt>
                <c:pt idx="157">
                  <c:v>3.35</c:v>
                </c:pt>
                <c:pt idx="158">
                  <c:v>3.4</c:v>
                </c:pt>
                <c:pt idx="159">
                  <c:v>3.45</c:v>
                </c:pt>
                <c:pt idx="160">
                  <c:v>3.5</c:v>
                </c:pt>
                <c:pt idx="161">
                  <c:v>3.55</c:v>
                </c:pt>
                <c:pt idx="162">
                  <c:v>3.6</c:v>
                </c:pt>
                <c:pt idx="163">
                  <c:v>3.65</c:v>
                </c:pt>
                <c:pt idx="164">
                  <c:v>3.7</c:v>
                </c:pt>
                <c:pt idx="165">
                  <c:v>3.75</c:v>
                </c:pt>
                <c:pt idx="166">
                  <c:v>3.8</c:v>
                </c:pt>
                <c:pt idx="167">
                  <c:v>3.85</c:v>
                </c:pt>
                <c:pt idx="168">
                  <c:v>3.9</c:v>
                </c:pt>
                <c:pt idx="169">
                  <c:v>3.95</c:v>
                </c:pt>
                <c:pt idx="170">
                  <c:v>4</c:v>
                </c:pt>
                <c:pt idx="171">
                  <c:v>4.05</c:v>
                </c:pt>
                <c:pt idx="172">
                  <c:v>4.1</c:v>
                </c:pt>
                <c:pt idx="173">
                  <c:v>4.15</c:v>
                </c:pt>
                <c:pt idx="174">
                  <c:v>4.2</c:v>
                </c:pt>
                <c:pt idx="175">
                  <c:v>4.25</c:v>
                </c:pt>
                <c:pt idx="176">
                  <c:v>4.3</c:v>
                </c:pt>
                <c:pt idx="177">
                  <c:v>4.35</c:v>
                </c:pt>
                <c:pt idx="178">
                  <c:v>4.4</c:v>
                </c:pt>
                <c:pt idx="179">
                  <c:v>4.45</c:v>
                </c:pt>
                <c:pt idx="180">
                  <c:v>4.5</c:v>
                </c:pt>
              </c:numCache>
            </c:numRef>
          </c:xVal>
          <c:yVal>
            <c:numRef>
              <c:f>'Chart Data'!$D$2:$D$182</c:f>
              <c:numCache>
                <c:formatCode>General</c:formatCode>
                <c:ptCount val="181"/>
                <c:pt idx="0">
                  <c:v>2.5</c:v>
                </c:pt>
                <c:pt idx="1">
                  <c:v>2.45</c:v>
                </c:pt>
                <c:pt idx="2">
                  <c:v>2.4</c:v>
                </c:pt>
                <c:pt idx="3">
                  <c:v>2.35</c:v>
                </c:pt>
                <c:pt idx="4">
                  <c:v>2.3</c:v>
                </c:pt>
                <c:pt idx="5">
                  <c:v>2.25</c:v>
                </c:pt>
                <c:pt idx="6">
                  <c:v>2.2</c:v>
                </c:pt>
                <c:pt idx="7">
                  <c:v>2.15</c:v>
                </c:pt>
                <c:pt idx="8">
                  <c:v>2.1</c:v>
                </c:pt>
                <c:pt idx="9">
                  <c:v>2.05</c:v>
                </c:pt>
                <c:pt idx="10">
                  <c:v>2</c:v>
                </c:pt>
                <c:pt idx="11">
                  <c:v>1.95</c:v>
                </c:pt>
                <c:pt idx="12">
                  <c:v>1.9</c:v>
                </c:pt>
                <c:pt idx="13">
                  <c:v>1.85</c:v>
                </c:pt>
                <c:pt idx="14">
                  <c:v>1.8</c:v>
                </c:pt>
                <c:pt idx="15">
                  <c:v>1.75</c:v>
                </c:pt>
                <c:pt idx="16">
                  <c:v>1.7</c:v>
                </c:pt>
                <c:pt idx="17">
                  <c:v>1.65</c:v>
                </c:pt>
                <c:pt idx="18">
                  <c:v>1.6</c:v>
                </c:pt>
                <c:pt idx="19">
                  <c:v>1.55</c:v>
                </c:pt>
                <c:pt idx="20">
                  <c:v>1.5</c:v>
                </c:pt>
                <c:pt idx="21">
                  <c:v>1.45</c:v>
                </c:pt>
                <c:pt idx="22">
                  <c:v>1.4</c:v>
                </c:pt>
                <c:pt idx="23">
                  <c:v>1.35</c:v>
                </c:pt>
                <c:pt idx="24">
                  <c:v>1.3</c:v>
                </c:pt>
                <c:pt idx="25">
                  <c:v>1.25</c:v>
                </c:pt>
                <c:pt idx="26">
                  <c:v>1.2</c:v>
                </c:pt>
                <c:pt idx="27">
                  <c:v>1.15</c:v>
                </c:pt>
                <c:pt idx="28">
                  <c:v>1.1</c:v>
                </c:pt>
                <c:pt idx="29">
                  <c:v>1.05</c:v>
                </c:pt>
                <c:pt idx="30">
                  <c:v>1</c:v>
                </c:pt>
                <c:pt idx="31">
                  <c:v>0.95</c:v>
                </c:pt>
                <c:pt idx="32">
                  <c:v>0.9</c:v>
                </c:pt>
                <c:pt idx="33">
                  <c:v>0.85</c:v>
                </c:pt>
                <c:pt idx="34">
                  <c:v>0.8</c:v>
                </c:pt>
                <c:pt idx="35">
                  <c:v>0.75</c:v>
                </c:pt>
                <c:pt idx="36">
                  <c:v>0.7</c:v>
                </c:pt>
                <c:pt idx="37">
                  <c:v>0.65</c:v>
                </c:pt>
                <c:pt idx="38">
                  <c:v>0.6</c:v>
                </c:pt>
                <c:pt idx="39">
                  <c:v>0.55</c:v>
                </c:pt>
                <c:pt idx="40">
                  <c:v>0.5</c:v>
                </c:pt>
                <c:pt idx="41">
                  <c:v>0.45</c:v>
                </c:pt>
                <c:pt idx="42">
                  <c:v>0.4</c:v>
                </c:pt>
                <c:pt idx="43">
                  <c:v>0.35</c:v>
                </c:pt>
                <c:pt idx="44">
                  <c:v>0.3</c:v>
                </c:pt>
                <c:pt idx="45">
                  <c:v>0.25</c:v>
                </c:pt>
                <c:pt idx="46">
                  <c:v>0.2</c:v>
                </c:pt>
                <c:pt idx="47">
                  <c:v>0.15</c:v>
                </c:pt>
                <c:pt idx="48">
                  <c:v>0.1</c:v>
                </c:pt>
                <c:pt idx="49">
                  <c:v>0.0499999999999998</c:v>
                </c:pt>
                <c:pt idx="50">
                  <c:v>0</c:v>
                </c:pt>
                <c:pt idx="51">
                  <c:v>-0.0499999999999998</c:v>
                </c:pt>
                <c:pt idx="52">
                  <c:v>-0.1</c:v>
                </c:pt>
                <c:pt idx="53">
                  <c:v>-0.15</c:v>
                </c:pt>
                <c:pt idx="54">
                  <c:v>-0.2</c:v>
                </c:pt>
                <c:pt idx="55">
                  <c:v>-0.25</c:v>
                </c:pt>
                <c:pt idx="56">
                  <c:v>-0.3</c:v>
                </c:pt>
                <c:pt idx="57">
                  <c:v>-0.35</c:v>
                </c:pt>
                <c:pt idx="58">
                  <c:v>-0.4</c:v>
                </c:pt>
                <c:pt idx="59">
                  <c:v>-0.45</c:v>
                </c:pt>
                <c:pt idx="60">
                  <c:v>-0.5</c:v>
                </c:pt>
                <c:pt idx="61">
                  <c:v>-0.55</c:v>
                </c:pt>
                <c:pt idx="62">
                  <c:v>-0.6</c:v>
                </c:pt>
                <c:pt idx="63">
                  <c:v>-0.65</c:v>
                </c:pt>
                <c:pt idx="64">
                  <c:v>-0.7</c:v>
                </c:pt>
                <c:pt idx="65">
                  <c:v>-0.75</c:v>
                </c:pt>
                <c:pt idx="66">
                  <c:v>-0.8</c:v>
                </c:pt>
                <c:pt idx="67">
                  <c:v>-0.85</c:v>
                </c:pt>
                <c:pt idx="68">
                  <c:v>-0.9</c:v>
                </c:pt>
                <c:pt idx="69">
                  <c:v>-0.95</c:v>
                </c:pt>
                <c:pt idx="70">
                  <c:v>-1</c:v>
                </c:pt>
                <c:pt idx="71">
                  <c:v>-1.05</c:v>
                </c:pt>
                <c:pt idx="72">
                  <c:v>-1.1</c:v>
                </c:pt>
                <c:pt idx="73">
                  <c:v>-1.15</c:v>
                </c:pt>
                <c:pt idx="74">
                  <c:v>-1.2</c:v>
                </c:pt>
                <c:pt idx="75">
                  <c:v>-1.25</c:v>
                </c:pt>
                <c:pt idx="76">
                  <c:v>-1.3</c:v>
                </c:pt>
                <c:pt idx="77">
                  <c:v>-1.35</c:v>
                </c:pt>
                <c:pt idx="78">
                  <c:v>-1.4</c:v>
                </c:pt>
                <c:pt idx="79">
                  <c:v>-1.45</c:v>
                </c:pt>
                <c:pt idx="80">
                  <c:v>-1.5</c:v>
                </c:pt>
                <c:pt idx="81">
                  <c:v>-1.55</c:v>
                </c:pt>
                <c:pt idx="82">
                  <c:v>-1.6</c:v>
                </c:pt>
                <c:pt idx="83">
                  <c:v>-1.65</c:v>
                </c:pt>
                <c:pt idx="84">
                  <c:v>-1.7</c:v>
                </c:pt>
                <c:pt idx="85">
                  <c:v>-1.75</c:v>
                </c:pt>
                <c:pt idx="86">
                  <c:v>-1.8</c:v>
                </c:pt>
                <c:pt idx="87">
                  <c:v>-1.85</c:v>
                </c:pt>
                <c:pt idx="88">
                  <c:v>-1.9</c:v>
                </c:pt>
                <c:pt idx="89">
                  <c:v>-1.95</c:v>
                </c:pt>
                <c:pt idx="90">
                  <c:v>-2</c:v>
                </c:pt>
                <c:pt idx="91">
                  <c:v>-2.05</c:v>
                </c:pt>
                <c:pt idx="92">
                  <c:v>-2.1</c:v>
                </c:pt>
                <c:pt idx="93">
                  <c:v>-2.15</c:v>
                </c:pt>
                <c:pt idx="94">
                  <c:v>-2.2</c:v>
                </c:pt>
                <c:pt idx="95">
                  <c:v>-2.25</c:v>
                </c:pt>
                <c:pt idx="96">
                  <c:v>-2.3</c:v>
                </c:pt>
                <c:pt idx="97">
                  <c:v>-2.35</c:v>
                </c:pt>
                <c:pt idx="98">
                  <c:v>-2.4</c:v>
                </c:pt>
                <c:pt idx="99">
                  <c:v>-2.45</c:v>
                </c:pt>
                <c:pt idx="100">
                  <c:v>-2.5</c:v>
                </c:pt>
                <c:pt idx="101">
                  <c:v>-2.55</c:v>
                </c:pt>
                <c:pt idx="102">
                  <c:v>-2.6</c:v>
                </c:pt>
                <c:pt idx="103">
                  <c:v>-2.65</c:v>
                </c:pt>
                <c:pt idx="104">
                  <c:v>-2.7</c:v>
                </c:pt>
                <c:pt idx="105">
                  <c:v>-2.75</c:v>
                </c:pt>
                <c:pt idx="106">
                  <c:v>-2.8</c:v>
                </c:pt>
                <c:pt idx="107">
                  <c:v>-2.85</c:v>
                </c:pt>
                <c:pt idx="108">
                  <c:v>-2.9</c:v>
                </c:pt>
                <c:pt idx="109">
                  <c:v>-2.95</c:v>
                </c:pt>
                <c:pt idx="110">
                  <c:v>-3</c:v>
                </c:pt>
                <c:pt idx="111">
                  <c:v>-2.95</c:v>
                </c:pt>
                <c:pt idx="112">
                  <c:v>-2.9</c:v>
                </c:pt>
                <c:pt idx="113">
                  <c:v>-2.85</c:v>
                </c:pt>
                <c:pt idx="114">
                  <c:v>-2.8</c:v>
                </c:pt>
                <c:pt idx="115">
                  <c:v>-2.75</c:v>
                </c:pt>
                <c:pt idx="116">
                  <c:v>-2.7</c:v>
                </c:pt>
                <c:pt idx="117">
                  <c:v>-2.65</c:v>
                </c:pt>
                <c:pt idx="118">
                  <c:v>-2.6</c:v>
                </c:pt>
                <c:pt idx="119">
                  <c:v>-2.55</c:v>
                </c:pt>
                <c:pt idx="120">
                  <c:v>-2.5</c:v>
                </c:pt>
                <c:pt idx="121">
                  <c:v>-2.45</c:v>
                </c:pt>
                <c:pt idx="122">
                  <c:v>-2.4</c:v>
                </c:pt>
                <c:pt idx="123">
                  <c:v>-2.35</c:v>
                </c:pt>
                <c:pt idx="124">
                  <c:v>-2.3</c:v>
                </c:pt>
                <c:pt idx="125">
                  <c:v>-2.25</c:v>
                </c:pt>
                <c:pt idx="126">
                  <c:v>-2.2</c:v>
                </c:pt>
                <c:pt idx="127">
                  <c:v>-2.15</c:v>
                </c:pt>
                <c:pt idx="128">
                  <c:v>-2.1</c:v>
                </c:pt>
                <c:pt idx="129">
                  <c:v>-2.05</c:v>
                </c:pt>
                <c:pt idx="130">
                  <c:v>-2</c:v>
                </c:pt>
                <c:pt idx="131">
                  <c:v>-1.95</c:v>
                </c:pt>
                <c:pt idx="132">
                  <c:v>-1.9</c:v>
                </c:pt>
                <c:pt idx="133">
                  <c:v>-1.85</c:v>
                </c:pt>
                <c:pt idx="134">
                  <c:v>-1.8</c:v>
                </c:pt>
                <c:pt idx="135">
                  <c:v>-1.75</c:v>
                </c:pt>
                <c:pt idx="136">
                  <c:v>-1.7</c:v>
                </c:pt>
                <c:pt idx="137">
                  <c:v>-1.65</c:v>
                </c:pt>
                <c:pt idx="138">
                  <c:v>-1.6</c:v>
                </c:pt>
                <c:pt idx="139">
                  <c:v>-1.55</c:v>
                </c:pt>
                <c:pt idx="140">
                  <c:v>-1.5</c:v>
                </c:pt>
                <c:pt idx="141">
                  <c:v>-1.45</c:v>
                </c:pt>
                <c:pt idx="142">
                  <c:v>-1.4</c:v>
                </c:pt>
                <c:pt idx="143">
                  <c:v>-1.35</c:v>
                </c:pt>
                <c:pt idx="144">
                  <c:v>-1.3</c:v>
                </c:pt>
                <c:pt idx="145">
                  <c:v>-1.25</c:v>
                </c:pt>
                <c:pt idx="146">
                  <c:v>-1.2</c:v>
                </c:pt>
                <c:pt idx="147">
                  <c:v>-1.15</c:v>
                </c:pt>
                <c:pt idx="148">
                  <c:v>-1.1</c:v>
                </c:pt>
                <c:pt idx="149">
                  <c:v>-1.05</c:v>
                </c:pt>
                <c:pt idx="150">
                  <c:v>-1</c:v>
                </c:pt>
                <c:pt idx="151">
                  <c:v>-0.95</c:v>
                </c:pt>
                <c:pt idx="152">
                  <c:v>-0.9</c:v>
                </c:pt>
                <c:pt idx="153">
                  <c:v>-0.85</c:v>
                </c:pt>
                <c:pt idx="154">
                  <c:v>-0.8</c:v>
                </c:pt>
                <c:pt idx="155">
                  <c:v>-0.75</c:v>
                </c:pt>
                <c:pt idx="156">
                  <c:v>-0.7</c:v>
                </c:pt>
                <c:pt idx="157">
                  <c:v>-0.65</c:v>
                </c:pt>
                <c:pt idx="158">
                  <c:v>-0.6</c:v>
                </c:pt>
                <c:pt idx="159">
                  <c:v>-0.55</c:v>
                </c:pt>
                <c:pt idx="160">
                  <c:v>-0.5</c:v>
                </c:pt>
                <c:pt idx="161">
                  <c:v>-0.45</c:v>
                </c:pt>
                <c:pt idx="162">
                  <c:v>-0.4</c:v>
                </c:pt>
                <c:pt idx="163">
                  <c:v>-0.35</c:v>
                </c:pt>
                <c:pt idx="164">
                  <c:v>-0.3</c:v>
                </c:pt>
                <c:pt idx="165">
                  <c:v>-0.25</c:v>
                </c:pt>
                <c:pt idx="166">
                  <c:v>-0.2</c:v>
                </c:pt>
                <c:pt idx="167">
                  <c:v>-0.15</c:v>
                </c:pt>
                <c:pt idx="168">
                  <c:v>-0.1</c:v>
                </c:pt>
                <c:pt idx="169">
                  <c:v>-0.0499999999999998</c:v>
                </c:pt>
                <c:pt idx="170">
                  <c:v>0</c:v>
                </c:pt>
                <c:pt idx="171">
                  <c:v>0.0499999999999998</c:v>
                </c:pt>
                <c:pt idx="172">
                  <c:v>0.0999999999999996</c:v>
                </c:pt>
                <c:pt idx="173">
                  <c:v>0.15</c:v>
                </c:pt>
                <c:pt idx="174">
                  <c:v>0.2</c:v>
                </c:pt>
                <c:pt idx="175">
                  <c:v>0.25</c:v>
                </c:pt>
                <c:pt idx="176">
                  <c:v>0.3</c:v>
                </c:pt>
                <c:pt idx="177">
                  <c:v>0.35</c:v>
                </c:pt>
                <c:pt idx="178">
                  <c:v>0.4</c:v>
                </c:pt>
                <c:pt idx="179">
                  <c:v>0.45</c:v>
                </c:pt>
                <c:pt idx="180">
                  <c:v>0.5</c:v>
                </c:pt>
              </c:numCache>
            </c:numRef>
          </c:yVal>
          <c:smooth val="0"/>
          <c:extLst>
            <c:ext xmlns:c16="http://schemas.microsoft.com/office/drawing/2014/chart" uri="{C3380CC4-5D6E-409C-BE32-E72D297353CC}">
              <c16:uniqueId val="{00000001-D995-45D0-AF4F-057EAB323F7F}"/>
            </c:ext>
          </c:extLst>
        </c:ser>
        <c:dLbls>
          <c:showLegendKey val="0"/>
          <c:showVal val="0"/>
          <c:showCatName val="0"/>
          <c:showSerName val="0"/>
          <c:showPercent val="0"/>
          <c:showBubbleSize val="0"/>
        </c:dLbls>
        <c:axId val="48650112"/>
        <c:axId val="48672768"/>
      </c:scatterChart>
      <c:valAx>
        <c:axId val="48672768"/>
        <c:scaling>
          <c:orientation val="minMax"/>
          <c:max val="6"/>
          <c:min val="-4"/>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f</a:t>
                </a:r>
                <a:r>
                  <a:rPr lang="el-GR" sz="1650">
                    <a:solidFill>
                      <a:srgbClr val="182D45"/>
                    </a:solidFill>
                    <a:latin typeface="DejaVu Sans"/>
                    <a:ea typeface="DejaVu Sans"/>
                    <a:cs typeface="DejaVu Sans"/>
                  </a:rPr>
                  <a:t>θ(</a:t>
                </a:r>
                <a:r>
                  <a:rPr lang="it-IT" sz="1650">
                    <a:solidFill>
                      <a:srgbClr val="182D45"/>
                    </a:solidFill>
                    <a:latin typeface="DejaVu Sans"/>
                    <a:ea typeface="DejaVu Sans"/>
                    <a:cs typeface="DejaVu Sans"/>
                  </a:rPr>
                  <a:t>x)</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2"/>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4"/>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Squared loss</c:v>
          </c:tx>
          <c:spPr>
            <a:ln w="30480">
              <a:solidFill>
                <a:srgbClr val="087F83"/>
              </a:solidFill>
            </a:ln>
          </c:spPr>
          <c:marker>
            <c:symbol val="none"/>
          </c:marker>
          <c:xVal>
            <c:numRef>
              <c:f>'Chart Data'!$A$2:$A$362</c:f>
              <c:numCache>
                <c:formatCode>General</c:formatCode>
                <c:ptCount val="361"/>
                <c:pt idx="0">
                  <c:v>-4.5</c:v>
                </c:pt>
                <c:pt idx="1">
                  <c:v>-4.475</c:v>
                </c:pt>
                <c:pt idx="2">
                  <c:v>-4.45</c:v>
                </c:pt>
                <c:pt idx="3">
                  <c:v>-4.425</c:v>
                </c:pt>
                <c:pt idx="4">
                  <c:v>-4.4</c:v>
                </c:pt>
                <c:pt idx="5">
                  <c:v>-4.375</c:v>
                </c:pt>
                <c:pt idx="6">
                  <c:v>-4.35</c:v>
                </c:pt>
                <c:pt idx="7">
                  <c:v>-4.325</c:v>
                </c:pt>
                <c:pt idx="8">
                  <c:v>-4.3</c:v>
                </c:pt>
                <c:pt idx="9">
                  <c:v>-4.275</c:v>
                </c:pt>
                <c:pt idx="10">
                  <c:v>-4.25</c:v>
                </c:pt>
                <c:pt idx="11">
                  <c:v>-4.225</c:v>
                </c:pt>
                <c:pt idx="12">
                  <c:v>-4.2</c:v>
                </c:pt>
                <c:pt idx="13">
                  <c:v>-4.175</c:v>
                </c:pt>
                <c:pt idx="14">
                  <c:v>-4.15</c:v>
                </c:pt>
                <c:pt idx="15">
                  <c:v>-4.125</c:v>
                </c:pt>
                <c:pt idx="16">
                  <c:v>-4.1</c:v>
                </c:pt>
                <c:pt idx="17">
                  <c:v>-4.075</c:v>
                </c:pt>
                <c:pt idx="18">
                  <c:v>-4.05</c:v>
                </c:pt>
                <c:pt idx="19">
                  <c:v>-4.025</c:v>
                </c:pt>
                <c:pt idx="20">
                  <c:v>-4</c:v>
                </c:pt>
                <c:pt idx="21">
                  <c:v>-3.975</c:v>
                </c:pt>
                <c:pt idx="22">
                  <c:v>-3.95</c:v>
                </c:pt>
                <c:pt idx="23">
                  <c:v>-3.925</c:v>
                </c:pt>
                <c:pt idx="24">
                  <c:v>-3.9</c:v>
                </c:pt>
                <c:pt idx="25">
                  <c:v>-3.875</c:v>
                </c:pt>
                <c:pt idx="26">
                  <c:v>-3.85</c:v>
                </c:pt>
                <c:pt idx="27">
                  <c:v>-3.825</c:v>
                </c:pt>
                <c:pt idx="28">
                  <c:v>-3.8</c:v>
                </c:pt>
                <c:pt idx="29">
                  <c:v>-3.775</c:v>
                </c:pt>
                <c:pt idx="30">
                  <c:v>-3.75</c:v>
                </c:pt>
                <c:pt idx="31">
                  <c:v>-3.725</c:v>
                </c:pt>
                <c:pt idx="32">
                  <c:v>-3.7</c:v>
                </c:pt>
                <c:pt idx="33">
                  <c:v>-3.675</c:v>
                </c:pt>
                <c:pt idx="34">
                  <c:v>-3.65</c:v>
                </c:pt>
                <c:pt idx="35">
                  <c:v>-3.625</c:v>
                </c:pt>
                <c:pt idx="36">
                  <c:v>-3.6</c:v>
                </c:pt>
                <c:pt idx="37">
                  <c:v>-3.575</c:v>
                </c:pt>
                <c:pt idx="38">
                  <c:v>-3.55</c:v>
                </c:pt>
                <c:pt idx="39">
                  <c:v>-3.525</c:v>
                </c:pt>
                <c:pt idx="40">
                  <c:v>-3.5</c:v>
                </c:pt>
                <c:pt idx="41">
                  <c:v>-3.475</c:v>
                </c:pt>
                <c:pt idx="42">
                  <c:v>-3.45</c:v>
                </c:pt>
                <c:pt idx="43">
                  <c:v>-3.425</c:v>
                </c:pt>
                <c:pt idx="44">
                  <c:v>-3.4</c:v>
                </c:pt>
                <c:pt idx="45">
                  <c:v>-3.375</c:v>
                </c:pt>
                <c:pt idx="46">
                  <c:v>-3.35</c:v>
                </c:pt>
                <c:pt idx="47">
                  <c:v>-3.325</c:v>
                </c:pt>
                <c:pt idx="48">
                  <c:v>-3.3</c:v>
                </c:pt>
                <c:pt idx="49">
                  <c:v>-3.275</c:v>
                </c:pt>
                <c:pt idx="50">
                  <c:v>-3.25</c:v>
                </c:pt>
                <c:pt idx="51">
                  <c:v>-3.225</c:v>
                </c:pt>
                <c:pt idx="52">
                  <c:v>-3.2</c:v>
                </c:pt>
                <c:pt idx="53">
                  <c:v>-3.175</c:v>
                </c:pt>
                <c:pt idx="54">
                  <c:v>-3.15</c:v>
                </c:pt>
                <c:pt idx="55">
                  <c:v>-3.125</c:v>
                </c:pt>
                <c:pt idx="56">
                  <c:v>-3.1</c:v>
                </c:pt>
                <c:pt idx="57">
                  <c:v>-3.075</c:v>
                </c:pt>
                <c:pt idx="58">
                  <c:v>-3.05</c:v>
                </c:pt>
                <c:pt idx="59">
                  <c:v>-3.025</c:v>
                </c:pt>
                <c:pt idx="60">
                  <c:v>-3</c:v>
                </c:pt>
                <c:pt idx="61">
                  <c:v>-2.975</c:v>
                </c:pt>
                <c:pt idx="62">
                  <c:v>-2.95</c:v>
                </c:pt>
                <c:pt idx="63">
                  <c:v>-2.925</c:v>
                </c:pt>
                <c:pt idx="64">
                  <c:v>-2.9</c:v>
                </c:pt>
                <c:pt idx="65">
                  <c:v>-2.875</c:v>
                </c:pt>
                <c:pt idx="66">
                  <c:v>-2.85</c:v>
                </c:pt>
                <c:pt idx="67">
                  <c:v>-2.825</c:v>
                </c:pt>
                <c:pt idx="68">
                  <c:v>-2.8</c:v>
                </c:pt>
                <c:pt idx="69">
                  <c:v>-2.775</c:v>
                </c:pt>
                <c:pt idx="70">
                  <c:v>-2.75</c:v>
                </c:pt>
                <c:pt idx="71">
                  <c:v>-2.725</c:v>
                </c:pt>
                <c:pt idx="72">
                  <c:v>-2.7</c:v>
                </c:pt>
                <c:pt idx="73">
                  <c:v>-2.675</c:v>
                </c:pt>
                <c:pt idx="74">
                  <c:v>-2.65</c:v>
                </c:pt>
                <c:pt idx="75">
                  <c:v>-2.625</c:v>
                </c:pt>
                <c:pt idx="76">
                  <c:v>-2.6</c:v>
                </c:pt>
                <c:pt idx="77">
                  <c:v>-2.575</c:v>
                </c:pt>
                <c:pt idx="78">
                  <c:v>-2.55</c:v>
                </c:pt>
                <c:pt idx="79">
                  <c:v>-2.525</c:v>
                </c:pt>
                <c:pt idx="80">
                  <c:v>-2.5</c:v>
                </c:pt>
                <c:pt idx="81">
                  <c:v>-2.475</c:v>
                </c:pt>
                <c:pt idx="82">
                  <c:v>-2.45</c:v>
                </c:pt>
                <c:pt idx="83">
                  <c:v>-2.425</c:v>
                </c:pt>
                <c:pt idx="84">
                  <c:v>-2.4</c:v>
                </c:pt>
                <c:pt idx="85">
                  <c:v>-2.375</c:v>
                </c:pt>
                <c:pt idx="86">
                  <c:v>-2.35</c:v>
                </c:pt>
                <c:pt idx="87">
                  <c:v>-2.325</c:v>
                </c:pt>
                <c:pt idx="88">
                  <c:v>-2.3</c:v>
                </c:pt>
                <c:pt idx="89">
                  <c:v>-2.275</c:v>
                </c:pt>
                <c:pt idx="90">
                  <c:v>-2.25</c:v>
                </c:pt>
                <c:pt idx="91">
                  <c:v>-2.225</c:v>
                </c:pt>
                <c:pt idx="92">
                  <c:v>-2.2</c:v>
                </c:pt>
                <c:pt idx="93">
                  <c:v>-2.175</c:v>
                </c:pt>
                <c:pt idx="94">
                  <c:v>-2.15</c:v>
                </c:pt>
                <c:pt idx="95">
                  <c:v>-2.125</c:v>
                </c:pt>
                <c:pt idx="96">
                  <c:v>-2.1</c:v>
                </c:pt>
                <c:pt idx="97">
                  <c:v>-2.075</c:v>
                </c:pt>
                <c:pt idx="98">
                  <c:v>-2.05</c:v>
                </c:pt>
                <c:pt idx="99">
                  <c:v>-2.025</c:v>
                </c:pt>
                <c:pt idx="100">
                  <c:v>-2</c:v>
                </c:pt>
                <c:pt idx="101">
                  <c:v>-1.975</c:v>
                </c:pt>
                <c:pt idx="102">
                  <c:v>-1.95</c:v>
                </c:pt>
                <c:pt idx="103">
                  <c:v>-1.925</c:v>
                </c:pt>
                <c:pt idx="104">
                  <c:v>-1.9</c:v>
                </c:pt>
                <c:pt idx="105">
                  <c:v>-1.875</c:v>
                </c:pt>
                <c:pt idx="106">
                  <c:v>-1.85</c:v>
                </c:pt>
                <c:pt idx="107">
                  <c:v>-1.825</c:v>
                </c:pt>
                <c:pt idx="108">
                  <c:v>-1.8</c:v>
                </c:pt>
                <c:pt idx="109">
                  <c:v>-1.775</c:v>
                </c:pt>
                <c:pt idx="110">
                  <c:v>-1.75</c:v>
                </c:pt>
                <c:pt idx="111">
                  <c:v>-1.725</c:v>
                </c:pt>
                <c:pt idx="112">
                  <c:v>-1.7</c:v>
                </c:pt>
                <c:pt idx="113">
                  <c:v>-1.675</c:v>
                </c:pt>
                <c:pt idx="114">
                  <c:v>-1.65</c:v>
                </c:pt>
                <c:pt idx="115">
                  <c:v>-1.625</c:v>
                </c:pt>
                <c:pt idx="116">
                  <c:v>-1.6</c:v>
                </c:pt>
                <c:pt idx="117">
                  <c:v>-1.575</c:v>
                </c:pt>
                <c:pt idx="118">
                  <c:v>-1.55</c:v>
                </c:pt>
                <c:pt idx="119">
                  <c:v>-1.525</c:v>
                </c:pt>
                <c:pt idx="120">
                  <c:v>-1.5</c:v>
                </c:pt>
                <c:pt idx="121">
                  <c:v>-1.475</c:v>
                </c:pt>
                <c:pt idx="122">
                  <c:v>-1.45</c:v>
                </c:pt>
                <c:pt idx="123">
                  <c:v>-1.425</c:v>
                </c:pt>
                <c:pt idx="124">
                  <c:v>-1.4</c:v>
                </c:pt>
                <c:pt idx="125">
                  <c:v>-1.375</c:v>
                </c:pt>
                <c:pt idx="126">
                  <c:v>-1.35</c:v>
                </c:pt>
                <c:pt idx="127">
                  <c:v>-1.325</c:v>
                </c:pt>
                <c:pt idx="128">
                  <c:v>-1.3</c:v>
                </c:pt>
                <c:pt idx="129">
                  <c:v>-1.275</c:v>
                </c:pt>
                <c:pt idx="130">
                  <c:v>-1.25</c:v>
                </c:pt>
                <c:pt idx="131">
                  <c:v>-1.225</c:v>
                </c:pt>
                <c:pt idx="132">
                  <c:v>-1.2</c:v>
                </c:pt>
                <c:pt idx="133">
                  <c:v>-1.175</c:v>
                </c:pt>
                <c:pt idx="134">
                  <c:v>-1.15</c:v>
                </c:pt>
                <c:pt idx="135">
                  <c:v>-1.125</c:v>
                </c:pt>
                <c:pt idx="136">
                  <c:v>-1.1</c:v>
                </c:pt>
                <c:pt idx="137">
                  <c:v>-1.075</c:v>
                </c:pt>
                <c:pt idx="138">
                  <c:v>-1.05</c:v>
                </c:pt>
                <c:pt idx="139">
                  <c:v>-1.025</c:v>
                </c:pt>
                <c:pt idx="140">
                  <c:v>-1</c:v>
                </c:pt>
                <c:pt idx="141">
                  <c:v>-0.975</c:v>
                </c:pt>
                <c:pt idx="142">
                  <c:v>-0.95</c:v>
                </c:pt>
                <c:pt idx="143">
                  <c:v>-0.925</c:v>
                </c:pt>
                <c:pt idx="144">
                  <c:v>-0.9</c:v>
                </c:pt>
                <c:pt idx="145">
                  <c:v>-0.875</c:v>
                </c:pt>
                <c:pt idx="146">
                  <c:v>-0.85</c:v>
                </c:pt>
                <c:pt idx="147">
                  <c:v>-0.825</c:v>
                </c:pt>
                <c:pt idx="148">
                  <c:v>-0.8</c:v>
                </c:pt>
                <c:pt idx="149">
                  <c:v>-0.775</c:v>
                </c:pt>
                <c:pt idx="150">
                  <c:v>-0.75</c:v>
                </c:pt>
                <c:pt idx="151">
                  <c:v>-0.725</c:v>
                </c:pt>
                <c:pt idx="152">
                  <c:v>-0.7</c:v>
                </c:pt>
                <c:pt idx="153">
                  <c:v>-0.675</c:v>
                </c:pt>
                <c:pt idx="154">
                  <c:v>-0.65</c:v>
                </c:pt>
                <c:pt idx="155">
                  <c:v>-0.625</c:v>
                </c:pt>
                <c:pt idx="156">
                  <c:v>-0.6</c:v>
                </c:pt>
                <c:pt idx="157">
                  <c:v>-0.575</c:v>
                </c:pt>
                <c:pt idx="158">
                  <c:v>-0.55</c:v>
                </c:pt>
                <c:pt idx="159">
                  <c:v>-0.525</c:v>
                </c:pt>
                <c:pt idx="160">
                  <c:v>-0.5</c:v>
                </c:pt>
                <c:pt idx="161">
                  <c:v>-0.475</c:v>
                </c:pt>
                <c:pt idx="162">
                  <c:v>-0.45</c:v>
                </c:pt>
                <c:pt idx="163">
                  <c:v>-0.425</c:v>
                </c:pt>
                <c:pt idx="164">
                  <c:v>-0.4</c:v>
                </c:pt>
                <c:pt idx="165">
                  <c:v>-0.375</c:v>
                </c:pt>
                <c:pt idx="166">
                  <c:v>-0.35</c:v>
                </c:pt>
                <c:pt idx="167">
                  <c:v>-0.325</c:v>
                </c:pt>
                <c:pt idx="168">
                  <c:v>-0.3</c:v>
                </c:pt>
                <c:pt idx="169">
                  <c:v>-0.275</c:v>
                </c:pt>
                <c:pt idx="170">
                  <c:v>-0.25</c:v>
                </c:pt>
                <c:pt idx="171">
                  <c:v>-0.225</c:v>
                </c:pt>
                <c:pt idx="172">
                  <c:v>-0.2</c:v>
                </c:pt>
                <c:pt idx="173">
                  <c:v>-0.175</c:v>
                </c:pt>
                <c:pt idx="174">
                  <c:v>-0.15</c:v>
                </c:pt>
                <c:pt idx="175">
                  <c:v>-0.125</c:v>
                </c:pt>
                <c:pt idx="176">
                  <c:v>-0.1</c:v>
                </c:pt>
                <c:pt idx="177">
                  <c:v>-0.075</c:v>
                </c:pt>
                <c:pt idx="178">
                  <c:v>-0.05</c:v>
                </c:pt>
                <c:pt idx="179">
                  <c:v>-0.025</c:v>
                </c:pt>
                <c:pt idx="180">
                  <c:v>0</c:v>
                </c:pt>
                <c:pt idx="181">
                  <c:v>0.025</c:v>
                </c:pt>
                <c:pt idx="182">
                  <c:v>0.05</c:v>
                </c:pt>
                <c:pt idx="183">
                  <c:v>0.075</c:v>
                </c:pt>
                <c:pt idx="184">
                  <c:v>0.1</c:v>
                </c:pt>
                <c:pt idx="185">
                  <c:v>0.125</c:v>
                </c:pt>
                <c:pt idx="186">
                  <c:v>0.15</c:v>
                </c:pt>
                <c:pt idx="187">
                  <c:v>0.175</c:v>
                </c:pt>
                <c:pt idx="188">
                  <c:v>0.2</c:v>
                </c:pt>
                <c:pt idx="189">
                  <c:v>0.225</c:v>
                </c:pt>
                <c:pt idx="190">
                  <c:v>0.25</c:v>
                </c:pt>
                <c:pt idx="191">
                  <c:v>0.275</c:v>
                </c:pt>
                <c:pt idx="192">
                  <c:v>0.3</c:v>
                </c:pt>
                <c:pt idx="193">
                  <c:v>0.325</c:v>
                </c:pt>
                <c:pt idx="194">
                  <c:v>0.35</c:v>
                </c:pt>
                <c:pt idx="195">
                  <c:v>0.375</c:v>
                </c:pt>
                <c:pt idx="196">
                  <c:v>0.4</c:v>
                </c:pt>
                <c:pt idx="197">
                  <c:v>0.425</c:v>
                </c:pt>
                <c:pt idx="198">
                  <c:v>0.45</c:v>
                </c:pt>
                <c:pt idx="199">
                  <c:v>0.475</c:v>
                </c:pt>
                <c:pt idx="200">
                  <c:v>0.5</c:v>
                </c:pt>
                <c:pt idx="201">
                  <c:v>0.525</c:v>
                </c:pt>
                <c:pt idx="202">
                  <c:v>0.55</c:v>
                </c:pt>
                <c:pt idx="203">
                  <c:v>0.575</c:v>
                </c:pt>
                <c:pt idx="204">
                  <c:v>0.6</c:v>
                </c:pt>
                <c:pt idx="205">
                  <c:v>0.625</c:v>
                </c:pt>
                <c:pt idx="206">
                  <c:v>0.65</c:v>
                </c:pt>
                <c:pt idx="207">
                  <c:v>0.675</c:v>
                </c:pt>
                <c:pt idx="208">
                  <c:v>0.7</c:v>
                </c:pt>
                <c:pt idx="209">
                  <c:v>0.725</c:v>
                </c:pt>
                <c:pt idx="210">
                  <c:v>0.75</c:v>
                </c:pt>
                <c:pt idx="211">
                  <c:v>0.775</c:v>
                </c:pt>
                <c:pt idx="212">
                  <c:v>0.8</c:v>
                </c:pt>
                <c:pt idx="213">
                  <c:v>0.825</c:v>
                </c:pt>
                <c:pt idx="214">
                  <c:v>0.85</c:v>
                </c:pt>
                <c:pt idx="215">
                  <c:v>0.875</c:v>
                </c:pt>
                <c:pt idx="216">
                  <c:v>0.9</c:v>
                </c:pt>
                <c:pt idx="217">
                  <c:v>0.925</c:v>
                </c:pt>
                <c:pt idx="218">
                  <c:v>0.95</c:v>
                </c:pt>
                <c:pt idx="219">
                  <c:v>0.975</c:v>
                </c:pt>
                <c:pt idx="220">
                  <c:v>1</c:v>
                </c:pt>
                <c:pt idx="221">
                  <c:v>1.025</c:v>
                </c:pt>
                <c:pt idx="222">
                  <c:v>1.05</c:v>
                </c:pt>
                <c:pt idx="223">
                  <c:v>1.075</c:v>
                </c:pt>
                <c:pt idx="224">
                  <c:v>1.1</c:v>
                </c:pt>
                <c:pt idx="225">
                  <c:v>1.125</c:v>
                </c:pt>
                <c:pt idx="226">
                  <c:v>1.15</c:v>
                </c:pt>
                <c:pt idx="227">
                  <c:v>1.175</c:v>
                </c:pt>
                <c:pt idx="228">
                  <c:v>1.2</c:v>
                </c:pt>
                <c:pt idx="229">
                  <c:v>1.225</c:v>
                </c:pt>
                <c:pt idx="230">
                  <c:v>1.25</c:v>
                </c:pt>
                <c:pt idx="231">
                  <c:v>1.275</c:v>
                </c:pt>
                <c:pt idx="232">
                  <c:v>1.3</c:v>
                </c:pt>
                <c:pt idx="233">
                  <c:v>1.325</c:v>
                </c:pt>
                <c:pt idx="234">
                  <c:v>1.35</c:v>
                </c:pt>
                <c:pt idx="235">
                  <c:v>1.375</c:v>
                </c:pt>
                <c:pt idx="236">
                  <c:v>1.4</c:v>
                </c:pt>
                <c:pt idx="237">
                  <c:v>1.425</c:v>
                </c:pt>
                <c:pt idx="238">
                  <c:v>1.45</c:v>
                </c:pt>
                <c:pt idx="239">
                  <c:v>1.475</c:v>
                </c:pt>
                <c:pt idx="240">
                  <c:v>1.5</c:v>
                </c:pt>
                <c:pt idx="241">
                  <c:v>1.525</c:v>
                </c:pt>
                <c:pt idx="242">
                  <c:v>1.55</c:v>
                </c:pt>
                <c:pt idx="243">
                  <c:v>1.575</c:v>
                </c:pt>
                <c:pt idx="244">
                  <c:v>1.6</c:v>
                </c:pt>
                <c:pt idx="245">
                  <c:v>1.625</c:v>
                </c:pt>
                <c:pt idx="246">
                  <c:v>1.65</c:v>
                </c:pt>
                <c:pt idx="247">
                  <c:v>1.675</c:v>
                </c:pt>
                <c:pt idx="248">
                  <c:v>1.7</c:v>
                </c:pt>
                <c:pt idx="249">
                  <c:v>1.725</c:v>
                </c:pt>
                <c:pt idx="250">
                  <c:v>1.75</c:v>
                </c:pt>
                <c:pt idx="251">
                  <c:v>1.775</c:v>
                </c:pt>
                <c:pt idx="252">
                  <c:v>1.8</c:v>
                </c:pt>
                <c:pt idx="253">
                  <c:v>1.825</c:v>
                </c:pt>
                <c:pt idx="254">
                  <c:v>1.85</c:v>
                </c:pt>
                <c:pt idx="255">
                  <c:v>1.875</c:v>
                </c:pt>
                <c:pt idx="256">
                  <c:v>1.9</c:v>
                </c:pt>
                <c:pt idx="257">
                  <c:v>1.925</c:v>
                </c:pt>
                <c:pt idx="258">
                  <c:v>1.95</c:v>
                </c:pt>
                <c:pt idx="259">
                  <c:v>1.975</c:v>
                </c:pt>
                <c:pt idx="260">
                  <c:v>2</c:v>
                </c:pt>
                <c:pt idx="261">
                  <c:v>2.025</c:v>
                </c:pt>
                <c:pt idx="262">
                  <c:v>2.05</c:v>
                </c:pt>
                <c:pt idx="263">
                  <c:v>2.075</c:v>
                </c:pt>
                <c:pt idx="264">
                  <c:v>2.1</c:v>
                </c:pt>
                <c:pt idx="265">
                  <c:v>2.125</c:v>
                </c:pt>
                <c:pt idx="266">
                  <c:v>2.15</c:v>
                </c:pt>
                <c:pt idx="267">
                  <c:v>2.175</c:v>
                </c:pt>
                <c:pt idx="268">
                  <c:v>2.2</c:v>
                </c:pt>
                <c:pt idx="269">
                  <c:v>2.225</c:v>
                </c:pt>
                <c:pt idx="270">
                  <c:v>2.25</c:v>
                </c:pt>
                <c:pt idx="271">
                  <c:v>2.275</c:v>
                </c:pt>
                <c:pt idx="272">
                  <c:v>2.3</c:v>
                </c:pt>
                <c:pt idx="273">
                  <c:v>2.325</c:v>
                </c:pt>
                <c:pt idx="274">
                  <c:v>2.35</c:v>
                </c:pt>
                <c:pt idx="275">
                  <c:v>2.375</c:v>
                </c:pt>
                <c:pt idx="276">
                  <c:v>2.4</c:v>
                </c:pt>
                <c:pt idx="277">
                  <c:v>2.425</c:v>
                </c:pt>
                <c:pt idx="278">
                  <c:v>2.45</c:v>
                </c:pt>
                <c:pt idx="279">
                  <c:v>2.475</c:v>
                </c:pt>
                <c:pt idx="280">
                  <c:v>2.5</c:v>
                </c:pt>
                <c:pt idx="281">
                  <c:v>2.525</c:v>
                </c:pt>
                <c:pt idx="282">
                  <c:v>2.55</c:v>
                </c:pt>
                <c:pt idx="283">
                  <c:v>2.575</c:v>
                </c:pt>
                <c:pt idx="284">
                  <c:v>2.6</c:v>
                </c:pt>
                <c:pt idx="285">
                  <c:v>2.625</c:v>
                </c:pt>
                <c:pt idx="286">
                  <c:v>2.65</c:v>
                </c:pt>
                <c:pt idx="287">
                  <c:v>2.675</c:v>
                </c:pt>
                <c:pt idx="288">
                  <c:v>2.7</c:v>
                </c:pt>
                <c:pt idx="289">
                  <c:v>2.725</c:v>
                </c:pt>
                <c:pt idx="290">
                  <c:v>2.75</c:v>
                </c:pt>
                <c:pt idx="291">
                  <c:v>2.775</c:v>
                </c:pt>
                <c:pt idx="292">
                  <c:v>2.8</c:v>
                </c:pt>
                <c:pt idx="293">
                  <c:v>2.825</c:v>
                </c:pt>
                <c:pt idx="294">
                  <c:v>2.85</c:v>
                </c:pt>
                <c:pt idx="295">
                  <c:v>2.875</c:v>
                </c:pt>
                <c:pt idx="296">
                  <c:v>2.9</c:v>
                </c:pt>
                <c:pt idx="297">
                  <c:v>2.925</c:v>
                </c:pt>
                <c:pt idx="298">
                  <c:v>2.95</c:v>
                </c:pt>
                <c:pt idx="299">
                  <c:v>2.975</c:v>
                </c:pt>
                <c:pt idx="300">
                  <c:v>3</c:v>
                </c:pt>
                <c:pt idx="301">
                  <c:v>3.025</c:v>
                </c:pt>
                <c:pt idx="302">
                  <c:v>3.05</c:v>
                </c:pt>
                <c:pt idx="303">
                  <c:v>3.075</c:v>
                </c:pt>
                <c:pt idx="304">
                  <c:v>3.1</c:v>
                </c:pt>
                <c:pt idx="305">
                  <c:v>3.125</c:v>
                </c:pt>
                <c:pt idx="306">
                  <c:v>3.15</c:v>
                </c:pt>
                <c:pt idx="307">
                  <c:v>3.175</c:v>
                </c:pt>
                <c:pt idx="308">
                  <c:v>3.2</c:v>
                </c:pt>
                <c:pt idx="309">
                  <c:v>3.225</c:v>
                </c:pt>
                <c:pt idx="310">
                  <c:v>3.25</c:v>
                </c:pt>
                <c:pt idx="311">
                  <c:v>3.275</c:v>
                </c:pt>
                <c:pt idx="312">
                  <c:v>3.3</c:v>
                </c:pt>
                <c:pt idx="313">
                  <c:v>3.325</c:v>
                </c:pt>
                <c:pt idx="314">
                  <c:v>3.35</c:v>
                </c:pt>
                <c:pt idx="315">
                  <c:v>3.375</c:v>
                </c:pt>
                <c:pt idx="316">
                  <c:v>3.4</c:v>
                </c:pt>
                <c:pt idx="317">
                  <c:v>3.425</c:v>
                </c:pt>
                <c:pt idx="318">
                  <c:v>3.45</c:v>
                </c:pt>
                <c:pt idx="319">
                  <c:v>3.475</c:v>
                </c:pt>
                <c:pt idx="320">
                  <c:v>3.5</c:v>
                </c:pt>
                <c:pt idx="321">
                  <c:v>3.525</c:v>
                </c:pt>
                <c:pt idx="322">
                  <c:v>3.55</c:v>
                </c:pt>
                <c:pt idx="323">
                  <c:v>3.575</c:v>
                </c:pt>
                <c:pt idx="324">
                  <c:v>3.6</c:v>
                </c:pt>
                <c:pt idx="325">
                  <c:v>3.625</c:v>
                </c:pt>
                <c:pt idx="326">
                  <c:v>3.65</c:v>
                </c:pt>
                <c:pt idx="327">
                  <c:v>3.675</c:v>
                </c:pt>
                <c:pt idx="328">
                  <c:v>3.7</c:v>
                </c:pt>
                <c:pt idx="329">
                  <c:v>3.725</c:v>
                </c:pt>
                <c:pt idx="330">
                  <c:v>3.75</c:v>
                </c:pt>
                <c:pt idx="331">
                  <c:v>3.775</c:v>
                </c:pt>
                <c:pt idx="332">
                  <c:v>3.8</c:v>
                </c:pt>
                <c:pt idx="333">
                  <c:v>3.825</c:v>
                </c:pt>
                <c:pt idx="334">
                  <c:v>3.85</c:v>
                </c:pt>
                <c:pt idx="335">
                  <c:v>3.875</c:v>
                </c:pt>
                <c:pt idx="336">
                  <c:v>3.9</c:v>
                </c:pt>
                <c:pt idx="337">
                  <c:v>3.925</c:v>
                </c:pt>
                <c:pt idx="338">
                  <c:v>3.95</c:v>
                </c:pt>
                <c:pt idx="339">
                  <c:v>3.975</c:v>
                </c:pt>
                <c:pt idx="340">
                  <c:v>4</c:v>
                </c:pt>
                <c:pt idx="341">
                  <c:v>4.025</c:v>
                </c:pt>
                <c:pt idx="342">
                  <c:v>4.05</c:v>
                </c:pt>
                <c:pt idx="343">
                  <c:v>4.075</c:v>
                </c:pt>
                <c:pt idx="344">
                  <c:v>4.1</c:v>
                </c:pt>
                <c:pt idx="345">
                  <c:v>4.125</c:v>
                </c:pt>
                <c:pt idx="346">
                  <c:v>4.15</c:v>
                </c:pt>
                <c:pt idx="347">
                  <c:v>4.175</c:v>
                </c:pt>
                <c:pt idx="348">
                  <c:v>4.2</c:v>
                </c:pt>
                <c:pt idx="349">
                  <c:v>4.225</c:v>
                </c:pt>
                <c:pt idx="350">
                  <c:v>4.25</c:v>
                </c:pt>
                <c:pt idx="351">
                  <c:v>4.275</c:v>
                </c:pt>
                <c:pt idx="352">
                  <c:v>4.3</c:v>
                </c:pt>
                <c:pt idx="353">
                  <c:v>4.325</c:v>
                </c:pt>
                <c:pt idx="354">
                  <c:v>4.35</c:v>
                </c:pt>
                <c:pt idx="355">
                  <c:v>4.375</c:v>
                </c:pt>
                <c:pt idx="356">
                  <c:v>4.4</c:v>
                </c:pt>
                <c:pt idx="357">
                  <c:v>4.425</c:v>
                </c:pt>
                <c:pt idx="358">
                  <c:v>4.45</c:v>
                </c:pt>
                <c:pt idx="359">
                  <c:v>4.475</c:v>
                </c:pt>
                <c:pt idx="360">
                  <c:v>4.5</c:v>
                </c:pt>
              </c:numCache>
            </c:numRef>
          </c:xVal>
          <c:yVal>
            <c:numRef>
              <c:f>'Chart Data'!$B$2:$B$362</c:f>
              <c:numCache>
                <c:formatCode>General</c:formatCode>
                <c:ptCount val="361"/>
                <c:pt idx="0">
                  <c:v>4.5</c:v>
                </c:pt>
                <c:pt idx="1">
                  <c:v>4.35125</c:v>
                </c:pt>
                <c:pt idx="2">
                  <c:v>4.205</c:v>
                </c:pt>
                <c:pt idx="3">
                  <c:v>4.06125</c:v>
                </c:pt>
                <c:pt idx="4">
                  <c:v>3.92</c:v>
                </c:pt>
                <c:pt idx="5">
                  <c:v>3.78125</c:v>
                </c:pt>
                <c:pt idx="6">
                  <c:v>3.645</c:v>
                </c:pt>
                <c:pt idx="7">
                  <c:v>3.51125</c:v>
                </c:pt>
                <c:pt idx="8">
                  <c:v>3.38</c:v>
                </c:pt>
                <c:pt idx="9">
                  <c:v>3.25125</c:v>
                </c:pt>
                <c:pt idx="10">
                  <c:v>3.125</c:v>
                </c:pt>
                <c:pt idx="11">
                  <c:v>3.00125</c:v>
                </c:pt>
                <c:pt idx="12">
                  <c:v>2.88</c:v>
                </c:pt>
                <c:pt idx="13">
                  <c:v>2.76125</c:v>
                </c:pt>
                <c:pt idx="14">
                  <c:v>2.645</c:v>
                </c:pt>
                <c:pt idx="15">
                  <c:v>2.53125</c:v>
                </c:pt>
                <c:pt idx="16">
                  <c:v>2.42</c:v>
                </c:pt>
                <c:pt idx="17">
                  <c:v>2.31125</c:v>
                </c:pt>
                <c:pt idx="18">
                  <c:v>2.205</c:v>
                </c:pt>
                <c:pt idx="19">
                  <c:v>2.10125</c:v>
                </c:pt>
                <c:pt idx="20">
                  <c:v>2</c:v>
                </c:pt>
                <c:pt idx="21">
                  <c:v>1.90125</c:v>
                </c:pt>
                <c:pt idx="22">
                  <c:v>1.805</c:v>
                </c:pt>
                <c:pt idx="23">
                  <c:v>1.71125</c:v>
                </c:pt>
                <c:pt idx="24">
                  <c:v>1.62</c:v>
                </c:pt>
                <c:pt idx="25">
                  <c:v>1.53125</c:v>
                </c:pt>
                <c:pt idx="26">
                  <c:v>1.445</c:v>
                </c:pt>
                <c:pt idx="27">
                  <c:v>1.36125</c:v>
                </c:pt>
                <c:pt idx="28">
                  <c:v>1.28</c:v>
                </c:pt>
                <c:pt idx="29">
                  <c:v>1.20125</c:v>
                </c:pt>
                <c:pt idx="30">
                  <c:v>1.125</c:v>
                </c:pt>
                <c:pt idx="31">
                  <c:v>1.05125</c:v>
                </c:pt>
                <c:pt idx="32">
                  <c:v>0.980000000000001</c:v>
                </c:pt>
                <c:pt idx="33">
                  <c:v>0.91125</c:v>
                </c:pt>
                <c:pt idx="34">
                  <c:v>0.845</c:v>
                </c:pt>
                <c:pt idx="35">
                  <c:v>0.78125</c:v>
                </c:pt>
                <c:pt idx="36">
                  <c:v>0.72</c:v>
                </c:pt>
                <c:pt idx="37">
                  <c:v>0.66125</c:v>
                </c:pt>
                <c:pt idx="38">
                  <c:v>0.605</c:v>
                </c:pt>
                <c:pt idx="39">
                  <c:v>0.55125</c:v>
                </c:pt>
                <c:pt idx="40">
                  <c:v>0.5</c:v>
                </c:pt>
                <c:pt idx="41">
                  <c:v>0.45125</c:v>
                </c:pt>
                <c:pt idx="42">
                  <c:v>0.405</c:v>
                </c:pt>
                <c:pt idx="43">
                  <c:v>0.36125</c:v>
                </c:pt>
                <c:pt idx="44">
                  <c:v>0.32</c:v>
                </c:pt>
                <c:pt idx="45">
                  <c:v>0.28125</c:v>
                </c:pt>
                <c:pt idx="46">
                  <c:v>0.245</c:v>
                </c:pt>
                <c:pt idx="47">
                  <c:v>0.21125</c:v>
                </c:pt>
                <c:pt idx="48">
                  <c:v>0.18</c:v>
                </c:pt>
                <c:pt idx="49">
                  <c:v>0.15125</c:v>
                </c:pt>
                <c:pt idx="50">
                  <c:v>0.125</c:v>
                </c:pt>
                <c:pt idx="51">
                  <c:v>0.10125</c:v>
                </c:pt>
                <c:pt idx="52">
                  <c:v>0.0800000000000001</c:v>
                </c:pt>
                <c:pt idx="53">
                  <c:v>0.0612499999999999</c:v>
                </c:pt>
                <c:pt idx="54">
                  <c:v>0.0450000000000001</c:v>
                </c:pt>
                <c:pt idx="55">
                  <c:v>3.125E-2</c:v>
                </c:pt>
                <c:pt idx="56">
                  <c:v>1.99999999999999E-2</c:v>
                </c:pt>
                <c:pt idx="57">
                  <c:v>1.12500000000001E-2</c:v>
                </c:pt>
                <c:pt idx="58">
                  <c:v>0.00499999999999996</c:v>
                </c:pt>
                <c:pt idx="59">
                  <c:v>1.25000000000001E-3</c:v>
                </c:pt>
                <c:pt idx="60">
                  <c:v>0</c:v>
                </c:pt>
                <c:pt idx="61">
                  <c:v>0.00124999999999999</c:v>
                </c:pt>
                <c:pt idx="62">
                  <c:v>0.00499999999999996</c:v>
                </c:pt>
                <c:pt idx="63">
                  <c:v>1.12500000000001E-2</c:v>
                </c:pt>
                <c:pt idx="64">
                  <c:v>0.02</c:v>
                </c:pt>
                <c:pt idx="65">
                  <c:v>3.125E-2</c:v>
                </c:pt>
                <c:pt idx="66">
                  <c:v>0.0449999999999999</c:v>
                </c:pt>
                <c:pt idx="67">
                  <c:v>0.0612499999999999</c:v>
                </c:pt>
                <c:pt idx="68">
                  <c:v>0.0800000000000001</c:v>
                </c:pt>
                <c:pt idx="69">
                  <c:v>0.10125</c:v>
                </c:pt>
                <c:pt idx="70">
                  <c:v>0.125</c:v>
                </c:pt>
                <c:pt idx="71">
                  <c:v>0.15125</c:v>
                </c:pt>
                <c:pt idx="72">
                  <c:v>0.18</c:v>
                </c:pt>
                <c:pt idx="73">
                  <c:v>0.21125</c:v>
                </c:pt>
                <c:pt idx="74">
                  <c:v>0.245</c:v>
                </c:pt>
                <c:pt idx="75">
                  <c:v>0.28125</c:v>
                </c:pt>
                <c:pt idx="76">
                  <c:v>0.32</c:v>
                </c:pt>
                <c:pt idx="77">
                  <c:v>0.36125</c:v>
                </c:pt>
                <c:pt idx="78">
                  <c:v>0.405</c:v>
                </c:pt>
                <c:pt idx="79">
                  <c:v>0.45125</c:v>
                </c:pt>
                <c:pt idx="80">
                  <c:v>0.5</c:v>
                </c:pt>
                <c:pt idx="81">
                  <c:v>0.55125</c:v>
                </c:pt>
                <c:pt idx="82">
                  <c:v>0.605</c:v>
                </c:pt>
                <c:pt idx="83">
                  <c:v>0.66125</c:v>
                </c:pt>
                <c:pt idx="84">
                  <c:v>0.72</c:v>
                </c:pt>
                <c:pt idx="85">
                  <c:v>0.78125</c:v>
                </c:pt>
                <c:pt idx="86">
                  <c:v>0.845</c:v>
                </c:pt>
                <c:pt idx="87">
                  <c:v>0.91125</c:v>
                </c:pt>
                <c:pt idx="88">
                  <c:v>0.980000000000001</c:v>
                </c:pt>
                <c:pt idx="89">
                  <c:v>1.05125</c:v>
                </c:pt>
                <c:pt idx="90">
                  <c:v>1.125</c:v>
                </c:pt>
                <c:pt idx="91">
                  <c:v>1.20125</c:v>
                </c:pt>
                <c:pt idx="92">
                  <c:v>1.28</c:v>
                </c:pt>
                <c:pt idx="93">
                  <c:v>1.36125</c:v>
                </c:pt>
                <c:pt idx="94">
                  <c:v>1.445</c:v>
                </c:pt>
                <c:pt idx="95">
                  <c:v>1.53125</c:v>
                </c:pt>
                <c:pt idx="96">
                  <c:v>1.62</c:v>
                </c:pt>
                <c:pt idx="97">
                  <c:v>1.71125</c:v>
                </c:pt>
                <c:pt idx="98">
                  <c:v>1.805</c:v>
                </c:pt>
                <c:pt idx="99">
                  <c:v>1.90125</c:v>
                </c:pt>
                <c:pt idx="100">
                  <c:v>2</c:v>
                </c:pt>
                <c:pt idx="101">
                  <c:v>2.10125</c:v>
                </c:pt>
                <c:pt idx="102">
                  <c:v>2.205</c:v>
                </c:pt>
                <c:pt idx="103">
                  <c:v>2.31125</c:v>
                </c:pt>
                <c:pt idx="104">
                  <c:v>2.42</c:v>
                </c:pt>
                <c:pt idx="105">
                  <c:v>2.53125</c:v>
                </c:pt>
                <c:pt idx="106">
                  <c:v>2.645</c:v>
                </c:pt>
                <c:pt idx="107">
                  <c:v>2.76125</c:v>
                </c:pt>
                <c:pt idx="108">
                  <c:v>2.88</c:v>
                </c:pt>
                <c:pt idx="109">
                  <c:v>3.00125</c:v>
                </c:pt>
                <c:pt idx="110">
                  <c:v>3.125</c:v>
                </c:pt>
                <c:pt idx="111">
                  <c:v>3.25125</c:v>
                </c:pt>
                <c:pt idx="112">
                  <c:v>3.38</c:v>
                </c:pt>
                <c:pt idx="113">
                  <c:v>3.51125</c:v>
                </c:pt>
                <c:pt idx="114">
                  <c:v>3.645</c:v>
                </c:pt>
                <c:pt idx="115">
                  <c:v>3.78125</c:v>
                </c:pt>
                <c:pt idx="116">
                  <c:v>3.92</c:v>
                </c:pt>
                <c:pt idx="117">
                  <c:v>4.06125</c:v>
                </c:pt>
                <c:pt idx="118">
                  <c:v>4.205</c:v>
                </c:pt>
                <c:pt idx="119">
                  <c:v>4.35125</c:v>
                </c:pt>
                <c:pt idx="120">
                  <c:v>4.5</c:v>
                </c:pt>
                <c:pt idx="121">
                  <c:v>4.65125</c:v>
                </c:pt>
                <c:pt idx="122">
                  <c:v>4.805</c:v>
                </c:pt>
                <c:pt idx="123">
                  <c:v>4.96125</c:v>
                </c:pt>
                <c:pt idx="124">
                  <c:v>5.12</c:v>
                </c:pt>
                <c:pt idx="125">
                  <c:v>5.28125</c:v>
                </c:pt>
                <c:pt idx="126">
                  <c:v>5.445</c:v>
                </c:pt>
                <c:pt idx="127">
                  <c:v>5.61125</c:v>
                </c:pt>
                <c:pt idx="128">
                  <c:v>5.78</c:v>
                </c:pt>
                <c:pt idx="129">
                  <c:v>5.95125</c:v>
                </c:pt>
                <c:pt idx="130">
                  <c:v>6.125</c:v>
                </c:pt>
                <c:pt idx="131">
                  <c:v>6.30125</c:v>
                </c:pt>
                <c:pt idx="132">
                  <c:v>6.48</c:v>
                </c:pt>
                <c:pt idx="133">
                  <c:v>6.66125</c:v>
                </c:pt>
                <c:pt idx="134">
                  <c:v>6.845</c:v>
                </c:pt>
                <c:pt idx="135">
                  <c:v>7.03125</c:v>
                </c:pt>
                <c:pt idx="136">
                  <c:v>7.22</c:v>
                </c:pt>
                <c:pt idx="137">
                  <c:v>7.41125</c:v>
                </c:pt>
                <c:pt idx="138">
                  <c:v>7.605</c:v>
                </c:pt>
                <c:pt idx="139">
                  <c:v>7.80125</c:v>
                </c:pt>
                <c:pt idx="140">
                  <c:v>8</c:v>
                </c:pt>
                <c:pt idx="141">
                  <c:v>8.00125</c:v>
                </c:pt>
                <c:pt idx="142">
                  <c:v>8.005</c:v>
                </c:pt>
                <c:pt idx="143">
                  <c:v>8.01125</c:v>
                </c:pt>
                <c:pt idx="144">
                  <c:v>8.02</c:v>
                </c:pt>
                <c:pt idx="145">
                  <c:v>8.03125</c:v>
                </c:pt>
                <c:pt idx="146">
                  <c:v>8.045</c:v>
                </c:pt>
                <c:pt idx="147">
                  <c:v>8.06125</c:v>
                </c:pt>
                <c:pt idx="148">
                  <c:v>8.08</c:v>
                </c:pt>
                <c:pt idx="149">
                  <c:v>8.10125</c:v>
                </c:pt>
                <c:pt idx="150">
                  <c:v>8.125</c:v>
                </c:pt>
                <c:pt idx="151">
                  <c:v>8.15125</c:v>
                </c:pt>
                <c:pt idx="152">
                  <c:v>8.18</c:v>
                </c:pt>
                <c:pt idx="153">
                  <c:v>8.21125</c:v>
                </c:pt>
                <c:pt idx="154">
                  <c:v>8.245</c:v>
                </c:pt>
                <c:pt idx="155">
                  <c:v>8.28125</c:v>
                </c:pt>
                <c:pt idx="156">
                  <c:v>8.32</c:v>
                </c:pt>
                <c:pt idx="157">
                  <c:v>8.36125</c:v>
                </c:pt>
                <c:pt idx="158">
                  <c:v>8.405</c:v>
                </c:pt>
                <c:pt idx="159">
                  <c:v>8.45125</c:v>
                </c:pt>
                <c:pt idx="160">
                  <c:v>8.5</c:v>
                </c:pt>
                <c:pt idx="161">
                  <c:v>8.55125</c:v>
                </c:pt>
                <c:pt idx="162">
                  <c:v>8.605</c:v>
                </c:pt>
                <c:pt idx="163">
                  <c:v>8.66125</c:v>
                </c:pt>
                <c:pt idx="164">
                  <c:v>8.72</c:v>
                </c:pt>
                <c:pt idx="165">
                  <c:v>8.78125</c:v>
                </c:pt>
                <c:pt idx="166">
                  <c:v>8.845</c:v>
                </c:pt>
                <c:pt idx="167">
                  <c:v>8.91125</c:v>
                </c:pt>
                <c:pt idx="168">
                  <c:v>8.98</c:v>
                </c:pt>
                <c:pt idx="169">
                  <c:v>9.05125</c:v>
                </c:pt>
                <c:pt idx="170">
                  <c:v>9.125</c:v>
                </c:pt>
                <c:pt idx="171">
                  <c:v>9.20125</c:v>
                </c:pt>
                <c:pt idx="172">
                  <c:v>9.28</c:v>
                </c:pt>
                <c:pt idx="173">
                  <c:v>9.36125</c:v>
                </c:pt>
                <c:pt idx="174">
                  <c:v>9.445</c:v>
                </c:pt>
                <c:pt idx="175">
                  <c:v>9.53125</c:v>
                </c:pt>
                <c:pt idx="176">
                  <c:v>9.62</c:v>
                </c:pt>
                <c:pt idx="177">
                  <c:v>9.71125</c:v>
                </c:pt>
                <c:pt idx="178">
                  <c:v>9.805</c:v>
                </c:pt>
                <c:pt idx="179">
                  <c:v>9.90125</c:v>
                </c:pt>
                <c:pt idx="180">
                  <c:v>10</c:v>
                </c:pt>
                <c:pt idx="181">
                  <c:v>10.10125</c:v>
                </c:pt>
                <c:pt idx="182">
                  <c:v>10.205</c:v>
                </c:pt>
                <c:pt idx="183">
                  <c:v>10.31125</c:v>
                </c:pt>
                <c:pt idx="184">
                  <c:v>10.42</c:v>
                </c:pt>
                <c:pt idx="185">
                  <c:v>10.53125</c:v>
                </c:pt>
                <c:pt idx="186">
                  <c:v>10.645</c:v>
                </c:pt>
                <c:pt idx="187">
                  <c:v>10.76125</c:v>
                </c:pt>
                <c:pt idx="188">
                  <c:v>10.88</c:v>
                </c:pt>
                <c:pt idx="189">
                  <c:v>11.00125</c:v>
                </c:pt>
                <c:pt idx="190">
                  <c:v>11.125</c:v>
                </c:pt>
                <c:pt idx="191">
                  <c:v>11.25125</c:v>
                </c:pt>
                <c:pt idx="192">
                  <c:v>11.38</c:v>
                </c:pt>
                <c:pt idx="193">
                  <c:v>11.51125</c:v>
                </c:pt>
                <c:pt idx="194">
                  <c:v>11.645</c:v>
                </c:pt>
                <c:pt idx="195">
                  <c:v>11.78125</c:v>
                </c:pt>
                <c:pt idx="196">
                  <c:v>11.92</c:v>
                </c:pt>
                <c:pt idx="197">
                  <c:v>12.06125</c:v>
                </c:pt>
                <c:pt idx="198">
                  <c:v>12.205</c:v>
                </c:pt>
                <c:pt idx="199">
                  <c:v>12.35125</c:v>
                </c:pt>
                <c:pt idx="200">
                  <c:v>12.5</c:v>
                </c:pt>
                <c:pt idx="201">
                  <c:v>12.65125</c:v>
                </c:pt>
                <c:pt idx="202">
                  <c:v>12.805</c:v>
                </c:pt>
                <c:pt idx="203">
                  <c:v>12.96125</c:v>
                </c:pt>
                <c:pt idx="204">
                  <c:v>13.12</c:v>
                </c:pt>
                <c:pt idx="205">
                  <c:v>13.28125</c:v>
                </c:pt>
                <c:pt idx="206">
                  <c:v>13.445</c:v>
                </c:pt>
                <c:pt idx="207">
                  <c:v>13.61125</c:v>
                </c:pt>
                <c:pt idx="208">
                  <c:v>13.78</c:v>
                </c:pt>
                <c:pt idx="209">
                  <c:v>13.95125</c:v>
                </c:pt>
                <c:pt idx="210">
                  <c:v>14.125</c:v>
                </c:pt>
                <c:pt idx="211">
                  <c:v>14.30125</c:v>
                </c:pt>
                <c:pt idx="212">
                  <c:v>14.48</c:v>
                </c:pt>
                <c:pt idx="213">
                  <c:v>14.66125</c:v>
                </c:pt>
                <c:pt idx="214">
                  <c:v>14.845</c:v>
                </c:pt>
                <c:pt idx="215">
                  <c:v>15.03125</c:v>
                </c:pt>
                <c:pt idx="216">
                  <c:v>15.22</c:v>
                </c:pt>
                <c:pt idx="217">
                  <c:v>15.41125</c:v>
                </c:pt>
                <c:pt idx="218">
                  <c:v>15.605</c:v>
                </c:pt>
                <c:pt idx="219">
                  <c:v>15.80125</c:v>
                </c:pt>
                <c:pt idx="220">
                  <c:v>16</c:v>
                </c:pt>
                <c:pt idx="221">
                  <c:v>15.80125</c:v>
                </c:pt>
                <c:pt idx="222">
                  <c:v>15.605</c:v>
                </c:pt>
                <c:pt idx="223">
                  <c:v>15.41125</c:v>
                </c:pt>
                <c:pt idx="224">
                  <c:v>15.22</c:v>
                </c:pt>
                <c:pt idx="225">
                  <c:v>15.03125</c:v>
                </c:pt>
                <c:pt idx="226">
                  <c:v>14.845</c:v>
                </c:pt>
                <c:pt idx="227">
                  <c:v>14.66125</c:v>
                </c:pt>
                <c:pt idx="228">
                  <c:v>14.48</c:v>
                </c:pt>
                <c:pt idx="229">
                  <c:v>14.30125</c:v>
                </c:pt>
                <c:pt idx="230">
                  <c:v>14.125</c:v>
                </c:pt>
                <c:pt idx="231">
                  <c:v>13.95125</c:v>
                </c:pt>
                <c:pt idx="232">
                  <c:v>13.78</c:v>
                </c:pt>
                <c:pt idx="233">
                  <c:v>13.61125</c:v>
                </c:pt>
                <c:pt idx="234">
                  <c:v>13.445</c:v>
                </c:pt>
                <c:pt idx="235">
                  <c:v>13.28125</c:v>
                </c:pt>
                <c:pt idx="236">
                  <c:v>13.12</c:v>
                </c:pt>
                <c:pt idx="237">
                  <c:v>12.96125</c:v>
                </c:pt>
                <c:pt idx="238">
                  <c:v>12.805</c:v>
                </c:pt>
                <c:pt idx="239">
                  <c:v>12.65125</c:v>
                </c:pt>
                <c:pt idx="240">
                  <c:v>12.5</c:v>
                </c:pt>
                <c:pt idx="241">
                  <c:v>12.35125</c:v>
                </c:pt>
                <c:pt idx="242">
                  <c:v>12.205</c:v>
                </c:pt>
                <c:pt idx="243">
                  <c:v>12.06125</c:v>
                </c:pt>
                <c:pt idx="244">
                  <c:v>11.92</c:v>
                </c:pt>
                <c:pt idx="245">
                  <c:v>11.78125</c:v>
                </c:pt>
                <c:pt idx="246">
                  <c:v>11.645</c:v>
                </c:pt>
                <c:pt idx="247">
                  <c:v>11.51125</c:v>
                </c:pt>
                <c:pt idx="248">
                  <c:v>11.38</c:v>
                </c:pt>
                <c:pt idx="249">
                  <c:v>11.25125</c:v>
                </c:pt>
                <c:pt idx="250">
                  <c:v>11.125</c:v>
                </c:pt>
                <c:pt idx="251">
                  <c:v>11.00125</c:v>
                </c:pt>
                <c:pt idx="252">
                  <c:v>10.88</c:v>
                </c:pt>
                <c:pt idx="253">
                  <c:v>10.76125</c:v>
                </c:pt>
                <c:pt idx="254">
                  <c:v>10.645</c:v>
                </c:pt>
                <c:pt idx="255">
                  <c:v>10.53125</c:v>
                </c:pt>
                <c:pt idx="256">
                  <c:v>10.42</c:v>
                </c:pt>
                <c:pt idx="257">
                  <c:v>10.31125</c:v>
                </c:pt>
                <c:pt idx="258">
                  <c:v>10.205</c:v>
                </c:pt>
                <c:pt idx="259">
                  <c:v>10.10125</c:v>
                </c:pt>
                <c:pt idx="260">
                  <c:v>10</c:v>
                </c:pt>
                <c:pt idx="261">
                  <c:v>9.90125</c:v>
                </c:pt>
                <c:pt idx="262">
                  <c:v>9.805</c:v>
                </c:pt>
                <c:pt idx="263">
                  <c:v>9.71125</c:v>
                </c:pt>
                <c:pt idx="264">
                  <c:v>9.62</c:v>
                </c:pt>
                <c:pt idx="265">
                  <c:v>9.53125</c:v>
                </c:pt>
                <c:pt idx="266">
                  <c:v>9.445</c:v>
                </c:pt>
                <c:pt idx="267">
                  <c:v>9.36125</c:v>
                </c:pt>
                <c:pt idx="268">
                  <c:v>9.28</c:v>
                </c:pt>
                <c:pt idx="269">
                  <c:v>9.20125</c:v>
                </c:pt>
                <c:pt idx="270">
                  <c:v>9.125</c:v>
                </c:pt>
                <c:pt idx="271">
                  <c:v>9.05125</c:v>
                </c:pt>
                <c:pt idx="272">
                  <c:v>8.98</c:v>
                </c:pt>
                <c:pt idx="273">
                  <c:v>8.91125</c:v>
                </c:pt>
                <c:pt idx="274">
                  <c:v>8.845</c:v>
                </c:pt>
                <c:pt idx="275">
                  <c:v>8.78125</c:v>
                </c:pt>
                <c:pt idx="276">
                  <c:v>8.72</c:v>
                </c:pt>
                <c:pt idx="277">
                  <c:v>8.66125</c:v>
                </c:pt>
                <c:pt idx="278">
                  <c:v>8.605</c:v>
                </c:pt>
                <c:pt idx="279">
                  <c:v>8.55125</c:v>
                </c:pt>
                <c:pt idx="280">
                  <c:v>8.5</c:v>
                </c:pt>
                <c:pt idx="281">
                  <c:v>8.45125</c:v>
                </c:pt>
                <c:pt idx="282">
                  <c:v>8.405</c:v>
                </c:pt>
                <c:pt idx="283">
                  <c:v>8.36125</c:v>
                </c:pt>
                <c:pt idx="284">
                  <c:v>8.32</c:v>
                </c:pt>
                <c:pt idx="285">
                  <c:v>8.28125</c:v>
                </c:pt>
                <c:pt idx="286">
                  <c:v>8.245</c:v>
                </c:pt>
                <c:pt idx="287">
                  <c:v>8.21125</c:v>
                </c:pt>
                <c:pt idx="288">
                  <c:v>8.18</c:v>
                </c:pt>
                <c:pt idx="289">
                  <c:v>8.15125</c:v>
                </c:pt>
                <c:pt idx="290">
                  <c:v>8.125</c:v>
                </c:pt>
                <c:pt idx="291">
                  <c:v>8.10125</c:v>
                </c:pt>
                <c:pt idx="292">
                  <c:v>8.08</c:v>
                </c:pt>
                <c:pt idx="293">
                  <c:v>8.06125</c:v>
                </c:pt>
                <c:pt idx="294">
                  <c:v>8.045</c:v>
                </c:pt>
                <c:pt idx="295">
                  <c:v>8.03125</c:v>
                </c:pt>
                <c:pt idx="296">
                  <c:v>8.02</c:v>
                </c:pt>
                <c:pt idx="297">
                  <c:v>8.01125</c:v>
                </c:pt>
                <c:pt idx="298">
                  <c:v>8.005</c:v>
                </c:pt>
                <c:pt idx="299">
                  <c:v>8.00125</c:v>
                </c:pt>
                <c:pt idx="300">
                  <c:v>8</c:v>
                </c:pt>
                <c:pt idx="301">
                  <c:v>8.00125</c:v>
                </c:pt>
                <c:pt idx="302">
                  <c:v>8.005</c:v>
                </c:pt>
                <c:pt idx="303">
                  <c:v>8.01125</c:v>
                </c:pt>
                <c:pt idx="304">
                  <c:v>8.02</c:v>
                </c:pt>
                <c:pt idx="305">
                  <c:v>8.03125</c:v>
                </c:pt>
                <c:pt idx="306">
                  <c:v>8.045</c:v>
                </c:pt>
                <c:pt idx="307">
                  <c:v>8.06125</c:v>
                </c:pt>
                <c:pt idx="308">
                  <c:v>8.08</c:v>
                </c:pt>
                <c:pt idx="309">
                  <c:v>8.10125</c:v>
                </c:pt>
                <c:pt idx="310">
                  <c:v>8.125</c:v>
                </c:pt>
                <c:pt idx="311">
                  <c:v>8.15125</c:v>
                </c:pt>
                <c:pt idx="312">
                  <c:v>8.18</c:v>
                </c:pt>
                <c:pt idx="313">
                  <c:v>8.21125</c:v>
                </c:pt>
                <c:pt idx="314">
                  <c:v>8.245</c:v>
                </c:pt>
                <c:pt idx="315">
                  <c:v>8.28125</c:v>
                </c:pt>
                <c:pt idx="316">
                  <c:v>8.32</c:v>
                </c:pt>
                <c:pt idx="317">
                  <c:v>8.36125</c:v>
                </c:pt>
                <c:pt idx="318">
                  <c:v>8.405</c:v>
                </c:pt>
                <c:pt idx="319">
                  <c:v>8.45125</c:v>
                </c:pt>
                <c:pt idx="320">
                  <c:v>8.5</c:v>
                </c:pt>
                <c:pt idx="321">
                  <c:v>8.55125</c:v>
                </c:pt>
                <c:pt idx="322">
                  <c:v>8.605</c:v>
                </c:pt>
                <c:pt idx="323">
                  <c:v>8.66125</c:v>
                </c:pt>
                <c:pt idx="324">
                  <c:v>8.72</c:v>
                </c:pt>
                <c:pt idx="325">
                  <c:v>8.78125</c:v>
                </c:pt>
                <c:pt idx="326">
                  <c:v>8.845</c:v>
                </c:pt>
                <c:pt idx="327">
                  <c:v>8.91125</c:v>
                </c:pt>
                <c:pt idx="328">
                  <c:v>8.98</c:v>
                </c:pt>
                <c:pt idx="329">
                  <c:v>9.05125</c:v>
                </c:pt>
                <c:pt idx="330">
                  <c:v>9.125</c:v>
                </c:pt>
                <c:pt idx="331">
                  <c:v>9.20125</c:v>
                </c:pt>
                <c:pt idx="332">
                  <c:v>9.28</c:v>
                </c:pt>
                <c:pt idx="333">
                  <c:v>9.36125</c:v>
                </c:pt>
                <c:pt idx="334">
                  <c:v>9.445</c:v>
                </c:pt>
                <c:pt idx="335">
                  <c:v>9.53125</c:v>
                </c:pt>
                <c:pt idx="336">
                  <c:v>9.62</c:v>
                </c:pt>
                <c:pt idx="337">
                  <c:v>9.71125</c:v>
                </c:pt>
                <c:pt idx="338">
                  <c:v>9.805</c:v>
                </c:pt>
                <c:pt idx="339">
                  <c:v>9.90125</c:v>
                </c:pt>
                <c:pt idx="340">
                  <c:v>10</c:v>
                </c:pt>
                <c:pt idx="341">
                  <c:v>10.10125</c:v>
                </c:pt>
                <c:pt idx="342">
                  <c:v>10.205</c:v>
                </c:pt>
                <c:pt idx="343">
                  <c:v>10.31125</c:v>
                </c:pt>
                <c:pt idx="344">
                  <c:v>10.42</c:v>
                </c:pt>
                <c:pt idx="345">
                  <c:v>10.53125</c:v>
                </c:pt>
                <c:pt idx="346">
                  <c:v>10.645</c:v>
                </c:pt>
                <c:pt idx="347">
                  <c:v>10.76125</c:v>
                </c:pt>
                <c:pt idx="348">
                  <c:v>10.88</c:v>
                </c:pt>
                <c:pt idx="349">
                  <c:v>11.00125</c:v>
                </c:pt>
                <c:pt idx="350">
                  <c:v>11.125</c:v>
                </c:pt>
                <c:pt idx="351">
                  <c:v>11.25125</c:v>
                </c:pt>
                <c:pt idx="352">
                  <c:v>11.38</c:v>
                </c:pt>
                <c:pt idx="353">
                  <c:v>11.51125</c:v>
                </c:pt>
                <c:pt idx="354">
                  <c:v>11.645</c:v>
                </c:pt>
                <c:pt idx="355">
                  <c:v>11.78125</c:v>
                </c:pt>
                <c:pt idx="356">
                  <c:v>11.92</c:v>
                </c:pt>
                <c:pt idx="357">
                  <c:v>12.06125</c:v>
                </c:pt>
                <c:pt idx="358">
                  <c:v>12.205</c:v>
                </c:pt>
                <c:pt idx="359">
                  <c:v>12.35125</c:v>
                </c:pt>
                <c:pt idx="360">
                  <c:v>12.5</c:v>
                </c:pt>
              </c:numCache>
            </c:numRef>
          </c:yVal>
          <c:smooth val="1"/>
          <c:extLst>
            <c:ext xmlns:c16="http://schemas.microsoft.com/office/drawing/2014/chart" uri="{C3380CC4-5D6E-409C-BE32-E72D297353CC}">
              <c16:uniqueId val="{00000000-2E40-4DAE-A576-590DF7561AE7}"/>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c:v>
                </c:pt>
              </c:numCache>
            </c:numRef>
          </c:yVal>
          <c:smooth val="1"/>
          <c:extLst>
            <c:ext xmlns:c16="http://schemas.microsoft.com/office/drawing/2014/chart" uri="{C3380CC4-5D6E-409C-BE32-E72D297353CC}">
              <c16:uniqueId val="{00000001-2E40-4DAE-A576-590DF7561AE7}"/>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8</c:v>
                </c:pt>
              </c:numCache>
            </c:numRef>
          </c:yVal>
          <c:smooth val="1"/>
          <c:extLst>
            <c:ext xmlns:c16="http://schemas.microsoft.com/office/drawing/2014/chart" uri="{C3380CC4-5D6E-409C-BE32-E72D297353CC}">
              <c16:uniqueId val="{00000002-2E40-4DAE-A576-590DF7561AE7}"/>
            </c:ext>
          </c:extLst>
        </c:ser>
        <c:dLbls>
          <c:showLegendKey val="0"/>
          <c:showVal val="0"/>
          <c:showCatName val="0"/>
          <c:showSerName val="0"/>
          <c:showPercent val="0"/>
          <c:showBubbleSize val="0"/>
        </c:dLbls>
        <c:axId val="48650112"/>
        <c:axId val="48672768"/>
      </c:scatterChart>
      <c:valAx>
        <c:axId val="48672768"/>
        <c:scaling>
          <c:orientation val="minMax"/>
          <c:max val="18"/>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Squared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4"/>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Logistic loss</c:v>
          </c:tx>
          <c:spPr>
            <a:ln w="30480">
              <a:solidFill>
                <a:srgbClr val="087F83"/>
              </a:solidFill>
            </a:ln>
          </c:spPr>
          <c:marker>
            <c:symbol val="none"/>
          </c:marker>
          <c:xVal>
            <c:numRef>
              <c:f>'Chart Data'!$A$2:$A$362</c:f>
              <c:numCache>
                <c:formatCode>General</c:formatCode>
                <c:ptCount val="361"/>
                <c:pt idx="0">
                  <c:v>-4.5</c:v>
                </c:pt>
                <c:pt idx="1">
                  <c:v>-4.475</c:v>
                </c:pt>
                <c:pt idx="2">
                  <c:v>-4.45</c:v>
                </c:pt>
                <c:pt idx="3">
                  <c:v>-4.425</c:v>
                </c:pt>
                <c:pt idx="4">
                  <c:v>-4.4</c:v>
                </c:pt>
                <c:pt idx="5">
                  <c:v>-4.375</c:v>
                </c:pt>
                <c:pt idx="6">
                  <c:v>-4.35</c:v>
                </c:pt>
                <c:pt idx="7">
                  <c:v>-4.325</c:v>
                </c:pt>
                <c:pt idx="8">
                  <c:v>-4.3</c:v>
                </c:pt>
                <c:pt idx="9">
                  <c:v>-4.275</c:v>
                </c:pt>
                <c:pt idx="10">
                  <c:v>-4.25</c:v>
                </c:pt>
                <c:pt idx="11">
                  <c:v>-4.225</c:v>
                </c:pt>
                <c:pt idx="12">
                  <c:v>-4.2</c:v>
                </c:pt>
                <c:pt idx="13">
                  <c:v>-4.175</c:v>
                </c:pt>
                <c:pt idx="14">
                  <c:v>-4.15</c:v>
                </c:pt>
                <c:pt idx="15">
                  <c:v>-4.125</c:v>
                </c:pt>
                <c:pt idx="16">
                  <c:v>-4.1</c:v>
                </c:pt>
                <c:pt idx="17">
                  <c:v>-4.075</c:v>
                </c:pt>
                <c:pt idx="18">
                  <c:v>-4.05</c:v>
                </c:pt>
                <c:pt idx="19">
                  <c:v>-4.025</c:v>
                </c:pt>
                <c:pt idx="20">
                  <c:v>-4</c:v>
                </c:pt>
                <c:pt idx="21">
                  <c:v>-3.975</c:v>
                </c:pt>
                <c:pt idx="22">
                  <c:v>-3.95</c:v>
                </c:pt>
                <c:pt idx="23">
                  <c:v>-3.925</c:v>
                </c:pt>
                <c:pt idx="24">
                  <c:v>-3.9</c:v>
                </c:pt>
                <c:pt idx="25">
                  <c:v>-3.875</c:v>
                </c:pt>
                <c:pt idx="26">
                  <c:v>-3.85</c:v>
                </c:pt>
                <c:pt idx="27">
                  <c:v>-3.825</c:v>
                </c:pt>
                <c:pt idx="28">
                  <c:v>-3.8</c:v>
                </c:pt>
                <c:pt idx="29">
                  <c:v>-3.775</c:v>
                </c:pt>
                <c:pt idx="30">
                  <c:v>-3.75</c:v>
                </c:pt>
                <c:pt idx="31">
                  <c:v>-3.725</c:v>
                </c:pt>
                <c:pt idx="32">
                  <c:v>-3.7</c:v>
                </c:pt>
                <c:pt idx="33">
                  <c:v>-3.675</c:v>
                </c:pt>
                <c:pt idx="34">
                  <c:v>-3.65</c:v>
                </c:pt>
                <c:pt idx="35">
                  <c:v>-3.625</c:v>
                </c:pt>
                <c:pt idx="36">
                  <c:v>-3.6</c:v>
                </c:pt>
                <c:pt idx="37">
                  <c:v>-3.575</c:v>
                </c:pt>
                <c:pt idx="38">
                  <c:v>-3.55</c:v>
                </c:pt>
                <c:pt idx="39">
                  <c:v>-3.525</c:v>
                </c:pt>
                <c:pt idx="40">
                  <c:v>-3.5</c:v>
                </c:pt>
                <c:pt idx="41">
                  <c:v>-3.475</c:v>
                </c:pt>
                <c:pt idx="42">
                  <c:v>-3.45</c:v>
                </c:pt>
                <c:pt idx="43">
                  <c:v>-3.425</c:v>
                </c:pt>
                <c:pt idx="44">
                  <c:v>-3.4</c:v>
                </c:pt>
                <c:pt idx="45">
                  <c:v>-3.375</c:v>
                </c:pt>
                <c:pt idx="46">
                  <c:v>-3.35</c:v>
                </c:pt>
                <c:pt idx="47">
                  <c:v>-3.325</c:v>
                </c:pt>
                <c:pt idx="48">
                  <c:v>-3.3</c:v>
                </c:pt>
                <c:pt idx="49">
                  <c:v>-3.275</c:v>
                </c:pt>
                <c:pt idx="50">
                  <c:v>-3.25</c:v>
                </c:pt>
                <c:pt idx="51">
                  <c:v>-3.225</c:v>
                </c:pt>
                <c:pt idx="52">
                  <c:v>-3.2</c:v>
                </c:pt>
                <c:pt idx="53">
                  <c:v>-3.175</c:v>
                </c:pt>
                <c:pt idx="54">
                  <c:v>-3.15</c:v>
                </c:pt>
                <c:pt idx="55">
                  <c:v>-3.125</c:v>
                </c:pt>
                <c:pt idx="56">
                  <c:v>-3.1</c:v>
                </c:pt>
                <c:pt idx="57">
                  <c:v>-3.075</c:v>
                </c:pt>
                <c:pt idx="58">
                  <c:v>-3.05</c:v>
                </c:pt>
                <c:pt idx="59">
                  <c:v>-3.025</c:v>
                </c:pt>
                <c:pt idx="60">
                  <c:v>-3</c:v>
                </c:pt>
                <c:pt idx="61">
                  <c:v>-2.975</c:v>
                </c:pt>
                <c:pt idx="62">
                  <c:v>-2.95</c:v>
                </c:pt>
                <c:pt idx="63">
                  <c:v>-2.925</c:v>
                </c:pt>
                <c:pt idx="64">
                  <c:v>-2.9</c:v>
                </c:pt>
                <c:pt idx="65">
                  <c:v>-2.875</c:v>
                </c:pt>
                <c:pt idx="66">
                  <c:v>-2.85</c:v>
                </c:pt>
                <c:pt idx="67">
                  <c:v>-2.825</c:v>
                </c:pt>
                <c:pt idx="68">
                  <c:v>-2.8</c:v>
                </c:pt>
                <c:pt idx="69">
                  <c:v>-2.775</c:v>
                </c:pt>
                <c:pt idx="70">
                  <c:v>-2.75</c:v>
                </c:pt>
                <c:pt idx="71">
                  <c:v>-2.725</c:v>
                </c:pt>
                <c:pt idx="72">
                  <c:v>-2.7</c:v>
                </c:pt>
                <c:pt idx="73">
                  <c:v>-2.675</c:v>
                </c:pt>
                <c:pt idx="74">
                  <c:v>-2.65</c:v>
                </c:pt>
                <c:pt idx="75">
                  <c:v>-2.625</c:v>
                </c:pt>
                <c:pt idx="76">
                  <c:v>-2.6</c:v>
                </c:pt>
                <c:pt idx="77">
                  <c:v>-2.575</c:v>
                </c:pt>
                <c:pt idx="78">
                  <c:v>-2.55</c:v>
                </c:pt>
                <c:pt idx="79">
                  <c:v>-2.525</c:v>
                </c:pt>
                <c:pt idx="80">
                  <c:v>-2.5</c:v>
                </c:pt>
                <c:pt idx="81">
                  <c:v>-2.475</c:v>
                </c:pt>
                <c:pt idx="82">
                  <c:v>-2.45</c:v>
                </c:pt>
                <c:pt idx="83">
                  <c:v>-2.425</c:v>
                </c:pt>
                <c:pt idx="84">
                  <c:v>-2.4</c:v>
                </c:pt>
                <c:pt idx="85">
                  <c:v>-2.375</c:v>
                </c:pt>
                <c:pt idx="86">
                  <c:v>-2.35</c:v>
                </c:pt>
                <c:pt idx="87">
                  <c:v>-2.325</c:v>
                </c:pt>
                <c:pt idx="88">
                  <c:v>-2.3</c:v>
                </c:pt>
                <c:pt idx="89">
                  <c:v>-2.275</c:v>
                </c:pt>
                <c:pt idx="90">
                  <c:v>-2.25</c:v>
                </c:pt>
                <c:pt idx="91">
                  <c:v>-2.225</c:v>
                </c:pt>
                <c:pt idx="92">
                  <c:v>-2.2</c:v>
                </c:pt>
                <c:pt idx="93">
                  <c:v>-2.175</c:v>
                </c:pt>
                <c:pt idx="94">
                  <c:v>-2.15</c:v>
                </c:pt>
                <c:pt idx="95">
                  <c:v>-2.125</c:v>
                </c:pt>
                <c:pt idx="96">
                  <c:v>-2.1</c:v>
                </c:pt>
                <c:pt idx="97">
                  <c:v>-2.075</c:v>
                </c:pt>
                <c:pt idx="98">
                  <c:v>-2.05</c:v>
                </c:pt>
                <c:pt idx="99">
                  <c:v>-2.025</c:v>
                </c:pt>
                <c:pt idx="100">
                  <c:v>-2</c:v>
                </c:pt>
                <c:pt idx="101">
                  <c:v>-1.975</c:v>
                </c:pt>
                <c:pt idx="102">
                  <c:v>-1.95</c:v>
                </c:pt>
                <c:pt idx="103">
                  <c:v>-1.925</c:v>
                </c:pt>
                <c:pt idx="104">
                  <c:v>-1.9</c:v>
                </c:pt>
                <c:pt idx="105">
                  <c:v>-1.875</c:v>
                </c:pt>
                <c:pt idx="106">
                  <c:v>-1.85</c:v>
                </c:pt>
                <c:pt idx="107">
                  <c:v>-1.825</c:v>
                </c:pt>
                <c:pt idx="108">
                  <c:v>-1.8</c:v>
                </c:pt>
                <c:pt idx="109">
                  <c:v>-1.775</c:v>
                </c:pt>
                <c:pt idx="110">
                  <c:v>-1.75</c:v>
                </c:pt>
                <c:pt idx="111">
                  <c:v>-1.725</c:v>
                </c:pt>
                <c:pt idx="112">
                  <c:v>-1.7</c:v>
                </c:pt>
                <c:pt idx="113">
                  <c:v>-1.675</c:v>
                </c:pt>
                <c:pt idx="114">
                  <c:v>-1.65</c:v>
                </c:pt>
                <c:pt idx="115">
                  <c:v>-1.625</c:v>
                </c:pt>
                <c:pt idx="116">
                  <c:v>-1.6</c:v>
                </c:pt>
                <c:pt idx="117">
                  <c:v>-1.575</c:v>
                </c:pt>
                <c:pt idx="118">
                  <c:v>-1.55</c:v>
                </c:pt>
                <c:pt idx="119">
                  <c:v>-1.525</c:v>
                </c:pt>
                <c:pt idx="120">
                  <c:v>-1.5</c:v>
                </c:pt>
                <c:pt idx="121">
                  <c:v>-1.475</c:v>
                </c:pt>
                <c:pt idx="122">
                  <c:v>-1.45</c:v>
                </c:pt>
                <c:pt idx="123">
                  <c:v>-1.425</c:v>
                </c:pt>
                <c:pt idx="124">
                  <c:v>-1.4</c:v>
                </c:pt>
                <c:pt idx="125">
                  <c:v>-1.375</c:v>
                </c:pt>
                <c:pt idx="126">
                  <c:v>-1.35</c:v>
                </c:pt>
                <c:pt idx="127">
                  <c:v>-1.325</c:v>
                </c:pt>
                <c:pt idx="128">
                  <c:v>-1.3</c:v>
                </c:pt>
                <c:pt idx="129">
                  <c:v>-1.275</c:v>
                </c:pt>
                <c:pt idx="130">
                  <c:v>-1.25</c:v>
                </c:pt>
                <c:pt idx="131">
                  <c:v>-1.225</c:v>
                </c:pt>
                <c:pt idx="132">
                  <c:v>-1.2</c:v>
                </c:pt>
                <c:pt idx="133">
                  <c:v>-1.175</c:v>
                </c:pt>
                <c:pt idx="134">
                  <c:v>-1.15</c:v>
                </c:pt>
                <c:pt idx="135">
                  <c:v>-1.125</c:v>
                </c:pt>
                <c:pt idx="136">
                  <c:v>-1.1</c:v>
                </c:pt>
                <c:pt idx="137">
                  <c:v>-1.075</c:v>
                </c:pt>
                <c:pt idx="138">
                  <c:v>-1.05</c:v>
                </c:pt>
                <c:pt idx="139">
                  <c:v>-1.025</c:v>
                </c:pt>
                <c:pt idx="140">
                  <c:v>-1</c:v>
                </c:pt>
                <c:pt idx="141">
                  <c:v>-0.975</c:v>
                </c:pt>
                <c:pt idx="142">
                  <c:v>-0.95</c:v>
                </c:pt>
                <c:pt idx="143">
                  <c:v>-0.925</c:v>
                </c:pt>
                <c:pt idx="144">
                  <c:v>-0.9</c:v>
                </c:pt>
                <c:pt idx="145">
                  <c:v>-0.875</c:v>
                </c:pt>
                <c:pt idx="146">
                  <c:v>-0.85</c:v>
                </c:pt>
                <c:pt idx="147">
                  <c:v>-0.825</c:v>
                </c:pt>
                <c:pt idx="148">
                  <c:v>-0.8</c:v>
                </c:pt>
                <c:pt idx="149">
                  <c:v>-0.775</c:v>
                </c:pt>
                <c:pt idx="150">
                  <c:v>-0.75</c:v>
                </c:pt>
                <c:pt idx="151">
                  <c:v>-0.725</c:v>
                </c:pt>
                <c:pt idx="152">
                  <c:v>-0.7</c:v>
                </c:pt>
                <c:pt idx="153">
                  <c:v>-0.675</c:v>
                </c:pt>
                <c:pt idx="154">
                  <c:v>-0.65</c:v>
                </c:pt>
                <c:pt idx="155">
                  <c:v>-0.625</c:v>
                </c:pt>
                <c:pt idx="156">
                  <c:v>-0.6</c:v>
                </c:pt>
                <c:pt idx="157">
                  <c:v>-0.575</c:v>
                </c:pt>
                <c:pt idx="158">
                  <c:v>-0.55</c:v>
                </c:pt>
                <c:pt idx="159">
                  <c:v>-0.525</c:v>
                </c:pt>
                <c:pt idx="160">
                  <c:v>-0.5</c:v>
                </c:pt>
                <c:pt idx="161">
                  <c:v>-0.475</c:v>
                </c:pt>
                <c:pt idx="162">
                  <c:v>-0.45</c:v>
                </c:pt>
                <c:pt idx="163">
                  <c:v>-0.425</c:v>
                </c:pt>
                <c:pt idx="164">
                  <c:v>-0.4</c:v>
                </c:pt>
                <c:pt idx="165">
                  <c:v>-0.375</c:v>
                </c:pt>
                <c:pt idx="166">
                  <c:v>-0.35</c:v>
                </c:pt>
                <c:pt idx="167">
                  <c:v>-0.325</c:v>
                </c:pt>
                <c:pt idx="168">
                  <c:v>-0.3</c:v>
                </c:pt>
                <c:pt idx="169">
                  <c:v>-0.275</c:v>
                </c:pt>
                <c:pt idx="170">
                  <c:v>-0.25</c:v>
                </c:pt>
                <c:pt idx="171">
                  <c:v>-0.225</c:v>
                </c:pt>
                <c:pt idx="172">
                  <c:v>-0.2</c:v>
                </c:pt>
                <c:pt idx="173">
                  <c:v>-0.175</c:v>
                </c:pt>
                <c:pt idx="174">
                  <c:v>-0.15</c:v>
                </c:pt>
                <c:pt idx="175">
                  <c:v>-0.125</c:v>
                </c:pt>
                <c:pt idx="176">
                  <c:v>-0.1</c:v>
                </c:pt>
                <c:pt idx="177">
                  <c:v>-0.075</c:v>
                </c:pt>
                <c:pt idx="178">
                  <c:v>-0.05</c:v>
                </c:pt>
                <c:pt idx="179">
                  <c:v>-0.025</c:v>
                </c:pt>
                <c:pt idx="180">
                  <c:v>0</c:v>
                </c:pt>
                <c:pt idx="181">
                  <c:v>0.025</c:v>
                </c:pt>
                <c:pt idx="182">
                  <c:v>0.05</c:v>
                </c:pt>
                <c:pt idx="183">
                  <c:v>0.075</c:v>
                </c:pt>
                <c:pt idx="184">
                  <c:v>0.1</c:v>
                </c:pt>
                <c:pt idx="185">
                  <c:v>0.125</c:v>
                </c:pt>
                <c:pt idx="186">
                  <c:v>0.15</c:v>
                </c:pt>
                <c:pt idx="187">
                  <c:v>0.175</c:v>
                </c:pt>
                <c:pt idx="188">
                  <c:v>0.2</c:v>
                </c:pt>
                <c:pt idx="189">
                  <c:v>0.225</c:v>
                </c:pt>
                <c:pt idx="190">
                  <c:v>0.25</c:v>
                </c:pt>
                <c:pt idx="191">
                  <c:v>0.275</c:v>
                </c:pt>
                <c:pt idx="192">
                  <c:v>0.3</c:v>
                </c:pt>
                <c:pt idx="193">
                  <c:v>0.325</c:v>
                </c:pt>
                <c:pt idx="194">
                  <c:v>0.35</c:v>
                </c:pt>
                <c:pt idx="195">
                  <c:v>0.375</c:v>
                </c:pt>
                <c:pt idx="196">
                  <c:v>0.4</c:v>
                </c:pt>
                <c:pt idx="197">
                  <c:v>0.425</c:v>
                </c:pt>
                <c:pt idx="198">
                  <c:v>0.45</c:v>
                </c:pt>
                <c:pt idx="199">
                  <c:v>0.475</c:v>
                </c:pt>
                <c:pt idx="200">
                  <c:v>0.5</c:v>
                </c:pt>
                <c:pt idx="201">
                  <c:v>0.525</c:v>
                </c:pt>
                <c:pt idx="202">
                  <c:v>0.55</c:v>
                </c:pt>
                <c:pt idx="203">
                  <c:v>0.575</c:v>
                </c:pt>
                <c:pt idx="204">
                  <c:v>0.6</c:v>
                </c:pt>
                <c:pt idx="205">
                  <c:v>0.625</c:v>
                </c:pt>
                <c:pt idx="206">
                  <c:v>0.65</c:v>
                </c:pt>
                <c:pt idx="207">
                  <c:v>0.675</c:v>
                </c:pt>
                <c:pt idx="208">
                  <c:v>0.7</c:v>
                </c:pt>
                <c:pt idx="209">
                  <c:v>0.725</c:v>
                </c:pt>
                <c:pt idx="210">
                  <c:v>0.75</c:v>
                </c:pt>
                <c:pt idx="211">
                  <c:v>0.775</c:v>
                </c:pt>
                <c:pt idx="212">
                  <c:v>0.8</c:v>
                </c:pt>
                <c:pt idx="213">
                  <c:v>0.825</c:v>
                </c:pt>
                <c:pt idx="214">
                  <c:v>0.85</c:v>
                </c:pt>
                <c:pt idx="215">
                  <c:v>0.875</c:v>
                </c:pt>
                <c:pt idx="216">
                  <c:v>0.9</c:v>
                </c:pt>
                <c:pt idx="217">
                  <c:v>0.925</c:v>
                </c:pt>
                <c:pt idx="218">
                  <c:v>0.95</c:v>
                </c:pt>
                <c:pt idx="219">
                  <c:v>0.975</c:v>
                </c:pt>
                <c:pt idx="220">
                  <c:v>1</c:v>
                </c:pt>
                <c:pt idx="221">
                  <c:v>1.025</c:v>
                </c:pt>
                <c:pt idx="222">
                  <c:v>1.05</c:v>
                </c:pt>
                <c:pt idx="223">
                  <c:v>1.075</c:v>
                </c:pt>
                <c:pt idx="224">
                  <c:v>1.1</c:v>
                </c:pt>
                <c:pt idx="225">
                  <c:v>1.125</c:v>
                </c:pt>
                <c:pt idx="226">
                  <c:v>1.15</c:v>
                </c:pt>
                <c:pt idx="227">
                  <c:v>1.175</c:v>
                </c:pt>
                <c:pt idx="228">
                  <c:v>1.2</c:v>
                </c:pt>
                <c:pt idx="229">
                  <c:v>1.225</c:v>
                </c:pt>
                <c:pt idx="230">
                  <c:v>1.25</c:v>
                </c:pt>
                <c:pt idx="231">
                  <c:v>1.275</c:v>
                </c:pt>
                <c:pt idx="232">
                  <c:v>1.3</c:v>
                </c:pt>
                <c:pt idx="233">
                  <c:v>1.325</c:v>
                </c:pt>
                <c:pt idx="234">
                  <c:v>1.35</c:v>
                </c:pt>
                <c:pt idx="235">
                  <c:v>1.375</c:v>
                </c:pt>
                <c:pt idx="236">
                  <c:v>1.4</c:v>
                </c:pt>
                <c:pt idx="237">
                  <c:v>1.425</c:v>
                </c:pt>
                <c:pt idx="238">
                  <c:v>1.45</c:v>
                </c:pt>
                <c:pt idx="239">
                  <c:v>1.475</c:v>
                </c:pt>
                <c:pt idx="240">
                  <c:v>1.5</c:v>
                </c:pt>
                <c:pt idx="241">
                  <c:v>1.525</c:v>
                </c:pt>
                <c:pt idx="242">
                  <c:v>1.55</c:v>
                </c:pt>
                <c:pt idx="243">
                  <c:v>1.575</c:v>
                </c:pt>
                <c:pt idx="244">
                  <c:v>1.6</c:v>
                </c:pt>
                <c:pt idx="245">
                  <c:v>1.625</c:v>
                </c:pt>
                <c:pt idx="246">
                  <c:v>1.65</c:v>
                </c:pt>
                <c:pt idx="247">
                  <c:v>1.675</c:v>
                </c:pt>
                <c:pt idx="248">
                  <c:v>1.7</c:v>
                </c:pt>
                <c:pt idx="249">
                  <c:v>1.725</c:v>
                </c:pt>
                <c:pt idx="250">
                  <c:v>1.75</c:v>
                </c:pt>
                <c:pt idx="251">
                  <c:v>1.775</c:v>
                </c:pt>
                <c:pt idx="252">
                  <c:v>1.8</c:v>
                </c:pt>
                <c:pt idx="253">
                  <c:v>1.825</c:v>
                </c:pt>
                <c:pt idx="254">
                  <c:v>1.85</c:v>
                </c:pt>
                <c:pt idx="255">
                  <c:v>1.875</c:v>
                </c:pt>
                <c:pt idx="256">
                  <c:v>1.9</c:v>
                </c:pt>
                <c:pt idx="257">
                  <c:v>1.925</c:v>
                </c:pt>
                <c:pt idx="258">
                  <c:v>1.95</c:v>
                </c:pt>
                <c:pt idx="259">
                  <c:v>1.975</c:v>
                </c:pt>
                <c:pt idx="260">
                  <c:v>2</c:v>
                </c:pt>
                <c:pt idx="261">
                  <c:v>2.025</c:v>
                </c:pt>
                <c:pt idx="262">
                  <c:v>2.05</c:v>
                </c:pt>
                <c:pt idx="263">
                  <c:v>2.075</c:v>
                </c:pt>
                <c:pt idx="264">
                  <c:v>2.1</c:v>
                </c:pt>
                <c:pt idx="265">
                  <c:v>2.125</c:v>
                </c:pt>
                <c:pt idx="266">
                  <c:v>2.15</c:v>
                </c:pt>
                <c:pt idx="267">
                  <c:v>2.175</c:v>
                </c:pt>
                <c:pt idx="268">
                  <c:v>2.2</c:v>
                </c:pt>
                <c:pt idx="269">
                  <c:v>2.225</c:v>
                </c:pt>
                <c:pt idx="270">
                  <c:v>2.25</c:v>
                </c:pt>
                <c:pt idx="271">
                  <c:v>2.275</c:v>
                </c:pt>
                <c:pt idx="272">
                  <c:v>2.3</c:v>
                </c:pt>
                <c:pt idx="273">
                  <c:v>2.325</c:v>
                </c:pt>
                <c:pt idx="274">
                  <c:v>2.35</c:v>
                </c:pt>
                <c:pt idx="275">
                  <c:v>2.375</c:v>
                </c:pt>
                <c:pt idx="276">
                  <c:v>2.4</c:v>
                </c:pt>
                <c:pt idx="277">
                  <c:v>2.425</c:v>
                </c:pt>
                <c:pt idx="278">
                  <c:v>2.45</c:v>
                </c:pt>
                <c:pt idx="279">
                  <c:v>2.475</c:v>
                </c:pt>
                <c:pt idx="280">
                  <c:v>2.5</c:v>
                </c:pt>
                <c:pt idx="281">
                  <c:v>2.525</c:v>
                </c:pt>
                <c:pt idx="282">
                  <c:v>2.55</c:v>
                </c:pt>
                <c:pt idx="283">
                  <c:v>2.575</c:v>
                </c:pt>
                <c:pt idx="284">
                  <c:v>2.6</c:v>
                </c:pt>
                <c:pt idx="285">
                  <c:v>2.625</c:v>
                </c:pt>
                <c:pt idx="286">
                  <c:v>2.65</c:v>
                </c:pt>
                <c:pt idx="287">
                  <c:v>2.675</c:v>
                </c:pt>
                <c:pt idx="288">
                  <c:v>2.7</c:v>
                </c:pt>
                <c:pt idx="289">
                  <c:v>2.725</c:v>
                </c:pt>
                <c:pt idx="290">
                  <c:v>2.75</c:v>
                </c:pt>
                <c:pt idx="291">
                  <c:v>2.775</c:v>
                </c:pt>
                <c:pt idx="292">
                  <c:v>2.8</c:v>
                </c:pt>
                <c:pt idx="293">
                  <c:v>2.825</c:v>
                </c:pt>
                <c:pt idx="294">
                  <c:v>2.85</c:v>
                </c:pt>
                <c:pt idx="295">
                  <c:v>2.875</c:v>
                </c:pt>
                <c:pt idx="296">
                  <c:v>2.9</c:v>
                </c:pt>
                <c:pt idx="297">
                  <c:v>2.925</c:v>
                </c:pt>
                <c:pt idx="298">
                  <c:v>2.95</c:v>
                </c:pt>
                <c:pt idx="299">
                  <c:v>2.975</c:v>
                </c:pt>
                <c:pt idx="300">
                  <c:v>3</c:v>
                </c:pt>
                <c:pt idx="301">
                  <c:v>3.025</c:v>
                </c:pt>
                <c:pt idx="302">
                  <c:v>3.05</c:v>
                </c:pt>
                <c:pt idx="303">
                  <c:v>3.075</c:v>
                </c:pt>
                <c:pt idx="304">
                  <c:v>3.1</c:v>
                </c:pt>
                <c:pt idx="305">
                  <c:v>3.125</c:v>
                </c:pt>
                <c:pt idx="306">
                  <c:v>3.15</c:v>
                </c:pt>
                <c:pt idx="307">
                  <c:v>3.175</c:v>
                </c:pt>
                <c:pt idx="308">
                  <c:v>3.2</c:v>
                </c:pt>
                <c:pt idx="309">
                  <c:v>3.225</c:v>
                </c:pt>
                <c:pt idx="310">
                  <c:v>3.25</c:v>
                </c:pt>
                <c:pt idx="311">
                  <c:v>3.275</c:v>
                </c:pt>
                <c:pt idx="312">
                  <c:v>3.3</c:v>
                </c:pt>
                <c:pt idx="313">
                  <c:v>3.325</c:v>
                </c:pt>
                <c:pt idx="314">
                  <c:v>3.35</c:v>
                </c:pt>
                <c:pt idx="315">
                  <c:v>3.375</c:v>
                </c:pt>
                <c:pt idx="316">
                  <c:v>3.4</c:v>
                </c:pt>
                <c:pt idx="317">
                  <c:v>3.425</c:v>
                </c:pt>
                <c:pt idx="318">
                  <c:v>3.45</c:v>
                </c:pt>
                <c:pt idx="319">
                  <c:v>3.475</c:v>
                </c:pt>
                <c:pt idx="320">
                  <c:v>3.5</c:v>
                </c:pt>
                <c:pt idx="321">
                  <c:v>3.525</c:v>
                </c:pt>
                <c:pt idx="322">
                  <c:v>3.55</c:v>
                </c:pt>
                <c:pt idx="323">
                  <c:v>3.575</c:v>
                </c:pt>
                <c:pt idx="324">
                  <c:v>3.6</c:v>
                </c:pt>
                <c:pt idx="325">
                  <c:v>3.625</c:v>
                </c:pt>
                <c:pt idx="326">
                  <c:v>3.65</c:v>
                </c:pt>
                <c:pt idx="327">
                  <c:v>3.675</c:v>
                </c:pt>
                <c:pt idx="328">
                  <c:v>3.7</c:v>
                </c:pt>
                <c:pt idx="329">
                  <c:v>3.725</c:v>
                </c:pt>
                <c:pt idx="330">
                  <c:v>3.75</c:v>
                </c:pt>
                <c:pt idx="331">
                  <c:v>3.775</c:v>
                </c:pt>
                <c:pt idx="332">
                  <c:v>3.8</c:v>
                </c:pt>
                <c:pt idx="333">
                  <c:v>3.825</c:v>
                </c:pt>
                <c:pt idx="334">
                  <c:v>3.85</c:v>
                </c:pt>
                <c:pt idx="335">
                  <c:v>3.875</c:v>
                </c:pt>
                <c:pt idx="336">
                  <c:v>3.9</c:v>
                </c:pt>
                <c:pt idx="337">
                  <c:v>3.925</c:v>
                </c:pt>
                <c:pt idx="338">
                  <c:v>3.95</c:v>
                </c:pt>
                <c:pt idx="339">
                  <c:v>3.975</c:v>
                </c:pt>
                <c:pt idx="340">
                  <c:v>4</c:v>
                </c:pt>
                <c:pt idx="341">
                  <c:v>4.025</c:v>
                </c:pt>
                <c:pt idx="342">
                  <c:v>4.05</c:v>
                </c:pt>
                <c:pt idx="343">
                  <c:v>4.075</c:v>
                </c:pt>
                <c:pt idx="344">
                  <c:v>4.1</c:v>
                </c:pt>
                <c:pt idx="345">
                  <c:v>4.125</c:v>
                </c:pt>
                <c:pt idx="346">
                  <c:v>4.15</c:v>
                </c:pt>
                <c:pt idx="347">
                  <c:v>4.175</c:v>
                </c:pt>
                <c:pt idx="348">
                  <c:v>4.2</c:v>
                </c:pt>
                <c:pt idx="349">
                  <c:v>4.225</c:v>
                </c:pt>
                <c:pt idx="350">
                  <c:v>4.25</c:v>
                </c:pt>
                <c:pt idx="351">
                  <c:v>4.275</c:v>
                </c:pt>
                <c:pt idx="352">
                  <c:v>4.3</c:v>
                </c:pt>
                <c:pt idx="353">
                  <c:v>4.325</c:v>
                </c:pt>
                <c:pt idx="354">
                  <c:v>4.35</c:v>
                </c:pt>
                <c:pt idx="355">
                  <c:v>4.375</c:v>
                </c:pt>
                <c:pt idx="356">
                  <c:v>4.4</c:v>
                </c:pt>
                <c:pt idx="357">
                  <c:v>4.425</c:v>
                </c:pt>
                <c:pt idx="358">
                  <c:v>4.45</c:v>
                </c:pt>
                <c:pt idx="359">
                  <c:v>4.475</c:v>
                </c:pt>
                <c:pt idx="360">
                  <c:v>4.5</c:v>
                </c:pt>
              </c:numCache>
            </c:numRef>
          </c:xVal>
          <c:yVal>
            <c:numRef>
              <c:f>'Chart Data'!$B$2:$B$362</c:f>
              <c:numCache>
                <c:formatCode>General</c:formatCode>
                <c:ptCount val="361"/>
                <c:pt idx="0">
                  <c:v>1.05296671847266</c:v>
                </c:pt>
                <c:pt idx="1">
                  <c:v>1.03939733960131</c:v>
                </c:pt>
                <c:pt idx="2">
                  <c:v>1.02602046845101</c:v>
                </c:pt>
                <c:pt idx="3">
                  <c:v>1.01283789972669</c:v>
                </c:pt>
                <c:pt idx="4">
                  <c:v>0.999851404553903</c:v>
                </c:pt>
                <c:pt idx="5">
                  <c:v>0.987062729614779</c:v>
                </c:pt>
                <c:pt idx="6">
                  <c:v>0.974473596313619</c:v>
                </c:pt>
                <c:pt idx="7">
                  <c:v>0.962085699973652</c:v>
                </c:pt>
                <c:pt idx="8">
                  <c:v>0.94990070906649</c:v>
                </c:pt>
                <c:pt idx="9">
                  <c:v>0.937920264475669</c:v>
                </c:pt>
                <c:pt idx="10">
                  <c:v>0.926145978795591</c:v>
                </c:pt>
                <c:pt idx="11">
                  <c:v>0.914579435667031</c:v>
                </c:pt>
                <c:pt idx="12">
                  <c:v>0.903222189150288</c:v>
                </c:pt>
                <c:pt idx="13">
                  <c:v>0.892075763136885</c:v>
                </c:pt>
                <c:pt idx="14">
                  <c:v>0.881141650800641</c:v>
                </c:pt>
                <c:pt idx="15">
                  <c:v>0.870421314088738</c:v>
                </c:pt>
                <c:pt idx="16">
                  <c:v>0.859916183253326</c:v>
                </c:pt>
                <c:pt idx="17">
                  <c:v>0.849627656423995</c:v>
                </c:pt>
                <c:pt idx="18">
                  <c:v>0.839557099221348</c:v>
                </c:pt>
                <c:pt idx="19">
                  <c:v>0.829705844411717</c:v>
                </c:pt>
                <c:pt idx="20">
                  <c:v>0.820075191602918</c:v>
                </c:pt>
                <c:pt idx="21">
                  <c:v>0.810666406980799</c:v>
                </c:pt>
                <c:pt idx="22">
                  <c:v>0.801480723086154</c:v>
                </c:pt>
                <c:pt idx="23">
                  <c:v>0.792519338631432</c:v>
                </c:pt>
                <c:pt idx="24">
                  <c:v>0.783783418356531</c:v>
                </c:pt>
                <c:pt idx="25">
                  <c:v>0.775274092922771</c:v>
                </c:pt>
                <c:pt idx="26">
                  <c:v>0.766992458844042</c:v>
                </c:pt>
                <c:pt idx="27">
                  <c:v>0.758939578453955</c:v>
                </c:pt>
                <c:pt idx="28">
                  <c:v>0.751116479907666</c:v>
                </c:pt>
                <c:pt idx="29">
                  <c:v>0.743524157216947</c:v>
                </c:pt>
                <c:pt idx="30">
                  <c:v>0.736163570316931</c:v>
                </c:pt>
                <c:pt idx="31">
                  <c:v>0.729035645162822</c:v>
                </c:pt>
                <c:pt idx="32">
                  <c:v>0.722141273854793</c:v>
                </c:pt>
                <c:pt idx="33">
                  <c:v>0.71548131478914</c:v>
                </c:pt>
                <c:pt idx="34">
                  <c:v>0.709056592833709</c:v>
                </c:pt>
                <c:pt idx="35">
                  <c:v>0.702867899525499</c:v>
                </c:pt>
                <c:pt idx="36">
                  <c:v>0.696915993288291</c:v>
                </c:pt>
                <c:pt idx="37">
                  <c:v>0.691201599668081</c:v>
                </c:pt>
                <c:pt idx="38">
                  <c:v>0.685725411584034</c:v>
                </c:pt>
                <c:pt idx="39">
                  <c:v>0.680488089592659</c:v>
                </c:pt>
                <c:pt idx="40">
                  <c:v>0.675490262162859</c:v>
                </c:pt>
                <c:pt idx="41">
                  <c:v>0.670732525959494</c:v>
                </c:pt>
                <c:pt idx="42">
                  <c:v>0.666215446133097</c:v>
                </c:pt>
                <c:pt idx="43">
                  <c:v>0.661939556613404</c:v>
                </c:pt>
                <c:pt idx="44">
                  <c:v>0.657905360404336</c:v>
                </c:pt>
                <c:pt idx="45">
                  <c:v>0.654113329878167</c:v>
                </c:pt>
                <c:pt idx="46">
                  <c:v>0.650563907066591</c:v>
                </c:pt>
                <c:pt idx="47">
                  <c:v>0.647257503946519</c:v>
                </c:pt>
                <c:pt idx="48">
                  <c:v>0.64419450271845</c:v>
                </c:pt>
                <c:pt idx="49">
                  <c:v>0.641375256075378</c:v>
                </c:pt>
                <c:pt idx="50">
                  <c:v>0.638800087460273</c:v>
                </c:pt>
                <c:pt idx="51">
                  <c:v>0.636469291310267</c:v>
                </c:pt>
                <c:pt idx="52">
                  <c:v>0.634383133285809</c:v>
                </c:pt>
                <c:pt idx="53">
                  <c:v>0.632541850483139</c:v>
                </c:pt>
                <c:pt idx="54">
                  <c:v>0.630945651628594</c:v>
                </c:pt>
                <c:pt idx="55">
                  <c:v>0.62959471725337</c:v>
                </c:pt>
                <c:pt idx="56">
                  <c:v>0.628489199847519</c:v>
                </c:pt>
                <c:pt idx="57">
                  <c:v>0.627629223992102</c:v>
                </c:pt>
                <c:pt idx="58">
                  <c:v>0.627014886468595</c:v>
                </c:pt>
                <c:pt idx="59">
                  <c:v>0.626646256344766</c:v>
                </c:pt>
                <c:pt idx="60">
                  <c:v>0.626523375036446</c:v>
                </c:pt>
                <c:pt idx="61">
                  <c:v>0.626646256344766</c:v>
                </c:pt>
                <c:pt idx="62">
                  <c:v>0.627014886468595</c:v>
                </c:pt>
                <c:pt idx="63">
                  <c:v>0.627629223992102</c:v>
                </c:pt>
                <c:pt idx="64">
                  <c:v>0.628489199847519</c:v>
                </c:pt>
                <c:pt idx="65">
                  <c:v>0.62959471725337</c:v>
                </c:pt>
                <c:pt idx="66">
                  <c:v>0.630945651628594</c:v>
                </c:pt>
                <c:pt idx="67">
                  <c:v>0.632541850483139</c:v>
                </c:pt>
                <c:pt idx="68">
                  <c:v>0.634383133285809</c:v>
                </c:pt>
                <c:pt idx="69">
                  <c:v>0.636469291310267</c:v>
                </c:pt>
                <c:pt idx="70">
                  <c:v>0.638800087460273</c:v>
                </c:pt>
                <c:pt idx="71">
                  <c:v>0.641375256075378</c:v>
                </c:pt>
                <c:pt idx="72">
                  <c:v>0.64419450271845</c:v>
                </c:pt>
                <c:pt idx="73">
                  <c:v>0.647257503946519</c:v>
                </c:pt>
                <c:pt idx="74">
                  <c:v>0.650563907066591</c:v>
                </c:pt>
                <c:pt idx="75">
                  <c:v>0.654113329878167</c:v>
                </c:pt>
                <c:pt idx="76">
                  <c:v>0.657905360404337</c:v>
                </c:pt>
                <c:pt idx="77">
                  <c:v>0.661939556613404</c:v>
                </c:pt>
                <c:pt idx="78">
                  <c:v>0.666215446133097</c:v>
                </c:pt>
                <c:pt idx="79">
                  <c:v>0.670732525959494</c:v>
                </c:pt>
                <c:pt idx="80">
                  <c:v>0.675490262162859</c:v>
                </c:pt>
                <c:pt idx="81">
                  <c:v>0.680488089592659</c:v>
                </c:pt>
                <c:pt idx="82">
                  <c:v>0.685725411584034</c:v>
                </c:pt>
                <c:pt idx="83">
                  <c:v>0.691201599668081</c:v>
                </c:pt>
                <c:pt idx="84">
                  <c:v>0.696915993288291</c:v>
                </c:pt>
                <c:pt idx="85">
                  <c:v>0.702867899525499</c:v>
                </c:pt>
                <c:pt idx="86">
                  <c:v>0.709056592833709</c:v>
                </c:pt>
                <c:pt idx="87">
                  <c:v>0.71548131478914</c:v>
                </c:pt>
                <c:pt idx="88">
                  <c:v>0.722141273854793</c:v>
                </c:pt>
                <c:pt idx="89">
                  <c:v>0.729035645162822</c:v>
                </c:pt>
                <c:pt idx="90">
                  <c:v>0.736163570316931</c:v>
                </c:pt>
                <c:pt idx="91">
                  <c:v>0.743524157216948</c:v>
                </c:pt>
                <c:pt idx="92">
                  <c:v>0.751116479907666</c:v>
                </c:pt>
                <c:pt idx="93">
                  <c:v>0.758939578453955</c:v>
                </c:pt>
                <c:pt idx="94">
                  <c:v>0.766992458844042</c:v>
                </c:pt>
                <c:pt idx="95">
                  <c:v>0.775274092922771</c:v>
                </c:pt>
                <c:pt idx="96">
                  <c:v>0.783783418356532</c:v>
                </c:pt>
                <c:pt idx="97">
                  <c:v>0.792519338631432</c:v>
                </c:pt>
                <c:pt idx="98">
                  <c:v>0.801480723086154</c:v>
                </c:pt>
                <c:pt idx="99">
                  <c:v>0.810666406980799</c:v>
                </c:pt>
                <c:pt idx="100">
                  <c:v>0.820075191602918</c:v>
                </c:pt>
                <c:pt idx="101">
                  <c:v>0.829705844411717</c:v>
                </c:pt>
                <c:pt idx="102">
                  <c:v>0.839557099221348</c:v>
                </c:pt>
                <c:pt idx="103">
                  <c:v>0.849627656423995</c:v>
                </c:pt>
                <c:pt idx="104">
                  <c:v>0.859916183253326</c:v>
                </c:pt>
                <c:pt idx="105">
                  <c:v>0.870421314088738</c:v>
                </c:pt>
                <c:pt idx="106">
                  <c:v>0.881141650800641</c:v>
                </c:pt>
                <c:pt idx="107">
                  <c:v>0.892075763136885</c:v>
                </c:pt>
                <c:pt idx="108">
                  <c:v>0.903222189150288</c:v>
                </c:pt>
                <c:pt idx="109">
                  <c:v>0.914579435667031</c:v>
                </c:pt>
                <c:pt idx="110">
                  <c:v>0.926145978795591</c:v>
                </c:pt>
                <c:pt idx="111">
                  <c:v>0.937920264475669</c:v>
                </c:pt>
                <c:pt idx="112">
                  <c:v>0.94990070906649</c:v>
                </c:pt>
                <c:pt idx="113">
                  <c:v>0.962085699973652</c:v>
                </c:pt>
                <c:pt idx="114">
                  <c:v>0.974473596313619</c:v>
                </c:pt>
                <c:pt idx="115">
                  <c:v>0.987062729614779</c:v>
                </c:pt>
                <c:pt idx="116">
                  <c:v>0.999851404553902</c:v>
                </c:pt>
                <c:pt idx="117">
                  <c:v>1.01283789972669</c:v>
                </c:pt>
                <c:pt idx="118">
                  <c:v>1.02602046845101</c:v>
                </c:pt>
                <c:pt idx="119">
                  <c:v>1.03939733960131</c:v>
                </c:pt>
                <c:pt idx="120">
                  <c:v>1.05296671847266</c:v>
                </c:pt>
                <c:pt idx="121">
                  <c:v>1.06672678767257</c:v>
                </c:pt>
                <c:pt idx="122">
                  <c:v>1.08067570803913</c:v>
                </c:pt>
                <c:pt idx="123">
                  <c:v>1.09481161958326</c:v>
                </c:pt>
                <c:pt idx="124">
                  <c:v>1.10913264245356</c:v>
                </c:pt>
                <c:pt idx="125">
                  <c:v>1.12363687792149</c:v>
                </c:pt>
                <c:pt idx="126">
                  <c:v>1.13832240938522</c:v>
                </c:pt>
                <c:pt idx="127">
                  <c:v>1.15318730338982</c:v>
                </c:pt>
                <c:pt idx="128">
                  <c:v>1.16822961066205</c:v>
                </c:pt>
                <c:pt idx="129">
                  <c:v>1.18344736715749</c:v>
                </c:pt>
                <c:pt idx="130">
                  <c:v>1.1988385951181</c:v>
                </c:pt>
                <c:pt idx="131">
                  <c:v>1.21440130413802</c:v>
                </c:pt>
                <c:pt idx="132">
                  <c:v>1.23013349223575</c:v>
                </c:pt>
                <c:pt idx="133">
                  <c:v>1.24603314693046</c:v>
                </c:pt>
                <c:pt idx="134">
                  <c:v>1.26209824632068</c:v>
                </c:pt>
                <c:pt idx="135">
                  <c:v>1.27832676016313</c:v>
                </c:pt>
                <c:pt idx="136">
                  <c:v>1.29471665095005</c:v>
                </c:pt>
                <c:pt idx="137">
                  <c:v>1.31126587498285</c:v>
                </c:pt>
                <c:pt idx="138">
                  <c:v>1.32797238344049</c:v>
                </c:pt>
                <c:pt idx="139">
                  <c:v>1.34483412344063</c:v>
                </c:pt>
                <c:pt idx="140">
                  <c:v>1.36184903909196</c:v>
                </c:pt>
                <c:pt idx="141">
                  <c:v>1.3813865791748</c:v>
                </c:pt>
                <c:pt idx="142">
                  <c:v>1.40107445620718</c:v>
                </c:pt>
                <c:pt idx="143">
                  <c:v>1.42091188978988</c:v>
                </c:pt>
                <c:pt idx="144">
                  <c:v>1.44089810133339</c:v>
                </c:pt>
                <c:pt idx="145">
                  <c:v>1.46103231540639</c:v>
                </c:pt>
                <c:pt idx="146">
                  <c:v>1.48131376106488</c:v>
                </c:pt>
                <c:pt idx="147">
                  <c:v>1.50174167316046</c:v>
                </c:pt>
                <c:pt idx="148">
                  <c:v>1.522315293626</c:v>
                </c:pt>
                <c:pt idx="149">
                  <c:v>1.5430338727372</c:v>
                </c:pt>
                <c:pt idx="150">
                  <c:v>1.56389667034857</c:v>
                </c:pt>
                <c:pt idx="151">
                  <c:v>1.58490295710242</c:v>
                </c:pt>
                <c:pt idx="152">
                  <c:v>1.60605201560958</c:v>
                </c:pt>
                <c:pt idx="153">
                  <c:v>1.62734314160063</c:v>
                </c:pt>
                <c:pt idx="154">
                  <c:v>1.64877564504638</c:v>
                </c:pt>
                <c:pt idx="155">
                  <c:v>1.67034885124662</c:v>
                </c:pt>
                <c:pt idx="156">
                  <c:v>1.69206210188612</c:v>
                </c:pt>
                <c:pt idx="157">
                  <c:v>1.71391475605684</c:v>
                </c:pt>
                <c:pt idx="158">
                  <c:v>1.73590619124555</c:v>
                </c:pt>
                <c:pt idx="159">
                  <c:v>1.75803580428608</c:v>
                </c:pt>
                <c:pt idx="160">
                  <c:v>1.7803030122753</c:v>
                </c:pt>
                <c:pt idx="161">
                  <c:v>1.80270725345232</c:v>
                </c:pt>
                <c:pt idx="162">
                  <c:v>1.82524798804013</c:v>
                </c:pt>
                <c:pt idx="163">
                  <c:v>1.84792469904917</c:v>
                </c:pt>
                <c:pt idx="164">
                  <c:v>1.87073689304229</c:v>
                </c:pt>
                <c:pt idx="165">
                  <c:v>1.8936841008606</c:v>
                </c:pt>
                <c:pt idx="166">
                  <c:v>1.91676587830977</c:v>
                </c:pt>
                <c:pt idx="167">
                  <c:v>1.93998180680644</c:v>
                </c:pt>
                <c:pt idx="168">
                  <c:v>1.96333149398423</c:v>
                </c:pt>
                <c:pt idx="169">
                  <c:v>1.98681457425929</c:v>
                </c:pt>
                <c:pt idx="170">
                  <c:v>2.01043070935483</c:v>
                </c:pt>
                <c:pt idx="171">
                  <c:v>2.03417958878457</c:v>
                </c:pt>
                <c:pt idx="172">
                  <c:v>2.05806093029477</c:v>
                </c:pt>
                <c:pt idx="173">
                  <c:v>2.08207448026475</c:v>
                </c:pt>
                <c:pt idx="174">
                  <c:v>2.10622001406562</c:v>
                </c:pt>
                <c:pt idx="175">
                  <c:v>2.13049733637717</c:v>
                </c:pt>
                <c:pt idx="176">
                  <c:v>2.15490628146272</c:v>
                </c:pt>
                <c:pt idx="177">
                  <c:v>2.17944671340184</c:v>
                </c:pt>
                <c:pt idx="178">
                  <c:v>2.20411852628093</c:v>
                </c:pt>
                <c:pt idx="179">
                  <c:v>2.22892164434147</c:v>
                </c:pt>
                <c:pt idx="180">
                  <c:v>2.25385602208595</c:v>
                </c:pt>
                <c:pt idx="181">
                  <c:v>2.27892164434147</c:v>
                </c:pt>
                <c:pt idx="182">
                  <c:v>2.30411852628093</c:v>
                </c:pt>
                <c:pt idx="183">
                  <c:v>2.32944671340184</c:v>
                </c:pt>
                <c:pt idx="184">
                  <c:v>2.35490628146272</c:v>
                </c:pt>
                <c:pt idx="185">
                  <c:v>2.38049733637717</c:v>
                </c:pt>
                <c:pt idx="186">
                  <c:v>2.40622001406562</c:v>
                </c:pt>
                <c:pt idx="187">
                  <c:v>2.43207448026475</c:v>
                </c:pt>
                <c:pt idx="188">
                  <c:v>2.45806093029477</c:v>
                </c:pt>
                <c:pt idx="189">
                  <c:v>2.48417958878457</c:v>
                </c:pt>
                <c:pt idx="190">
                  <c:v>2.51043070935483</c:v>
                </c:pt>
                <c:pt idx="191">
                  <c:v>2.53681457425929</c:v>
                </c:pt>
                <c:pt idx="192">
                  <c:v>2.56333149398423</c:v>
                </c:pt>
                <c:pt idx="193">
                  <c:v>2.58998180680644</c:v>
                </c:pt>
                <c:pt idx="194">
                  <c:v>2.61676587830977</c:v>
                </c:pt>
                <c:pt idx="195">
                  <c:v>2.6436841008606</c:v>
                </c:pt>
                <c:pt idx="196">
                  <c:v>2.67073689304229</c:v>
                </c:pt>
                <c:pt idx="197">
                  <c:v>2.69792469904917</c:v>
                </c:pt>
                <c:pt idx="198">
                  <c:v>2.72524798804013</c:v>
                </c:pt>
                <c:pt idx="199">
                  <c:v>2.75270725345232</c:v>
                </c:pt>
                <c:pt idx="200">
                  <c:v>2.7803030122753</c:v>
                </c:pt>
                <c:pt idx="201">
                  <c:v>2.80803580428608</c:v>
                </c:pt>
                <c:pt idx="202">
                  <c:v>2.83590619124555</c:v>
                </c:pt>
                <c:pt idx="203">
                  <c:v>2.86391475605684</c:v>
                </c:pt>
                <c:pt idx="204">
                  <c:v>2.89206210188612</c:v>
                </c:pt>
                <c:pt idx="205">
                  <c:v>2.92034885124662</c:v>
                </c:pt>
                <c:pt idx="206">
                  <c:v>2.94877564504638</c:v>
                </c:pt>
                <c:pt idx="207">
                  <c:v>2.97734314160063</c:v>
                </c:pt>
                <c:pt idx="208">
                  <c:v>3.00605201560958</c:v>
                </c:pt>
                <c:pt idx="209">
                  <c:v>3.03490295710242</c:v>
                </c:pt>
                <c:pt idx="210">
                  <c:v>3.06389667034857</c:v>
                </c:pt>
                <c:pt idx="211">
                  <c:v>3.0930338727372</c:v>
                </c:pt>
                <c:pt idx="212">
                  <c:v>3.122315293626</c:v>
                </c:pt>
                <c:pt idx="213">
                  <c:v>3.15174167316046</c:v>
                </c:pt>
                <c:pt idx="214">
                  <c:v>3.18131376106488</c:v>
                </c:pt>
                <c:pt idx="215">
                  <c:v>3.21103231540639</c:v>
                </c:pt>
                <c:pt idx="216">
                  <c:v>3.24089810133339</c:v>
                </c:pt>
                <c:pt idx="217">
                  <c:v>3.27091188978988</c:v>
                </c:pt>
                <c:pt idx="218">
                  <c:v>3.30107445620718</c:v>
                </c:pt>
                <c:pt idx="219">
                  <c:v>3.3313865791748</c:v>
                </c:pt>
                <c:pt idx="220">
                  <c:v>3.36184903909197</c:v>
                </c:pt>
                <c:pt idx="221">
                  <c:v>3.34483412344063</c:v>
                </c:pt>
                <c:pt idx="222">
                  <c:v>3.32797238344049</c:v>
                </c:pt>
                <c:pt idx="223">
                  <c:v>3.31126587498285</c:v>
                </c:pt>
                <c:pt idx="224">
                  <c:v>3.29471665095005</c:v>
                </c:pt>
                <c:pt idx="225">
                  <c:v>3.27832676016313</c:v>
                </c:pt>
                <c:pt idx="226">
                  <c:v>3.26209824632068</c:v>
                </c:pt>
                <c:pt idx="227">
                  <c:v>3.24603314693046</c:v>
                </c:pt>
                <c:pt idx="228">
                  <c:v>3.23013349223575</c:v>
                </c:pt>
                <c:pt idx="229">
                  <c:v>3.21440130413802</c:v>
                </c:pt>
                <c:pt idx="230">
                  <c:v>3.1988385951181</c:v>
                </c:pt>
                <c:pt idx="231">
                  <c:v>3.18344736715749</c:v>
                </c:pt>
                <c:pt idx="232">
                  <c:v>3.16822961066205</c:v>
                </c:pt>
                <c:pt idx="233">
                  <c:v>3.15318730338982</c:v>
                </c:pt>
                <c:pt idx="234">
                  <c:v>3.13832240938522</c:v>
                </c:pt>
                <c:pt idx="235">
                  <c:v>3.12363687792149</c:v>
                </c:pt>
                <c:pt idx="236">
                  <c:v>3.10913264245356</c:v>
                </c:pt>
                <c:pt idx="237">
                  <c:v>3.09481161958326</c:v>
                </c:pt>
                <c:pt idx="238">
                  <c:v>3.08067570803913</c:v>
                </c:pt>
                <c:pt idx="239">
                  <c:v>3.06672678767257</c:v>
                </c:pt>
                <c:pt idx="240">
                  <c:v>3.05296671847266</c:v>
                </c:pt>
                <c:pt idx="241">
                  <c:v>3.03939733960131</c:v>
                </c:pt>
                <c:pt idx="242">
                  <c:v>3.02602046845101</c:v>
                </c:pt>
                <c:pt idx="243">
                  <c:v>3.01283789972669</c:v>
                </c:pt>
                <c:pt idx="244">
                  <c:v>2.9998514045539</c:v>
                </c:pt>
                <c:pt idx="245">
                  <c:v>2.98706272961478</c:v>
                </c:pt>
                <c:pt idx="246">
                  <c:v>2.97447359631362</c:v>
                </c:pt>
                <c:pt idx="247">
                  <c:v>2.96208569997365</c:v>
                </c:pt>
                <c:pt idx="248">
                  <c:v>2.94990070906649</c:v>
                </c:pt>
                <c:pt idx="249">
                  <c:v>2.93792026447567</c:v>
                </c:pt>
                <c:pt idx="250">
                  <c:v>2.92614597879559</c:v>
                </c:pt>
                <c:pt idx="251">
                  <c:v>2.91457943566703</c:v>
                </c:pt>
                <c:pt idx="252">
                  <c:v>2.90322218915029</c:v>
                </c:pt>
                <c:pt idx="253">
                  <c:v>2.89207576313689</c:v>
                </c:pt>
                <c:pt idx="254">
                  <c:v>2.88114165080064</c:v>
                </c:pt>
                <c:pt idx="255">
                  <c:v>2.87042131408874</c:v>
                </c:pt>
                <c:pt idx="256">
                  <c:v>2.85991618325333</c:v>
                </c:pt>
                <c:pt idx="257">
                  <c:v>2.849627656424</c:v>
                </c:pt>
                <c:pt idx="258">
                  <c:v>2.83955709922135</c:v>
                </c:pt>
                <c:pt idx="259">
                  <c:v>2.82970584441172</c:v>
                </c:pt>
                <c:pt idx="260">
                  <c:v>2.82007519160292</c:v>
                </c:pt>
                <c:pt idx="261">
                  <c:v>2.8106664069808</c:v>
                </c:pt>
                <c:pt idx="262">
                  <c:v>2.80148072308615</c:v>
                </c:pt>
                <c:pt idx="263">
                  <c:v>2.79251933863143</c:v>
                </c:pt>
                <c:pt idx="264">
                  <c:v>2.78378341835653</c:v>
                </c:pt>
                <c:pt idx="265">
                  <c:v>2.77527409292277</c:v>
                </c:pt>
                <c:pt idx="266">
                  <c:v>2.76699245884404</c:v>
                </c:pt>
                <c:pt idx="267">
                  <c:v>2.75893957845396</c:v>
                </c:pt>
                <c:pt idx="268">
                  <c:v>2.75111647990767</c:v>
                </c:pt>
                <c:pt idx="269">
                  <c:v>2.74352415721695</c:v>
                </c:pt>
                <c:pt idx="270">
                  <c:v>2.73616357031693</c:v>
                </c:pt>
                <c:pt idx="271">
                  <c:v>2.72903564516282</c:v>
                </c:pt>
                <c:pt idx="272">
                  <c:v>2.72214127385479</c:v>
                </c:pt>
                <c:pt idx="273">
                  <c:v>2.71548131478914</c:v>
                </c:pt>
                <c:pt idx="274">
                  <c:v>2.70905659283371</c:v>
                </c:pt>
                <c:pt idx="275">
                  <c:v>2.7028678995255</c:v>
                </c:pt>
                <c:pt idx="276">
                  <c:v>2.69691599328829</c:v>
                </c:pt>
                <c:pt idx="277">
                  <c:v>2.69120159966808</c:v>
                </c:pt>
                <c:pt idx="278">
                  <c:v>2.68572541158403</c:v>
                </c:pt>
                <c:pt idx="279">
                  <c:v>2.68048808959266</c:v>
                </c:pt>
                <c:pt idx="280">
                  <c:v>2.67549026216286</c:v>
                </c:pt>
                <c:pt idx="281">
                  <c:v>2.67073252595949</c:v>
                </c:pt>
                <c:pt idx="282">
                  <c:v>2.6662154461331</c:v>
                </c:pt>
                <c:pt idx="283">
                  <c:v>2.6619395566134</c:v>
                </c:pt>
                <c:pt idx="284">
                  <c:v>2.65790536040434</c:v>
                </c:pt>
                <c:pt idx="285">
                  <c:v>2.65411332987817</c:v>
                </c:pt>
                <c:pt idx="286">
                  <c:v>2.65056390706659</c:v>
                </c:pt>
                <c:pt idx="287">
                  <c:v>2.64725750394652</c:v>
                </c:pt>
                <c:pt idx="288">
                  <c:v>2.64419450271845</c:v>
                </c:pt>
                <c:pt idx="289">
                  <c:v>2.64137525607538</c:v>
                </c:pt>
                <c:pt idx="290">
                  <c:v>2.63880008746027</c:v>
                </c:pt>
                <c:pt idx="291">
                  <c:v>2.63646929131027</c:v>
                </c:pt>
                <c:pt idx="292">
                  <c:v>2.63438313328581</c:v>
                </c:pt>
                <c:pt idx="293">
                  <c:v>2.63254185048314</c:v>
                </c:pt>
                <c:pt idx="294">
                  <c:v>2.63094565162859</c:v>
                </c:pt>
                <c:pt idx="295">
                  <c:v>2.62959471725337</c:v>
                </c:pt>
                <c:pt idx="296">
                  <c:v>2.62848919984752</c:v>
                </c:pt>
                <c:pt idx="297">
                  <c:v>2.6276292239921</c:v>
                </c:pt>
                <c:pt idx="298">
                  <c:v>2.6270148864686</c:v>
                </c:pt>
                <c:pt idx="299">
                  <c:v>2.62664625634477</c:v>
                </c:pt>
                <c:pt idx="300">
                  <c:v>2.62652337503645</c:v>
                </c:pt>
                <c:pt idx="301">
                  <c:v>2.62664625634477</c:v>
                </c:pt>
                <c:pt idx="302">
                  <c:v>2.6270148864686</c:v>
                </c:pt>
                <c:pt idx="303">
                  <c:v>2.6276292239921</c:v>
                </c:pt>
                <c:pt idx="304">
                  <c:v>2.62848919984752</c:v>
                </c:pt>
                <c:pt idx="305">
                  <c:v>2.62959471725337</c:v>
                </c:pt>
                <c:pt idx="306">
                  <c:v>2.63094565162859</c:v>
                </c:pt>
                <c:pt idx="307">
                  <c:v>2.63254185048314</c:v>
                </c:pt>
                <c:pt idx="308">
                  <c:v>2.63438313328581</c:v>
                </c:pt>
                <c:pt idx="309">
                  <c:v>2.63646929131027</c:v>
                </c:pt>
                <c:pt idx="310">
                  <c:v>2.63880008746027</c:v>
                </c:pt>
                <c:pt idx="311">
                  <c:v>2.64137525607538</c:v>
                </c:pt>
                <c:pt idx="312">
                  <c:v>2.64419450271845</c:v>
                </c:pt>
                <c:pt idx="313">
                  <c:v>2.64725750394652</c:v>
                </c:pt>
                <c:pt idx="314">
                  <c:v>2.65056390706659</c:v>
                </c:pt>
                <c:pt idx="315">
                  <c:v>2.65411332987817</c:v>
                </c:pt>
                <c:pt idx="316">
                  <c:v>2.65790536040434</c:v>
                </c:pt>
                <c:pt idx="317">
                  <c:v>2.6619395566134</c:v>
                </c:pt>
                <c:pt idx="318">
                  <c:v>2.6662154461331</c:v>
                </c:pt>
                <c:pt idx="319">
                  <c:v>2.67073252595949</c:v>
                </c:pt>
                <c:pt idx="320">
                  <c:v>2.67549026216286</c:v>
                </c:pt>
                <c:pt idx="321">
                  <c:v>2.68048808959266</c:v>
                </c:pt>
                <c:pt idx="322">
                  <c:v>2.68572541158403</c:v>
                </c:pt>
                <c:pt idx="323">
                  <c:v>2.69120159966808</c:v>
                </c:pt>
                <c:pt idx="324">
                  <c:v>2.69691599328829</c:v>
                </c:pt>
                <c:pt idx="325">
                  <c:v>2.7028678995255</c:v>
                </c:pt>
                <c:pt idx="326">
                  <c:v>2.70905659283371</c:v>
                </c:pt>
                <c:pt idx="327">
                  <c:v>2.71548131478914</c:v>
                </c:pt>
                <c:pt idx="328">
                  <c:v>2.72214127385479</c:v>
                </c:pt>
                <c:pt idx="329">
                  <c:v>2.72903564516282</c:v>
                </c:pt>
                <c:pt idx="330">
                  <c:v>2.73616357031693</c:v>
                </c:pt>
                <c:pt idx="331">
                  <c:v>2.74352415721695</c:v>
                </c:pt>
                <c:pt idx="332">
                  <c:v>2.75111647990767</c:v>
                </c:pt>
                <c:pt idx="333">
                  <c:v>2.75893957845396</c:v>
                </c:pt>
                <c:pt idx="334">
                  <c:v>2.76699245884404</c:v>
                </c:pt>
                <c:pt idx="335">
                  <c:v>2.77527409292277</c:v>
                </c:pt>
                <c:pt idx="336">
                  <c:v>2.78378341835653</c:v>
                </c:pt>
                <c:pt idx="337">
                  <c:v>2.79251933863143</c:v>
                </c:pt>
                <c:pt idx="338">
                  <c:v>2.80148072308615</c:v>
                </c:pt>
                <c:pt idx="339">
                  <c:v>2.8106664069808</c:v>
                </c:pt>
                <c:pt idx="340">
                  <c:v>2.82007519160292</c:v>
                </c:pt>
                <c:pt idx="341">
                  <c:v>2.82970584441172</c:v>
                </c:pt>
                <c:pt idx="342">
                  <c:v>2.83955709922135</c:v>
                </c:pt>
                <c:pt idx="343">
                  <c:v>2.849627656424</c:v>
                </c:pt>
                <c:pt idx="344">
                  <c:v>2.85991618325333</c:v>
                </c:pt>
                <c:pt idx="345">
                  <c:v>2.87042131408874</c:v>
                </c:pt>
                <c:pt idx="346">
                  <c:v>2.88114165080064</c:v>
                </c:pt>
                <c:pt idx="347">
                  <c:v>2.89207576313689</c:v>
                </c:pt>
                <c:pt idx="348">
                  <c:v>2.90322218915029</c:v>
                </c:pt>
                <c:pt idx="349">
                  <c:v>2.91457943566703</c:v>
                </c:pt>
                <c:pt idx="350">
                  <c:v>2.92614597879559</c:v>
                </c:pt>
                <c:pt idx="351">
                  <c:v>2.93792026447567</c:v>
                </c:pt>
                <c:pt idx="352">
                  <c:v>2.94990070906649</c:v>
                </c:pt>
                <c:pt idx="353">
                  <c:v>2.96208569997365</c:v>
                </c:pt>
                <c:pt idx="354">
                  <c:v>2.97447359631362</c:v>
                </c:pt>
                <c:pt idx="355">
                  <c:v>2.98706272961478</c:v>
                </c:pt>
                <c:pt idx="356">
                  <c:v>2.9998514045539</c:v>
                </c:pt>
                <c:pt idx="357">
                  <c:v>3.01283789972669</c:v>
                </c:pt>
                <c:pt idx="358">
                  <c:v>3.02602046845101</c:v>
                </c:pt>
                <c:pt idx="359">
                  <c:v>3.03939733960131</c:v>
                </c:pt>
                <c:pt idx="360">
                  <c:v>3.05296671847266</c:v>
                </c:pt>
              </c:numCache>
            </c:numRef>
          </c:yVal>
          <c:smooth val="1"/>
          <c:extLst>
            <c:ext xmlns:c16="http://schemas.microsoft.com/office/drawing/2014/chart" uri="{C3380CC4-5D6E-409C-BE32-E72D297353CC}">
              <c16:uniqueId val="{00000000-42E0-4640-974D-4FE0A3EF3280}"/>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0.626523375036446</c:v>
                </c:pt>
              </c:numCache>
            </c:numRef>
          </c:yVal>
          <c:smooth val="1"/>
          <c:extLst>
            <c:ext xmlns:c16="http://schemas.microsoft.com/office/drawing/2014/chart" uri="{C3380CC4-5D6E-409C-BE32-E72D297353CC}">
              <c16:uniqueId val="{00000001-42E0-4640-974D-4FE0A3EF3280}"/>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2.62652337503645</c:v>
                </c:pt>
              </c:numCache>
            </c:numRef>
          </c:yVal>
          <c:smooth val="1"/>
          <c:extLst>
            <c:ext xmlns:c16="http://schemas.microsoft.com/office/drawing/2014/chart" uri="{C3380CC4-5D6E-409C-BE32-E72D297353CC}">
              <c16:uniqueId val="{00000002-42E0-4640-974D-4FE0A3EF3280}"/>
            </c:ext>
          </c:extLst>
        </c:ser>
        <c:dLbls>
          <c:showLegendKey val="0"/>
          <c:showVal val="0"/>
          <c:showCatName val="0"/>
          <c:showSerName val="0"/>
          <c:showPercent val="0"/>
          <c:showBubbleSize val="0"/>
        </c:dLbls>
        <c:axId val="48650112"/>
        <c:axId val="48672768"/>
      </c:scatterChart>
      <c:valAx>
        <c:axId val="48672768"/>
        <c:scaling>
          <c:orientation val="minMax"/>
          <c:max val="4"/>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Logistic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1"/>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Squared loss</c:v>
          </c:tx>
          <c:spPr>
            <a:ln w="30480">
              <a:solidFill>
                <a:srgbClr val="087F83"/>
              </a:solidFill>
            </a:ln>
          </c:spPr>
          <c:marker>
            <c:symbol val="none"/>
          </c:marker>
          <c:xVal>
            <c:numRef>
              <c:f>'Chart Data'!$A$2:$A$362</c:f>
              <c:numCache>
                <c:formatCode>General</c:formatCode>
                <c:ptCount val="361"/>
                <c:pt idx="0">
                  <c:v>-4.5</c:v>
                </c:pt>
                <c:pt idx="1">
                  <c:v>-4.475</c:v>
                </c:pt>
                <c:pt idx="2">
                  <c:v>-4.45</c:v>
                </c:pt>
                <c:pt idx="3">
                  <c:v>-4.425</c:v>
                </c:pt>
                <c:pt idx="4">
                  <c:v>-4.4</c:v>
                </c:pt>
                <c:pt idx="5">
                  <c:v>-4.375</c:v>
                </c:pt>
                <c:pt idx="6">
                  <c:v>-4.35</c:v>
                </c:pt>
                <c:pt idx="7">
                  <c:v>-4.325</c:v>
                </c:pt>
                <c:pt idx="8">
                  <c:v>-4.3</c:v>
                </c:pt>
                <c:pt idx="9">
                  <c:v>-4.275</c:v>
                </c:pt>
                <c:pt idx="10">
                  <c:v>-4.25</c:v>
                </c:pt>
                <c:pt idx="11">
                  <c:v>-4.225</c:v>
                </c:pt>
                <c:pt idx="12">
                  <c:v>-4.2</c:v>
                </c:pt>
                <c:pt idx="13">
                  <c:v>-4.175</c:v>
                </c:pt>
                <c:pt idx="14">
                  <c:v>-4.15</c:v>
                </c:pt>
                <c:pt idx="15">
                  <c:v>-4.125</c:v>
                </c:pt>
                <c:pt idx="16">
                  <c:v>-4.1</c:v>
                </c:pt>
                <c:pt idx="17">
                  <c:v>-4.075</c:v>
                </c:pt>
                <c:pt idx="18">
                  <c:v>-4.05</c:v>
                </c:pt>
                <c:pt idx="19">
                  <c:v>-4.025</c:v>
                </c:pt>
                <c:pt idx="20">
                  <c:v>-4</c:v>
                </c:pt>
                <c:pt idx="21">
                  <c:v>-3.975</c:v>
                </c:pt>
                <c:pt idx="22">
                  <c:v>-3.95</c:v>
                </c:pt>
                <c:pt idx="23">
                  <c:v>-3.925</c:v>
                </c:pt>
                <c:pt idx="24">
                  <c:v>-3.9</c:v>
                </c:pt>
                <c:pt idx="25">
                  <c:v>-3.875</c:v>
                </c:pt>
                <c:pt idx="26">
                  <c:v>-3.85</c:v>
                </c:pt>
                <c:pt idx="27">
                  <c:v>-3.825</c:v>
                </c:pt>
                <c:pt idx="28">
                  <c:v>-3.8</c:v>
                </c:pt>
                <c:pt idx="29">
                  <c:v>-3.775</c:v>
                </c:pt>
                <c:pt idx="30">
                  <c:v>-3.75</c:v>
                </c:pt>
                <c:pt idx="31">
                  <c:v>-3.725</c:v>
                </c:pt>
                <c:pt idx="32">
                  <c:v>-3.7</c:v>
                </c:pt>
                <c:pt idx="33">
                  <c:v>-3.675</c:v>
                </c:pt>
                <c:pt idx="34">
                  <c:v>-3.65</c:v>
                </c:pt>
                <c:pt idx="35">
                  <c:v>-3.625</c:v>
                </c:pt>
                <c:pt idx="36">
                  <c:v>-3.6</c:v>
                </c:pt>
                <c:pt idx="37">
                  <c:v>-3.575</c:v>
                </c:pt>
                <c:pt idx="38">
                  <c:v>-3.55</c:v>
                </c:pt>
                <c:pt idx="39">
                  <c:v>-3.525</c:v>
                </c:pt>
                <c:pt idx="40">
                  <c:v>-3.5</c:v>
                </c:pt>
                <c:pt idx="41">
                  <c:v>-3.475</c:v>
                </c:pt>
                <c:pt idx="42">
                  <c:v>-3.45</c:v>
                </c:pt>
                <c:pt idx="43">
                  <c:v>-3.425</c:v>
                </c:pt>
                <c:pt idx="44">
                  <c:v>-3.4</c:v>
                </c:pt>
                <c:pt idx="45">
                  <c:v>-3.375</c:v>
                </c:pt>
                <c:pt idx="46">
                  <c:v>-3.35</c:v>
                </c:pt>
                <c:pt idx="47">
                  <c:v>-3.325</c:v>
                </c:pt>
                <c:pt idx="48">
                  <c:v>-3.3</c:v>
                </c:pt>
                <c:pt idx="49">
                  <c:v>-3.275</c:v>
                </c:pt>
                <c:pt idx="50">
                  <c:v>-3.25</c:v>
                </c:pt>
                <c:pt idx="51">
                  <c:v>-3.225</c:v>
                </c:pt>
                <c:pt idx="52">
                  <c:v>-3.2</c:v>
                </c:pt>
                <c:pt idx="53">
                  <c:v>-3.175</c:v>
                </c:pt>
                <c:pt idx="54">
                  <c:v>-3.15</c:v>
                </c:pt>
                <c:pt idx="55">
                  <c:v>-3.125</c:v>
                </c:pt>
                <c:pt idx="56">
                  <c:v>-3.1</c:v>
                </c:pt>
                <c:pt idx="57">
                  <c:v>-3.075</c:v>
                </c:pt>
                <c:pt idx="58">
                  <c:v>-3.05</c:v>
                </c:pt>
                <c:pt idx="59">
                  <c:v>-3.025</c:v>
                </c:pt>
                <c:pt idx="60">
                  <c:v>-3</c:v>
                </c:pt>
                <c:pt idx="61">
                  <c:v>-2.975</c:v>
                </c:pt>
                <c:pt idx="62">
                  <c:v>-2.95</c:v>
                </c:pt>
                <c:pt idx="63">
                  <c:v>-2.925</c:v>
                </c:pt>
                <c:pt idx="64">
                  <c:v>-2.9</c:v>
                </c:pt>
                <c:pt idx="65">
                  <c:v>-2.875</c:v>
                </c:pt>
                <c:pt idx="66">
                  <c:v>-2.85</c:v>
                </c:pt>
                <c:pt idx="67">
                  <c:v>-2.825</c:v>
                </c:pt>
                <c:pt idx="68">
                  <c:v>-2.8</c:v>
                </c:pt>
                <c:pt idx="69">
                  <c:v>-2.775</c:v>
                </c:pt>
                <c:pt idx="70">
                  <c:v>-2.75</c:v>
                </c:pt>
                <c:pt idx="71">
                  <c:v>-2.725</c:v>
                </c:pt>
                <c:pt idx="72">
                  <c:v>-2.7</c:v>
                </c:pt>
                <c:pt idx="73">
                  <c:v>-2.675</c:v>
                </c:pt>
                <c:pt idx="74">
                  <c:v>-2.65</c:v>
                </c:pt>
                <c:pt idx="75">
                  <c:v>-2.625</c:v>
                </c:pt>
                <c:pt idx="76">
                  <c:v>-2.6</c:v>
                </c:pt>
                <c:pt idx="77">
                  <c:v>-2.575</c:v>
                </c:pt>
                <c:pt idx="78">
                  <c:v>-2.55</c:v>
                </c:pt>
                <c:pt idx="79">
                  <c:v>-2.525</c:v>
                </c:pt>
                <c:pt idx="80">
                  <c:v>-2.5</c:v>
                </c:pt>
                <c:pt idx="81">
                  <c:v>-2.475</c:v>
                </c:pt>
                <c:pt idx="82">
                  <c:v>-2.45</c:v>
                </c:pt>
                <c:pt idx="83">
                  <c:v>-2.425</c:v>
                </c:pt>
                <c:pt idx="84">
                  <c:v>-2.4</c:v>
                </c:pt>
                <c:pt idx="85">
                  <c:v>-2.375</c:v>
                </c:pt>
                <c:pt idx="86">
                  <c:v>-2.35</c:v>
                </c:pt>
                <c:pt idx="87">
                  <c:v>-2.325</c:v>
                </c:pt>
                <c:pt idx="88">
                  <c:v>-2.3</c:v>
                </c:pt>
                <c:pt idx="89">
                  <c:v>-2.275</c:v>
                </c:pt>
                <c:pt idx="90">
                  <c:v>-2.25</c:v>
                </c:pt>
                <c:pt idx="91">
                  <c:v>-2.225</c:v>
                </c:pt>
                <c:pt idx="92">
                  <c:v>-2.2</c:v>
                </c:pt>
                <c:pt idx="93">
                  <c:v>-2.175</c:v>
                </c:pt>
                <c:pt idx="94">
                  <c:v>-2.15</c:v>
                </c:pt>
                <c:pt idx="95">
                  <c:v>-2.125</c:v>
                </c:pt>
                <c:pt idx="96">
                  <c:v>-2.1</c:v>
                </c:pt>
                <c:pt idx="97">
                  <c:v>-2.075</c:v>
                </c:pt>
                <c:pt idx="98">
                  <c:v>-2.05</c:v>
                </c:pt>
                <c:pt idx="99">
                  <c:v>-2.025</c:v>
                </c:pt>
                <c:pt idx="100">
                  <c:v>-2</c:v>
                </c:pt>
                <c:pt idx="101">
                  <c:v>-1.975</c:v>
                </c:pt>
                <c:pt idx="102">
                  <c:v>-1.95</c:v>
                </c:pt>
                <c:pt idx="103">
                  <c:v>-1.925</c:v>
                </c:pt>
                <c:pt idx="104">
                  <c:v>-1.9</c:v>
                </c:pt>
                <c:pt idx="105">
                  <c:v>-1.875</c:v>
                </c:pt>
                <c:pt idx="106">
                  <c:v>-1.85</c:v>
                </c:pt>
                <c:pt idx="107">
                  <c:v>-1.825</c:v>
                </c:pt>
                <c:pt idx="108">
                  <c:v>-1.8</c:v>
                </c:pt>
                <c:pt idx="109">
                  <c:v>-1.775</c:v>
                </c:pt>
                <c:pt idx="110">
                  <c:v>-1.75</c:v>
                </c:pt>
                <c:pt idx="111">
                  <c:v>-1.725</c:v>
                </c:pt>
                <c:pt idx="112">
                  <c:v>-1.7</c:v>
                </c:pt>
                <c:pt idx="113">
                  <c:v>-1.675</c:v>
                </c:pt>
                <c:pt idx="114">
                  <c:v>-1.65</c:v>
                </c:pt>
                <c:pt idx="115">
                  <c:v>-1.625</c:v>
                </c:pt>
                <c:pt idx="116">
                  <c:v>-1.6</c:v>
                </c:pt>
                <c:pt idx="117">
                  <c:v>-1.575</c:v>
                </c:pt>
                <c:pt idx="118">
                  <c:v>-1.55</c:v>
                </c:pt>
                <c:pt idx="119">
                  <c:v>-1.525</c:v>
                </c:pt>
                <c:pt idx="120">
                  <c:v>-1.5</c:v>
                </c:pt>
                <c:pt idx="121">
                  <c:v>-1.475</c:v>
                </c:pt>
                <c:pt idx="122">
                  <c:v>-1.45</c:v>
                </c:pt>
                <c:pt idx="123">
                  <c:v>-1.425</c:v>
                </c:pt>
                <c:pt idx="124">
                  <c:v>-1.4</c:v>
                </c:pt>
                <c:pt idx="125">
                  <c:v>-1.375</c:v>
                </c:pt>
                <c:pt idx="126">
                  <c:v>-1.35</c:v>
                </c:pt>
                <c:pt idx="127">
                  <c:v>-1.325</c:v>
                </c:pt>
                <c:pt idx="128">
                  <c:v>-1.3</c:v>
                </c:pt>
                <c:pt idx="129">
                  <c:v>-1.275</c:v>
                </c:pt>
                <c:pt idx="130">
                  <c:v>-1.25</c:v>
                </c:pt>
                <c:pt idx="131">
                  <c:v>-1.225</c:v>
                </c:pt>
                <c:pt idx="132">
                  <c:v>-1.2</c:v>
                </c:pt>
                <c:pt idx="133">
                  <c:v>-1.175</c:v>
                </c:pt>
                <c:pt idx="134">
                  <c:v>-1.15</c:v>
                </c:pt>
                <c:pt idx="135">
                  <c:v>-1.125</c:v>
                </c:pt>
                <c:pt idx="136">
                  <c:v>-1.1</c:v>
                </c:pt>
                <c:pt idx="137">
                  <c:v>-1.075</c:v>
                </c:pt>
                <c:pt idx="138">
                  <c:v>-1.05</c:v>
                </c:pt>
                <c:pt idx="139">
                  <c:v>-1.025</c:v>
                </c:pt>
                <c:pt idx="140">
                  <c:v>-1</c:v>
                </c:pt>
                <c:pt idx="141">
                  <c:v>-0.975</c:v>
                </c:pt>
                <c:pt idx="142">
                  <c:v>-0.95</c:v>
                </c:pt>
                <c:pt idx="143">
                  <c:v>-0.925</c:v>
                </c:pt>
                <c:pt idx="144">
                  <c:v>-0.9</c:v>
                </c:pt>
                <c:pt idx="145">
                  <c:v>-0.875</c:v>
                </c:pt>
                <c:pt idx="146">
                  <c:v>-0.85</c:v>
                </c:pt>
                <c:pt idx="147">
                  <c:v>-0.825</c:v>
                </c:pt>
                <c:pt idx="148">
                  <c:v>-0.8</c:v>
                </c:pt>
                <c:pt idx="149">
                  <c:v>-0.775</c:v>
                </c:pt>
                <c:pt idx="150">
                  <c:v>-0.75</c:v>
                </c:pt>
                <c:pt idx="151">
                  <c:v>-0.725</c:v>
                </c:pt>
                <c:pt idx="152">
                  <c:v>-0.7</c:v>
                </c:pt>
                <c:pt idx="153">
                  <c:v>-0.675</c:v>
                </c:pt>
                <c:pt idx="154">
                  <c:v>-0.65</c:v>
                </c:pt>
                <c:pt idx="155">
                  <c:v>-0.625</c:v>
                </c:pt>
                <c:pt idx="156">
                  <c:v>-0.6</c:v>
                </c:pt>
                <c:pt idx="157">
                  <c:v>-0.575</c:v>
                </c:pt>
                <c:pt idx="158">
                  <c:v>-0.55</c:v>
                </c:pt>
                <c:pt idx="159">
                  <c:v>-0.525</c:v>
                </c:pt>
                <c:pt idx="160">
                  <c:v>-0.5</c:v>
                </c:pt>
                <c:pt idx="161">
                  <c:v>-0.475</c:v>
                </c:pt>
                <c:pt idx="162">
                  <c:v>-0.45</c:v>
                </c:pt>
                <c:pt idx="163">
                  <c:v>-0.425</c:v>
                </c:pt>
                <c:pt idx="164">
                  <c:v>-0.4</c:v>
                </c:pt>
                <c:pt idx="165">
                  <c:v>-0.375</c:v>
                </c:pt>
                <c:pt idx="166">
                  <c:v>-0.35</c:v>
                </c:pt>
                <c:pt idx="167">
                  <c:v>-0.325</c:v>
                </c:pt>
                <c:pt idx="168">
                  <c:v>-0.3</c:v>
                </c:pt>
                <c:pt idx="169">
                  <c:v>-0.275</c:v>
                </c:pt>
                <c:pt idx="170">
                  <c:v>-0.25</c:v>
                </c:pt>
                <c:pt idx="171">
                  <c:v>-0.225</c:v>
                </c:pt>
                <c:pt idx="172">
                  <c:v>-0.2</c:v>
                </c:pt>
                <c:pt idx="173">
                  <c:v>-0.175</c:v>
                </c:pt>
                <c:pt idx="174">
                  <c:v>-0.15</c:v>
                </c:pt>
                <c:pt idx="175">
                  <c:v>-0.125</c:v>
                </c:pt>
                <c:pt idx="176">
                  <c:v>-0.1</c:v>
                </c:pt>
                <c:pt idx="177">
                  <c:v>-0.075</c:v>
                </c:pt>
                <c:pt idx="178">
                  <c:v>-0.05</c:v>
                </c:pt>
                <c:pt idx="179">
                  <c:v>-0.025</c:v>
                </c:pt>
                <c:pt idx="180">
                  <c:v>0</c:v>
                </c:pt>
                <c:pt idx="181">
                  <c:v>0.025</c:v>
                </c:pt>
                <c:pt idx="182">
                  <c:v>0.05</c:v>
                </c:pt>
                <c:pt idx="183">
                  <c:v>0.075</c:v>
                </c:pt>
                <c:pt idx="184">
                  <c:v>0.1</c:v>
                </c:pt>
                <c:pt idx="185">
                  <c:v>0.125</c:v>
                </c:pt>
                <c:pt idx="186">
                  <c:v>0.15</c:v>
                </c:pt>
                <c:pt idx="187">
                  <c:v>0.175</c:v>
                </c:pt>
                <c:pt idx="188">
                  <c:v>0.2</c:v>
                </c:pt>
                <c:pt idx="189">
                  <c:v>0.225</c:v>
                </c:pt>
                <c:pt idx="190">
                  <c:v>0.25</c:v>
                </c:pt>
                <c:pt idx="191">
                  <c:v>0.275</c:v>
                </c:pt>
                <c:pt idx="192">
                  <c:v>0.3</c:v>
                </c:pt>
                <c:pt idx="193">
                  <c:v>0.325</c:v>
                </c:pt>
                <c:pt idx="194">
                  <c:v>0.35</c:v>
                </c:pt>
                <c:pt idx="195">
                  <c:v>0.375</c:v>
                </c:pt>
                <c:pt idx="196">
                  <c:v>0.4</c:v>
                </c:pt>
                <c:pt idx="197">
                  <c:v>0.425</c:v>
                </c:pt>
                <c:pt idx="198">
                  <c:v>0.45</c:v>
                </c:pt>
                <c:pt idx="199">
                  <c:v>0.475</c:v>
                </c:pt>
                <c:pt idx="200">
                  <c:v>0.5</c:v>
                </c:pt>
                <c:pt idx="201">
                  <c:v>0.525</c:v>
                </c:pt>
                <c:pt idx="202">
                  <c:v>0.55</c:v>
                </c:pt>
                <c:pt idx="203">
                  <c:v>0.575</c:v>
                </c:pt>
                <c:pt idx="204">
                  <c:v>0.6</c:v>
                </c:pt>
                <c:pt idx="205">
                  <c:v>0.625</c:v>
                </c:pt>
                <c:pt idx="206">
                  <c:v>0.65</c:v>
                </c:pt>
                <c:pt idx="207">
                  <c:v>0.675</c:v>
                </c:pt>
                <c:pt idx="208">
                  <c:v>0.7</c:v>
                </c:pt>
                <c:pt idx="209">
                  <c:v>0.725</c:v>
                </c:pt>
                <c:pt idx="210">
                  <c:v>0.75</c:v>
                </c:pt>
                <c:pt idx="211">
                  <c:v>0.775</c:v>
                </c:pt>
                <c:pt idx="212">
                  <c:v>0.8</c:v>
                </c:pt>
                <c:pt idx="213">
                  <c:v>0.825</c:v>
                </c:pt>
                <c:pt idx="214">
                  <c:v>0.85</c:v>
                </c:pt>
                <c:pt idx="215">
                  <c:v>0.875</c:v>
                </c:pt>
                <c:pt idx="216">
                  <c:v>0.9</c:v>
                </c:pt>
                <c:pt idx="217">
                  <c:v>0.925</c:v>
                </c:pt>
                <c:pt idx="218">
                  <c:v>0.95</c:v>
                </c:pt>
                <c:pt idx="219">
                  <c:v>0.975</c:v>
                </c:pt>
                <c:pt idx="220">
                  <c:v>1</c:v>
                </c:pt>
                <c:pt idx="221">
                  <c:v>1.025</c:v>
                </c:pt>
                <c:pt idx="222">
                  <c:v>1.05</c:v>
                </c:pt>
                <c:pt idx="223">
                  <c:v>1.075</c:v>
                </c:pt>
                <c:pt idx="224">
                  <c:v>1.1</c:v>
                </c:pt>
                <c:pt idx="225">
                  <c:v>1.125</c:v>
                </c:pt>
                <c:pt idx="226">
                  <c:v>1.15</c:v>
                </c:pt>
                <c:pt idx="227">
                  <c:v>1.175</c:v>
                </c:pt>
                <c:pt idx="228">
                  <c:v>1.2</c:v>
                </c:pt>
                <c:pt idx="229">
                  <c:v>1.225</c:v>
                </c:pt>
                <c:pt idx="230">
                  <c:v>1.25</c:v>
                </c:pt>
                <c:pt idx="231">
                  <c:v>1.275</c:v>
                </c:pt>
                <c:pt idx="232">
                  <c:v>1.3</c:v>
                </c:pt>
                <c:pt idx="233">
                  <c:v>1.325</c:v>
                </c:pt>
                <c:pt idx="234">
                  <c:v>1.35</c:v>
                </c:pt>
                <c:pt idx="235">
                  <c:v>1.375</c:v>
                </c:pt>
                <c:pt idx="236">
                  <c:v>1.4</c:v>
                </c:pt>
                <c:pt idx="237">
                  <c:v>1.425</c:v>
                </c:pt>
                <c:pt idx="238">
                  <c:v>1.45</c:v>
                </c:pt>
                <c:pt idx="239">
                  <c:v>1.475</c:v>
                </c:pt>
                <c:pt idx="240">
                  <c:v>1.5</c:v>
                </c:pt>
                <c:pt idx="241">
                  <c:v>1.525</c:v>
                </c:pt>
                <c:pt idx="242">
                  <c:v>1.55</c:v>
                </c:pt>
                <c:pt idx="243">
                  <c:v>1.575</c:v>
                </c:pt>
                <c:pt idx="244">
                  <c:v>1.6</c:v>
                </c:pt>
                <c:pt idx="245">
                  <c:v>1.625</c:v>
                </c:pt>
                <c:pt idx="246">
                  <c:v>1.65</c:v>
                </c:pt>
                <c:pt idx="247">
                  <c:v>1.675</c:v>
                </c:pt>
                <c:pt idx="248">
                  <c:v>1.7</c:v>
                </c:pt>
                <c:pt idx="249">
                  <c:v>1.725</c:v>
                </c:pt>
                <c:pt idx="250">
                  <c:v>1.75</c:v>
                </c:pt>
                <c:pt idx="251">
                  <c:v>1.775</c:v>
                </c:pt>
                <c:pt idx="252">
                  <c:v>1.8</c:v>
                </c:pt>
                <c:pt idx="253">
                  <c:v>1.825</c:v>
                </c:pt>
                <c:pt idx="254">
                  <c:v>1.85</c:v>
                </c:pt>
                <c:pt idx="255">
                  <c:v>1.875</c:v>
                </c:pt>
                <c:pt idx="256">
                  <c:v>1.9</c:v>
                </c:pt>
                <c:pt idx="257">
                  <c:v>1.925</c:v>
                </c:pt>
                <c:pt idx="258">
                  <c:v>1.95</c:v>
                </c:pt>
                <c:pt idx="259">
                  <c:v>1.975</c:v>
                </c:pt>
                <c:pt idx="260">
                  <c:v>2</c:v>
                </c:pt>
                <c:pt idx="261">
                  <c:v>2.025</c:v>
                </c:pt>
                <c:pt idx="262">
                  <c:v>2.05</c:v>
                </c:pt>
                <c:pt idx="263">
                  <c:v>2.075</c:v>
                </c:pt>
                <c:pt idx="264">
                  <c:v>2.1</c:v>
                </c:pt>
                <c:pt idx="265">
                  <c:v>2.125</c:v>
                </c:pt>
                <c:pt idx="266">
                  <c:v>2.15</c:v>
                </c:pt>
                <c:pt idx="267">
                  <c:v>2.175</c:v>
                </c:pt>
                <c:pt idx="268">
                  <c:v>2.2</c:v>
                </c:pt>
                <c:pt idx="269">
                  <c:v>2.225</c:v>
                </c:pt>
                <c:pt idx="270">
                  <c:v>2.25</c:v>
                </c:pt>
                <c:pt idx="271">
                  <c:v>2.275</c:v>
                </c:pt>
                <c:pt idx="272">
                  <c:v>2.3</c:v>
                </c:pt>
                <c:pt idx="273">
                  <c:v>2.325</c:v>
                </c:pt>
                <c:pt idx="274">
                  <c:v>2.35</c:v>
                </c:pt>
                <c:pt idx="275">
                  <c:v>2.375</c:v>
                </c:pt>
                <c:pt idx="276">
                  <c:v>2.4</c:v>
                </c:pt>
                <c:pt idx="277">
                  <c:v>2.425</c:v>
                </c:pt>
                <c:pt idx="278">
                  <c:v>2.45</c:v>
                </c:pt>
                <c:pt idx="279">
                  <c:v>2.475</c:v>
                </c:pt>
                <c:pt idx="280">
                  <c:v>2.5</c:v>
                </c:pt>
                <c:pt idx="281">
                  <c:v>2.525</c:v>
                </c:pt>
                <c:pt idx="282">
                  <c:v>2.55</c:v>
                </c:pt>
                <c:pt idx="283">
                  <c:v>2.575</c:v>
                </c:pt>
                <c:pt idx="284">
                  <c:v>2.6</c:v>
                </c:pt>
                <c:pt idx="285">
                  <c:v>2.625</c:v>
                </c:pt>
                <c:pt idx="286">
                  <c:v>2.65</c:v>
                </c:pt>
                <c:pt idx="287">
                  <c:v>2.675</c:v>
                </c:pt>
                <c:pt idx="288">
                  <c:v>2.7</c:v>
                </c:pt>
                <c:pt idx="289">
                  <c:v>2.725</c:v>
                </c:pt>
                <c:pt idx="290">
                  <c:v>2.75</c:v>
                </c:pt>
                <c:pt idx="291">
                  <c:v>2.775</c:v>
                </c:pt>
                <c:pt idx="292">
                  <c:v>2.8</c:v>
                </c:pt>
                <c:pt idx="293">
                  <c:v>2.825</c:v>
                </c:pt>
                <c:pt idx="294">
                  <c:v>2.85</c:v>
                </c:pt>
                <c:pt idx="295">
                  <c:v>2.875</c:v>
                </c:pt>
                <c:pt idx="296">
                  <c:v>2.9</c:v>
                </c:pt>
                <c:pt idx="297">
                  <c:v>2.925</c:v>
                </c:pt>
                <c:pt idx="298">
                  <c:v>2.95</c:v>
                </c:pt>
                <c:pt idx="299">
                  <c:v>2.975</c:v>
                </c:pt>
                <c:pt idx="300">
                  <c:v>3</c:v>
                </c:pt>
                <c:pt idx="301">
                  <c:v>3.025</c:v>
                </c:pt>
                <c:pt idx="302">
                  <c:v>3.05</c:v>
                </c:pt>
                <c:pt idx="303">
                  <c:v>3.075</c:v>
                </c:pt>
                <c:pt idx="304">
                  <c:v>3.1</c:v>
                </c:pt>
                <c:pt idx="305">
                  <c:v>3.125</c:v>
                </c:pt>
                <c:pt idx="306">
                  <c:v>3.15</c:v>
                </c:pt>
                <c:pt idx="307">
                  <c:v>3.175</c:v>
                </c:pt>
                <c:pt idx="308">
                  <c:v>3.2</c:v>
                </c:pt>
                <c:pt idx="309">
                  <c:v>3.225</c:v>
                </c:pt>
                <c:pt idx="310">
                  <c:v>3.25</c:v>
                </c:pt>
                <c:pt idx="311">
                  <c:v>3.275</c:v>
                </c:pt>
                <c:pt idx="312">
                  <c:v>3.3</c:v>
                </c:pt>
                <c:pt idx="313">
                  <c:v>3.325</c:v>
                </c:pt>
                <c:pt idx="314">
                  <c:v>3.35</c:v>
                </c:pt>
                <c:pt idx="315">
                  <c:v>3.375</c:v>
                </c:pt>
                <c:pt idx="316">
                  <c:v>3.4</c:v>
                </c:pt>
                <c:pt idx="317">
                  <c:v>3.425</c:v>
                </c:pt>
                <c:pt idx="318">
                  <c:v>3.45</c:v>
                </c:pt>
                <c:pt idx="319">
                  <c:v>3.475</c:v>
                </c:pt>
                <c:pt idx="320">
                  <c:v>3.5</c:v>
                </c:pt>
                <c:pt idx="321">
                  <c:v>3.525</c:v>
                </c:pt>
                <c:pt idx="322">
                  <c:v>3.55</c:v>
                </c:pt>
                <c:pt idx="323">
                  <c:v>3.575</c:v>
                </c:pt>
                <c:pt idx="324">
                  <c:v>3.6</c:v>
                </c:pt>
                <c:pt idx="325">
                  <c:v>3.625</c:v>
                </c:pt>
                <c:pt idx="326">
                  <c:v>3.65</c:v>
                </c:pt>
                <c:pt idx="327">
                  <c:v>3.675</c:v>
                </c:pt>
                <c:pt idx="328">
                  <c:v>3.7</c:v>
                </c:pt>
                <c:pt idx="329">
                  <c:v>3.725</c:v>
                </c:pt>
                <c:pt idx="330">
                  <c:v>3.75</c:v>
                </c:pt>
                <c:pt idx="331">
                  <c:v>3.775</c:v>
                </c:pt>
                <c:pt idx="332">
                  <c:v>3.8</c:v>
                </c:pt>
                <c:pt idx="333">
                  <c:v>3.825</c:v>
                </c:pt>
                <c:pt idx="334">
                  <c:v>3.85</c:v>
                </c:pt>
                <c:pt idx="335">
                  <c:v>3.875</c:v>
                </c:pt>
                <c:pt idx="336">
                  <c:v>3.9</c:v>
                </c:pt>
                <c:pt idx="337">
                  <c:v>3.925</c:v>
                </c:pt>
                <c:pt idx="338">
                  <c:v>3.95</c:v>
                </c:pt>
                <c:pt idx="339">
                  <c:v>3.975</c:v>
                </c:pt>
                <c:pt idx="340">
                  <c:v>4</c:v>
                </c:pt>
                <c:pt idx="341">
                  <c:v>4.025</c:v>
                </c:pt>
                <c:pt idx="342">
                  <c:v>4.05</c:v>
                </c:pt>
                <c:pt idx="343">
                  <c:v>4.075</c:v>
                </c:pt>
                <c:pt idx="344">
                  <c:v>4.1</c:v>
                </c:pt>
                <c:pt idx="345">
                  <c:v>4.125</c:v>
                </c:pt>
                <c:pt idx="346">
                  <c:v>4.15</c:v>
                </c:pt>
                <c:pt idx="347">
                  <c:v>4.175</c:v>
                </c:pt>
                <c:pt idx="348">
                  <c:v>4.2</c:v>
                </c:pt>
                <c:pt idx="349">
                  <c:v>4.225</c:v>
                </c:pt>
                <c:pt idx="350">
                  <c:v>4.25</c:v>
                </c:pt>
                <c:pt idx="351">
                  <c:v>4.275</c:v>
                </c:pt>
                <c:pt idx="352">
                  <c:v>4.3</c:v>
                </c:pt>
                <c:pt idx="353">
                  <c:v>4.325</c:v>
                </c:pt>
                <c:pt idx="354">
                  <c:v>4.35</c:v>
                </c:pt>
                <c:pt idx="355">
                  <c:v>4.375</c:v>
                </c:pt>
                <c:pt idx="356">
                  <c:v>4.4</c:v>
                </c:pt>
                <c:pt idx="357">
                  <c:v>4.425</c:v>
                </c:pt>
                <c:pt idx="358">
                  <c:v>4.45</c:v>
                </c:pt>
                <c:pt idx="359">
                  <c:v>4.475</c:v>
                </c:pt>
                <c:pt idx="360">
                  <c:v>4.5</c:v>
                </c:pt>
              </c:numCache>
            </c:numRef>
          </c:xVal>
          <c:yVal>
            <c:numRef>
              <c:f>'Chart Data'!$B$2:$B$362</c:f>
              <c:numCache>
                <c:formatCode>General</c:formatCode>
                <c:ptCount val="361"/>
                <c:pt idx="0">
                  <c:v>4.5</c:v>
                </c:pt>
                <c:pt idx="1">
                  <c:v>4.35125</c:v>
                </c:pt>
                <c:pt idx="2">
                  <c:v>4.205</c:v>
                </c:pt>
                <c:pt idx="3">
                  <c:v>4.06125</c:v>
                </c:pt>
                <c:pt idx="4">
                  <c:v>3.92</c:v>
                </c:pt>
                <c:pt idx="5">
                  <c:v>3.78125</c:v>
                </c:pt>
                <c:pt idx="6">
                  <c:v>3.645</c:v>
                </c:pt>
                <c:pt idx="7">
                  <c:v>3.51125</c:v>
                </c:pt>
                <c:pt idx="8">
                  <c:v>3.38</c:v>
                </c:pt>
                <c:pt idx="9">
                  <c:v>3.25125</c:v>
                </c:pt>
                <c:pt idx="10">
                  <c:v>3.125</c:v>
                </c:pt>
                <c:pt idx="11">
                  <c:v>3.00125</c:v>
                </c:pt>
                <c:pt idx="12">
                  <c:v>2.88</c:v>
                </c:pt>
                <c:pt idx="13">
                  <c:v>2.76125</c:v>
                </c:pt>
                <c:pt idx="14">
                  <c:v>2.645</c:v>
                </c:pt>
                <c:pt idx="15">
                  <c:v>2.53125</c:v>
                </c:pt>
                <c:pt idx="16">
                  <c:v>2.42</c:v>
                </c:pt>
                <c:pt idx="17">
                  <c:v>2.31125</c:v>
                </c:pt>
                <c:pt idx="18">
                  <c:v>2.205</c:v>
                </c:pt>
                <c:pt idx="19">
                  <c:v>2.10125</c:v>
                </c:pt>
                <c:pt idx="20">
                  <c:v>2</c:v>
                </c:pt>
                <c:pt idx="21">
                  <c:v>1.90125</c:v>
                </c:pt>
                <c:pt idx="22">
                  <c:v>1.805</c:v>
                </c:pt>
                <c:pt idx="23">
                  <c:v>1.71125</c:v>
                </c:pt>
                <c:pt idx="24">
                  <c:v>1.62</c:v>
                </c:pt>
                <c:pt idx="25">
                  <c:v>1.53125</c:v>
                </c:pt>
                <c:pt idx="26">
                  <c:v>1.445</c:v>
                </c:pt>
                <c:pt idx="27">
                  <c:v>1.36125</c:v>
                </c:pt>
                <c:pt idx="28">
                  <c:v>1.28</c:v>
                </c:pt>
                <c:pt idx="29">
                  <c:v>1.20125</c:v>
                </c:pt>
                <c:pt idx="30">
                  <c:v>1.125</c:v>
                </c:pt>
                <c:pt idx="31">
                  <c:v>1.05125</c:v>
                </c:pt>
                <c:pt idx="32">
                  <c:v>0.980000000000001</c:v>
                </c:pt>
                <c:pt idx="33">
                  <c:v>0.91125</c:v>
                </c:pt>
                <c:pt idx="34">
                  <c:v>0.845</c:v>
                </c:pt>
                <c:pt idx="35">
                  <c:v>0.78125</c:v>
                </c:pt>
                <c:pt idx="36">
                  <c:v>0.72</c:v>
                </c:pt>
                <c:pt idx="37">
                  <c:v>0.66125</c:v>
                </c:pt>
                <c:pt idx="38">
                  <c:v>0.605</c:v>
                </c:pt>
                <c:pt idx="39">
                  <c:v>0.55125</c:v>
                </c:pt>
                <c:pt idx="40">
                  <c:v>0.5</c:v>
                </c:pt>
                <c:pt idx="41">
                  <c:v>0.45125</c:v>
                </c:pt>
                <c:pt idx="42">
                  <c:v>0.405</c:v>
                </c:pt>
                <c:pt idx="43">
                  <c:v>0.36125</c:v>
                </c:pt>
                <c:pt idx="44">
                  <c:v>0.32</c:v>
                </c:pt>
                <c:pt idx="45">
                  <c:v>0.28125</c:v>
                </c:pt>
                <c:pt idx="46">
                  <c:v>0.245</c:v>
                </c:pt>
                <c:pt idx="47">
                  <c:v>0.21125</c:v>
                </c:pt>
                <c:pt idx="48">
                  <c:v>0.18</c:v>
                </c:pt>
                <c:pt idx="49">
                  <c:v>0.15125</c:v>
                </c:pt>
                <c:pt idx="50">
                  <c:v>0.125</c:v>
                </c:pt>
                <c:pt idx="51">
                  <c:v>0.10125</c:v>
                </c:pt>
                <c:pt idx="52">
                  <c:v>0.0800000000000001</c:v>
                </c:pt>
                <c:pt idx="53">
                  <c:v>0.0612499999999999</c:v>
                </c:pt>
                <c:pt idx="54">
                  <c:v>0.0450000000000001</c:v>
                </c:pt>
                <c:pt idx="55">
                  <c:v>3.125E-2</c:v>
                </c:pt>
                <c:pt idx="56">
                  <c:v>1.99999999999999E-2</c:v>
                </c:pt>
                <c:pt idx="57">
                  <c:v>1.12500000000001E-2</c:v>
                </c:pt>
                <c:pt idx="58">
                  <c:v>0.00499999999999996</c:v>
                </c:pt>
                <c:pt idx="59">
                  <c:v>1.25000000000001E-3</c:v>
                </c:pt>
                <c:pt idx="60">
                  <c:v>0</c:v>
                </c:pt>
                <c:pt idx="61">
                  <c:v>0.00124999999999999</c:v>
                </c:pt>
                <c:pt idx="62">
                  <c:v>0.00499999999999996</c:v>
                </c:pt>
                <c:pt idx="63">
                  <c:v>1.12500000000001E-2</c:v>
                </c:pt>
                <c:pt idx="64">
                  <c:v>0.02</c:v>
                </c:pt>
                <c:pt idx="65">
                  <c:v>3.125E-2</c:v>
                </c:pt>
                <c:pt idx="66">
                  <c:v>0.0449999999999999</c:v>
                </c:pt>
                <c:pt idx="67">
                  <c:v>0.0612499999999999</c:v>
                </c:pt>
                <c:pt idx="68">
                  <c:v>0.0800000000000001</c:v>
                </c:pt>
                <c:pt idx="69">
                  <c:v>0.10125</c:v>
                </c:pt>
                <c:pt idx="70">
                  <c:v>0.125</c:v>
                </c:pt>
                <c:pt idx="71">
                  <c:v>0.15125</c:v>
                </c:pt>
                <c:pt idx="72">
                  <c:v>0.18</c:v>
                </c:pt>
                <c:pt idx="73">
                  <c:v>0.21125</c:v>
                </c:pt>
                <c:pt idx="74">
                  <c:v>0.245</c:v>
                </c:pt>
                <c:pt idx="75">
                  <c:v>0.28125</c:v>
                </c:pt>
                <c:pt idx="76">
                  <c:v>0.32</c:v>
                </c:pt>
                <c:pt idx="77">
                  <c:v>0.36125</c:v>
                </c:pt>
                <c:pt idx="78">
                  <c:v>0.405</c:v>
                </c:pt>
                <c:pt idx="79">
                  <c:v>0.45125</c:v>
                </c:pt>
                <c:pt idx="80">
                  <c:v>0.5</c:v>
                </c:pt>
                <c:pt idx="81">
                  <c:v>0.55125</c:v>
                </c:pt>
                <c:pt idx="82">
                  <c:v>0.605</c:v>
                </c:pt>
                <c:pt idx="83">
                  <c:v>0.66125</c:v>
                </c:pt>
                <c:pt idx="84">
                  <c:v>0.72</c:v>
                </c:pt>
                <c:pt idx="85">
                  <c:v>0.78125</c:v>
                </c:pt>
                <c:pt idx="86">
                  <c:v>0.845</c:v>
                </c:pt>
                <c:pt idx="87">
                  <c:v>0.91125</c:v>
                </c:pt>
                <c:pt idx="88">
                  <c:v>0.980000000000001</c:v>
                </c:pt>
                <c:pt idx="89">
                  <c:v>1.05125</c:v>
                </c:pt>
                <c:pt idx="90">
                  <c:v>1.125</c:v>
                </c:pt>
                <c:pt idx="91">
                  <c:v>1.20125</c:v>
                </c:pt>
                <c:pt idx="92">
                  <c:v>1.28</c:v>
                </c:pt>
                <c:pt idx="93">
                  <c:v>1.36125</c:v>
                </c:pt>
                <c:pt idx="94">
                  <c:v>1.445</c:v>
                </c:pt>
                <c:pt idx="95">
                  <c:v>1.53125</c:v>
                </c:pt>
                <c:pt idx="96">
                  <c:v>1.62</c:v>
                </c:pt>
                <c:pt idx="97">
                  <c:v>1.71125</c:v>
                </c:pt>
                <c:pt idx="98">
                  <c:v>1.805</c:v>
                </c:pt>
                <c:pt idx="99">
                  <c:v>1.90125</c:v>
                </c:pt>
                <c:pt idx="100">
                  <c:v>2</c:v>
                </c:pt>
                <c:pt idx="101">
                  <c:v>2.10125</c:v>
                </c:pt>
                <c:pt idx="102">
                  <c:v>2.205</c:v>
                </c:pt>
                <c:pt idx="103">
                  <c:v>2.31125</c:v>
                </c:pt>
                <c:pt idx="104">
                  <c:v>2.42</c:v>
                </c:pt>
                <c:pt idx="105">
                  <c:v>2.53125</c:v>
                </c:pt>
                <c:pt idx="106">
                  <c:v>2.645</c:v>
                </c:pt>
                <c:pt idx="107">
                  <c:v>2.76125</c:v>
                </c:pt>
                <c:pt idx="108">
                  <c:v>2.88</c:v>
                </c:pt>
                <c:pt idx="109">
                  <c:v>3.00125</c:v>
                </c:pt>
                <c:pt idx="110">
                  <c:v>3.125</c:v>
                </c:pt>
                <c:pt idx="111">
                  <c:v>3.25125</c:v>
                </c:pt>
                <c:pt idx="112">
                  <c:v>3.38</c:v>
                </c:pt>
                <c:pt idx="113">
                  <c:v>3.51125</c:v>
                </c:pt>
                <c:pt idx="114">
                  <c:v>3.645</c:v>
                </c:pt>
                <c:pt idx="115">
                  <c:v>3.78125</c:v>
                </c:pt>
                <c:pt idx="116">
                  <c:v>3.92</c:v>
                </c:pt>
                <c:pt idx="117">
                  <c:v>4.06125</c:v>
                </c:pt>
                <c:pt idx="118">
                  <c:v>4.205</c:v>
                </c:pt>
                <c:pt idx="119">
                  <c:v>4.35125</c:v>
                </c:pt>
                <c:pt idx="120">
                  <c:v>4.5</c:v>
                </c:pt>
                <c:pt idx="121">
                  <c:v>4.65125</c:v>
                </c:pt>
                <c:pt idx="122">
                  <c:v>4.805</c:v>
                </c:pt>
                <c:pt idx="123">
                  <c:v>4.96125</c:v>
                </c:pt>
                <c:pt idx="124">
                  <c:v>5.12</c:v>
                </c:pt>
                <c:pt idx="125">
                  <c:v>5.28125</c:v>
                </c:pt>
                <c:pt idx="126">
                  <c:v>5.445</c:v>
                </c:pt>
                <c:pt idx="127">
                  <c:v>5.61125</c:v>
                </c:pt>
                <c:pt idx="128">
                  <c:v>5.78</c:v>
                </c:pt>
                <c:pt idx="129">
                  <c:v>5.95125</c:v>
                </c:pt>
                <c:pt idx="130">
                  <c:v>6.125</c:v>
                </c:pt>
                <c:pt idx="131">
                  <c:v>6.30125</c:v>
                </c:pt>
                <c:pt idx="132">
                  <c:v>6.48</c:v>
                </c:pt>
                <c:pt idx="133">
                  <c:v>6.66125</c:v>
                </c:pt>
                <c:pt idx="134">
                  <c:v>6.845</c:v>
                </c:pt>
                <c:pt idx="135">
                  <c:v>7.03125</c:v>
                </c:pt>
                <c:pt idx="136">
                  <c:v>7.22</c:v>
                </c:pt>
                <c:pt idx="137">
                  <c:v>7.41125</c:v>
                </c:pt>
                <c:pt idx="138">
                  <c:v>7.605</c:v>
                </c:pt>
                <c:pt idx="139">
                  <c:v>7.80125</c:v>
                </c:pt>
                <c:pt idx="140">
                  <c:v>8</c:v>
                </c:pt>
                <c:pt idx="141">
                  <c:v>8.00125</c:v>
                </c:pt>
                <c:pt idx="142">
                  <c:v>8.005</c:v>
                </c:pt>
                <c:pt idx="143">
                  <c:v>8.01125</c:v>
                </c:pt>
                <c:pt idx="144">
                  <c:v>8.02</c:v>
                </c:pt>
                <c:pt idx="145">
                  <c:v>8.03125</c:v>
                </c:pt>
                <c:pt idx="146">
                  <c:v>8.045</c:v>
                </c:pt>
                <c:pt idx="147">
                  <c:v>8.06125</c:v>
                </c:pt>
                <c:pt idx="148">
                  <c:v>8.08</c:v>
                </c:pt>
                <c:pt idx="149">
                  <c:v>8.10125</c:v>
                </c:pt>
                <c:pt idx="150">
                  <c:v>8.125</c:v>
                </c:pt>
                <c:pt idx="151">
                  <c:v>8.15125</c:v>
                </c:pt>
                <c:pt idx="152">
                  <c:v>8.18</c:v>
                </c:pt>
                <c:pt idx="153">
                  <c:v>8.21125</c:v>
                </c:pt>
                <c:pt idx="154">
                  <c:v>8.245</c:v>
                </c:pt>
                <c:pt idx="155">
                  <c:v>8.28125</c:v>
                </c:pt>
                <c:pt idx="156">
                  <c:v>8.32</c:v>
                </c:pt>
                <c:pt idx="157">
                  <c:v>8.36125</c:v>
                </c:pt>
                <c:pt idx="158">
                  <c:v>8.405</c:v>
                </c:pt>
                <c:pt idx="159">
                  <c:v>8.45125</c:v>
                </c:pt>
                <c:pt idx="160">
                  <c:v>8.5</c:v>
                </c:pt>
                <c:pt idx="161">
                  <c:v>8.55125</c:v>
                </c:pt>
                <c:pt idx="162">
                  <c:v>8.605</c:v>
                </c:pt>
                <c:pt idx="163">
                  <c:v>8.66125</c:v>
                </c:pt>
                <c:pt idx="164">
                  <c:v>8.72</c:v>
                </c:pt>
                <c:pt idx="165">
                  <c:v>8.78125</c:v>
                </c:pt>
                <c:pt idx="166">
                  <c:v>8.845</c:v>
                </c:pt>
                <c:pt idx="167">
                  <c:v>8.91125</c:v>
                </c:pt>
                <c:pt idx="168">
                  <c:v>8.98</c:v>
                </c:pt>
                <c:pt idx="169">
                  <c:v>9.05125</c:v>
                </c:pt>
                <c:pt idx="170">
                  <c:v>9.125</c:v>
                </c:pt>
                <c:pt idx="171">
                  <c:v>9.20125</c:v>
                </c:pt>
                <c:pt idx="172">
                  <c:v>9.28</c:v>
                </c:pt>
                <c:pt idx="173">
                  <c:v>9.36125</c:v>
                </c:pt>
                <c:pt idx="174">
                  <c:v>9.445</c:v>
                </c:pt>
                <c:pt idx="175">
                  <c:v>9.53125</c:v>
                </c:pt>
                <c:pt idx="176">
                  <c:v>9.62</c:v>
                </c:pt>
                <c:pt idx="177">
                  <c:v>9.71125</c:v>
                </c:pt>
                <c:pt idx="178">
                  <c:v>9.805</c:v>
                </c:pt>
                <c:pt idx="179">
                  <c:v>9.90125</c:v>
                </c:pt>
                <c:pt idx="180">
                  <c:v>10</c:v>
                </c:pt>
                <c:pt idx="181">
                  <c:v>10.10125</c:v>
                </c:pt>
                <c:pt idx="182">
                  <c:v>10.205</c:v>
                </c:pt>
                <c:pt idx="183">
                  <c:v>10.31125</c:v>
                </c:pt>
                <c:pt idx="184">
                  <c:v>10.42</c:v>
                </c:pt>
                <c:pt idx="185">
                  <c:v>10.53125</c:v>
                </c:pt>
                <c:pt idx="186">
                  <c:v>10.645</c:v>
                </c:pt>
                <c:pt idx="187">
                  <c:v>10.76125</c:v>
                </c:pt>
                <c:pt idx="188">
                  <c:v>10.88</c:v>
                </c:pt>
                <c:pt idx="189">
                  <c:v>11.00125</c:v>
                </c:pt>
                <c:pt idx="190">
                  <c:v>11.125</c:v>
                </c:pt>
                <c:pt idx="191">
                  <c:v>11.25125</c:v>
                </c:pt>
                <c:pt idx="192">
                  <c:v>11.38</c:v>
                </c:pt>
                <c:pt idx="193">
                  <c:v>11.51125</c:v>
                </c:pt>
                <c:pt idx="194">
                  <c:v>11.645</c:v>
                </c:pt>
                <c:pt idx="195">
                  <c:v>11.78125</c:v>
                </c:pt>
                <c:pt idx="196">
                  <c:v>11.92</c:v>
                </c:pt>
                <c:pt idx="197">
                  <c:v>12.06125</c:v>
                </c:pt>
                <c:pt idx="198">
                  <c:v>12.205</c:v>
                </c:pt>
                <c:pt idx="199">
                  <c:v>12.35125</c:v>
                </c:pt>
                <c:pt idx="200">
                  <c:v>12.5</c:v>
                </c:pt>
                <c:pt idx="201">
                  <c:v>12.65125</c:v>
                </c:pt>
                <c:pt idx="202">
                  <c:v>12.805</c:v>
                </c:pt>
                <c:pt idx="203">
                  <c:v>12.96125</c:v>
                </c:pt>
                <c:pt idx="204">
                  <c:v>13.12</c:v>
                </c:pt>
                <c:pt idx="205">
                  <c:v>13.28125</c:v>
                </c:pt>
                <c:pt idx="206">
                  <c:v>13.445</c:v>
                </c:pt>
                <c:pt idx="207">
                  <c:v>13.61125</c:v>
                </c:pt>
                <c:pt idx="208">
                  <c:v>13.78</c:v>
                </c:pt>
                <c:pt idx="209">
                  <c:v>13.95125</c:v>
                </c:pt>
                <c:pt idx="210">
                  <c:v>14.125</c:v>
                </c:pt>
                <c:pt idx="211">
                  <c:v>14.30125</c:v>
                </c:pt>
                <c:pt idx="212">
                  <c:v>14.48</c:v>
                </c:pt>
                <c:pt idx="213">
                  <c:v>14.66125</c:v>
                </c:pt>
                <c:pt idx="214">
                  <c:v>14.845</c:v>
                </c:pt>
                <c:pt idx="215">
                  <c:v>15.03125</c:v>
                </c:pt>
                <c:pt idx="216">
                  <c:v>15.22</c:v>
                </c:pt>
                <c:pt idx="217">
                  <c:v>15.41125</c:v>
                </c:pt>
                <c:pt idx="218">
                  <c:v>15.605</c:v>
                </c:pt>
                <c:pt idx="219">
                  <c:v>15.80125</c:v>
                </c:pt>
                <c:pt idx="220">
                  <c:v>16</c:v>
                </c:pt>
                <c:pt idx="221">
                  <c:v>15.80125</c:v>
                </c:pt>
                <c:pt idx="222">
                  <c:v>15.605</c:v>
                </c:pt>
                <c:pt idx="223">
                  <c:v>15.41125</c:v>
                </c:pt>
                <c:pt idx="224">
                  <c:v>15.22</c:v>
                </c:pt>
                <c:pt idx="225">
                  <c:v>15.03125</c:v>
                </c:pt>
                <c:pt idx="226">
                  <c:v>14.845</c:v>
                </c:pt>
                <c:pt idx="227">
                  <c:v>14.66125</c:v>
                </c:pt>
                <c:pt idx="228">
                  <c:v>14.48</c:v>
                </c:pt>
                <c:pt idx="229">
                  <c:v>14.30125</c:v>
                </c:pt>
                <c:pt idx="230">
                  <c:v>14.125</c:v>
                </c:pt>
                <c:pt idx="231">
                  <c:v>13.95125</c:v>
                </c:pt>
                <c:pt idx="232">
                  <c:v>13.78</c:v>
                </c:pt>
                <c:pt idx="233">
                  <c:v>13.61125</c:v>
                </c:pt>
                <c:pt idx="234">
                  <c:v>13.445</c:v>
                </c:pt>
                <c:pt idx="235">
                  <c:v>13.28125</c:v>
                </c:pt>
                <c:pt idx="236">
                  <c:v>13.12</c:v>
                </c:pt>
                <c:pt idx="237">
                  <c:v>12.96125</c:v>
                </c:pt>
                <c:pt idx="238">
                  <c:v>12.805</c:v>
                </c:pt>
                <c:pt idx="239">
                  <c:v>12.65125</c:v>
                </c:pt>
                <c:pt idx="240">
                  <c:v>12.5</c:v>
                </c:pt>
                <c:pt idx="241">
                  <c:v>12.35125</c:v>
                </c:pt>
                <c:pt idx="242">
                  <c:v>12.205</c:v>
                </c:pt>
                <c:pt idx="243">
                  <c:v>12.06125</c:v>
                </c:pt>
                <c:pt idx="244">
                  <c:v>11.92</c:v>
                </c:pt>
                <c:pt idx="245">
                  <c:v>11.78125</c:v>
                </c:pt>
                <c:pt idx="246">
                  <c:v>11.645</c:v>
                </c:pt>
                <c:pt idx="247">
                  <c:v>11.51125</c:v>
                </c:pt>
                <c:pt idx="248">
                  <c:v>11.38</c:v>
                </c:pt>
                <c:pt idx="249">
                  <c:v>11.25125</c:v>
                </c:pt>
                <c:pt idx="250">
                  <c:v>11.125</c:v>
                </c:pt>
                <c:pt idx="251">
                  <c:v>11.00125</c:v>
                </c:pt>
                <c:pt idx="252">
                  <c:v>10.88</c:v>
                </c:pt>
                <c:pt idx="253">
                  <c:v>10.76125</c:v>
                </c:pt>
                <c:pt idx="254">
                  <c:v>10.645</c:v>
                </c:pt>
                <c:pt idx="255">
                  <c:v>10.53125</c:v>
                </c:pt>
                <c:pt idx="256">
                  <c:v>10.42</c:v>
                </c:pt>
                <c:pt idx="257">
                  <c:v>10.31125</c:v>
                </c:pt>
                <c:pt idx="258">
                  <c:v>10.205</c:v>
                </c:pt>
                <c:pt idx="259">
                  <c:v>10.10125</c:v>
                </c:pt>
                <c:pt idx="260">
                  <c:v>10</c:v>
                </c:pt>
                <c:pt idx="261">
                  <c:v>9.90125</c:v>
                </c:pt>
                <c:pt idx="262">
                  <c:v>9.805</c:v>
                </c:pt>
                <c:pt idx="263">
                  <c:v>9.71125</c:v>
                </c:pt>
                <c:pt idx="264">
                  <c:v>9.62</c:v>
                </c:pt>
                <c:pt idx="265">
                  <c:v>9.53125</c:v>
                </c:pt>
                <c:pt idx="266">
                  <c:v>9.445</c:v>
                </c:pt>
                <c:pt idx="267">
                  <c:v>9.36125</c:v>
                </c:pt>
                <c:pt idx="268">
                  <c:v>9.28</c:v>
                </c:pt>
                <c:pt idx="269">
                  <c:v>9.20125</c:v>
                </c:pt>
                <c:pt idx="270">
                  <c:v>9.125</c:v>
                </c:pt>
                <c:pt idx="271">
                  <c:v>9.05125</c:v>
                </c:pt>
                <c:pt idx="272">
                  <c:v>8.98</c:v>
                </c:pt>
                <c:pt idx="273">
                  <c:v>8.91125</c:v>
                </c:pt>
                <c:pt idx="274">
                  <c:v>8.845</c:v>
                </c:pt>
                <c:pt idx="275">
                  <c:v>8.78125</c:v>
                </c:pt>
                <c:pt idx="276">
                  <c:v>8.72</c:v>
                </c:pt>
                <c:pt idx="277">
                  <c:v>8.66125</c:v>
                </c:pt>
                <c:pt idx="278">
                  <c:v>8.605</c:v>
                </c:pt>
                <c:pt idx="279">
                  <c:v>8.55125</c:v>
                </c:pt>
                <c:pt idx="280">
                  <c:v>8.5</c:v>
                </c:pt>
                <c:pt idx="281">
                  <c:v>8.45125</c:v>
                </c:pt>
                <c:pt idx="282">
                  <c:v>8.405</c:v>
                </c:pt>
                <c:pt idx="283">
                  <c:v>8.36125</c:v>
                </c:pt>
                <c:pt idx="284">
                  <c:v>8.32</c:v>
                </c:pt>
                <c:pt idx="285">
                  <c:v>8.28125</c:v>
                </c:pt>
                <c:pt idx="286">
                  <c:v>8.245</c:v>
                </c:pt>
                <c:pt idx="287">
                  <c:v>8.21125</c:v>
                </c:pt>
                <c:pt idx="288">
                  <c:v>8.18</c:v>
                </c:pt>
                <c:pt idx="289">
                  <c:v>8.15125</c:v>
                </c:pt>
                <c:pt idx="290">
                  <c:v>8.125</c:v>
                </c:pt>
                <c:pt idx="291">
                  <c:v>8.10125</c:v>
                </c:pt>
                <c:pt idx="292">
                  <c:v>8.08</c:v>
                </c:pt>
                <c:pt idx="293">
                  <c:v>8.06125</c:v>
                </c:pt>
                <c:pt idx="294">
                  <c:v>8.045</c:v>
                </c:pt>
                <c:pt idx="295">
                  <c:v>8.03125</c:v>
                </c:pt>
                <c:pt idx="296">
                  <c:v>8.02</c:v>
                </c:pt>
                <c:pt idx="297">
                  <c:v>8.01125</c:v>
                </c:pt>
                <c:pt idx="298">
                  <c:v>8.005</c:v>
                </c:pt>
                <c:pt idx="299">
                  <c:v>8.00125</c:v>
                </c:pt>
                <c:pt idx="300">
                  <c:v>8</c:v>
                </c:pt>
                <c:pt idx="301">
                  <c:v>8.00125</c:v>
                </c:pt>
                <c:pt idx="302">
                  <c:v>8.005</c:v>
                </c:pt>
                <c:pt idx="303">
                  <c:v>8.01125</c:v>
                </c:pt>
                <c:pt idx="304">
                  <c:v>8.02</c:v>
                </c:pt>
                <c:pt idx="305">
                  <c:v>8.03125</c:v>
                </c:pt>
                <c:pt idx="306">
                  <c:v>8.045</c:v>
                </c:pt>
                <c:pt idx="307">
                  <c:v>8.06125</c:v>
                </c:pt>
                <c:pt idx="308">
                  <c:v>8.08</c:v>
                </c:pt>
                <c:pt idx="309">
                  <c:v>8.10125</c:v>
                </c:pt>
                <c:pt idx="310">
                  <c:v>8.125</c:v>
                </c:pt>
                <c:pt idx="311">
                  <c:v>8.15125</c:v>
                </c:pt>
                <c:pt idx="312">
                  <c:v>8.18</c:v>
                </c:pt>
                <c:pt idx="313">
                  <c:v>8.21125</c:v>
                </c:pt>
                <c:pt idx="314">
                  <c:v>8.245</c:v>
                </c:pt>
                <c:pt idx="315">
                  <c:v>8.28125</c:v>
                </c:pt>
                <c:pt idx="316">
                  <c:v>8.32</c:v>
                </c:pt>
                <c:pt idx="317">
                  <c:v>8.36125</c:v>
                </c:pt>
                <c:pt idx="318">
                  <c:v>8.405</c:v>
                </c:pt>
                <c:pt idx="319">
                  <c:v>8.45125</c:v>
                </c:pt>
                <c:pt idx="320">
                  <c:v>8.5</c:v>
                </c:pt>
                <c:pt idx="321">
                  <c:v>8.55125</c:v>
                </c:pt>
                <c:pt idx="322">
                  <c:v>8.605</c:v>
                </c:pt>
                <c:pt idx="323">
                  <c:v>8.66125</c:v>
                </c:pt>
                <c:pt idx="324">
                  <c:v>8.72</c:v>
                </c:pt>
                <c:pt idx="325">
                  <c:v>8.78125</c:v>
                </c:pt>
                <c:pt idx="326">
                  <c:v>8.845</c:v>
                </c:pt>
                <c:pt idx="327">
                  <c:v>8.91125</c:v>
                </c:pt>
                <c:pt idx="328">
                  <c:v>8.98</c:v>
                </c:pt>
                <c:pt idx="329">
                  <c:v>9.05125</c:v>
                </c:pt>
                <c:pt idx="330">
                  <c:v>9.125</c:v>
                </c:pt>
                <c:pt idx="331">
                  <c:v>9.20125</c:v>
                </c:pt>
                <c:pt idx="332">
                  <c:v>9.28</c:v>
                </c:pt>
                <c:pt idx="333">
                  <c:v>9.36125</c:v>
                </c:pt>
                <c:pt idx="334">
                  <c:v>9.445</c:v>
                </c:pt>
                <c:pt idx="335">
                  <c:v>9.53125</c:v>
                </c:pt>
                <c:pt idx="336">
                  <c:v>9.62</c:v>
                </c:pt>
                <c:pt idx="337">
                  <c:v>9.71125</c:v>
                </c:pt>
                <c:pt idx="338">
                  <c:v>9.805</c:v>
                </c:pt>
                <c:pt idx="339">
                  <c:v>9.90125</c:v>
                </c:pt>
                <c:pt idx="340">
                  <c:v>10</c:v>
                </c:pt>
                <c:pt idx="341">
                  <c:v>10.10125</c:v>
                </c:pt>
                <c:pt idx="342">
                  <c:v>10.205</c:v>
                </c:pt>
                <c:pt idx="343">
                  <c:v>10.31125</c:v>
                </c:pt>
                <c:pt idx="344">
                  <c:v>10.42</c:v>
                </c:pt>
                <c:pt idx="345">
                  <c:v>10.53125</c:v>
                </c:pt>
                <c:pt idx="346">
                  <c:v>10.645</c:v>
                </c:pt>
                <c:pt idx="347">
                  <c:v>10.76125</c:v>
                </c:pt>
                <c:pt idx="348">
                  <c:v>10.88</c:v>
                </c:pt>
                <c:pt idx="349">
                  <c:v>11.00125</c:v>
                </c:pt>
                <c:pt idx="350">
                  <c:v>11.125</c:v>
                </c:pt>
                <c:pt idx="351">
                  <c:v>11.25125</c:v>
                </c:pt>
                <c:pt idx="352">
                  <c:v>11.38</c:v>
                </c:pt>
                <c:pt idx="353">
                  <c:v>11.51125</c:v>
                </c:pt>
                <c:pt idx="354">
                  <c:v>11.645</c:v>
                </c:pt>
                <c:pt idx="355">
                  <c:v>11.78125</c:v>
                </c:pt>
                <c:pt idx="356">
                  <c:v>11.92</c:v>
                </c:pt>
                <c:pt idx="357">
                  <c:v>12.06125</c:v>
                </c:pt>
                <c:pt idx="358">
                  <c:v>12.205</c:v>
                </c:pt>
                <c:pt idx="359">
                  <c:v>12.35125</c:v>
                </c:pt>
                <c:pt idx="360">
                  <c:v>12.5</c:v>
                </c:pt>
              </c:numCache>
            </c:numRef>
          </c:yVal>
          <c:smooth val="1"/>
          <c:extLst>
            <c:ext xmlns:c16="http://schemas.microsoft.com/office/drawing/2014/chart" uri="{C3380CC4-5D6E-409C-BE32-E72D297353CC}">
              <c16:uniqueId val="{00000000-D811-4C11-8B76-96D00CBE7948}"/>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c:v>
                </c:pt>
              </c:numCache>
            </c:numRef>
          </c:yVal>
          <c:smooth val="1"/>
          <c:extLst>
            <c:ext xmlns:c16="http://schemas.microsoft.com/office/drawing/2014/chart" uri="{C3380CC4-5D6E-409C-BE32-E72D297353CC}">
              <c16:uniqueId val="{00000001-D811-4C11-8B76-96D00CBE7948}"/>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8</c:v>
                </c:pt>
              </c:numCache>
            </c:numRef>
          </c:yVal>
          <c:smooth val="1"/>
          <c:extLst>
            <c:ext xmlns:c16="http://schemas.microsoft.com/office/drawing/2014/chart" uri="{C3380CC4-5D6E-409C-BE32-E72D297353CC}">
              <c16:uniqueId val="{00000002-D811-4C11-8B76-96D00CBE7948}"/>
            </c:ext>
          </c:extLst>
        </c:ser>
        <c:ser>
          <c:idx val="3"/>
          <c:order val="3"/>
          <c:tx>
            <c:v>left start</c:v>
          </c:tx>
          <c:spPr>
            <a:ln w="0">
              <a:noFill/>
            </a:ln>
          </c:spPr>
          <c:marker>
            <c:symbol val="circle"/>
            <c:size val="8"/>
            <c:spPr>
              <a:solidFill>
                <a:srgbClr val="FFFFFF"/>
              </a:solidFill>
              <a:ln w="19050">
                <a:solidFill>
                  <a:srgbClr val="326CB2"/>
                </a:solidFill>
              </a:ln>
            </c:spPr>
          </c:marker>
          <c:xVal>
            <c:numRef>
              <c:f>'Chart Data'!$G$2:$G$2</c:f>
              <c:numCache>
                <c:formatCode>General</c:formatCode>
                <c:ptCount val="1"/>
                <c:pt idx="0">
                  <c:v>-1.5</c:v>
                </c:pt>
              </c:numCache>
            </c:numRef>
          </c:xVal>
          <c:yVal>
            <c:numRef>
              <c:f>'Chart Data'!$H$2:$H$2</c:f>
              <c:numCache>
                <c:formatCode>General</c:formatCode>
                <c:ptCount val="1"/>
                <c:pt idx="0">
                  <c:v>4.5</c:v>
                </c:pt>
              </c:numCache>
            </c:numRef>
          </c:yVal>
          <c:smooth val="1"/>
          <c:extLst>
            <c:ext xmlns:c16="http://schemas.microsoft.com/office/drawing/2014/chart" uri="{C3380CC4-5D6E-409C-BE32-E72D297353CC}">
              <c16:uniqueId val="{00000003-D811-4C11-8B76-96D00CBE7948}"/>
            </c:ext>
          </c:extLst>
        </c:ser>
        <c:ser>
          <c:idx val="4"/>
          <c:order val="4"/>
          <c:tx>
            <c:v>right start</c:v>
          </c:tx>
          <c:spPr>
            <a:ln w="0">
              <a:noFill/>
            </a:ln>
          </c:spPr>
          <c:marker>
            <c:symbol val="circle"/>
            <c:size val="8"/>
            <c:spPr>
              <a:solidFill>
                <a:srgbClr val="FFFFFF"/>
              </a:solidFill>
              <a:ln w="19050">
                <a:solidFill>
                  <a:srgbClr val="C45C28"/>
                </a:solidFill>
              </a:ln>
            </c:spPr>
          </c:marker>
          <c:xVal>
            <c:numRef>
              <c:f>'Chart Data'!$I$2:$I$2</c:f>
              <c:numCache>
                <c:formatCode>General</c:formatCode>
                <c:ptCount val="1"/>
                <c:pt idx="0">
                  <c:v>1.5</c:v>
                </c:pt>
              </c:numCache>
            </c:numRef>
          </c:xVal>
          <c:yVal>
            <c:numRef>
              <c:f>'Chart Data'!$J$2:$J$2</c:f>
              <c:numCache>
                <c:formatCode>General</c:formatCode>
                <c:ptCount val="1"/>
                <c:pt idx="0">
                  <c:v>12.5</c:v>
                </c:pt>
              </c:numCache>
            </c:numRef>
          </c:yVal>
          <c:smooth val="1"/>
          <c:extLst>
            <c:ext xmlns:c16="http://schemas.microsoft.com/office/drawing/2014/chart" uri="{C3380CC4-5D6E-409C-BE32-E72D297353CC}">
              <c16:uniqueId val="{00000004-D811-4C11-8B76-96D00CBE7948}"/>
            </c:ext>
          </c:extLst>
        </c:ser>
        <c:dLbls>
          <c:showLegendKey val="0"/>
          <c:showVal val="0"/>
          <c:showCatName val="0"/>
          <c:showSerName val="0"/>
          <c:showPercent val="0"/>
          <c:showBubbleSize val="0"/>
        </c:dLbls>
        <c:axId val="48650112"/>
        <c:axId val="48672768"/>
      </c:scatterChart>
      <c:valAx>
        <c:axId val="48672768"/>
        <c:scaling>
          <c:orientation val="minMax"/>
          <c:max val="18"/>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Squared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4"/>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Squared loss</c:v>
          </c:tx>
          <c:spPr>
            <a:ln w="30480">
              <a:solidFill>
                <a:srgbClr val="087F83"/>
              </a:solidFill>
            </a:ln>
          </c:spPr>
          <c:marker>
            <c:symbol val="none"/>
          </c:marker>
          <c:xVal>
            <c:numRef>
              <c:f>'Chart Data'!$A$2:$A$362</c:f>
              <c:numCache>
                <c:formatCode>General</c:formatCode>
                <c:ptCount val="361"/>
                <c:pt idx="0">
                  <c:v>-4.5</c:v>
                </c:pt>
                <c:pt idx="1">
                  <c:v>-4.475</c:v>
                </c:pt>
                <c:pt idx="2">
                  <c:v>-4.45</c:v>
                </c:pt>
                <c:pt idx="3">
                  <c:v>-4.425</c:v>
                </c:pt>
                <c:pt idx="4">
                  <c:v>-4.4</c:v>
                </c:pt>
                <c:pt idx="5">
                  <c:v>-4.375</c:v>
                </c:pt>
                <c:pt idx="6">
                  <c:v>-4.35</c:v>
                </c:pt>
                <c:pt idx="7">
                  <c:v>-4.325</c:v>
                </c:pt>
                <c:pt idx="8">
                  <c:v>-4.3</c:v>
                </c:pt>
                <c:pt idx="9">
                  <c:v>-4.275</c:v>
                </c:pt>
                <c:pt idx="10">
                  <c:v>-4.25</c:v>
                </c:pt>
                <c:pt idx="11">
                  <c:v>-4.225</c:v>
                </c:pt>
                <c:pt idx="12">
                  <c:v>-4.2</c:v>
                </c:pt>
                <c:pt idx="13">
                  <c:v>-4.175</c:v>
                </c:pt>
                <c:pt idx="14">
                  <c:v>-4.15</c:v>
                </c:pt>
                <c:pt idx="15">
                  <c:v>-4.125</c:v>
                </c:pt>
                <c:pt idx="16">
                  <c:v>-4.1</c:v>
                </c:pt>
                <c:pt idx="17">
                  <c:v>-4.075</c:v>
                </c:pt>
                <c:pt idx="18">
                  <c:v>-4.05</c:v>
                </c:pt>
                <c:pt idx="19">
                  <c:v>-4.025</c:v>
                </c:pt>
                <c:pt idx="20">
                  <c:v>-4</c:v>
                </c:pt>
                <c:pt idx="21">
                  <c:v>-3.975</c:v>
                </c:pt>
                <c:pt idx="22">
                  <c:v>-3.95</c:v>
                </c:pt>
                <c:pt idx="23">
                  <c:v>-3.925</c:v>
                </c:pt>
                <c:pt idx="24">
                  <c:v>-3.9</c:v>
                </c:pt>
                <c:pt idx="25">
                  <c:v>-3.875</c:v>
                </c:pt>
                <c:pt idx="26">
                  <c:v>-3.85</c:v>
                </c:pt>
                <c:pt idx="27">
                  <c:v>-3.825</c:v>
                </c:pt>
                <c:pt idx="28">
                  <c:v>-3.8</c:v>
                </c:pt>
                <c:pt idx="29">
                  <c:v>-3.775</c:v>
                </c:pt>
                <c:pt idx="30">
                  <c:v>-3.75</c:v>
                </c:pt>
                <c:pt idx="31">
                  <c:v>-3.725</c:v>
                </c:pt>
                <c:pt idx="32">
                  <c:v>-3.7</c:v>
                </c:pt>
                <c:pt idx="33">
                  <c:v>-3.675</c:v>
                </c:pt>
                <c:pt idx="34">
                  <c:v>-3.65</c:v>
                </c:pt>
                <c:pt idx="35">
                  <c:v>-3.625</c:v>
                </c:pt>
                <c:pt idx="36">
                  <c:v>-3.6</c:v>
                </c:pt>
                <c:pt idx="37">
                  <c:v>-3.575</c:v>
                </c:pt>
                <c:pt idx="38">
                  <c:v>-3.55</c:v>
                </c:pt>
                <c:pt idx="39">
                  <c:v>-3.525</c:v>
                </c:pt>
                <c:pt idx="40">
                  <c:v>-3.5</c:v>
                </c:pt>
                <c:pt idx="41">
                  <c:v>-3.475</c:v>
                </c:pt>
                <c:pt idx="42">
                  <c:v>-3.45</c:v>
                </c:pt>
                <c:pt idx="43">
                  <c:v>-3.425</c:v>
                </c:pt>
                <c:pt idx="44">
                  <c:v>-3.4</c:v>
                </c:pt>
                <c:pt idx="45">
                  <c:v>-3.375</c:v>
                </c:pt>
                <c:pt idx="46">
                  <c:v>-3.35</c:v>
                </c:pt>
                <c:pt idx="47">
                  <c:v>-3.325</c:v>
                </c:pt>
                <c:pt idx="48">
                  <c:v>-3.3</c:v>
                </c:pt>
                <c:pt idx="49">
                  <c:v>-3.275</c:v>
                </c:pt>
                <c:pt idx="50">
                  <c:v>-3.25</c:v>
                </c:pt>
                <c:pt idx="51">
                  <c:v>-3.225</c:v>
                </c:pt>
                <c:pt idx="52">
                  <c:v>-3.2</c:v>
                </c:pt>
                <c:pt idx="53">
                  <c:v>-3.175</c:v>
                </c:pt>
                <c:pt idx="54">
                  <c:v>-3.15</c:v>
                </c:pt>
                <c:pt idx="55">
                  <c:v>-3.125</c:v>
                </c:pt>
                <c:pt idx="56">
                  <c:v>-3.1</c:v>
                </c:pt>
                <c:pt idx="57">
                  <c:v>-3.075</c:v>
                </c:pt>
                <c:pt idx="58">
                  <c:v>-3.05</c:v>
                </c:pt>
                <c:pt idx="59">
                  <c:v>-3.025</c:v>
                </c:pt>
                <c:pt idx="60">
                  <c:v>-3</c:v>
                </c:pt>
                <c:pt idx="61">
                  <c:v>-2.975</c:v>
                </c:pt>
                <c:pt idx="62">
                  <c:v>-2.95</c:v>
                </c:pt>
                <c:pt idx="63">
                  <c:v>-2.925</c:v>
                </c:pt>
                <c:pt idx="64">
                  <c:v>-2.9</c:v>
                </c:pt>
                <c:pt idx="65">
                  <c:v>-2.875</c:v>
                </c:pt>
                <c:pt idx="66">
                  <c:v>-2.85</c:v>
                </c:pt>
                <c:pt idx="67">
                  <c:v>-2.825</c:v>
                </c:pt>
                <c:pt idx="68">
                  <c:v>-2.8</c:v>
                </c:pt>
                <c:pt idx="69">
                  <c:v>-2.775</c:v>
                </c:pt>
                <c:pt idx="70">
                  <c:v>-2.75</c:v>
                </c:pt>
                <c:pt idx="71">
                  <c:v>-2.725</c:v>
                </c:pt>
                <c:pt idx="72">
                  <c:v>-2.7</c:v>
                </c:pt>
                <c:pt idx="73">
                  <c:v>-2.675</c:v>
                </c:pt>
                <c:pt idx="74">
                  <c:v>-2.65</c:v>
                </c:pt>
                <c:pt idx="75">
                  <c:v>-2.625</c:v>
                </c:pt>
                <c:pt idx="76">
                  <c:v>-2.6</c:v>
                </c:pt>
                <c:pt idx="77">
                  <c:v>-2.575</c:v>
                </c:pt>
                <c:pt idx="78">
                  <c:v>-2.55</c:v>
                </c:pt>
                <c:pt idx="79">
                  <c:v>-2.525</c:v>
                </c:pt>
                <c:pt idx="80">
                  <c:v>-2.5</c:v>
                </c:pt>
                <c:pt idx="81">
                  <c:v>-2.475</c:v>
                </c:pt>
                <c:pt idx="82">
                  <c:v>-2.45</c:v>
                </c:pt>
                <c:pt idx="83">
                  <c:v>-2.425</c:v>
                </c:pt>
                <c:pt idx="84">
                  <c:v>-2.4</c:v>
                </c:pt>
                <c:pt idx="85">
                  <c:v>-2.375</c:v>
                </c:pt>
                <c:pt idx="86">
                  <c:v>-2.35</c:v>
                </c:pt>
                <c:pt idx="87">
                  <c:v>-2.325</c:v>
                </c:pt>
                <c:pt idx="88">
                  <c:v>-2.3</c:v>
                </c:pt>
                <c:pt idx="89">
                  <c:v>-2.275</c:v>
                </c:pt>
                <c:pt idx="90">
                  <c:v>-2.25</c:v>
                </c:pt>
                <c:pt idx="91">
                  <c:v>-2.225</c:v>
                </c:pt>
                <c:pt idx="92">
                  <c:v>-2.2</c:v>
                </c:pt>
                <c:pt idx="93">
                  <c:v>-2.175</c:v>
                </c:pt>
                <c:pt idx="94">
                  <c:v>-2.15</c:v>
                </c:pt>
                <c:pt idx="95">
                  <c:v>-2.125</c:v>
                </c:pt>
                <c:pt idx="96">
                  <c:v>-2.1</c:v>
                </c:pt>
                <c:pt idx="97">
                  <c:v>-2.075</c:v>
                </c:pt>
                <c:pt idx="98">
                  <c:v>-2.05</c:v>
                </c:pt>
                <c:pt idx="99">
                  <c:v>-2.025</c:v>
                </c:pt>
                <c:pt idx="100">
                  <c:v>-2</c:v>
                </c:pt>
                <c:pt idx="101">
                  <c:v>-1.975</c:v>
                </c:pt>
                <c:pt idx="102">
                  <c:v>-1.95</c:v>
                </c:pt>
                <c:pt idx="103">
                  <c:v>-1.925</c:v>
                </c:pt>
                <c:pt idx="104">
                  <c:v>-1.9</c:v>
                </c:pt>
                <c:pt idx="105">
                  <c:v>-1.875</c:v>
                </c:pt>
                <c:pt idx="106">
                  <c:v>-1.85</c:v>
                </c:pt>
                <c:pt idx="107">
                  <c:v>-1.825</c:v>
                </c:pt>
                <c:pt idx="108">
                  <c:v>-1.8</c:v>
                </c:pt>
                <c:pt idx="109">
                  <c:v>-1.775</c:v>
                </c:pt>
                <c:pt idx="110">
                  <c:v>-1.75</c:v>
                </c:pt>
                <c:pt idx="111">
                  <c:v>-1.725</c:v>
                </c:pt>
                <c:pt idx="112">
                  <c:v>-1.7</c:v>
                </c:pt>
                <c:pt idx="113">
                  <c:v>-1.675</c:v>
                </c:pt>
                <c:pt idx="114">
                  <c:v>-1.65</c:v>
                </c:pt>
                <c:pt idx="115">
                  <c:v>-1.625</c:v>
                </c:pt>
                <c:pt idx="116">
                  <c:v>-1.6</c:v>
                </c:pt>
                <c:pt idx="117">
                  <c:v>-1.575</c:v>
                </c:pt>
                <c:pt idx="118">
                  <c:v>-1.55</c:v>
                </c:pt>
                <c:pt idx="119">
                  <c:v>-1.525</c:v>
                </c:pt>
                <c:pt idx="120">
                  <c:v>-1.5</c:v>
                </c:pt>
                <c:pt idx="121">
                  <c:v>-1.475</c:v>
                </c:pt>
                <c:pt idx="122">
                  <c:v>-1.45</c:v>
                </c:pt>
                <c:pt idx="123">
                  <c:v>-1.425</c:v>
                </c:pt>
                <c:pt idx="124">
                  <c:v>-1.4</c:v>
                </c:pt>
                <c:pt idx="125">
                  <c:v>-1.375</c:v>
                </c:pt>
                <c:pt idx="126">
                  <c:v>-1.35</c:v>
                </c:pt>
                <c:pt idx="127">
                  <c:v>-1.325</c:v>
                </c:pt>
                <c:pt idx="128">
                  <c:v>-1.3</c:v>
                </c:pt>
                <c:pt idx="129">
                  <c:v>-1.275</c:v>
                </c:pt>
                <c:pt idx="130">
                  <c:v>-1.25</c:v>
                </c:pt>
                <c:pt idx="131">
                  <c:v>-1.225</c:v>
                </c:pt>
                <c:pt idx="132">
                  <c:v>-1.2</c:v>
                </c:pt>
                <c:pt idx="133">
                  <c:v>-1.175</c:v>
                </c:pt>
                <c:pt idx="134">
                  <c:v>-1.15</c:v>
                </c:pt>
                <c:pt idx="135">
                  <c:v>-1.125</c:v>
                </c:pt>
                <c:pt idx="136">
                  <c:v>-1.1</c:v>
                </c:pt>
                <c:pt idx="137">
                  <c:v>-1.075</c:v>
                </c:pt>
                <c:pt idx="138">
                  <c:v>-1.05</c:v>
                </c:pt>
                <c:pt idx="139">
                  <c:v>-1.025</c:v>
                </c:pt>
                <c:pt idx="140">
                  <c:v>-1</c:v>
                </c:pt>
                <c:pt idx="141">
                  <c:v>-0.975</c:v>
                </c:pt>
                <c:pt idx="142">
                  <c:v>-0.95</c:v>
                </c:pt>
                <c:pt idx="143">
                  <c:v>-0.925</c:v>
                </c:pt>
                <c:pt idx="144">
                  <c:v>-0.9</c:v>
                </c:pt>
                <c:pt idx="145">
                  <c:v>-0.875</c:v>
                </c:pt>
                <c:pt idx="146">
                  <c:v>-0.85</c:v>
                </c:pt>
                <c:pt idx="147">
                  <c:v>-0.825</c:v>
                </c:pt>
                <c:pt idx="148">
                  <c:v>-0.8</c:v>
                </c:pt>
                <c:pt idx="149">
                  <c:v>-0.775</c:v>
                </c:pt>
                <c:pt idx="150">
                  <c:v>-0.75</c:v>
                </c:pt>
                <c:pt idx="151">
                  <c:v>-0.725</c:v>
                </c:pt>
                <c:pt idx="152">
                  <c:v>-0.7</c:v>
                </c:pt>
                <c:pt idx="153">
                  <c:v>-0.675</c:v>
                </c:pt>
                <c:pt idx="154">
                  <c:v>-0.65</c:v>
                </c:pt>
                <c:pt idx="155">
                  <c:v>-0.625</c:v>
                </c:pt>
                <c:pt idx="156">
                  <c:v>-0.6</c:v>
                </c:pt>
                <c:pt idx="157">
                  <c:v>-0.575</c:v>
                </c:pt>
                <c:pt idx="158">
                  <c:v>-0.55</c:v>
                </c:pt>
                <c:pt idx="159">
                  <c:v>-0.525</c:v>
                </c:pt>
                <c:pt idx="160">
                  <c:v>-0.5</c:v>
                </c:pt>
                <c:pt idx="161">
                  <c:v>-0.475</c:v>
                </c:pt>
                <c:pt idx="162">
                  <c:v>-0.45</c:v>
                </c:pt>
                <c:pt idx="163">
                  <c:v>-0.425</c:v>
                </c:pt>
                <c:pt idx="164">
                  <c:v>-0.4</c:v>
                </c:pt>
                <c:pt idx="165">
                  <c:v>-0.375</c:v>
                </c:pt>
                <c:pt idx="166">
                  <c:v>-0.35</c:v>
                </c:pt>
                <c:pt idx="167">
                  <c:v>-0.325</c:v>
                </c:pt>
                <c:pt idx="168">
                  <c:v>-0.3</c:v>
                </c:pt>
                <c:pt idx="169">
                  <c:v>-0.275</c:v>
                </c:pt>
                <c:pt idx="170">
                  <c:v>-0.25</c:v>
                </c:pt>
                <c:pt idx="171">
                  <c:v>-0.225</c:v>
                </c:pt>
                <c:pt idx="172">
                  <c:v>-0.2</c:v>
                </c:pt>
                <c:pt idx="173">
                  <c:v>-0.175</c:v>
                </c:pt>
                <c:pt idx="174">
                  <c:v>-0.15</c:v>
                </c:pt>
                <c:pt idx="175">
                  <c:v>-0.125</c:v>
                </c:pt>
                <c:pt idx="176">
                  <c:v>-0.1</c:v>
                </c:pt>
                <c:pt idx="177">
                  <c:v>-0.075</c:v>
                </c:pt>
                <c:pt idx="178">
                  <c:v>-0.05</c:v>
                </c:pt>
                <c:pt idx="179">
                  <c:v>-0.025</c:v>
                </c:pt>
                <c:pt idx="180">
                  <c:v>0</c:v>
                </c:pt>
                <c:pt idx="181">
                  <c:v>0.025</c:v>
                </c:pt>
                <c:pt idx="182">
                  <c:v>0.05</c:v>
                </c:pt>
                <c:pt idx="183">
                  <c:v>0.075</c:v>
                </c:pt>
                <c:pt idx="184">
                  <c:v>0.1</c:v>
                </c:pt>
                <c:pt idx="185">
                  <c:v>0.125</c:v>
                </c:pt>
                <c:pt idx="186">
                  <c:v>0.15</c:v>
                </c:pt>
                <c:pt idx="187">
                  <c:v>0.175</c:v>
                </c:pt>
                <c:pt idx="188">
                  <c:v>0.2</c:v>
                </c:pt>
                <c:pt idx="189">
                  <c:v>0.225</c:v>
                </c:pt>
                <c:pt idx="190">
                  <c:v>0.25</c:v>
                </c:pt>
                <c:pt idx="191">
                  <c:v>0.275</c:v>
                </c:pt>
                <c:pt idx="192">
                  <c:v>0.3</c:v>
                </c:pt>
                <c:pt idx="193">
                  <c:v>0.325</c:v>
                </c:pt>
                <c:pt idx="194">
                  <c:v>0.35</c:v>
                </c:pt>
                <c:pt idx="195">
                  <c:v>0.375</c:v>
                </c:pt>
                <c:pt idx="196">
                  <c:v>0.4</c:v>
                </c:pt>
                <c:pt idx="197">
                  <c:v>0.425</c:v>
                </c:pt>
                <c:pt idx="198">
                  <c:v>0.45</c:v>
                </c:pt>
                <c:pt idx="199">
                  <c:v>0.475</c:v>
                </c:pt>
                <c:pt idx="200">
                  <c:v>0.5</c:v>
                </c:pt>
                <c:pt idx="201">
                  <c:v>0.525</c:v>
                </c:pt>
                <c:pt idx="202">
                  <c:v>0.55</c:v>
                </c:pt>
                <c:pt idx="203">
                  <c:v>0.575</c:v>
                </c:pt>
                <c:pt idx="204">
                  <c:v>0.6</c:v>
                </c:pt>
                <c:pt idx="205">
                  <c:v>0.625</c:v>
                </c:pt>
                <c:pt idx="206">
                  <c:v>0.65</c:v>
                </c:pt>
                <c:pt idx="207">
                  <c:v>0.675</c:v>
                </c:pt>
                <c:pt idx="208">
                  <c:v>0.7</c:v>
                </c:pt>
                <c:pt idx="209">
                  <c:v>0.725</c:v>
                </c:pt>
                <c:pt idx="210">
                  <c:v>0.75</c:v>
                </c:pt>
                <c:pt idx="211">
                  <c:v>0.775</c:v>
                </c:pt>
                <c:pt idx="212">
                  <c:v>0.8</c:v>
                </c:pt>
                <c:pt idx="213">
                  <c:v>0.825</c:v>
                </c:pt>
                <c:pt idx="214">
                  <c:v>0.85</c:v>
                </c:pt>
                <c:pt idx="215">
                  <c:v>0.875</c:v>
                </c:pt>
                <c:pt idx="216">
                  <c:v>0.9</c:v>
                </c:pt>
                <c:pt idx="217">
                  <c:v>0.925</c:v>
                </c:pt>
                <c:pt idx="218">
                  <c:v>0.95</c:v>
                </c:pt>
                <c:pt idx="219">
                  <c:v>0.975</c:v>
                </c:pt>
                <c:pt idx="220">
                  <c:v>1</c:v>
                </c:pt>
                <c:pt idx="221">
                  <c:v>1.025</c:v>
                </c:pt>
                <c:pt idx="222">
                  <c:v>1.05</c:v>
                </c:pt>
                <c:pt idx="223">
                  <c:v>1.075</c:v>
                </c:pt>
                <c:pt idx="224">
                  <c:v>1.1</c:v>
                </c:pt>
                <c:pt idx="225">
                  <c:v>1.125</c:v>
                </c:pt>
                <c:pt idx="226">
                  <c:v>1.15</c:v>
                </c:pt>
                <c:pt idx="227">
                  <c:v>1.175</c:v>
                </c:pt>
                <c:pt idx="228">
                  <c:v>1.2</c:v>
                </c:pt>
                <c:pt idx="229">
                  <c:v>1.225</c:v>
                </c:pt>
                <c:pt idx="230">
                  <c:v>1.25</c:v>
                </c:pt>
                <c:pt idx="231">
                  <c:v>1.275</c:v>
                </c:pt>
                <c:pt idx="232">
                  <c:v>1.3</c:v>
                </c:pt>
                <c:pt idx="233">
                  <c:v>1.325</c:v>
                </c:pt>
                <c:pt idx="234">
                  <c:v>1.35</c:v>
                </c:pt>
                <c:pt idx="235">
                  <c:v>1.375</c:v>
                </c:pt>
                <c:pt idx="236">
                  <c:v>1.4</c:v>
                </c:pt>
                <c:pt idx="237">
                  <c:v>1.425</c:v>
                </c:pt>
                <c:pt idx="238">
                  <c:v>1.45</c:v>
                </c:pt>
                <c:pt idx="239">
                  <c:v>1.475</c:v>
                </c:pt>
                <c:pt idx="240">
                  <c:v>1.5</c:v>
                </c:pt>
                <c:pt idx="241">
                  <c:v>1.525</c:v>
                </c:pt>
                <c:pt idx="242">
                  <c:v>1.55</c:v>
                </c:pt>
                <c:pt idx="243">
                  <c:v>1.575</c:v>
                </c:pt>
                <c:pt idx="244">
                  <c:v>1.6</c:v>
                </c:pt>
                <c:pt idx="245">
                  <c:v>1.625</c:v>
                </c:pt>
                <c:pt idx="246">
                  <c:v>1.65</c:v>
                </c:pt>
                <c:pt idx="247">
                  <c:v>1.675</c:v>
                </c:pt>
                <c:pt idx="248">
                  <c:v>1.7</c:v>
                </c:pt>
                <c:pt idx="249">
                  <c:v>1.725</c:v>
                </c:pt>
                <c:pt idx="250">
                  <c:v>1.75</c:v>
                </c:pt>
                <c:pt idx="251">
                  <c:v>1.775</c:v>
                </c:pt>
                <c:pt idx="252">
                  <c:v>1.8</c:v>
                </c:pt>
                <c:pt idx="253">
                  <c:v>1.825</c:v>
                </c:pt>
                <c:pt idx="254">
                  <c:v>1.85</c:v>
                </c:pt>
                <c:pt idx="255">
                  <c:v>1.875</c:v>
                </c:pt>
                <c:pt idx="256">
                  <c:v>1.9</c:v>
                </c:pt>
                <c:pt idx="257">
                  <c:v>1.925</c:v>
                </c:pt>
                <c:pt idx="258">
                  <c:v>1.95</c:v>
                </c:pt>
                <c:pt idx="259">
                  <c:v>1.975</c:v>
                </c:pt>
                <c:pt idx="260">
                  <c:v>2</c:v>
                </c:pt>
                <c:pt idx="261">
                  <c:v>2.025</c:v>
                </c:pt>
                <c:pt idx="262">
                  <c:v>2.05</c:v>
                </c:pt>
                <c:pt idx="263">
                  <c:v>2.075</c:v>
                </c:pt>
                <c:pt idx="264">
                  <c:v>2.1</c:v>
                </c:pt>
                <c:pt idx="265">
                  <c:v>2.125</c:v>
                </c:pt>
                <c:pt idx="266">
                  <c:v>2.15</c:v>
                </c:pt>
                <c:pt idx="267">
                  <c:v>2.175</c:v>
                </c:pt>
                <c:pt idx="268">
                  <c:v>2.2</c:v>
                </c:pt>
                <c:pt idx="269">
                  <c:v>2.225</c:v>
                </c:pt>
                <c:pt idx="270">
                  <c:v>2.25</c:v>
                </c:pt>
                <c:pt idx="271">
                  <c:v>2.275</c:v>
                </c:pt>
                <c:pt idx="272">
                  <c:v>2.3</c:v>
                </c:pt>
                <c:pt idx="273">
                  <c:v>2.325</c:v>
                </c:pt>
                <c:pt idx="274">
                  <c:v>2.35</c:v>
                </c:pt>
                <c:pt idx="275">
                  <c:v>2.375</c:v>
                </c:pt>
                <c:pt idx="276">
                  <c:v>2.4</c:v>
                </c:pt>
                <c:pt idx="277">
                  <c:v>2.425</c:v>
                </c:pt>
                <c:pt idx="278">
                  <c:v>2.45</c:v>
                </c:pt>
                <c:pt idx="279">
                  <c:v>2.475</c:v>
                </c:pt>
                <c:pt idx="280">
                  <c:v>2.5</c:v>
                </c:pt>
                <c:pt idx="281">
                  <c:v>2.525</c:v>
                </c:pt>
                <c:pt idx="282">
                  <c:v>2.55</c:v>
                </c:pt>
                <c:pt idx="283">
                  <c:v>2.575</c:v>
                </c:pt>
                <c:pt idx="284">
                  <c:v>2.6</c:v>
                </c:pt>
                <c:pt idx="285">
                  <c:v>2.625</c:v>
                </c:pt>
                <c:pt idx="286">
                  <c:v>2.65</c:v>
                </c:pt>
                <c:pt idx="287">
                  <c:v>2.675</c:v>
                </c:pt>
                <c:pt idx="288">
                  <c:v>2.7</c:v>
                </c:pt>
                <c:pt idx="289">
                  <c:v>2.725</c:v>
                </c:pt>
                <c:pt idx="290">
                  <c:v>2.75</c:v>
                </c:pt>
                <c:pt idx="291">
                  <c:v>2.775</c:v>
                </c:pt>
                <c:pt idx="292">
                  <c:v>2.8</c:v>
                </c:pt>
                <c:pt idx="293">
                  <c:v>2.825</c:v>
                </c:pt>
                <c:pt idx="294">
                  <c:v>2.85</c:v>
                </c:pt>
                <c:pt idx="295">
                  <c:v>2.875</c:v>
                </c:pt>
                <c:pt idx="296">
                  <c:v>2.9</c:v>
                </c:pt>
                <c:pt idx="297">
                  <c:v>2.925</c:v>
                </c:pt>
                <c:pt idx="298">
                  <c:v>2.95</c:v>
                </c:pt>
                <c:pt idx="299">
                  <c:v>2.975</c:v>
                </c:pt>
                <c:pt idx="300">
                  <c:v>3</c:v>
                </c:pt>
                <c:pt idx="301">
                  <c:v>3.025</c:v>
                </c:pt>
                <c:pt idx="302">
                  <c:v>3.05</c:v>
                </c:pt>
                <c:pt idx="303">
                  <c:v>3.075</c:v>
                </c:pt>
                <c:pt idx="304">
                  <c:v>3.1</c:v>
                </c:pt>
                <c:pt idx="305">
                  <c:v>3.125</c:v>
                </c:pt>
                <c:pt idx="306">
                  <c:v>3.15</c:v>
                </c:pt>
                <c:pt idx="307">
                  <c:v>3.175</c:v>
                </c:pt>
                <c:pt idx="308">
                  <c:v>3.2</c:v>
                </c:pt>
                <c:pt idx="309">
                  <c:v>3.225</c:v>
                </c:pt>
                <c:pt idx="310">
                  <c:v>3.25</c:v>
                </c:pt>
                <c:pt idx="311">
                  <c:v>3.275</c:v>
                </c:pt>
                <c:pt idx="312">
                  <c:v>3.3</c:v>
                </c:pt>
                <c:pt idx="313">
                  <c:v>3.325</c:v>
                </c:pt>
                <c:pt idx="314">
                  <c:v>3.35</c:v>
                </c:pt>
                <c:pt idx="315">
                  <c:v>3.375</c:v>
                </c:pt>
                <c:pt idx="316">
                  <c:v>3.4</c:v>
                </c:pt>
                <c:pt idx="317">
                  <c:v>3.425</c:v>
                </c:pt>
                <c:pt idx="318">
                  <c:v>3.45</c:v>
                </c:pt>
                <c:pt idx="319">
                  <c:v>3.475</c:v>
                </c:pt>
                <c:pt idx="320">
                  <c:v>3.5</c:v>
                </c:pt>
                <c:pt idx="321">
                  <c:v>3.525</c:v>
                </c:pt>
                <c:pt idx="322">
                  <c:v>3.55</c:v>
                </c:pt>
                <c:pt idx="323">
                  <c:v>3.575</c:v>
                </c:pt>
                <c:pt idx="324">
                  <c:v>3.6</c:v>
                </c:pt>
                <c:pt idx="325">
                  <c:v>3.625</c:v>
                </c:pt>
                <c:pt idx="326">
                  <c:v>3.65</c:v>
                </c:pt>
                <c:pt idx="327">
                  <c:v>3.675</c:v>
                </c:pt>
                <c:pt idx="328">
                  <c:v>3.7</c:v>
                </c:pt>
                <c:pt idx="329">
                  <c:v>3.725</c:v>
                </c:pt>
                <c:pt idx="330">
                  <c:v>3.75</c:v>
                </c:pt>
                <c:pt idx="331">
                  <c:v>3.775</c:v>
                </c:pt>
                <c:pt idx="332">
                  <c:v>3.8</c:v>
                </c:pt>
                <c:pt idx="333">
                  <c:v>3.825</c:v>
                </c:pt>
                <c:pt idx="334">
                  <c:v>3.85</c:v>
                </c:pt>
                <c:pt idx="335">
                  <c:v>3.875</c:v>
                </c:pt>
                <c:pt idx="336">
                  <c:v>3.9</c:v>
                </c:pt>
                <c:pt idx="337">
                  <c:v>3.925</c:v>
                </c:pt>
                <c:pt idx="338">
                  <c:v>3.95</c:v>
                </c:pt>
                <c:pt idx="339">
                  <c:v>3.975</c:v>
                </c:pt>
                <c:pt idx="340">
                  <c:v>4</c:v>
                </c:pt>
                <c:pt idx="341">
                  <c:v>4.025</c:v>
                </c:pt>
                <c:pt idx="342">
                  <c:v>4.05</c:v>
                </c:pt>
                <c:pt idx="343">
                  <c:v>4.075</c:v>
                </c:pt>
                <c:pt idx="344">
                  <c:v>4.1</c:v>
                </c:pt>
                <c:pt idx="345">
                  <c:v>4.125</c:v>
                </c:pt>
                <c:pt idx="346">
                  <c:v>4.15</c:v>
                </c:pt>
                <c:pt idx="347">
                  <c:v>4.175</c:v>
                </c:pt>
                <c:pt idx="348">
                  <c:v>4.2</c:v>
                </c:pt>
                <c:pt idx="349">
                  <c:v>4.225</c:v>
                </c:pt>
                <c:pt idx="350">
                  <c:v>4.25</c:v>
                </c:pt>
                <c:pt idx="351">
                  <c:v>4.275</c:v>
                </c:pt>
                <c:pt idx="352">
                  <c:v>4.3</c:v>
                </c:pt>
                <c:pt idx="353">
                  <c:v>4.325</c:v>
                </c:pt>
                <c:pt idx="354">
                  <c:v>4.35</c:v>
                </c:pt>
                <c:pt idx="355">
                  <c:v>4.375</c:v>
                </c:pt>
                <c:pt idx="356">
                  <c:v>4.4</c:v>
                </c:pt>
                <c:pt idx="357">
                  <c:v>4.425</c:v>
                </c:pt>
                <c:pt idx="358">
                  <c:v>4.45</c:v>
                </c:pt>
                <c:pt idx="359">
                  <c:v>4.475</c:v>
                </c:pt>
                <c:pt idx="360">
                  <c:v>4.5</c:v>
                </c:pt>
              </c:numCache>
            </c:numRef>
          </c:xVal>
          <c:yVal>
            <c:numRef>
              <c:f>'Chart Data'!$B$2:$B$362</c:f>
              <c:numCache>
                <c:formatCode>General</c:formatCode>
                <c:ptCount val="361"/>
                <c:pt idx="0">
                  <c:v>4.5</c:v>
                </c:pt>
                <c:pt idx="1">
                  <c:v>4.35125</c:v>
                </c:pt>
                <c:pt idx="2">
                  <c:v>4.205</c:v>
                </c:pt>
                <c:pt idx="3">
                  <c:v>4.06125</c:v>
                </c:pt>
                <c:pt idx="4">
                  <c:v>3.92</c:v>
                </c:pt>
                <c:pt idx="5">
                  <c:v>3.78125</c:v>
                </c:pt>
                <c:pt idx="6">
                  <c:v>3.645</c:v>
                </c:pt>
                <c:pt idx="7">
                  <c:v>3.51125</c:v>
                </c:pt>
                <c:pt idx="8">
                  <c:v>3.38</c:v>
                </c:pt>
                <c:pt idx="9">
                  <c:v>3.25125</c:v>
                </c:pt>
                <c:pt idx="10">
                  <c:v>3.125</c:v>
                </c:pt>
                <c:pt idx="11">
                  <c:v>3.00125</c:v>
                </c:pt>
                <c:pt idx="12">
                  <c:v>2.88</c:v>
                </c:pt>
                <c:pt idx="13">
                  <c:v>2.76125</c:v>
                </c:pt>
                <c:pt idx="14">
                  <c:v>2.645</c:v>
                </c:pt>
                <c:pt idx="15">
                  <c:v>2.53125</c:v>
                </c:pt>
                <c:pt idx="16">
                  <c:v>2.42</c:v>
                </c:pt>
                <c:pt idx="17">
                  <c:v>2.31125</c:v>
                </c:pt>
                <c:pt idx="18">
                  <c:v>2.205</c:v>
                </c:pt>
                <c:pt idx="19">
                  <c:v>2.10125</c:v>
                </c:pt>
                <c:pt idx="20">
                  <c:v>2</c:v>
                </c:pt>
                <c:pt idx="21">
                  <c:v>1.90125</c:v>
                </c:pt>
                <c:pt idx="22">
                  <c:v>1.805</c:v>
                </c:pt>
                <c:pt idx="23">
                  <c:v>1.71125</c:v>
                </c:pt>
                <c:pt idx="24">
                  <c:v>1.62</c:v>
                </c:pt>
                <c:pt idx="25">
                  <c:v>1.53125</c:v>
                </c:pt>
                <c:pt idx="26">
                  <c:v>1.445</c:v>
                </c:pt>
                <c:pt idx="27">
                  <c:v>1.36125</c:v>
                </c:pt>
                <c:pt idx="28">
                  <c:v>1.28</c:v>
                </c:pt>
                <c:pt idx="29">
                  <c:v>1.20125</c:v>
                </c:pt>
                <c:pt idx="30">
                  <c:v>1.125</c:v>
                </c:pt>
                <c:pt idx="31">
                  <c:v>1.05125</c:v>
                </c:pt>
                <c:pt idx="32">
                  <c:v>0.980000000000001</c:v>
                </c:pt>
                <c:pt idx="33">
                  <c:v>0.91125</c:v>
                </c:pt>
                <c:pt idx="34">
                  <c:v>0.845</c:v>
                </c:pt>
                <c:pt idx="35">
                  <c:v>0.78125</c:v>
                </c:pt>
                <c:pt idx="36">
                  <c:v>0.72</c:v>
                </c:pt>
                <c:pt idx="37">
                  <c:v>0.66125</c:v>
                </c:pt>
                <c:pt idx="38">
                  <c:v>0.605</c:v>
                </c:pt>
                <c:pt idx="39">
                  <c:v>0.55125</c:v>
                </c:pt>
                <c:pt idx="40">
                  <c:v>0.5</c:v>
                </c:pt>
                <c:pt idx="41">
                  <c:v>0.45125</c:v>
                </c:pt>
                <c:pt idx="42">
                  <c:v>0.405</c:v>
                </c:pt>
                <c:pt idx="43">
                  <c:v>0.36125</c:v>
                </c:pt>
                <c:pt idx="44">
                  <c:v>0.32</c:v>
                </c:pt>
                <c:pt idx="45">
                  <c:v>0.28125</c:v>
                </c:pt>
                <c:pt idx="46">
                  <c:v>0.245</c:v>
                </c:pt>
                <c:pt idx="47">
                  <c:v>0.21125</c:v>
                </c:pt>
                <c:pt idx="48">
                  <c:v>0.18</c:v>
                </c:pt>
                <c:pt idx="49">
                  <c:v>0.15125</c:v>
                </c:pt>
                <c:pt idx="50">
                  <c:v>0.125</c:v>
                </c:pt>
                <c:pt idx="51">
                  <c:v>0.10125</c:v>
                </c:pt>
                <c:pt idx="52">
                  <c:v>0.0800000000000001</c:v>
                </c:pt>
                <c:pt idx="53">
                  <c:v>0.0612499999999999</c:v>
                </c:pt>
                <c:pt idx="54">
                  <c:v>0.0450000000000001</c:v>
                </c:pt>
                <c:pt idx="55">
                  <c:v>3.125E-2</c:v>
                </c:pt>
                <c:pt idx="56">
                  <c:v>1.99999999999999E-2</c:v>
                </c:pt>
                <c:pt idx="57">
                  <c:v>1.12500000000001E-2</c:v>
                </c:pt>
                <c:pt idx="58">
                  <c:v>0.00499999999999996</c:v>
                </c:pt>
                <c:pt idx="59">
                  <c:v>1.25000000000001E-3</c:v>
                </c:pt>
                <c:pt idx="60">
                  <c:v>0</c:v>
                </c:pt>
                <c:pt idx="61">
                  <c:v>0.00124999999999999</c:v>
                </c:pt>
                <c:pt idx="62">
                  <c:v>0.00499999999999996</c:v>
                </c:pt>
                <c:pt idx="63">
                  <c:v>1.12500000000001E-2</c:v>
                </c:pt>
                <c:pt idx="64">
                  <c:v>0.02</c:v>
                </c:pt>
                <c:pt idx="65">
                  <c:v>3.125E-2</c:v>
                </c:pt>
                <c:pt idx="66">
                  <c:v>0.0449999999999999</c:v>
                </c:pt>
                <c:pt idx="67">
                  <c:v>0.0612499999999999</c:v>
                </c:pt>
                <c:pt idx="68">
                  <c:v>0.0800000000000001</c:v>
                </c:pt>
                <c:pt idx="69">
                  <c:v>0.10125</c:v>
                </c:pt>
                <c:pt idx="70">
                  <c:v>0.125</c:v>
                </c:pt>
                <c:pt idx="71">
                  <c:v>0.15125</c:v>
                </c:pt>
                <c:pt idx="72">
                  <c:v>0.18</c:v>
                </c:pt>
                <c:pt idx="73">
                  <c:v>0.21125</c:v>
                </c:pt>
                <c:pt idx="74">
                  <c:v>0.245</c:v>
                </c:pt>
                <c:pt idx="75">
                  <c:v>0.28125</c:v>
                </c:pt>
                <c:pt idx="76">
                  <c:v>0.32</c:v>
                </c:pt>
                <c:pt idx="77">
                  <c:v>0.36125</c:v>
                </c:pt>
                <c:pt idx="78">
                  <c:v>0.405</c:v>
                </c:pt>
                <c:pt idx="79">
                  <c:v>0.45125</c:v>
                </c:pt>
                <c:pt idx="80">
                  <c:v>0.5</c:v>
                </c:pt>
                <c:pt idx="81">
                  <c:v>0.55125</c:v>
                </c:pt>
                <c:pt idx="82">
                  <c:v>0.605</c:v>
                </c:pt>
                <c:pt idx="83">
                  <c:v>0.66125</c:v>
                </c:pt>
                <c:pt idx="84">
                  <c:v>0.72</c:v>
                </c:pt>
                <c:pt idx="85">
                  <c:v>0.78125</c:v>
                </c:pt>
                <c:pt idx="86">
                  <c:v>0.845</c:v>
                </c:pt>
                <c:pt idx="87">
                  <c:v>0.91125</c:v>
                </c:pt>
                <c:pt idx="88">
                  <c:v>0.980000000000001</c:v>
                </c:pt>
                <c:pt idx="89">
                  <c:v>1.05125</c:v>
                </c:pt>
                <c:pt idx="90">
                  <c:v>1.125</c:v>
                </c:pt>
                <c:pt idx="91">
                  <c:v>1.20125</c:v>
                </c:pt>
                <c:pt idx="92">
                  <c:v>1.28</c:v>
                </c:pt>
                <c:pt idx="93">
                  <c:v>1.36125</c:v>
                </c:pt>
                <c:pt idx="94">
                  <c:v>1.445</c:v>
                </c:pt>
                <c:pt idx="95">
                  <c:v>1.53125</c:v>
                </c:pt>
                <c:pt idx="96">
                  <c:v>1.62</c:v>
                </c:pt>
                <c:pt idx="97">
                  <c:v>1.71125</c:v>
                </c:pt>
                <c:pt idx="98">
                  <c:v>1.805</c:v>
                </c:pt>
                <c:pt idx="99">
                  <c:v>1.90125</c:v>
                </c:pt>
                <c:pt idx="100">
                  <c:v>2</c:v>
                </c:pt>
                <c:pt idx="101">
                  <c:v>2.10125</c:v>
                </c:pt>
                <c:pt idx="102">
                  <c:v>2.205</c:v>
                </c:pt>
                <c:pt idx="103">
                  <c:v>2.31125</c:v>
                </c:pt>
                <c:pt idx="104">
                  <c:v>2.42</c:v>
                </c:pt>
                <c:pt idx="105">
                  <c:v>2.53125</c:v>
                </c:pt>
                <c:pt idx="106">
                  <c:v>2.645</c:v>
                </c:pt>
                <c:pt idx="107">
                  <c:v>2.76125</c:v>
                </c:pt>
                <c:pt idx="108">
                  <c:v>2.88</c:v>
                </c:pt>
                <c:pt idx="109">
                  <c:v>3.00125</c:v>
                </c:pt>
                <c:pt idx="110">
                  <c:v>3.125</c:v>
                </c:pt>
                <c:pt idx="111">
                  <c:v>3.25125</c:v>
                </c:pt>
                <c:pt idx="112">
                  <c:v>3.38</c:v>
                </c:pt>
                <c:pt idx="113">
                  <c:v>3.51125</c:v>
                </c:pt>
                <c:pt idx="114">
                  <c:v>3.645</c:v>
                </c:pt>
                <c:pt idx="115">
                  <c:v>3.78125</c:v>
                </c:pt>
                <c:pt idx="116">
                  <c:v>3.92</c:v>
                </c:pt>
                <c:pt idx="117">
                  <c:v>4.06125</c:v>
                </c:pt>
                <c:pt idx="118">
                  <c:v>4.205</c:v>
                </c:pt>
                <c:pt idx="119">
                  <c:v>4.35125</c:v>
                </c:pt>
                <c:pt idx="120">
                  <c:v>4.5</c:v>
                </c:pt>
                <c:pt idx="121">
                  <c:v>4.65125</c:v>
                </c:pt>
                <c:pt idx="122">
                  <c:v>4.805</c:v>
                </c:pt>
                <c:pt idx="123">
                  <c:v>4.96125</c:v>
                </c:pt>
                <c:pt idx="124">
                  <c:v>5.12</c:v>
                </c:pt>
                <c:pt idx="125">
                  <c:v>5.28125</c:v>
                </c:pt>
                <c:pt idx="126">
                  <c:v>5.445</c:v>
                </c:pt>
                <c:pt idx="127">
                  <c:v>5.61125</c:v>
                </c:pt>
                <c:pt idx="128">
                  <c:v>5.78</c:v>
                </c:pt>
                <c:pt idx="129">
                  <c:v>5.95125</c:v>
                </c:pt>
                <c:pt idx="130">
                  <c:v>6.125</c:v>
                </c:pt>
                <c:pt idx="131">
                  <c:v>6.30125</c:v>
                </c:pt>
                <c:pt idx="132">
                  <c:v>6.48</c:v>
                </c:pt>
                <c:pt idx="133">
                  <c:v>6.66125</c:v>
                </c:pt>
                <c:pt idx="134">
                  <c:v>6.845</c:v>
                </c:pt>
                <c:pt idx="135">
                  <c:v>7.03125</c:v>
                </c:pt>
                <c:pt idx="136">
                  <c:v>7.22</c:v>
                </c:pt>
                <c:pt idx="137">
                  <c:v>7.41125</c:v>
                </c:pt>
                <c:pt idx="138">
                  <c:v>7.605</c:v>
                </c:pt>
                <c:pt idx="139">
                  <c:v>7.80125</c:v>
                </c:pt>
                <c:pt idx="140">
                  <c:v>8</c:v>
                </c:pt>
                <c:pt idx="141">
                  <c:v>8.00125</c:v>
                </c:pt>
                <c:pt idx="142">
                  <c:v>8.005</c:v>
                </c:pt>
                <c:pt idx="143">
                  <c:v>8.01125</c:v>
                </c:pt>
                <c:pt idx="144">
                  <c:v>8.02</c:v>
                </c:pt>
                <c:pt idx="145">
                  <c:v>8.03125</c:v>
                </c:pt>
                <c:pt idx="146">
                  <c:v>8.045</c:v>
                </c:pt>
                <c:pt idx="147">
                  <c:v>8.06125</c:v>
                </c:pt>
                <c:pt idx="148">
                  <c:v>8.08</c:v>
                </c:pt>
                <c:pt idx="149">
                  <c:v>8.10125</c:v>
                </c:pt>
                <c:pt idx="150">
                  <c:v>8.125</c:v>
                </c:pt>
                <c:pt idx="151">
                  <c:v>8.15125</c:v>
                </c:pt>
                <c:pt idx="152">
                  <c:v>8.18</c:v>
                </c:pt>
                <c:pt idx="153">
                  <c:v>8.21125</c:v>
                </c:pt>
                <c:pt idx="154">
                  <c:v>8.245</c:v>
                </c:pt>
                <c:pt idx="155">
                  <c:v>8.28125</c:v>
                </c:pt>
                <c:pt idx="156">
                  <c:v>8.32</c:v>
                </c:pt>
                <c:pt idx="157">
                  <c:v>8.36125</c:v>
                </c:pt>
                <c:pt idx="158">
                  <c:v>8.405</c:v>
                </c:pt>
                <c:pt idx="159">
                  <c:v>8.45125</c:v>
                </c:pt>
                <c:pt idx="160">
                  <c:v>8.5</c:v>
                </c:pt>
                <c:pt idx="161">
                  <c:v>8.55125</c:v>
                </c:pt>
                <c:pt idx="162">
                  <c:v>8.605</c:v>
                </c:pt>
                <c:pt idx="163">
                  <c:v>8.66125</c:v>
                </c:pt>
                <c:pt idx="164">
                  <c:v>8.72</c:v>
                </c:pt>
                <c:pt idx="165">
                  <c:v>8.78125</c:v>
                </c:pt>
                <c:pt idx="166">
                  <c:v>8.845</c:v>
                </c:pt>
                <c:pt idx="167">
                  <c:v>8.91125</c:v>
                </c:pt>
                <c:pt idx="168">
                  <c:v>8.98</c:v>
                </c:pt>
                <c:pt idx="169">
                  <c:v>9.05125</c:v>
                </c:pt>
                <c:pt idx="170">
                  <c:v>9.125</c:v>
                </c:pt>
                <c:pt idx="171">
                  <c:v>9.20125</c:v>
                </c:pt>
                <c:pt idx="172">
                  <c:v>9.28</c:v>
                </c:pt>
                <c:pt idx="173">
                  <c:v>9.36125</c:v>
                </c:pt>
                <c:pt idx="174">
                  <c:v>9.445</c:v>
                </c:pt>
                <c:pt idx="175">
                  <c:v>9.53125</c:v>
                </c:pt>
                <c:pt idx="176">
                  <c:v>9.62</c:v>
                </c:pt>
                <c:pt idx="177">
                  <c:v>9.71125</c:v>
                </c:pt>
                <c:pt idx="178">
                  <c:v>9.805</c:v>
                </c:pt>
                <c:pt idx="179">
                  <c:v>9.90125</c:v>
                </c:pt>
                <c:pt idx="180">
                  <c:v>10</c:v>
                </c:pt>
                <c:pt idx="181">
                  <c:v>10.10125</c:v>
                </c:pt>
                <c:pt idx="182">
                  <c:v>10.205</c:v>
                </c:pt>
                <c:pt idx="183">
                  <c:v>10.31125</c:v>
                </c:pt>
                <c:pt idx="184">
                  <c:v>10.42</c:v>
                </c:pt>
                <c:pt idx="185">
                  <c:v>10.53125</c:v>
                </c:pt>
                <c:pt idx="186">
                  <c:v>10.645</c:v>
                </c:pt>
                <c:pt idx="187">
                  <c:v>10.76125</c:v>
                </c:pt>
                <c:pt idx="188">
                  <c:v>10.88</c:v>
                </c:pt>
                <c:pt idx="189">
                  <c:v>11.00125</c:v>
                </c:pt>
                <c:pt idx="190">
                  <c:v>11.125</c:v>
                </c:pt>
                <c:pt idx="191">
                  <c:v>11.25125</c:v>
                </c:pt>
                <c:pt idx="192">
                  <c:v>11.38</c:v>
                </c:pt>
                <c:pt idx="193">
                  <c:v>11.51125</c:v>
                </c:pt>
                <c:pt idx="194">
                  <c:v>11.645</c:v>
                </c:pt>
                <c:pt idx="195">
                  <c:v>11.78125</c:v>
                </c:pt>
                <c:pt idx="196">
                  <c:v>11.92</c:v>
                </c:pt>
                <c:pt idx="197">
                  <c:v>12.06125</c:v>
                </c:pt>
                <c:pt idx="198">
                  <c:v>12.205</c:v>
                </c:pt>
                <c:pt idx="199">
                  <c:v>12.35125</c:v>
                </c:pt>
                <c:pt idx="200">
                  <c:v>12.5</c:v>
                </c:pt>
                <c:pt idx="201">
                  <c:v>12.65125</c:v>
                </c:pt>
                <c:pt idx="202">
                  <c:v>12.805</c:v>
                </c:pt>
                <c:pt idx="203">
                  <c:v>12.96125</c:v>
                </c:pt>
                <c:pt idx="204">
                  <c:v>13.12</c:v>
                </c:pt>
                <c:pt idx="205">
                  <c:v>13.28125</c:v>
                </c:pt>
                <c:pt idx="206">
                  <c:v>13.445</c:v>
                </c:pt>
                <c:pt idx="207">
                  <c:v>13.61125</c:v>
                </c:pt>
                <c:pt idx="208">
                  <c:v>13.78</c:v>
                </c:pt>
                <c:pt idx="209">
                  <c:v>13.95125</c:v>
                </c:pt>
                <c:pt idx="210">
                  <c:v>14.125</c:v>
                </c:pt>
                <c:pt idx="211">
                  <c:v>14.30125</c:v>
                </c:pt>
                <c:pt idx="212">
                  <c:v>14.48</c:v>
                </c:pt>
                <c:pt idx="213">
                  <c:v>14.66125</c:v>
                </c:pt>
                <c:pt idx="214">
                  <c:v>14.845</c:v>
                </c:pt>
                <c:pt idx="215">
                  <c:v>15.03125</c:v>
                </c:pt>
                <c:pt idx="216">
                  <c:v>15.22</c:v>
                </c:pt>
                <c:pt idx="217">
                  <c:v>15.41125</c:v>
                </c:pt>
                <c:pt idx="218">
                  <c:v>15.605</c:v>
                </c:pt>
                <c:pt idx="219">
                  <c:v>15.80125</c:v>
                </c:pt>
                <c:pt idx="220">
                  <c:v>16</c:v>
                </c:pt>
                <c:pt idx="221">
                  <c:v>15.80125</c:v>
                </c:pt>
                <c:pt idx="222">
                  <c:v>15.605</c:v>
                </c:pt>
                <c:pt idx="223">
                  <c:v>15.41125</c:v>
                </c:pt>
                <c:pt idx="224">
                  <c:v>15.22</c:v>
                </c:pt>
                <c:pt idx="225">
                  <c:v>15.03125</c:v>
                </c:pt>
                <c:pt idx="226">
                  <c:v>14.845</c:v>
                </c:pt>
                <c:pt idx="227">
                  <c:v>14.66125</c:v>
                </c:pt>
                <c:pt idx="228">
                  <c:v>14.48</c:v>
                </c:pt>
                <c:pt idx="229">
                  <c:v>14.30125</c:v>
                </c:pt>
                <c:pt idx="230">
                  <c:v>14.125</c:v>
                </c:pt>
                <c:pt idx="231">
                  <c:v>13.95125</c:v>
                </c:pt>
                <c:pt idx="232">
                  <c:v>13.78</c:v>
                </c:pt>
                <c:pt idx="233">
                  <c:v>13.61125</c:v>
                </c:pt>
                <c:pt idx="234">
                  <c:v>13.445</c:v>
                </c:pt>
                <c:pt idx="235">
                  <c:v>13.28125</c:v>
                </c:pt>
                <c:pt idx="236">
                  <c:v>13.12</c:v>
                </c:pt>
                <c:pt idx="237">
                  <c:v>12.96125</c:v>
                </c:pt>
                <c:pt idx="238">
                  <c:v>12.805</c:v>
                </c:pt>
                <c:pt idx="239">
                  <c:v>12.65125</c:v>
                </c:pt>
                <c:pt idx="240">
                  <c:v>12.5</c:v>
                </c:pt>
                <c:pt idx="241">
                  <c:v>12.35125</c:v>
                </c:pt>
                <c:pt idx="242">
                  <c:v>12.205</c:v>
                </c:pt>
                <c:pt idx="243">
                  <c:v>12.06125</c:v>
                </c:pt>
                <c:pt idx="244">
                  <c:v>11.92</c:v>
                </c:pt>
                <c:pt idx="245">
                  <c:v>11.78125</c:v>
                </c:pt>
                <c:pt idx="246">
                  <c:v>11.645</c:v>
                </c:pt>
                <c:pt idx="247">
                  <c:v>11.51125</c:v>
                </c:pt>
                <c:pt idx="248">
                  <c:v>11.38</c:v>
                </c:pt>
                <c:pt idx="249">
                  <c:v>11.25125</c:v>
                </c:pt>
                <c:pt idx="250">
                  <c:v>11.125</c:v>
                </c:pt>
                <c:pt idx="251">
                  <c:v>11.00125</c:v>
                </c:pt>
                <c:pt idx="252">
                  <c:v>10.88</c:v>
                </c:pt>
                <c:pt idx="253">
                  <c:v>10.76125</c:v>
                </c:pt>
                <c:pt idx="254">
                  <c:v>10.645</c:v>
                </c:pt>
                <c:pt idx="255">
                  <c:v>10.53125</c:v>
                </c:pt>
                <c:pt idx="256">
                  <c:v>10.42</c:v>
                </c:pt>
                <c:pt idx="257">
                  <c:v>10.31125</c:v>
                </c:pt>
                <c:pt idx="258">
                  <c:v>10.205</c:v>
                </c:pt>
                <c:pt idx="259">
                  <c:v>10.10125</c:v>
                </c:pt>
                <c:pt idx="260">
                  <c:v>10</c:v>
                </c:pt>
                <c:pt idx="261">
                  <c:v>9.90125</c:v>
                </c:pt>
                <c:pt idx="262">
                  <c:v>9.805</c:v>
                </c:pt>
                <c:pt idx="263">
                  <c:v>9.71125</c:v>
                </c:pt>
                <c:pt idx="264">
                  <c:v>9.62</c:v>
                </c:pt>
                <c:pt idx="265">
                  <c:v>9.53125</c:v>
                </c:pt>
                <c:pt idx="266">
                  <c:v>9.445</c:v>
                </c:pt>
                <c:pt idx="267">
                  <c:v>9.36125</c:v>
                </c:pt>
                <c:pt idx="268">
                  <c:v>9.28</c:v>
                </c:pt>
                <c:pt idx="269">
                  <c:v>9.20125</c:v>
                </c:pt>
                <c:pt idx="270">
                  <c:v>9.125</c:v>
                </c:pt>
                <c:pt idx="271">
                  <c:v>9.05125</c:v>
                </c:pt>
                <c:pt idx="272">
                  <c:v>8.98</c:v>
                </c:pt>
                <c:pt idx="273">
                  <c:v>8.91125</c:v>
                </c:pt>
                <c:pt idx="274">
                  <c:v>8.845</c:v>
                </c:pt>
                <c:pt idx="275">
                  <c:v>8.78125</c:v>
                </c:pt>
                <c:pt idx="276">
                  <c:v>8.72</c:v>
                </c:pt>
                <c:pt idx="277">
                  <c:v>8.66125</c:v>
                </c:pt>
                <c:pt idx="278">
                  <c:v>8.605</c:v>
                </c:pt>
                <c:pt idx="279">
                  <c:v>8.55125</c:v>
                </c:pt>
                <c:pt idx="280">
                  <c:v>8.5</c:v>
                </c:pt>
                <c:pt idx="281">
                  <c:v>8.45125</c:v>
                </c:pt>
                <c:pt idx="282">
                  <c:v>8.405</c:v>
                </c:pt>
                <c:pt idx="283">
                  <c:v>8.36125</c:v>
                </c:pt>
                <c:pt idx="284">
                  <c:v>8.32</c:v>
                </c:pt>
                <c:pt idx="285">
                  <c:v>8.28125</c:v>
                </c:pt>
                <c:pt idx="286">
                  <c:v>8.245</c:v>
                </c:pt>
                <c:pt idx="287">
                  <c:v>8.21125</c:v>
                </c:pt>
                <c:pt idx="288">
                  <c:v>8.18</c:v>
                </c:pt>
                <c:pt idx="289">
                  <c:v>8.15125</c:v>
                </c:pt>
                <c:pt idx="290">
                  <c:v>8.125</c:v>
                </c:pt>
                <c:pt idx="291">
                  <c:v>8.10125</c:v>
                </c:pt>
                <c:pt idx="292">
                  <c:v>8.08</c:v>
                </c:pt>
                <c:pt idx="293">
                  <c:v>8.06125</c:v>
                </c:pt>
                <c:pt idx="294">
                  <c:v>8.045</c:v>
                </c:pt>
                <c:pt idx="295">
                  <c:v>8.03125</c:v>
                </c:pt>
                <c:pt idx="296">
                  <c:v>8.02</c:v>
                </c:pt>
                <c:pt idx="297">
                  <c:v>8.01125</c:v>
                </c:pt>
                <c:pt idx="298">
                  <c:v>8.005</c:v>
                </c:pt>
                <c:pt idx="299">
                  <c:v>8.00125</c:v>
                </c:pt>
                <c:pt idx="300">
                  <c:v>8</c:v>
                </c:pt>
                <c:pt idx="301">
                  <c:v>8.00125</c:v>
                </c:pt>
                <c:pt idx="302">
                  <c:v>8.005</c:v>
                </c:pt>
                <c:pt idx="303">
                  <c:v>8.01125</c:v>
                </c:pt>
                <c:pt idx="304">
                  <c:v>8.02</c:v>
                </c:pt>
                <c:pt idx="305">
                  <c:v>8.03125</c:v>
                </c:pt>
                <c:pt idx="306">
                  <c:v>8.045</c:v>
                </c:pt>
                <c:pt idx="307">
                  <c:v>8.06125</c:v>
                </c:pt>
                <c:pt idx="308">
                  <c:v>8.08</c:v>
                </c:pt>
                <c:pt idx="309">
                  <c:v>8.10125</c:v>
                </c:pt>
                <c:pt idx="310">
                  <c:v>8.125</c:v>
                </c:pt>
                <c:pt idx="311">
                  <c:v>8.15125</c:v>
                </c:pt>
                <c:pt idx="312">
                  <c:v>8.18</c:v>
                </c:pt>
                <c:pt idx="313">
                  <c:v>8.21125</c:v>
                </c:pt>
                <c:pt idx="314">
                  <c:v>8.245</c:v>
                </c:pt>
                <c:pt idx="315">
                  <c:v>8.28125</c:v>
                </c:pt>
                <c:pt idx="316">
                  <c:v>8.32</c:v>
                </c:pt>
                <c:pt idx="317">
                  <c:v>8.36125</c:v>
                </c:pt>
                <c:pt idx="318">
                  <c:v>8.405</c:v>
                </c:pt>
                <c:pt idx="319">
                  <c:v>8.45125</c:v>
                </c:pt>
                <c:pt idx="320">
                  <c:v>8.5</c:v>
                </c:pt>
                <c:pt idx="321">
                  <c:v>8.55125</c:v>
                </c:pt>
                <c:pt idx="322">
                  <c:v>8.605</c:v>
                </c:pt>
                <c:pt idx="323">
                  <c:v>8.66125</c:v>
                </c:pt>
                <c:pt idx="324">
                  <c:v>8.72</c:v>
                </c:pt>
                <c:pt idx="325">
                  <c:v>8.78125</c:v>
                </c:pt>
                <c:pt idx="326">
                  <c:v>8.845</c:v>
                </c:pt>
                <c:pt idx="327">
                  <c:v>8.91125</c:v>
                </c:pt>
                <c:pt idx="328">
                  <c:v>8.98</c:v>
                </c:pt>
                <c:pt idx="329">
                  <c:v>9.05125</c:v>
                </c:pt>
                <c:pt idx="330">
                  <c:v>9.125</c:v>
                </c:pt>
                <c:pt idx="331">
                  <c:v>9.20125</c:v>
                </c:pt>
                <c:pt idx="332">
                  <c:v>9.28</c:v>
                </c:pt>
                <c:pt idx="333">
                  <c:v>9.36125</c:v>
                </c:pt>
                <c:pt idx="334">
                  <c:v>9.445</c:v>
                </c:pt>
                <c:pt idx="335">
                  <c:v>9.53125</c:v>
                </c:pt>
                <c:pt idx="336">
                  <c:v>9.62</c:v>
                </c:pt>
                <c:pt idx="337">
                  <c:v>9.71125</c:v>
                </c:pt>
                <c:pt idx="338">
                  <c:v>9.805</c:v>
                </c:pt>
                <c:pt idx="339">
                  <c:v>9.90125</c:v>
                </c:pt>
                <c:pt idx="340">
                  <c:v>10</c:v>
                </c:pt>
                <c:pt idx="341">
                  <c:v>10.10125</c:v>
                </c:pt>
                <c:pt idx="342">
                  <c:v>10.205</c:v>
                </c:pt>
                <c:pt idx="343">
                  <c:v>10.31125</c:v>
                </c:pt>
                <c:pt idx="344">
                  <c:v>10.42</c:v>
                </c:pt>
                <c:pt idx="345">
                  <c:v>10.53125</c:v>
                </c:pt>
                <c:pt idx="346">
                  <c:v>10.645</c:v>
                </c:pt>
                <c:pt idx="347">
                  <c:v>10.76125</c:v>
                </c:pt>
                <c:pt idx="348">
                  <c:v>10.88</c:v>
                </c:pt>
                <c:pt idx="349">
                  <c:v>11.00125</c:v>
                </c:pt>
                <c:pt idx="350">
                  <c:v>11.125</c:v>
                </c:pt>
                <c:pt idx="351">
                  <c:v>11.25125</c:v>
                </c:pt>
                <c:pt idx="352">
                  <c:v>11.38</c:v>
                </c:pt>
                <c:pt idx="353">
                  <c:v>11.51125</c:v>
                </c:pt>
                <c:pt idx="354">
                  <c:v>11.645</c:v>
                </c:pt>
                <c:pt idx="355">
                  <c:v>11.78125</c:v>
                </c:pt>
                <c:pt idx="356">
                  <c:v>11.92</c:v>
                </c:pt>
                <c:pt idx="357">
                  <c:v>12.06125</c:v>
                </c:pt>
                <c:pt idx="358">
                  <c:v>12.205</c:v>
                </c:pt>
                <c:pt idx="359">
                  <c:v>12.35125</c:v>
                </c:pt>
                <c:pt idx="360">
                  <c:v>12.5</c:v>
                </c:pt>
              </c:numCache>
            </c:numRef>
          </c:yVal>
          <c:smooth val="1"/>
          <c:extLst>
            <c:ext xmlns:c16="http://schemas.microsoft.com/office/drawing/2014/chart" uri="{C3380CC4-5D6E-409C-BE32-E72D297353CC}">
              <c16:uniqueId val="{00000000-625B-44FA-A8CF-A3995CF36986}"/>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c:v>
                </c:pt>
              </c:numCache>
            </c:numRef>
          </c:yVal>
          <c:smooth val="1"/>
          <c:extLst>
            <c:ext xmlns:c16="http://schemas.microsoft.com/office/drawing/2014/chart" uri="{C3380CC4-5D6E-409C-BE32-E72D297353CC}">
              <c16:uniqueId val="{00000001-625B-44FA-A8CF-A3995CF36986}"/>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8</c:v>
                </c:pt>
              </c:numCache>
            </c:numRef>
          </c:yVal>
          <c:smooth val="1"/>
          <c:extLst>
            <c:ext xmlns:c16="http://schemas.microsoft.com/office/drawing/2014/chart" uri="{C3380CC4-5D6E-409C-BE32-E72D297353CC}">
              <c16:uniqueId val="{00000002-625B-44FA-A8CF-A3995CF36986}"/>
            </c:ext>
          </c:extLst>
        </c:ser>
        <c:ser>
          <c:idx val="3"/>
          <c:order val="3"/>
          <c:tx>
            <c:v>left GD steps</c:v>
          </c:tx>
          <c:spPr>
            <a:ln w="17145">
              <a:solidFill>
                <a:srgbClr val="326CB2"/>
              </a:solidFill>
            </a:ln>
          </c:spPr>
          <c:marker>
            <c:symbol val="none"/>
          </c:marker>
          <c:xVal>
            <c:numRef>
              <c:f>'Chart Data'!$G$2:$G$3</c:f>
              <c:numCache>
                <c:formatCode>General</c:formatCode>
                <c:ptCount val="2"/>
                <c:pt idx="0">
                  <c:v>-1.5</c:v>
                </c:pt>
                <c:pt idx="1">
                  <c:v>-1.8</c:v>
                </c:pt>
              </c:numCache>
            </c:numRef>
          </c:xVal>
          <c:yVal>
            <c:numRef>
              <c:f>'Chart Data'!$H$2:$H$3</c:f>
              <c:numCache>
                <c:formatCode>General</c:formatCode>
                <c:ptCount val="2"/>
                <c:pt idx="0">
                  <c:v>4.5</c:v>
                </c:pt>
                <c:pt idx="1">
                  <c:v>2.88</c:v>
                </c:pt>
              </c:numCache>
            </c:numRef>
          </c:yVal>
          <c:smooth val="1"/>
          <c:extLst>
            <c:ext xmlns:c16="http://schemas.microsoft.com/office/drawing/2014/chart" uri="{C3380CC4-5D6E-409C-BE32-E72D297353CC}">
              <c16:uniqueId val="{00000003-625B-44FA-A8CF-A3995CF36986}"/>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4.5</c:v>
                </c:pt>
              </c:numCache>
            </c:numRef>
          </c:yVal>
          <c:smooth val="1"/>
          <c:extLst>
            <c:ext xmlns:c16="http://schemas.microsoft.com/office/drawing/2014/chart" uri="{C3380CC4-5D6E-409C-BE32-E72D297353CC}">
              <c16:uniqueId val="{00000004-625B-44FA-A8CF-A3995CF36986}"/>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Data'!$K$2:$K$2</c:f>
              <c:numCache>
                <c:formatCode>General</c:formatCode>
                <c:ptCount val="1"/>
                <c:pt idx="0">
                  <c:v>-1.8</c:v>
                </c:pt>
              </c:numCache>
            </c:numRef>
          </c:xVal>
          <c:yVal>
            <c:numRef>
              <c:f>'Chart Data'!$L$2:$L$2</c:f>
              <c:numCache>
                <c:formatCode>General</c:formatCode>
                <c:ptCount val="1"/>
                <c:pt idx="0">
                  <c:v>2.88</c:v>
                </c:pt>
              </c:numCache>
            </c:numRef>
          </c:yVal>
          <c:smooth val="1"/>
          <c:extLst>
            <c:ext xmlns:c16="http://schemas.microsoft.com/office/drawing/2014/chart" uri="{C3380CC4-5D6E-409C-BE32-E72D297353CC}">
              <c16:uniqueId val="{00000005-625B-44FA-A8CF-A3995CF36986}"/>
            </c:ext>
          </c:extLst>
        </c:ser>
        <c:ser>
          <c:idx val="6"/>
          <c:order val="6"/>
          <c:tx>
            <c:v>right GD steps</c:v>
          </c:tx>
          <c:spPr>
            <a:ln w="17145">
              <a:solidFill>
                <a:srgbClr val="C45C28"/>
              </a:solidFill>
            </a:ln>
          </c:spPr>
          <c:marker>
            <c:symbol val="none"/>
          </c:marker>
          <c:xVal>
            <c:numRef>
              <c:f>'Chart Data'!$M$2:$M$3</c:f>
              <c:numCache>
                <c:formatCode>General</c:formatCode>
                <c:ptCount val="2"/>
                <c:pt idx="0">
                  <c:v>1.5</c:v>
                </c:pt>
                <c:pt idx="1">
                  <c:v>1.8</c:v>
                </c:pt>
              </c:numCache>
            </c:numRef>
          </c:xVal>
          <c:yVal>
            <c:numRef>
              <c:f>'Chart Data'!$N$2:$N$3</c:f>
              <c:numCache>
                <c:formatCode>General</c:formatCode>
                <c:ptCount val="2"/>
                <c:pt idx="0">
                  <c:v>12.5</c:v>
                </c:pt>
                <c:pt idx="1">
                  <c:v>10.88</c:v>
                </c:pt>
              </c:numCache>
            </c:numRef>
          </c:yVal>
          <c:smooth val="1"/>
          <c:extLst>
            <c:ext xmlns:c16="http://schemas.microsoft.com/office/drawing/2014/chart" uri="{C3380CC4-5D6E-409C-BE32-E72D297353CC}">
              <c16:uniqueId val="{00000006-625B-44FA-A8CF-A3995CF36986}"/>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12.5</c:v>
                </c:pt>
              </c:numCache>
            </c:numRef>
          </c:yVal>
          <c:smooth val="1"/>
          <c:extLst>
            <c:ext xmlns:c16="http://schemas.microsoft.com/office/drawing/2014/chart" uri="{C3380CC4-5D6E-409C-BE32-E72D297353CC}">
              <c16:uniqueId val="{00000007-625B-44FA-A8CF-A3995CF36986}"/>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Data'!$Q$2:$Q$2</c:f>
              <c:numCache>
                <c:formatCode>General</c:formatCode>
                <c:ptCount val="1"/>
                <c:pt idx="0">
                  <c:v>1.8</c:v>
                </c:pt>
              </c:numCache>
            </c:numRef>
          </c:xVal>
          <c:yVal>
            <c:numRef>
              <c:f>'Chart Data'!$R$2:$R$2</c:f>
              <c:numCache>
                <c:formatCode>General</c:formatCode>
                <c:ptCount val="1"/>
                <c:pt idx="0">
                  <c:v>10.88</c:v>
                </c:pt>
              </c:numCache>
            </c:numRef>
          </c:yVal>
          <c:smooth val="1"/>
          <c:extLst>
            <c:ext xmlns:c16="http://schemas.microsoft.com/office/drawing/2014/chart" uri="{C3380CC4-5D6E-409C-BE32-E72D297353CC}">
              <c16:uniqueId val="{00000008-625B-44FA-A8CF-A3995CF36986}"/>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-1.8</c:v>
                </c:pt>
              </c:numCache>
            </c:numRef>
          </c:xVal>
          <c:yVal>
            <c:numRef>
              <c:f>'Chart Data'!$T$2:$T$2</c:f>
              <c:numCache>
                <c:formatCode>General</c:formatCode>
                <c:ptCount val="1"/>
                <c:pt idx="0">
                  <c:v>2.88</c:v>
                </c:pt>
              </c:numCache>
            </c:numRef>
          </c:yVal>
          <c:smooth val="1"/>
          <c:extLst>
            <c:ext xmlns:c16="http://schemas.microsoft.com/office/drawing/2014/chart" uri="{C3380CC4-5D6E-409C-BE32-E72D297353CC}">
              <c16:uniqueId val="{00000009-625B-44FA-A8CF-A3995CF36986}"/>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1.8</c:v>
                </c:pt>
              </c:numCache>
            </c:numRef>
          </c:xVal>
          <c:yVal>
            <c:numRef>
              <c:f>'Chart Data'!$V$2:$V$2</c:f>
              <c:numCache>
                <c:formatCode>General</c:formatCode>
                <c:ptCount val="1"/>
                <c:pt idx="0">
                  <c:v>10.88</c:v>
                </c:pt>
              </c:numCache>
            </c:numRef>
          </c:yVal>
          <c:smooth val="1"/>
          <c:extLst>
            <c:ext xmlns:c16="http://schemas.microsoft.com/office/drawing/2014/chart" uri="{C3380CC4-5D6E-409C-BE32-E72D297353CC}">
              <c16:uniqueId val="{0000000A-625B-44FA-A8CF-A3995CF36986}"/>
            </c:ext>
          </c:extLst>
        </c:ser>
        <c:dLbls>
          <c:showLegendKey val="0"/>
          <c:showVal val="0"/>
          <c:showCatName val="0"/>
          <c:showSerName val="0"/>
          <c:showPercent val="0"/>
          <c:showBubbleSize val="0"/>
        </c:dLbls>
        <c:axId val="48650112"/>
        <c:axId val="48672768"/>
      </c:scatterChart>
      <c:valAx>
        <c:axId val="48672768"/>
        <c:scaling>
          <c:orientation val="minMax"/>
          <c:max val="18"/>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Squared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4"/>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Squared loss</c:v>
          </c:tx>
          <c:spPr>
            <a:ln w="30480">
              <a:solidFill>
                <a:srgbClr val="087F83"/>
              </a:solidFill>
            </a:ln>
          </c:spPr>
          <c:marker>
            <c:symbol val="none"/>
          </c:marker>
          <c:xVal>
            <c:numRef>
              <c:f>'Chart Data'!$A$2:$A$362</c:f>
              <c:numCache>
                <c:formatCode>General</c:formatCode>
                <c:ptCount val="361"/>
                <c:pt idx="0">
                  <c:v>-4.5</c:v>
                </c:pt>
                <c:pt idx="1">
                  <c:v>-4.475</c:v>
                </c:pt>
                <c:pt idx="2">
                  <c:v>-4.45</c:v>
                </c:pt>
                <c:pt idx="3">
                  <c:v>-4.425</c:v>
                </c:pt>
                <c:pt idx="4">
                  <c:v>-4.4</c:v>
                </c:pt>
                <c:pt idx="5">
                  <c:v>-4.375</c:v>
                </c:pt>
                <c:pt idx="6">
                  <c:v>-4.35</c:v>
                </c:pt>
                <c:pt idx="7">
                  <c:v>-4.325</c:v>
                </c:pt>
                <c:pt idx="8">
                  <c:v>-4.3</c:v>
                </c:pt>
                <c:pt idx="9">
                  <c:v>-4.275</c:v>
                </c:pt>
                <c:pt idx="10">
                  <c:v>-4.25</c:v>
                </c:pt>
                <c:pt idx="11">
                  <c:v>-4.225</c:v>
                </c:pt>
                <c:pt idx="12">
                  <c:v>-4.2</c:v>
                </c:pt>
                <c:pt idx="13">
                  <c:v>-4.175</c:v>
                </c:pt>
                <c:pt idx="14">
                  <c:v>-4.15</c:v>
                </c:pt>
                <c:pt idx="15">
                  <c:v>-4.125</c:v>
                </c:pt>
                <c:pt idx="16">
                  <c:v>-4.1</c:v>
                </c:pt>
                <c:pt idx="17">
                  <c:v>-4.075</c:v>
                </c:pt>
                <c:pt idx="18">
                  <c:v>-4.05</c:v>
                </c:pt>
                <c:pt idx="19">
                  <c:v>-4.025</c:v>
                </c:pt>
                <c:pt idx="20">
                  <c:v>-4</c:v>
                </c:pt>
                <c:pt idx="21">
                  <c:v>-3.975</c:v>
                </c:pt>
                <c:pt idx="22">
                  <c:v>-3.95</c:v>
                </c:pt>
                <c:pt idx="23">
                  <c:v>-3.925</c:v>
                </c:pt>
                <c:pt idx="24">
                  <c:v>-3.9</c:v>
                </c:pt>
                <c:pt idx="25">
                  <c:v>-3.875</c:v>
                </c:pt>
                <c:pt idx="26">
                  <c:v>-3.85</c:v>
                </c:pt>
                <c:pt idx="27">
                  <c:v>-3.825</c:v>
                </c:pt>
                <c:pt idx="28">
                  <c:v>-3.8</c:v>
                </c:pt>
                <c:pt idx="29">
                  <c:v>-3.775</c:v>
                </c:pt>
                <c:pt idx="30">
                  <c:v>-3.75</c:v>
                </c:pt>
                <c:pt idx="31">
                  <c:v>-3.725</c:v>
                </c:pt>
                <c:pt idx="32">
                  <c:v>-3.7</c:v>
                </c:pt>
                <c:pt idx="33">
                  <c:v>-3.675</c:v>
                </c:pt>
                <c:pt idx="34">
                  <c:v>-3.65</c:v>
                </c:pt>
                <c:pt idx="35">
                  <c:v>-3.625</c:v>
                </c:pt>
                <c:pt idx="36">
                  <c:v>-3.6</c:v>
                </c:pt>
                <c:pt idx="37">
                  <c:v>-3.575</c:v>
                </c:pt>
                <c:pt idx="38">
                  <c:v>-3.55</c:v>
                </c:pt>
                <c:pt idx="39">
                  <c:v>-3.525</c:v>
                </c:pt>
                <c:pt idx="40">
                  <c:v>-3.5</c:v>
                </c:pt>
                <c:pt idx="41">
                  <c:v>-3.475</c:v>
                </c:pt>
                <c:pt idx="42">
                  <c:v>-3.45</c:v>
                </c:pt>
                <c:pt idx="43">
                  <c:v>-3.425</c:v>
                </c:pt>
                <c:pt idx="44">
                  <c:v>-3.4</c:v>
                </c:pt>
                <c:pt idx="45">
                  <c:v>-3.375</c:v>
                </c:pt>
                <c:pt idx="46">
                  <c:v>-3.35</c:v>
                </c:pt>
                <c:pt idx="47">
                  <c:v>-3.325</c:v>
                </c:pt>
                <c:pt idx="48">
                  <c:v>-3.3</c:v>
                </c:pt>
                <c:pt idx="49">
                  <c:v>-3.275</c:v>
                </c:pt>
                <c:pt idx="50">
                  <c:v>-3.25</c:v>
                </c:pt>
                <c:pt idx="51">
                  <c:v>-3.225</c:v>
                </c:pt>
                <c:pt idx="52">
                  <c:v>-3.2</c:v>
                </c:pt>
                <c:pt idx="53">
                  <c:v>-3.175</c:v>
                </c:pt>
                <c:pt idx="54">
                  <c:v>-3.15</c:v>
                </c:pt>
                <c:pt idx="55">
                  <c:v>-3.125</c:v>
                </c:pt>
                <c:pt idx="56">
                  <c:v>-3.1</c:v>
                </c:pt>
                <c:pt idx="57">
                  <c:v>-3.075</c:v>
                </c:pt>
                <c:pt idx="58">
                  <c:v>-3.05</c:v>
                </c:pt>
                <c:pt idx="59">
                  <c:v>-3.025</c:v>
                </c:pt>
                <c:pt idx="60">
                  <c:v>-3</c:v>
                </c:pt>
                <c:pt idx="61">
                  <c:v>-2.975</c:v>
                </c:pt>
                <c:pt idx="62">
                  <c:v>-2.95</c:v>
                </c:pt>
                <c:pt idx="63">
                  <c:v>-2.925</c:v>
                </c:pt>
                <c:pt idx="64">
                  <c:v>-2.9</c:v>
                </c:pt>
                <c:pt idx="65">
                  <c:v>-2.875</c:v>
                </c:pt>
                <c:pt idx="66">
                  <c:v>-2.85</c:v>
                </c:pt>
                <c:pt idx="67">
                  <c:v>-2.825</c:v>
                </c:pt>
                <c:pt idx="68">
                  <c:v>-2.8</c:v>
                </c:pt>
                <c:pt idx="69">
                  <c:v>-2.775</c:v>
                </c:pt>
                <c:pt idx="70">
                  <c:v>-2.75</c:v>
                </c:pt>
                <c:pt idx="71">
                  <c:v>-2.725</c:v>
                </c:pt>
                <c:pt idx="72">
                  <c:v>-2.7</c:v>
                </c:pt>
                <c:pt idx="73">
                  <c:v>-2.675</c:v>
                </c:pt>
                <c:pt idx="74">
                  <c:v>-2.65</c:v>
                </c:pt>
                <c:pt idx="75">
                  <c:v>-2.625</c:v>
                </c:pt>
                <c:pt idx="76">
                  <c:v>-2.6</c:v>
                </c:pt>
                <c:pt idx="77">
                  <c:v>-2.575</c:v>
                </c:pt>
                <c:pt idx="78">
                  <c:v>-2.55</c:v>
                </c:pt>
                <c:pt idx="79">
                  <c:v>-2.525</c:v>
                </c:pt>
                <c:pt idx="80">
                  <c:v>-2.5</c:v>
                </c:pt>
                <c:pt idx="81">
                  <c:v>-2.475</c:v>
                </c:pt>
                <c:pt idx="82">
                  <c:v>-2.45</c:v>
                </c:pt>
                <c:pt idx="83">
                  <c:v>-2.425</c:v>
                </c:pt>
                <c:pt idx="84">
                  <c:v>-2.4</c:v>
                </c:pt>
                <c:pt idx="85">
                  <c:v>-2.375</c:v>
                </c:pt>
                <c:pt idx="86">
                  <c:v>-2.35</c:v>
                </c:pt>
                <c:pt idx="87">
                  <c:v>-2.325</c:v>
                </c:pt>
                <c:pt idx="88">
                  <c:v>-2.3</c:v>
                </c:pt>
                <c:pt idx="89">
                  <c:v>-2.275</c:v>
                </c:pt>
                <c:pt idx="90">
                  <c:v>-2.25</c:v>
                </c:pt>
                <c:pt idx="91">
                  <c:v>-2.225</c:v>
                </c:pt>
                <c:pt idx="92">
                  <c:v>-2.2</c:v>
                </c:pt>
                <c:pt idx="93">
                  <c:v>-2.175</c:v>
                </c:pt>
                <c:pt idx="94">
                  <c:v>-2.15</c:v>
                </c:pt>
                <c:pt idx="95">
                  <c:v>-2.125</c:v>
                </c:pt>
                <c:pt idx="96">
                  <c:v>-2.1</c:v>
                </c:pt>
                <c:pt idx="97">
                  <c:v>-2.075</c:v>
                </c:pt>
                <c:pt idx="98">
                  <c:v>-2.05</c:v>
                </c:pt>
                <c:pt idx="99">
                  <c:v>-2.025</c:v>
                </c:pt>
                <c:pt idx="100">
                  <c:v>-2</c:v>
                </c:pt>
                <c:pt idx="101">
                  <c:v>-1.975</c:v>
                </c:pt>
                <c:pt idx="102">
                  <c:v>-1.95</c:v>
                </c:pt>
                <c:pt idx="103">
                  <c:v>-1.925</c:v>
                </c:pt>
                <c:pt idx="104">
                  <c:v>-1.9</c:v>
                </c:pt>
                <c:pt idx="105">
                  <c:v>-1.875</c:v>
                </c:pt>
                <c:pt idx="106">
                  <c:v>-1.85</c:v>
                </c:pt>
                <c:pt idx="107">
                  <c:v>-1.825</c:v>
                </c:pt>
                <c:pt idx="108">
                  <c:v>-1.8</c:v>
                </c:pt>
                <c:pt idx="109">
                  <c:v>-1.775</c:v>
                </c:pt>
                <c:pt idx="110">
                  <c:v>-1.75</c:v>
                </c:pt>
                <c:pt idx="111">
                  <c:v>-1.725</c:v>
                </c:pt>
                <c:pt idx="112">
                  <c:v>-1.7</c:v>
                </c:pt>
                <c:pt idx="113">
                  <c:v>-1.675</c:v>
                </c:pt>
                <c:pt idx="114">
                  <c:v>-1.65</c:v>
                </c:pt>
                <c:pt idx="115">
                  <c:v>-1.625</c:v>
                </c:pt>
                <c:pt idx="116">
                  <c:v>-1.6</c:v>
                </c:pt>
                <c:pt idx="117">
                  <c:v>-1.575</c:v>
                </c:pt>
                <c:pt idx="118">
                  <c:v>-1.55</c:v>
                </c:pt>
                <c:pt idx="119">
                  <c:v>-1.525</c:v>
                </c:pt>
                <c:pt idx="120">
                  <c:v>-1.5</c:v>
                </c:pt>
                <c:pt idx="121">
                  <c:v>-1.475</c:v>
                </c:pt>
                <c:pt idx="122">
                  <c:v>-1.45</c:v>
                </c:pt>
                <c:pt idx="123">
                  <c:v>-1.425</c:v>
                </c:pt>
                <c:pt idx="124">
                  <c:v>-1.4</c:v>
                </c:pt>
                <c:pt idx="125">
                  <c:v>-1.375</c:v>
                </c:pt>
                <c:pt idx="126">
                  <c:v>-1.35</c:v>
                </c:pt>
                <c:pt idx="127">
                  <c:v>-1.325</c:v>
                </c:pt>
                <c:pt idx="128">
                  <c:v>-1.3</c:v>
                </c:pt>
                <c:pt idx="129">
                  <c:v>-1.275</c:v>
                </c:pt>
                <c:pt idx="130">
                  <c:v>-1.25</c:v>
                </c:pt>
                <c:pt idx="131">
                  <c:v>-1.225</c:v>
                </c:pt>
                <c:pt idx="132">
                  <c:v>-1.2</c:v>
                </c:pt>
                <c:pt idx="133">
                  <c:v>-1.175</c:v>
                </c:pt>
                <c:pt idx="134">
                  <c:v>-1.15</c:v>
                </c:pt>
                <c:pt idx="135">
                  <c:v>-1.125</c:v>
                </c:pt>
                <c:pt idx="136">
                  <c:v>-1.1</c:v>
                </c:pt>
                <c:pt idx="137">
                  <c:v>-1.075</c:v>
                </c:pt>
                <c:pt idx="138">
                  <c:v>-1.05</c:v>
                </c:pt>
                <c:pt idx="139">
                  <c:v>-1.025</c:v>
                </c:pt>
                <c:pt idx="140">
                  <c:v>-1</c:v>
                </c:pt>
                <c:pt idx="141">
                  <c:v>-0.975</c:v>
                </c:pt>
                <c:pt idx="142">
                  <c:v>-0.95</c:v>
                </c:pt>
                <c:pt idx="143">
                  <c:v>-0.925</c:v>
                </c:pt>
                <c:pt idx="144">
                  <c:v>-0.9</c:v>
                </c:pt>
                <c:pt idx="145">
                  <c:v>-0.875</c:v>
                </c:pt>
                <c:pt idx="146">
                  <c:v>-0.85</c:v>
                </c:pt>
                <c:pt idx="147">
                  <c:v>-0.825</c:v>
                </c:pt>
                <c:pt idx="148">
                  <c:v>-0.8</c:v>
                </c:pt>
                <c:pt idx="149">
                  <c:v>-0.775</c:v>
                </c:pt>
                <c:pt idx="150">
                  <c:v>-0.75</c:v>
                </c:pt>
                <c:pt idx="151">
                  <c:v>-0.725</c:v>
                </c:pt>
                <c:pt idx="152">
                  <c:v>-0.7</c:v>
                </c:pt>
                <c:pt idx="153">
                  <c:v>-0.675</c:v>
                </c:pt>
                <c:pt idx="154">
                  <c:v>-0.65</c:v>
                </c:pt>
                <c:pt idx="155">
                  <c:v>-0.625</c:v>
                </c:pt>
                <c:pt idx="156">
                  <c:v>-0.6</c:v>
                </c:pt>
                <c:pt idx="157">
                  <c:v>-0.575</c:v>
                </c:pt>
                <c:pt idx="158">
                  <c:v>-0.55</c:v>
                </c:pt>
                <c:pt idx="159">
                  <c:v>-0.525</c:v>
                </c:pt>
                <c:pt idx="160">
                  <c:v>-0.5</c:v>
                </c:pt>
                <c:pt idx="161">
                  <c:v>-0.475</c:v>
                </c:pt>
                <c:pt idx="162">
                  <c:v>-0.45</c:v>
                </c:pt>
                <c:pt idx="163">
                  <c:v>-0.425</c:v>
                </c:pt>
                <c:pt idx="164">
                  <c:v>-0.4</c:v>
                </c:pt>
                <c:pt idx="165">
                  <c:v>-0.375</c:v>
                </c:pt>
                <c:pt idx="166">
                  <c:v>-0.35</c:v>
                </c:pt>
                <c:pt idx="167">
                  <c:v>-0.325</c:v>
                </c:pt>
                <c:pt idx="168">
                  <c:v>-0.3</c:v>
                </c:pt>
                <c:pt idx="169">
                  <c:v>-0.275</c:v>
                </c:pt>
                <c:pt idx="170">
                  <c:v>-0.25</c:v>
                </c:pt>
                <c:pt idx="171">
                  <c:v>-0.225</c:v>
                </c:pt>
                <c:pt idx="172">
                  <c:v>-0.2</c:v>
                </c:pt>
                <c:pt idx="173">
                  <c:v>-0.175</c:v>
                </c:pt>
                <c:pt idx="174">
                  <c:v>-0.15</c:v>
                </c:pt>
                <c:pt idx="175">
                  <c:v>-0.125</c:v>
                </c:pt>
                <c:pt idx="176">
                  <c:v>-0.1</c:v>
                </c:pt>
                <c:pt idx="177">
                  <c:v>-0.075</c:v>
                </c:pt>
                <c:pt idx="178">
                  <c:v>-0.05</c:v>
                </c:pt>
                <c:pt idx="179">
                  <c:v>-0.025</c:v>
                </c:pt>
                <c:pt idx="180">
                  <c:v>0</c:v>
                </c:pt>
                <c:pt idx="181">
                  <c:v>0.025</c:v>
                </c:pt>
                <c:pt idx="182">
                  <c:v>0.05</c:v>
                </c:pt>
                <c:pt idx="183">
                  <c:v>0.075</c:v>
                </c:pt>
                <c:pt idx="184">
                  <c:v>0.1</c:v>
                </c:pt>
                <c:pt idx="185">
                  <c:v>0.125</c:v>
                </c:pt>
                <c:pt idx="186">
                  <c:v>0.15</c:v>
                </c:pt>
                <c:pt idx="187">
                  <c:v>0.175</c:v>
                </c:pt>
                <c:pt idx="188">
                  <c:v>0.2</c:v>
                </c:pt>
                <c:pt idx="189">
                  <c:v>0.225</c:v>
                </c:pt>
                <c:pt idx="190">
                  <c:v>0.25</c:v>
                </c:pt>
                <c:pt idx="191">
                  <c:v>0.275</c:v>
                </c:pt>
                <c:pt idx="192">
                  <c:v>0.3</c:v>
                </c:pt>
                <c:pt idx="193">
                  <c:v>0.325</c:v>
                </c:pt>
                <c:pt idx="194">
                  <c:v>0.35</c:v>
                </c:pt>
                <c:pt idx="195">
                  <c:v>0.375</c:v>
                </c:pt>
                <c:pt idx="196">
                  <c:v>0.4</c:v>
                </c:pt>
                <c:pt idx="197">
                  <c:v>0.425</c:v>
                </c:pt>
                <c:pt idx="198">
                  <c:v>0.45</c:v>
                </c:pt>
                <c:pt idx="199">
                  <c:v>0.475</c:v>
                </c:pt>
                <c:pt idx="200">
                  <c:v>0.5</c:v>
                </c:pt>
                <c:pt idx="201">
                  <c:v>0.525</c:v>
                </c:pt>
                <c:pt idx="202">
                  <c:v>0.55</c:v>
                </c:pt>
                <c:pt idx="203">
                  <c:v>0.575</c:v>
                </c:pt>
                <c:pt idx="204">
                  <c:v>0.6</c:v>
                </c:pt>
                <c:pt idx="205">
                  <c:v>0.625</c:v>
                </c:pt>
                <c:pt idx="206">
                  <c:v>0.65</c:v>
                </c:pt>
                <c:pt idx="207">
                  <c:v>0.675</c:v>
                </c:pt>
                <c:pt idx="208">
                  <c:v>0.7</c:v>
                </c:pt>
                <c:pt idx="209">
                  <c:v>0.725</c:v>
                </c:pt>
                <c:pt idx="210">
                  <c:v>0.75</c:v>
                </c:pt>
                <c:pt idx="211">
                  <c:v>0.775</c:v>
                </c:pt>
                <c:pt idx="212">
                  <c:v>0.8</c:v>
                </c:pt>
                <c:pt idx="213">
                  <c:v>0.825</c:v>
                </c:pt>
                <c:pt idx="214">
                  <c:v>0.85</c:v>
                </c:pt>
                <c:pt idx="215">
                  <c:v>0.875</c:v>
                </c:pt>
                <c:pt idx="216">
                  <c:v>0.9</c:v>
                </c:pt>
                <c:pt idx="217">
                  <c:v>0.925</c:v>
                </c:pt>
                <c:pt idx="218">
                  <c:v>0.95</c:v>
                </c:pt>
                <c:pt idx="219">
                  <c:v>0.975</c:v>
                </c:pt>
                <c:pt idx="220">
                  <c:v>1</c:v>
                </c:pt>
                <c:pt idx="221">
                  <c:v>1.025</c:v>
                </c:pt>
                <c:pt idx="222">
                  <c:v>1.05</c:v>
                </c:pt>
                <c:pt idx="223">
                  <c:v>1.075</c:v>
                </c:pt>
                <c:pt idx="224">
                  <c:v>1.1</c:v>
                </c:pt>
                <c:pt idx="225">
                  <c:v>1.125</c:v>
                </c:pt>
                <c:pt idx="226">
                  <c:v>1.15</c:v>
                </c:pt>
                <c:pt idx="227">
                  <c:v>1.175</c:v>
                </c:pt>
                <c:pt idx="228">
                  <c:v>1.2</c:v>
                </c:pt>
                <c:pt idx="229">
                  <c:v>1.225</c:v>
                </c:pt>
                <c:pt idx="230">
                  <c:v>1.25</c:v>
                </c:pt>
                <c:pt idx="231">
                  <c:v>1.275</c:v>
                </c:pt>
                <c:pt idx="232">
                  <c:v>1.3</c:v>
                </c:pt>
                <c:pt idx="233">
                  <c:v>1.325</c:v>
                </c:pt>
                <c:pt idx="234">
                  <c:v>1.35</c:v>
                </c:pt>
                <c:pt idx="235">
                  <c:v>1.375</c:v>
                </c:pt>
                <c:pt idx="236">
                  <c:v>1.4</c:v>
                </c:pt>
                <c:pt idx="237">
                  <c:v>1.425</c:v>
                </c:pt>
                <c:pt idx="238">
                  <c:v>1.45</c:v>
                </c:pt>
                <c:pt idx="239">
                  <c:v>1.475</c:v>
                </c:pt>
                <c:pt idx="240">
                  <c:v>1.5</c:v>
                </c:pt>
                <c:pt idx="241">
                  <c:v>1.525</c:v>
                </c:pt>
                <c:pt idx="242">
                  <c:v>1.55</c:v>
                </c:pt>
                <c:pt idx="243">
                  <c:v>1.575</c:v>
                </c:pt>
                <c:pt idx="244">
                  <c:v>1.6</c:v>
                </c:pt>
                <c:pt idx="245">
                  <c:v>1.625</c:v>
                </c:pt>
                <c:pt idx="246">
                  <c:v>1.65</c:v>
                </c:pt>
                <c:pt idx="247">
                  <c:v>1.675</c:v>
                </c:pt>
                <c:pt idx="248">
                  <c:v>1.7</c:v>
                </c:pt>
                <c:pt idx="249">
                  <c:v>1.725</c:v>
                </c:pt>
                <c:pt idx="250">
                  <c:v>1.75</c:v>
                </c:pt>
                <c:pt idx="251">
                  <c:v>1.775</c:v>
                </c:pt>
                <c:pt idx="252">
                  <c:v>1.8</c:v>
                </c:pt>
                <c:pt idx="253">
                  <c:v>1.825</c:v>
                </c:pt>
                <c:pt idx="254">
                  <c:v>1.85</c:v>
                </c:pt>
                <c:pt idx="255">
                  <c:v>1.875</c:v>
                </c:pt>
                <c:pt idx="256">
                  <c:v>1.9</c:v>
                </c:pt>
                <c:pt idx="257">
                  <c:v>1.925</c:v>
                </c:pt>
                <c:pt idx="258">
                  <c:v>1.95</c:v>
                </c:pt>
                <c:pt idx="259">
                  <c:v>1.975</c:v>
                </c:pt>
                <c:pt idx="260">
                  <c:v>2</c:v>
                </c:pt>
                <c:pt idx="261">
                  <c:v>2.025</c:v>
                </c:pt>
                <c:pt idx="262">
                  <c:v>2.05</c:v>
                </c:pt>
                <c:pt idx="263">
                  <c:v>2.075</c:v>
                </c:pt>
                <c:pt idx="264">
                  <c:v>2.1</c:v>
                </c:pt>
                <c:pt idx="265">
                  <c:v>2.125</c:v>
                </c:pt>
                <c:pt idx="266">
                  <c:v>2.15</c:v>
                </c:pt>
                <c:pt idx="267">
                  <c:v>2.175</c:v>
                </c:pt>
                <c:pt idx="268">
                  <c:v>2.2</c:v>
                </c:pt>
                <c:pt idx="269">
                  <c:v>2.225</c:v>
                </c:pt>
                <c:pt idx="270">
                  <c:v>2.25</c:v>
                </c:pt>
                <c:pt idx="271">
                  <c:v>2.275</c:v>
                </c:pt>
                <c:pt idx="272">
                  <c:v>2.3</c:v>
                </c:pt>
                <c:pt idx="273">
                  <c:v>2.325</c:v>
                </c:pt>
                <c:pt idx="274">
                  <c:v>2.35</c:v>
                </c:pt>
                <c:pt idx="275">
                  <c:v>2.375</c:v>
                </c:pt>
                <c:pt idx="276">
                  <c:v>2.4</c:v>
                </c:pt>
                <c:pt idx="277">
                  <c:v>2.425</c:v>
                </c:pt>
                <c:pt idx="278">
                  <c:v>2.45</c:v>
                </c:pt>
                <c:pt idx="279">
                  <c:v>2.475</c:v>
                </c:pt>
                <c:pt idx="280">
                  <c:v>2.5</c:v>
                </c:pt>
                <c:pt idx="281">
                  <c:v>2.525</c:v>
                </c:pt>
                <c:pt idx="282">
                  <c:v>2.55</c:v>
                </c:pt>
                <c:pt idx="283">
                  <c:v>2.575</c:v>
                </c:pt>
                <c:pt idx="284">
                  <c:v>2.6</c:v>
                </c:pt>
                <c:pt idx="285">
                  <c:v>2.625</c:v>
                </c:pt>
                <c:pt idx="286">
                  <c:v>2.65</c:v>
                </c:pt>
                <c:pt idx="287">
                  <c:v>2.675</c:v>
                </c:pt>
                <c:pt idx="288">
                  <c:v>2.7</c:v>
                </c:pt>
                <c:pt idx="289">
                  <c:v>2.725</c:v>
                </c:pt>
                <c:pt idx="290">
                  <c:v>2.75</c:v>
                </c:pt>
                <c:pt idx="291">
                  <c:v>2.775</c:v>
                </c:pt>
                <c:pt idx="292">
                  <c:v>2.8</c:v>
                </c:pt>
                <c:pt idx="293">
                  <c:v>2.825</c:v>
                </c:pt>
                <c:pt idx="294">
                  <c:v>2.85</c:v>
                </c:pt>
                <c:pt idx="295">
                  <c:v>2.875</c:v>
                </c:pt>
                <c:pt idx="296">
                  <c:v>2.9</c:v>
                </c:pt>
                <c:pt idx="297">
                  <c:v>2.925</c:v>
                </c:pt>
                <c:pt idx="298">
                  <c:v>2.95</c:v>
                </c:pt>
                <c:pt idx="299">
                  <c:v>2.975</c:v>
                </c:pt>
                <c:pt idx="300">
                  <c:v>3</c:v>
                </c:pt>
                <c:pt idx="301">
                  <c:v>3.025</c:v>
                </c:pt>
                <c:pt idx="302">
                  <c:v>3.05</c:v>
                </c:pt>
                <c:pt idx="303">
                  <c:v>3.075</c:v>
                </c:pt>
                <c:pt idx="304">
                  <c:v>3.1</c:v>
                </c:pt>
                <c:pt idx="305">
                  <c:v>3.125</c:v>
                </c:pt>
                <c:pt idx="306">
                  <c:v>3.15</c:v>
                </c:pt>
                <c:pt idx="307">
                  <c:v>3.175</c:v>
                </c:pt>
                <c:pt idx="308">
                  <c:v>3.2</c:v>
                </c:pt>
                <c:pt idx="309">
                  <c:v>3.225</c:v>
                </c:pt>
                <c:pt idx="310">
                  <c:v>3.25</c:v>
                </c:pt>
                <c:pt idx="311">
                  <c:v>3.275</c:v>
                </c:pt>
                <c:pt idx="312">
                  <c:v>3.3</c:v>
                </c:pt>
                <c:pt idx="313">
                  <c:v>3.325</c:v>
                </c:pt>
                <c:pt idx="314">
                  <c:v>3.35</c:v>
                </c:pt>
                <c:pt idx="315">
                  <c:v>3.375</c:v>
                </c:pt>
                <c:pt idx="316">
                  <c:v>3.4</c:v>
                </c:pt>
                <c:pt idx="317">
                  <c:v>3.425</c:v>
                </c:pt>
                <c:pt idx="318">
                  <c:v>3.45</c:v>
                </c:pt>
                <c:pt idx="319">
                  <c:v>3.475</c:v>
                </c:pt>
                <c:pt idx="320">
                  <c:v>3.5</c:v>
                </c:pt>
                <c:pt idx="321">
                  <c:v>3.525</c:v>
                </c:pt>
                <c:pt idx="322">
                  <c:v>3.55</c:v>
                </c:pt>
                <c:pt idx="323">
                  <c:v>3.575</c:v>
                </c:pt>
                <c:pt idx="324">
                  <c:v>3.6</c:v>
                </c:pt>
                <c:pt idx="325">
                  <c:v>3.625</c:v>
                </c:pt>
                <c:pt idx="326">
                  <c:v>3.65</c:v>
                </c:pt>
                <c:pt idx="327">
                  <c:v>3.675</c:v>
                </c:pt>
                <c:pt idx="328">
                  <c:v>3.7</c:v>
                </c:pt>
                <c:pt idx="329">
                  <c:v>3.725</c:v>
                </c:pt>
                <c:pt idx="330">
                  <c:v>3.75</c:v>
                </c:pt>
                <c:pt idx="331">
                  <c:v>3.775</c:v>
                </c:pt>
                <c:pt idx="332">
                  <c:v>3.8</c:v>
                </c:pt>
                <c:pt idx="333">
                  <c:v>3.825</c:v>
                </c:pt>
                <c:pt idx="334">
                  <c:v>3.85</c:v>
                </c:pt>
                <c:pt idx="335">
                  <c:v>3.875</c:v>
                </c:pt>
                <c:pt idx="336">
                  <c:v>3.9</c:v>
                </c:pt>
                <c:pt idx="337">
                  <c:v>3.925</c:v>
                </c:pt>
                <c:pt idx="338">
                  <c:v>3.95</c:v>
                </c:pt>
                <c:pt idx="339">
                  <c:v>3.975</c:v>
                </c:pt>
                <c:pt idx="340">
                  <c:v>4</c:v>
                </c:pt>
                <c:pt idx="341">
                  <c:v>4.025</c:v>
                </c:pt>
                <c:pt idx="342">
                  <c:v>4.05</c:v>
                </c:pt>
                <c:pt idx="343">
                  <c:v>4.075</c:v>
                </c:pt>
                <c:pt idx="344">
                  <c:v>4.1</c:v>
                </c:pt>
                <c:pt idx="345">
                  <c:v>4.125</c:v>
                </c:pt>
                <c:pt idx="346">
                  <c:v>4.15</c:v>
                </c:pt>
                <c:pt idx="347">
                  <c:v>4.175</c:v>
                </c:pt>
                <c:pt idx="348">
                  <c:v>4.2</c:v>
                </c:pt>
                <c:pt idx="349">
                  <c:v>4.225</c:v>
                </c:pt>
                <c:pt idx="350">
                  <c:v>4.25</c:v>
                </c:pt>
                <c:pt idx="351">
                  <c:v>4.275</c:v>
                </c:pt>
                <c:pt idx="352">
                  <c:v>4.3</c:v>
                </c:pt>
                <c:pt idx="353">
                  <c:v>4.325</c:v>
                </c:pt>
                <c:pt idx="354">
                  <c:v>4.35</c:v>
                </c:pt>
                <c:pt idx="355">
                  <c:v>4.375</c:v>
                </c:pt>
                <c:pt idx="356">
                  <c:v>4.4</c:v>
                </c:pt>
                <c:pt idx="357">
                  <c:v>4.425</c:v>
                </c:pt>
                <c:pt idx="358">
                  <c:v>4.45</c:v>
                </c:pt>
                <c:pt idx="359">
                  <c:v>4.475</c:v>
                </c:pt>
                <c:pt idx="360">
                  <c:v>4.5</c:v>
                </c:pt>
              </c:numCache>
            </c:numRef>
          </c:xVal>
          <c:yVal>
            <c:numRef>
              <c:f>'Chart Data'!$B$2:$B$362</c:f>
              <c:numCache>
                <c:formatCode>General</c:formatCode>
                <c:ptCount val="361"/>
                <c:pt idx="0">
                  <c:v>4.5</c:v>
                </c:pt>
                <c:pt idx="1">
                  <c:v>4.35125</c:v>
                </c:pt>
                <c:pt idx="2">
                  <c:v>4.205</c:v>
                </c:pt>
                <c:pt idx="3">
                  <c:v>4.06125</c:v>
                </c:pt>
                <c:pt idx="4">
                  <c:v>3.92</c:v>
                </c:pt>
                <c:pt idx="5">
                  <c:v>3.78125</c:v>
                </c:pt>
                <c:pt idx="6">
                  <c:v>3.645</c:v>
                </c:pt>
                <c:pt idx="7">
                  <c:v>3.51125</c:v>
                </c:pt>
                <c:pt idx="8">
                  <c:v>3.38</c:v>
                </c:pt>
                <c:pt idx="9">
                  <c:v>3.25125</c:v>
                </c:pt>
                <c:pt idx="10">
                  <c:v>3.125</c:v>
                </c:pt>
                <c:pt idx="11">
                  <c:v>3.00125</c:v>
                </c:pt>
                <c:pt idx="12">
                  <c:v>2.88</c:v>
                </c:pt>
                <c:pt idx="13">
                  <c:v>2.76125</c:v>
                </c:pt>
                <c:pt idx="14">
                  <c:v>2.645</c:v>
                </c:pt>
                <c:pt idx="15">
                  <c:v>2.53125</c:v>
                </c:pt>
                <c:pt idx="16">
                  <c:v>2.42</c:v>
                </c:pt>
                <c:pt idx="17">
                  <c:v>2.31125</c:v>
                </c:pt>
                <c:pt idx="18">
                  <c:v>2.205</c:v>
                </c:pt>
                <c:pt idx="19">
                  <c:v>2.10125</c:v>
                </c:pt>
                <c:pt idx="20">
                  <c:v>2</c:v>
                </c:pt>
                <c:pt idx="21">
                  <c:v>1.90125</c:v>
                </c:pt>
                <c:pt idx="22">
                  <c:v>1.805</c:v>
                </c:pt>
                <c:pt idx="23">
                  <c:v>1.71125</c:v>
                </c:pt>
                <c:pt idx="24">
                  <c:v>1.62</c:v>
                </c:pt>
                <c:pt idx="25">
                  <c:v>1.53125</c:v>
                </c:pt>
                <c:pt idx="26">
                  <c:v>1.445</c:v>
                </c:pt>
                <c:pt idx="27">
                  <c:v>1.36125</c:v>
                </c:pt>
                <c:pt idx="28">
                  <c:v>1.28</c:v>
                </c:pt>
                <c:pt idx="29">
                  <c:v>1.20125</c:v>
                </c:pt>
                <c:pt idx="30">
                  <c:v>1.125</c:v>
                </c:pt>
                <c:pt idx="31">
                  <c:v>1.05125</c:v>
                </c:pt>
                <c:pt idx="32">
                  <c:v>0.980000000000001</c:v>
                </c:pt>
                <c:pt idx="33">
                  <c:v>0.91125</c:v>
                </c:pt>
                <c:pt idx="34">
                  <c:v>0.845</c:v>
                </c:pt>
                <c:pt idx="35">
                  <c:v>0.78125</c:v>
                </c:pt>
                <c:pt idx="36">
                  <c:v>0.72</c:v>
                </c:pt>
                <c:pt idx="37">
                  <c:v>0.66125</c:v>
                </c:pt>
                <c:pt idx="38">
                  <c:v>0.605</c:v>
                </c:pt>
                <c:pt idx="39">
                  <c:v>0.55125</c:v>
                </c:pt>
                <c:pt idx="40">
                  <c:v>0.5</c:v>
                </c:pt>
                <c:pt idx="41">
                  <c:v>0.45125</c:v>
                </c:pt>
                <c:pt idx="42">
                  <c:v>0.405</c:v>
                </c:pt>
                <c:pt idx="43">
                  <c:v>0.36125</c:v>
                </c:pt>
                <c:pt idx="44">
                  <c:v>0.32</c:v>
                </c:pt>
                <c:pt idx="45">
                  <c:v>0.28125</c:v>
                </c:pt>
                <c:pt idx="46">
                  <c:v>0.245</c:v>
                </c:pt>
                <c:pt idx="47">
                  <c:v>0.21125</c:v>
                </c:pt>
                <c:pt idx="48">
                  <c:v>0.18</c:v>
                </c:pt>
                <c:pt idx="49">
                  <c:v>0.15125</c:v>
                </c:pt>
                <c:pt idx="50">
                  <c:v>0.125</c:v>
                </c:pt>
                <c:pt idx="51">
                  <c:v>0.10125</c:v>
                </c:pt>
                <c:pt idx="52">
                  <c:v>0.0800000000000001</c:v>
                </c:pt>
                <c:pt idx="53">
                  <c:v>0.0612499999999999</c:v>
                </c:pt>
                <c:pt idx="54">
                  <c:v>0.0450000000000001</c:v>
                </c:pt>
                <c:pt idx="55">
                  <c:v>3.125E-2</c:v>
                </c:pt>
                <c:pt idx="56">
                  <c:v>1.99999999999999E-2</c:v>
                </c:pt>
                <c:pt idx="57">
                  <c:v>1.12500000000001E-2</c:v>
                </c:pt>
                <c:pt idx="58">
                  <c:v>0.00499999999999996</c:v>
                </c:pt>
                <c:pt idx="59">
                  <c:v>1.25000000000001E-3</c:v>
                </c:pt>
                <c:pt idx="60">
                  <c:v>0</c:v>
                </c:pt>
                <c:pt idx="61">
                  <c:v>0.00124999999999999</c:v>
                </c:pt>
                <c:pt idx="62">
                  <c:v>0.00499999999999996</c:v>
                </c:pt>
                <c:pt idx="63">
                  <c:v>1.12500000000001E-2</c:v>
                </c:pt>
                <c:pt idx="64">
                  <c:v>0.02</c:v>
                </c:pt>
                <c:pt idx="65">
                  <c:v>3.125E-2</c:v>
                </c:pt>
                <c:pt idx="66">
                  <c:v>0.0449999999999999</c:v>
                </c:pt>
                <c:pt idx="67">
                  <c:v>0.0612499999999999</c:v>
                </c:pt>
                <c:pt idx="68">
                  <c:v>0.0800000000000001</c:v>
                </c:pt>
                <c:pt idx="69">
                  <c:v>0.10125</c:v>
                </c:pt>
                <c:pt idx="70">
                  <c:v>0.125</c:v>
                </c:pt>
                <c:pt idx="71">
                  <c:v>0.15125</c:v>
                </c:pt>
                <c:pt idx="72">
                  <c:v>0.18</c:v>
                </c:pt>
                <c:pt idx="73">
                  <c:v>0.21125</c:v>
                </c:pt>
                <c:pt idx="74">
                  <c:v>0.245</c:v>
                </c:pt>
                <c:pt idx="75">
                  <c:v>0.28125</c:v>
                </c:pt>
                <c:pt idx="76">
                  <c:v>0.32</c:v>
                </c:pt>
                <c:pt idx="77">
                  <c:v>0.36125</c:v>
                </c:pt>
                <c:pt idx="78">
                  <c:v>0.405</c:v>
                </c:pt>
                <c:pt idx="79">
                  <c:v>0.45125</c:v>
                </c:pt>
                <c:pt idx="80">
                  <c:v>0.5</c:v>
                </c:pt>
                <c:pt idx="81">
                  <c:v>0.55125</c:v>
                </c:pt>
                <c:pt idx="82">
                  <c:v>0.605</c:v>
                </c:pt>
                <c:pt idx="83">
                  <c:v>0.66125</c:v>
                </c:pt>
                <c:pt idx="84">
                  <c:v>0.72</c:v>
                </c:pt>
                <c:pt idx="85">
                  <c:v>0.78125</c:v>
                </c:pt>
                <c:pt idx="86">
                  <c:v>0.845</c:v>
                </c:pt>
                <c:pt idx="87">
                  <c:v>0.91125</c:v>
                </c:pt>
                <c:pt idx="88">
                  <c:v>0.980000000000001</c:v>
                </c:pt>
                <c:pt idx="89">
                  <c:v>1.05125</c:v>
                </c:pt>
                <c:pt idx="90">
                  <c:v>1.125</c:v>
                </c:pt>
                <c:pt idx="91">
                  <c:v>1.20125</c:v>
                </c:pt>
                <c:pt idx="92">
                  <c:v>1.28</c:v>
                </c:pt>
                <c:pt idx="93">
                  <c:v>1.36125</c:v>
                </c:pt>
                <c:pt idx="94">
                  <c:v>1.445</c:v>
                </c:pt>
                <c:pt idx="95">
                  <c:v>1.53125</c:v>
                </c:pt>
                <c:pt idx="96">
                  <c:v>1.62</c:v>
                </c:pt>
                <c:pt idx="97">
                  <c:v>1.71125</c:v>
                </c:pt>
                <c:pt idx="98">
                  <c:v>1.805</c:v>
                </c:pt>
                <c:pt idx="99">
                  <c:v>1.90125</c:v>
                </c:pt>
                <c:pt idx="100">
                  <c:v>2</c:v>
                </c:pt>
                <c:pt idx="101">
                  <c:v>2.10125</c:v>
                </c:pt>
                <c:pt idx="102">
                  <c:v>2.205</c:v>
                </c:pt>
                <c:pt idx="103">
                  <c:v>2.31125</c:v>
                </c:pt>
                <c:pt idx="104">
                  <c:v>2.42</c:v>
                </c:pt>
                <c:pt idx="105">
                  <c:v>2.53125</c:v>
                </c:pt>
                <c:pt idx="106">
                  <c:v>2.645</c:v>
                </c:pt>
                <c:pt idx="107">
                  <c:v>2.76125</c:v>
                </c:pt>
                <c:pt idx="108">
                  <c:v>2.88</c:v>
                </c:pt>
                <c:pt idx="109">
                  <c:v>3.00125</c:v>
                </c:pt>
                <c:pt idx="110">
                  <c:v>3.125</c:v>
                </c:pt>
                <c:pt idx="111">
                  <c:v>3.25125</c:v>
                </c:pt>
                <c:pt idx="112">
                  <c:v>3.38</c:v>
                </c:pt>
                <c:pt idx="113">
                  <c:v>3.51125</c:v>
                </c:pt>
                <c:pt idx="114">
                  <c:v>3.645</c:v>
                </c:pt>
                <c:pt idx="115">
                  <c:v>3.78125</c:v>
                </c:pt>
                <c:pt idx="116">
                  <c:v>3.92</c:v>
                </c:pt>
                <c:pt idx="117">
                  <c:v>4.06125</c:v>
                </c:pt>
                <c:pt idx="118">
                  <c:v>4.205</c:v>
                </c:pt>
                <c:pt idx="119">
                  <c:v>4.35125</c:v>
                </c:pt>
                <c:pt idx="120">
                  <c:v>4.5</c:v>
                </c:pt>
                <c:pt idx="121">
                  <c:v>4.65125</c:v>
                </c:pt>
                <c:pt idx="122">
                  <c:v>4.805</c:v>
                </c:pt>
                <c:pt idx="123">
                  <c:v>4.96125</c:v>
                </c:pt>
                <c:pt idx="124">
                  <c:v>5.12</c:v>
                </c:pt>
                <c:pt idx="125">
                  <c:v>5.28125</c:v>
                </c:pt>
                <c:pt idx="126">
                  <c:v>5.445</c:v>
                </c:pt>
                <c:pt idx="127">
                  <c:v>5.61125</c:v>
                </c:pt>
                <c:pt idx="128">
                  <c:v>5.78</c:v>
                </c:pt>
                <c:pt idx="129">
                  <c:v>5.95125</c:v>
                </c:pt>
                <c:pt idx="130">
                  <c:v>6.125</c:v>
                </c:pt>
                <c:pt idx="131">
                  <c:v>6.30125</c:v>
                </c:pt>
                <c:pt idx="132">
                  <c:v>6.48</c:v>
                </c:pt>
                <c:pt idx="133">
                  <c:v>6.66125</c:v>
                </c:pt>
                <c:pt idx="134">
                  <c:v>6.845</c:v>
                </c:pt>
                <c:pt idx="135">
                  <c:v>7.03125</c:v>
                </c:pt>
                <c:pt idx="136">
                  <c:v>7.22</c:v>
                </c:pt>
                <c:pt idx="137">
                  <c:v>7.41125</c:v>
                </c:pt>
                <c:pt idx="138">
                  <c:v>7.605</c:v>
                </c:pt>
                <c:pt idx="139">
                  <c:v>7.80125</c:v>
                </c:pt>
                <c:pt idx="140">
                  <c:v>8</c:v>
                </c:pt>
                <c:pt idx="141">
                  <c:v>8.00125</c:v>
                </c:pt>
                <c:pt idx="142">
                  <c:v>8.005</c:v>
                </c:pt>
                <c:pt idx="143">
                  <c:v>8.01125</c:v>
                </c:pt>
                <c:pt idx="144">
                  <c:v>8.02</c:v>
                </c:pt>
                <c:pt idx="145">
                  <c:v>8.03125</c:v>
                </c:pt>
                <c:pt idx="146">
                  <c:v>8.045</c:v>
                </c:pt>
                <c:pt idx="147">
                  <c:v>8.06125</c:v>
                </c:pt>
                <c:pt idx="148">
                  <c:v>8.08</c:v>
                </c:pt>
                <c:pt idx="149">
                  <c:v>8.10125</c:v>
                </c:pt>
                <c:pt idx="150">
                  <c:v>8.125</c:v>
                </c:pt>
                <c:pt idx="151">
                  <c:v>8.15125</c:v>
                </c:pt>
                <c:pt idx="152">
                  <c:v>8.18</c:v>
                </c:pt>
                <c:pt idx="153">
                  <c:v>8.21125</c:v>
                </c:pt>
                <c:pt idx="154">
                  <c:v>8.245</c:v>
                </c:pt>
                <c:pt idx="155">
                  <c:v>8.28125</c:v>
                </c:pt>
                <c:pt idx="156">
                  <c:v>8.32</c:v>
                </c:pt>
                <c:pt idx="157">
                  <c:v>8.36125</c:v>
                </c:pt>
                <c:pt idx="158">
                  <c:v>8.405</c:v>
                </c:pt>
                <c:pt idx="159">
                  <c:v>8.45125</c:v>
                </c:pt>
                <c:pt idx="160">
                  <c:v>8.5</c:v>
                </c:pt>
                <c:pt idx="161">
                  <c:v>8.55125</c:v>
                </c:pt>
                <c:pt idx="162">
                  <c:v>8.605</c:v>
                </c:pt>
                <c:pt idx="163">
                  <c:v>8.66125</c:v>
                </c:pt>
                <c:pt idx="164">
                  <c:v>8.72</c:v>
                </c:pt>
                <c:pt idx="165">
                  <c:v>8.78125</c:v>
                </c:pt>
                <c:pt idx="166">
                  <c:v>8.845</c:v>
                </c:pt>
                <c:pt idx="167">
                  <c:v>8.91125</c:v>
                </c:pt>
                <c:pt idx="168">
                  <c:v>8.98</c:v>
                </c:pt>
                <c:pt idx="169">
                  <c:v>9.05125</c:v>
                </c:pt>
                <c:pt idx="170">
                  <c:v>9.125</c:v>
                </c:pt>
                <c:pt idx="171">
                  <c:v>9.20125</c:v>
                </c:pt>
                <c:pt idx="172">
                  <c:v>9.28</c:v>
                </c:pt>
                <c:pt idx="173">
                  <c:v>9.36125</c:v>
                </c:pt>
                <c:pt idx="174">
                  <c:v>9.445</c:v>
                </c:pt>
                <c:pt idx="175">
                  <c:v>9.53125</c:v>
                </c:pt>
                <c:pt idx="176">
                  <c:v>9.62</c:v>
                </c:pt>
                <c:pt idx="177">
                  <c:v>9.71125</c:v>
                </c:pt>
                <c:pt idx="178">
                  <c:v>9.805</c:v>
                </c:pt>
                <c:pt idx="179">
                  <c:v>9.90125</c:v>
                </c:pt>
                <c:pt idx="180">
                  <c:v>10</c:v>
                </c:pt>
                <c:pt idx="181">
                  <c:v>10.10125</c:v>
                </c:pt>
                <c:pt idx="182">
                  <c:v>10.205</c:v>
                </c:pt>
                <c:pt idx="183">
                  <c:v>10.31125</c:v>
                </c:pt>
                <c:pt idx="184">
                  <c:v>10.42</c:v>
                </c:pt>
                <c:pt idx="185">
                  <c:v>10.53125</c:v>
                </c:pt>
                <c:pt idx="186">
                  <c:v>10.645</c:v>
                </c:pt>
                <c:pt idx="187">
                  <c:v>10.76125</c:v>
                </c:pt>
                <c:pt idx="188">
                  <c:v>10.88</c:v>
                </c:pt>
                <c:pt idx="189">
                  <c:v>11.00125</c:v>
                </c:pt>
                <c:pt idx="190">
                  <c:v>11.125</c:v>
                </c:pt>
                <c:pt idx="191">
                  <c:v>11.25125</c:v>
                </c:pt>
                <c:pt idx="192">
                  <c:v>11.38</c:v>
                </c:pt>
                <c:pt idx="193">
                  <c:v>11.51125</c:v>
                </c:pt>
                <c:pt idx="194">
                  <c:v>11.645</c:v>
                </c:pt>
                <c:pt idx="195">
                  <c:v>11.78125</c:v>
                </c:pt>
                <c:pt idx="196">
                  <c:v>11.92</c:v>
                </c:pt>
                <c:pt idx="197">
                  <c:v>12.06125</c:v>
                </c:pt>
                <c:pt idx="198">
                  <c:v>12.205</c:v>
                </c:pt>
                <c:pt idx="199">
                  <c:v>12.35125</c:v>
                </c:pt>
                <c:pt idx="200">
                  <c:v>12.5</c:v>
                </c:pt>
                <c:pt idx="201">
                  <c:v>12.65125</c:v>
                </c:pt>
                <c:pt idx="202">
                  <c:v>12.805</c:v>
                </c:pt>
                <c:pt idx="203">
                  <c:v>12.96125</c:v>
                </c:pt>
                <c:pt idx="204">
                  <c:v>13.12</c:v>
                </c:pt>
                <c:pt idx="205">
                  <c:v>13.28125</c:v>
                </c:pt>
                <c:pt idx="206">
                  <c:v>13.445</c:v>
                </c:pt>
                <c:pt idx="207">
                  <c:v>13.61125</c:v>
                </c:pt>
                <c:pt idx="208">
                  <c:v>13.78</c:v>
                </c:pt>
                <c:pt idx="209">
                  <c:v>13.95125</c:v>
                </c:pt>
                <c:pt idx="210">
                  <c:v>14.125</c:v>
                </c:pt>
                <c:pt idx="211">
                  <c:v>14.30125</c:v>
                </c:pt>
                <c:pt idx="212">
                  <c:v>14.48</c:v>
                </c:pt>
                <c:pt idx="213">
                  <c:v>14.66125</c:v>
                </c:pt>
                <c:pt idx="214">
                  <c:v>14.845</c:v>
                </c:pt>
                <c:pt idx="215">
                  <c:v>15.03125</c:v>
                </c:pt>
                <c:pt idx="216">
                  <c:v>15.22</c:v>
                </c:pt>
                <c:pt idx="217">
                  <c:v>15.41125</c:v>
                </c:pt>
                <c:pt idx="218">
                  <c:v>15.605</c:v>
                </c:pt>
                <c:pt idx="219">
                  <c:v>15.80125</c:v>
                </c:pt>
                <c:pt idx="220">
                  <c:v>16</c:v>
                </c:pt>
                <c:pt idx="221">
                  <c:v>15.80125</c:v>
                </c:pt>
                <c:pt idx="222">
                  <c:v>15.605</c:v>
                </c:pt>
                <c:pt idx="223">
                  <c:v>15.41125</c:v>
                </c:pt>
                <c:pt idx="224">
                  <c:v>15.22</c:v>
                </c:pt>
                <c:pt idx="225">
                  <c:v>15.03125</c:v>
                </c:pt>
                <c:pt idx="226">
                  <c:v>14.845</c:v>
                </c:pt>
                <c:pt idx="227">
                  <c:v>14.66125</c:v>
                </c:pt>
                <c:pt idx="228">
                  <c:v>14.48</c:v>
                </c:pt>
                <c:pt idx="229">
                  <c:v>14.30125</c:v>
                </c:pt>
                <c:pt idx="230">
                  <c:v>14.125</c:v>
                </c:pt>
                <c:pt idx="231">
                  <c:v>13.95125</c:v>
                </c:pt>
                <c:pt idx="232">
                  <c:v>13.78</c:v>
                </c:pt>
                <c:pt idx="233">
                  <c:v>13.61125</c:v>
                </c:pt>
                <c:pt idx="234">
                  <c:v>13.445</c:v>
                </c:pt>
                <c:pt idx="235">
                  <c:v>13.28125</c:v>
                </c:pt>
                <c:pt idx="236">
                  <c:v>13.12</c:v>
                </c:pt>
                <c:pt idx="237">
                  <c:v>12.96125</c:v>
                </c:pt>
                <c:pt idx="238">
                  <c:v>12.805</c:v>
                </c:pt>
                <c:pt idx="239">
                  <c:v>12.65125</c:v>
                </c:pt>
                <c:pt idx="240">
                  <c:v>12.5</c:v>
                </c:pt>
                <c:pt idx="241">
                  <c:v>12.35125</c:v>
                </c:pt>
                <c:pt idx="242">
                  <c:v>12.205</c:v>
                </c:pt>
                <c:pt idx="243">
                  <c:v>12.06125</c:v>
                </c:pt>
                <c:pt idx="244">
                  <c:v>11.92</c:v>
                </c:pt>
                <c:pt idx="245">
                  <c:v>11.78125</c:v>
                </c:pt>
                <c:pt idx="246">
                  <c:v>11.645</c:v>
                </c:pt>
                <c:pt idx="247">
                  <c:v>11.51125</c:v>
                </c:pt>
                <c:pt idx="248">
                  <c:v>11.38</c:v>
                </c:pt>
                <c:pt idx="249">
                  <c:v>11.25125</c:v>
                </c:pt>
                <c:pt idx="250">
                  <c:v>11.125</c:v>
                </c:pt>
                <c:pt idx="251">
                  <c:v>11.00125</c:v>
                </c:pt>
                <c:pt idx="252">
                  <c:v>10.88</c:v>
                </c:pt>
                <c:pt idx="253">
                  <c:v>10.76125</c:v>
                </c:pt>
                <c:pt idx="254">
                  <c:v>10.645</c:v>
                </c:pt>
                <c:pt idx="255">
                  <c:v>10.53125</c:v>
                </c:pt>
                <c:pt idx="256">
                  <c:v>10.42</c:v>
                </c:pt>
                <c:pt idx="257">
                  <c:v>10.31125</c:v>
                </c:pt>
                <c:pt idx="258">
                  <c:v>10.205</c:v>
                </c:pt>
                <c:pt idx="259">
                  <c:v>10.10125</c:v>
                </c:pt>
                <c:pt idx="260">
                  <c:v>10</c:v>
                </c:pt>
                <c:pt idx="261">
                  <c:v>9.90125</c:v>
                </c:pt>
                <c:pt idx="262">
                  <c:v>9.805</c:v>
                </c:pt>
                <c:pt idx="263">
                  <c:v>9.71125</c:v>
                </c:pt>
                <c:pt idx="264">
                  <c:v>9.62</c:v>
                </c:pt>
                <c:pt idx="265">
                  <c:v>9.53125</c:v>
                </c:pt>
                <c:pt idx="266">
                  <c:v>9.445</c:v>
                </c:pt>
                <c:pt idx="267">
                  <c:v>9.36125</c:v>
                </c:pt>
                <c:pt idx="268">
                  <c:v>9.28</c:v>
                </c:pt>
                <c:pt idx="269">
                  <c:v>9.20125</c:v>
                </c:pt>
                <c:pt idx="270">
                  <c:v>9.125</c:v>
                </c:pt>
                <c:pt idx="271">
                  <c:v>9.05125</c:v>
                </c:pt>
                <c:pt idx="272">
                  <c:v>8.98</c:v>
                </c:pt>
                <c:pt idx="273">
                  <c:v>8.91125</c:v>
                </c:pt>
                <c:pt idx="274">
                  <c:v>8.845</c:v>
                </c:pt>
                <c:pt idx="275">
                  <c:v>8.78125</c:v>
                </c:pt>
                <c:pt idx="276">
                  <c:v>8.72</c:v>
                </c:pt>
                <c:pt idx="277">
                  <c:v>8.66125</c:v>
                </c:pt>
                <c:pt idx="278">
                  <c:v>8.605</c:v>
                </c:pt>
                <c:pt idx="279">
                  <c:v>8.55125</c:v>
                </c:pt>
                <c:pt idx="280">
                  <c:v>8.5</c:v>
                </c:pt>
                <c:pt idx="281">
                  <c:v>8.45125</c:v>
                </c:pt>
                <c:pt idx="282">
                  <c:v>8.405</c:v>
                </c:pt>
                <c:pt idx="283">
                  <c:v>8.36125</c:v>
                </c:pt>
                <c:pt idx="284">
                  <c:v>8.32</c:v>
                </c:pt>
                <c:pt idx="285">
                  <c:v>8.28125</c:v>
                </c:pt>
                <c:pt idx="286">
                  <c:v>8.245</c:v>
                </c:pt>
                <c:pt idx="287">
                  <c:v>8.21125</c:v>
                </c:pt>
                <c:pt idx="288">
                  <c:v>8.18</c:v>
                </c:pt>
                <c:pt idx="289">
                  <c:v>8.15125</c:v>
                </c:pt>
                <c:pt idx="290">
                  <c:v>8.125</c:v>
                </c:pt>
                <c:pt idx="291">
                  <c:v>8.10125</c:v>
                </c:pt>
                <c:pt idx="292">
                  <c:v>8.08</c:v>
                </c:pt>
                <c:pt idx="293">
                  <c:v>8.06125</c:v>
                </c:pt>
                <c:pt idx="294">
                  <c:v>8.045</c:v>
                </c:pt>
                <c:pt idx="295">
                  <c:v>8.03125</c:v>
                </c:pt>
                <c:pt idx="296">
                  <c:v>8.02</c:v>
                </c:pt>
                <c:pt idx="297">
                  <c:v>8.01125</c:v>
                </c:pt>
                <c:pt idx="298">
                  <c:v>8.005</c:v>
                </c:pt>
                <c:pt idx="299">
                  <c:v>8.00125</c:v>
                </c:pt>
                <c:pt idx="300">
                  <c:v>8</c:v>
                </c:pt>
                <c:pt idx="301">
                  <c:v>8.00125</c:v>
                </c:pt>
                <c:pt idx="302">
                  <c:v>8.005</c:v>
                </c:pt>
                <c:pt idx="303">
                  <c:v>8.01125</c:v>
                </c:pt>
                <c:pt idx="304">
                  <c:v>8.02</c:v>
                </c:pt>
                <c:pt idx="305">
                  <c:v>8.03125</c:v>
                </c:pt>
                <c:pt idx="306">
                  <c:v>8.045</c:v>
                </c:pt>
                <c:pt idx="307">
                  <c:v>8.06125</c:v>
                </c:pt>
                <c:pt idx="308">
                  <c:v>8.08</c:v>
                </c:pt>
                <c:pt idx="309">
                  <c:v>8.10125</c:v>
                </c:pt>
                <c:pt idx="310">
                  <c:v>8.125</c:v>
                </c:pt>
                <c:pt idx="311">
                  <c:v>8.15125</c:v>
                </c:pt>
                <c:pt idx="312">
                  <c:v>8.18</c:v>
                </c:pt>
                <c:pt idx="313">
                  <c:v>8.21125</c:v>
                </c:pt>
                <c:pt idx="314">
                  <c:v>8.245</c:v>
                </c:pt>
                <c:pt idx="315">
                  <c:v>8.28125</c:v>
                </c:pt>
                <c:pt idx="316">
                  <c:v>8.32</c:v>
                </c:pt>
                <c:pt idx="317">
                  <c:v>8.36125</c:v>
                </c:pt>
                <c:pt idx="318">
                  <c:v>8.405</c:v>
                </c:pt>
                <c:pt idx="319">
                  <c:v>8.45125</c:v>
                </c:pt>
                <c:pt idx="320">
                  <c:v>8.5</c:v>
                </c:pt>
                <c:pt idx="321">
                  <c:v>8.55125</c:v>
                </c:pt>
                <c:pt idx="322">
                  <c:v>8.605</c:v>
                </c:pt>
                <c:pt idx="323">
                  <c:v>8.66125</c:v>
                </c:pt>
                <c:pt idx="324">
                  <c:v>8.72</c:v>
                </c:pt>
                <c:pt idx="325">
                  <c:v>8.78125</c:v>
                </c:pt>
                <c:pt idx="326">
                  <c:v>8.845</c:v>
                </c:pt>
                <c:pt idx="327">
                  <c:v>8.91125</c:v>
                </c:pt>
                <c:pt idx="328">
                  <c:v>8.98</c:v>
                </c:pt>
                <c:pt idx="329">
                  <c:v>9.05125</c:v>
                </c:pt>
                <c:pt idx="330">
                  <c:v>9.125</c:v>
                </c:pt>
                <c:pt idx="331">
                  <c:v>9.20125</c:v>
                </c:pt>
                <c:pt idx="332">
                  <c:v>9.28</c:v>
                </c:pt>
                <c:pt idx="333">
                  <c:v>9.36125</c:v>
                </c:pt>
                <c:pt idx="334">
                  <c:v>9.445</c:v>
                </c:pt>
                <c:pt idx="335">
                  <c:v>9.53125</c:v>
                </c:pt>
                <c:pt idx="336">
                  <c:v>9.62</c:v>
                </c:pt>
                <c:pt idx="337">
                  <c:v>9.71125</c:v>
                </c:pt>
                <c:pt idx="338">
                  <c:v>9.805</c:v>
                </c:pt>
                <c:pt idx="339">
                  <c:v>9.90125</c:v>
                </c:pt>
                <c:pt idx="340">
                  <c:v>10</c:v>
                </c:pt>
                <c:pt idx="341">
                  <c:v>10.10125</c:v>
                </c:pt>
                <c:pt idx="342">
                  <c:v>10.205</c:v>
                </c:pt>
                <c:pt idx="343">
                  <c:v>10.31125</c:v>
                </c:pt>
                <c:pt idx="344">
                  <c:v>10.42</c:v>
                </c:pt>
                <c:pt idx="345">
                  <c:v>10.53125</c:v>
                </c:pt>
                <c:pt idx="346">
                  <c:v>10.645</c:v>
                </c:pt>
                <c:pt idx="347">
                  <c:v>10.76125</c:v>
                </c:pt>
                <c:pt idx="348">
                  <c:v>10.88</c:v>
                </c:pt>
                <c:pt idx="349">
                  <c:v>11.00125</c:v>
                </c:pt>
                <c:pt idx="350">
                  <c:v>11.125</c:v>
                </c:pt>
                <c:pt idx="351">
                  <c:v>11.25125</c:v>
                </c:pt>
                <c:pt idx="352">
                  <c:v>11.38</c:v>
                </c:pt>
                <c:pt idx="353">
                  <c:v>11.51125</c:v>
                </c:pt>
                <c:pt idx="354">
                  <c:v>11.645</c:v>
                </c:pt>
                <c:pt idx="355">
                  <c:v>11.78125</c:v>
                </c:pt>
                <c:pt idx="356">
                  <c:v>11.92</c:v>
                </c:pt>
                <c:pt idx="357">
                  <c:v>12.06125</c:v>
                </c:pt>
                <c:pt idx="358">
                  <c:v>12.205</c:v>
                </c:pt>
                <c:pt idx="359">
                  <c:v>12.35125</c:v>
                </c:pt>
                <c:pt idx="360">
                  <c:v>12.5</c:v>
                </c:pt>
              </c:numCache>
            </c:numRef>
          </c:yVal>
          <c:smooth val="1"/>
          <c:extLst>
            <c:ext xmlns:c16="http://schemas.microsoft.com/office/drawing/2014/chart" uri="{C3380CC4-5D6E-409C-BE32-E72D297353CC}">
              <c16:uniqueId val="{00000000-D251-4580-AD2C-6B2A7B4CEA3E}"/>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c:v>
                </c:pt>
              </c:numCache>
            </c:numRef>
          </c:yVal>
          <c:smooth val="1"/>
          <c:extLst>
            <c:ext xmlns:c16="http://schemas.microsoft.com/office/drawing/2014/chart" uri="{C3380CC4-5D6E-409C-BE32-E72D297353CC}">
              <c16:uniqueId val="{00000001-D251-4580-AD2C-6B2A7B4CEA3E}"/>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8</c:v>
                </c:pt>
              </c:numCache>
            </c:numRef>
          </c:yVal>
          <c:smooth val="1"/>
          <c:extLst>
            <c:ext xmlns:c16="http://schemas.microsoft.com/office/drawing/2014/chart" uri="{C3380CC4-5D6E-409C-BE32-E72D297353CC}">
              <c16:uniqueId val="{00000002-D251-4580-AD2C-6B2A7B4CEA3E}"/>
            </c:ext>
          </c:extLst>
        </c:ser>
        <c:ser>
          <c:idx val="3"/>
          <c:order val="3"/>
          <c:tx>
            <c:v>left GD steps</c:v>
          </c:tx>
          <c:spPr>
            <a:ln w="17145">
              <a:solidFill>
                <a:srgbClr val="326CB2"/>
              </a:solidFill>
            </a:ln>
          </c:spPr>
          <c:marker>
            <c:symbol val="none"/>
          </c:marker>
          <c:xVal>
            <c:numRef>
              <c:f>'Chart Data'!$G$2:$G$4</c:f>
              <c:numCache>
                <c:formatCode>General</c:formatCode>
                <c:ptCount val="3"/>
                <c:pt idx="0">
                  <c:v>-1.5</c:v>
                </c:pt>
                <c:pt idx="1">
                  <c:v>-1.8</c:v>
                </c:pt>
                <c:pt idx="2">
                  <c:v>-2.04</c:v>
                </c:pt>
              </c:numCache>
            </c:numRef>
          </c:xVal>
          <c:yVal>
            <c:numRef>
              <c:f>'Chart Data'!$H$2:$H$4</c:f>
              <c:numCache>
                <c:formatCode>General</c:formatCode>
                <c:ptCount val="3"/>
                <c:pt idx="0">
                  <c:v>4.5</c:v>
                </c:pt>
                <c:pt idx="1">
                  <c:v>2.88</c:v>
                </c:pt>
                <c:pt idx="2">
                  <c:v>1.8432</c:v>
                </c:pt>
              </c:numCache>
            </c:numRef>
          </c:yVal>
          <c:smooth val="1"/>
          <c:extLst>
            <c:ext xmlns:c16="http://schemas.microsoft.com/office/drawing/2014/chart" uri="{C3380CC4-5D6E-409C-BE32-E72D297353CC}">
              <c16:uniqueId val="{00000003-D251-4580-AD2C-6B2A7B4CEA3E}"/>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4.5</c:v>
                </c:pt>
              </c:numCache>
            </c:numRef>
          </c:yVal>
          <c:smooth val="1"/>
          <c:extLst>
            <c:ext xmlns:c16="http://schemas.microsoft.com/office/drawing/2014/chart" uri="{C3380CC4-5D6E-409C-BE32-E72D297353CC}">
              <c16:uniqueId val="{00000004-D251-4580-AD2C-6B2A7B4CEA3E}"/>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Data'!$K$2:$K$3</c:f>
              <c:numCache>
                <c:formatCode>General</c:formatCode>
                <c:ptCount val="2"/>
                <c:pt idx="0">
                  <c:v>-1.8</c:v>
                </c:pt>
                <c:pt idx="1">
                  <c:v>-2.04</c:v>
                </c:pt>
              </c:numCache>
            </c:numRef>
          </c:xVal>
          <c:yVal>
            <c:numRef>
              <c:f>'Chart Data'!$L$2:$L$3</c:f>
              <c:numCache>
                <c:formatCode>General</c:formatCode>
                <c:ptCount val="2"/>
                <c:pt idx="0">
                  <c:v>2.88</c:v>
                </c:pt>
                <c:pt idx="1">
                  <c:v>1.8432</c:v>
                </c:pt>
              </c:numCache>
            </c:numRef>
          </c:yVal>
          <c:smooth val="1"/>
          <c:extLst>
            <c:ext xmlns:c16="http://schemas.microsoft.com/office/drawing/2014/chart" uri="{C3380CC4-5D6E-409C-BE32-E72D297353CC}">
              <c16:uniqueId val="{00000005-D251-4580-AD2C-6B2A7B4CEA3E}"/>
            </c:ext>
          </c:extLst>
        </c:ser>
        <c:ser>
          <c:idx val="6"/>
          <c:order val="6"/>
          <c:tx>
            <c:v>right GD steps</c:v>
          </c:tx>
          <c:spPr>
            <a:ln w="17145">
              <a:solidFill>
                <a:srgbClr val="C45C28"/>
              </a:solidFill>
            </a:ln>
          </c:spPr>
          <c:marker>
            <c:symbol val="none"/>
          </c:marker>
          <c:xVal>
            <c:numRef>
              <c:f>'Chart Data'!$M$2:$M$4</c:f>
              <c:numCache>
                <c:formatCode>General</c:formatCode>
                <c:ptCount val="3"/>
                <c:pt idx="0">
                  <c:v>1.5</c:v>
                </c:pt>
                <c:pt idx="1">
                  <c:v>1.8</c:v>
                </c:pt>
                <c:pt idx="2">
                  <c:v>2.04</c:v>
                </c:pt>
              </c:numCache>
            </c:numRef>
          </c:xVal>
          <c:yVal>
            <c:numRef>
              <c:f>'Chart Data'!$N$2:$N$4</c:f>
              <c:numCache>
                <c:formatCode>General</c:formatCode>
                <c:ptCount val="3"/>
                <c:pt idx="0">
                  <c:v>12.5</c:v>
                </c:pt>
                <c:pt idx="1">
                  <c:v>10.88</c:v>
                </c:pt>
                <c:pt idx="2">
                  <c:v>9.8432</c:v>
                </c:pt>
              </c:numCache>
            </c:numRef>
          </c:yVal>
          <c:smooth val="1"/>
          <c:extLst>
            <c:ext xmlns:c16="http://schemas.microsoft.com/office/drawing/2014/chart" uri="{C3380CC4-5D6E-409C-BE32-E72D297353CC}">
              <c16:uniqueId val="{00000006-D251-4580-AD2C-6B2A7B4CEA3E}"/>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12.5</c:v>
                </c:pt>
              </c:numCache>
            </c:numRef>
          </c:yVal>
          <c:smooth val="1"/>
          <c:extLst>
            <c:ext xmlns:c16="http://schemas.microsoft.com/office/drawing/2014/chart" uri="{C3380CC4-5D6E-409C-BE32-E72D297353CC}">
              <c16:uniqueId val="{00000007-D251-4580-AD2C-6B2A7B4CEA3E}"/>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Data'!$Q$2:$Q$3</c:f>
              <c:numCache>
                <c:formatCode>General</c:formatCode>
                <c:ptCount val="2"/>
                <c:pt idx="0">
                  <c:v>1.8</c:v>
                </c:pt>
                <c:pt idx="1">
                  <c:v>2.04</c:v>
                </c:pt>
              </c:numCache>
            </c:numRef>
          </c:xVal>
          <c:yVal>
            <c:numRef>
              <c:f>'Chart Data'!$R$2:$R$3</c:f>
              <c:numCache>
                <c:formatCode>General</c:formatCode>
                <c:ptCount val="2"/>
                <c:pt idx="0">
                  <c:v>10.88</c:v>
                </c:pt>
                <c:pt idx="1">
                  <c:v>9.8432</c:v>
                </c:pt>
              </c:numCache>
            </c:numRef>
          </c:yVal>
          <c:smooth val="1"/>
          <c:extLst>
            <c:ext xmlns:c16="http://schemas.microsoft.com/office/drawing/2014/chart" uri="{C3380CC4-5D6E-409C-BE32-E72D297353CC}">
              <c16:uniqueId val="{00000008-D251-4580-AD2C-6B2A7B4CEA3E}"/>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-2.04</c:v>
                </c:pt>
              </c:numCache>
            </c:numRef>
          </c:xVal>
          <c:yVal>
            <c:numRef>
              <c:f>'Chart Data'!$T$2:$T$2</c:f>
              <c:numCache>
                <c:formatCode>General</c:formatCode>
                <c:ptCount val="1"/>
                <c:pt idx="0">
                  <c:v>1.8432</c:v>
                </c:pt>
              </c:numCache>
            </c:numRef>
          </c:yVal>
          <c:smooth val="1"/>
          <c:extLst>
            <c:ext xmlns:c16="http://schemas.microsoft.com/office/drawing/2014/chart" uri="{C3380CC4-5D6E-409C-BE32-E72D297353CC}">
              <c16:uniqueId val="{00000009-D251-4580-AD2C-6B2A7B4CEA3E}"/>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2.04</c:v>
                </c:pt>
              </c:numCache>
            </c:numRef>
          </c:xVal>
          <c:yVal>
            <c:numRef>
              <c:f>'Chart Data'!$V$2:$V$2</c:f>
              <c:numCache>
                <c:formatCode>General</c:formatCode>
                <c:ptCount val="1"/>
                <c:pt idx="0">
                  <c:v>9.8432</c:v>
                </c:pt>
              </c:numCache>
            </c:numRef>
          </c:yVal>
          <c:smooth val="1"/>
          <c:extLst>
            <c:ext xmlns:c16="http://schemas.microsoft.com/office/drawing/2014/chart" uri="{C3380CC4-5D6E-409C-BE32-E72D297353CC}">
              <c16:uniqueId val="{0000000A-D251-4580-AD2C-6B2A7B4CEA3E}"/>
            </c:ext>
          </c:extLst>
        </c:ser>
        <c:dLbls>
          <c:showLegendKey val="0"/>
          <c:showVal val="0"/>
          <c:showCatName val="0"/>
          <c:showSerName val="0"/>
          <c:showPercent val="0"/>
          <c:showBubbleSize val="0"/>
        </c:dLbls>
        <c:axId val="48650112"/>
        <c:axId val="48672768"/>
      </c:scatterChart>
      <c:valAx>
        <c:axId val="48672768"/>
        <c:scaling>
          <c:orientation val="minMax"/>
          <c:max val="18"/>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Squared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4"/>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Squared loss</c:v>
          </c:tx>
          <c:spPr>
            <a:ln w="30480">
              <a:solidFill>
                <a:srgbClr val="087F83"/>
              </a:solidFill>
            </a:ln>
          </c:spPr>
          <c:marker>
            <c:symbol val="none"/>
          </c:marker>
          <c:xVal>
            <c:numRef>
              <c:f>'Chart Data'!$A$2:$A$362</c:f>
              <c:numCache>
                <c:formatCode>General</c:formatCode>
                <c:ptCount val="361"/>
                <c:pt idx="0">
                  <c:v>-4.5</c:v>
                </c:pt>
                <c:pt idx="1">
                  <c:v>-4.475</c:v>
                </c:pt>
                <c:pt idx="2">
                  <c:v>-4.45</c:v>
                </c:pt>
                <c:pt idx="3">
                  <c:v>-4.425</c:v>
                </c:pt>
                <c:pt idx="4">
                  <c:v>-4.4</c:v>
                </c:pt>
                <c:pt idx="5">
                  <c:v>-4.375</c:v>
                </c:pt>
                <c:pt idx="6">
                  <c:v>-4.35</c:v>
                </c:pt>
                <c:pt idx="7">
                  <c:v>-4.325</c:v>
                </c:pt>
                <c:pt idx="8">
                  <c:v>-4.3</c:v>
                </c:pt>
                <c:pt idx="9">
                  <c:v>-4.275</c:v>
                </c:pt>
                <c:pt idx="10">
                  <c:v>-4.25</c:v>
                </c:pt>
                <c:pt idx="11">
                  <c:v>-4.225</c:v>
                </c:pt>
                <c:pt idx="12">
                  <c:v>-4.2</c:v>
                </c:pt>
                <c:pt idx="13">
                  <c:v>-4.175</c:v>
                </c:pt>
                <c:pt idx="14">
                  <c:v>-4.15</c:v>
                </c:pt>
                <c:pt idx="15">
                  <c:v>-4.125</c:v>
                </c:pt>
                <c:pt idx="16">
                  <c:v>-4.1</c:v>
                </c:pt>
                <c:pt idx="17">
                  <c:v>-4.075</c:v>
                </c:pt>
                <c:pt idx="18">
                  <c:v>-4.05</c:v>
                </c:pt>
                <c:pt idx="19">
                  <c:v>-4.025</c:v>
                </c:pt>
                <c:pt idx="20">
                  <c:v>-4</c:v>
                </c:pt>
                <c:pt idx="21">
                  <c:v>-3.975</c:v>
                </c:pt>
                <c:pt idx="22">
                  <c:v>-3.95</c:v>
                </c:pt>
                <c:pt idx="23">
                  <c:v>-3.925</c:v>
                </c:pt>
                <c:pt idx="24">
                  <c:v>-3.9</c:v>
                </c:pt>
                <c:pt idx="25">
                  <c:v>-3.875</c:v>
                </c:pt>
                <c:pt idx="26">
                  <c:v>-3.85</c:v>
                </c:pt>
                <c:pt idx="27">
                  <c:v>-3.825</c:v>
                </c:pt>
                <c:pt idx="28">
                  <c:v>-3.8</c:v>
                </c:pt>
                <c:pt idx="29">
                  <c:v>-3.775</c:v>
                </c:pt>
                <c:pt idx="30">
                  <c:v>-3.75</c:v>
                </c:pt>
                <c:pt idx="31">
                  <c:v>-3.725</c:v>
                </c:pt>
                <c:pt idx="32">
                  <c:v>-3.7</c:v>
                </c:pt>
                <c:pt idx="33">
                  <c:v>-3.675</c:v>
                </c:pt>
                <c:pt idx="34">
                  <c:v>-3.65</c:v>
                </c:pt>
                <c:pt idx="35">
                  <c:v>-3.625</c:v>
                </c:pt>
                <c:pt idx="36">
                  <c:v>-3.6</c:v>
                </c:pt>
                <c:pt idx="37">
                  <c:v>-3.575</c:v>
                </c:pt>
                <c:pt idx="38">
                  <c:v>-3.55</c:v>
                </c:pt>
                <c:pt idx="39">
                  <c:v>-3.525</c:v>
                </c:pt>
                <c:pt idx="40">
                  <c:v>-3.5</c:v>
                </c:pt>
                <c:pt idx="41">
                  <c:v>-3.475</c:v>
                </c:pt>
                <c:pt idx="42">
                  <c:v>-3.45</c:v>
                </c:pt>
                <c:pt idx="43">
                  <c:v>-3.425</c:v>
                </c:pt>
                <c:pt idx="44">
                  <c:v>-3.4</c:v>
                </c:pt>
                <c:pt idx="45">
                  <c:v>-3.375</c:v>
                </c:pt>
                <c:pt idx="46">
                  <c:v>-3.35</c:v>
                </c:pt>
                <c:pt idx="47">
                  <c:v>-3.325</c:v>
                </c:pt>
                <c:pt idx="48">
                  <c:v>-3.3</c:v>
                </c:pt>
                <c:pt idx="49">
                  <c:v>-3.275</c:v>
                </c:pt>
                <c:pt idx="50">
                  <c:v>-3.25</c:v>
                </c:pt>
                <c:pt idx="51">
                  <c:v>-3.225</c:v>
                </c:pt>
                <c:pt idx="52">
                  <c:v>-3.2</c:v>
                </c:pt>
                <c:pt idx="53">
                  <c:v>-3.175</c:v>
                </c:pt>
                <c:pt idx="54">
                  <c:v>-3.15</c:v>
                </c:pt>
                <c:pt idx="55">
                  <c:v>-3.125</c:v>
                </c:pt>
                <c:pt idx="56">
                  <c:v>-3.1</c:v>
                </c:pt>
                <c:pt idx="57">
                  <c:v>-3.075</c:v>
                </c:pt>
                <c:pt idx="58">
                  <c:v>-3.05</c:v>
                </c:pt>
                <c:pt idx="59">
                  <c:v>-3.025</c:v>
                </c:pt>
                <c:pt idx="60">
                  <c:v>-3</c:v>
                </c:pt>
                <c:pt idx="61">
                  <c:v>-2.975</c:v>
                </c:pt>
                <c:pt idx="62">
                  <c:v>-2.95</c:v>
                </c:pt>
                <c:pt idx="63">
                  <c:v>-2.925</c:v>
                </c:pt>
                <c:pt idx="64">
                  <c:v>-2.9</c:v>
                </c:pt>
                <c:pt idx="65">
                  <c:v>-2.875</c:v>
                </c:pt>
                <c:pt idx="66">
                  <c:v>-2.85</c:v>
                </c:pt>
                <c:pt idx="67">
                  <c:v>-2.825</c:v>
                </c:pt>
                <c:pt idx="68">
                  <c:v>-2.8</c:v>
                </c:pt>
                <c:pt idx="69">
                  <c:v>-2.775</c:v>
                </c:pt>
                <c:pt idx="70">
                  <c:v>-2.75</c:v>
                </c:pt>
                <c:pt idx="71">
                  <c:v>-2.725</c:v>
                </c:pt>
                <c:pt idx="72">
                  <c:v>-2.7</c:v>
                </c:pt>
                <c:pt idx="73">
                  <c:v>-2.675</c:v>
                </c:pt>
                <c:pt idx="74">
                  <c:v>-2.65</c:v>
                </c:pt>
                <c:pt idx="75">
                  <c:v>-2.625</c:v>
                </c:pt>
                <c:pt idx="76">
                  <c:v>-2.6</c:v>
                </c:pt>
                <c:pt idx="77">
                  <c:v>-2.575</c:v>
                </c:pt>
                <c:pt idx="78">
                  <c:v>-2.55</c:v>
                </c:pt>
                <c:pt idx="79">
                  <c:v>-2.525</c:v>
                </c:pt>
                <c:pt idx="80">
                  <c:v>-2.5</c:v>
                </c:pt>
                <c:pt idx="81">
                  <c:v>-2.475</c:v>
                </c:pt>
                <c:pt idx="82">
                  <c:v>-2.45</c:v>
                </c:pt>
                <c:pt idx="83">
                  <c:v>-2.425</c:v>
                </c:pt>
                <c:pt idx="84">
                  <c:v>-2.4</c:v>
                </c:pt>
                <c:pt idx="85">
                  <c:v>-2.375</c:v>
                </c:pt>
                <c:pt idx="86">
                  <c:v>-2.35</c:v>
                </c:pt>
                <c:pt idx="87">
                  <c:v>-2.325</c:v>
                </c:pt>
                <c:pt idx="88">
                  <c:v>-2.3</c:v>
                </c:pt>
                <c:pt idx="89">
                  <c:v>-2.275</c:v>
                </c:pt>
                <c:pt idx="90">
                  <c:v>-2.25</c:v>
                </c:pt>
                <c:pt idx="91">
                  <c:v>-2.225</c:v>
                </c:pt>
                <c:pt idx="92">
                  <c:v>-2.2</c:v>
                </c:pt>
                <c:pt idx="93">
                  <c:v>-2.175</c:v>
                </c:pt>
                <c:pt idx="94">
                  <c:v>-2.15</c:v>
                </c:pt>
                <c:pt idx="95">
                  <c:v>-2.125</c:v>
                </c:pt>
                <c:pt idx="96">
                  <c:v>-2.1</c:v>
                </c:pt>
                <c:pt idx="97">
                  <c:v>-2.075</c:v>
                </c:pt>
                <c:pt idx="98">
                  <c:v>-2.05</c:v>
                </c:pt>
                <c:pt idx="99">
                  <c:v>-2.025</c:v>
                </c:pt>
                <c:pt idx="100">
                  <c:v>-2</c:v>
                </c:pt>
                <c:pt idx="101">
                  <c:v>-1.975</c:v>
                </c:pt>
                <c:pt idx="102">
                  <c:v>-1.95</c:v>
                </c:pt>
                <c:pt idx="103">
                  <c:v>-1.925</c:v>
                </c:pt>
                <c:pt idx="104">
                  <c:v>-1.9</c:v>
                </c:pt>
                <c:pt idx="105">
                  <c:v>-1.875</c:v>
                </c:pt>
                <c:pt idx="106">
                  <c:v>-1.85</c:v>
                </c:pt>
                <c:pt idx="107">
                  <c:v>-1.825</c:v>
                </c:pt>
                <c:pt idx="108">
                  <c:v>-1.8</c:v>
                </c:pt>
                <c:pt idx="109">
                  <c:v>-1.775</c:v>
                </c:pt>
                <c:pt idx="110">
                  <c:v>-1.75</c:v>
                </c:pt>
                <c:pt idx="111">
                  <c:v>-1.725</c:v>
                </c:pt>
                <c:pt idx="112">
                  <c:v>-1.7</c:v>
                </c:pt>
                <c:pt idx="113">
                  <c:v>-1.675</c:v>
                </c:pt>
                <c:pt idx="114">
                  <c:v>-1.65</c:v>
                </c:pt>
                <c:pt idx="115">
                  <c:v>-1.625</c:v>
                </c:pt>
                <c:pt idx="116">
                  <c:v>-1.6</c:v>
                </c:pt>
                <c:pt idx="117">
                  <c:v>-1.575</c:v>
                </c:pt>
                <c:pt idx="118">
                  <c:v>-1.55</c:v>
                </c:pt>
                <c:pt idx="119">
                  <c:v>-1.525</c:v>
                </c:pt>
                <c:pt idx="120">
                  <c:v>-1.5</c:v>
                </c:pt>
                <c:pt idx="121">
                  <c:v>-1.475</c:v>
                </c:pt>
                <c:pt idx="122">
                  <c:v>-1.45</c:v>
                </c:pt>
                <c:pt idx="123">
                  <c:v>-1.425</c:v>
                </c:pt>
                <c:pt idx="124">
                  <c:v>-1.4</c:v>
                </c:pt>
                <c:pt idx="125">
                  <c:v>-1.375</c:v>
                </c:pt>
                <c:pt idx="126">
                  <c:v>-1.35</c:v>
                </c:pt>
                <c:pt idx="127">
                  <c:v>-1.325</c:v>
                </c:pt>
                <c:pt idx="128">
                  <c:v>-1.3</c:v>
                </c:pt>
                <c:pt idx="129">
                  <c:v>-1.275</c:v>
                </c:pt>
                <c:pt idx="130">
                  <c:v>-1.25</c:v>
                </c:pt>
                <c:pt idx="131">
                  <c:v>-1.225</c:v>
                </c:pt>
                <c:pt idx="132">
                  <c:v>-1.2</c:v>
                </c:pt>
                <c:pt idx="133">
                  <c:v>-1.175</c:v>
                </c:pt>
                <c:pt idx="134">
                  <c:v>-1.15</c:v>
                </c:pt>
                <c:pt idx="135">
                  <c:v>-1.125</c:v>
                </c:pt>
                <c:pt idx="136">
                  <c:v>-1.1</c:v>
                </c:pt>
                <c:pt idx="137">
                  <c:v>-1.075</c:v>
                </c:pt>
                <c:pt idx="138">
                  <c:v>-1.05</c:v>
                </c:pt>
                <c:pt idx="139">
                  <c:v>-1.025</c:v>
                </c:pt>
                <c:pt idx="140">
                  <c:v>-1</c:v>
                </c:pt>
                <c:pt idx="141">
                  <c:v>-0.975</c:v>
                </c:pt>
                <c:pt idx="142">
                  <c:v>-0.95</c:v>
                </c:pt>
                <c:pt idx="143">
                  <c:v>-0.925</c:v>
                </c:pt>
                <c:pt idx="144">
                  <c:v>-0.9</c:v>
                </c:pt>
                <c:pt idx="145">
                  <c:v>-0.875</c:v>
                </c:pt>
                <c:pt idx="146">
                  <c:v>-0.85</c:v>
                </c:pt>
                <c:pt idx="147">
                  <c:v>-0.825</c:v>
                </c:pt>
                <c:pt idx="148">
                  <c:v>-0.8</c:v>
                </c:pt>
                <c:pt idx="149">
                  <c:v>-0.775</c:v>
                </c:pt>
                <c:pt idx="150">
                  <c:v>-0.75</c:v>
                </c:pt>
                <c:pt idx="151">
                  <c:v>-0.725</c:v>
                </c:pt>
                <c:pt idx="152">
                  <c:v>-0.7</c:v>
                </c:pt>
                <c:pt idx="153">
                  <c:v>-0.675</c:v>
                </c:pt>
                <c:pt idx="154">
                  <c:v>-0.65</c:v>
                </c:pt>
                <c:pt idx="155">
                  <c:v>-0.625</c:v>
                </c:pt>
                <c:pt idx="156">
                  <c:v>-0.6</c:v>
                </c:pt>
                <c:pt idx="157">
                  <c:v>-0.575</c:v>
                </c:pt>
                <c:pt idx="158">
                  <c:v>-0.55</c:v>
                </c:pt>
                <c:pt idx="159">
                  <c:v>-0.525</c:v>
                </c:pt>
                <c:pt idx="160">
                  <c:v>-0.5</c:v>
                </c:pt>
                <c:pt idx="161">
                  <c:v>-0.475</c:v>
                </c:pt>
                <c:pt idx="162">
                  <c:v>-0.45</c:v>
                </c:pt>
                <c:pt idx="163">
                  <c:v>-0.425</c:v>
                </c:pt>
                <c:pt idx="164">
                  <c:v>-0.4</c:v>
                </c:pt>
                <c:pt idx="165">
                  <c:v>-0.375</c:v>
                </c:pt>
                <c:pt idx="166">
                  <c:v>-0.35</c:v>
                </c:pt>
                <c:pt idx="167">
                  <c:v>-0.325</c:v>
                </c:pt>
                <c:pt idx="168">
                  <c:v>-0.3</c:v>
                </c:pt>
                <c:pt idx="169">
                  <c:v>-0.275</c:v>
                </c:pt>
                <c:pt idx="170">
                  <c:v>-0.25</c:v>
                </c:pt>
                <c:pt idx="171">
                  <c:v>-0.225</c:v>
                </c:pt>
                <c:pt idx="172">
                  <c:v>-0.2</c:v>
                </c:pt>
                <c:pt idx="173">
                  <c:v>-0.175</c:v>
                </c:pt>
                <c:pt idx="174">
                  <c:v>-0.15</c:v>
                </c:pt>
                <c:pt idx="175">
                  <c:v>-0.125</c:v>
                </c:pt>
                <c:pt idx="176">
                  <c:v>-0.1</c:v>
                </c:pt>
                <c:pt idx="177">
                  <c:v>-0.075</c:v>
                </c:pt>
                <c:pt idx="178">
                  <c:v>-0.05</c:v>
                </c:pt>
                <c:pt idx="179">
                  <c:v>-0.025</c:v>
                </c:pt>
                <c:pt idx="180">
                  <c:v>0</c:v>
                </c:pt>
                <c:pt idx="181">
                  <c:v>0.025</c:v>
                </c:pt>
                <c:pt idx="182">
                  <c:v>0.05</c:v>
                </c:pt>
                <c:pt idx="183">
                  <c:v>0.075</c:v>
                </c:pt>
                <c:pt idx="184">
                  <c:v>0.1</c:v>
                </c:pt>
                <c:pt idx="185">
                  <c:v>0.125</c:v>
                </c:pt>
                <c:pt idx="186">
                  <c:v>0.15</c:v>
                </c:pt>
                <c:pt idx="187">
                  <c:v>0.175</c:v>
                </c:pt>
                <c:pt idx="188">
                  <c:v>0.2</c:v>
                </c:pt>
                <c:pt idx="189">
                  <c:v>0.225</c:v>
                </c:pt>
                <c:pt idx="190">
                  <c:v>0.25</c:v>
                </c:pt>
                <c:pt idx="191">
                  <c:v>0.275</c:v>
                </c:pt>
                <c:pt idx="192">
                  <c:v>0.3</c:v>
                </c:pt>
                <c:pt idx="193">
                  <c:v>0.325</c:v>
                </c:pt>
                <c:pt idx="194">
                  <c:v>0.35</c:v>
                </c:pt>
                <c:pt idx="195">
                  <c:v>0.375</c:v>
                </c:pt>
                <c:pt idx="196">
                  <c:v>0.4</c:v>
                </c:pt>
                <c:pt idx="197">
                  <c:v>0.425</c:v>
                </c:pt>
                <c:pt idx="198">
                  <c:v>0.45</c:v>
                </c:pt>
                <c:pt idx="199">
                  <c:v>0.475</c:v>
                </c:pt>
                <c:pt idx="200">
                  <c:v>0.5</c:v>
                </c:pt>
                <c:pt idx="201">
                  <c:v>0.525</c:v>
                </c:pt>
                <c:pt idx="202">
                  <c:v>0.55</c:v>
                </c:pt>
                <c:pt idx="203">
                  <c:v>0.575</c:v>
                </c:pt>
                <c:pt idx="204">
                  <c:v>0.6</c:v>
                </c:pt>
                <c:pt idx="205">
                  <c:v>0.625</c:v>
                </c:pt>
                <c:pt idx="206">
                  <c:v>0.65</c:v>
                </c:pt>
                <c:pt idx="207">
                  <c:v>0.675</c:v>
                </c:pt>
                <c:pt idx="208">
                  <c:v>0.7</c:v>
                </c:pt>
                <c:pt idx="209">
                  <c:v>0.725</c:v>
                </c:pt>
                <c:pt idx="210">
                  <c:v>0.75</c:v>
                </c:pt>
                <c:pt idx="211">
                  <c:v>0.775</c:v>
                </c:pt>
                <c:pt idx="212">
                  <c:v>0.8</c:v>
                </c:pt>
                <c:pt idx="213">
                  <c:v>0.825</c:v>
                </c:pt>
                <c:pt idx="214">
                  <c:v>0.85</c:v>
                </c:pt>
                <c:pt idx="215">
                  <c:v>0.875</c:v>
                </c:pt>
                <c:pt idx="216">
                  <c:v>0.9</c:v>
                </c:pt>
                <c:pt idx="217">
                  <c:v>0.925</c:v>
                </c:pt>
                <c:pt idx="218">
                  <c:v>0.95</c:v>
                </c:pt>
                <c:pt idx="219">
                  <c:v>0.975</c:v>
                </c:pt>
                <c:pt idx="220">
                  <c:v>1</c:v>
                </c:pt>
                <c:pt idx="221">
                  <c:v>1.025</c:v>
                </c:pt>
                <c:pt idx="222">
                  <c:v>1.05</c:v>
                </c:pt>
                <c:pt idx="223">
                  <c:v>1.075</c:v>
                </c:pt>
                <c:pt idx="224">
                  <c:v>1.1</c:v>
                </c:pt>
                <c:pt idx="225">
                  <c:v>1.125</c:v>
                </c:pt>
                <c:pt idx="226">
                  <c:v>1.15</c:v>
                </c:pt>
                <c:pt idx="227">
                  <c:v>1.175</c:v>
                </c:pt>
                <c:pt idx="228">
                  <c:v>1.2</c:v>
                </c:pt>
                <c:pt idx="229">
                  <c:v>1.225</c:v>
                </c:pt>
                <c:pt idx="230">
                  <c:v>1.25</c:v>
                </c:pt>
                <c:pt idx="231">
                  <c:v>1.275</c:v>
                </c:pt>
                <c:pt idx="232">
                  <c:v>1.3</c:v>
                </c:pt>
                <c:pt idx="233">
                  <c:v>1.325</c:v>
                </c:pt>
                <c:pt idx="234">
                  <c:v>1.35</c:v>
                </c:pt>
                <c:pt idx="235">
                  <c:v>1.375</c:v>
                </c:pt>
                <c:pt idx="236">
                  <c:v>1.4</c:v>
                </c:pt>
                <c:pt idx="237">
                  <c:v>1.425</c:v>
                </c:pt>
                <c:pt idx="238">
                  <c:v>1.45</c:v>
                </c:pt>
                <c:pt idx="239">
                  <c:v>1.475</c:v>
                </c:pt>
                <c:pt idx="240">
                  <c:v>1.5</c:v>
                </c:pt>
                <c:pt idx="241">
                  <c:v>1.525</c:v>
                </c:pt>
                <c:pt idx="242">
                  <c:v>1.55</c:v>
                </c:pt>
                <c:pt idx="243">
                  <c:v>1.575</c:v>
                </c:pt>
                <c:pt idx="244">
                  <c:v>1.6</c:v>
                </c:pt>
                <c:pt idx="245">
                  <c:v>1.625</c:v>
                </c:pt>
                <c:pt idx="246">
                  <c:v>1.65</c:v>
                </c:pt>
                <c:pt idx="247">
                  <c:v>1.675</c:v>
                </c:pt>
                <c:pt idx="248">
                  <c:v>1.7</c:v>
                </c:pt>
                <c:pt idx="249">
                  <c:v>1.725</c:v>
                </c:pt>
                <c:pt idx="250">
                  <c:v>1.75</c:v>
                </c:pt>
                <c:pt idx="251">
                  <c:v>1.775</c:v>
                </c:pt>
                <c:pt idx="252">
                  <c:v>1.8</c:v>
                </c:pt>
                <c:pt idx="253">
                  <c:v>1.825</c:v>
                </c:pt>
                <c:pt idx="254">
                  <c:v>1.85</c:v>
                </c:pt>
                <c:pt idx="255">
                  <c:v>1.875</c:v>
                </c:pt>
                <c:pt idx="256">
                  <c:v>1.9</c:v>
                </c:pt>
                <c:pt idx="257">
                  <c:v>1.925</c:v>
                </c:pt>
                <c:pt idx="258">
                  <c:v>1.95</c:v>
                </c:pt>
                <c:pt idx="259">
                  <c:v>1.975</c:v>
                </c:pt>
                <c:pt idx="260">
                  <c:v>2</c:v>
                </c:pt>
                <c:pt idx="261">
                  <c:v>2.025</c:v>
                </c:pt>
                <c:pt idx="262">
                  <c:v>2.05</c:v>
                </c:pt>
                <c:pt idx="263">
                  <c:v>2.075</c:v>
                </c:pt>
                <c:pt idx="264">
                  <c:v>2.1</c:v>
                </c:pt>
                <c:pt idx="265">
                  <c:v>2.125</c:v>
                </c:pt>
                <c:pt idx="266">
                  <c:v>2.15</c:v>
                </c:pt>
                <c:pt idx="267">
                  <c:v>2.175</c:v>
                </c:pt>
                <c:pt idx="268">
                  <c:v>2.2</c:v>
                </c:pt>
                <c:pt idx="269">
                  <c:v>2.225</c:v>
                </c:pt>
                <c:pt idx="270">
                  <c:v>2.25</c:v>
                </c:pt>
                <c:pt idx="271">
                  <c:v>2.275</c:v>
                </c:pt>
                <c:pt idx="272">
                  <c:v>2.3</c:v>
                </c:pt>
                <c:pt idx="273">
                  <c:v>2.325</c:v>
                </c:pt>
                <c:pt idx="274">
                  <c:v>2.35</c:v>
                </c:pt>
                <c:pt idx="275">
                  <c:v>2.375</c:v>
                </c:pt>
                <c:pt idx="276">
                  <c:v>2.4</c:v>
                </c:pt>
                <c:pt idx="277">
                  <c:v>2.425</c:v>
                </c:pt>
                <c:pt idx="278">
                  <c:v>2.45</c:v>
                </c:pt>
                <c:pt idx="279">
                  <c:v>2.475</c:v>
                </c:pt>
                <c:pt idx="280">
                  <c:v>2.5</c:v>
                </c:pt>
                <c:pt idx="281">
                  <c:v>2.525</c:v>
                </c:pt>
                <c:pt idx="282">
                  <c:v>2.55</c:v>
                </c:pt>
                <c:pt idx="283">
                  <c:v>2.575</c:v>
                </c:pt>
                <c:pt idx="284">
                  <c:v>2.6</c:v>
                </c:pt>
                <c:pt idx="285">
                  <c:v>2.625</c:v>
                </c:pt>
                <c:pt idx="286">
                  <c:v>2.65</c:v>
                </c:pt>
                <c:pt idx="287">
                  <c:v>2.675</c:v>
                </c:pt>
                <c:pt idx="288">
                  <c:v>2.7</c:v>
                </c:pt>
                <c:pt idx="289">
                  <c:v>2.725</c:v>
                </c:pt>
                <c:pt idx="290">
                  <c:v>2.75</c:v>
                </c:pt>
                <c:pt idx="291">
                  <c:v>2.775</c:v>
                </c:pt>
                <c:pt idx="292">
                  <c:v>2.8</c:v>
                </c:pt>
                <c:pt idx="293">
                  <c:v>2.825</c:v>
                </c:pt>
                <c:pt idx="294">
                  <c:v>2.85</c:v>
                </c:pt>
                <c:pt idx="295">
                  <c:v>2.875</c:v>
                </c:pt>
                <c:pt idx="296">
                  <c:v>2.9</c:v>
                </c:pt>
                <c:pt idx="297">
                  <c:v>2.925</c:v>
                </c:pt>
                <c:pt idx="298">
                  <c:v>2.95</c:v>
                </c:pt>
                <c:pt idx="299">
                  <c:v>2.975</c:v>
                </c:pt>
                <c:pt idx="300">
                  <c:v>3</c:v>
                </c:pt>
                <c:pt idx="301">
                  <c:v>3.025</c:v>
                </c:pt>
                <c:pt idx="302">
                  <c:v>3.05</c:v>
                </c:pt>
                <c:pt idx="303">
                  <c:v>3.075</c:v>
                </c:pt>
                <c:pt idx="304">
                  <c:v>3.1</c:v>
                </c:pt>
                <c:pt idx="305">
                  <c:v>3.125</c:v>
                </c:pt>
                <c:pt idx="306">
                  <c:v>3.15</c:v>
                </c:pt>
                <c:pt idx="307">
                  <c:v>3.175</c:v>
                </c:pt>
                <c:pt idx="308">
                  <c:v>3.2</c:v>
                </c:pt>
                <c:pt idx="309">
                  <c:v>3.225</c:v>
                </c:pt>
                <c:pt idx="310">
                  <c:v>3.25</c:v>
                </c:pt>
                <c:pt idx="311">
                  <c:v>3.275</c:v>
                </c:pt>
                <c:pt idx="312">
                  <c:v>3.3</c:v>
                </c:pt>
                <c:pt idx="313">
                  <c:v>3.325</c:v>
                </c:pt>
                <c:pt idx="314">
                  <c:v>3.35</c:v>
                </c:pt>
                <c:pt idx="315">
                  <c:v>3.375</c:v>
                </c:pt>
                <c:pt idx="316">
                  <c:v>3.4</c:v>
                </c:pt>
                <c:pt idx="317">
                  <c:v>3.425</c:v>
                </c:pt>
                <c:pt idx="318">
                  <c:v>3.45</c:v>
                </c:pt>
                <c:pt idx="319">
                  <c:v>3.475</c:v>
                </c:pt>
                <c:pt idx="320">
                  <c:v>3.5</c:v>
                </c:pt>
                <c:pt idx="321">
                  <c:v>3.525</c:v>
                </c:pt>
                <c:pt idx="322">
                  <c:v>3.55</c:v>
                </c:pt>
                <c:pt idx="323">
                  <c:v>3.575</c:v>
                </c:pt>
                <c:pt idx="324">
                  <c:v>3.6</c:v>
                </c:pt>
                <c:pt idx="325">
                  <c:v>3.625</c:v>
                </c:pt>
                <c:pt idx="326">
                  <c:v>3.65</c:v>
                </c:pt>
                <c:pt idx="327">
                  <c:v>3.675</c:v>
                </c:pt>
                <c:pt idx="328">
                  <c:v>3.7</c:v>
                </c:pt>
                <c:pt idx="329">
                  <c:v>3.725</c:v>
                </c:pt>
                <c:pt idx="330">
                  <c:v>3.75</c:v>
                </c:pt>
                <c:pt idx="331">
                  <c:v>3.775</c:v>
                </c:pt>
                <c:pt idx="332">
                  <c:v>3.8</c:v>
                </c:pt>
                <c:pt idx="333">
                  <c:v>3.825</c:v>
                </c:pt>
                <c:pt idx="334">
                  <c:v>3.85</c:v>
                </c:pt>
                <c:pt idx="335">
                  <c:v>3.875</c:v>
                </c:pt>
                <c:pt idx="336">
                  <c:v>3.9</c:v>
                </c:pt>
                <c:pt idx="337">
                  <c:v>3.925</c:v>
                </c:pt>
                <c:pt idx="338">
                  <c:v>3.95</c:v>
                </c:pt>
                <c:pt idx="339">
                  <c:v>3.975</c:v>
                </c:pt>
                <c:pt idx="340">
                  <c:v>4</c:v>
                </c:pt>
                <c:pt idx="341">
                  <c:v>4.025</c:v>
                </c:pt>
                <c:pt idx="342">
                  <c:v>4.05</c:v>
                </c:pt>
                <c:pt idx="343">
                  <c:v>4.075</c:v>
                </c:pt>
                <c:pt idx="344">
                  <c:v>4.1</c:v>
                </c:pt>
                <c:pt idx="345">
                  <c:v>4.125</c:v>
                </c:pt>
                <c:pt idx="346">
                  <c:v>4.15</c:v>
                </c:pt>
                <c:pt idx="347">
                  <c:v>4.175</c:v>
                </c:pt>
                <c:pt idx="348">
                  <c:v>4.2</c:v>
                </c:pt>
                <c:pt idx="349">
                  <c:v>4.225</c:v>
                </c:pt>
                <c:pt idx="350">
                  <c:v>4.25</c:v>
                </c:pt>
                <c:pt idx="351">
                  <c:v>4.275</c:v>
                </c:pt>
                <c:pt idx="352">
                  <c:v>4.3</c:v>
                </c:pt>
                <c:pt idx="353">
                  <c:v>4.325</c:v>
                </c:pt>
                <c:pt idx="354">
                  <c:v>4.35</c:v>
                </c:pt>
                <c:pt idx="355">
                  <c:v>4.375</c:v>
                </c:pt>
                <c:pt idx="356">
                  <c:v>4.4</c:v>
                </c:pt>
                <c:pt idx="357">
                  <c:v>4.425</c:v>
                </c:pt>
                <c:pt idx="358">
                  <c:v>4.45</c:v>
                </c:pt>
                <c:pt idx="359">
                  <c:v>4.475</c:v>
                </c:pt>
                <c:pt idx="360">
                  <c:v>4.5</c:v>
                </c:pt>
              </c:numCache>
            </c:numRef>
          </c:xVal>
          <c:yVal>
            <c:numRef>
              <c:f>'Chart Data'!$B$2:$B$362</c:f>
              <c:numCache>
                <c:formatCode>General</c:formatCode>
                <c:ptCount val="361"/>
                <c:pt idx="0">
                  <c:v>4.5</c:v>
                </c:pt>
                <c:pt idx="1">
                  <c:v>4.35125</c:v>
                </c:pt>
                <c:pt idx="2">
                  <c:v>4.205</c:v>
                </c:pt>
                <c:pt idx="3">
                  <c:v>4.06125</c:v>
                </c:pt>
                <c:pt idx="4">
                  <c:v>3.92</c:v>
                </c:pt>
                <c:pt idx="5">
                  <c:v>3.78125</c:v>
                </c:pt>
                <c:pt idx="6">
                  <c:v>3.645</c:v>
                </c:pt>
                <c:pt idx="7">
                  <c:v>3.51125</c:v>
                </c:pt>
                <c:pt idx="8">
                  <c:v>3.38</c:v>
                </c:pt>
                <c:pt idx="9">
                  <c:v>3.25125</c:v>
                </c:pt>
                <c:pt idx="10">
                  <c:v>3.125</c:v>
                </c:pt>
                <c:pt idx="11">
                  <c:v>3.00125</c:v>
                </c:pt>
                <c:pt idx="12">
                  <c:v>2.88</c:v>
                </c:pt>
                <c:pt idx="13">
                  <c:v>2.76125</c:v>
                </c:pt>
                <c:pt idx="14">
                  <c:v>2.645</c:v>
                </c:pt>
                <c:pt idx="15">
                  <c:v>2.53125</c:v>
                </c:pt>
                <c:pt idx="16">
                  <c:v>2.42</c:v>
                </c:pt>
                <c:pt idx="17">
                  <c:v>2.31125</c:v>
                </c:pt>
                <c:pt idx="18">
                  <c:v>2.205</c:v>
                </c:pt>
                <c:pt idx="19">
                  <c:v>2.10125</c:v>
                </c:pt>
                <c:pt idx="20">
                  <c:v>2</c:v>
                </c:pt>
                <c:pt idx="21">
                  <c:v>1.90125</c:v>
                </c:pt>
                <c:pt idx="22">
                  <c:v>1.805</c:v>
                </c:pt>
                <c:pt idx="23">
                  <c:v>1.71125</c:v>
                </c:pt>
                <c:pt idx="24">
                  <c:v>1.62</c:v>
                </c:pt>
                <c:pt idx="25">
                  <c:v>1.53125</c:v>
                </c:pt>
                <c:pt idx="26">
                  <c:v>1.445</c:v>
                </c:pt>
                <c:pt idx="27">
                  <c:v>1.36125</c:v>
                </c:pt>
                <c:pt idx="28">
                  <c:v>1.28</c:v>
                </c:pt>
                <c:pt idx="29">
                  <c:v>1.20125</c:v>
                </c:pt>
                <c:pt idx="30">
                  <c:v>1.125</c:v>
                </c:pt>
                <c:pt idx="31">
                  <c:v>1.05125</c:v>
                </c:pt>
                <c:pt idx="32">
                  <c:v>0.980000000000001</c:v>
                </c:pt>
                <c:pt idx="33">
                  <c:v>0.91125</c:v>
                </c:pt>
                <c:pt idx="34">
                  <c:v>0.845</c:v>
                </c:pt>
                <c:pt idx="35">
                  <c:v>0.78125</c:v>
                </c:pt>
                <c:pt idx="36">
                  <c:v>0.72</c:v>
                </c:pt>
                <c:pt idx="37">
                  <c:v>0.66125</c:v>
                </c:pt>
                <c:pt idx="38">
                  <c:v>0.605</c:v>
                </c:pt>
                <c:pt idx="39">
                  <c:v>0.55125</c:v>
                </c:pt>
                <c:pt idx="40">
                  <c:v>0.5</c:v>
                </c:pt>
                <c:pt idx="41">
                  <c:v>0.45125</c:v>
                </c:pt>
                <c:pt idx="42">
                  <c:v>0.405</c:v>
                </c:pt>
                <c:pt idx="43">
                  <c:v>0.36125</c:v>
                </c:pt>
                <c:pt idx="44">
                  <c:v>0.32</c:v>
                </c:pt>
                <c:pt idx="45">
                  <c:v>0.28125</c:v>
                </c:pt>
                <c:pt idx="46">
                  <c:v>0.245</c:v>
                </c:pt>
                <c:pt idx="47">
                  <c:v>0.21125</c:v>
                </c:pt>
                <c:pt idx="48">
                  <c:v>0.18</c:v>
                </c:pt>
                <c:pt idx="49">
                  <c:v>0.15125</c:v>
                </c:pt>
                <c:pt idx="50">
                  <c:v>0.125</c:v>
                </c:pt>
                <c:pt idx="51">
                  <c:v>0.10125</c:v>
                </c:pt>
                <c:pt idx="52">
                  <c:v>0.0800000000000001</c:v>
                </c:pt>
                <c:pt idx="53">
                  <c:v>0.0612499999999999</c:v>
                </c:pt>
                <c:pt idx="54">
                  <c:v>0.0450000000000001</c:v>
                </c:pt>
                <c:pt idx="55">
                  <c:v>3.125E-2</c:v>
                </c:pt>
                <c:pt idx="56">
                  <c:v>1.99999999999999E-2</c:v>
                </c:pt>
                <c:pt idx="57">
                  <c:v>1.12500000000001E-2</c:v>
                </c:pt>
                <c:pt idx="58">
                  <c:v>0.00499999999999996</c:v>
                </c:pt>
                <c:pt idx="59">
                  <c:v>1.25000000000001E-3</c:v>
                </c:pt>
                <c:pt idx="60">
                  <c:v>0</c:v>
                </c:pt>
                <c:pt idx="61">
                  <c:v>0.00124999999999999</c:v>
                </c:pt>
                <c:pt idx="62">
                  <c:v>0.00499999999999996</c:v>
                </c:pt>
                <c:pt idx="63">
                  <c:v>1.12500000000001E-2</c:v>
                </c:pt>
                <c:pt idx="64">
                  <c:v>0.02</c:v>
                </c:pt>
                <c:pt idx="65">
                  <c:v>3.125E-2</c:v>
                </c:pt>
                <c:pt idx="66">
                  <c:v>0.0449999999999999</c:v>
                </c:pt>
                <c:pt idx="67">
                  <c:v>0.0612499999999999</c:v>
                </c:pt>
                <c:pt idx="68">
                  <c:v>0.0800000000000001</c:v>
                </c:pt>
                <c:pt idx="69">
                  <c:v>0.10125</c:v>
                </c:pt>
                <c:pt idx="70">
                  <c:v>0.125</c:v>
                </c:pt>
                <c:pt idx="71">
                  <c:v>0.15125</c:v>
                </c:pt>
                <c:pt idx="72">
                  <c:v>0.18</c:v>
                </c:pt>
                <c:pt idx="73">
                  <c:v>0.21125</c:v>
                </c:pt>
                <c:pt idx="74">
                  <c:v>0.245</c:v>
                </c:pt>
                <c:pt idx="75">
                  <c:v>0.28125</c:v>
                </c:pt>
                <c:pt idx="76">
                  <c:v>0.32</c:v>
                </c:pt>
                <c:pt idx="77">
                  <c:v>0.36125</c:v>
                </c:pt>
                <c:pt idx="78">
                  <c:v>0.405</c:v>
                </c:pt>
                <c:pt idx="79">
                  <c:v>0.45125</c:v>
                </c:pt>
                <c:pt idx="80">
                  <c:v>0.5</c:v>
                </c:pt>
                <c:pt idx="81">
                  <c:v>0.55125</c:v>
                </c:pt>
                <c:pt idx="82">
                  <c:v>0.605</c:v>
                </c:pt>
                <c:pt idx="83">
                  <c:v>0.66125</c:v>
                </c:pt>
                <c:pt idx="84">
                  <c:v>0.72</c:v>
                </c:pt>
                <c:pt idx="85">
                  <c:v>0.78125</c:v>
                </c:pt>
                <c:pt idx="86">
                  <c:v>0.845</c:v>
                </c:pt>
                <c:pt idx="87">
                  <c:v>0.91125</c:v>
                </c:pt>
                <c:pt idx="88">
                  <c:v>0.980000000000001</c:v>
                </c:pt>
                <c:pt idx="89">
                  <c:v>1.05125</c:v>
                </c:pt>
                <c:pt idx="90">
                  <c:v>1.125</c:v>
                </c:pt>
                <c:pt idx="91">
                  <c:v>1.20125</c:v>
                </c:pt>
                <c:pt idx="92">
                  <c:v>1.28</c:v>
                </c:pt>
                <c:pt idx="93">
                  <c:v>1.36125</c:v>
                </c:pt>
                <c:pt idx="94">
                  <c:v>1.445</c:v>
                </c:pt>
                <c:pt idx="95">
                  <c:v>1.53125</c:v>
                </c:pt>
                <c:pt idx="96">
                  <c:v>1.62</c:v>
                </c:pt>
                <c:pt idx="97">
                  <c:v>1.71125</c:v>
                </c:pt>
                <c:pt idx="98">
                  <c:v>1.805</c:v>
                </c:pt>
                <c:pt idx="99">
                  <c:v>1.90125</c:v>
                </c:pt>
                <c:pt idx="100">
                  <c:v>2</c:v>
                </c:pt>
                <c:pt idx="101">
                  <c:v>2.10125</c:v>
                </c:pt>
                <c:pt idx="102">
                  <c:v>2.205</c:v>
                </c:pt>
                <c:pt idx="103">
                  <c:v>2.31125</c:v>
                </c:pt>
                <c:pt idx="104">
                  <c:v>2.42</c:v>
                </c:pt>
                <c:pt idx="105">
                  <c:v>2.53125</c:v>
                </c:pt>
                <c:pt idx="106">
                  <c:v>2.645</c:v>
                </c:pt>
                <c:pt idx="107">
                  <c:v>2.76125</c:v>
                </c:pt>
                <c:pt idx="108">
                  <c:v>2.88</c:v>
                </c:pt>
                <c:pt idx="109">
                  <c:v>3.00125</c:v>
                </c:pt>
                <c:pt idx="110">
                  <c:v>3.125</c:v>
                </c:pt>
                <c:pt idx="111">
                  <c:v>3.25125</c:v>
                </c:pt>
                <c:pt idx="112">
                  <c:v>3.38</c:v>
                </c:pt>
                <c:pt idx="113">
                  <c:v>3.51125</c:v>
                </c:pt>
                <c:pt idx="114">
                  <c:v>3.645</c:v>
                </c:pt>
                <c:pt idx="115">
                  <c:v>3.78125</c:v>
                </c:pt>
                <c:pt idx="116">
                  <c:v>3.92</c:v>
                </c:pt>
                <c:pt idx="117">
                  <c:v>4.06125</c:v>
                </c:pt>
                <c:pt idx="118">
                  <c:v>4.205</c:v>
                </c:pt>
                <c:pt idx="119">
                  <c:v>4.35125</c:v>
                </c:pt>
                <c:pt idx="120">
                  <c:v>4.5</c:v>
                </c:pt>
                <c:pt idx="121">
                  <c:v>4.65125</c:v>
                </c:pt>
                <c:pt idx="122">
                  <c:v>4.805</c:v>
                </c:pt>
                <c:pt idx="123">
                  <c:v>4.96125</c:v>
                </c:pt>
                <c:pt idx="124">
                  <c:v>5.12</c:v>
                </c:pt>
                <c:pt idx="125">
                  <c:v>5.28125</c:v>
                </c:pt>
                <c:pt idx="126">
                  <c:v>5.445</c:v>
                </c:pt>
                <c:pt idx="127">
                  <c:v>5.61125</c:v>
                </c:pt>
                <c:pt idx="128">
                  <c:v>5.78</c:v>
                </c:pt>
                <c:pt idx="129">
                  <c:v>5.95125</c:v>
                </c:pt>
                <c:pt idx="130">
                  <c:v>6.125</c:v>
                </c:pt>
                <c:pt idx="131">
                  <c:v>6.30125</c:v>
                </c:pt>
                <c:pt idx="132">
                  <c:v>6.48</c:v>
                </c:pt>
                <c:pt idx="133">
                  <c:v>6.66125</c:v>
                </c:pt>
                <c:pt idx="134">
                  <c:v>6.845</c:v>
                </c:pt>
                <c:pt idx="135">
                  <c:v>7.03125</c:v>
                </c:pt>
                <c:pt idx="136">
                  <c:v>7.22</c:v>
                </c:pt>
                <c:pt idx="137">
                  <c:v>7.41125</c:v>
                </c:pt>
                <c:pt idx="138">
                  <c:v>7.605</c:v>
                </c:pt>
                <c:pt idx="139">
                  <c:v>7.80125</c:v>
                </c:pt>
                <c:pt idx="140">
                  <c:v>8</c:v>
                </c:pt>
                <c:pt idx="141">
                  <c:v>8.00125</c:v>
                </c:pt>
                <c:pt idx="142">
                  <c:v>8.005</c:v>
                </c:pt>
                <c:pt idx="143">
                  <c:v>8.01125</c:v>
                </c:pt>
                <c:pt idx="144">
                  <c:v>8.02</c:v>
                </c:pt>
                <c:pt idx="145">
                  <c:v>8.03125</c:v>
                </c:pt>
                <c:pt idx="146">
                  <c:v>8.045</c:v>
                </c:pt>
                <c:pt idx="147">
                  <c:v>8.06125</c:v>
                </c:pt>
                <c:pt idx="148">
                  <c:v>8.08</c:v>
                </c:pt>
                <c:pt idx="149">
                  <c:v>8.10125</c:v>
                </c:pt>
                <c:pt idx="150">
                  <c:v>8.125</c:v>
                </c:pt>
                <c:pt idx="151">
                  <c:v>8.15125</c:v>
                </c:pt>
                <c:pt idx="152">
                  <c:v>8.18</c:v>
                </c:pt>
                <c:pt idx="153">
                  <c:v>8.21125</c:v>
                </c:pt>
                <c:pt idx="154">
                  <c:v>8.245</c:v>
                </c:pt>
                <c:pt idx="155">
                  <c:v>8.28125</c:v>
                </c:pt>
                <c:pt idx="156">
                  <c:v>8.32</c:v>
                </c:pt>
                <c:pt idx="157">
                  <c:v>8.36125</c:v>
                </c:pt>
                <c:pt idx="158">
                  <c:v>8.405</c:v>
                </c:pt>
                <c:pt idx="159">
                  <c:v>8.45125</c:v>
                </c:pt>
                <c:pt idx="160">
                  <c:v>8.5</c:v>
                </c:pt>
                <c:pt idx="161">
                  <c:v>8.55125</c:v>
                </c:pt>
                <c:pt idx="162">
                  <c:v>8.605</c:v>
                </c:pt>
                <c:pt idx="163">
                  <c:v>8.66125</c:v>
                </c:pt>
                <c:pt idx="164">
                  <c:v>8.72</c:v>
                </c:pt>
                <c:pt idx="165">
                  <c:v>8.78125</c:v>
                </c:pt>
                <c:pt idx="166">
                  <c:v>8.845</c:v>
                </c:pt>
                <c:pt idx="167">
                  <c:v>8.91125</c:v>
                </c:pt>
                <c:pt idx="168">
                  <c:v>8.98</c:v>
                </c:pt>
                <c:pt idx="169">
                  <c:v>9.05125</c:v>
                </c:pt>
                <c:pt idx="170">
                  <c:v>9.125</c:v>
                </c:pt>
                <c:pt idx="171">
                  <c:v>9.20125</c:v>
                </c:pt>
                <c:pt idx="172">
                  <c:v>9.28</c:v>
                </c:pt>
                <c:pt idx="173">
                  <c:v>9.36125</c:v>
                </c:pt>
                <c:pt idx="174">
                  <c:v>9.445</c:v>
                </c:pt>
                <c:pt idx="175">
                  <c:v>9.53125</c:v>
                </c:pt>
                <c:pt idx="176">
                  <c:v>9.62</c:v>
                </c:pt>
                <c:pt idx="177">
                  <c:v>9.71125</c:v>
                </c:pt>
                <c:pt idx="178">
                  <c:v>9.805</c:v>
                </c:pt>
                <c:pt idx="179">
                  <c:v>9.90125</c:v>
                </c:pt>
                <c:pt idx="180">
                  <c:v>10</c:v>
                </c:pt>
                <c:pt idx="181">
                  <c:v>10.10125</c:v>
                </c:pt>
                <c:pt idx="182">
                  <c:v>10.205</c:v>
                </c:pt>
                <c:pt idx="183">
                  <c:v>10.31125</c:v>
                </c:pt>
                <c:pt idx="184">
                  <c:v>10.42</c:v>
                </c:pt>
                <c:pt idx="185">
                  <c:v>10.53125</c:v>
                </c:pt>
                <c:pt idx="186">
                  <c:v>10.645</c:v>
                </c:pt>
                <c:pt idx="187">
                  <c:v>10.76125</c:v>
                </c:pt>
                <c:pt idx="188">
                  <c:v>10.88</c:v>
                </c:pt>
                <c:pt idx="189">
                  <c:v>11.00125</c:v>
                </c:pt>
                <c:pt idx="190">
                  <c:v>11.125</c:v>
                </c:pt>
                <c:pt idx="191">
                  <c:v>11.25125</c:v>
                </c:pt>
                <c:pt idx="192">
                  <c:v>11.38</c:v>
                </c:pt>
                <c:pt idx="193">
                  <c:v>11.51125</c:v>
                </c:pt>
                <c:pt idx="194">
                  <c:v>11.645</c:v>
                </c:pt>
                <c:pt idx="195">
                  <c:v>11.78125</c:v>
                </c:pt>
                <c:pt idx="196">
                  <c:v>11.92</c:v>
                </c:pt>
                <c:pt idx="197">
                  <c:v>12.06125</c:v>
                </c:pt>
                <c:pt idx="198">
                  <c:v>12.205</c:v>
                </c:pt>
                <c:pt idx="199">
                  <c:v>12.35125</c:v>
                </c:pt>
                <c:pt idx="200">
                  <c:v>12.5</c:v>
                </c:pt>
                <c:pt idx="201">
                  <c:v>12.65125</c:v>
                </c:pt>
                <c:pt idx="202">
                  <c:v>12.805</c:v>
                </c:pt>
                <c:pt idx="203">
                  <c:v>12.96125</c:v>
                </c:pt>
                <c:pt idx="204">
                  <c:v>13.12</c:v>
                </c:pt>
                <c:pt idx="205">
                  <c:v>13.28125</c:v>
                </c:pt>
                <c:pt idx="206">
                  <c:v>13.445</c:v>
                </c:pt>
                <c:pt idx="207">
                  <c:v>13.61125</c:v>
                </c:pt>
                <c:pt idx="208">
                  <c:v>13.78</c:v>
                </c:pt>
                <c:pt idx="209">
                  <c:v>13.95125</c:v>
                </c:pt>
                <c:pt idx="210">
                  <c:v>14.125</c:v>
                </c:pt>
                <c:pt idx="211">
                  <c:v>14.30125</c:v>
                </c:pt>
                <c:pt idx="212">
                  <c:v>14.48</c:v>
                </c:pt>
                <c:pt idx="213">
                  <c:v>14.66125</c:v>
                </c:pt>
                <c:pt idx="214">
                  <c:v>14.845</c:v>
                </c:pt>
                <c:pt idx="215">
                  <c:v>15.03125</c:v>
                </c:pt>
                <c:pt idx="216">
                  <c:v>15.22</c:v>
                </c:pt>
                <c:pt idx="217">
                  <c:v>15.41125</c:v>
                </c:pt>
                <c:pt idx="218">
                  <c:v>15.605</c:v>
                </c:pt>
                <c:pt idx="219">
                  <c:v>15.80125</c:v>
                </c:pt>
                <c:pt idx="220">
                  <c:v>16</c:v>
                </c:pt>
                <c:pt idx="221">
                  <c:v>15.80125</c:v>
                </c:pt>
                <c:pt idx="222">
                  <c:v>15.605</c:v>
                </c:pt>
                <c:pt idx="223">
                  <c:v>15.41125</c:v>
                </c:pt>
                <c:pt idx="224">
                  <c:v>15.22</c:v>
                </c:pt>
                <c:pt idx="225">
                  <c:v>15.03125</c:v>
                </c:pt>
                <c:pt idx="226">
                  <c:v>14.845</c:v>
                </c:pt>
                <c:pt idx="227">
                  <c:v>14.66125</c:v>
                </c:pt>
                <c:pt idx="228">
                  <c:v>14.48</c:v>
                </c:pt>
                <c:pt idx="229">
                  <c:v>14.30125</c:v>
                </c:pt>
                <c:pt idx="230">
                  <c:v>14.125</c:v>
                </c:pt>
                <c:pt idx="231">
                  <c:v>13.95125</c:v>
                </c:pt>
                <c:pt idx="232">
                  <c:v>13.78</c:v>
                </c:pt>
                <c:pt idx="233">
                  <c:v>13.61125</c:v>
                </c:pt>
                <c:pt idx="234">
                  <c:v>13.445</c:v>
                </c:pt>
                <c:pt idx="235">
                  <c:v>13.28125</c:v>
                </c:pt>
                <c:pt idx="236">
                  <c:v>13.12</c:v>
                </c:pt>
                <c:pt idx="237">
                  <c:v>12.96125</c:v>
                </c:pt>
                <c:pt idx="238">
                  <c:v>12.805</c:v>
                </c:pt>
                <c:pt idx="239">
                  <c:v>12.65125</c:v>
                </c:pt>
                <c:pt idx="240">
                  <c:v>12.5</c:v>
                </c:pt>
                <c:pt idx="241">
                  <c:v>12.35125</c:v>
                </c:pt>
                <c:pt idx="242">
                  <c:v>12.205</c:v>
                </c:pt>
                <c:pt idx="243">
                  <c:v>12.06125</c:v>
                </c:pt>
                <c:pt idx="244">
                  <c:v>11.92</c:v>
                </c:pt>
                <c:pt idx="245">
                  <c:v>11.78125</c:v>
                </c:pt>
                <c:pt idx="246">
                  <c:v>11.645</c:v>
                </c:pt>
                <c:pt idx="247">
                  <c:v>11.51125</c:v>
                </c:pt>
                <c:pt idx="248">
                  <c:v>11.38</c:v>
                </c:pt>
                <c:pt idx="249">
                  <c:v>11.25125</c:v>
                </c:pt>
                <c:pt idx="250">
                  <c:v>11.125</c:v>
                </c:pt>
                <c:pt idx="251">
                  <c:v>11.00125</c:v>
                </c:pt>
                <c:pt idx="252">
                  <c:v>10.88</c:v>
                </c:pt>
                <c:pt idx="253">
                  <c:v>10.76125</c:v>
                </c:pt>
                <c:pt idx="254">
                  <c:v>10.645</c:v>
                </c:pt>
                <c:pt idx="255">
                  <c:v>10.53125</c:v>
                </c:pt>
                <c:pt idx="256">
                  <c:v>10.42</c:v>
                </c:pt>
                <c:pt idx="257">
                  <c:v>10.31125</c:v>
                </c:pt>
                <c:pt idx="258">
                  <c:v>10.205</c:v>
                </c:pt>
                <c:pt idx="259">
                  <c:v>10.10125</c:v>
                </c:pt>
                <c:pt idx="260">
                  <c:v>10</c:v>
                </c:pt>
                <c:pt idx="261">
                  <c:v>9.90125</c:v>
                </c:pt>
                <c:pt idx="262">
                  <c:v>9.805</c:v>
                </c:pt>
                <c:pt idx="263">
                  <c:v>9.71125</c:v>
                </c:pt>
                <c:pt idx="264">
                  <c:v>9.62</c:v>
                </c:pt>
                <c:pt idx="265">
                  <c:v>9.53125</c:v>
                </c:pt>
                <c:pt idx="266">
                  <c:v>9.445</c:v>
                </c:pt>
                <c:pt idx="267">
                  <c:v>9.36125</c:v>
                </c:pt>
                <c:pt idx="268">
                  <c:v>9.28</c:v>
                </c:pt>
                <c:pt idx="269">
                  <c:v>9.20125</c:v>
                </c:pt>
                <c:pt idx="270">
                  <c:v>9.125</c:v>
                </c:pt>
                <c:pt idx="271">
                  <c:v>9.05125</c:v>
                </c:pt>
                <c:pt idx="272">
                  <c:v>8.98</c:v>
                </c:pt>
                <c:pt idx="273">
                  <c:v>8.91125</c:v>
                </c:pt>
                <c:pt idx="274">
                  <c:v>8.845</c:v>
                </c:pt>
                <c:pt idx="275">
                  <c:v>8.78125</c:v>
                </c:pt>
                <c:pt idx="276">
                  <c:v>8.72</c:v>
                </c:pt>
                <c:pt idx="277">
                  <c:v>8.66125</c:v>
                </c:pt>
                <c:pt idx="278">
                  <c:v>8.605</c:v>
                </c:pt>
                <c:pt idx="279">
                  <c:v>8.55125</c:v>
                </c:pt>
                <c:pt idx="280">
                  <c:v>8.5</c:v>
                </c:pt>
                <c:pt idx="281">
                  <c:v>8.45125</c:v>
                </c:pt>
                <c:pt idx="282">
                  <c:v>8.405</c:v>
                </c:pt>
                <c:pt idx="283">
                  <c:v>8.36125</c:v>
                </c:pt>
                <c:pt idx="284">
                  <c:v>8.32</c:v>
                </c:pt>
                <c:pt idx="285">
                  <c:v>8.28125</c:v>
                </c:pt>
                <c:pt idx="286">
                  <c:v>8.245</c:v>
                </c:pt>
                <c:pt idx="287">
                  <c:v>8.21125</c:v>
                </c:pt>
                <c:pt idx="288">
                  <c:v>8.18</c:v>
                </c:pt>
                <c:pt idx="289">
                  <c:v>8.15125</c:v>
                </c:pt>
                <c:pt idx="290">
                  <c:v>8.125</c:v>
                </c:pt>
                <c:pt idx="291">
                  <c:v>8.10125</c:v>
                </c:pt>
                <c:pt idx="292">
                  <c:v>8.08</c:v>
                </c:pt>
                <c:pt idx="293">
                  <c:v>8.06125</c:v>
                </c:pt>
                <c:pt idx="294">
                  <c:v>8.045</c:v>
                </c:pt>
                <c:pt idx="295">
                  <c:v>8.03125</c:v>
                </c:pt>
                <c:pt idx="296">
                  <c:v>8.02</c:v>
                </c:pt>
                <c:pt idx="297">
                  <c:v>8.01125</c:v>
                </c:pt>
                <c:pt idx="298">
                  <c:v>8.005</c:v>
                </c:pt>
                <c:pt idx="299">
                  <c:v>8.00125</c:v>
                </c:pt>
                <c:pt idx="300">
                  <c:v>8</c:v>
                </c:pt>
                <c:pt idx="301">
                  <c:v>8.00125</c:v>
                </c:pt>
                <c:pt idx="302">
                  <c:v>8.005</c:v>
                </c:pt>
                <c:pt idx="303">
                  <c:v>8.01125</c:v>
                </c:pt>
                <c:pt idx="304">
                  <c:v>8.02</c:v>
                </c:pt>
                <c:pt idx="305">
                  <c:v>8.03125</c:v>
                </c:pt>
                <c:pt idx="306">
                  <c:v>8.045</c:v>
                </c:pt>
                <c:pt idx="307">
                  <c:v>8.06125</c:v>
                </c:pt>
                <c:pt idx="308">
                  <c:v>8.08</c:v>
                </c:pt>
                <c:pt idx="309">
                  <c:v>8.10125</c:v>
                </c:pt>
                <c:pt idx="310">
                  <c:v>8.125</c:v>
                </c:pt>
                <c:pt idx="311">
                  <c:v>8.15125</c:v>
                </c:pt>
                <c:pt idx="312">
                  <c:v>8.18</c:v>
                </c:pt>
                <c:pt idx="313">
                  <c:v>8.21125</c:v>
                </c:pt>
                <c:pt idx="314">
                  <c:v>8.245</c:v>
                </c:pt>
                <c:pt idx="315">
                  <c:v>8.28125</c:v>
                </c:pt>
                <c:pt idx="316">
                  <c:v>8.32</c:v>
                </c:pt>
                <c:pt idx="317">
                  <c:v>8.36125</c:v>
                </c:pt>
                <c:pt idx="318">
                  <c:v>8.405</c:v>
                </c:pt>
                <c:pt idx="319">
                  <c:v>8.45125</c:v>
                </c:pt>
                <c:pt idx="320">
                  <c:v>8.5</c:v>
                </c:pt>
                <c:pt idx="321">
                  <c:v>8.55125</c:v>
                </c:pt>
                <c:pt idx="322">
                  <c:v>8.605</c:v>
                </c:pt>
                <c:pt idx="323">
                  <c:v>8.66125</c:v>
                </c:pt>
                <c:pt idx="324">
                  <c:v>8.72</c:v>
                </c:pt>
                <c:pt idx="325">
                  <c:v>8.78125</c:v>
                </c:pt>
                <c:pt idx="326">
                  <c:v>8.845</c:v>
                </c:pt>
                <c:pt idx="327">
                  <c:v>8.91125</c:v>
                </c:pt>
                <c:pt idx="328">
                  <c:v>8.98</c:v>
                </c:pt>
                <c:pt idx="329">
                  <c:v>9.05125</c:v>
                </c:pt>
                <c:pt idx="330">
                  <c:v>9.125</c:v>
                </c:pt>
                <c:pt idx="331">
                  <c:v>9.20125</c:v>
                </c:pt>
                <c:pt idx="332">
                  <c:v>9.28</c:v>
                </c:pt>
                <c:pt idx="333">
                  <c:v>9.36125</c:v>
                </c:pt>
                <c:pt idx="334">
                  <c:v>9.445</c:v>
                </c:pt>
                <c:pt idx="335">
                  <c:v>9.53125</c:v>
                </c:pt>
                <c:pt idx="336">
                  <c:v>9.62</c:v>
                </c:pt>
                <c:pt idx="337">
                  <c:v>9.71125</c:v>
                </c:pt>
                <c:pt idx="338">
                  <c:v>9.805</c:v>
                </c:pt>
                <c:pt idx="339">
                  <c:v>9.90125</c:v>
                </c:pt>
                <c:pt idx="340">
                  <c:v>10</c:v>
                </c:pt>
                <c:pt idx="341">
                  <c:v>10.10125</c:v>
                </c:pt>
                <c:pt idx="342">
                  <c:v>10.205</c:v>
                </c:pt>
                <c:pt idx="343">
                  <c:v>10.31125</c:v>
                </c:pt>
                <c:pt idx="344">
                  <c:v>10.42</c:v>
                </c:pt>
                <c:pt idx="345">
                  <c:v>10.53125</c:v>
                </c:pt>
                <c:pt idx="346">
                  <c:v>10.645</c:v>
                </c:pt>
                <c:pt idx="347">
                  <c:v>10.76125</c:v>
                </c:pt>
                <c:pt idx="348">
                  <c:v>10.88</c:v>
                </c:pt>
                <c:pt idx="349">
                  <c:v>11.00125</c:v>
                </c:pt>
                <c:pt idx="350">
                  <c:v>11.125</c:v>
                </c:pt>
                <c:pt idx="351">
                  <c:v>11.25125</c:v>
                </c:pt>
                <c:pt idx="352">
                  <c:v>11.38</c:v>
                </c:pt>
                <c:pt idx="353">
                  <c:v>11.51125</c:v>
                </c:pt>
                <c:pt idx="354">
                  <c:v>11.645</c:v>
                </c:pt>
                <c:pt idx="355">
                  <c:v>11.78125</c:v>
                </c:pt>
                <c:pt idx="356">
                  <c:v>11.92</c:v>
                </c:pt>
                <c:pt idx="357">
                  <c:v>12.06125</c:v>
                </c:pt>
                <c:pt idx="358">
                  <c:v>12.205</c:v>
                </c:pt>
                <c:pt idx="359">
                  <c:v>12.35125</c:v>
                </c:pt>
                <c:pt idx="360">
                  <c:v>12.5</c:v>
                </c:pt>
              </c:numCache>
            </c:numRef>
          </c:yVal>
          <c:smooth val="1"/>
          <c:extLst>
            <c:ext xmlns:c16="http://schemas.microsoft.com/office/drawing/2014/chart" uri="{C3380CC4-5D6E-409C-BE32-E72D297353CC}">
              <c16:uniqueId val="{00000000-DC1E-4140-BB35-5A4BDEE4FDD5}"/>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c:v>
                </c:pt>
              </c:numCache>
            </c:numRef>
          </c:yVal>
          <c:smooth val="1"/>
          <c:extLst>
            <c:ext xmlns:c16="http://schemas.microsoft.com/office/drawing/2014/chart" uri="{C3380CC4-5D6E-409C-BE32-E72D297353CC}">
              <c16:uniqueId val="{00000001-DC1E-4140-BB35-5A4BDEE4FDD5}"/>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8</c:v>
                </c:pt>
              </c:numCache>
            </c:numRef>
          </c:yVal>
          <c:smooth val="1"/>
          <c:extLst>
            <c:ext xmlns:c16="http://schemas.microsoft.com/office/drawing/2014/chart" uri="{C3380CC4-5D6E-409C-BE32-E72D297353CC}">
              <c16:uniqueId val="{00000002-DC1E-4140-BB35-5A4BDEE4FDD5}"/>
            </c:ext>
          </c:extLst>
        </c:ser>
        <c:ser>
          <c:idx val="3"/>
          <c:order val="3"/>
          <c:tx>
            <c:v>left GD steps</c:v>
          </c:tx>
          <c:spPr>
            <a:ln w="17145">
              <a:solidFill>
                <a:srgbClr val="326CB2"/>
              </a:solidFill>
            </a:ln>
          </c:spPr>
          <c:marker>
            <c:symbol val="none"/>
          </c:marker>
          <c:xVal>
            <c:numRef>
              <c:f>'Chart Data'!$G$2:$G$7</c:f>
              <c:numCache>
                <c:formatCode>General</c:formatCode>
                <c:ptCount val="6"/>
                <c:pt idx="0">
                  <c:v>-1.5</c:v>
                </c:pt>
                <c:pt idx="1">
                  <c:v>-1.8</c:v>
                </c:pt>
                <c:pt idx="2">
                  <c:v>-2.04</c:v>
                </c:pt>
                <c:pt idx="3">
                  <c:v>-2.232</c:v>
                </c:pt>
                <c:pt idx="4">
                  <c:v>-2.3856</c:v>
                </c:pt>
                <c:pt idx="5">
                  <c:v>-2.50848</c:v>
                </c:pt>
              </c:numCache>
            </c:numRef>
          </c:xVal>
          <c:yVal>
            <c:numRef>
              <c:f>'Chart Data'!$H$2:$H$7</c:f>
              <c:numCache>
                <c:formatCode>General</c:formatCode>
                <c:ptCount val="6"/>
                <c:pt idx="0">
                  <c:v>4.5</c:v>
                </c:pt>
                <c:pt idx="1">
                  <c:v>2.88</c:v>
                </c:pt>
                <c:pt idx="2">
                  <c:v>1.8432</c:v>
                </c:pt>
                <c:pt idx="3">
                  <c:v>1.179648</c:v>
                </c:pt>
                <c:pt idx="4">
                  <c:v>0.75497472</c:v>
                </c:pt>
                <c:pt idx="5">
                  <c:v>0.4831838208</c:v>
                </c:pt>
              </c:numCache>
            </c:numRef>
          </c:yVal>
          <c:smooth val="1"/>
          <c:extLst>
            <c:ext xmlns:c16="http://schemas.microsoft.com/office/drawing/2014/chart" uri="{C3380CC4-5D6E-409C-BE32-E72D297353CC}">
              <c16:uniqueId val="{00000003-DC1E-4140-BB35-5A4BDEE4FDD5}"/>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4.5</c:v>
                </c:pt>
              </c:numCache>
            </c:numRef>
          </c:yVal>
          <c:smooth val="1"/>
          <c:extLst>
            <c:ext xmlns:c16="http://schemas.microsoft.com/office/drawing/2014/chart" uri="{C3380CC4-5D6E-409C-BE32-E72D297353CC}">
              <c16:uniqueId val="{00000004-DC1E-4140-BB35-5A4BDEE4FDD5}"/>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Data'!$K$2:$K$6</c:f>
              <c:numCache>
                <c:formatCode>General</c:formatCode>
                <c:ptCount val="5"/>
                <c:pt idx="0">
                  <c:v>-1.8</c:v>
                </c:pt>
                <c:pt idx="1">
                  <c:v>-2.04</c:v>
                </c:pt>
                <c:pt idx="2">
                  <c:v>-2.232</c:v>
                </c:pt>
                <c:pt idx="3">
                  <c:v>-2.3856</c:v>
                </c:pt>
                <c:pt idx="4">
                  <c:v>-2.50848</c:v>
                </c:pt>
              </c:numCache>
            </c:numRef>
          </c:xVal>
          <c:yVal>
            <c:numRef>
              <c:f>'Chart Data'!$L$2:$L$6</c:f>
              <c:numCache>
                <c:formatCode>General</c:formatCode>
                <c:ptCount val="5"/>
                <c:pt idx="0">
                  <c:v>2.88</c:v>
                </c:pt>
                <c:pt idx="1">
                  <c:v>1.8432</c:v>
                </c:pt>
                <c:pt idx="2">
                  <c:v>1.179648</c:v>
                </c:pt>
                <c:pt idx="3">
                  <c:v>0.75497472</c:v>
                </c:pt>
                <c:pt idx="4">
                  <c:v>0.4831838208</c:v>
                </c:pt>
              </c:numCache>
            </c:numRef>
          </c:yVal>
          <c:smooth val="1"/>
          <c:extLst>
            <c:ext xmlns:c16="http://schemas.microsoft.com/office/drawing/2014/chart" uri="{C3380CC4-5D6E-409C-BE32-E72D297353CC}">
              <c16:uniqueId val="{00000005-DC1E-4140-BB35-5A4BDEE4FDD5}"/>
            </c:ext>
          </c:extLst>
        </c:ser>
        <c:ser>
          <c:idx val="6"/>
          <c:order val="6"/>
          <c:tx>
            <c:v>right GD steps</c:v>
          </c:tx>
          <c:spPr>
            <a:ln w="17145">
              <a:solidFill>
                <a:srgbClr val="C45C28"/>
              </a:solidFill>
            </a:ln>
          </c:spPr>
          <c:marker>
            <c:symbol val="none"/>
          </c:marker>
          <c:xVal>
            <c:numRef>
              <c:f>'Chart Data'!$M$2:$M$7</c:f>
              <c:numCache>
                <c:formatCode>General</c:formatCode>
                <c:ptCount val="6"/>
                <c:pt idx="0">
                  <c:v>1.5</c:v>
                </c:pt>
                <c:pt idx="1">
                  <c:v>1.8</c:v>
                </c:pt>
                <c:pt idx="2">
                  <c:v>2.04</c:v>
                </c:pt>
                <c:pt idx="3">
                  <c:v>2.232</c:v>
                </c:pt>
                <c:pt idx="4">
                  <c:v>2.3856</c:v>
                </c:pt>
                <c:pt idx="5">
                  <c:v>2.50848</c:v>
                </c:pt>
              </c:numCache>
            </c:numRef>
          </c:xVal>
          <c:yVal>
            <c:numRef>
              <c:f>'Chart Data'!$N$2:$N$7</c:f>
              <c:numCache>
                <c:formatCode>General</c:formatCode>
                <c:ptCount val="6"/>
                <c:pt idx="0">
                  <c:v>12.5</c:v>
                </c:pt>
                <c:pt idx="1">
                  <c:v>10.88</c:v>
                </c:pt>
                <c:pt idx="2">
                  <c:v>9.8432</c:v>
                </c:pt>
                <c:pt idx="3">
                  <c:v>9.179648</c:v>
                </c:pt>
                <c:pt idx="4">
                  <c:v>8.75497472</c:v>
                </c:pt>
                <c:pt idx="5">
                  <c:v>8.4831838208</c:v>
                </c:pt>
              </c:numCache>
            </c:numRef>
          </c:yVal>
          <c:smooth val="1"/>
          <c:extLst>
            <c:ext xmlns:c16="http://schemas.microsoft.com/office/drawing/2014/chart" uri="{C3380CC4-5D6E-409C-BE32-E72D297353CC}">
              <c16:uniqueId val="{00000006-DC1E-4140-BB35-5A4BDEE4FDD5}"/>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12.5</c:v>
                </c:pt>
              </c:numCache>
            </c:numRef>
          </c:yVal>
          <c:smooth val="1"/>
          <c:extLst>
            <c:ext xmlns:c16="http://schemas.microsoft.com/office/drawing/2014/chart" uri="{C3380CC4-5D6E-409C-BE32-E72D297353CC}">
              <c16:uniqueId val="{00000007-DC1E-4140-BB35-5A4BDEE4FDD5}"/>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Data'!$Q$2:$Q$6</c:f>
              <c:numCache>
                <c:formatCode>General</c:formatCode>
                <c:ptCount val="5"/>
                <c:pt idx="0">
                  <c:v>1.8</c:v>
                </c:pt>
                <c:pt idx="1">
                  <c:v>2.04</c:v>
                </c:pt>
                <c:pt idx="2">
                  <c:v>2.232</c:v>
                </c:pt>
                <c:pt idx="3">
                  <c:v>2.3856</c:v>
                </c:pt>
                <c:pt idx="4">
                  <c:v>2.50848</c:v>
                </c:pt>
              </c:numCache>
            </c:numRef>
          </c:xVal>
          <c:yVal>
            <c:numRef>
              <c:f>'Chart Data'!$R$2:$R$6</c:f>
              <c:numCache>
                <c:formatCode>General</c:formatCode>
                <c:ptCount val="5"/>
                <c:pt idx="0">
                  <c:v>10.88</c:v>
                </c:pt>
                <c:pt idx="1">
                  <c:v>9.8432</c:v>
                </c:pt>
                <c:pt idx="2">
                  <c:v>9.179648</c:v>
                </c:pt>
                <c:pt idx="3">
                  <c:v>8.75497472</c:v>
                </c:pt>
                <c:pt idx="4">
                  <c:v>8.4831838208</c:v>
                </c:pt>
              </c:numCache>
            </c:numRef>
          </c:yVal>
          <c:smooth val="1"/>
          <c:extLst>
            <c:ext xmlns:c16="http://schemas.microsoft.com/office/drawing/2014/chart" uri="{C3380CC4-5D6E-409C-BE32-E72D297353CC}">
              <c16:uniqueId val="{00000008-DC1E-4140-BB35-5A4BDEE4FDD5}"/>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-2.50848</c:v>
                </c:pt>
              </c:numCache>
            </c:numRef>
          </c:xVal>
          <c:yVal>
            <c:numRef>
              <c:f>'Chart Data'!$T$2:$T$2</c:f>
              <c:numCache>
                <c:formatCode>General</c:formatCode>
                <c:ptCount val="1"/>
                <c:pt idx="0">
                  <c:v>0.4831838208</c:v>
                </c:pt>
              </c:numCache>
            </c:numRef>
          </c:yVal>
          <c:smooth val="1"/>
          <c:extLst>
            <c:ext xmlns:c16="http://schemas.microsoft.com/office/drawing/2014/chart" uri="{C3380CC4-5D6E-409C-BE32-E72D297353CC}">
              <c16:uniqueId val="{00000009-DC1E-4140-BB35-5A4BDEE4FDD5}"/>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2.50848</c:v>
                </c:pt>
              </c:numCache>
            </c:numRef>
          </c:xVal>
          <c:yVal>
            <c:numRef>
              <c:f>'Chart Data'!$V$2:$V$2</c:f>
              <c:numCache>
                <c:formatCode>General</c:formatCode>
                <c:ptCount val="1"/>
                <c:pt idx="0">
                  <c:v>8.4831838208</c:v>
                </c:pt>
              </c:numCache>
            </c:numRef>
          </c:yVal>
          <c:smooth val="1"/>
          <c:extLst>
            <c:ext xmlns:c16="http://schemas.microsoft.com/office/drawing/2014/chart" uri="{C3380CC4-5D6E-409C-BE32-E72D297353CC}">
              <c16:uniqueId val="{0000000A-DC1E-4140-BB35-5A4BDEE4FDD5}"/>
            </c:ext>
          </c:extLst>
        </c:ser>
        <c:dLbls>
          <c:showLegendKey val="0"/>
          <c:showVal val="0"/>
          <c:showCatName val="0"/>
          <c:showSerName val="0"/>
          <c:showPercent val="0"/>
          <c:showBubbleSize val="0"/>
        </c:dLbls>
        <c:axId val="48650112"/>
        <c:axId val="48672768"/>
      </c:scatterChart>
      <c:valAx>
        <c:axId val="48672768"/>
        <c:scaling>
          <c:orientation val="minMax"/>
          <c:max val="18"/>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Squared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4"/>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Squared loss</c:v>
          </c:tx>
          <c:spPr>
            <a:ln w="30480">
              <a:solidFill>
                <a:srgbClr val="087F83"/>
              </a:solidFill>
            </a:ln>
          </c:spPr>
          <c:marker>
            <c:symbol val="none"/>
          </c:marker>
          <c:xVal>
            <c:numRef>
              <c:f>'Chart Data'!$A$2:$A$362</c:f>
              <c:numCache>
                <c:formatCode>General</c:formatCode>
                <c:ptCount val="361"/>
                <c:pt idx="0">
                  <c:v>-4.5</c:v>
                </c:pt>
                <c:pt idx="1">
                  <c:v>-4.475</c:v>
                </c:pt>
                <c:pt idx="2">
                  <c:v>-4.45</c:v>
                </c:pt>
                <c:pt idx="3">
                  <c:v>-4.425</c:v>
                </c:pt>
                <c:pt idx="4">
                  <c:v>-4.4</c:v>
                </c:pt>
                <c:pt idx="5">
                  <c:v>-4.375</c:v>
                </c:pt>
                <c:pt idx="6">
                  <c:v>-4.35</c:v>
                </c:pt>
                <c:pt idx="7">
                  <c:v>-4.325</c:v>
                </c:pt>
                <c:pt idx="8">
                  <c:v>-4.3</c:v>
                </c:pt>
                <c:pt idx="9">
                  <c:v>-4.275</c:v>
                </c:pt>
                <c:pt idx="10">
                  <c:v>-4.25</c:v>
                </c:pt>
                <c:pt idx="11">
                  <c:v>-4.225</c:v>
                </c:pt>
                <c:pt idx="12">
                  <c:v>-4.2</c:v>
                </c:pt>
                <c:pt idx="13">
                  <c:v>-4.175</c:v>
                </c:pt>
                <c:pt idx="14">
                  <c:v>-4.15</c:v>
                </c:pt>
                <c:pt idx="15">
                  <c:v>-4.125</c:v>
                </c:pt>
                <c:pt idx="16">
                  <c:v>-4.1</c:v>
                </c:pt>
                <c:pt idx="17">
                  <c:v>-4.075</c:v>
                </c:pt>
                <c:pt idx="18">
                  <c:v>-4.05</c:v>
                </c:pt>
                <c:pt idx="19">
                  <c:v>-4.025</c:v>
                </c:pt>
                <c:pt idx="20">
                  <c:v>-4</c:v>
                </c:pt>
                <c:pt idx="21">
                  <c:v>-3.975</c:v>
                </c:pt>
                <c:pt idx="22">
                  <c:v>-3.95</c:v>
                </c:pt>
                <c:pt idx="23">
                  <c:v>-3.925</c:v>
                </c:pt>
                <c:pt idx="24">
                  <c:v>-3.9</c:v>
                </c:pt>
                <c:pt idx="25">
                  <c:v>-3.875</c:v>
                </c:pt>
                <c:pt idx="26">
                  <c:v>-3.85</c:v>
                </c:pt>
                <c:pt idx="27">
                  <c:v>-3.825</c:v>
                </c:pt>
                <c:pt idx="28">
                  <c:v>-3.8</c:v>
                </c:pt>
                <c:pt idx="29">
                  <c:v>-3.775</c:v>
                </c:pt>
                <c:pt idx="30">
                  <c:v>-3.75</c:v>
                </c:pt>
                <c:pt idx="31">
                  <c:v>-3.725</c:v>
                </c:pt>
                <c:pt idx="32">
                  <c:v>-3.7</c:v>
                </c:pt>
                <c:pt idx="33">
                  <c:v>-3.675</c:v>
                </c:pt>
                <c:pt idx="34">
                  <c:v>-3.65</c:v>
                </c:pt>
                <c:pt idx="35">
                  <c:v>-3.625</c:v>
                </c:pt>
                <c:pt idx="36">
                  <c:v>-3.6</c:v>
                </c:pt>
                <c:pt idx="37">
                  <c:v>-3.575</c:v>
                </c:pt>
                <c:pt idx="38">
                  <c:v>-3.55</c:v>
                </c:pt>
                <c:pt idx="39">
                  <c:v>-3.525</c:v>
                </c:pt>
                <c:pt idx="40">
                  <c:v>-3.5</c:v>
                </c:pt>
                <c:pt idx="41">
                  <c:v>-3.475</c:v>
                </c:pt>
                <c:pt idx="42">
                  <c:v>-3.45</c:v>
                </c:pt>
                <c:pt idx="43">
                  <c:v>-3.425</c:v>
                </c:pt>
                <c:pt idx="44">
                  <c:v>-3.4</c:v>
                </c:pt>
                <c:pt idx="45">
                  <c:v>-3.375</c:v>
                </c:pt>
                <c:pt idx="46">
                  <c:v>-3.35</c:v>
                </c:pt>
                <c:pt idx="47">
                  <c:v>-3.325</c:v>
                </c:pt>
                <c:pt idx="48">
                  <c:v>-3.3</c:v>
                </c:pt>
                <c:pt idx="49">
                  <c:v>-3.275</c:v>
                </c:pt>
                <c:pt idx="50">
                  <c:v>-3.25</c:v>
                </c:pt>
                <c:pt idx="51">
                  <c:v>-3.225</c:v>
                </c:pt>
                <c:pt idx="52">
                  <c:v>-3.2</c:v>
                </c:pt>
                <c:pt idx="53">
                  <c:v>-3.175</c:v>
                </c:pt>
                <c:pt idx="54">
                  <c:v>-3.15</c:v>
                </c:pt>
                <c:pt idx="55">
                  <c:v>-3.125</c:v>
                </c:pt>
                <c:pt idx="56">
                  <c:v>-3.1</c:v>
                </c:pt>
                <c:pt idx="57">
                  <c:v>-3.075</c:v>
                </c:pt>
                <c:pt idx="58">
                  <c:v>-3.05</c:v>
                </c:pt>
                <c:pt idx="59">
                  <c:v>-3.025</c:v>
                </c:pt>
                <c:pt idx="60">
                  <c:v>-3</c:v>
                </c:pt>
                <c:pt idx="61">
                  <c:v>-2.975</c:v>
                </c:pt>
                <c:pt idx="62">
                  <c:v>-2.95</c:v>
                </c:pt>
                <c:pt idx="63">
                  <c:v>-2.925</c:v>
                </c:pt>
                <c:pt idx="64">
                  <c:v>-2.9</c:v>
                </c:pt>
                <c:pt idx="65">
                  <c:v>-2.875</c:v>
                </c:pt>
                <c:pt idx="66">
                  <c:v>-2.85</c:v>
                </c:pt>
                <c:pt idx="67">
                  <c:v>-2.825</c:v>
                </c:pt>
                <c:pt idx="68">
                  <c:v>-2.8</c:v>
                </c:pt>
                <c:pt idx="69">
                  <c:v>-2.775</c:v>
                </c:pt>
                <c:pt idx="70">
                  <c:v>-2.75</c:v>
                </c:pt>
                <c:pt idx="71">
                  <c:v>-2.725</c:v>
                </c:pt>
                <c:pt idx="72">
                  <c:v>-2.7</c:v>
                </c:pt>
                <c:pt idx="73">
                  <c:v>-2.675</c:v>
                </c:pt>
                <c:pt idx="74">
                  <c:v>-2.65</c:v>
                </c:pt>
                <c:pt idx="75">
                  <c:v>-2.625</c:v>
                </c:pt>
                <c:pt idx="76">
                  <c:v>-2.6</c:v>
                </c:pt>
                <c:pt idx="77">
                  <c:v>-2.575</c:v>
                </c:pt>
                <c:pt idx="78">
                  <c:v>-2.55</c:v>
                </c:pt>
                <c:pt idx="79">
                  <c:v>-2.525</c:v>
                </c:pt>
                <c:pt idx="80">
                  <c:v>-2.5</c:v>
                </c:pt>
                <c:pt idx="81">
                  <c:v>-2.475</c:v>
                </c:pt>
                <c:pt idx="82">
                  <c:v>-2.45</c:v>
                </c:pt>
                <c:pt idx="83">
                  <c:v>-2.425</c:v>
                </c:pt>
                <c:pt idx="84">
                  <c:v>-2.4</c:v>
                </c:pt>
                <c:pt idx="85">
                  <c:v>-2.375</c:v>
                </c:pt>
                <c:pt idx="86">
                  <c:v>-2.35</c:v>
                </c:pt>
                <c:pt idx="87">
                  <c:v>-2.325</c:v>
                </c:pt>
                <c:pt idx="88">
                  <c:v>-2.3</c:v>
                </c:pt>
                <c:pt idx="89">
                  <c:v>-2.275</c:v>
                </c:pt>
                <c:pt idx="90">
                  <c:v>-2.25</c:v>
                </c:pt>
                <c:pt idx="91">
                  <c:v>-2.225</c:v>
                </c:pt>
                <c:pt idx="92">
                  <c:v>-2.2</c:v>
                </c:pt>
                <c:pt idx="93">
                  <c:v>-2.175</c:v>
                </c:pt>
                <c:pt idx="94">
                  <c:v>-2.15</c:v>
                </c:pt>
                <c:pt idx="95">
                  <c:v>-2.125</c:v>
                </c:pt>
                <c:pt idx="96">
                  <c:v>-2.1</c:v>
                </c:pt>
                <c:pt idx="97">
                  <c:v>-2.075</c:v>
                </c:pt>
                <c:pt idx="98">
                  <c:v>-2.05</c:v>
                </c:pt>
                <c:pt idx="99">
                  <c:v>-2.025</c:v>
                </c:pt>
                <c:pt idx="100">
                  <c:v>-2</c:v>
                </c:pt>
                <c:pt idx="101">
                  <c:v>-1.975</c:v>
                </c:pt>
                <c:pt idx="102">
                  <c:v>-1.95</c:v>
                </c:pt>
                <c:pt idx="103">
                  <c:v>-1.925</c:v>
                </c:pt>
                <c:pt idx="104">
                  <c:v>-1.9</c:v>
                </c:pt>
                <c:pt idx="105">
                  <c:v>-1.875</c:v>
                </c:pt>
                <c:pt idx="106">
                  <c:v>-1.85</c:v>
                </c:pt>
                <c:pt idx="107">
                  <c:v>-1.825</c:v>
                </c:pt>
                <c:pt idx="108">
                  <c:v>-1.8</c:v>
                </c:pt>
                <c:pt idx="109">
                  <c:v>-1.775</c:v>
                </c:pt>
                <c:pt idx="110">
                  <c:v>-1.75</c:v>
                </c:pt>
                <c:pt idx="111">
                  <c:v>-1.725</c:v>
                </c:pt>
                <c:pt idx="112">
                  <c:v>-1.7</c:v>
                </c:pt>
                <c:pt idx="113">
                  <c:v>-1.675</c:v>
                </c:pt>
                <c:pt idx="114">
                  <c:v>-1.65</c:v>
                </c:pt>
                <c:pt idx="115">
                  <c:v>-1.625</c:v>
                </c:pt>
                <c:pt idx="116">
                  <c:v>-1.6</c:v>
                </c:pt>
                <c:pt idx="117">
                  <c:v>-1.575</c:v>
                </c:pt>
                <c:pt idx="118">
                  <c:v>-1.55</c:v>
                </c:pt>
                <c:pt idx="119">
                  <c:v>-1.525</c:v>
                </c:pt>
                <c:pt idx="120">
                  <c:v>-1.5</c:v>
                </c:pt>
                <c:pt idx="121">
                  <c:v>-1.475</c:v>
                </c:pt>
                <c:pt idx="122">
                  <c:v>-1.45</c:v>
                </c:pt>
                <c:pt idx="123">
                  <c:v>-1.425</c:v>
                </c:pt>
                <c:pt idx="124">
                  <c:v>-1.4</c:v>
                </c:pt>
                <c:pt idx="125">
                  <c:v>-1.375</c:v>
                </c:pt>
                <c:pt idx="126">
                  <c:v>-1.35</c:v>
                </c:pt>
                <c:pt idx="127">
                  <c:v>-1.325</c:v>
                </c:pt>
                <c:pt idx="128">
                  <c:v>-1.3</c:v>
                </c:pt>
                <c:pt idx="129">
                  <c:v>-1.275</c:v>
                </c:pt>
                <c:pt idx="130">
                  <c:v>-1.25</c:v>
                </c:pt>
                <c:pt idx="131">
                  <c:v>-1.225</c:v>
                </c:pt>
                <c:pt idx="132">
                  <c:v>-1.2</c:v>
                </c:pt>
                <c:pt idx="133">
                  <c:v>-1.175</c:v>
                </c:pt>
                <c:pt idx="134">
                  <c:v>-1.15</c:v>
                </c:pt>
                <c:pt idx="135">
                  <c:v>-1.125</c:v>
                </c:pt>
                <c:pt idx="136">
                  <c:v>-1.1</c:v>
                </c:pt>
                <c:pt idx="137">
                  <c:v>-1.075</c:v>
                </c:pt>
                <c:pt idx="138">
                  <c:v>-1.05</c:v>
                </c:pt>
                <c:pt idx="139">
                  <c:v>-1.025</c:v>
                </c:pt>
                <c:pt idx="140">
                  <c:v>-1</c:v>
                </c:pt>
                <c:pt idx="141">
                  <c:v>-0.975</c:v>
                </c:pt>
                <c:pt idx="142">
                  <c:v>-0.95</c:v>
                </c:pt>
                <c:pt idx="143">
                  <c:v>-0.925</c:v>
                </c:pt>
                <c:pt idx="144">
                  <c:v>-0.9</c:v>
                </c:pt>
                <c:pt idx="145">
                  <c:v>-0.875</c:v>
                </c:pt>
                <c:pt idx="146">
                  <c:v>-0.85</c:v>
                </c:pt>
                <c:pt idx="147">
                  <c:v>-0.825</c:v>
                </c:pt>
                <c:pt idx="148">
                  <c:v>-0.8</c:v>
                </c:pt>
                <c:pt idx="149">
                  <c:v>-0.775</c:v>
                </c:pt>
                <c:pt idx="150">
                  <c:v>-0.75</c:v>
                </c:pt>
                <c:pt idx="151">
                  <c:v>-0.725</c:v>
                </c:pt>
                <c:pt idx="152">
                  <c:v>-0.7</c:v>
                </c:pt>
                <c:pt idx="153">
                  <c:v>-0.675</c:v>
                </c:pt>
                <c:pt idx="154">
                  <c:v>-0.65</c:v>
                </c:pt>
                <c:pt idx="155">
                  <c:v>-0.625</c:v>
                </c:pt>
                <c:pt idx="156">
                  <c:v>-0.6</c:v>
                </c:pt>
                <c:pt idx="157">
                  <c:v>-0.575</c:v>
                </c:pt>
                <c:pt idx="158">
                  <c:v>-0.55</c:v>
                </c:pt>
                <c:pt idx="159">
                  <c:v>-0.525</c:v>
                </c:pt>
                <c:pt idx="160">
                  <c:v>-0.5</c:v>
                </c:pt>
                <c:pt idx="161">
                  <c:v>-0.475</c:v>
                </c:pt>
                <c:pt idx="162">
                  <c:v>-0.45</c:v>
                </c:pt>
                <c:pt idx="163">
                  <c:v>-0.425</c:v>
                </c:pt>
                <c:pt idx="164">
                  <c:v>-0.4</c:v>
                </c:pt>
                <c:pt idx="165">
                  <c:v>-0.375</c:v>
                </c:pt>
                <c:pt idx="166">
                  <c:v>-0.35</c:v>
                </c:pt>
                <c:pt idx="167">
                  <c:v>-0.325</c:v>
                </c:pt>
                <c:pt idx="168">
                  <c:v>-0.3</c:v>
                </c:pt>
                <c:pt idx="169">
                  <c:v>-0.275</c:v>
                </c:pt>
                <c:pt idx="170">
                  <c:v>-0.25</c:v>
                </c:pt>
                <c:pt idx="171">
                  <c:v>-0.225</c:v>
                </c:pt>
                <c:pt idx="172">
                  <c:v>-0.2</c:v>
                </c:pt>
                <c:pt idx="173">
                  <c:v>-0.175</c:v>
                </c:pt>
                <c:pt idx="174">
                  <c:v>-0.15</c:v>
                </c:pt>
                <c:pt idx="175">
                  <c:v>-0.125</c:v>
                </c:pt>
                <c:pt idx="176">
                  <c:v>-0.1</c:v>
                </c:pt>
                <c:pt idx="177">
                  <c:v>-0.075</c:v>
                </c:pt>
                <c:pt idx="178">
                  <c:v>-0.05</c:v>
                </c:pt>
                <c:pt idx="179">
                  <c:v>-0.025</c:v>
                </c:pt>
                <c:pt idx="180">
                  <c:v>0</c:v>
                </c:pt>
                <c:pt idx="181">
                  <c:v>0.025</c:v>
                </c:pt>
                <c:pt idx="182">
                  <c:v>0.05</c:v>
                </c:pt>
                <c:pt idx="183">
                  <c:v>0.075</c:v>
                </c:pt>
                <c:pt idx="184">
                  <c:v>0.1</c:v>
                </c:pt>
                <c:pt idx="185">
                  <c:v>0.125</c:v>
                </c:pt>
                <c:pt idx="186">
                  <c:v>0.15</c:v>
                </c:pt>
                <c:pt idx="187">
                  <c:v>0.175</c:v>
                </c:pt>
                <c:pt idx="188">
                  <c:v>0.2</c:v>
                </c:pt>
                <c:pt idx="189">
                  <c:v>0.225</c:v>
                </c:pt>
                <c:pt idx="190">
                  <c:v>0.25</c:v>
                </c:pt>
                <c:pt idx="191">
                  <c:v>0.275</c:v>
                </c:pt>
                <c:pt idx="192">
                  <c:v>0.3</c:v>
                </c:pt>
                <c:pt idx="193">
                  <c:v>0.325</c:v>
                </c:pt>
                <c:pt idx="194">
                  <c:v>0.35</c:v>
                </c:pt>
                <c:pt idx="195">
                  <c:v>0.375</c:v>
                </c:pt>
                <c:pt idx="196">
                  <c:v>0.4</c:v>
                </c:pt>
                <c:pt idx="197">
                  <c:v>0.425</c:v>
                </c:pt>
                <c:pt idx="198">
                  <c:v>0.45</c:v>
                </c:pt>
                <c:pt idx="199">
                  <c:v>0.475</c:v>
                </c:pt>
                <c:pt idx="200">
                  <c:v>0.5</c:v>
                </c:pt>
                <c:pt idx="201">
                  <c:v>0.525</c:v>
                </c:pt>
                <c:pt idx="202">
                  <c:v>0.55</c:v>
                </c:pt>
                <c:pt idx="203">
                  <c:v>0.575</c:v>
                </c:pt>
                <c:pt idx="204">
                  <c:v>0.6</c:v>
                </c:pt>
                <c:pt idx="205">
                  <c:v>0.625</c:v>
                </c:pt>
                <c:pt idx="206">
                  <c:v>0.65</c:v>
                </c:pt>
                <c:pt idx="207">
                  <c:v>0.675</c:v>
                </c:pt>
                <c:pt idx="208">
                  <c:v>0.7</c:v>
                </c:pt>
                <c:pt idx="209">
                  <c:v>0.725</c:v>
                </c:pt>
                <c:pt idx="210">
                  <c:v>0.75</c:v>
                </c:pt>
                <c:pt idx="211">
                  <c:v>0.775</c:v>
                </c:pt>
                <c:pt idx="212">
                  <c:v>0.8</c:v>
                </c:pt>
                <c:pt idx="213">
                  <c:v>0.825</c:v>
                </c:pt>
                <c:pt idx="214">
                  <c:v>0.85</c:v>
                </c:pt>
                <c:pt idx="215">
                  <c:v>0.875</c:v>
                </c:pt>
                <c:pt idx="216">
                  <c:v>0.9</c:v>
                </c:pt>
                <c:pt idx="217">
                  <c:v>0.925</c:v>
                </c:pt>
                <c:pt idx="218">
                  <c:v>0.95</c:v>
                </c:pt>
                <c:pt idx="219">
                  <c:v>0.975</c:v>
                </c:pt>
                <c:pt idx="220">
                  <c:v>1</c:v>
                </c:pt>
                <c:pt idx="221">
                  <c:v>1.025</c:v>
                </c:pt>
                <c:pt idx="222">
                  <c:v>1.05</c:v>
                </c:pt>
                <c:pt idx="223">
                  <c:v>1.075</c:v>
                </c:pt>
                <c:pt idx="224">
                  <c:v>1.1</c:v>
                </c:pt>
                <c:pt idx="225">
                  <c:v>1.125</c:v>
                </c:pt>
                <c:pt idx="226">
                  <c:v>1.15</c:v>
                </c:pt>
                <c:pt idx="227">
                  <c:v>1.175</c:v>
                </c:pt>
                <c:pt idx="228">
                  <c:v>1.2</c:v>
                </c:pt>
                <c:pt idx="229">
                  <c:v>1.225</c:v>
                </c:pt>
                <c:pt idx="230">
                  <c:v>1.25</c:v>
                </c:pt>
                <c:pt idx="231">
                  <c:v>1.275</c:v>
                </c:pt>
                <c:pt idx="232">
                  <c:v>1.3</c:v>
                </c:pt>
                <c:pt idx="233">
                  <c:v>1.325</c:v>
                </c:pt>
                <c:pt idx="234">
                  <c:v>1.35</c:v>
                </c:pt>
                <c:pt idx="235">
                  <c:v>1.375</c:v>
                </c:pt>
                <c:pt idx="236">
                  <c:v>1.4</c:v>
                </c:pt>
                <c:pt idx="237">
                  <c:v>1.425</c:v>
                </c:pt>
                <c:pt idx="238">
                  <c:v>1.45</c:v>
                </c:pt>
                <c:pt idx="239">
                  <c:v>1.475</c:v>
                </c:pt>
                <c:pt idx="240">
                  <c:v>1.5</c:v>
                </c:pt>
                <c:pt idx="241">
                  <c:v>1.525</c:v>
                </c:pt>
                <c:pt idx="242">
                  <c:v>1.55</c:v>
                </c:pt>
                <c:pt idx="243">
                  <c:v>1.575</c:v>
                </c:pt>
                <c:pt idx="244">
                  <c:v>1.6</c:v>
                </c:pt>
                <c:pt idx="245">
                  <c:v>1.625</c:v>
                </c:pt>
                <c:pt idx="246">
                  <c:v>1.65</c:v>
                </c:pt>
                <c:pt idx="247">
                  <c:v>1.675</c:v>
                </c:pt>
                <c:pt idx="248">
                  <c:v>1.7</c:v>
                </c:pt>
                <c:pt idx="249">
                  <c:v>1.725</c:v>
                </c:pt>
                <c:pt idx="250">
                  <c:v>1.75</c:v>
                </c:pt>
                <c:pt idx="251">
                  <c:v>1.775</c:v>
                </c:pt>
                <c:pt idx="252">
                  <c:v>1.8</c:v>
                </c:pt>
                <c:pt idx="253">
                  <c:v>1.825</c:v>
                </c:pt>
                <c:pt idx="254">
                  <c:v>1.85</c:v>
                </c:pt>
                <c:pt idx="255">
                  <c:v>1.875</c:v>
                </c:pt>
                <c:pt idx="256">
                  <c:v>1.9</c:v>
                </c:pt>
                <c:pt idx="257">
                  <c:v>1.925</c:v>
                </c:pt>
                <c:pt idx="258">
                  <c:v>1.95</c:v>
                </c:pt>
                <c:pt idx="259">
                  <c:v>1.975</c:v>
                </c:pt>
                <c:pt idx="260">
                  <c:v>2</c:v>
                </c:pt>
                <c:pt idx="261">
                  <c:v>2.025</c:v>
                </c:pt>
                <c:pt idx="262">
                  <c:v>2.05</c:v>
                </c:pt>
                <c:pt idx="263">
                  <c:v>2.075</c:v>
                </c:pt>
                <c:pt idx="264">
                  <c:v>2.1</c:v>
                </c:pt>
                <c:pt idx="265">
                  <c:v>2.125</c:v>
                </c:pt>
                <c:pt idx="266">
                  <c:v>2.15</c:v>
                </c:pt>
                <c:pt idx="267">
                  <c:v>2.175</c:v>
                </c:pt>
                <c:pt idx="268">
                  <c:v>2.2</c:v>
                </c:pt>
                <c:pt idx="269">
                  <c:v>2.225</c:v>
                </c:pt>
                <c:pt idx="270">
                  <c:v>2.25</c:v>
                </c:pt>
                <c:pt idx="271">
                  <c:v>2.275</c:v>
                </c:pt>
                <c:pt idx="272">
                  <c:v>2.3</c:v>
                </c:pt>
                <c:pt idx="273">
                  <c:v>2.325</c:v>
                </c:pt>
                <c:pt idx="274">
                  <c:v>2.35</c:v>
                </c:pt>
                <c:pt idx="275">
                  <c:v>2.375</c:v>
                </c:pt>
                <c:pt idx="276">
                  <c:v>2.4</c:v>
                </c:pt>
                <c:pt idx="277">
                  <c:v>2.425</c:v>
                </c:pt>
                <c:pt idx="278">
                  <c:v>2.45</c:v>
                </c:pt>
                <c:pt idx="279">
                  <c:v>2.475</c:v>
                </c:pt>
                <c:pt idx="280">
                  <c:v>2.5</c:v>
                </c:pt>
                <c:pt idx="281">
                  <c:v>2.525</c:v>
                </c:pt>
                <c:pt idx="282">
                  <c:v>2.55</c:v>
                </c:pt>
                <c:pt idx="283">
                  <c:v>2.575</c:v>
                </c:pt>
                <c:pt idx="284">
                  <c:v>2.6</c:v>
                </c:pt>
                <c:pt idx="285">
                  <c:v>2.625</c:v>
                </c:pt>
                <c:pt idx="286">
                  <c:v>2.65</c:v>
                </c:pt>
                <c:pt idx="287">
                  <c:v>2.675</c:v>
                </c:pt>
                <c:pt idx="288">
                  <c:v>2.7</c:v>
                </c:pt>
                <c:pt idx="289">
                  <c:v>2.725</c:v>
                </c:pt>
                <c:pt idx="290">
                  <c:v>2.75</c:v>
                </c:pt>
                <c:pt idx="291">
                  <c:v>2.775</c:v>
                </c:pt>
                <c:pt idx="292">
                  <c:v>2.8</c:v>
                </c:pt>
                <c:pt idx="293">
                  <c:v>2.825</c:v>
                </c:pt>
                <c:pt idx="294">
                  <c:v>2.85</c:v>
                </c:pt>
                <c:pt idx="295">
                  <c:v>2.875</c:v>
                </c:pt>
                <c:pt idx="296">
                  <c:v>2.9</c:v>
                </c:pt>
                <c:pt idx="297">
                  <c:v>2.925</c:v>
                </c:pt>
                <c:pt idx="298">
                  <c:v>2.95</c:v>
                </c:pt>
                <c:pt idx="299">
                  <c:v>2.975</c:v>
                </c:pt>
                <c:pt idx="300">
                  <c:v>3</c:v>
                </c:pt>
                <c:pt idx="301">
                  <c:v>3.025</c:v>
                </c:pt>
                <c:pt idx="302">
                  <c:v>3.05</c:v>
                </c:pt>
                <c:pt idx="303">
                  <c:v>3.075</c:v>
                </c:pt>
                <c:pt idx="304">
                  <c:v>3.1</c:v>
                </c:pt>
                <c:pt idx="305">
                  <c:v>3.125</c:v>
                </c:pt>
                <c:pt idx="306">
                  <c:v>3.15</c:v>
                </c:pt>
                <c:pt idx="307">
                  <c:v>3.175</c:v>
                </c:pt>
                <c:pt idx="308">
                  <c:v>3.2</c:v>
                </c:pt>
                <c:pt idx="309">
                  <c:v>3.225</c:v>
                </c:pt>
                <c:pt idx="310">
                  <c:v>3.25</c:v>
                </c:pt>
                <c:pt idx="311">
                  <c:v>3.275</c:v>
                </c:pt>
                <c:pt idx="312">
                  <c:v>3.3</c:v>
                </c:pt>
                <c:pt idx="313">
                  <c:v>3.325</c:v>
                </c:pt>
                <c:pt idx="314">
                  <c:v>3.35</c:v>
                </c:pt>
                <c:pt idx="315">
                  <c:v>3.375</c:v>
                </c:pt>
                <c:pt idx="316">
                  <c:v>3.4</c:v>
                </c:pt>
                <c:pt idx="317">
                  <c:v>3.425</c:v>
                </c:pt>
                <c:pt idx="318">
                  <c:v>3.45</c:v>
                </c:pt>
                <c:pt idx="319">
                  <c:v>3.475</c:v>
                </c:pt>
                <c:pt idx="320">
                  <c:v>3.5</c:v>
                </c:pt>
                <c:pt idx="321">
                  <c:v>3.525</c:v>
                </c:pt>
                <c:pt idx="322">
                  <c:v>3.55</c:v>
                </c:pt>
                <c:pt idx="323">
                  <c:v>3.575</c:v>
                </c:pt>
                <c:pt idx="324">
                  <c:v>3.6</c:v>
                </c:pt>
                <c:pt idx="325">
                  <c:v>3.625</c:v>
                </c:pt>
                <c:pt idx="326">
                  <c:v>3.65</c:v>
                </c:pt>
                <c:pt idx="327">
                  <c:v>3.675</c:v>
                </c:pt>
                <c:pt idx="328">
                  <c:v>3.7</c:v>
                </c:pt>
                <c:pt idx="329">
                  <c:v>3.725</c:v>
                </c:pt>
                <c:pt idx="330">
                  <c:v>3.75</c:v>
                </c:pt>
                <c:pt idx="331">
                  <c:v>3.775</c:v>
                </c:pt>
                <c:pt idx="332">
                  <c:v>3.8</c:v>
                </c:pt>
                <c:pt idx="333">
                  <c:v>3.825</c:v>
                </c:pt>
                <c:pt idx="334">
                  <c:v>3.85</c:v>
                </c:pt>
                <c:pt idx="335">
                  <c:v>3.875</c:v>
                </c:pt>
                <c:pt idx="336">
                  <c:v>3.9</c:v>
                </c:pt>
                <c:pt idx="337">
                  <c:v>3.925</c:v>
                </c:pt>
                <c:pt idx="338">
                  <c:v>3.95</c:v>
                </c:pt>
                <c:pt idx="339">
                  <c:v>3.975</c:v>
                </c:pt>
                <c:pt idx="340">
                  <c:v>4</c:v>
                </c:pt>
                <c:pt idx="341">
                  <c:v>4.025</c:v>
                </c:pt>
                <c:pt idx="342">
                  <c:v>4.05</c:v>
                </c:pt>
                <c:pt idx="343">
                  <c:v>4.075</c:v>
                </c:pt>
                <c:pt idx="344">
                  <c:v>4.1</c:v>
                </c:pt>
                <c:pt idx="345">
                  <c:v>4.125</c:v>
                </c:pt>
                <c:pt idx="346">
                  <c:v>4.15</c:v>
                </c:pt>
                <c:pt idx="347">
                  <c:v>4.175</c:v>
                </c:pt>
                <c:pt idx="348">
                  <c:v>4.2</c:v>
                </c:pt>
                <c:pt idx="349">
                  <c:v>4.225</c:v>
                </c:pt>
                <c:pt idx="350">
                  <c:v>4.25</c:v>
                </c:pt>
                <c:pt idx="351">
                  <c:v>4.275</c:v>
                </c:pt>
                <c:pt idx="352">
                  <c:v>4.3</c:v>
                </c:pt>
                <c:pt idx="353">
                  <c:v>4.325</c:v>
                </c:pt>
                <c:pt idx="354">
                  <c:v>4.35</c:v>
                </c:pt>
                <c:pt idx="355">
                  <c:v>4.375</c:v>
                </c:pt>
                <c:pt idx="356">
                  <c:v>4.4</c:v>
                </c:pt>
                <c:pt idx="357">
                  <c:v>4.425</c:v>
                </c:pt>
                <c:pt idx="358">
                  <c:v>4.45</c:v>
                </c:pt>
                <c:pt idx="359">
                  <c:v>4.475</c:v>
                </c:pt>
                <c:pt idx="360">
                  <c:v>4.5</c:v>
                </c:pt>
              </c:numCache>
            </c:numRef>
          </c:xVal>
          <c:yVal>
            <c:numRef>
              <c:f>'Chart Data'!$B$2:$B$362</c:f>
              <c:numCache>
                <c:formatCode>General</c:formatCode>
                <c:ptCount val="361"/>
                <c:pt idx="0">
                  <c:v>4.5</c:v>
                </c:pt>
                <c:pt idx="1">
                  <c:v>4.35125</c:v>
                </c:pt>
                <c:pt idx="2">
                  <c:v>4.205</c:v>
                </c:pt>
                <c:pt idx="3">
                  <c:v>4.06125</c:v>
                </c:pt>
                <c:pt idx="4">
                  <c:v>3.92</c:v>
                </c:pt>
                <c:pt idx="5">
                  <c:v>3.78125</c:v>
                </c:pt>
                <c:pt idx="6">
                  <c:v>3.645</c:v>
                </c:pt>
                <c:pt idx="7">
                  <c:v>3.51125</c:v>
                </c:pt>
                <c:pt idx="8">
                  <c:v>3.38</c:v>
                </c:pt>
                <c:pt idx="9">
                  <c:v>3.25125</c:v>
                </c:pt>
                <c:pt idx="10">
                  <c:v>3.125</c:v>
                </c:pt>
                <c:pt idx="11">
                  <c:v>3.00125</c:v>
                </c:pt>
                <c:pt idx="12">
                  <c:v>2.88</c:v>
                </c:pt>
                <c:pt idx="13">
                  <c:v>2.76125</c:v>
                </c:pt>
                <c:pt idx="14">
                  <c:v>2.645</c:v>
                </c:pt>
                <c:pt idx="15">
                  <c:v>2.53125</c:v>
                </c:pt>
                <c:pt idx="16">
                  <c:v>2.42</c:v>
                </c:pt>
                <c:pt idx="17">
                  <c:v>2.31125</c:v>
                </c:pt>
                <c:pt idx="18">
                  <c:v>2.205</c:v>
                </c:pt>
                <c:pt idx="19">
                  <c:v>2.10125</c:v>
                </c:pt>
                <c:pt idx="20">
                  <c:v>2</c:v>
                </c:pt>
                <c:pt idx="21">
                  <c:v>1.90125</c:v>
                </c:pt>
                <c:pt idx="22">
                  <c:v>1.805</c:v>
                </c:pt>
                <c:pt idx="23">
                  <c:v>1.71125</c:v>
                </c:pt>
                <c:pt idx="24">
                  <c:v>1.62</c:v>
                </c:pt>
                <c:pt idx="25">
                  <c:v>1.53125</c:v>
                </c:pt>
                <c:pt idx="26">
                  <c:v>1.445</c:v>
                </c:pt>
                <c:pt idx="27">
                  <c:v>1.36125</c:v>
                </c:pt>
                <c:pt idx="28">
                  <c:v>1.28</c:v>
                </c:pt>
                <c:pt idx="29">
                  <c:v>1.20125</c:v>
                </c:pt>
                <c:pt idx="30">
                  <c:v>1.125</c:v>
                </c:pt>
                <c:pt idx="31">
                  <c:v>1.05125</c:v>
                </c:pt>
                <c:pt idx="32">
                  <c:v>0.980000000000001</c:v>
                </c:pt>
                <c:pt idx="33">
                  <c:v>0.91125</c:v>
                </c:pt>
                <c:pt idx="34">
                  <c:v>0.845</c:v>
                </c:pt>
                <c:pt idx="35">
                  <c:v>0.78125</c:v>
                </c:pt>
                <c:pt idx="36">
                  <c:v>0.72</c:v>
                </c:pt>
                <c:pt idx="37">
                  <c:v>0.66125</c:v>
                </c:pt>
                <c:pt idx="38">
                  <c:v>0.605</c:v>
                </c:pt>
                <c:pt idx="39">
                  <c:v>0.55125</c:v>
                </c:pt>
                <c:pt idx="40">
                  <c:v>0.5</c:v>
                </c:pt>
                <c:pt idx="41">
                  <c:v>0.45125</c:v>
                </c:pt>
                <c:pt idx="42">
                  <c:v>0.405</c:v>
                </c:pt>
                <c:pt idx="43">
                  <c:v>0.36125</c:v>
                </c:pt>
                <c:pt idx="44">
                  <c:v>0.32</c:v>
                </c:pt>
                <c:pt idx="45">
                  <c:v>0.28125</c:v>
                </c:pt>
                <c:pt idx="46">
                  <c:v>0.245</c:v>
                </c:pt>
                <c:pt idx="47">
                  <c:v>0.21125</c:v>
                </c:pt>
                <c:pt idx="48">
                  <c:v>0.18</c:v>
                </c:pt>
                <c:pt idx="49">
                  <c:v>0.15125</c:v>
                </c:pt>
                <c:pt idx="50">
                  <c:v>0.125</c:v>
                </c:pt>
                <c:pt idx="51">
                  <c:v>0.10125</c:v>
                </c:pt>
                <c:pt idx="52">
                  <c:v>0.0800000000000001</c:v>
                </c:pt>
                <c:pt idx="53">
                  <c:v>0.0612499999999999</c:v>
                </c:pt>
                <c:pt idx="54">
                  <c:v>0.0450000000000001</c:v>
                </c:pt>
                <c:pt idx="55">
                  <c:v>3.125E-2</c:v>
                </c:pt>
                <c:pt idx="56">
                  <c:v>1.99999999999999E-2</c:v>
                </c:pt>
                <c:pt idx="57">
                  <c:v>1.12500000000001E-2</c:v>
                </c:pt>
                <c:pt idx="58">
                  <c:v>0.00499999999999996</c:v>
                </c:pt>
                <c:pt idx="59">
                  <c:v>1.25000000000001E-3</c:v>
                </c:pt>
                <c:pt idx="60">
                  <c:v>0</c:v>
                </c:pt>
                <c:pt idx="61">
                  <c:v>0.00124999999999999</c:v>
                </c:pt>
                <c:pt idx="62">
                  <c:v>0.00499999999999996</c:v>
                </c:pt>
                <c:pt idx="63">
                  <c:v>1.12500000000001E-2</c:v>
                </c:pt>
                <c:pt idx="64">
                  <c:v>0.02</c:v>
                </c:pt>
                <c:pt idx="65">
                  <c:v>3.125E-2</c:v>
                </c:pt>
                <c:pt idx="66">
                  <c:v>0.0449999999999999</c:v>
                </c:pt>
                <c:pt idx="67">
                  <c:v>0.0612499999999999</c:v>
                </c:pt>
                <c:pt idx="68">
                  <c:v>0.0800000000000001</c:v>
                </c:pt>
                <c:pt idx="69">
                  <c:v>0.10125</c:v>
                </c:pt>
                <c:pt idx="70">
                  <c:v>0.125</c:v>
                </c:pt>
                <c:pt idx="71">
                  <c:v>0.15125</c:v>
                </c:pt>
                <c:pt idx="72">
                  <c:v>0.18</c:v>
                </c:pt>
                <c:pt idx="73">
                  <c:v>0.21125</c:v>
                </c:pt>
                <c:pt idx="74">
                  <c:v>0.245</c:v>
                </c:pt>
                <c:pt idx="75">
                  <c:v>0.28125</c:v>
                </c:pt>
                <c:pt idx="76">
                  <c:v>0.32</c:v>
                </c:pt>
                <c:pt idx="77">
                  <c:v>0.36125</c:v>
                </c:pt>
                <c:pt idx="78">
                  <c:v>0.405</c:v>
                </c:pt>
                <c:pt idx="79">
                  <c:v>0.45125</c:v>
                </c:pt>
                <c:pt idx="80">
                  <c:v>0.5</c:v>
                </c:pt>
                <c:pt idx="81">
                  <c:v>0.55125</c:v>
                </c:pt>
                <c:pt idx="82">
                  <c:v>0.605</c:v>
                </c:pt>
                <c:pt idx="83">
                  <c:v>0.66125</c:v>
                </c:pt>
                <c:pt idx="84">
                  <c:v>0.72</c:v>
                </c:pt>
                <c:pt idx="85">
                  <c:v>0.78125</c:v>
                </c:pt>
                <c:pt idx="86">
                  <c:v>0.845</c:v>
                </c:pt>
                <c:pt idx="87">
                  <c:v>0.91125</c:v>
                </c:pt>
                <c:pt idx="88">
                  <c:v>0.980000000000001</c:v>
                </c:pt>
                <c:pt idx="89">
                  <c:v>1.05125</c:v>
                </c:pt>
                <c:pt idx="90">
                  <c:v>1.125</c:v>
                </c:pt>
                <c:pt idx="91">
                  <c:v>1.20125</c:v>
                </c:pt>
                <c:pt idx="92">
                  <c:v>1.28</c:v>
                </c:pt>
                <c:pt idx="93">
                  <c:v>1.36125</c:v>
                </c:pt>
                <c:pt idx="94">
                  <c:v>1.445</c:v>
                </c:pt>
                <c:pt idx="95">
                  <c:v>1.53125</c:v>
                </c:pt>
                <c:pt idx="96">
                  <c:v>1.62</c:v>
                </c:pt>
                <c:pt idx="97">
                  <c:v>1.71125</c:v>
                </c:pt>
                <c:pt idx="98">
                  <c:v>1.805</c:v>
                </c:pt>
                <c:pt idx="99">
                  <c:v>1.90125</c:v>
                </c:pt>
                <c:pt idx="100">
                  <c:v>2</c:v>
                </c:pt>
                <c:pt idx="101">
                  <c:v>2.10125</c:v>
                </c:pt>
                <c:pt idx="102">
                  <c:v>2.205</c:v>
                </c:pt>
                <c:pt idx="103">
                  <c:v>2.31125</c:v>
                </c:pt>
                <c:pt idx="104">
                  <c:v>2.42</c:v>
                </c:pt>
                <c:pt idx="105">
                  <c:v>2.53125</c:v>
                </c:pt>
                <c:pt idx="106">
                  <c:v>2.645</c:v>
                </c:pt>
                <c:pt idx="107">
                  <c:v>2.76125</c:v>
                </c:pt>
                <c:pt idx="108">
                  <c:v>2.88</c:v>
                </c:pt>
                <c:pt idx="109">
                  <c:v>3.00125</c:v>
                </c:pt>
                <c:pt idx="110">
                  <c:v>3.125</c:v>
                </c:pt>
                <c:pt idx="111">
                  <c:v>3.25125</c:v>
                </c:pt>
                <c:pt idx="112">
                  <c:v>3.38</c:v>
                </c:pt>
                <c:pt idx="113">
                  <c:v>3.51125</c:v>
                </c:pt>
                <c:pt idx="114">
                  <c:v>3.645</c:v>
                </c:pt>
                <c:pt idx="115">
                  <c:v>3.78125</c:v>
                </c:pt>
                <c:pt idx="116">
                  <c:v>3.92</c:v>
                </c:pt>
                <c:pt idx="117">
                  <c:v>4.06125</c:v>
                </c:pt>
                <c:pt idx="118">
                  <c:v>4.205</c:v>
                </c:pt>
                <c:pt idx="119">
                  <c:v>4.35125</c:v>
                </c:pt>
                <c:pt idx="120">
                  <c:v>4.5</c:v>
                </c:pt>
                <c:pt idx="121">
                  <c:v>4.65125</c:v>
                </c:pt>
                <c:pt idx="122">
                  <c:v>4.805</c:v>
                </c:pt>
                <c:pt idx="123">
                  <c:v>4.96125</c:v>
                </c:pt>
                <c:pt idx="124">
                  <c:v>5.12</c:v>
                </c:pt>
                <c:pt idx="125">
                  <c:v>5.28125</c:v>
                </c:pt>
                <c:pt idx="126">
                  <c:v>5.445</c:v>
                </c:pt>
                <c:pt idx="127">
                  <c:v>5.61125</c:v>
                </c:pt>
                <c:pt idx="128">
                  <c:v>5.78</c:v>
                </c:pt>
                <c:pt idx="129">
                  <c:v>5.95125</c:v>
                </c:pt>
                <c:pt idx="130">
                  <c:v>6.125</c:v>
                </c:pt>
                <c:pt idx="131">
                  <c:v>6.30125</c:v>
                </c:pt>
                <c:pt idx="132">
                  <c:v>6.48</c:v>
                </c:pt>
                <c:pt idx="133">
                  <c:v>6.66125</c:v>
                </c:pt>
                <c:pt idx="134">
                  <c:v>6.845</c:v>
                </c:pt>
                <c:pt idx="135">
                  <c:v>7.03125</c:v>
                </c:pt>
                <c:pt idx="136">
                  <c:v>7.22</c:v>
                </c:pt>
                <c:pt idx="137">
                  <c:v>7.41125</c:v>
                </c:pt>
                <c:pt idx="138">
                  <c:v>7.605</c:v>
                </c:pt>
                <c:pt idx="139">
                  <c:v>7.80125</c:v>
                </c:pt>
                <c:pt idx="140">
                  <c:v>8</c:v>
                </c:pt>
                <c:pt idx="141">
                  <c:v>8.00125</c:v>
                </c:pt>
                <c:pt idx="142">
                  <c:v>8.005</c:v>
                </c:pt>
                <c:pt idx="143">
                  <c:v>8.01125</c:v>
                </c:pt>
                <c:pt idx="144">
                  <c:v>8.02</c:v>
                </c:pt>
                <c:pt idx="145">
                  <c:v>8.03125</c:v>
                </c:pt>
                <c:pt idx="146">
                  <c:v>8.045</c:v>
                </c:pt>
                <c:pt idx="147">
                  <c:v>8.06125</c:v>
                </c:pt>
                <c:pt idx="148">
                  <c:v>8.08</c:v>
                </c:pt>
                <c:pt idx="149">
                  <c:v>8.10125</c:v>
                </c:pt>
                <c:pt idx="150">
                  <c:v>8.125</c:v>
                </c:pt>
                <c:pt idx="151">
                  <c:v>8.15125</c:v>
                </c:pt>
                <c:pt idx="152">
                  <c:v>8.18</c:v>
                </c:pt>
                <c:pt idx="153">
                  <c:v>8.21125</c:v>
                </c:pt>
                <c:pt idx="154">
                  <c:v>8.245</c:v>
                </c:pt>
                <c:pt idx="155">
                  <c:v>8.28125</c:v>
                </c:pt>
                <c:pt idx="156">
                  <c:v>8.32</c:v>
                </c:pt>
                <c:pt idx="157">
                  <c:v>8.36125</c:v>
                </c:pt>
                <c:pt idx="158">
                  <c:v>8.405</c:v>
                </c:pt>
                <c:pt idx="159">
                  <c:v>8.45125</c:v>
                </c:pt>
                <c:pt idx="160">
                  <c:v>8.5</c:v>
                </c:pt>
                <c:pt idx="161">
                  <c:v>8.55125</c:v>
                </c:pt>
                <c:pt idx="162">
                  <c:v>8.605</c:v>
                </c:pt>
                <c:pt idx="163">
                  <c:v>8.66125</c:v>
                </c:pt>
                <c:pt idx="164">
                  <c:v>8.72</c:v>
                </c:pt>
                <c:pt idx="165">
                  <c:v>8.78125</c:v>
                </c:pt>
                <c:pt idx="166">
                  <c:v>8.845</c:v>
                </c:pt>
                <c:pt idx="167">
                  <c:v>8.91125</c:v>
                </c:pt>
                <c:pt idx="168">
                  <c:v>8.98</c:v>
                </c:pt>
                <c:pt idx="169">
                  <c:v>9.05125</c:v>
                </c:pt>
                <c:pt idx="170">
                  <c:v>9.125</c:v>
                </c:pt>
                <c:pt idx="171">
                  <c:v>9.20125</c:v>
                </c:pt>
                <c:pt idx="172">
                  <c:v>9.28</c:v>
                </c:pt>
                <c:pt idx="173">
                  <c:v>9.36125</c:v>
                </c:pt>
                <c:pt idx="174">
                  <c:v>9.445</c:v>
                </c:pt>
                <c:pt idx="175">
                  <c:v>9.53125</c:v>
                </c:pt>
                <c:pt idx="176">
                  <c:v>9.62</c:v>
                </c:pt>
                <c:pt idx="177">
                  <c:v>9.71125</c:v>
                </c:pt>
                <c:pt idx="178">
                  <c:v>9.805</c:v>
                </c:pt>
                <c:pt idx="179">
                  <c:v>9.90125</c:v>
                </c:pt>
                <c:pt idx="180">
                  <c:v>10</c:v>
                </c:pt>
                <c:pt idx="181">
                  <c:v>10.10125</c:v>
                </c:pt>
                <c:pt idx="182">
                  <c:v>10.205</c:v>
                </c:pt>
                <c:pt idx="183">
                  <c:v>10.31125</c:v>
                </c:pt>
                <c:pt idx="184">
                  <c:v>10.42</c:v>
                </c:pt>
                <c:pt idx="185">
                  <c:v>10.53125</c:v>
                </c:pt>
                <c:pt idx="186">
                  <c:v>10.645</c:v>
                </c:pt>
                <c:pt idx="187">
                  <c:v>10.76125</c:v>
                </c:pt>
                <c:pt idx="188">
                  <c:v>10.88</c:v>
                </c:pt>
                <c:pt idx="189">
                  <c:v>11.00125</c:v>
                </c:pt>
                <c:pt idx="190">
                  <c:v>11.125</c:v>
                </c:pt>
                <c:pt idx="191">
                  <c:v>11.25125</c:v>
                </c:pt>
                <c:pt idx="192">
                  <c:v>11.38</c:v>
                </c:pt>
                <c:pt idx="193">
                  <c:v>11.51125</c:v>
                </c:pt>
                <c:pt idx="194">
                  <c:v>11.645</c:v>
                </c:pt>
                <c:pt idx="195">
                  <c:v>11.78125</c:v>
                </c:pt>
                <c:pt idx="196">
                  <c:v>11.92</c:v>
                </c:pt>
                <c:pt idx="197">
                  <c:v>12.06125</c:v>
                </c:pt>
                <c:pt idx="198">
                  <c:v>12.205</c:v>
                </c:pt>
                <c:pt idx="199">
                  <c:v>12.35125</c:v>
                </c:pt>
                <c:pt idx="200">
                  <c:v>12.5</c:v>
                </c:pt>
                <c:pt idx="201">
                  <c:v>12.65125</c:v>
                </c:pt>
                <c:pt idx="202">
                  <c:v>12.805</c:v>
                </c:pt>
                <c:pt idx="203">
                  <c:v>12.96125</c:v>
                </c:pt>
                <c:pt idx="204">
                  <c:v>13.12</c:v>
                </c:pt>
                <c:pt idx="205">
                  <c:v>13.28125</c:v>
                </c:pt>
                <c:pt idx="206">
                  <c:v>13.445</c:v>
                </c:pt>
                <c:pt idx="207">
                  <c:v>13.61125</c:v>
                </c:pt>
                <c:pt idx="208">
                  <c:v>13.78</c:v>
                </c:pt>
                <c:pt idx="209">
                  <c:v>13.95125</c:v>
                </c:pt>
                <c:pt idx="210">
                  <c:v>14.125</c:v>
                </c:pt>
                <c:pt idx="211">
                  <c:v>14.30125</c:v>
                </c:pt>
                <c:pt idx="212">
                  <c:v>14.48</c:v>
                </c:pt>
                <c:pt idx="213">
                  <c:v>14.66125</c:v>
                </c:pt>
                <c:pt idx="214">
                  <c:v>14.845</c:v>
                </c:pt>
                <c:pt idx="215">
                  <c:v>15.03125</c:v>
                </c:pt>
                <c:pt idx="216">
                  <c:v>15.22</c:v>
                </c:pt>
                <c:pt idx="217">
                  <c:v>15.41125</c:v>
                </c:pt>
                <c:pt idx="218">
                  <c:v>15.605</c:v>
                </c:pt>
                <c:pt idx="219">
                  <c:v>15.80125</c:v>
                </c:pt>
                <c:pt idx="220">
                  <c:v>16</c:v>
                </c:pt>
                <c:pt idx="221">
                  <c:v>15.80125</c:v>
                </c:pt>
                <c:pt idx="222">
                  <c:v>15.605</c:v>
                </c:pt>
                <c:pt idx="223">
                  <c:v>15.41125</c:v>
                </c:pt>
                <c:pt idx="224">
                  <c:v>15.22</c:v>
                </c:pt>
                <c:pt idx="225">
                  <c:v>15.03125</c:v>
                </c:pt>
                <c:pt idx="226">
                  <c:v>14.845</c:v>
                </c:pt>
                <c:pt idx="227">
                  <c:v>14.66125</c:v>
                </c:pt>
                <c:pt idx="228">
                  <c:v>14.48</c:v>
                </c:pt>
                <c:pt idx="229">
                  <c:v>14.30125</c:v>
                </c:pt>
                <c:pt idx="230">
                  <c:v>14.125</c:v>
                </c:pt>
                <c:pt idx="231">
                  <c:v>13.95125</c:v>
                </c:pt>
                <c:pt idx="232">
                  <c:v>13.78</c:v>
                </c:pt>
                <c:pt idx="233">
                  <c:v>13.61125</c:v>
                </c:pt>
                <c:pt idx="234">
                  <c:v>13.445</c:v>
                </c:pt>
                <c:pt idx="235">
                  <c:v>13.28125</c:v>
                </c:pt>
                <c:pt idx="236">
                  <c:v>13.12</c:v>
                </c:pt>
                <c:pt idx="237">
                  <c:v>12.96125</c:v>
                </c:pt>
                <c:pt idx="238">
                  <c:v>12.805</c:v>
                </c:pt>
                <c:pt idx="239">
                  <c:v>12.65125</c:v>
                </c:pt>
                <c:pt idx="240">
                  <c:v>12.5</c:v>
                </c:pt>
                <c:pt idx="241">
                  <c:v>12.35125</c:v>
                </c:pt>
                <c:pt idx="242">
                  <c:v>12.205</c:v>
                </c:pt>
                <c:pt idx="243">
                  <c:v>12.06125</c:v>
                </c:pt>
                <c:pt idx="244">
                  <c:v>11.92</c:v>
                </c:pt>
                <c:pt idx="245">
                  <c:v>11.78125</c:v>
                </c:pt>
                <c:pt idx="246">
                  <c:v>11.645</c:v>
                </c:pt>
                <c:pt idx="247">
                  <c:v>11.51125</c:v>
                </c:pt>
                <c:pt idx="248">
                  <c:v>11.38</c:v>
                </c:pt>
                <c:pt idx="249">
                  <c:v>11.25125</c:v>
                </c:pt>
                <c:pt idx="250">
                  <c:v>11.125</c:v>
                </c:pt>
                <c:pt idx="251">
                  <c:v>11.00125</c:v>
                </c:pt>
                <c:pt idx="252">
                  <c:v>10.88</c:v>
                </c:pt>
                <c:pt idx="253">
                  <c:v>10.76125</c:v>
                </c:pt>
                <c:pt idx="254">
                  <c:v>10.645</c:v>
                </c:pt>
                <c:pt idx="255">
                  <c:v>10.53125</c:v>
                </c:pt>
                <c:pt idx="256">
                  <c:v>10.42</c:v>
                </c:pt>
                <c:pt idx="257">
                  <c:v>10.31125</c:v>
                </c:pt>
                <c:pt idx="258">
                  <c:v>10.205</c:v>
                </c:pt>
                <c:pt idx="259">
                  <c:v>10.10125</c:v>
                </c:pt>
                <c:pt idx="260">
                  <c:v>10</c:v>
                </c:pt>
                <c:pt idx="261">
                  <c:v>9.90125</c:v>
                </c:pt>
                <c:pt idx="262">
                  <c:v>9.805</c:v>
                </c:pt>
                <c:pt idx="263">
                  <c:v>9.71125</c:v>
                </c:pt>
                <c:pt idx="264">
                  <c:v>9.62</c:v>
                </c:pt>
                <c:pt idx="265">
                  <c:v>9.53125</c:v>
                </c:pt>
                <c:pt idx="266">
                  <c:v>9.445</c:v>
                </c:pt>
                <c:pt idx="267">
                  <c:v>9.36125</c:v>
                </c:pt>
                <c:pt idx="268">
                  <c:v>9.28</c:v>
                </c:pt>
                <c:pt idx="269">
                  <c:v>9.20125</c:v>
                </c:pt>
                <c:pt idx="270">
                  <c:v>9.125</c:v>
                </c:pt>
                <c:pt idx="271">
                  <c:v>9.05125</c:v>
                </c:pt>
                <c:pt idx="272">
                  <c:v>8.98</c:v>
                </c:pt>
                <c:pt idx="273">
                  <c:v>8.91125</c:v>
                </c:pt>
                <c:pt idx="274">
                  <c:v>8.845</c:v>
                </c:pt>
                <c:pt idx="275">
                  <c:v>8.78125</c:v>
                </c:pt>
                <c:pt idx="276">
                  <c:v>8.72</c:v>
                </c:pt>
                <c:pt idx="277">
                  <c:v>8.66125</c:v>
                </c:pt>
                <c:pt idx="278">
                  <c:v>8.605</c:v>
                </c:pt>
                <c:pt idx="279">
                  <c:v>8.55125</c:v>
                </c:pt>
                <c:pt idx="280">
                  <c:v>8.5</c:v>
                </c:pt>
                <c:pt idx="281">
                  <c:v>8.45125</c:v>
                </c:pt>
                <c:pt idx="282">
                  <c:v>8.405</c:v>
                </c:pt>
                <c:pt idx="283">
                  <c:v>8.36125</c:v>
                </c:pt>
                <c:pt idx="284">
                  <c:v>8.32</c:v>
                </c:pt>
                <c:pt idx="285">
                  <c:v>8.28125</c:v>
                </c:pt>
                <c:pt idx="286">
                  <c:v>8.245</c:v>
                </c:pt>
                <c:pt idx="287">
                  <c:v>8.21125</c:v>
                </c:pt>
                <c:pt idx="288">
                  <c:v>8.18</c:v>
                </c:pt>
                <c:pt idx="289">
                  <c:v>8.15125</c:v>
                </c:pt>
                <c:pt idx="290">
                  <c:v>8.125</c:v>
                </c:pt>
                <c:pt idx="291">
                  <c:v>8.10125</c:v>
                </c:pt>
                <c:pt idx="292">
                  <c:v>8.08</c:v>
                </c:pt>
                <c:pt idx="293">
                  <c:v>8.06125</c:v>
                </c:pt>
                <c:pt idx="294">
                  <c:v>8.045</c:v>
                </c:pt>
                <c:pt idx="295">
                  <c:v>8.03125</c:v>
                </c:pt>
                <c:pt idx="296">
                  <c:v>8.02</c:v>
                </c:pt>
                <c:pt idx="297">
                  <c:v>8.01125</c:v>
                </c:pt>
                <c:pt idx="298">
                  <c:v>8.005</c:v>
                </c:pt>
                <c:pt idx="299">
                  <c:v>8.00125</c:v>
                </c:pt>
                <c:pt idx="300">
                  <c:v>8</c:v>
                </c:pt>
                <c:pt idx="301">
                  <c:v>8.00125</c:v>
                </c:pt>
                <c:pt idx="302">
                  <c:v>8.005</c:v>
                </c:pt>
                <c:pt idx="303">
                  <c:v>8.01125</c:v>
                </c:pt>
                <c:pt idx="304">
                  <c:v>8.02</c:v>
                </c:pt>
                <c:pt idx="305">
                  <c:v>8.03125</c:v>
                </c:pt>
                <c:pt idx="306">
                  <c:v>8.045</c:v>
                </c:pt>
                <c:pt idx="307">
                  <c:v>8.06125</c:v>
                </c:pt>
                <c:pt idx="308">
                  <c:v>8.08</c:v>
                </c:pt>
                <c:pt idx="309">
                  <c:v>8.10125</c:v>
                </c:pt>
                <c:pt idx="310">
                  <c:v>8.125</c:v>
                </c:pt>
                <c:pt idx="311">
                  <c:v>8.15125</c:v>
                </c:pt>
                <c:pt idx="312">
                  <c:v>8.18</c:v>
                </c:pt>
                <c:pt idx="313">
                  <c:v>8.21125</c:v>
                </c:pt>
                <c:pt idx="314">
                  <c:v>8.245</c:v>
                </c:pt>
                <c:pt idx="315">
                  <c:v>8.28125</c:v>
                </c:pt>
                <c:pt idx="316">
                  <c:v>8.32</c:v>
                </c:pt>
                <c:pt idx="317">
                  <c:v>8.36125</c:v>
                </c:pt>
                <c:pt idx="318">
                  <c:v>8.405</c:v>
                </c:pt>
                <c:pt idx="319">
                  <c:v>8.45125</c:v>
                </c:pt>
                <c:pt idx="320">
                  <c:v>8.5</c:v>
                </c:pt>
                <c:pt idx="321">
                  <c:v>8.55125</c:v>
                </c:pt>
                <c:pt idx="322">
                  <c:v>8.605</c:v>
                </c:pt>
                <c:pt idx="323">
                  <c:v>8.66125</c:v>
                </c:pt>
                <c:pt idx="324">
                  <c:v>8.72</c:v>
                </c:pt>
                <c:pt idx="325">
                  <c:v>8.78125</c:v>
                </c:pt>
                <c:pt idx="326">
                  <c:v>8.845</c:v>
                </c:pt>
                <c:pt idx="327">
                  <c:v>8.91125</c:v>
                </c:pt>
                <c:pt idx="328">
                  <c:v>8.98</c:v>
                </c:pt>
                <c:pt idx="329">
                  <c:v>9.05125</c:v>
                </c:pt>
                <c:pt idx="330">
                  <c:v>9.125</c:v>
                </c:pt>
                <c:pt idx="331">
                  <c:v>9.20125</c:v>
                </c:pt>
                <c:pt idx="332">
                  <c:v>9.28</c:v>
                </c:pt>
                <c:pt idx="333">
                  <c:v>9.36125</c:v>
                </c:pt>
                <c:pt idx="334">
                  <c:v>9.445</c:v>
                </c:pt>
                <c:pt idx="335">
                  <c:v>9.53125</c:v>
                </c:pt>
                <c:pt idx="336">
                  <c:v>9.62</c:v>
                </c:pt>
                <c:pt idx="337">
                  <c:v>9.71125</c:v>
                </c:pt>
                <c:pt idx="338">
                  <c:v>9.805</c:v>
                </c:pt>
                <c:pt idx="339">
                  <c:v>9.90125</c:v>
                </c:pt>
                <c:pt idx="340">
                  <c:v>10</c:v>
                </c:pt>
                <c:pt idx="341">
                  <c:v>10.10125</c:v>
                </c:pt>
                <c:pt idx="342">
                  <c:v>10.205</c:v>
                </c:pt>
                <c:pt idx="343">
                  <c:v>10.31125</c:v>
                </c:pt>
                <c:pt idx="344">
                  <c:v>10.42</c:v>
                </c:pt>
                <c:pt idx="345">
                  <c:v>10.53125</c:v>
                </c:pt>
                <c:pt idx="346">
                  <c:v>10.645</c:v>
                </c:pt>
                <c:pt idx="347">
                  <c:v>10.76125</c:v>
                </c:pt>
                <c:pt idx="348">
                  <c:v>10.88</c:v>
                </c:pt>
                <c:pt idx="349">
                  <c:v>11.00125</c:v>
                </c:pt>
                <c:pt idx="350">
                  <c:v>11.125</c:v>
                </c:pt>
                <c:pt idx="351">
                  <c:v>11.25125</c:v>
                </c:pt>
                <c:pt idx="352">
                  <c:v>11.38</c:v>
                </c:pt>
                <c:pt idx="353">
                  <c:v>11.51125</c:v>
                </c:pt>
                <c:pt idx="354">
                  <c:v>11.645</c:v>
                </c:pt>
                <c:pt idx="355">
                  <c:v>11.78125</c:v>
                </c:pt>
                <c:pt idx="356">
                  <c:v>11.92</c:v>
                </c:pt>
                <c:pt idx="357">
                  <c:v>12.06125</c:v>
                </c:pt>
                <c:pt idx="358">
                  <c:v>12.205</c:v>
                </c:pt>
                <c:pt idx="359">
                  <c:v>12.35125</c:v>
                </c:pt>
                <c:pt idx="360">
                  <c:v>12.5</c:v>
                </c:pt>
              </c:numCache>
            </c:numRef>
          </c:yVal>
          <c:smooth val="1"/>
          <c:extLst>
            <c:ext xmlns:c16="http://schemas.microsoft.com/office/drawing/2014/chart" uri="{C3380CC4-5D6E-409C-BE32-E72D297353CC}">
              <c16:uniqueId val="{00000000-7CBE-411D-9BA4-260E0324C447}"/>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c:v>
                </c:pt>
              </c:numCache>
            </c:numRef>
          </c:yVal>
          <c:smooth val="1"/>
          <c:extLst>
            <c:ext xmlns:c16="http://schemas.microsoft.com/office/drawing/2014/chart" uri="{C3380CC4-5D6E-409C-BE32-E72D297353CC}">
              <c16:uniqueId val="{00000001-7CBE-411D-9BA4-260E0324C447}"/>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8</c:v>
                </c:pt>
              </c:numCache>
            </c:numRef>
          </c:yVal>
          <c:smooth val="1"/>
          <c:extLst>
            <c:ext xmlns:c16="http://schemas.microsoft.com/office/drawing/2014/chart" uri="{C3380CC4-5D6E-409C-BE32-E72D297353CC}">
              <c16:uniqueId val="{00000002-7CBE-411D-9BA4-260E0324C447}"/>
            </c:ext>
          </c:extLst>
        </c:ser>
        <c:ser>
          <c:idx val="3"/>
          <c:order val="3"/>
          <c:tx>
            <c:v>left GD steps</c:v>
          </c:tx>
          <c:spPr>
            <a:ln w="17145">
              <a:solidFill>
                <a:srgbClr val="326CB2"/>
              </a:solidFill>
            </a:ln>
          </c:spPr>
          <c:marker>
            <c:symbol val="none"/>
          </c:marker>
          <c:xVal>
            <c:numRef>
              <c:f>'Chart Data'!$G$2:$G$12</c:f>
              <c:numCache>
                <c:formatCode>General</c:formatCode>
                <c:ptCount val="11"/>
                <c:pt idx="0">
                  <c:v>-1.5</c:v>
                </c:pt>
                <c:pt idx="1">
                  <c:v>-1.8</c:v>
                </c:pt>
                <c:pt idx="2">
                  <c:v>-2.04</c:v>
                </c:pt>
                <c:pt idx="3">
                  <c:v>-2.232</c:v>
                </c:pt>
                <c:pt idx="4">
                  <c:v>-2.3856</c:v>
                </c:pt>
                <c:pt idx="5">
                  <c:v>-2.50848</c:v>
                </c:pt>
                <c:pt idx="6">
                  <c:v>-2.606784</c:v>
                </c:pt>
                <c:pt idx="7">
                  <c:v>-2.6854272</c:v>
                </c:pt>
                <c:pt idx="8">
                  <c:v>-2.74834176</c:v>
                </c:pt>
                <c:pt idx="9">
                  <c:v>-2.798673408</c:v>
                </c:pt>
                <c:pt idx="10">
                  <c:v>-2.8389387264</c:v>
                </c:pt>
              </c:numCache>
            </c:numRef>
          </c:xVal>
          <c:yVal>
            <c:numRef>
              <c:f>'Chart Data'!$H$2:$H$12</c:f>
              <c:numCache>
                <c:formatCode>General</c:formatCode>
                <c:ptCount val="11"/>
                <c:pt idx="0">
                  <c:v>4.5</c:v>
                </c:pt>
                <c:pt idx="1">
                  <c:v>2.88</c:v>
                </c:pt>
                <c:pt idx="2">
                  <c:v>1.8432</c:v>
                </c:pt>
                <c:pt idx="3">
                  <c:v>1.179648</c:v>
                </c:pt>
                <c:pt idx="4">
                  <c:v>0.75497472</c:v>
                </c:pt>
                <c:pt idx="5">
                  <c:v>0.4831838208</c:v>
                </c:pt>
                <c:pt idx="6">
                  <c:v>0.309237645312</c:v>
                </c:pt>
                <c:pt idx="7">
                  <c:v>0.19791209299968</c:v>
                </c:pt>
                <c:pt idx="8">
                  <c:v>0.126663739519795</c:v>
                </c:pt>
                <c:pt idx="9">
                  <c:v>0.081064793292669</c:v>
                </c:pt>
                <c:pt idx="10">
                  <c:v>0.0518814677073082</c:v>
                </c:pt>
              </c:numCache>
            </c:numRef>
          </c:yVal>
          <c:smooth val="1"/>
          <c:extLst>
            <c:ext xmlns:c16="http://schemas.microsoft.com/office/drawing/2014/chart" uri="{C3380CC4-5D6E-409C-BE32-E72D297353CC}">
              <c16:uniqueId val="{00000003-7CBE-411D-9BA4-260E0324C447}"/>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4.5</c:v>
                </c:pt>
              </c:numCache>
            </c:numRef>
          </c:yVal>
          <c:smooth val="1"/>
          <c:extLst>
            <c:ext xmlns:c16="http://schemas.microsoft.com/office/drawing/2014/chart" uri="{C3380CC4-5D6E-409C-BE32-E72D297353CC}">
              <c16:uniqueId val="{00000004-7CBE-411D-9BA4-260E0324C447}"/>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Data'!$K$2:$K$11</c:f>
              <c:numCache>
                <c:formatCode>General</c:formatCode>
                <c:ptCount val="10"/>
                <c:pt idx="0">
                  <c:v>-1.8</c:v>
                </c:pt>
                <c:pt idx="1">
                  <c:v>-2.04</c:v>
                </c:pt>
                <c:pt idx="2">
                  <c:v>-2.232</c:v>
                </c:pt>
                <c:pt idx="3">
                  <c:v>-2.3856</c:v>
                </c:pt>
                <c:pt idx="4">
                  <c:v>-2.50848</c:v>
                </c:pt>
                <c:pt idx="5">
                  <c:v>-2.606784</c:v>
                </c:pt>
                <c:pt idx="6">
                  <c:v>-2.6854272</c:v>
                </c:pt>
                <c:pt idx="7">
                  <c:v>-2.74834176</c:v>
                </c:pt>
                <c:pt idx="8">
                  <c:v>-2.798673408</c:v>
                </c:pt>
                <c:pt idx="9">
                  <c:v>-2.8389387264</c:v>
                </c:pt>
              </c:numCache>
            </c:numRef>
          </c:xVal>
          <c:yVal>
            <c:numRef>
              <c:f>'Chart Data'!$L$2:$L$11</c:f>
              <c:numCache>
                <c:formatCode>General</c:formatCode>
                <c:ptCount val="10"/>
                <c:pt idx="0">
                  <c:v>2.88</c:v>
                </c:pt>
                <c:pt idx="1">
                  <c:v>1.8432</c:v>
                </c:pt>
                <c:pt idx="2">
                  <c:v>1.179648</c:v>
                </c:pt>
                <c:pt idx="3">
                  <c:v>0.75497472</c:v>
                </c:pt>
                <c:pt idx="4">
                  <c:v>0.4831838208</c:v>
                </c:pt>
                <c:pt idx="5">
                  <c:v>0.309237645312</c:v>
                </c:pt>
                <c:pt idx="6">
                  <c:v>0.19791209299968</c:v>
                </c:pt>
                <c:pt idx="7">
                  <c:v>0.126663739519795</c:v>
                </c:pt>
                <c:pt idx="8">
                  <c:v>0.081064793292669</c:v>
                </c:pt>
                <c:pt idx="9">
                  <c:v>0.0518814677073082</c:v>
                </c:pt>
              </c:numCache>
            </c:numRef>
          </c:yVal>
          <c:smooth val="1"/>
          <c:extLst>
            <c:ext xmlns:c16="http://schemas.microsoft.com/office/drawing/2014/chart" uri="{C3380CC4-5D6E-409C-BE32-E72D297353CC}">
              <c16:uniqueId val="{00000005-7CBE-411D-9BA4-260E0324C447}"/>
            </c:ext>
          </c:extLst>
        </c:ser>
        <c:ser>
          <c:idx val="6"/>
          <c:order val="6"/>
          <c:tx>
            <c:v>right GD steps</c:v>
          </c:tx>
          <c:spPr>
            <a:ln w="17145">
              <a:solidFill>
                <a:srgbClr val="C45C28"/>
              </a:solidFill>
            </a:ln>
          </c:spPr>
          <c:marker>
            <c:symbol val="none"/>
          </c:marker>
          <c:xVal>
            <c:numRef>
              <c:f>'Chart Data'!$M$2:$M$12</c:f>
              <c:numCache>
                <c:formatCode>General</c:formatCode>
                <c:ptCount val="11"/>
                <c:pt idx="0">
                  <c:v>1.5</c:v>
                </c:pt>
                <c:pt idx="1">
                  <c:v>1.8</c:v>
                </c:pt>
                <c:pt idx="2">
                  <c:v>2.04</c:v>
                </c:pt>
                <c:pt idx="3">
                  <c:v>2.232</c:v>
                </c:pt>
                <c:pt idx="4">
                  <c:v>2.3856</c:v>
                </c:pt>
                <c:pt idx="5">
                  <c:v>2.50848</c:v>
                </c:pt>
                <c:pt idx="6">
                  <c:v>2.606784</c:v>
                </c:pt>
                <c:pt idx="7">
                  <c:v>2.6854272</c:v>
                </c:pt>
                <c:pt idx="8">
                  <c:v>2.74834176</c:v>
                </c:pt>
                <c:pt idx="9">
                  <c:v>2.798673408</c:v>
                </c:pt>
                <c:pt idx="10">
                  <c:v>2.8389387264</c:v>
                </c:pt>
              </c:numCache>
            </c:numRef>
          </c:xVal>
          <c:yVal>
            <c:numRef>
              <c:f>'Chart Data'!$N$2:$N$12</c:f>
              <c:numCache>
                <c:formatCode>General</c:formatCode>
                <c:ptCount val="11"/>
                <c:pt idx="0">
                  <c:v>12.5</c:v>
                </c:pt>
                <c:pt idx="1">
                  <c:v>10.88</c:v>
                </c:pt>
                <c:pt idx="2">
                  <c:v>9.8432</c:v>
                </c:pt>
                <c:pt idx="3">
                  <c:v>9.179648</c:v>
                </c:pt>
                <c:pt idx="4">
                  <c:v>8.75497472</c:v>
                </c:pt>
                <c:pt idx="5">
                  <c:v>8.4831838208</c:v>
                </c:pt>
                <c:pt idx="6">
                  <c:v>8.309237645312</c:v>
                </c:pt>
                <c:pt idx="7">
                  <c:v>8.19791209299968</c:v>
                </c:pt>
                <c:pt idx="8">
                  <c:v>8.1266637395198</c:v>
                </c:pt>
                <c:pt idx="9">
                  <c:v>8.08106479329267</c:v>
                </c:pt>
                <c:pt idx="10">
                  <c:v>8.05188146770731</c:v>
                </c:pt>
              </c:numCache>
            </c:numRef>
          </c:yVal>
          <c:smooth val="1"/>
          <c:extLst>
            <c:ext xmlns:c16="http://schemas.microsoft.com/office/drawing/2014/chart" uri="{C3380CC4-5D6E-409C-BE32-E72D297353CC}">
              <c16:uniqueId val="{00000006-7CBE-411D-9BA4-260E0324C447}"/>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12.5</c:v>
                </c:pt>
              </c:numCache>
            </c:numRef>
          </c:yVal>
          <c:smooth val="1"/>
          <c:extLst>
            <c:ext xmlns:c16="http://schemas.microsoft.com/office/drawing/2014/chart" uri="{C3380CC4-5D6E-409C-BE32-E72D297353CC}">
              <c16:uniqueId val="{00000007-7CBE-411D-9BA4-260E0324C447}"/>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Data'!$Q$2:$Q$11</c:f>
              <c:numCache>
                <c:formatCode>General</c:formatCode>
                <c:ptCount val="10"/>
                <c:pt idx="0">
                  <c:v>1.8</c:v>
                </c:pt>
                <c:pt idx="1">
                  <c:v>2.04</c:v>
                </c:pt>
                <c:pt idx="2">
                  <c:v>2.232</c:v>
                </c:pt>
                <c:pt idx="3">
                  <c:v>2.3856</c:v>
                </c:pt>
                <c:pt idx="4">
                  <c:v>2.50848</c:v>
                </c:pt>
                <c:pt idx="5">
                  <c:v>2.606784</c:v>
                </c:pt>
                <c:pt idx="6">
                  <c:v>2.6854272</c:v>
                </c:pt>
                <c:pt idx="7">
                  <c:v>2.74834176</c:v>
                </c:pt>
                <c:pt idx="8">
                  <c:v>2.798673408</c:v>
                </c:pt>
                <c:pt idx="9">
                  <c:v>2.8389387264</c:v>
                </c:pt>
              </c:numCache>
            </c:numRef>
          </c:xVal>
          <c:yVal>
            <c:numRef>
              <c:f>'Chart Data'!$R$2:$R$11</c:f>
              <c:numCache>
                <c:formatCode>General</c:formatCode>
                <c:ptCount val="10"/>
                <c:pt idx="0">
                  <c:v>10.88</c:v>
                </c:pt>
                <c:pt idx="1">
                  <c:v>9.8432</c:v>
                </c:pt>
                <c:pt idx="2">
                  <c:v>9.179648</c:v>
                </c:pt>
                <c:pt idx="3">
                  <c:v>8.75497472</c:v>
                </c:pt>
                <c:pt idx="4">
                  <c:v>8.4831838208</c:v>
                </c:pt>
                <c:pt idx="5">
                  <c:v>8.309237645312</c:v>
                </c:pt>
                <c:pt idx="6">
                  <c:v>8.19791209299968</c:v>
                </c:pt>
                <c:pt idx="7">
                  <c:v>8.1266637395198</c:v>
                </c:pt>
                <c:pt idx="8">
                  <c:v>8.08106479329267</c:v>
                </c:pt>
                <c:pt idx="9">
                  <c:v>8.05188146770731</c:v>
                </c:pt>
              </c:numCache>
            </c:numRef>
          </c:yVal>
          <c:smooth val="1"/>
          <c:extLst>
            <c:ext xmlns:c16="http://schemas.microsoft.com/office/drawing/2014/chart" uri="{C3380CC4-5D6E-409C-BE32-E72D297353CC}">
              <c16:uniqueId val="{00000008-7CBE-411D-9BA4-260E0324C447}"/>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-2.8389387264</c:v>
                </c:pt>
              </c:numCache>
            </c:numRef>
          </c:xVal>
          <c:yVal>
            <c:numRef>
              <c:f>'Chart Data'!$T$2:$T$2</c:f>
              <c:numCache>
                <c:formatCode>General</c:formatCode>
                <c:ptCount val="1"/>
                <c:pt idx="0">
                  <c:v>0.0518814677073082</c:v>
                </c:pt>
              </c:numCache>
            </c:numRef>
          </c:yVal>
          <c:smooth val="1"/>
          <c:extLst>
            <c:ext xmlns:c16="http://schemas.microsoft.com/office/drawing/2014/chart" uri="{C3380CC4-5D6E-409C-BE32-E72D297353CC}">
              <c16:uniqueId val="{00000009-7CBE-411D-9BA4-260E0324C447}"/>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2.8389387264</c:v>
                </c:pt>
              </c:numCache>
            </c:numRef>
          </c:xVal>
          <c:yVal>
            <c:numRef>
              <c:f>'Chart Data'!$V$2:$V$2</c:f>
              <c:numCache>
                <c:formatCode>General</c:formatCode>
                <c:ptCount val="1"/>
                <c:pt idx="0">
                  <c:v>8.05188146770731</c:v>
                </c:pt>
              </c:numCache>
            </c:numRef>
          </c:yVal>
          <c:smooth val="1"/>
          <c:extLst>
            <c:ext xmlns:c16="http://schemas.microsoft.com/office/drawing/2014/chart" uri="{C3380CC4-5D6E-409C-BE32-E72D297353CC}">
              <c16:uniqueId val="{0000000A-7CBE-411D-9BA4-260E0324C447}"/>
            </c:ext>
          </c:extLst>
        </c:ser>
        <c:dLbls>
          <c:showLegendKey val="0"/>
          <c:showVal val="0"/>
          <c:showCatName val="0"/>
          <c:showSerName val="0"/>
          <c:showPercent val="0"/>
          <c:showBubbleSize val="0"/>
        </c:dLbls>
        <c:axId val="48650112"/>
        <c:axId val="48672768"/>
      </c:scatterChart>
      <c:valAx>
        <c:axId val="48672768"/>
        <c:scaling>
          <c:orientation val="minMax"/>
          <c:max val="18"/>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Squared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4"/>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Squared loss</c:v>
          </c:tx>
          <c:spPr>
            <a:ln w="30480">
              <a:solidFill>
                <a:srgbClr val="087F83"/>
              </a:solidFill>
            </a:ln>
          </c:spPr>
          <c:marker>
            <c:symbol val="none"/>
          </c:marker>
          <c:xVal>
            <c:numRef>
              <c:f>'Chart Data'!$A$2:$A$362</c:f>
              <c:numCache>
                <c:formatCode>General</c:formatCode>
                <c:ptCount val="361"/>
                <c:pt idx="0">
                  <c:v>-4.5</c:v>
                </c:pt>
                <c:pt idx="1">
                  <c:v>-4.475</c:v>
                </c:pt>
                <c:pt idx="2">
                  <c:v>-4.45</c:v>
                </c:pt>
                <c:pt idx="3">
                  <c:v>-4.425</c:v>
                </c:pt>
                <c:pt idx="4">
                  <c:v>-4.4</c:v>
                </c:pt>
                <c:pt idx="5">
                  <c:v>-4.375</c:v>
                </c:pt>
                <c:pt idx="6">
                  <c:v>-4.35</c:v>
                </c:pt>
                <c:pt idx="7">
                  <c:v>-4.325</c:v>
                </c:pt>
                <c:pt idx="8">
                  <c:v>-4.3</c:v>
                </c:pt>
                <c:pt idx="9">
                  <c:v>-4.275</c:v>
                </c:pt>
                <c:pt idx="10">
                  <c:v>-4.25</c:v>
                </c:pt>
                <c:pt idx="11">
                  <c:v>-4.225</c:v>
                </c:pt>
                <c:pt idx="12">
                  <c:v>-4.2</c:v>
                </c:pt>
                <c:pt idx="13">
                  <c:v>-4.175</c:v>
                </c:pt>
                <c:pt idx="14">
                  <c:v>-4.15</c:v>
                </c:pt>
                <c:pt idx="15">
                  <c:v>-4.125</c:v>
                </c:pt>
                <c:pt idx="16">
                  <c:v>-4.1</c:v>
                </c:pt>
                <c:pt idx="17">
                  <c:v>-4.075</c:v>
                </c:pt>
                <c:pt idx="18">
                  <c:v>-4.05</c:v>
                </c:pt>
                <c:pt idx="19">
                  <c:v>-4.025</c:v>
                </c:pt>
                <c:pt idx="20">
                  <c:v>-4</c:v>
                </c:pt>
                <c:pt idx="21">
                  <c:v>-3.975</c:v>
                </c:pt>
                <c:pt idx="22">
                  <c:v>-3.95</c:v>
                </c:pt>
                <c:pt idx="23">
                  <c:v>-3.925</c:v>
                </c:pt>
                <c:pt idx="24">
                  <c:v>-3.9</c:v>
                </c:pt>
                <c:pt idx="25">
                  <c:v>-3.875</c:v>
                </c:pt>
                <c:pt idx="26">
                  <c:v>-3.85</c:v>
                </c:pt>
                <c:pt idx="27">
                  <c:v>-3.825</c:v>
                </c:pt>
                <c:pt idx="28">
                  <c:v>-3.8</c:v>
                </c:pt>
                <c:pt idx="29">
                  <c:v>-3.775</c:v>
                </c:pt>
                <c:pt idx="30">
                  <c:v>-3.75</c:v>
                </c:pt>
                <c:pt idx="31">
                  <c:v>-3.725</c:v>
                </c:pt>
                <c:pt idx="32">
                  <c:v>-3.7</c:v>
                </c:pt>
                <c:pt idx="33">
                  <c:v>-3.675</c:v>
                </c:pt>
                <c:pt idx="34">
                  <c:v>-3.65</c:v>
                </c:pt>
                <c:pt idx="35">
                  <c:v>-3.625</c:v>
                </c:pt>
                <c:pt idx="36">
                  <c:v>-3.6</c:v>
                </c:pt>
                <c:pt idx="37">
                  <c:v>-3.575</c:v>
                </c:pt>
                <c:pt idx="38">
                  <c:v>-3.55</c:v>
                </c:pt>
                <c:pt idx="39">
                  <c:v>-3.525</c:v>
                </c:pt>
                <c:pt idx="40">
                  <c:v>-3.5</c:v>
                </c:pt>
                <c:pt idx="41">
                  <c:v>-3.475</c:v>
                </c:pt>
                <c:pt idx="42">
                  <c:v>-3.45</c:v>
                </c:pt>
                <c:pt idx="43">
                  <c:v>-3.425</c:v>
                </c:pt>
                <c:pt idx="44">
                  <c:v>-3.4</c:v>
                </c:pt>
                <c:pt idx="45">
                  <c:v>-3.375</c:v>
                </c:pt>
                <c:pt idx="46">
                  <c:v>-3.35</c:v>
                </c:pt>
                <c:pt idx="47">
                  <c:v>-3.325</c:v>
                </c:pt>
                <c:pt idx="48">
                  <c:v>-3.3</c:v>
                </c:pt>
                <c:pt idx="49">
                  <c:v>-3.275</c:v>
                </c:pt>
                <c:pt idx="50">
                  <c:v>-3.25</c:v>
                </c:pt>
                <c:pt idx="51">
                  <c:v>-3.225</c:v>
                </c:pt>
                <c:pt idx="52">
                  <c:v>-3.2</c:v>
                </c:pt>
                <c:pt idx="53">
                  <c:v>-3.175</c:v>
                </c:pt>
                <c:pt idx="54">
                  <c:v>-3.15</c:v>
                </c:pt>
                <c:pt idx="55">
                  <c:v>-3.125</c:v>
                </c:pt>
                <c:pt idx="56">
                  <c:v>-3.1</c:v>
                </c:pt>
                <c:pt idx="57">
                  <c:v>-3.075</c:v>
                </c:pt>
                <c:pt idx="58">
                  <c:v>-3.05</c:v>
                </c:pt>
                <c:pt idx="59">
                  <c:v>-3.025</c:v>
                </c:pt>
                <c:pt idx="60">
                  <c:v>-3</c:v>
                </c:pt>
                <c:pt idx="61">
                  <c:v>-2.975</c:v>
                </c:pt>
                <c:pt idx="62">
                  <c:v>-2.95</c:v>
                </c:pt>
                <c:pt idx="63">
                  <c:v>-2.925</c:v>
                </c:pt>
                <c:pt idx="64">
                  <c:v>-2.9</c:v>
                </c:pt>
                <c:pt idx="65">
                  <c:v>-2.875</c:v>
                </c:pt>
                <c:pt idx="66">
                  <c:v>-2.85</c:v>
                </c:pt>
                <c:pt idx="67">
                  <c:v>-2.825</c:v>
                </c:pt>
                <c:pt idx="68">
                  <c:v>-2.8</c:v>
                </c:pt>
                <c:pt idx="69">
                  <c:v>-2.775</c:v>
                </c:pt>
                <c:pt idx="70">
                  <c:v>-2.75</c:v>
                </c:pt>
                <c:pt idx="71">
                  <c:v>-2.725</c:v>
                </c:pt>
                <c:pt idx="72">
                  <c:v>-2.7</c:v>
                </c:pt>
                <c:pt idx="73">
                  <c:v>-2.675</c:v>
                </c:pt>
                <c:pt idx="74">
                  <c:v>-2.65</c:v>
                </c:pt>
                <c:pt idx="75">
                  <c:v>-2.625</c:v>
                </c:pt>
                <c:pt idx="76">
                  <c:v>-2.6</c:v>
                </c:pt>
                <c:pt idx="77">
                  <c:v>-2.575</c:v>
                </c:pt>
                <c:pt idx="78">
                  <c:v>-2.55</c:v>
                </c:pt>
                <c:pt idx="79">
                  <c:v>-2.525</c:v>
                </c:pt>
                <c:pt idx="80">
                  <c:v>-2.5</c:v>
                </c:pt>
                <c:pt idx="81">
                  <c:v>-2.475</c:v>
                </c:pt>
                <c:pt idx="82">
                  <c:v>-2.45</c:v>
                </c:pt>
                <c:pt idx="83">
                  <c:v>-2.425</c:v>
                </c:pt>
                <c:pt idx="84">
                  <c:v>-2.4</c:v>
                </c:pt>
                <c:pt idx="85">
                  <c:v>-2.375</c:v>
                </c:pt>
                <c:pt idx="86">
                  <c:v>-2.35</c:v>
                </c:pt>
                <c:pt idx="87">
                  <c:v>-2.325</c:v>
                </c:pt>
                <c:pt idx="88">
                  <c:v>-2.3</c:v>
                </c:pt>
                <c:pt idx="89">
                  <c:v>-2.275</c:v>
                </c:pt>
                <c:pt idx="90">
                  <c:v>-2.25</c:v>
                </c:pt>
                <c:pt idx="91">
                  <c:v>-2.225</c:v>
                </c:pt>
                <c:pt idx="92">
                  <c:v>-2.2</c:v>
                </c:pt>
                <c:pt idx="93">
                  <c:v>-2.175</c:v>
                </c:pt>
                <c:pt idx="94">
                  <c:v>-2.15</c:v>
                </c:pt>
                <c:pt idx="95">
                  <c:v>-2.125</c:v>
                </c:pt>
                <c:pt idx="96">
                  <c:v>-2.1</c:v>
                </c:pt>
                <c:pt idx="97">
                  <c:v>-2.075</c:v>
                </c:pt>
                <c:pt idx="98">
                  <c:v>-2.05</c:v>
                </c:pt>
                <c:pt idx="99">
                  <c:v>-2.025</c:v>
                </c:pt>
                <c:pt idx="100">
                  <c:v>-2</c:v>
                </c:pt>
                <c:pt idx="101">
                  <c:v>-1.975</c:v>
                </c:pt>
                <c:pt idx="102">
                  <c:v>-1.95</c:v>
                </c:pt>
                <c:pt idx="103">
                  <c:v>-1.925</c:v>
                </c:pt>
                <c:pt idx="104">
                  <c:v>-1.9</c:v>
                </c:pt>
                <c:pt idx="105">
                  <c:v>-1.875</c:v>
                </c:pt>
                <c:pt idx="106">
                  <c:v>-1.85</c:v>
                </c:pt>
                <c:pt idx="107">
                  <c:v>-1.825</c:v>
                </c:pt>
                <c:pt idx="108">
                  <c:v>-1.8</c:v>
                </c:pt>
                <c:pt idx="109">
                  <c:v>-1.775</c:v>
                </c:pt>
                <c:pt idx="110">
                  <c:v>-1.75</c:v>
                </c:pt>
                <c:pt idx="111">
                  <c:v>-1.725</c:v>
                </c:pt>
                <c:pt idx="112">
                  <c:v>-1.7</c:v>
                </c:pt>
                <c:pt idx="113">
                  <c:v>-1.675</c:v>
                </c:pt>
                <c:pt idx="114">
                  <c:v>-1.65</c:v>
                </c:pt>
                <c:pt idx="115">
                  <c:v>-1.625</c:v>
                </c:pt>
                <c:pt idx="116">
                  <c:v>-1.6</c:v>
                </c:pt>
                <c:pt idx="117">
                  <c:v>-1.575</c:v>
                </c:pt>
                <c:pt idx="118">
                  <c:v>-1.55</c:v>
                </c:pt>
                <c:pt idx="119">
                  <c:v>-1.525</c:v>
                </c:pt>
                <c:pt idx="120">
                  <c:v>-1.5</c:v>
                </c:pt>
                <c:pt idx="121">
                  <c:v>-1.475</c:v>
                </c:pt>
                <c:pt idx="122">
                  <c:v>-1.45</c:v>
                </c:pt>
                <c:pt idx="123">
                  <c:v>-1.425</c:v>
                </c:pt>
                <c:pt idx="124">
                  <c:v>-1.4</c:v>
                </c:pt>
                <c:pt idx="125">
                  <c:v>-1.375</c:v>
                </c:pt>
                <c:pt idx="126">
                  <c:v>-1.35</c:v>
                </c:pt>
                <c:pt idx="127">
                  <c:v>-1.325</c:v>
                </c:pt>
                <c:pt idx="128">
                  <c:v>-1.3</c:v>
                </c:pt>
                <c:pt idx="129">
                  <c:v>-1.275</c:v>
                </c:pt>
                <c:pt idx="130">
                  <c:v>-1.25</c:v>
                </c:pt>
                <c:pt idx="131">
                  <c:v>-1.225</c:v>
                </c:pt>
                <c:pt idx="132">
                  <c:v>-1.2</c:v>
                </c:pt>
                <c:pt idx="133">
                  <c:v>-1.175</c:v>
                </c:pt>
                <c:pt idx="134">
                  <c:v>-1.15</c:v>
                </c:pt>
                <c:pt idx="135">
                  <c:v>-1.125</c:v>
                </c:pt>
                <c:pt idx="136">
                  <c:v>-1.1</c:v>
                </c:pt>
                <c:pt idx="137">
                  <c:v>-1.075</c:v>
                </c:pt>
                <c:pt idx="138">
                  <c:v>-1.05</c:v>
                </c:pt>
                <c:pt idx="139">
                  <c:v>-1.025</c:v>
                </c:pt>
                <c:pt idx="140">
                  <c:v>-1</c:v>
                </c:pt>
                <c:pt idx="141">
                  <c:v>-0.975</c:v>
                </c:pt>
                <c:pt idx="142">
                  <c:v>-0.95</c:v>
                </c:pt>
                <c:pt idx="143">
                  <c:v>-0.925</c:v>
                </c:pt>
                <c:pt idx="144">
                  <c:v>-0.9</c:v>
                </c:pt>
                <c:pt idx="145">
                  <c:v>-0.875</c:v>
                </c:pt>
                <c:pt idx="146">
                  <c:v>-0.85</c:v>
                </c:pt>
                <c:pt idx="147">
                  <c:v>-0.825</c:v>
                </c:pt>
                <c:pt idx="148">
                  <c:v>-0.8</c:v>
                </c:pt>
                <c:pt idx="149">
                  <c:v>-0.775</c:v>
                </c:pt>
                <c:pt idx="150">
                  <c:v>-0.75</c:v>
                </c:pt>
                <c:pt idx="151">
                  <c:v>-0.725</c:v>
                </c:pt>
                <c:pt idx="152">
                  <c:v>-0.7</c:v>
                </c:pt>
                <c:pt idx="153">
                  <c:v>-0.675</c:v>
                </c:pt>
                <c:pt idx="154">
                  <c:v>-0.65</c:v>
                </c:pt>
                <c:pt idx="155">
                  <c:v>-0.625</c:v>
                </c:pt>
                <c:pt idx="156">
                  <c:v>-0.6</c:v>
                </c:pt>
                <c:pt idx="157">
                  <c:v>-0.575</c:v>
                </c:pt>
                <c:pt idx="158">
                  <c:v>-0.55</c:v>
                </c:pt>
                <c:pt idx="159">
                  <c:v>-0.525</c:v>
                </c:pt>
                <c:pt idx="160">
                  <c:v>-0.5</c:v>
                </c:pt>
                <c:pt idx="161">
                  <c:v>-0.475</c:v>
                </c:pt>
                <c:pt idx="162">
                  <c:v>-0.45</c:v>
                </c:pt>
                <c:pt idx="163">
                  <c:v>-0.425</c:v>
                </c:pt>
                <c:pt idx="164">
                  <c:v>-0.4</c:v>
                </c:pt>
                <c:pt idx="165">
                  <c:v>-0.375</c:v>
                </c:pt>
                <c:pt idx="166">
                  <c:v>-0.35</c:v>
                </c:pt>
                <c:pt idx="167">
                  <c:v>-0.325</c:v>
                </c:pt>
                <c:pt idx="168">
                  <c:v>-0.3</c:v>
                </c:pt>
                <c:pt idx="169">
                  <c:v>-0.275</c:v>
                </c:pt>
                <c:pt idx="170">
                  <c:v>-0.25</c:v>
                </c:pt>
                <c:pt idx="171">
                  <c:v>-0.225</c:v>
                </c:pt>
                <c:pt idx="172">
                  <c:v>-0.2</c:v>
                </c:pt>
                <c:pt idx="173">
                  <c:v>-0.175</c:v>
                </c:pt>
                <c:pt idx="174">
                  <c:v>-0.15</c:v>
                </c:pt>
                <c:pt idx="175">
                  <c:v>-0.125</c:v>
                </c:pt>
                <c:pt idx="176">
                  <c:v>-0.1</c:v>
                </c:pt>
                <c:pt idx="177">
                  <c:v>-0.075</c:v>
                </c:pt>
                <c:pt idx="178">
                  <c:v>-0.05</c:v>
                </c:pt>
                <c:pt idx="179">
                  <c:v>-0.025</c:v>
                </c:pt>
                <c:pt idx="180">
                  <c:v>0</c:v>
                </c:pt>
                <c:pt idx="181">
                  <c:v>0.025</c:v>
                </c:pt>
                <c:pt idx="182">
                  <c:v>0.05</c:v>
                </c:pt>
                <c:pt idx="183">
                  <c:v>0.075</c:v>
                </c:pt>
                <c:pt idx="184">
                  <c:v>0.1</c:v>
                </c:pt>
                <c:pt idx="185">
                  <c:v>0.125</c:v>
                </c:pt>
                <c:pt idx="186">
                  <c:v>0.15</c:v>
                </c:pt>
                <c:pt idx="187">
                  <c:v>0.175</c:v>
                </c:pt>
                <c:pt idx="188">
                  <c:v>0.2</c:v>
                </c:pt>
                <c:pt idx="189">
                  <c:v>0.225</c:v>
                </c:pt>
                <c:pt idx="190">
                  <c:v>0.25</c:v>
                </c:pt>
                <c:pt idx="191">
                  <c:v>0.275</c:v>
                </c:pt>
                <c:pt idx="192">
                  <c:v>0.3</c:v>
                </c:pt>
                <c:pt idx="193">
                  <c:v>0.325</c:v>
                </c:pt>
                <c:pt idx="194">
                  <c:v>0.35</c:v>
                </c:pt>
                <c:pt idx="195">
                  <c:v>0.375</c:v>
                </c:pt>
                <c:pt idx="196">
                  <c:v>0.4</c:v>
                </c:pt>
                <c:pt idx="197">
                  <c:v>0.425</c:v>
                </c:pt>
                <c:pt idx="198">
                  <c:v>0.45</c:v>
                </c:pt>
                <c:pt idx="199">
                  <c:v>0.475</c:v>
                </c:pt>
                <c:pt idx="200">
                  <c:v>0.5</c:v>
                </c:pt>
                <c:pt idx="201">
                  <c:v>0.525</c:v>
                </c:pt>
                <c:pt idx="202">
                  <c:v>0.55</c:v>
                </c:pt>
                <c:pt idx="203">
                  <c:v>0.575</c:v>
                </c:pt>
                <c:pt idx="204">
                  <c:v>0.6</c:v>
                </c:pt>
                <c:pt idx="205">
                  <c:v>0.625</c:v>
                </c:pt>
                <c:pt idx="206">
                  <c:v>0.65</c:v>
                </c:pt>
                <c:pt idx="207">
                  <c:v>0.675</c:v>
                </c:pt>
                <c:pt idx="208">
                  <c:v>0.7</c:v>
                </c:pt>
                <c:pt idx="209">
                  <c:v>0.725</c:v>
                </c:pt>
                <c:pt idx="210">
                  <c:v>0.75</c:v>
                </c:pt>
                <c:pt idx="211">
                  <c:v>0.775</c:v>
                </c:pt>
                <c:pt idx="212">
                  <c:v>0.8</c:v>
                </c:pt>
                <c:pt idx="213">
                  <c:v>0.825</c:v>
                </c:pt>
                <c:pt idx="214">
                  <c:v>0.85</c:v>
                </c:pt>
                <c:pt idx="215">
                  <c:v>0.875</c:v>
                </c:pt>
                <c:pt idx="216">
                  <c:v>0.9</c:v>
                </c:pt>
                <c:pt idx="217">
                  <c:v>0.925</c:v>
                </c:pt>
                <c:pt idx="218">
                  <c:v>0.95</c:v>
                </c:pt>
                <c:pt idx="219">
                  <c:v>0.975</c:v>
                </c:pt>
                <c:pt idx="220">
                  <c:v>1</c:v>
                </c:pt>
                <c:pt idx="221">
                  <c:v>1.025</c:v>
                </c:pt>
                <c:pt idx="222">
                  <c:v>1.05</c:v>
                </c:pt>
                <c:pt idx="223">
                  <c:v>1.075</c:v>
                </c:pt>
                <c:pt idx="224">
                  <c:v>1.1</c:v>
                </c:pt>
                <c:pt idx="225">
                  <c:v>1.125</c:v>
                </c:pt>
                <c:pt idx="226">
                  <c:v>1.15</c:v>
                </c:pt>
                <c:pt idx="227">
                  <c:v>1.175</c:v>
                </c:pt>
                <c:pt idx="228">
                  <c:v>1.2</c:v>
                </c:pt>
                <c:pt idx="229">
                  <c:v>1.225</c:v>
                </c:pt>
                <c:pt idx="230">
                  <c:v>1.25</c:v>
                </c:pt>
                <c:pt idx="231">
                  <c:v>1.275</c:v>
                </c:pt>
                <c:pt idx="232">
                  <c:v>1.3</c:v>
                </c:pt>
                <c:pt idx="233">
                  <c:v>1.325</c:v>
                </c:pt>
                <c:pt idx="234">
                  <c:v>1.35</c:v>
                </c:pt>
                <c:pt idx="235">
                  <c:v>1.375</c:v>
                </c:pt>
                <c:pt idx="236">
                  <c:v>1.4</c:v>
                </c:pt>
                <c:pt idx="237">
                  <c:v>1.425</c:v>
                </c:pt>
                <c:pt idx="238">
                  <c:v>1.45</c:v>
                </c:pt>
                <c:pt idx="239">
                  <c:v>1.475</c:v>
                </c:pt>
                <c:pt idx="240">
                  <c:v>1.5</c:v>
                </c:pt>
                <c:pt idx="241">
                  <c:v>1.525</c:v>
                </c:pt>
                <c:pt idx="242">
                  <c:v>1.55</c:v>
                </c:pt>
                <c:pt idx="243">
                  <c:v>1.575</c:v>
                </c:pt>
                <c:pt idx="244">
                  <c:v>1.6</c:v>
                </c:pt>
                <c:pt idx="245">
                  <c:v>1.625</c:v>
                </c:pt>
                <c:pt idx="246">
                  <c:v>1.65</c:v>
                </c:pt>
                <c:pt idx="247">
                  <c:v>1.675</c:v>
                </c:pt>
                <c:pt idx="248">
                  <c:v>1.7</c:v>
                </c:pt>
                <c:pt idx="249">
                  <c:v>1.725</c:v>
                </c:pt>
                <c:pt idx="250">
                  <c:v>1.75</c:v>
                </c:pt>
                <c:pt idx="251">
                  <c:v>1.775</c:v>
                </c:pt>
                <c:pt idx="252">
                  <c:v>1.8</c:v>
                </c:pt>
                <c:pt idx="253">
                  <c:v>1.825</c:v>
                </c:pt>
                <c:pt idx="254">
                  <c:v>1.85</c:v>
                </c:pt>
                <c:pt idx="255">
                  <c:v>1.875</c:v>
                </c:pt>
                <c:pt idx="256">
                  <c:v>1.9</c:v>
                </c:pt>
                <c:pt idx="257">
                  <c:v>1.925</c:v>
                </c:pt>
                <c:pt idx="258">
                  <c:v>1.95</c:v>
                </c:pt>
                <c:pt idx="259">
                  <c:v>1.975</c:v>
                </c:pt>
                <c:pt idx="260">
                  <c:v>2</c:v>
                </c:pt>
                <c:pt idx="261">
                  <c:v>2.025</c:v>
                </c:pt>
                <c:pt idx="262">
                  <c:v>2.05</c:v>
                </c:pt>
                <c:pt idx="263">
                  <c:v>2.075</c:v>
                </c:pt>
                <c:pt idx="264">
                  <c:v>2.1</c:v>
                </c:pt>
                <c:pt idx="265">
                  <c:v>2.125</c:v>
                </c:pt>
                <c:pt idx="266">
                  <c:v>2.15</c:v>
                </c:pt>
                <c:pt idx="267">
                  <c:v>2.175</c:v>
                </c:pt>
                <c:pt idx="268">
                  <c:v>2.2</c:v>
                </c:pt>
                <c:pt idx="269">
                  <c:v>2.225</c:v>
                </c:pt>
                <c:pt idx="270">
                  <c:v>2.25</c:v>
                </c:pt>
                <c:pt idx="271">
                  <c:v>2.275</c:v>
                </c:pt>
                <c:pt idx="272">
                  <c:v>2.3</c:v>
                </c:pt>
                <c:pt idx="273">
                  <c:v>2.325</c:v>
                </c:pt>
                <c:pt idx="274">
                  <c:v>2.35</c:v>
                </c:pt>
                <c:pt idx="275">
                  <c:v>2.375</c:v>
                </c:pt>
                <c:pt idx="276">
                  <c:v>2.4</c:v>
                </c:pt>
                <c:pt idx="277">
                  <c:v>2.425</c:v>
                </c:pt>
                <c:pt idx="278">
                  <c:v>2.45</c:v>
                </c:pt>
                <c:pt idx="279">
                  <c:v>2.475</c:v>
                </c:pt>
                <c:pt idx="280">
                  <c:v>2.5</c:v>
                </c:pt>
                <c:pt idx="281">
                  <c:v>2.525</c:v>
                </c:pt>
                <c:pt idx="282">
                  <c:v>2.55</c:v>
                </c:pt>
                <c:pt idx="283">
                  <c:v>2.575</c:v>
                </c:pt>
                <c:pt idx="284">
                  <c:v>2.6</c:v>
                </c:pt>
                <c:pt idx="285">
                  <c:v>2.625</c:v>
                </c:pt>
                <c:pt idx="286">
                  <c:v>2.65</c:v>
                </c:pt>
                <c:pt idx="287">
                  <c:v>2.675</c:v>
                </c:pt>
                <c:pt idx="288">
                  <c:v>2.7</c:v>
                </c:pt>
                <c:pt idx="289">
                  <c:v>2.725</c:v>
                </c:pt>
                <c:pt idx="290">
                  <c:v>2.75</c:v>
                </c:pt>
                <c:pt idx="291">
                  <c:v>2.775</c:v>
                </c:pt>
                <c:pt idx="292">
                  <c:v>2.8</c:v>
                </c:pt>
                <c:pt idx="293">
                  <c:v>2.825</c:v>
                </c:pt>
                <c:pt idx="294">
                  <c:v>2.85</c:v>
                </c:pt>
                <c:pt idx="295">
                  <c:v>2.875</c:v>
                </c:pt>
                <c:pt idx="296">
                  <c:v>2.9</c:v>
                </c:pt>
                <c:pt idx="297">
                  <c:v>2.925</c:v>
                </c:pt>
                <c:pt idx="298">
                  <c:v>2.95</c:v>
                </c:pt>
                <c:pt idx="299">
                  <c:v>2.975</c:v>
                </c:pt>
                <c:pt idx="300">
                  <c:v>3</c:v>
                </c:pt>
                <c:pt idx="301">
                  <c:v>3.025</c:v>
                </c:pt>
                <c:pt idx="302">
                  <c:v>3.05</c:v>
                </c:pt>
                <c:pt idx="303">
                  <c:v>3.075</c:v>
                </c:pt>
                <c:pt idx="304">
                  <c:v>3.1</c:v>
                </c:pt>
                <c:pt idx="305">
                  <c:v>3.125</c:v>
                </c:pt>
                <c:pt idx="306">
                  <c:v>3.15</c:v>
                </c:pt>
                <c:pt idx="307">
                  <c:v>3.175</c:v>
                </c:pt>
                <c:pt idx="308">
                  <c:v>3.2</c:v>
                </c:pt>
                <c:pt idx="309">
                  <c:v>3.225</c:v>
                </c:pt>
                <c:pt idx="310">
                  <c:v>3.25</c:v>
                </c:pt>
                <c:pt idx="311">
                  <c:v>3.275</c:v>
                </c:pt>
                <c:pt idx="312">
                  <c:v>3.3</c:v>
                </c:pt>
                <c:pt idx="313">
                  <c:v>3.325</c:v>
                </c:pt>
                <c:pt idx="314">
                  <c:v>3.35</c:v>
                </c:pt>
                <c:pt idx="315">
                  <c:v>3.375</c:v>
                </c:pt>
                <c:pt idx="316">
                  <c:v>3.4</c:v>
                </c:pt>
                <c:pt idx="317">
                  <c:v>3.425</c:v>
                </c:pt>
                <c:pt idx="318">
                  <c:v>3.45</c:v>
                </c:pt>
                <c:pt idx="319">
                  <c:v>3.475</c:v>
                </c:pt>
                <c:pt idx="320">
                  <c:v>3.5</c:v>
                </c:pt>
                <c:pt idx="321">
                  <c:v>3.525</c:v>
                </c:pt>
                <c:pt idx="322">
                  <c:v>3.55</c:v>
                </c:pt>
                <c:pt idx="323">
                  <c:v>3.575</c:v>
                </c:pt>
                <c:pt idx="324">
                  <c:v>3.6</c:v>
                </c:pt>
                <c:pt idx="325">
                  <c:v>3.625</c:v>
                </c:pt>
                <c:pt idx="326">
                  <c:v>3.65</c:v>
                </c:pt>
                <c:pt idx="327">
                  <c:v>3.675</c:v>
                </c:pt>
                <c:pt idx="328">
                  <c:v>3.7</c:v>
                </c:pt>
                <c:pt idx="329">
                  <c:v>3.725</c:v>
                </c:pt>
                <c:pt idx="330">
                  <c:v>3.75</c:v>
                </c:pt>
                <c:pt idx="331">
                  <c:v>3.775</c:v>
                </c:pt>
                <c:pt idx="332">
                  <c:v>3.8</c:v>
                </c:pt>
                <c:pt idx="333">
                  <c:v>3.825</c:v>
                </c:pt>
                <c:pt idx="334">
                  <c:v>3.85</c:v>
                </c:pt>
                <c:pt idx="335">
                  <c:v>3.875</c:v>
                </c:pt>
                <c:pt idx="336">
                  <c:v>3.9</c:v>
                </c:pt>
                <c:pt idx="337">
                  <c:v>3.925</c:v>
                </c:pt>
                <c:pt idx="338">
                  <c:v>3.95</c:v>
                </c:pt>
                <c:pt idx="339">
                  <c:v>3.975</c:v>
                </c:pt>
                <c:pt idx="340">
                  <c:v>4</c:v>
                </c:pt>
                <c:pt idx="341">
                  <c:v>4.025</c:v>
                </c:pt>
                <c:pt idx="342">
                  <c:v>4.05</c:v>
                </c:pt>
                <c:pt idx="343">
                  <c:v>4.075</c:v>
                </c:pt>
                <c:pt idx="344">
                  <c:v>4.1</c:v>
                </c:pt>
                <c:pt idx="345">
                  <c:v>4.125</c:v>
                </c:pt>
                <c:pt idx="346">
                  <c:v>4.15</c:v>
                </c:pt>
                <c:pt idx="347">
                  <c:v>4.175</c:v>
                </c:pt>
                <c:pt idx="348">
                  <c:v>4.2</c:v>
                </c:pt>
                <c:pt idx="349">
                  <c:v>4.225</c:v>
                </c:pt>
                <c:pt idx="350">
                  <c:v>4.25</c:v>
                </c:pt>
                <c:pt idx="351">
                  <c:v>4.275</c:v>
                </c:pt>
                <c:pt idx="352">
                  <c:v>4.3</c:v>
                </c:pt>
                <c:pt idx="353">
                  <c:v>4.325</c:v>
                </c:pt>
                <c:pt idx="354">
                  <c:v>4.35</c:v>
                </c:pt>
                <c:pt idx="355">
                  <c:v>4.375</c:v>
                </c:pt>
                <c:pt idx="356">
                  <c:v>4.4</c:v>
                </c:pt>
                <c:pt idx="357">
                  <c:v>4.425</c:v>
                </c:pt>
                <c:pt idx="358">
                  <c:v>4.45</c:v>
                </c:pt>
                <c:pt idx="359">
                  <c:v>4.475</c:v>
                </c:pt>
                <c:pt idx="360">
                  <c:v>4.5</c:v>
                </c:pt>
              </c:numCache>
            </c:numRef>
          </c:xVal>
          <c:yVal>
            <c:numRef>
              <c:f>'Chart Data'!$B$2:$B$362</c:f>
              <c:numCache>
                <c:formatCode>General</c:formatCode>
                <c:ptCount val="361"/>
                <c:pt idx="0">
                  <c:v>4.5</c:v>
                </c:pt>
                <c:pt idx="1">
                  <c:v>4.35125</c:v>
                </c:pt>
                <c:pt idx="2">
                  <c:v>4.205</c:v>
                </c:pt>
                <c:pt idx="3">
                  <c:v>4.06125</c:v>
                </c:pt>
                <c:pt idx="4">
                  <c:v>3.92</c:v>
                </c:pt>
                <c:pt idx="5">
                  <c:v>3.78125</c:v>
                </c:pt>
                <c:pt idx="6">
                  <c:v>3.645</c:v>
                </c:pt>
                <c:pt idx="7">
                  <c:v>3.51125</c:v>
                </c:pt>
                <c:pt idx="8">
                  <c:v>3.38</c:v>
                </c:pt>
                <c:pt idx="9">
                  <c:v>3.25125</c:v>
                </c:pt>
                <c:pt idx="10">
                  <c:v>3.125</c:v>
                </c:pt>
                <c:pt idx="11">
                  <c:v>3.00125</c:v>
                </c:pt>
                <c:pt idx="12">
                  <c:v>2.88</c:v>
                </c:pt>
                <c:pt idx="13">
                  <c:v>2.76125</c:v>
                </c:pt>
                <c:pt idx="14">
                  <c:v>2.645</c:v>
                </c:pt>
                <c:pt idx="15">
                  <c:v>2.53125</c:v>
                </c:pt>
                <c:pt idx="16">
                  <c:v>2.42</c:v>
                </c:pt>
                <c:pt idx="17">
                  <c:v>2.31125</c:v>
                </c:pt>
                <c:pt idx="18">
                  <c:v>2.205</c:v>
                </c:pt>
                <c:pt idx="19">
                  <c:v>2.10125</c:v>
                </c:pt>
                <c:pt idx="20">
                  <c:v>2</c:v>
                </c:pt>
                <c:pt idx="21">
                  <c:v>1.90125</c:v>
                </c:pt>
                <c:pt idx="22">
                  <c:v>1.805</c:v>
                </c:pt>
                <c:pt idx="23">
                  <c:v>1.71125</c:v>
                </c:pt>
                <c:pt idx="24">
                  <c:v>1.62</c:v>
                </c:pt>
                <c:pt idx="25">
                  <c:v>1.53125</c:v>
                </c:pt>
                <c:pt idx="26">
                  <c:v>1.445</c:v>
                </c:pt>
                <c:pt idx="27">
                  <c:v>1.36125</c:v>
                </c:pt>
                <c:pt idx="28">
                  <c:v>1.28</c:v>
                </c:pt>
                <c:pt idx="29">
                  <c:v>1.20125</c:v>
                </c:pt>
                <c:pt idx="30">
                  <c:v>1.125</c:v>
                </c:pt>
                <c:pt idx="31">
                  <c:v>1.05125</c:v>
                </c:pt>
                <c:pt idx="32">
                  <c:v>0.980000000000001</c:v>
                </c:pt>
                <c:pt idx="33">
                  <c:v>0.91125</c:v>
                </c:pt>
                <c:pt idx="34">
                  <c:v>0.845</c:v>
                </c:pt>
                <c:pt idx="35">
                  <c:v>0.78125</c:v>
                </c:pt>
                <c:pt idx="36">
                  <c:v>0.72</c:v>
                </c:pt>
                <c:pt idx="37">
                  <c:v>0.66125</c:v>
                </c:pt>
                <c:pt idx="38">
                  <c:v>0.605</c:v>
                </c:pt>
                <c:pt idx="39">
                  <c:v>0.55125</c:v>
                </c:pt>
                <c:pt idx="40">
                  <c:v>0.5</c:v>
                </c:pt>
                <c:pt idx="41">
                  <c:v>0.45125</c:v>
                </c:pt>
                <c:pt idx="42">
                  <c:v>0.405</c:v>
                </c:pt>
                <c:pt idx="43">
                  <c:v>0.36125</c:v>
                </c:pt>
                <c:pt idx="44">
                  <c:v>0.32</c:v>
                </c:pt>
                <c:pt idx="45">
                  <c:v>0.28125</c:v>
                </c:pt>
                <c:pt idx="46">
                  <c:v>0.245</c:v>
                </c:pt>
                <c:pt idx="47">
                  <c:v>0.21125</c:v>
                </c:pt>
                <c:pt idx="48">
                  <c:v>0.18</c:v>
                </c:pt>
                <c:pt idx="49">
                  <c:v>0.15125</c:v>
                </c:pt>
                <c:pt idx="50">
                  <c:v>0.125</c:v>
                </c:pt>
                <c:pt idx="51">
                  <c:v>0.10125</c:v>
                </c:pt>
                <c:pt idx="52">
                  <c:v>0.0800000000000001</c:v>
                </c:pt>
                <c:pt idx="53">
                  <c:v>0.0612499999999999</c:v>
                </c:pt>
                <c:pt idx="54">
                  <c:v>0.0450000000000001</c:v>
                </c:pt>
                <c:pt idx="55">
                  <c:v>3.125E-2</c:v>
                </c:pt>
                <c:pt idx="56">
                  <c:v>1.99999999999999E-2</c:v>
                </c:pt>
                <c:pt idx="57">
                  <c:v>1.12500000000001E-2</c:v>
                </c:pt>
                <c:pt idx="58">
                  <c:v>0.00499999999999996</c:v>
                </c:pt>
                <c:pt idx="59">
                  <c:v>1.25000000000001E-3</c:v>
                </c:pt>
                <c:pt idx="60">
                  <c:v>0</c:v>
                </c:pt>
                <c:pt idx="61">
                  <c:v>0.00124999999999999</c:v>
                </c:pt>
                <c:pt idx="62">
                  <c:v>0.00499999999999996</c:v>
                </c:pt>
                <c:pt idx="63">
                  <c:v>1.12500000000001E-2</c:v>
                </c:pt>
                <c:pt idx="64">
                  <c:v>0.02</c:v>
                </c:pt>
                <c:pt idx="65">
                  <c:v>3.125E-2</c:v>
                </c:pt>
                <c:pt idx="66">
                  <c:v>0.0449999999999999</c:v>
                </c:pt>
                <c:pt idx="67">
                  <c:v>0.0612499999999999</c:v>
                </c:pt>
                <c:pt idx="68">
                  <c:v>0.0800000000000001</c:v>
                </c:pt>
                <c:pt idx="69">
                  <c:v>0.10125</c:v>
                </c:pt>
                <c:pt idx="70">
                  <c:v>0.125</c:v>
                </c:pt>
                <c:pt idx="71">
                  <c:v>0.15125</c:v>
                </c:pt>
                <c:pt idx="72">
                  <c:v>0.18</c:v>
                </c:pt>
                <c:pt idx="73">
                  <c:v>0.21125</c:v>
                </c:pt>
                <c:pt idx="74">
                  <c:v>0.245</c:v>
                </c:pt>
                <c:pt idx="75">
                  <c:v>0.28125</c:v>
                </c:pt>
                <c:pt idx="76">
                  <c:v>0.32</c:v>
                </c:pt>
                <c:pt idx="77">
                  <c:v>0.36125</c:v>
                </c:pt>
                <c:pt idx="78">
                  <c:v>0.405</c:v>
                </c:pt>
                <c:pt idx="79">
                  <c:v>0.45125</c:v>
                </c:pt>
                <c:pt idx="80">
                  <c:v>0.5</c:v>
                </c:pt>
                <c:pt idx="81">
                  <c:v>0.55125</c:v>
                </c:pt>
                <c:pt idx="82">
                  <c:v>0.605</c:v>
                </c:pt>
                <c:pt idx="83">
                  <c:v>0.66125</c:v>
                </c:pt>
                <c:pt idx="84">
                  <c:v>0.72</c:v>
                </c:pt>
                <c:pt idx="85">
                  <c:v>0.78125</c:v>
                </c:pt>
                <c:pt idx="86">
                  <c:v>0.845</c:v>
                </c:pt>
                <c:pt idx="87">
                  <c:v>0.91125</c:v>
                </c:pt>
                <c:pt idx="88">
                  <c:v>0.980000000000001</c:v>
                </c:pt>
                <c:pt idx="89">
                  <c:v>1.05125</c:v>
                </c:pt>
                <c:pt idx="90">
                  <c:v>1.125</c:v>
                </c:pt>
                <c:pt idx="91">
                  <c:v>1.20125</c:v>
                </c:pt>
                <c:pt idx="92">
                  <c:v>1.28</c:v>
                </c:pt>
                <c:pt idx="93">
                  <c:v>1.36125</c:v>
                </c:pt>
                <c:pt idx="94">
                  <c:v>1.445</c:v>
                </c:pt>
                <c:pt idx="95">
                  <c:v>1.53125</c:v>
                </c:pt>
                <c:pt idx="96">
                  <c:v>1.62</c:v>
                </c:pt>
                <c:pt idx="97">
                  <c:v>1.71125</c:v>
                </c:pt>
                <c:pt idx="98">
                  <c:v>1.805</c:v>
                </c:pt>
                <c:pt idx="99">
                  <c:v>1.90125</c:v>
                </c:pt>
                <c:pt idx="100">
                  <c:v>2</c:v>
                </c:pt>
                <c:pt idx="101">
                  <c:v>2.10125</c:v>
                </c:pt>
                <c:pt idx="102">
                  <c:v>2.205</c:v>
                </c:pt>
                <c:pt idx="103">
                  <c:v>2.31125</c:v>
                </c:pt>
                <c:pt idx="104">
                  <c:v>2.42</c:v>
                </c:pt>
                <c:pt idx="105">
                  <c:v>2.53125</c:v>
                </c:pt>
                <c:pt idx="106">
                  <c:v>2.645</c:v>
                </c:pt>
                <c:pt idx="107">
                  <c:v>2.76125</c:v>
                </c:pt>
                <c:pt idx="108">
                  <c:v>2.88</c:v>
                </c:pt>
                <c:pt idx="109">
                  <c:v>3.00125</c:v>
                </c:pt>
                <c:pt idx="110">
                  <c:v>3.125</c:v>
                </c:pt>
                <c:pt idx="111">
                  <c:v>3.25125</c:v>
                </c:pt>
                <c:pt idx="112">
                  <c:v>3.38</c:v>
                </c:pt>
                <c:pt idx="113">
                  <c:v>3.51125</c:v>
                </c:pt>
                <c:pt idx="114">
                  <c:v>3.645</c:v>
                </c:pt>
                <c:pt idx="115">
                  <c:v>3.78125</c:v>
                </c:pt>
                <c:pt idx="116">
                  <c:v>3.92</c:v>
                </c:pt>
                <c:pt idx="117">
                  <c:v>4.06125</c:v>
                </c:pt>
                <c:pt idx="118">
                  <c:v>4.205</c:v>
                </c:pt>
                <c:pt idx="119">
                  <c:v>4.35125</c:v>
                </c:pt>
                <c:pt idx="120">
                  <c:v>4.5</c:v>
                </c:pt>
                <c:pt idx="121">
                  <c:v>4.65125</c:v>
                </c:pt>
                <c:pt idx="122">
                  <c:v>4.805</c:v>
                </c:pt>
                <c:pt idx="123">
                  <c:v>4.96125</c:v>
                </c:pt>
                <c:pt idx="124">
                  <c:v>5.12</c:v>
                </c:pt>
                <c:pt idx="125">
                  <c:v>5.28125</c:v>
                </c:pt>
                <c:pt idx="126">
                  <c:v>5.445</c:v>
                </c:pt>
                <c:pt idx="127">
                  <c:v>5.61125</c:v>
                </c:pt>
                <c:pt idx="128">
                  <c:v>5.78</c:v>
                </c:pt>
                <c:pt idx="129">
                  <c:v>5.95125</c:v>
                </c:pt>
                <c:pt idx="130">
                  <c:v>6.125</c:v>
                </c:pt>
                <c:pt idx="131">
                  <c:v>6.30125</c:v>
                </c:pt>
                <c:pt idx="132">
                  <c:v>6.48</c:v>
                </c:pt>
                <c:pt idx="133">
                  <c:v>6.66125</c:v>
                </c:pt>
                <c:pt idx="134">
                  <c:v>6.845</c:v>
                </c:pt>
                <c:pt idx="135">
                  <c:v>7.03125</c:v>
                </c:pt>
                <c:pt idx="136">
                  <c:v>7.22</c:v>
                </c:pt>
                <c:pt idx="137">
                  <c:v>7.41125</c:v>
                </c:pt>
                <c:pt idx="138">
                  <c:v>7.605</c:v>
                </c:pt>
                <c:pt idx="139">
                  <c:v>7.80125</c:v>
                </c:pt>
                <c:pt idx="140">
                  <c:v>8</c:v>
                </c:pt>
                <c:pt idx="141">
                  <c:v>8.00125</c:v>
                </c:pt>
                <c:pt idx="142">
                  <c:v>8.005</c:v>
                </c:pt>
                <c:pt idx="143">
                  <c:v>8.01125</c:v>
                </c:pt>
                <c:pt idx="144">
                  <c:v>8.02</c:v>
                </c:pt>
                <c:pt idx="145">
                  <c:v>8.03125</c:v>
                </c:pt>
                <c:pt idx="146">
                  <c:v>8.045</c:v>
                </c:pt>
                <c:pt idx="147">
                  <c:v>8.06125</c:v>
                </c:pt>
                <c:pt idx="148">
                  <c:v>8.08</c:v>
                </c:pt>
                <c:pt idx="149">
                  <c:v>8.10125</c:v>
                </c:pt>
                <c:pt idx="150">
                  <c:v>8.125</c:v>
                </c:pt>
                <c:pt idx="151">
                  <c:v>8.15125</c:v>
                </c:pt>
                <c:pt idx="152">
                  <c:v>8.18</c:v>
                </c:pt>
                <c:pt idx="153">
                  <c:v>8.21125</c:v>
                </c:pt>
                <c:pt idx="154">
                  <c:v>8.245</c:v>
                </c:pt>
                <c:pt idx="155">
                  <c:v>8.28125</c:v>
                </c:pt>
                <c:pt idx="156">
                  <c:v>8.32</c:v>
                </c:pt>
                <c:pt idx="157">
                  <c:v>8.36125</c:v>
                </c:pt>
                <c:pt idx="158">
                  <c:v>8.405</c:v>
                </c:pt>
                <c:pt idx="159">
                  <c:v>8.45125</c:v>
                </c:pt>
                <c:pt idx="160">
                  <c:v>8.5</c:v>
                </c:pt>
                <c:pt idx="161">
                  <c:v>8.55125</c:v>
                </c:pt>
                <c:pt idx="162">
                  <c:v>8.605</c:v>
                </c:pt>
                <c:pt idx="163">
                  <c:v>8.66125</c:v>
                </c:pt>
                <c:pt idx="164">
                  <c:v>8.72</c:v>
                </c:pt>
                <c:pt idx="165">
                  <c:v>8.78125</c:v>
                </c:pt>
                <c:pt idx="166">
                  <c:v>8.845</c:v>
                </c:pt>
                <c:pt idx="167">
                  <c:v>8.91125</c:v>
                </c:pt>
                <c:pt idx="168">
                  <c:v>8.98</c:v>
                </c:pt>
                <c:pt idx="169">
                  <c:v>9.05125</c:v>
                </c:pt>
                <c:pt idx="170">
                  <c:v>9.125</c:v>
                </c:pt>
                <c:pt idx="171">
                  <c:v>9.20125</c:v>
                </c:pt>
                <c:pt idx="172">
                  <c:v>9.28</c:v>
                </c:pt>
                <c:pt idx="173">
                  <c:v>9.36125</c:v>
                </c:pt>
                <c:pt idx="174">
                  <c:v>9.445</c:v>
                </c:pt>
                <c:pt idx="175">
                  <c:v>9.53125</c:v>
                </c:pt>
                <c:pt idx="176">
                  <c:v>9.62</c:v>
                </c:pt>
                <c:pt idx="177">
                  <c:v>9.71125</c:v>
                </c:pt>
                <c:pt idx="178">
                  <c:v>9.805</c:v>
                </c:pt>
                <c:pt idx="179">
                  <c:v>9.90125</c:v>
                </c:pt>
                <c:pt idx="180">
                  <c:v>10</c:v>
                </c:pt>
                <c:pt idx="181">
                  <c:v>10.10125</c:v>
                </c:pt>
                <c:pt idx="182">
                  <c:v>10.205</c:v>
                </c:pt>
                <c:pt idx="183">
                  <c:v>10.31125</c:v>
                </c:pt>
                <c:pt idx="184">
                  <c:v>10.42</c:v>
                </c:pt>
                <c:pt idx="185">
                  <c:v>10.53125</c:v>
                </c:pt>
                <c:pt idx="186">
                  <c:v>10.645</c:v>
                </c:pt>
                <c:pt idx="187">
                  <c:v>10.76125</c:v>
                </c:pt>
                <c:pt idx="188">
                  <c:v>10.88</c:v>
                </c:pt>
                <c:pt idx="189">
                  <c:v>11.00125</c:v>
                </c:pt>
                <c:pt idx="190">
                  <c:v>11.125</c:v>
                </c:pt>
                <c:pt idx="191">
                  <c:v>11.25125</c:v>
                </c:pt>
                <c:pt idx="192">
                  <c:v>11.38</c:v>
                </c:pt>
                <c:pt idx="193">
                  <c:v>11.51125</c:v>
                </c:pt>
                <c:pt idx="194">
                  <c:v>11.645</c:v>
                </c:pt>
                <c:pt idx="195">
                  <c:v>11.78125</c:v>
                </c:pt>
                <c:pt idx="196">
                  <c:v>11.92</c:v>
                </c:pt>
                <c:pt idx="197">
                  <c:v>12.06125</c:v>
                </c:pt>
                <c:pt idx="198">
                  <c:v>12.205</c:v>
                </c:pt>
                <c:pt idx="199">
                  <c:v>12.35125</c:v>
                </c:pt>
                <c:pt idx="200">
                  <c:v>12.5</c:v>
                </c:pt>
                <c:pt idx="201">
                  <c:v>12.65125</c:v>
                </c:pt>
                <c:pt idx="202">
                  <c:v>12.805</c:v>
                </c:pt>
                <c:pt idx="203">
                  <c:v>12.96125</c:v>
                </c:pt>
                <c:pt idx="204">
                  <c:v>13.12</c:v>
                </c:pt>
                <c:pt idx="205">
                  <c:v>13.28125</c:v>
                </c:pt>
                <c:pt idx="206">
                  <c:v>13.445</c:v>
                </c:pt>
                <c:pt idx="207">
                  <c:v>13.61125</c:v>
                </c:pt>
                <c:pt idx="208">
                  <c:v>13.78</c:v>
                </c:pt>
                <c:pt idx="209">
                  <c:v>13.95125</c:v>
                </c:pt>
                <c:pt idx="210">
                  <c:v>14.125</c:v>
                </c:pt>
                <c:pt idx="211">
                  <c:v>14.30125</c:v>
                </c:pt>
                <c:pt idx="212">
                  <c:v>14.48</c:v>
                </c:pt>
                <c:pt idx="213">
                  <c:v>14.66125</c:v>
                </c:pt>
                <c:pt idx="214">
                  <c:v>14.845</c:v>
                </c:pt>
                <c:pt idx="215">
                  <c:v>15.03125</c:v>
                </c:pt>
                <c:pt idx="216">
                  <c:v>15.22</c:v>
                </c:pt>
                <c:pt idx="217">
                  <c:v>15.41125</c:v>
                </c:pt>
                <c:pt idx="218">
                  <c:v>15.605</c:v>
                </c:pt>
                <c:pt idx="219">
                  <c:v>15.80125</c:v>
                </c:pt>
                <c:pt idx="220">
                  <c:v>16</c:v>
                </c:pt>
                <c:pt idx="221">
                  <c:v>15.80125</c:v>
                </c:pt>
                <c:pt idx="222">
                  <c:v>15.605</c:v>
                </c:pt>
                <c:pt idx="223">
                  <c:v>15.41125</c:v>
                </c:pt>
                <c:pt idx="224">
                  <c:v>15.22</c:v>
                </c:pt>
                <c:pt idx="225">
                  <c:v>15.03125</c:v>
                </c:pt>
                <c:pt idx="226">
                  <c:v>14.845</c:v>
                </c:pt>
                <c:pt idx="227">
                  <c:v>14.66125</c:v>
                </c:pt>
                <c:pt idx="228">
                  <c:v>14.48</c:v>
                </c:pt>
                <c:pt idx="229">
                  <c:v>14.30125</c:v>
                </c:pt>
                <c:pt idx="230">
                  <c:v>14.125</c:v>
                </c:pt>
                <c:pt idx="231">
                  <c:v>13.95125</c:v>
                </c:pt>
                <c:pt idx="232">
                  <c:v>13.78</c:v>
                </c:pt>
                <c:pt idx="233">
                  <c:v>13.61125</c:v>
                </c:pt>
                <c:pt idx="234">
                  <c:v>13.445</c:v>
                </c:pt>
                <c:pt idx="235">
                  <c:v>13.28125</c:v>
                </c:pt>
                <c:pt idx="236">
                  <c:v>13.12</c:v>
                </c:pt>
                <c:pt idx="237">
                  <c:v>12.96125</c:v>
                </c:pt>
                <c:pt idx="238">
                  <c:v>12.805</c:v>
                </c:pt>
                <c:pt idx="239">
                  <c:v>12.65125</c:v>
                </c:pt>
                <c:pt idx="240">
                  <c:v>12.5</c:v>
                </c:pt>
                <c:pt idx="241">
                  <c:v>12.35125</c:v>
                </c:pt>
                <c:pt idx="242">
                  <c:v>12.205</c:v>
                </c:pt>
                <c:pt idx="243">
                  <c:v>12.06125</c:v>
                </c:pt>
                <c:pt idx="244">
                  <c:v>11.92</c:v>
                </c:pt>
                <c:pt idx="245">
                  <c:v>11.78125</c:v>
                </c:pt>
                <c:pt idx="246">
                  <c:v>11.645</c:v>
                </c:pt>
                <c:pt idx="247">
                  <c:v>11.51125</c:v>
                </c:pt>
                <c:pt idx="248">
                  <c:v>11.38</c:v>
                </c:pt>
                <c:pt idx="249">
                  <c:v>11.25125</c:v>
                </c:pt>
                <c:pt idx="250">
                  <c:v>11.125</c:v>
                </c:pt>
                <c:pt idx="251">
                  <c:v>11.00125</c:v>
                </c:pt>
                <c:pt idx="252">
                  <c:v>10.88</c:v>
                </c:pt>
                <c:pt idx="253">
                  <c:v>10.76125</c:v>
                </c:pt>
                <c:pt idx="254">
                  <c:v>10.645</c:v>
                </c:pt>
                <c:pt idx="255">
                  <c:v>10.53125</c:v>
                </c:pt>
                <c:pt idx="256">
                  <c:v>10.42</c:v>
                </c:pt>
                <c:pt idx="257">
                  <c:v>10.31125</c:v>
                </c:pt>
                <c:pt idx="258">
                  <c:v>10.205</c:v>
                </c:pt>
                <c:pt idx="259">
                  <c:v>10.10125</c:v>
                </c:pt>
                <c:pt idx="260">
                  <c:v>10</c:v>
                </c:pt>
                <c:pt idx="261">
                  <c:v>9.90125</c:v>
                </c:pt>
                <c:pt idx="262">
                  <c:v>9.805</c:v>
                </c:pt>
                <c:pt idx="263">
                  <c:v>9.71125</c:v>
                </c:pt>
                <c:pt idx="264">
                  <c:v>9.62</c:v>
                </c:pt>
                <c:pt idx="265">
                  <c:v>9.53125</c:v>
                </c:pt>
                <c:pt idx="266">
                  <c:v>9.445</c:v>
                </c:pt>
                <c:pt idx="267">
                  <c:v>9.36125</c:v>
                </c:pt>
                <c:pt idx="268">
                  <c:v>9.28</c:v>
                </c:pt>
                <c:pt idx="269">
                  <c:v>9.20125</c:v>
                </c:pt>
                <c:pt idx="270">
                  <c:v>9.125</c:v>
                </c:pt>
                <c:pt idx="271">
                  <c:v>9.05125</c:v>
                </c:pt>
                <c:pt idx="272">
                  <c:v>8.98</c:v>
                </c:pt>
                <c:pt idx="273">
                  <c:v>8.91125</c:v>
                </c:pt>
                <c:pt idx="274">
                  <c:v>8.845</c:v>
                </c:pt>
                <c:pt idx="275">
                  <c:v>8.78125</c:v>
                </c:pt>
                <c:pt idx="276">
                  <c:v>8.72</c:v>
                </c:pt>
                <c:pt idx="277">
                  <c:v>8.66125</c:v>
                </c:pt>
                <c:pt idx="278">
                  <c:v>8.605</c:v>
                </c:pt>
                <c:pt idx="279">
                  <c:v>8.55125</c:v>
                </c:pt>
                <c:pt idx="280">
                  <c:v>8.5</c:v>
                </c:pt>
                <c:pt idx="281">
                  <c:v>8.45125</c:v>
                </c:pt>
                <c:pt idx="282">
                  <c:v>8.405</c:v>
                </c:pt>
                <c:pt idx="283">
                  <c:v>8.36125</c:v>
                </c:pt>
                <c:pt idx="284">
                  <c:v>8.32</c:v>
                </c:pt>
                <c:pt idx="285">
                  <c:v>8.28125</c:v>
                </c:pt>
                <c:pt idx="286">
                  <c:v>8.245</c:v>
                </c:pt>
                <c:pt idx="287">
                  <c:v>8.21125</c:v>
                </c:pt>
                <c:pt idx="288">
                  <c:v>8.18</c:v>
                </c:pt>
                <c:pt idx="289">
                  <c:v>8.15125</c:v>
                </c:pt>
                <c:pt idx="290">
                  <c:v>8.125</c:v>
                </c:pt>
                <c:pt idx="291">
                  <c:v>8.10125</c:v>
                </c:pt>
                <c:pt idx="292">
                  <c:v>8.08</c:v>
                </c:pt>
                <c:pt idx="293">
                  <c:v>8.06125</c:v>
                </c:pt>
                <c:pt idx="294">
                  <c:v>8.045</c:v>
                </c:pt>
                <c:pt idx="295">
                  <c:v>8.03125</c:v>
                </c:pt>
                <c:pt idx="296">
                  <c:v>8.02</c:v>
                </c:pt>
                <c:pt idx="297">
                  <c:v>8.01125</c:v>
                </c:pt>
                <c:pt idx="298">
                  <c:v>8.005</c:v>
                </c:pt>
                <c:pt idx="299">
                  <c:v>8.00125</c:v>
                </c:pt>
                <c:pt idx="300">
                  <c:v>8</c:v>
                </c:pt>
                <c:pt idx="301">
                  <c:v>8.00125</c:v>
                </c:pt>
                <c:pt idx="302">
                  <c:v>8.005</c:v>
                </c:pt>
                <c:pt idx="303">
                  <c:v>8.01125</c:v>
                </c:pt>
                <c:pt idx="304">
                  <c:v>8.02</c:v>
                </c:pt>
                <c:pt idx="305">
                  <c:v>8.03125</c:v>
                </c:pt>
                <c:pt idx="306">
                  <c:v>8.045</c:v>
                </c:pt>
                <c:pt idx="307">
                  <c:v>8.06125</c:v>
                </c:pt>
                <c:pt idx="308">
                  <c:v>8.08</c:v>
                </c:pt>
                <c:pt idx="309">
                  <c:v>8.10125</c:v>
                </c:pt>
                <c:pt idx="310">
                  <c:v>8.125</c:v>
                </c:pt>
                <c:pt idx="311">
                  <c:v>8.15125</c:v>
                </c:pt>
                <c:pt idx="312">
                  <c:v>8.18</c:v>
                </c:pt>
                <c:pt idx="313">
                  <c:v>8.21125</c:v>
                </c:pt>
                <c:pt idx="314">
                  <c:v>8.245</c:v>
                </c:pt>
                <c:pt idx="315">
                  <c:v>8.28125</c:v>
                </c:pt>
                <c:pt idx="316">
                  <c:v>8.32</c:v>
                </c:pt>
                <c:pt idx="317">
                  <c:v>8.36125</c:v>
                </c:pt>
                <c:pt idx="318">
                  <c:v>8.405</c:v>
                </c:pt>
                <c:pt idx="319">
                  <c:v>8.45125</c:v>
                </c:pt>
                <c:pt idx="320">
                  <c:v>8.5</c:v>
                </c:pt>
                <c:pt idx="321">
                  <c:v>8.55125</c:v>
                </c:pt>
                <c:pt idx="322">
                  <c:v>8.605</c:v>
                </c:pt>
                <c:pt idx="323">
                  <c:v>8.66125</c:v>
                </c:pt>
                <c:pt idx="324">
                  <c:v>8.72</c:v>
                </c:pt>
                <c:pt idx="325">
                  <c:v>8.78125</c:v>
                </c:pt>
                <c:pt idx="326">
                  <c:v>8.845</c:v>
                </c:pt>
                <c:pt idx="327">
                  <c:v>8.91125</c:v>
                </c:pt>
                <c:pt idx="328">
                  <c:v>8.98</c:v>
                </c:pt>
                <c:pt idx="329">
                  <c:v>9.05125</c:v>
                </c:pt>
                <c:pt idx="330">
                  <c:v>9.125</c:v>
                </c:pt>
                <c:pt idx="331">
                  <c:v>9.20125</c:v>
                </c:pt>
                <c:pt idx="332">
                  <c:v>9.28</c:v>
                </c:pt>
                <c:pt idx="333">
                  <c:v>9.36125</c:v>
                </c:pt>
                <c:pt idx="334">
                  <c:v>9.445</c:v>
                </c:pt>
                <c:pt idx="335">
                  <c:v>9.53125</c:v>
                </c:pt>
                <c:pt idx="336">
                  <c:v>9.62</c:v>
                </c:pt>
                <c:pt idx="337">
                  <c:v>9.71125</c:v>
                </c:pt>
                <c:pt idx="338">
                  <c:v>9.805</c:v>
                </c:pt>
                <c:pt idx="339">
                  <c:v>9.90125</c:v>
                </c:pt>
                <c:pt idx="340">
                  <c:v>10</c:v>
                </c:pt>
                <c:pt idx="341">
                  <c:v>10.10125</c:v>
                </c:pt>
                <c:pt idx="342">
                  <c:v>10.205</c:v>
                </c:pt>
                <c:pt idx="343">
                  <c:v>10.31125</c:v>
                </c:pt>
                <c:pt idx="344">
                  <c:v>10.42</c:v>
                </c:pt>
                <c:pt idx="345">
                  <c:v>10.53125</c:v>
                </c:pt>
                <c:pt idx="346">
                  <c:v>10.645</c:v>
                </c:pt>
                <c:pt idx="347">
                  <c:v>10.76125</c:v>
                </c:pt>
                <c:pt idx="348">
                  <c:v>10.88</c:v>
                </c:pt>
                <c:pt idx="349">
                  <c:v>11.00125</c:v>
                </c:pt>
                <c:pt idx="350">
                  <c:v>11.125</c:v>
                </c:pt>
                <c:pt idx="351">
                  <c:v>11.25125</c:v>
                </c:pt>
                <c:pt idx="352">
                  <c:v>11.38</c:v>
                </c:pt>
                <c:pt idx="353">
                  <c:v>11.51125</c:v>
                </c:pt>
                <c:pt idx="354">
                  <c:v>11.645</c:v>
                </c:pt>
                <c:pt idx="355">
                  <c:v>11.78125</c:v>
                </c:pt>
                <c:pt idx="356">
                  <c:v>11.92</c:v>
                </c:pt>
                <c:pt idx="357">
                  <c:v>12.06125</c:v>
                </c:pt>
                <c:pt idx="358">
                  <c:v>12.205</c:v>
                </c:pt>
                <c:pt idx="359">
                  <c:v>12.35125</c:v>
                </c:pt>
                <c:pt idx="360">
                  <c:v>12.5</c:v>
                </c:pt>
              </c:numCache>
            </c:numRef>
          </c:yVal>
          <c:smooth val="1"/>
          <c:extLst>
            <c:ext xmlns:c16="http://schemas.microsoft.com/office/drawing/2014/chart" uri="{C3380CC4-5D6E-409C-BE32-E72D297353CC}">
              <c16:uniqueId val="{00000000-6413-4A4B-9AB9-AAA669FE2A9D}"/>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c:v>
                </c:pt>
              </c:numCache>
            </c:numRef>
          </c:yVal>
          <c:smooth val="1"/>
          <c:extLst>
            <c:ext xmlns:c16="http://schemas.microsoft.com/office/drawing/2014/chart" uri="{C3380CC4-5D6E-409C-BE32-E72D297353CC}">
              <c16:uniqueId val="{00000001-6413-4A4B-9AB9-AAA669FE2A9D}"/>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8</c:v>
                </c:pt>
              </c:numCache>
            </c:numRef>
          </c:yVal>
          <c:smooth val="1"/>
          <c:extLst>
            <c:ext xmlns:c16="http://schemas.microsoft.com/office/drawing/2014/chart" uri="{C3380CC4-5D6E-409C-BE32-E72D297353CC}">
              <c16:uniqueId val="{00000002-6413-4A4B-9AB9-AAA669FE2A9D}"/>
            </c:ext>
          </c:extLst>
        </c:ser>
        <c:ser>
          <c:idx val="3"/>
          <c:order val="3"/>
          <c:tx>
            <c:v>left GD steps</c:v>
          </c:tx>
          <c:spPr>
            <a:ln w="17145">
              <a:solidFill>
                <a:srgbClr val="326CB2"/>
              </a:solidFill>
            </a:ln>
          </c:spPr>
          <c:marker>
            <c:symbol val="none"/>
          </c:marker>
          <c:xVal>
            <c:numRef>
              <c:f>'Chart Data'!$G$2:$G$22</c:f>
              <c:numCache>
                <c:formatCode>General</c:formatCode>
                <c:ptCount val="21"/>
                <c:pt idx="0">
                  <c:v>-1.5</c:v>
                </c:pt>
                <c:pt idx="1">
                  <c:v>-1.8</c:v>
                </c:pt>
                <c:pt idx="2">
                  <c:v>-2.04</c:v>
                </c:pt>
                <c:pt idx="3">
                  <c:v>-2.232</c:v>
                </c:pt>
                <c:pt idx="4">
                  <c:v>-2.3856</c:v>
                </c:pt>
                <c:pt idx="5">
                  <c:v>-2.50848</c:v>
                </c:pt>
                <c:pt idx="6">
                  <c:v>-2.606784</c:v>
                </c:pt>
                <c:pt idx="7">
                  <c:v>-2.6854272</c:v>
                </c:pt>
                <c:pt idx="8">
                  <c:v>-2.74834176</c:v>
                </c:pt>
                <c:pt idx="9">
                  <c:v>-2.798673408</c:v>
                </c:pt>
                <c:pt idx="10">
                  <c:v>-2.8389387264</c:v>
                </c:pt>
                <c:pt idx="11">
                  <c:v>-2.87115098112</c:v>
                </c:pt>
                <c:pt idx="12">
                  <c:v>-2.896920784896</c:v>
                </c:pt>
                <c:pt idx="13">
                  <c:v>-2.9175366279168</c:v>
                </c:pt>
                <c:pt idx="14">
                  <c:v>-2.93402930233344</c:v>
                </c:pt>
                <c:pt idx="15">
                  <c:v>-2.94722344186675</c:v>
                </c:pt>
                <c:pt idx="16">
                  <c:v>-2.9577787534934</c:v>
                </c:pt>
                <c:pt idx="17">
                  <c:v>-2.96622300279472</c:v>
                </c:pt>
                <c:pt idx="18">
                  <c:v>-2.97297840223578</c:v>
                </c:pt>
                <c:pt idx="19">
                  <c:v>-2.97838272178862</c:v>
                </c:pt>
                <c:pt idx="20">
                  <c:v>-2.9827061774309</c:v>
                </c:pt>
              </c:numCache>
            </c:numRef>
          </c:xVal>
          <c:yVal>
            <c:numRef>
              <c:f>'Chart Data'!$H$2:$H$22</c:f>
              <c:numCache>
                <c:formatCode>General</c:formatCode>
                <c:ptCount val="21"/>
                <c:pt idx="0">
                  <c:v>4.5</c:v>
                </c:pt>
                <c:pt idx="1">
                  <c:v>2.88</c:v>
                </c:pt>
                <c:pt idx="2">
                  <c:v>1.8432</c:v>
                </c:pt>
                <c:pt idx="3">
                  <c:v>1.179648</c:v>
                </c:pt>
                <c:pt idx="4">
                  <c:v>0.75497472</c:v>
                </c:pt>
                <c:pt idx="5">
                  <c:v>0.4831838208</c:v>
                </c:pt>
                <c:pt idx="6">
                  <c:v>0.309237645312</c:v>
                </c:pt>
                <c:pt idx="7">
                  <c:v>0.19791209299968</c:v>
                </c:pt>
                <c:pt idx="8">
                  <c:v>0.126663739519795</c:v>
                </c:pt>
                <c:pt idx="9">
                  <c:v>0.081064793292669</c:v>
                </c:pt>
                <c:pt idx="10">
                  <c:v>0.0518814677073082</c:v>
                </c:pt>
                <c:pt idx="11">
                  <c:v>0.0332041393326772</c:v>
                </c:pt>
                <c:pt idx="12">
                  <c:v>0.0212506491729134</c:v>
                </c:pt>
                <c:pt idx="13">
                  <c:v>1.36004154706646E-2</c:v>
                </c:pt>
                <c:pt idx="14">
                  <c:v>0.00870426590122537</c:v>
                </c:pt>
                <c:pt idx="15">
                  <c:v>0.00557073017678426</c:v>
                </c:pt>
                <c:pt idx="16">
                  <c:v>0.00356526731314195</c:v>
                </c:pt>
                <c:pt idx="17">
                  <c:v>0.00228177108041083</c:v>
                </c:pt>
                <c:pt idx="18">
                  <c:v>0.00146033349146292</c:v>
                </c:pt>
                <c:pt idx="19">
                  <c:v>0.000934613434536269</c:v>
                </c:pt>
                <c:pt idx="20">
                  <c:v>0.000598152598103206</c:v>
                </c:pt>
              </c:numCache>
            </c:numRef>
          </c:yVal>
          <c:smooth val="1"/>
          <c:extLst>
            <c:ext xmlns:c16="http://schemas.microsoft.com/office/drawing/2014/chart" uri="{C3380CC4-5D6E-409C-BE32-E72D297353CC}">
              <c16:uniqueId val="{00000003-6413-4A4B-9AB9-AAA669FE2A9D}"/>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4.5</c:v>
                </c:pt>
              </c:numCache>
            </c:numRef>
          </c:yVal>
          <c:smooth val="1"/>
          <c:extLst>
            <c:ext xmlns:c16="http://schemas.microsoft.com/office/drawing/2014/chart" uri="{C3380CC4-5D6E-409C-BE32-E72D297353CC}">
              <c16:uniqueId val="{00000004-6413-4A4B-9AB9-AAA669FE2A9D}"/>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Data'!$K$2:$K$21</c:f>
              <c:numCache>
                <c:formatCode>General</c:formatCode>
                <c:ptCount val="20"/>
                <c:pt idx="0">
                  <c:v>-1.8</c:v>
                </c:pt>
                <c:pt idx="1">
                  <c:v>-2.04</c:v>
                </c:pt>
                <c:pt idx="2">
                  <c:v>-2.232</c:v>
                </c:pt>
                <c:pt idx="3">
                  <c:v>-2.3856</c:v>
                </c:pt>
                <c:pt idx="4">
                  <c:v>-2.50848</c:v>
                </c:pt>
                <c:pt idx="5">
                  <c:v>-2.606784</c:v>
                </c:pt>
                <c:pt idx="6">
                  <c:v>-2.6854272</c:v>
                </c:pt>
                <c:pt idx="7">
                  <c:v>-2.74834176</c:v>
                </c:pt>
                <c:pt idx="8">
                  <c:v>-2.798673408</c:v>
                </c:pt>
                <c:pt idx="9">
                  <c:v>-2.8389387264</c:v>
                </c:pt>
                <c:pt idx="10">
                  <c:v>-2.87115098112</c:v>
                </c:pt>
                <c:pt idx="11">
                  <c:v>-2.896920784896</c:v>
                </c:pt>
                <c:pt idx="12">
                  <c:v>-2.9175366279168</c:v>
                </c:pt>
                <c:pt idx="13">
                  <c:v>-2.93402930233344</c:v>
                </c:pt>
                <c:pt idx="14">
                  <c:v>-2.94722344186675</c:v>
                </c:pt>
                <c:pt idx="15">
                  <c:v>-2.9577787534934</c:v>
                </c:pt>
                <c:pt idx="16">
                  <c:v>-2.96622300279472</c:v>
                </c:pt>
                <c:pt idx="17">
                  <c:v>-2.97297840223578</c:v>
                </c:pt>
                <c:pt idx="18">
                  <c:v>-2.97838272178862</c:v>
                </c:pt>
                <c:pt idx="19">
                  <c:v>-2.9827061774309</c:v>
                </c:pt>
              </c:numCache>
            </c:numRef>
          </c:xVal>
          <c:yVal>
            <c:numRef>
              <c:f>'Chart Data'!$L$2:$L$21</c:f>
              <c:numCache>
                <c:formatCode>General</c:formatCode>
                <c:ptCount val="20"/>
                <c:pt idx="0">
                  <c:v>2.88</c:v>
                </c:pt>
                <c:pt idx="1">
                  <c:v>1.8432</c:v>
                </c:pt>
                <c:pt idx="2">
                  <c:v>1.179648</c:v>
                </c:pt>
                <c:pt idx="3">
                  <c:v>0.75497472</c:v>
                </c:pt>
                <c:pt idx="4">
                  <c:v>0.4831838208</c:v>
                </c:pt>
                <c:pt idx="5">
                  <c:v>0.309237645312</c:v>
                </c:pt>
                <c:pt idx="6">
                  <c:v>0.19791209299968</c:v>
                </c:pt>
                <c:pt idx="7">
                  <c:v>0.126663739519795</c:v>
                </c:pt>
                <c:pt idx="8">
                  <c:v>0.081064793292669</c:v>
                </c:pt>
                <c:pt idx="9">
                  <c:v>0.0518814677073082</c:v>
                </c:pt>
                <c:pt idx="10">
                  <c:v>0.0332041393326772</c:v>
                </c:pt>
                <c:pt idx="11">
                  <c:v>0.0212506491729134</c:v>
                </c:pt>
                <c:pt idx="12">
                  <c:v>1.36004154706646E-2</c:v>
                </c:pt>
                <c:pt idx="13">
                  <c:v>0.00870426590122537</c:v>
                </c:pt>
                <c:pt idx="14">
                  <c:v>0.00557073017678426</c:v>
                </c:pt>
                <c:pt idx="15">
                  <c:v>0.00356526731314195</c:v>
                </c:pt>
                <c:pt idx="16">
                  <c:v>0.00228177108041083</c:v>
                </c:pt>
                <c:pt idx="17">
                  <c:v>0.00146033349146292</c:v>
                </c:pt>
                <c:pt idx="18">
                  <c:v>0.000934613434536269</c:v>
                </c:pt>
                <c:pt idx="19">
                  <c:v>0.000598152598103206</c:v>
                </c:pt>
              </c:numCache>
            </c:numRef>
          </c:yVal>
          <c:smooth val="1"/>
          <c:extLst>
            <c:ext xmlns:c16="http://schemas.microsoft.com/office/drawing/2014/chart" uri="{C3380CC4-5D6E-409C-BE32-E72D297353CC}">
              <c16:uniqueId val="{00000005-6413-4A4B-9AB9-AAA669FE2A9D}"/>
            </c:ext>
          </c:extLst>
        </c:ser>
        <c:ser>
          <c:idx val="6"/>
          <c:order val="6"/>
          <c:tx>
            <c:v>right GD steps</c:v>
          </c:tx>
          <c:spPr>
            <a:ln w="17145">
              <a:solidFill>
                <a:srgbClr val="C45C28"/>
              </a:solidFill>
            </a:ln>
          </c:spPr>
          <c:marker>
            <c:symbol val="none"/>
          </c:marker>
          <c:xVal>
            <c:numRef>
              <c:f>'Chart Data'!$M$2:$M$22</c:f>
              <c:numCache>
                <c:formatCode>General</c:formatCode>
                <c:ptCount val="21"/>
                <c:pt idx="0">
                  <c:v>1.5</c:v>
                </c:pt>
                <c:pt idx="1">
                  <c:v>1.8</c:v>
                </c:pt>
                <c:pt idx="2">
                  <c:v>2.04</c:v>
                </c:pt>
                <c:pt idx="3">
                  <c:v>2.232</c:v>
                </c:pt>
                <c:pt idx="4">
                  <c:v>2.3856</c:v>
                </c:pt>
                <c:pt idx="5">
                  <c:v>2.50848</c:v>
                </c:pt>
                <c:pt idx="6">
                  <c:v>2.606784</c:v>
                </c:pt>
                <c:pt idx="7">
                  <c:v>2.6854272</c:v>
                </c:pt>
                <c:pt idx="8">
                  <c:v>2.74834176</c:v>
                </c:pt>
                <c:pt idx="9">
                  <c:v>2.798673408</c:v>
                </c:pt>
                <c:pt idx="10">
                  <c:v>2.8389387264</c:v>
                </c:pt>
                <c:pt idx="11">
                  <c:v>2.87115098112</c:v>
                </c:pt>
                <c:pt idx="12">
                  <c:v>2.896920784896</c:v>
                </c:pt>
                <c:pt idx="13">
                  <c:v>2.9175366279168</c:v>
                </c:pt>
                <c:pt idx="14">
                  <c:v>2.93402930233344</c:v>
                </c:pt>
                <c:pt idx="15">
                  <c:v>2.94722344186675</c:v>
                </c:pt>
                <c:pt idx="16">
                  <c:v>2.9577787534934</c:v>
                </c:pt>
                <c:pt idx="17">
                  <c:v>2.96622300279472</c:v>
                </c:pt>
                <c:pt idx="18">
                  <c:v>2.97297840223578</c:v>
                </c:pt>
                <c:pt idx="19">
                  <c:v>2.97838272178862</c:v>
                </c:pt>
                <c:pt idx="20">
                  <c:v>2.9827061774309</c:v>
                </c:pt>
              </c:numCache>
            </c:numRef>
          </c:xVal>
          <c:yVal>
            <c:numRef>
              <c:f>'Chart Data'!$N$2:$N$22</c:f>
              <c:numCache>
                <c:formatCode>General</c:formatCode>
                <c:ptCount val="21"/>
                <c:pt idx="0">
                  <c:v>12.5</c:v>
                </c:pt>
                <c:pt idx="1">
                  <c:v>10.88</c:v>
                </c:pt>
                <c:pt idx="2">
                  <c:v>9.8432</c:v>
                </c:pt>
                <c:pt idx="3">
                  <c:v>9.179648</c:v>
                </c:pt>
                <c:pt idx="4">
                  <c:v>8.75497472</c:v>
                </c:pt>
                <c:pt idx="5">
                  <c:v>8.4831838208</c:v>
                </c:pt>
                <c:pt idx="6">
                  <c:v>8.309237645312</c:v>
                </c:pt>
                <c:pt idx="7">
                  <c:v>8.19791209299968</c:v>
                </c:pt>
                <c:pt idx="8">
                  <c:v>8.1266637395198</c:v>
                </c:pt>
                <c:pt idx="9">
                  <c:v>8.08106479329267</c:v>
                </c:pt>
                <c:pt idx="10">
                  <c:v>8.05188146770731</c:v>
                </c:pt>
                <c:pt idx="11">
                  <c:v>8.03320413933268</c:v>
                </c:pt>
                <c:pt idx="12">
                  <c:v>8.02125064917291</c:v>
                </c:pt>
                <c:pt idx="13">
                  <c:v>8.01360041547066</c:v>
                </c:pt>
                <c:pt idx="14">
                  <c:v>8.00870426590123</c:v>
                </c:pt>
                <c:pt idx="15">
                  <c:v>8.00557073017678</c:v>
                </c:pt>
                <c:pt idx="16">
                  <c:v>8.00356526731314</c:v>
                </c:pt>
                <c:pt idx="17">
                  <c:v>8.00228177108041</c:v>
                </c:pt>
                <c:pt idx="18">
                  <c:v>8.00146033349146</c:v>
                </c:pt>
                <c:pt idx="19">
                  <c:v>8.00093461343454</c:v>
                </c:pt>
                <c:pt idx="20">
                  <c:v>8.0005981525981</c:v>
                </c:pt>
              </c:numCache>
            </c:numRef>
          </c:yVal>
          <c:smooth val="1"/>
          <c:extLst>
            <c:ext xmlns:c16="http://schemas.microsoft.com/office/drawing/2014/chart" uri="{C3380CC4-5D6E-409C-BE32-E72D297353CC}">
              <c16:uniqueId val="{00000006-6413-4A4B-9AB9-AAA669FE2A9D}"/>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12.5</c:v>
                </c:pt>
              </c:numCache>
            </c:numRef>
          </c:yVal>
          <c:smooth val="1"/>
          <c:extLst>
            <c:ext xmlns:c16="http://schemas.microsoft.com/office/drawing/2014/chart" uri="{C3380CC4-5D6E-409C-BE32-E72D297353CC}">
              <c16:uniqueId val="{00000007-6413-4A4B-9AB9-AAA669FE2A9D}"/>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Data'!$Q$2:$Q$21</c:f>
              <c:numCache>
                <c:formatCode>General</c:formatCode>
                <c:ptCount val="20"/>
                <c:pt idx="0">
                  <c:v>1.8</c:v>
                </c:pt>
                <c:pt idx="1">
                  <c:v>2.04</c:v>
                </c:pt>
                <c:pt idx="2">
                  <c:v>2.232</c:v>
                </c:pt>
                <c:pt idx="3">
                  <c:v>2.3856</c:v>
                </c:pt>
                <c:pt idx="4">
                  <c:v>2.50848</c:v>
                </c:pt>
                <c:pt idx="5">
                  <c:v>2.606784</c:v>
                </c:pt>
                <c:pt idx="6">
                  <c:v>2.6854272</c:v>
                </c:pt>
                <c:pt idx="7">
                  <c:v>2.74834176</c:v>
                </c:pt>
                <c:pt idx="8">
                  <c:v>2.798673408</c:v>
                </c:pt>
                <c:pt idx="9">
                  <c:v>2.8389387264</c:v>
                </c:pt>
                <c:pt idx="10">
                  <c:v>2.87115098112</c:v>
                </c:pt>
                <c:pt idx="11">
                  <c:v>2.896920784896</c:v>
                </c:pt>
                <c:pt idx="12">
                  <c:v>2.9175366279168</c:v>
                </c:pt>
                <c:pt idx="13">
                  <c:v>2.93402930233344</c:v>
                </c:pt>
                <c:pt idx="14">
                  <c:v>2.94722344186675</c:v>
                </c:pt>
                <c:pt idx="15">
                  <c:v>2.9577787534934</c:v>
                </c:pt>
                <c:pt idx="16">
                  <c:v>2.96622300279472</c:v>
                </c:pt>
                <c:pt idx="17">
                  <c:v>2.97297840223578</c:v>
                </c:pt>
                <c:pt idx="18">
                  <c:v>2.97838272178862</c:v>
                </c:pt>
                <c:pt idx="19">
                  <c:v>2.9827061774309</c:v>
                </c:pt>
              </c:numCache>
            </c:numRef>
          </c:xVal>
          <c:yVal>
            <c:numRef>
              <c:f>'Chart Data'!$R$2:$R$21</c:f>
              <c:numCache>
                <c:formatCode>General</c:formatCode>
                <c:ptCount val="20"/>
                <c:pt idx="0">
                  <c:v>10.88</c:v>
                </c:pt>
                <c:pt idx="1">
                  <c:v>9.8432</c:v>
                </c:pt>
                <c:pt idx="2">
                  <c:v>9.179648</c:v>
                </c:pt>
                <c:pt idx="3">
                  <c:v>8.75497472</c:v>
                </c:pt>
                <c:pt idx="4">
                  <c:v>8.4831838208</c:v>
                </c:pt>
                <c:pt idx="5">
                  <c:v>8.309237645312</c:v>
                </c:pt>
                <c:pt idx="6">
                  <c:v>8.19791209299968</c:v>
                </c:pt>
                <c:pt idx="7">
                  <c:v>8.1266637395198</c:v>
                </c:pt>
                <c:pt idx="8">
                  <c:v>8.08106479329267</c:v>
                </c:pt>
                <c:pt idx="9">
                  <c:v>8.05188146770731</c:v>
                </c:pt>
                <c:pt idx="10">
                  <c:v>8.03320413933268</c:v>
                </c:pt>
                <c:pt idx="11">
                  <c:v>8.02125064917291</c:v>
                </c:pt>
                <c:pt idx="12">
                  <c:v>8.01360041547066</c:v>
                </c:pt>
                <c:pt idx="13">
                  <c:v>8.00870426590123</c:v>
                </c:pt>
                <c:pt idx="14">
                  <c:v>8.00557073017678</c:v>
                </c:pt>
                <c:pt idx="15">
                  <c:v>8.00356526731314</c:v>
                </c:pt>
                <c:pt idx="16">
                  <c:v>8.00228177108041</c:v>
                </c:pt>
                <c:pt idx="17">
                  <c:v>8.00146033349146</c:v>
                </c:pt>
                <c:pt idx="18">
                  <c:v>8.00093461343454</c:v>
                </c:pt>
                <c:pt idx="19">
                  <c:v>8.0005981525981</c:v>
                </c:pt>
              </c:numCache>
            </c:numRef>
          </c:yVal>
          <c:smooth val="1"/>
          <c:extLst>
            <c:ext xmlns:c16="http://schemas.microsoft.com/office/drawing/2014/chart" uri="{C3380CC4-5D6E-409C-BE32-E72D297353CC}">
              <c16:uniqueId val="{00000008-6413-4A4B-9AB9-AAA669FE2A9D}"/>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-2.9827061774309</c:v>
                </c:pt>
              </c:numCache>
            </c:numRef>
          </c:xVal>
          <c:yVal>
            <c:numRef>
              <c:f>'Chart Data'!$T$2:$T$2</c:f>
              <c:numCache>
                <c:formatCode>General</c:formatCode>
                <c:ptCount val="1"/>
                <c:pt idx="0">
                  <c:v>0.000598152598103206</c:v>
                </c:pt>
              </c:numCache>
            </c:numRef>
          </c:yVal>
          <c:smooth val="1"/>
          <c:extLst>
            <c:ext xmlns:c16="http://schemas.microsoft.com/office/drawing/2014/chart" uri="{C3380CC4-5D6E-409C-BE32-E72D297353CC}">
              <c16:uniqueId val="{00000009-6413-4A4B-9AB9-AAA669FE2A9D}"/>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2.9827061774309</c:v>
                </c:pt>
              </c:numCache>
            </c:numRef>
          </c:xVal>
          <c:yVal>
            <c:numRef>
              <c:f>'Chart Data'!$V$2:$V$2</c:f>
              <c:numCache>
                <c:formatCode>General</c:formatCode>
                <c:ptCount val="1"/>
                <c:pt idx="0">
                  <c:v>8.0005981525981</c:v>
                </c:pt>
              </c:numCache>
            </c:numRef>
          </c:yVal>
          <c:smooth val="1"/>
          <c:extLst>
            <c:ext xmlns:c16="http://schemas.microsoft.com/office/drawing/2014/chart" uri="{C3380CC4-5D6E-409C-BE32-E72D297353CC}">
              <c16:uniqueId val="{0000000A-6413-4A4B-9AB9-AAA669FE2A9D}"/>
            </c:ext>
          </c:extLst>
        </c:ser>
        <c:dLbls>
          <c:showLegendKey val="0"/>
          <c:showVal val="0"/>
          <c:showCatName val="0"/>
          <c:showSerName val="0"/>
          <c:showPercent val="0"/>
          <c:showBubbleSize val="0"/>
        </c:dLbls>
        <c:axId val="48650112"/>
        <c:axId val="48672768"/>
      </c:scatterChart>
      <c:valAx>
        <c:axId val="48672768"/>
        <c:scaling>
          <c:orientation val="minMax"/>
          <c:max val="18"/>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Squared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4"/>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Logistic loss</c:v>
          </c:tx>
          <c:spPr>
            <a:ln w="30480">
              <a:solidFill>
                <a:srgbClr val="087F83"/>
              </a:solidFill>
            </a:ln>
          </c:spPr>
          <c:marker>
            <c:symbol val="none"/>
          </c:marker>
          <c:xVal>
            <c:numRef>
              <c:f>'Chart Data'!$A$2:$A$362</c:f>
              <c:numCache>
                <c:formatCode>General</c:formatCode>
                <c:ptCount val="361"/>
                <c:pt idx="0">
                  <c:v>-4.5</c:v>
                </c:pt>
                <c:pt idx="1">
                  <c:v>-4.475</c:v>
                </c:pt>
                <c:pt idx="2">
                  <c:v>-4.45</c:v>
                </c:pt>
                <c:pt idx="3">
                  <c:v>-4.425</c:v>
                </c:pt>
                <c:pt idx="4">
                  <c:v>-4.4</c:v>
                </c:pt>
                <c:pt idx="5">
                  <c:v>-4.375</c:v>
                </c:pt>
                <c:pt idx="6">
                  <c:v>-4.35</c:v>
                </c:pt>
                <c:pt idx="7">
                  <c:v>-4.325</c:v>
                </c:pt>
                <c:pt idx="8">
                  <c:v>-4.3</c:v>
                </c:pt>
                <c:pt idx="9">
                  <c:v>-4.275</c:v>
                </c:pt>
                <c:pt idx="10">
                  <c:v>-4.25</c:v>
                </c:pt>
                <c:pt idx="11">
                  <c:v>-4.225</c:v>
                </c:pt>
                <c:pt idx="12">
                  <c:v>-4.2</c:v>
                </c:pt>
                <c:pt idx="13">
                  <c:v>-4.175</c:v>
                </c:pt>
                <c:pt idx="14">
                  <c:v>-4.15</c:v>
                </c:pt>
                <c:pt idx="15">
                  <c:v>-4.125</c:v>
                </c:pt>
                <c:pt idx="16">
                  <c:v>-4.1</c:v>
                </c:pt>
                <c:pt idx="17">
                  <c:v>-4.075</c:v>
                </c:pt>
                <c:pt idx="18">
                  <c:v>-4.05</c:v>
                </c:pt>
                <c:pt idx="19">
                  <c:v>-4.025</c:v>
                </c:pt>
                <c:pt idx="20">
                  <c:v>-4</c:v>
                </c:pt>
                <c:pt idx="21">
                  <c:v>-3.975</c:v>
                </c:pt>
                <c:pt idx="22">
                  <c:v>-3.95</c:v>
                </c:pt>
                <c:pt idx="23">
                  <c:v>-3.925</c:v>
                </c:pt>
                <c:pt idx="24">
                  <c:v>-3.9</c:v>
                </c:pt>
                <c:pt idx="25">
                  <c:v>-3.875</c:v>
                </c:pt>
                <c:pt idx="26">
                  <c:v>-3.85</c:v>
                </c:pt>
                <c:pt idx="27">
                  <c:v>-3.825</c:v>
                </c:pt>
                <c:pt idx="28">
                  <c:v>-3.8</c:v>
                </c:pt>
                <c:pt idx="29">
                  <c:v>-3.775</c:v>
                </c:pt>
                <c:pt idx="30">
                  <c:v>-3.75</c:v>
                </c:pt>
                <c:pt idx="31">
                  <c:v>-3.725</c:v>
                </c:pt>
                <c:pt idx="32">
                  <c:v>-3.7</c:v>
                </c:pt>
                <c:pt idx="33">
                  <c:v>-3.675</c:v>
                </c:pt>
                <c:pt idx="34">
                  <c:v>-3.65</c:v>
                </c:pt>
                <c:pt idx="35">
                  <c:v>-3.625</c:v>
                </c:pt>
                <c:pt idx="36">
                  <c:v>-3.6</c:v>
                </c:pt>
                <c:pt idx="37">
                  <c:v>-3.575</c:v>
                </c:pt>
                <c:pt idx="38">
                  <c:v>-3.55</c:v>
                </c:pt>
                <c:pt idx="39">
                  <c:v>-3.525</c:v>
                </c:pt>
                <c:pt idx="40">
                  <c:v>-3.5</c:v>
                </c:pt>
                <c:pt idx="41">
                  <c:v>-3.475</c:v>
                </c:pt>
                <c:pt idx="42">
                  <c:v>-3.45</c:v>
                </c:pt>
                <c:pt idx="43">
                  <c:v>-3.425</c:v>
                </c:pt>
                <c:pt idx="44">
                  <c:v>-3.4</c:v>
                </c:pt>
                <c:pt idx="45">
                  <c:v>-3.375</c:v>
                </c:pt>
                <c:pt idx="46">
                  <c:v>-3.35</c:v>
                </c:pt>
                <c:pt idx="47">
                  <c:v>-3.325</c:v>
                </c:pt>
                <c:pt idx="48">
                  <c:v>-3.3</c:v>
                </c:pt>
                <c:pt idx="49">
                  <c:v>-3.275</c:v>
                </c:pt>
                <c:pt idx="50">
                  <c:v>-3.25</c:v>
                </c:pt>
                <c:pt idx="51">
                  <c:v>-3.225</c:v>
                </c:pt>
                <c:pt idx="52">
                  <c:v>-3.2</c:v>
                </c:pt>
                <c:pt idx="53">
                  <c:v>-3.175</c:v>
                </c:pt>
                <c:pt idx="54">
                  <c:v>-3.15</c:v>
                </c:pt>
                <c:pt idx="55">
                  <c:v>-3.125</c:v>
                </c:pt>
                <c:pt idx="56">
                  <c:v>-3.1</c:v>
                </c:pt>
                <c:pt idx="57">
                  <c:v>-3.075</c:v>
                </c:pt>
                <c:pt idx="58">
                  <c:v>-3.05</c:v>
                </c:pt>
                <c:pt idx="59">
                  <c:v>-3.025</c:v>
                </c:pt>
                <c:pt idx="60">
                  <c:v>-3</c:v>
                </c:pt>
                <c:pt idx="61">
                  <c:v>-2.975</c:v>
                </c:pt>
                <c:pt idx="62">
                  <c:v>-2.95</c:v>
                </c:pt>
                <c:pt idx="63">
                  <c:v>-2.925</c:v>
                </c:pt>
                <c:pt idx="64">
                  <c:v>-2.9</c:v>
                </c:pt>
                <c:pt idx="65">
                  <c:v>-2.875</c:v>
                </c:pt>
                <c:pt idx="66">
                  <c:v>-2.85</c:v>
                </c:pt>
                <c:pt idx="67">
                  <c:v>-2.825</c:v>
                </c:pt>
                <c:pt idx="68">
                  <c:v>-2.8</c:v>
                </c:pt>
                <c:pt idx="69">
                  <c:v>-2.775</c:v>
                </c:pt>
                <c:pt idx="70">
                  <c:v>-2.75</c:v>
                </c:pt>
                <c:pt idx="71">
                  <c:v>-2.725</c:v>
                </c:pt>
                <c:pt idx="72">
                  <c:v>-2.7</c:v>
                </c:pt>
                <c:pt idx="73">
                  <c:v>-2.675</c:v>
                </c:pt>
                <c:pt idx="74">
                  <c:v>-2.65</c:v>
                </c:pt>
                <c:pt idx="75">
                  <c:v>-2.625</c:v>
                </c:pt>
                <c:pt idx="76">
                  <c:v>-2.6</c:v>
                </c:pt>
                <c:pt idx="77">
                  <c:v>-2.575</c:v>
                </c:pt>
                <c:pt idx="78">
                  <c:v>-2.55</c:v>
                </c:pt>
                <c:pt idx="79">
                  <c:v>-2.525</c:v>
                </c:pt>
                <c:pt idx="80">
                  <c:v>-2.5</c:v>
                </c:pt>
                <c:pt idx="81">
                  <c:v>-2.475</c:v>
                </c:pt>
                <c:pt idx="82">
                  <c:v>-2.45</c:v>
                </c:pt>
                <c:pt idx="83">
                  <c:v>-2.425</c:v>
                </c:pt>
                <c:pt idx="84">
                  <c:v>-2.4</c:v>
                </c:pt>
                <c:pt idx="85">
                  <c:v>-2.375</c:v>
                </c:pt>
                <c:pt idx="86">
                  <c:v>-2.35</c:v>
                </c:pt>
                <c:pt idx="87">
                  <c:v>-2.325</c:v>
                </c:pt>
                <c:pt idx="88">
                  <c:v>-2.3</c:v>
                </c:pt>
                <c:pt idx="89">
                  <c:v>-2.275</c:v>
                </c:pt>
                <c:pt idx="90">
                  <c:v>-2.25</c:v>
                </c:pt>
                <c:pt idx="91">
                  <c:v>-2.225</c:v>
                </c:pt>
                <c:pt idx="92">
                  <c:v>-2.2</c:v>
                </c:pt>
                <c:pt idx="93">
                  <c:v>-2.175</c:v>
                </c:pt>
                <c:pt idx="94">
                  <c:v>-2.15</c:v>
                </c:pt>
                <c:pt idx="95">
                  <c:v>-2.125</c:v>
                </c:pt>
                <c:pt idx="96">
                  <c:v>-2.1</c:v>
                </c:pt>
                <c:pt idx="97">
                  <c:v>-2.075</c:v>
                </c:pt>
                <c:pt idx="98">
                  <c:v>-2.05</c:v>
                </c:pt>
                <c:pt idx="99">
                  <c:v>-2.025</c:v>
                </c:pt>
                <c:pt idx="100">
                  <c:v>-2</c:v>
                </c:pt>
                <c:pt idx="101">
                  <c:v>-1.975</c:v>
                </c:pt>
                <c:pt idx="102">
                  <c:v>-1.95</c:v>
                </c:pt>
                <c:pt idx="103">
                  <c:v>-1.925</c:v>
                </c:pt>
                <c:pt idx="104">
                  <c:v>-1.9</c:v>
                </c:pt>
                <c:pt idx="105">
                  <c:v>-1.875</c:v>
                </c:pt>
                <c:pt idx="106">
                  <c:v>-1.85</c:v>
                </c:pt>
                <c:pt idx="107">
                  <c:v>-1.825</c:v>
                </c:pt>
                <c:pt idx="108">
                  <c:v>-1.8</c:v>
                </c:pt>
                <c:pt idx="109">
                  <c:v>-1.775</c:v>
                </c:pt>
                <c:pt idx="110">
                  <c:v>-1.75</c:v>
                </c:pt>
                <c:pt idx="111">
                  <c:v>-1.725</c:v>
                </c:pt>
                <c:pt idx="112">
                  <c:v>-1.7</c:v>
                </c:pt>
                <c:pt idx="113">
                  <c:v>-1.675</c:v>
                </c:pt>
                <c:pt idx="114">
                  <c:v>-1.65</c:v>
                </c:pt>
                <c:pt idx="115">
                  <c:v>-1.625</c:v>
                </c:pt>
                <c:pt idx="116">
                  <c:v>-1.6</c:v>
                </c:pt>
                <c:pt idx="117">
                  <c:v>-1.575</c:v>
                </c:pt>
                <c:pt idx="118">
                  <c:v>-1.55</c:v>
                </c:pt>
                <c:pt idx="119">
                  <c:v>-1.525</c:v>
                </c:pt>
                <c:pt idx="120">
                  <c:v>-1.5</c:v>
                </c:pt>
                <c:pt idx="121">
                  <c:v>-1.475</c:v>
                </c:pt>
                <c:pt idx="122">
                  <c:v>-1.45</c:v>
                </c:pt>
                <c:pt idx="123">
                  <c:v>-1.425</c:v>
                </c:pt>
                <c:pt idx="124">
                  <c:v>-1.4</c:v>
                </c:pt>
                <c:pt idx="125">
                  <c:v>-1.375</c:v>
                </c:pt>
                <c:pt idx="126">
                  <c:v>-1.35</c:v>
                </c:pt>
                <c:pt idx="127">
                  <c:v>-1.325</c:v>
                </c:pt>
                <c:pt idx="128">
                  <c:v>-1.3</c:v>
                </c:pt>
                <c:pt idx="129">
                  <c:v>-1.275</c:v>
                </c:pt>
                <c:pt idx="130">
                  <c:v>-1.25</c:v>
                </c:pt>
                <c:pt idx="131">
                  <c:v>-1.225</c:v>
                </c:pt>
                <c:pt idx="132">
                  <c:v>-1.2</c:v>
                </c:pt>
                <c:pt idx="133">
                  <c:v>-1.175</c:v>
                </c:pt>
                <c:pt idx="134">
                  <c:v>-1.15</c:v>
                </c:pt>
                <c:pt idx="135">
                  <c:v>-1.125</c:v>
                </c:pt>
                <c:pt idx="136">
                  <c:v>-1.1</c:v>
                </c:pt>
                <c:pt idx="137">
                  <c:v>-1.075</c:v>
                </c:pt>
                <c:pt idx="138">
                  <c:v>-1.05</c:v>
                </c:pt>
                <c:pt idx="139">
                  <c:v>-1.025</c:v>
                </c:pt>
                <c:pt idx="140">
                  <c:v>-1</c:v>
                </c:pt>
                <c:pt idx="141">
                  <c:v>-0.975</c:v>
                </c:pt>
                <c:pt idx="142">
                  <c:v>-0.95</c:v>
                </c:pt>
                <c:pt idx="143">
                  <c:v>-0.925</c:v>
                </c:pt>
                <c:pt idx="144">
                  <c:v>-0.9</c:v>
                </c:pt>
                <c:pt idx="145">
                  <c:v>-0.875</c:v>
                </c:pt>
                <c:pt idx="146">
                  <c:v>-0.85</c:v>
                </c:pt>
                <c:pt idx="147">
                  <c:v>-0.825</c:v>
                </c:pt>
                <c:pt idx="148">
                  <c:v>-0.8</c:v>
                </c:pt>
                <c:pt idx="149">
                  <c:v>-0.775</c:v>
                </c:pt>
                <c:pt idx="150">
                  <c:v>-0.75</c:v>
                </c:pt>
                <c:pt idx="151">
                  <c:v>-0.725</c:v>
                </c:pt>
                <c:pt idx="152">
                  <c:v>-0.7</c:v>
                </c:pt>
                <c:pt idx="153">
                  <c:v>-0.675</c:v>
                </c:pt>
                <c:pt idx="154">
                  <c:v>-0.65</c:v>
                </c:pt>
                <c:pt idx="155">
                  <c:v>-0.625</c:v>
                </c:pt>
                <c:pt idx="156">
                  <c:v>-0.6</c:v>
                </c:pt>
                <c:pt idx="157">
                  <c:v>-0.575</c:v>
                </c:pt>
                <c:pt idx="158">
                  <c:v>-0.55</c:v>
                </c:pt>
                <c:pt idx="159">
                  <c:v>-0.525</c:v>
                </c:pt>
                <c:pt idx="160">
                  <c:v>-0.5</c:v>
                </c:pt>
                <c:pt idx="161">
                  <c:v>-0.475</c:v>
                </c:pt>
                <c:pt idx="162">
                  <c:v>-0.45</c:v>
                </c:pt>
                <c:pt idx="163">
                  <c:v>-0.425</c:v>
                </c:pt>
                <c:pt idx="164">
                  <c:v>-0.4</c:v>
                </c:pt>
                <c:pt idx="165">
                  <c:v>-0.375</c:v>
                </c:pt>
                <c:pt idx="166">
                  <c:v>-0.35</c:v>
                </c:pt>
                <c:pt idx="167">
                  <c:v>-0.325</c:v>
                </c:pt>
                <c:pt idx="168">
                  <c:v>-0.3</c:v>
                </c:pt>
                <c:pt idx="169">
                  <c:v>-0.275</c:v>
                </c:pt>
                <c:pt idx="170">
                  <c:v>-0.25</c:v>
                </c:pt>
                <c:pt idx="171">
                  <c:v>-0.225</c:v>
                </c:pt>
                <c:pt idx="172">
                  <c:v>-0.2</c:v>
                </c:pt>
                <c:pt idx="173">
                  <c:v>-0.175</c:v>
                </c:pt>
                <c:pt idx="174">
                  <c:v>-0.15</c:v>
                </c:pt>
                <c:pt idx="175">
                  <c:v>-0.125</c:v>
                </c:pt>
                <c:pt idx="176">
                  <c:v>-0.1</c:v>
                </c:pt>
                <c:pt idx="177">
                  <c:v>-0.075</c:v>
                </c:pt>
                <c:pt idx="178">
                  <c:v>-0.05</c:v>
                </c:pt>
                <c:pt idx="179">
                  <c:v>-0.025</c:v>
                </c:pt>
                <c:pt idx="180">
                  <c:v>0</c:v>
                </c:pt>
                <c:pt idx="181">
                  <c:v>0.025</c:v>
                </c:pt>
                <c:pt idx="182">
                  <c:v>0.05</c:v>
                </c:pt>
                <c:pt idx="183">
                  <c:v>0.075</c:v>
                </c:pt>
                <c:pt idx="184">
                  <c:v>0.1</c:v>
                </c:pt>
                <c:pt idx="185">
                  <c:v>0.125</c:v>
                </c:pt>
                <c:pt idx="186">
                  <c:v>0.15</c:v>
                </c:pt>
                <c:pt idx="187">
                  <c:v>0.175</c:v>
                </c:pt>
                <c:pt idx="188">
                  <c:v>0.2</c:v>
                </c:pt>
                <c:pt idx="189">
                  <c:v>0.225</c:v>
                </c:pt>
                <c:pt idx="190">
                  <c:v>0.25</c:v>
                </c:pt>
                <c:pt idx="191">
                  <c:v>0.275</c:v>
                </c:pt>
                <c:pt idx="192">
                  <c:v>0.3</c:v>
                </c:pt>
                <c:pt idx="193">
                  <c:v>0.325</c:v>
                </c:pt>
                <c:pt idx="194">
                  <c:v>0.35</c:v>
                </c:pt>
                <c:pt idx="195">
                  <c:v>0.375</c:v>
                </c:pt>
                <c:pt idx="196">
                  <c:v>0.4</c:v>
                </c:pt>
                <c:pt idx="197">
                  <c:v>0.425</c:v>
                </c:pt>
                <c:pt idx="198">
                  <c:v>0.45</c:v>
                </c:pt>
                <c:pt idx="199">
                  <c:v>0.475</c:v>
                </c:pt>
                <c:pt idx="200">
                  <c:v>0.5</c:v>
                </c:pt>
                <c:pt idx="201">
                  <c:v>0.525</c:v>
                </c:pt>
                <c:pt idx="202">
                  <c:v>0.55</c:v>
                </c:pt>
                <c:pt idx="203">
                  <c:v>0.575</c:v>
                </c:pt>
                <c:pt idx="204">
                  <c:v>0.6</c:v>
                </c:pt>
                <c:pt idx="205">
                  <c:v>0.625</c:v>
                </c:pt>
                <c:pt idx="206">
                  <c:v>0.65</c:v>
                </c:pt>
                <c:pt idx="207">
                  <c:v>0.675</c:v>
                </c:pt>
                <c:pt idx="208">
                  <c:v>0.7</c:v>
                </c:pt>
                <c:pt idx="209">
                  <c:v>0.725</c:v>
                </c:pt>
                <c:pt idx="210">
                  <c:v>0.75</c:v>
                </c:pt>
                <c:pt idx="211">
                  <c:v>0.775</c:v>
                </c:pt>
                <c:pt idx="212">
                  <c:v>0.8</c:v>
                </c:pt>
                <c:pt idx="213">
                  <c:v>0.825</c:v>
                </c:pt>
                <c:pt idx="214">
                  <c:v>0.85</c:v>
                </c:pt>
                <c:pt idx="215">
                  <c:v>0.875</c:v>
                </c:pt>
                <c:pt idx="216">
                  <c:v>0.9</c:v>
                </c:pt>
                <c:pt idx="217">
                  <c:v>0.925</c:v>
                </c:pt>
                <c:pt idx="218">
                  <c:v>0.95</c:v>
                </c:pt>
                <c:pt idx="219">
                  <c:v>0.975</c:v>
                </c:pt>
                <c:pt idx="220">
                  <c:v>1</c:v>
                </c:pt>
                <c:pt idx="221">
                  <c:v>1.025</c:v>
                </c:pt>
                <c:pt idx="222">
                  <c:v>1.05</c:v>
                </c:pt>
                <c:pt idx="223">
                  <c:v>1.075</c:v>
                </c:pt>
                <c:pt idx="224">
                  <c:v>1.1</c:v>
                </c:pt>
                <c:pt idx="225">
                  <c:v>1.125</c:v>
                </c:pt>
                <c:pt idx="226">
                  <c:v>1.15</c:v>
                </c:pt>
                <c:pt idx="227">
                  <c:v>1.175</c:v>
                </c:pt>
                <c:pt idx="228">
                  <c:v>1.2</c:v>
                </c:pt>
                <c:pt idx="229">
                  <c:v>1.225</c:v>
                </c:pt>
                <c:pt idx="230">
                  <c:v>1.25</c:v>
                </c:pt>
                <c:pt idx="231">
                  <c:v>1.275</c:v>
                </c:pt>
                <c:pt idx="232">
                  <c:v>1.3</c:v>
                </c:pt>
                <c:pt idx="233">
                  <c:v>1.325</c:v>
                </c:pt>
                <c:pt idx="234">
                  <c:v>1.35</c:v>
                </c:pt>
                <c:pt idx="235">
                  <c:v>1.375</c:v>
                </c:pt>
                <c:pt idx="236">
                  <c:v>1.4</c:v>
                </c:pt>
                <c:pt idx="237">
                  <c:v>1.425</c:v>
                </c:pt>
                <c:pt idx="238">
                  <c:v>1.45</c:v>
                </c:pt>
                <c:pt idx="239">
                  <c:v>1.475</c:v>
                </c:pt>
                <c:pt idx="240">
                  <c:v>1.5</c:v>
                </c:pt>
                <c:pt idx="241">
                  <c:v>1.525</c:v>
                </c:pt>
                <c:pt idx="242">
                  <c:v>1.55</c:v>
                </c:pt>
                <c:pt idx="243">
                  <c:v>1.575</c:v>
                </c:pt>
                <c:pt idx="244">
                  <c:v>1.6</c:v>
                </c:pt>
                <c:pt idx="245">
                  <c:v>1.625</c:v>
                </c:pt>
                <c:pt idx="246">
                  <c:v>1.65</c:v>
                </c:pt>
                <c:pt idx="247">
                  <c:v>1.675</c:v>
                </c:pt>
                <c:pt idx="248">
                  <c:v>1.7</c:v>
                </c:pt>
                <c:pt idx="249">
                  <c:v>1.725</c:v>
                </c:pt>
                <c:pt idx="250">
                  <c:v>1.75</c:v>
                </c:pt>
                <c:pt idx="251">
                  <c:v>1.775</c:v>
                </c:pt>
                <c:pt idx="252">
                  <c:v>1.8</c:v>
                </c:pt>
                <c:pt idx="253">
                  <c:v>1.825</c:v>
                </c:pt>
                <c:pt idx="254">
                  <c:v>1.85</c:v>
                </c:pt>
                <c:pt idx="255">
                  <c:v>1.875</c:v>
                </c:pt>
                <c:pt idx="256">
                  <c:v>1.9</c:v>
                </c:pt>
                <c:pt idx="257">
                  <c:v>1.925</c:v>
                </c:pt>
                <c:pt idx="258">
                  <c:v>1.95</c:v>
                </c:pt>
                <c:pt idx="259">
                  <c:v>1.975</c:v>
                </c:pt>
                <c:pt idx="260">
                  <c:v>2</c:v>
                </c:pt>
                <c:pt idx="261">
                  <c:v>2.025</c:v>
                </c:pt>
                <c:pt idx="262">
                  <c:v>2.05</c:v>
                </c:pt>
                <c:pt idx="263">
                  <c:v>2.075</c:v>
                </c:pt>
                <c:pt idx="264">
                  <c:v>2.1</c:v>
                </c:pt>
                <c:pt idx="265">
                  <c:v>2.125</c:v>
                </c:pt>
                <c:pt idx="266">
                  <c:v>2.15</c:v>
                </c:pt>
                <c:pt idx="267">
                  <c:v>2.175</c:v>
                </c:pt>
                <c:pt idx="268">
                  <c:v>2.2</c:v>
                </c:pt>
                <c:pt idx="269">
                  <c:v>2.225</c:v>
                </c:pt>
                <c:pt idx="270">
                  <c:v>2.25</c:v>
                </c:pt>
                <c:pt idx="271">
                  <c:v>2.275</c:v>
                </c:pt>
                <c:pt idx="272">
                  <c:v>2.3</c:v>
                </c:pt>
                <c:pt idx="273">
                  <c:v>2.325</c:v>
                </c:pt>
                <c:pt idx="274">
                  <c:v>2.35</c:v>
                </c:pt>
                <c:pt idx="275">
                  <c:v>2.375</c:v>
                </c:pt>
                <c:pt idx="276">
                  <c:v>2.4</c:v>
                </c:pt>
                <c:pt idx="277">
                  <c:v>2.425</c:v>
                </c:pt>
                <c:pt idx="278">
                  <c:v>2.45</c:v>
                </c:pt>
                <c:pt idx="279">
                  <c:v>2.475</c:v>
                </c:pt>
                <c:pt idx="280">
                  <c:v>2.5</c:v>
                </c:pt>
                <c:pt idx="281">
                  <c:v>2.525</c:v>
                </c:pt>
                <c:pt idx="282">
                  <c:v>2.55</c:v>
                </c:pt>
                <c:pt idx="283">
                  <c:v>2.575</c:v>
                </c:pt>
                <c:pt idx="284">
                  <c:v>2.6</c:v>
                </c:pt>
                <c:pt idx="285">
                  <c:v>2.625</c:v>
                </c:pt>
                <c:pt idx="286">
                  <c:v>2.65</c:v>
                </c:pt>
                <c:pt idx="287">
                  <c:v>2.675</c:v>
                </c:pt>
                <c:pt idx="288">
                  <c:v>2.7</c:v>
                </c:pt>
                <c:pt idx="289">
                  <c:v>2.725</c:v>
                </c:pt>
                <c:pt idx="290">
                  <c:v>2.75</c:v>
                </c:pt>
                <c:pt idx="291">
                  <c:v>2.775</c:v>
                </c:pt>
                <c:pt idx="292">
                  <c:v>2.8</c:v>
                </c:pt>
                <c:pt idx="293">
                  <c:v>2.825</c:v>
                </c:pt>
                <c:pt idx="294">
                  <c:v>2.85</c:v>
                </c:pt>
                <c:pt idx="295">
                  <c:v>2.875</c:v>
                </c:pt>
                <c:pt idx="296">
                  <c:v>2.9</c:v>
                </c:pt>
                <c:pt idx="297">
                  <c:v>2.925</c:v>
                </c:pt>
                <c:pt idx="298">
                  <c:v>2.95</c:v>
                </c:pt>
                <c:pt idx="299">
                  <c:v>2.975</c:v>
                </c:pt>
                <c:pt idx="300">
                  <c:v>3</c:v>
                </c:pt>
                <c:pt idx="301">
                  <c:v>3.025</c:v>
                </c:pt>
                <c:pt idx="302">
                  <c:v>3.05</c:v>
                </c:pt>
                <c:pt idx="303">
                  <c:v>3.075</c:v>
                </c:pt>
                <c:pt idx="304">
                  <c:v>3.1</c:v>
                </c:pt>
                <c:pt idx="305">
                  <c:v>3.125</c:v>
                </c:pt>
                <c:pt idx="306">
                  <c:v>3.15</c:v>
                </c:pt>
                <c:pt idx="307">
                  <c:v>3.175</c:v>
                </c:pt>
                <c:pt idx="308">
                  <c:v>3.2</c:v>
                </c:pt>
                <c:pt idx="309">
                  <c:v>3.225</c:v>
                </c:pt>
                <c:pt idx="310">
                  <c:v>3.25</c:v>
                </c:pt>
                <c:pt idx="311">
                  <c:v>3.275</c:v>
                </c:pt>
                <c:pt idx="312">
                  <c:v>3.3</c:v>
                </c:pt>
                <c:pt idx="313">
                  <c:v>3.325</c:v>
                </c:pt>
                <c:pt idx="314">
                  <c:v>3.35</c:v>
                </c:pt>
                <c:pt idx="315">
                  <c:v>3.375</c:v>
                </c:pt>
                <c:pt idx="316">
                  <c:v>3.4</c:v>
                </c:pt>
                <c:pt idx="317">
                  <c:v>3.425</c:v>
                </c:pt>
                <c:pt idx="318">
                  <c:v>3.45</c:v>
                </c:pt>
                <c:pt idx="319">
                  <c:v>3.475</c:v>
                </c:pt>
                <c:pt idx="320">
                  <c:v>3.5</c:v>
                </c:pt>
                <c:pt idx="321">
                  <c:v>3.525</c:v>
                </c:pt>
                <c:pt idx="322">
                  <c:v>3.55</c:v>
                </c:pt>
                <c:pt idx="323">
                  <c:v>3.575</c:v>
                </c:pt>
                <c:pt idx="324">
                  <c:v>3.6</c:v>
                </c:pt>
                <c:pt idx="325">
                  <c:v>3.625</c:v>
                </c:pt>
                <c:pt idx="326">
                  <c:v>3.65</c:v>
                </c:pt>
                <c:pt idx="327">
                  <c:v>3.675</c:v>
                </c:pt>
                <c:pt idx="328">
                  <c:v>3.7</c:v>
                </c:pt>
                <c:pt idx="329">
                  <c:v>3.725</c:v>
                </c:pt>
                <c:pt idx="330">
                  <c:v>3.75</c:v>
                </c:pt>
                <c:pt idx="331">
                  <c:v>3.775</c:v>
                </c:pt>
                <c:pt idx="332">
                  <c:v>3.8</c:v>
                </c:pt>
                <c:pt idx="333">
                  <c:v>3.825</c:v>
                </c:pt>
                <c:pt idx="334">
                  <c:v>3.85</c:v>
                </c:pt>
                <c:pt idx="335">
                  <c:v>3.875</c:v>
                </c:pt>
                <c:pt idx="336">
                  <c:v>3.9</c:v>
                </c:pt>
                <c:pt idx="337">
                  <c:v>3.925</c:v>
                </c:pt>
                <c:pt idx="338">
                  <c:v>3.95</c:v>
                </c:pt>
                <c:pt idx="339">
                  <c:v>3.975</c:v>
                </c:pt>
                <c:pt idx="340">
                  <c:v>4</c:v>
                </c:pt>
                <c:pt idx="341">
                  <c:v>4.025</c:v>
                </c:pt>
                <c:pt idx="342">
                  <c:v>4.05</c:v>
                </c:pt>
                <c:pt idx="343">
                  <c:v>4.075</c:v>
                </c:pt>
                <c:pt idx="344">
                  <c:v>4.1</c:v>
                </c:pt>
                <c:pt idx="345">
                  <c:v>4.125</c:v>
                </c:pt>
                <c:pt idx="346">
                  <c:v>4.15</c:v>
                </c:pt>
                <c:pt idx="347">
                  <c:v>4.175</c:v>
                </c:pt>
                <c:pt idx="348">
                  <c:v>4.2</c:v>
                </c:pt>
                <c:pt idx="349">
                  <c:v>4.225</c:v>
                </c:pt>
                <c:pt idx="350">
                  <c:v>4.25</c:v>
                </c:pt>
                <c:pt idx="351">
                  <c:v>4.275</c:v>
                </c:pt>
                <c:pt idx="352">
                  <c:v>4.3</c:v>
                </c:pt>
                <c:pt idx="353">
                  <c:v>4.325</c:v>
                </c:pt>
                <c:pt idx="354">
                  <c:v>4.35</c:v>
                </c:pt>
                <c:pt idx="355">
                  <c:v>4.375</c:v>
                </c:pt>
                <c:pt idx="356">
                  <c:v>4.4</c:v>
                </c:pt>
                <c:pt idx="357">
                  <c:v>4.425</c:v>
                </c:pt>
                <c:pt idx="358">
                  <c:v>4.45</c:v>
                </c:pt>
                <c:pt idx="359">
                  <c:v>4.475</c:v>
                </c:pt>
                <c:pt idx="360">
                  <c:v>4.5</c:v>
                </c:pt>
              </c:numCache>
            </c:numRef>
          </c:xVal>
          <c:yVal>
            <c:numRef>
              <c:f>'Chart Data'!$B$2:$B$362</c:f>
              <c:numCache>
                <c:formatCode>General</c:formatCode>
                <c:ptCount val="361"/>
                <c:pt idx="0">
                  <c:v>1.05296671847266</c:v>
                </c:pt>
                <c:pt idx="1">
                  <c:v>1.03939733960131</c:v>
                </c:pt>
                <c:pt idx="2">
                  <c:v>1.02602046845101</c:v>
                </c:pt>
                <c:pt idx="3">
                  <c:v>1.01283789972669</c:v>
                </c:pt>
                <c:pt idx="4">
                  <c:v>0.999851404553903</c:v>
                </c:pt>
                <c:pt idx="5">
                  <c:v>0.987062729614779</c:v>
                </c:pt>
                <c:pt idx="6">
                  <c:v>0.974473596313619</c:v>
                </c:pt>
                <c:pt idx="7">
                  <c:v>0.962085699973652</c:v>
                </c:pt>
                <c:pt idx="8">
                  <c:v>0.94990070906649</c:v>
                </c:pt>
                <c:pt idx="9">
                  <c:v>0.937920264475669</c:v>
                </c:pt>
                <c:pt idx="10">
                  <c:v>0.926145978795591</c:v>
                </c:pt>
                <c:pt idx="11">
                  <c:v>0.914579435667031</c:v>
                </c:pt>
                <c:pt idx="12">
                  <c:v>0.903222189150288</c:v>
                </c:pt>
                <c:pt idx="13">
                  <c:v>0.892075763136885</c:v>
                </c:pt>
                <c:pt idx="14">
                  <c:v>0.881141650800641</c:v>
                </c:pt>
                <c:pt idx="15">
                  <c:v>0.870421314088738</c:v>
                </c:pt>
                <c:pt idx="16">
                  <c:v>0.859916183253326</c:v>
                </c:pt>
                <c:pt idx="17">
                  <c:v>0.849627656423995</c:v>
                </c:pt>
                <c:pt idx="18">
                  <c:v>0.839557099221348</c:v>
                </c:pt>
                <c:pt idx="19">
                  <c:v>0.829705844411717</c:v>
                </c:pt>
                <c:pt idx="20">
                  <c:v>0.820075191602918</c:v>
                </c:pt>
                <c:pt idx="21">
                  <c:v>0.810666406980799</c:v>
                </c:pt>
                <c:pt idx="22">
                  <c:v>0.801480723086154</c:v>
                </c:pt>
                <c:pt idx="23">
                  <c:v>0.792519338631432</c:v>
                </c:pt>
                <c:pt idx="24">
                  <c:v>0.783783418356531</c:v>
                </c:pt>
                <c:pt idx="25">
                  <c:v>0.775274092922771</c:v>
                </c:pt>
                <c:pt idx="26">
                  <c:v>0.766992458844042</c:v>
                </c:pt>
                <c:pt idx="27">
                  <c:v>0.758939578453955</c:v>
                </c:pt>
                <c:pt idx="28">
                  <c:v>0.751116479907666</c:v>
                </c:pt>
                <c:pt idx="29">
                  <c:v>0.743524157216947</c:v>
                </c:pt>
                <c:pt idx="30">
                  <c:v>0.736163570316931</c:v>
                </c:pt>
                <c:pt idx="31">
                  <c:v>0.729035645162822</c:v>
                </c:pt>
                <c:pt idx="32">
                  <c:v>0.722141273854793</c:v>
                </c:pt>
                <c:pt idx="33">
                  <c:v>0.71548131478914</c:v>
                </c:pt>
                <c:pt idx="34">
                  <c:v>0.709056592833709</c:v>
                </c:pt>
                <c:pt idx="35">
                  <c:v>0.702867899525499</c:v>
                </c:pt>
                <c:pt idx="36">
                  <c:v>0.696915993288291</c:v>
                </c:pt>
                <c:pt idx="37">
                  <c:v>0.691201599668081</c:v>
                </c:pt>
                <c:pt idx="38">
                  <c:v>0.685725411584034</c:v>
                </c:pt>
                <c:pt idx="39">
                  <c:v>0.680488089592659</c:v>
                </c:pt>
                <c:pt idx="40">
                  <c:v>0.675490262162859</c:v>
                </c:pt>
                <c:pt idx="41">
                  <c:v>0.670732525959494</c:v>
                </c:pt>
                <c:pt idx="42">
                  <c:v>0.666215446133097</c:v>
                </c:pt>
                <c:pt idx="43">
                  <c:v>0.661939556613404</c:v>
                </c:pt>
                <c:pt idx="44">
                  <c:v>0.657905360404336</c:v>
                </c:pt>
                <c:pt idx="45">
                  <c:v>0.654113329878167</c:v>
                </c:pt>
                <c:pt idx="46">
                  <c:v>0.650563907066591</c:v>
                </c:pt>
                <c:pt idx="47">
                  <c:v>0.647257503946519</c:v>
                </c:pt>
                <c:pt idx="48">
                  <c:v>0.64419450271845</c:v>
                </c:pt>
                <c:pt idx="49">
                  <c:v>0.641375256075378</c:v>
                </c:pt>
                <c:pt idx="50">
                  <c:v>0.638800087460273</c:v>
                </c:pt>
                <c:pt idx="51">
                  <c:v>0.636469291310267</c:v>
                </c:pt>
                <c:pt idx="52">
                  <c:v>0.634383133285809</c:v>
                </c:pt>
                <c:pt idx="53">
                  <c:v>0.632541850483139</c:v>
                </c:pt>
                <c:pt idx="54">
                  <c:v>0.630945651628594</c:v>
                </c:pt>
                <c:pt idx="55">
                  <c:v>0.62959471725337</c:v>
                </c:pt>
                <c:pt idx="56">
                  <c:v>0.628489199847519</c:v>
                </c:pt>
                <c:pt idx="57">
                  <c:v>0.627629223992102</c:v>
                </c:pt>
                <c:pt idx="58">
                  <c:v>0.627014886468595</c:v>
                </c:pt>
                <c:pt idx="59">
                  <c:v>0.626646256344766</c:v>
                </c:pt>
                <c:pt idx="60">
                  <c:v>0.626523375036446</c:v>
                </c:pt>
                <c:pt idx="61">
                  <c:v>0.626646256344766</c:v>
                </c:pt>
                <c:pt idx="62">
                  <c:v>0.627014886468595</c:v>
                </c:pt>
                <c:pt idx="63">
                  <c:v>0.627629223992102</c:v>
                </c:pt>
                <c:pt idx="64">
                  <c:v>0.628489199847519</c:v>
                </c:pt>
                <c:pt idx="65">
                  <c:v>0.62959471725337</c:v>
                </c:pt>
                <c:pt idx="66">
                  <c:v>0.630945651628594</c:v>
                </c:pt>
                <c:pt idx="67">
                  <c:v>0.632541850483139</c:v>
                </c:pt>
                <c:pt idx="68">
                  <c:v>0.634383133285809</c:v>
                </c:pt>
                <c:pt idx="69">
                  <c:v>0.636469291310267</c:v>
                </c:pt>
                <c:pt idx="70">
                  <c:v>0.638800087460273</c:v>
                </c:pt>
                <c:pt idx="71">
                  <c:v>0.641375256075378</c:v>
                </c:pt>
                <c:pt idx="72">
                  <c:v>0.64419450271845</c:v>
                </c:pt>
                <c:pt idx="73">
                  <c:v>0.647257503946519</c:v>
                </c:pt>
                <c:pt idx="74">
                  <c:v>0.650563907066591</c:v>
                </c:pt>
                <c:pt idx="75">
                  <c:v>0.654113329878167</c:v>
                </c:pt>
                <c:pt idx="76">
                  <c:v>0.657905360404337</c:v>
                </c:pt>
                <c:pt idx="77">
                  <c:v>0.661939556613404</c:v>
                </c:pt>
                <c:pt idx="78">
                  <c:v>0.666215446133097</c:v>
                </c:pt>
                <c:pt idx="79">
                  <c:v>0.670732525959494</c:v>
                </c:pt>
                <c:pt idx="80">
                  <c:v>0.675490262162859</c:v>
                </c:pt>
                <c:pt idx="81">
                  <c:v>0.680488089592659</c:v>
                </c:pt>
                <c:pt idx="82">
                  <c:v>0.685725411584034</c:v>
                </c:pt>
                <c:pt idx="83">
                  <c:v>0.691201599668081</c:v>
                </c:pt>
                <c:pt idx="84">
                  <c:v>0.696915993288291</c:v>
                </c:pt>
                <c:pt idx="85">
                  <c:v>0.702867899525499</c:v>
                </c:pt>
                <c:pt idx="86">
                  <c:v>0.709056592833709</c:v>
                </c:pt>
                <c:pt idx="87">
                  <c:v>0.71548131478914</c:v>
                </c:pt>
                <c:pt idx="88">
                  <c:v>0.722141273854793</c:v>
                </c:pt>
                <c:pt idx="89">
                  <c:v>0.729035645162822</c:v>
                </c:pt>
                <c:pt idx="90">
                  <c:v>0.736163570316931</c:v>
                </c:pt>
                <c:pt idx="91">
                  <c:v>0.743524157216948</c:v>
                </c:pt>
                <c:pt idx="92">
                  <c:v>0.751116479907666</c:v>
                </c:pt>
                <c:pt idx="93">
                  <c:v>0.758939578453955</c:v>
                </c:pt>
                <c:pt idx="94">
                  <c:v>0.766992458844042</c:v>
                </c:pt>
                <c:pt idx="95">
                  <c:v>0.775274092922771</c:v>
                </c:pt>
                <c:pt idx="96">
                  <c:v>0.783783418356532</c:v>
                </c:pt>
                <c:pt idx="97">
                  <c:v>0.792519338631432</c:v>
                </c:pt>
                <c:pt idx="98">
                  <c:v>0.801480723086154</c:v>
                </c:pt>
                <c:pt idx="99">
                  <c:v>0.810666406980799</c:v>
                </c:pt>
                <c:pt idx="100">
                  <c:v>0.820075191602918</c:v>
                </c:pt>
                <c:pt idx="101">
                  <c:v>0.829705844411717</c:v>
                </c:pt>
                <c:pt idx="102">
                  <c:v>0.839557099221348</c:v>
                </c:pt>
                <c:pt idx="103">
                  <c:v>0.849627656423995</c:v>
                </c:pt>
                <c:pt idx="104">
                  <c:v>0.859916183253326</c:v>
                </c:pt>
                <c:pt idx="105">
                  <c:v>0.870421314088738</c:v>
                </c:pt>
                <c:pt idx="106">
                  <c:v>0.881141650800641</c:v>
                </c:pt>
                <c:pt idx="107">
                  <c:v>0.892075763136885</c:v>
                </c:pt>
                <c:pt idx="108">
                  <c:v>0.903222189150288</c:v>
                </c:pt>
                <c:pt idx="109">
                  <c:v>0.914579435667031</c:v>
                </c:pt>
                <c:pt idx="110">
                  <c:v>0.926145978795591</c:v>
                </c:pt>
                <c:pt idx="111">
                  <c:v>0.937920264475669</c:v>
                </c:pt>
                <c:pt idx="112">
                  <c:v>0.94990070906649</c:v>
                </c:pt>
                <c:pt idx="113">
                  <c:v>0.962085699973652</c:v>
                </c:pt>
                <c:pt idx="114">
                  <c:v>0.974473596313619</c:v>
                </c:pt>
                <c:pt idx="115">
                  <c:v>0.987062729614779</c:v>
                </c:pt>
                <c:pt idx="116">
                  <c:v>0.999851404553902</c:v>
                </c:pt>
                <c:pt idx="117">
                  <c:v>1.01283789972669</c:v>
                </c:pt>
                <c:pt idx="118">
                  <c:v>1.02602046845101</c:v>
                </c:pt>
                <c:pt idx="119">
                  <c:v>1.03939733960131</c:v>
                </c:pt>
                <c:pt idx="120">
                  <c:v>1.05296671847266</c:v>
                </c:pt>
                <c:pt idx="121">
                  <c:v>1.06672678767257</c:v>
                </c:pt>
                <c:pt idx="122">
                  <c:v>1.08067570803913</c:v>
                </c:pt>
                <c:pt idx="123">
                  <c:v>1.09481161958326</c:v>
                </c:pt>
                <c:pt idx="124">
                  <c:v>1.10913264245356</c:v>
                </c:pt>
                <c:pt idx="125">
                  <c:v>1.12363687792149</c:v>
                </c:pt>
                <c:pt idx="126">
                  <c:v>1.13832240938522</c:v>
                </c:pt>
                <c:pt idx="127">
                  <c:v>1.15318730338982</c:v>
                </c:pt>
                <c:pt idx="128">
                  <c:v>1.16822961066205</c:v>
                </c:pt>
                <c:pt idx="129">
                  <c:v>1.18344736715749</c:v>
                </c:pt>
                <c:pt idx="130">
                  <c:v>1.1988385951181</c:v>
                </c:pt>
                <c:pt idx="131">
                  <c:v>1.21440130413802</c:v>
                </c:pt>
                <c:pt idx="132">
                  <c:v>1.23013349223575</c:v>
                </c:pt>
                <c:pt idx="133">
                  <c:v>1.24603314693046</c:v>
                </c:pt>
                <c:pt idx="134">
                  <c:v>1.26209824632068</c:v>
                </c:pt>
                <c:pt idx="135">
                  <c:v>1.27832676016313</c:v>
                </c:pt>
                <c:pt idx="136">
                  <c:v>1.29471665095005</c:v>
                </c:pt>
                <c:pt idx="137">
                  <c:v>1.31126587498285</c:v>
                </c:pt>
                <c:pt idx="138">
                  <c:v>1.32797238344049</c:v>
                </c:pt>
                <c:pt idx="139">
                  <c:v>1.34483412344063</c:v>
                </c:pt>
                <c:pt idx="140">
                  <c:v>1.36184903909196</c:v>
                </c:pt>
                <c:pt idx="141">
                  <c:v>1.3813865791748</c:v>
                </c:pt>
                <c:pt idx="142">
                  <c:v>1.40107445620718</c:v>
                </c:pt>
                <c:pt idx="143">
                  <c:v>1.42091188978988</c:v>
                </c:pt>
                <c:pt idx="144">
                  <c:v>1.44089810133339</c:v>
                </c:pt>
                <c:pt idx="145">
                  <c:v>1.46103231540639</c:v>
                </c:pt>
                <c:pt idx="146">
                  <c:v>1.48131376106488</c:v>
                </c:pt>
                <c:pt idx="147">
                  <c:v>1.50174167316046</c:v>
                </c:pt>
                <c:pt idx="148">
                  <c:v>1.522315293626</c:v>
                </c:pt>
                <c:pt idx="149">
                  <c:v>1.5430338727372</c:v>
                </c:pt>
                <c:pt idx="150">
                  <c:v>1.56389667034857</c:v>
                </c:pt>
                <c:pt idx="151">
                  <c:v>1.58490295710242</c:v>
                </c:pt>
                <c:pt idx="152">
                  <c:v>1.60605201560958</c:v>
                </c:pt>
                <c:pt idx="153">
                  <c:v>1.62734314160063</c:v>
                </c:pt>
                <c:pt idx="154">
                  <c:v>1.64877564504638</c:v>
                </c:pt>
                <c:pt idx="155">
                  <c:v>1.67034885124662</c:v>
                </c:pt>
                <c:pt idx="156">
                  <c:v>1.69206210188612</c:v>
                </c:pt>
                <c:pt idx="157">
                  <c:v>1.71391475605684</c:v>
                </c:pt>
                <c:pt idx="158">
                  <c:v>1.73590619124555</c:v>
                </c:pt>
                <c:pt idx="159">
                  <c:v>1.75803580428608</c:v>
                </c:pt>
                <c:pt idx="160">
                  <c:v>1.7803030122753</c:v>
                </c:pt>
                <c:pt idx="161">
                  <c:v>1.80270725345232</c:v>
                </c:pt>
                <c:pt idx="162">
                  <c:v>1.82524798804013</c:v>
                </c:pt>
                <c:pt idx="163">
                  <c:v>1.84792469904917</c:v>
                </c:pt>
                <c:pt idx="164">
                  <c:v>1.87073689304229</c:v>
                </c:pt>
                <c:pt idx="165">
                  <c:v>1.8936841008606</c:v>
                </c:pt>
                <c:pt idx="166">
                  <c:v>1.91676587830977</c:v>
                </c:pt>
                <c:pt idx="167">
                  <c:v>1.93998180680644</c:v>
                </c:pt>
                <c:pt idx="168">
                  <c:v>1.96333149398423</c:v>
                </c:pt>
                <c:pt idx="169">
                  <c:v>1.98681457425929</c:v>
                </c:pt>
                <c:pt idx="170">
                  <c:v>2.01043070935483</c:v>
                </c:pt>
                <c:pt idx="171">
                  <c:v>2.03417958878457</c:v>
                </c:pt>
                <c:pt idx="172">
                  <c:v>2.05806093029477</c:v>
                </c:pt>
                <c:pt idx="173">
                  <c:v>2.08207448026475</c:v>
                </c:pt>
                <c:pt idx="174">
                  <c:v>2.10622001406562</c:v>
                </c:pt>
                <c:pt idx="175">
                  <c:v>2.13049733637717</c:v>
                </c:pt>
                <c:pt idx="176">
                  <c:v>2.15490628146272</c:v>
                </c:pt>
                <c:pt idx="177">
                  <c:v>2.17944671340184</c:v>
                </c:pt>
                <c:pt idx="178">
                  <c:v>2.20411852628093</c:v>
                </c:pt>
                <c:pt idx="179">
                  <c:v>2.22892164434147</c:v>
                </c:pt>
                <c:pt idx="180">
                  <c:v>2.25385602208595</c:v>
                </c:pt>
                <c:pt idx="181">
                  <c:v>2.27892164434147</c:v>
                </c:pt>
                <c:pt idx="182">
                  <c:v>2.30411852628093</c:v>
                </c:pt>
                <c:pt idx="183">
                  <c:v>2.32944671340184</c:v>
                </c:pt>
                <c:pt idx="184">
                  <c:v>2.35490628146272</c:v>
                </c:pt>
                <c:pt idx="185">
                  <c:v>2.38049733637717</c:v>
                </c:pt>
                <c:pt idx="186">
                  <c:v>2.40622001406562</c:v>
                </c:pt>
                <c:pt idx="187">
                  <c:v>2.43207448026475</c:v>
                </c:pt>
                <c:pt idx="188">
                  <c:v>2.45806093029477</c:v>
                </c:pt>
                <c:pt idx="189">
                  <c:v>2.48417958878457</c:v>
                </c:pt>
                <c:pt idx="190">
                  <c:v>2.51043070935483</c:v>
                </c:pt>
                <c:pt idx="191">
                  <c:v>2.53681457425929</c:v>
                </c:pt>
                <c:pt idx="192">
                  <c:v>2.56333149398423</c:v>
                </c:pt>
                <c:pt idx="193">
                  <c:v>2.58998180680644</c:v>
                </c:pt>
                <c:pt idx="194">
                  <c:v>2.61676587830977</c:v>
                </c:pt>
                <c:pt idx="195">
                  <c:v>2.6436841008606</c:v>
                </c:pt>
                <c:pt idx="196">
                  <c:v>2.67073689304229</c:v>
                </c:pt>
                <c:pt idx="197">
                  <c:v>2.69792469904917</c:v>
                </c:pt>
                <c:pt idx="198">
                  <c:v>2.72524798804013</c:v>
                </c:pt>
                <c:pt idx="199">
                  <c:v>2.75270725345232</c:v>
                </c:pt>
                <c:pt idx="200">
                  <c:v>2.7803030122753</c:v>
                </c:pt>
                <c:pt idx="201">
                  <c:v>2.80803580428608</c:v>
                </c:pt>
                <c:pt idx="202">
                  <c:v>2.83590619124555</c:v>
                </c:pt>
                <c:pt idx="203">
                  <c:v>2.86391475605684</c:v>
                </c:pt>
                <c:pt idx="204">
                  <c:v>2.89206210188612</c:v>
                </c:pt>
                <c:pt idx="205">
                  <c:v>2.92034885124662</c:v>
                </c:pt>
                <c:pt idx="206">
                  <c:v>2.94877564504638</c:v>
                </c:pt>
                <c:pt idx="207">
                  <c:v>2.97734314160063</c:v>
                </c:pt>
                <c:pt idx="208">
                  <c:v>3.00605201560958</c:v>
                </c:pt>
                <c:pt idx="209">
                  <c:v>3.03490295710242</c:v>
                </c:pt>
                <c:pt idx="210">
                  <c:v>3.06389667034857</c:v>
                </c:pt>
                <c:pt idx="211">
                  <c:v>3.0930338727372</c:v>
                </c:pt>
                <c:pt idx="212">
                  <c:v>3.122315293626</c:v>
                </c:pt>
                <c:pt idx="213">
                  <c:v>3.15174167316046</c:v>
                </c:pt>
                <c:pt idx="214">
                  <c:v>3.18131376106488</c:v>
                </c:pt>
                <c:pt idx="215">
                  <c:v>3.21103231540639</c:v>
                </c:pt>
                <c:pt idx="216">
                  <c:v>3.24089810133339</c:v>
                </c:pt>
                <c:pt idx="217">
                  <c:v>3.27091188978988</c:v>
                </c:pt>
                <c:pt idx="218">
                  <c:v>3.30107445620718</c:v>
                </c:pt>
                <c:pt idx="219">
                  <c:v>3.3313865791748</c:v>
                </c:pt>
                <c:pt idx="220">
                  <c:v>3.36184903909197</c:v>
                </c:pt>
                <c:pt idx="221">
                  <c:v>3.34483412344063</c:v>
                </c:pt>
                <c:pt idx="222">
                  <c:v>3.32797238344049</c:v>
                </c:pt>
                <c:pt idx="223">
                  <c:v>3.31126587498285</c:v>
                </c:pt>
                <c:pt idx="224">
                  <c:v>3.29471665095005</c:v>
                </c:pt>
                <c:pt idx="225">
                  <c:v>3.27832676016313</c:v>
                </c:pt>
                <c:pt idx="226">
                  <c:v>3.26209824632068</c:v>
                </c:pt>
                <c:pt idx="227">
                  <c:v>3.24603314693046</c:v>
                </c:pt>
                <c:pt idx="228">
                  <c:v>3.23013349223575</c:v>
                </c:pt>
                <c:pt idx="229">
                  <c:v>3.21440130413802</c:v>
                </c:pt>
                <c:pt idx="230">
                  <c:v>3.1988385951181</c:v>
                </c:pt>
                <c:pt idx="231">
                  <c:v>3.18344736715749</c:v>
                </c:pt>
                <c:pt idx="232">
                  <c:v>3.16822961066205</c:v>
                </c:pt>
                <c:pt idx="233">
                  <c:v>3.15318730338982</c:v>
                </c:pt>
                <c:pt idx="234">
                  <c:v>3.13832240938522</c:v>
                </c:pt>
                <c:pt idx="235">
                  <c:v>3.12363687792149</c:v>
                </c:pt>
                <c:pt idx="236">
                  <c:v>3.10913264245356</c:v>
                </c:pt>
                <c:pt idx="237">
                  <c:v>3.09481161958326</c:v>
                </c:pt>
                <c:pt idx="238">
                  <c:v>3.08067570803913</c:v>
                </c:pt>
                <c:pt idx="239">
                  <c:v>3.06672678767257</c:v>
                </c:pt>
                <c:pt idx="240">
                  <c:v>3.05296671847266</c:v>
                </c:pt>
                <c:pt idx="241">
                  <c:v>3.03939733960131</c:v>
                </c:pt>
                <c:pt idx="242">
                  <c:v>3.02602046845101</c:v>
                </c:pt>
                <c:pt idx="243">
                  <c:v>3.01283789972669</c:v>
                </c:pt>
                <c:pt idx="244">
                  <c:v>2.9998514045539</c:v>
                </c:pt>
                <c:pt idx="245">
                  <c:v>2.98706272961478</c:v>
                </c:pt>
                <c:pt idx="246">
                  <c:v>2.97447359631362</c:v>
                </c:pt>
                <c:pt idx="247">
                  <c:v>2.96208569997365</c:v>
                </c:pt>
                <c:pt idx="248">
                  <c:v>2.94990070906649</c:v>
                </c:pt>
                <c:pt idx="249">
                  <c:v>2.93792026447567</c:v>
                </c:pt>
                <c:pt idx="250">
                  <c:v>2.92614597879559</c:v>
                </c:pt>
                <c:pt idx="251">
                  <c:v>2.91457943566703</c:v>
                </c:pt>
                <c:pt idx="252">
                  <c:v>2.90322218915029</c:v>
                </c:pt>
                <c:pt idx="253">
                  <c:v>2.89207576313689</c:v>
                </c:pt>
                <c:pt idx="254">
                  <c:v>2.88114165080064</c:v>
                </c:pt>
                <c:pt idx="255">
                  <c:v>2.87042131408874</c:v>
                </c:pt>
                <c:pt idx="256">
                  <c:v>2.85991618325333</c:v>
                </c:pt>
                <c:pt idx="257">
                  <c:v>2.849627656424</c:v>
                </c:pt>
                <c:pt idx="258">
                  <c:v>2.83955709922135</c:v>
                </c:pt>
                <c:pt idx="259">
                  <c:v>2.82970584441172</c:v>
                </c:pt>
                <c:pt idx="260">
                  <c:v>2.82007519160292</c:v>
                </c:pt>
                <c:pt idx="261">
                  <c:v>2.8106664069808</c:v>
                </c:pt>
                <c:pt idx="262">
                  <c:v>2.80148072308615</c:v>
                </c:pt>
                <c:pt idx="263">
                  <c:v>2.79251933863143</c:v>
                </c:pt>
                <c:pt idx="264">
                  <c:v>2.78378341835653</c:v>
                </c:pt>
                <c:pt idx="265">
                  <c:v>2.77527409292277</c:v>
                </c:pt>
                <c:pt idx="266">
                  <c:v>2.76699245884404</c:v>
                </c:pt>
                <c:pt idx="267">
                  <c:v>2.75893957845396</c:v>
                </c:pt>
                <c:pt idx="268">
                  <c:v>2.75111647990767</c:v>
                </c:pt>
                <c:pt idx="269">
                  <c:v>2.74352415721695</c:v>
                </c:pt>
                <c:pt idx="270">
                  <c:v>2.73616357031693</c:v>
                </c:pt>
                <c:pt idx="271">
                  <c:v>2.72903564516282</c:v>
                </c:pt>
                <c:pt idx="272">
                  <c:v>2.72214127385479</c:v>
                </c:pt>
                <c:pt idx="273">
                  <c:v>2.71548131478914</c:v>
                </c:pt>
                <c:pt idx="274">
                  <c:v>2.70905659283371</c:v>
                </c:pt>
                <c:pt idx="275">
                  <c:v>2.7028678995255</c:v>
                </c:pt>
                <c:pt idx="276">
                  <c:v>2.69691599328829</c:v>
                </c:pt>
                <c:pt idx="277">
                  <c:v>2.69120159966808</c:v>
                </c:pt>
                <c:pt idx="278">
                  <c:v>2.68572541158403</c:v>
                </c:pt>
                <c:pt idx="279">
                  <c:v>2.68048808959266</c:v>
                </c:pt>
                <c:pt idx="280">
                  <c:v>2.67549026216286</c:v>
                </c:pt>
                <c:pt idx="281">
                  <c:v>2.67073252595949</c:v>
                </c:pt>
                <c:pt idx="282">
                  <c:v>2.6662154461331</c:v>
                </c:pt>
                <c:pt idx="283">
                  <c:v>2.6619395566134</c:v>
                </c:pt>
                <c:pt idx="284">
                  <c:v>2.65790536040434</c:v>
                </c:pt>
                <c:pt idx="285">
                  <c:v>2.65411332987817</c:v>
                </c:pt>
                <c:pt idx="286">
                  <c:v>2.65056390706659</c:v>
                </c:pt>
                <c:pt idx="287">
                  <c:v>2.64725750394652</c:v>
                </c:pt>
                <c:pt idx="288">
                  <c:v>2.64419450271845</c:v>
                </c:pt>
                <c:pt idx="289">
                  <c:v>2.64137525607538</c:v>
                </c:pt>
                <c:pt idx="290">
                  <c:v>2.63880008746027</c:v>
                </c:pt>
                <c:pt idx="291">
                  <c:v>2.63646929131027</c:v>
                </c:pt>
                <c:pt idx="292">
                  <c:v>2.63438313328581</c:v>
                </c:pt>
                <c:pt idx="293">
                  <c:v>2.63254185048314</c:v>
                </c:pt>
                <c:pt idx="294">
                  <c:v>2.63094565162859</c:v>
                </c:pt>
                <c:pt idx="295">
                  <c:v>2.62959471725337</c:v>
                </c:pt>
                <c:pt idx="296">
                  <c:v>2.62848919984752</c:v>
                </c:pt>
                <c:pt idx="297">
                  <c:v>2.6276292239921</c:v>
                </c:pt>
                <c:pt idx="298">
                  <c:v>2.6270148864686</c:v>
                </c:pt>
                <c:pt idx="299">
                  <c:v>2.62664625634477</c:v>
                </c:pt>
                <c:pt idx="300">
                  <c:v>2.62652337503645</c:v>
                </c:pt>
                <c:pt idx="301">
                  <c:v>2.62664625634477</c:v>
                </c:pt>
                <c:pt idx="302">
                  <c:v>2.6270148864686</c:v>
                </c:pt>
                <c:pt idx="303">
                  <c:v>2.6276292239921</c:v>
                </c:pt>
                <c:pt idx="304">
                  <c:v>2.62848919984752</c:v>
                </c:pt>
                <c:pt idx="305">
                  <c:v>2.62959471725337</c:v>
                </c:pt>
                <c:pt idx="306">
                  <c:v>2.63094565162859</c:v>
                </c:pt>
                <c:pt idx="307">
                  <c:v>2.63254185048314</c:v>
                </c:pt>
                <c:pt idx="308">
                  <c:v>2.63438313328581</c:v>
                </c:pt>
                <c:pt idx="309">
                  <c:v>2.63646929131027</c:v>
                </c:pt>
                <c:pt idx="310">
                  <c:v>2.63880008746027</c:v>
                </c:pt>
                <c:pt idx="311">
                  <c:v>2.64137525607538</c:v>
                </c:pt>
                <c:pt idx="312">
                  <c:v>2.64419450271845</c:v>
                </c:pt>
                <c:pt idx="313">
                  <c:v>2.64725750394652</c:v>
                </c:pt>
                <c:pt idx="314">
                  <c:v>2.65056390706659</c:v>
                </c:pt>
                <c:pt idx="315">
                  <c:v>2.65411332987817</c:v>
                </c:pt>
                <c:pt idx="316">
                  <c:v>2.65790536040434</c:v>
                </c:pt>
                <c:pt idx="317">
                  <c:v>2.6619395566134</c:v>
                </c:pt>
                <c:pt idx="318">
                  <c:v>2.6662154461331</c:v>
                </c:pt>
                <c:pt idx="319">
                  <c:v>2.67073252595949</c:v>
                </c:pt>
                <c:pt idx="320">
                  <c:v>2.67549026216286</c:v>
                </c:pt>
                <c:pt idx="321">
                  <c:v>2.68048808959266</c:v>
                </c:pt>
                <c:pt idx="322">
                  <c:v>2.68572541158403</c:v>
                </c:pt>
                <c:pt idx="323">
                  <c:v>2.69120159966808</c:v>
                </c:pt>
                <c:pt idx="324">
                  <c:v>2.69691599328829</c:v>
                </c:pt>
                <c:pt idx="325">
                  <c:v>2.7028678995255</c:v>
                </c:pt>
                <c:pt idx="326">
                  <c:v>2.70905659283371</c:v>
                </c:pt>
                <c:pt idx="327">
                  <c:v>2.71548131478914</c:v>
                </c:pt>
                <c:pt idx="328">
                  <c:v>2.72214127385479</c:v>
                </c:pt>
                <c:pt idx="329">
                  <c:v>2.72903564516282</c:v>
                </c:pt>
                <c:pt idx="330">
                  <c:v>2.73616357031693</c:v>
                </c:pt>
                <c:pt idx="331">
                  <c:v>2.74352415721695</c:v>
                </c:pt>
                <c:pt idx="332">
                  <c:v>2.75111647990767</c:v>
                </c:pt>
                <c:pt idx="333">
                  <c:v>2.75893957845396</c:v>
                </c:pt>
                <c:pt idx="334">
                  <c:v>2.76699245884404</c:v>
                </c:pt>
                <c:pt idx="335">
                  <c:v>2.77527409292277</c:v>
                </c:pt>
                <c:pt idx="336">
                  <c:v>2.78378341835653</c:v>
                </c:pt>
                <c:pt idx="337">
                  <c:v>2.79251933863143</c:v>
                </c:pt>
                <c:pt idx="338">
                  <c:v>2.80148072308615</c:v>
                </c:pt>
                <c:pt idx="339">
                  <c:v>2.8106664069808</c:v>
                </c:pt>
                <c:pt idx="340">
                  <c:v>2.82007519160292</c:v>
                </c:pt>
                <c:pt idx="341">
                  <c:v>2.82970584441172</c:v>
                </c:pt>
                <c:pt idx="342">
                  <c:v>2.83955709922135</c:v>
                </c:pt>
                <c:pt idx="343">
                  <c:v>2.849627656424</c:v>
                </c:pt>
                <c:pt idx="344">
                  <c:v>2.85991618325333</c:v>
                </c:pt>
                <c:pt idx="345">
                  <c:v>2.87042131408874</c:v>
                </c:pt>
                <c:pt idx="346">
                  <c:v>2.88114165080064</c:v>
                </c:pt>
                <c:pt idx="347">
                  <c:v>2.89207576313689</c:v>
                </c:pt>
                <c:pt idx="348">
                  <c:v>2.90322218915029</c:v>
                </c:pt>
                <c:pt idx="349">
                  <c:v>2.91457943566703</c:v>
                </c:pt>
                <c:pt idx="350">
                  <c:v>2.92614597879559</c:v>
                </c:pt>
                <c:pt idx="351">
                  <c:v>2.93792026447567</c:v>
                </c:pt>
                <c:pt idx="352">
                  <c:v>2.94990070906649</c:v>
                </c:pt>
                <c:pt idx="353">
                  <c:v>2.96208569997365</c:v>
                </c:pt>
                <c:pt idx="354">
                  <c:v>2.97447359631362</c:v>
                </c:pt>
                <c:pt idx="355">
                  <c:v>2.98706272961478</c:v>
                </c:pt>
                <c:pt idx="356">
                  <c:v>2.9998514045539</c:v>
                </c:pt>
                <c:pt idx="357">
                  <c:v>3.01283789972669</c:v>
                </c:pt>
                <c:pt idx="358">
                  <c:v>3.02602046845101</c:v>
                </c:pt>
                <c:pt idx="359">
                  <c:v>3.03939733960131</c:v>
                </c:pt>
                <c:pt idx="360">
                  <c:v>3.05296671847266</c:v>
                </c:pt>
              </c:numCache>
            </c:numRef>
          </c:yVal>
          <c:smooth val="1"/>
          <c:extLst>
            <c:ext xmlns:c16="http://schemas.microsoft.com/office/drawing/2014/chart" uri="{C3380CC4-5D6E-409C-BE32-E72D297353CC}">
              <c16:uniqueId val="{00000000-8831-42E8-82F3-E5164956590F}"/>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0.626523375036446</c:v>
                </c:pt>
              </c:numCache>
            </c:numRef>
          </c:yVal>
          <c:smooth val="1"/>
          <c:extLst>
            <c:ext xmlns:c16="http://schemas.microsoft.com/office/drawing/2014/chart" uri="{C3380CC4-5D6E-409C-BE32-E72D297353CC}">
              <c16:uniqueId val="{00000001-8831-42E8-82F3-E5164956590F}"/>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2.62652337503645</c:v>
                </c:pt>
              </c:numCache>
            </c:numRef>
          </c:yVal>
          <c:smooth val="1"/>
          <c:extLst>
            <c:ext xmlns:c16="http://schemas.microsoft.com/office/drawing/2014/chart" uri="{C3380CC4-5D6E-409C-BE32-E72D297353CC}">
              <c16:uniqueId val="{00000002-8831-42E8-82F3-E5164956590F}"/>
            </c:ext>
          </c:extLst>
        </c:ser>
        <c:ser>
          <c:idx val="3"/>
          <c:order val="3"/>
          <c:tx>
            <c:v>left start</c:v>
          </c:tx>
          <c:spPr>
            <a:ln w="0">
              <a:noFill/>
            </a:ln>
          </c:spPr>
          <c:marker>
            <c:symbol val="circle"/>
            <c:size val="8"/>
            <c:spPr>
              <a:solidFill>
                <a:srgbClr val="FFFFFF"/>
              </a:solidFill>
              <a:ln w="19050">
                <a:solidFill>
                  <a:srgbClr val="326CB2"/>
                </a:solidFill>
              </a:ln>
            </c:spPr>
          </c:marker>
          <c:xVal>
            <c:numRef>
              <c:f>'Chart Data'!$G$2:$G$2</c:f>
              <c:numCache>
                <c:formatCode>General</c:formatCode>
                <c:ptCount val="1"/>
                <c:pt idx="0">
                  <c:v>-1.5</c:v>
                </c:pt>
              </c:numCache>
            </c:numRef>
          </c:xVal>
          <c:yVal>
            <c:numRef>
              <c:f>'Chart Data'!$H$2:$H$2</c:f>
              <c:numCache>
                <c:formatCode>General</c:formatCode>
                <c:ptCount val="1"/>
                <c:pt idx="0">
                  <c:v>1.05296671847266</c:v>
                </c:pt>
              </c:numCache>
            </c:numRef>
          </c:yVal>
          <c:smooth val="1"/>
          <c:extLst>
            <c:ext xmlns:c16="http://schemas.microsoft.com/office/drawing/2014/chart" uri="{C3380CC4-5D6E-409C-BE32-E72D297353CC}">
              <c16:uniqueId val="{00000003-8831-42E8-82F3-E5164956590F}"/>
            </c:ext>
          </c:extLst>
        </c:ser>
        <c:ser>
          <c:idx val="4"/>
          <c:order val="4"/>
          <c:tx>
            <c:v>right start</c:v>
          </c:tx>
          <c:spPr>
            <a:ln w="0">
              <a:noFill/>
            </a:ln>
          </c:spPr>
          <c:marker>
            <c:symbol val="circle"/>
            <c:size val="8"/>
            <c:spPr>
              <a:solidFill>
                <a:srgbClr val="FFFFFF"/>
              </a:solidFill>
              <a:ln w="19050">
                <a:solidFill>
                  <a:srgbClr val="C45C28"/>
                </a:solidFill>
              </a:ln>
            </c:spPr>
          </c:marker>
          <c:xVal>
            <c:numRef>
              <c:f>'Chart Data'!$I$2:$I$2</c:f>
              <c:numCache>
                <c:formatCode>General</c:formatCode>
                <c:ptCount val="1"/>
                <c:pt idx="0">
                  <c:v>1.5</c:v>
                </c:pt>
              </c:numCache>
            </c:numRef>
          </c:xVal>
          <c:yVal>
            <c:numRef>
              <c:f>'Chart Data'!$J$2:$J$2</c:f>
              <c:numCache>
                <c:formatCode>General</c:formatCode>
                <c:ptCount val="1"/>
                <c:pt idx="0">
                  <c:v>3.05296671847266</c:v>
                </c:pt>
              </c:numCache>
            </c:numRef>
          </c:yVal>
          <c:smooth val="1"/>
          <c:extLst>
            <c:ext xmlns:c16="http://schemas.microsoft.com/office/drawing/2014/chart" uri="{C3380CC4-5D6E-409C-BE32-E72D297353CC}">
              <c16:uniqueId val="{00000004-8831-42E8-82F3-E5164956590F}"/>
            </c:ext>
          </c:extLst>
        </c:ser>
        <c:dLbls>
          <c:showLegendKey val="0"/>
          <c:showVal val="0"/>
          <c:showCatName val="0"/>
          <c:showSerName val="0"/>
          <c:showPercent val="0"/>
          <c:showBubbleSize val="0"/>
        </c:dLbls>
        <c:axId val="48650112"/>
        <c:axId val="48672768"/>
      </c:scatterChart>
      <c:valAx>
        <c:axId val="48672768"/>
        <c:scaling>
          <c:orientation val="minMax"/>
          <c:max val="4"/>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Logistic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1"/>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Logistic loss</c:v>
          </c:tx>
          <c:spPr>
            <a:ln w="30480">
              <a:solidFill>
                <a:srgbClr val="087F83"/>
              </a:solidFill>
            </a:ln>
          </c:spPr>
          <c:marker>
            <c:symbol val="none"/>
          </c:marker>
          <c:xVal>
            <c:numRef>
              <c:f>'Chart Data'!$A$2:$A$362</c:f>
              <c:numCache>
                <c:formatCode>General</c:formatCode>
                <c:ptCount val="361"/>
                <c:pt idx="0">
                  <c:v>-4.5</c:v>
                </c:pt>
                <c:pt idx="1">
                  <c:v>-4.475</c:v>
                </c:pt>
                <c:pt idx="2">
                  <c:v>-4.45</c:v>
                </c:pt>
                <c:pt idx="3">
                  <c:v>-4.425</c:v>
                </c:pt>
                <c:pt idx="4">
                  <c:v>-4.4</c:v>
                </c:pt>
                <c:pt idx="5">
                  <c:v>-4.375</c:v>
                </c:pt>
                <c:pt idx="6">
                  <c:v>-4.35</c:v>
                </c:pt>
                <c:pt idx="7">
                  <c:v>-4.325</c:v>
                </c:pt>
                <c:pt idx="8">
                  <c:v>-4.3</c:v>
                </c:pt>
                <c:pt idx="9">
                  <c:v>-4.275</c:v>
                </c:pt>
                <c:pt idx="10">
                  <c:v>-4.25</c:v>
                </c:pt>
                <c:pt idx="11">
                  <c:v>-4.225</c:v>
                </c:pt>
                <c:pt idx="12">
                  <c:v>-4.2</c:v>
                </c:pt>
                <c:pt idx="13">
                  <c:v>-4.175</c:v>
                </c:pt>
                <c:pt idx="14">
                  <c:v>-4.15</c:v>
                </c:pt>
                <c:pt idx="15">
                  <c:v>-4.125</c:v>
                </c:pt>
                <c:pt idx="16">
                  <c:v>-4.1</c:v>
                </c:pt>
                <c:pt idx="17">
                  <c:v>-4.075</c:v>
                </c:pt>
                <c:pt idx="18">
                  <c:v>-4.05</c:v>
                </c:pt>
                <c:pt idx="19">
                  <c:v>-4.025</c:v>
                </c:pt>
                <c:pt idx="20">
                  <c:v>-4</c:v>
                </c:pt>
                <c:pt idx="21">
                  <c:v>-3.975</c:v>
                </c:pt>
                <c:pt idx="22">
                  <c:v>-3.95</c:v>
                </c:pt>
                <c:pt idx="23">
                  <c:v>-3.925</c:v>
                </c:pt>
                <c:pt idx="24">
                  <c:v>-3.9</c:v>
                </c:pt>
                <c:pt idx="25">
                  <c:v>-3.875</c:v>
                </c:pt>
                <c:pt idx="26">
                  <c:v>-3.85</c:v>
                </c:pt>
                <c:pt idx="27">
                  <c:v>-3.825</c:v>
                </c:pt>
                <c:pt idx="28">
                  <c:v>-3.8</c:v>
                </c:pt>
                <c:pt idx="29">
                  <c:v>-3.775</c:v>
                </c:pt>
                <c:pt idx="30">
                  <c:v>-3.75</c:v>
                </c:pt>
                <c:pt idx="31">
                  <c:v>-3.725</c:v>
                </c:pt>
                <c:pt idx="32">
                  <c:v>-3.7</c:v>
                </c:pt>
                <c:pt idx="33">
                  <c:v>-3.675</c:v>
                </c:pt>
                <c:pt idx="34">
                  <c:v>-3.65</c:v>
                </c:pt>
                <c:pt idx="35">
                  <c:v>-3.625</c:v>
                </c:pt>
                <c:pt idx="36">
                  <c:v>-3.6</c:v>
                </c:pt>
                <c:pt idx="37">
                  <c:v>-3.575</c:v>
                </c:pt>
                <c:pt idx="38">
                  <c:v>-3.55</c:v>
                </c:pt>
                <c:pt idx="39">
                  <c:v>-3.525</c:v>
                </c:pt>
                <c:pt idx="40">
                  <c:v>-3.5</c:v>
                </c:pt>
                <c:pt idx="41">
                  <c:v>-3.475</c:v>
                </c:pt>
                <c:pt idx="42">
                  <c:v>-3.45</c:v>
                </c:pt>
                <c:pt idx="43">
                  <c:v>-3.425</c:v>
                </c:pt>
                <c:pt idx="44">
                  <c:v>-3.4</c:v>
                </c:pt>
                <c:pt idx="45">
                  <c:v>-3.375</c:v>
                </c:pt>
                <c:pt idx="46">
                  <c:v>-3.35</c:v>
                </c:pt>
                <c:pt idx="47">
                  <c:v>-3.325</c:v>
                </c:pt>
                <c:pt idx="48">
                  <c:v>-3.3</c:v>
                </c:pt>
                <c:pt idx="49">
                  <c:v>-3.275</c:v>
                </c:pt>
                <c:pt idx="50">
                  <c:v>-3.25</c:v>
                </c:pt>
                <c:pt idx="51">
                  <c:v>-3.225</c:v>
                </c:pt>
                <c:pt idx="52">
                  <c:v>-3.2</c:v>
                </c:pt>
                <c:pt idx="53">
                  <c:v>-3.175</c:v>
                </c:pt>
                <c:pt idx="54">
                  <c:v>-3.15</c:v>
                </c:pt>
                <c:pt idx="55">
                  <c:v>-3.125</c:v>
                </c:pt>
                <c:pt idx="56">
                  <c:v>-3.1</c:v>
                </c:pt>
                <c:pt idx="57">
                  <c:v>-3.075</c:v>
                </c:pt>
                <c:pt idx="58">
                  <c:v>-3.05</c:v>
                </c:pt>
                <c:pt idx="59">
                  <c:v>-3.025</c:v>
                </c:pt>
                <c:pt idx="60">
                  <c:v>-3</c:v>
                </c:pt>
                <c:pt idx="61">
                  <c:v>-2.975</c:v>
                </c:pt>
                <c:pt idx="62">
                  <c:v>-2.95</c:v>
                </c:pt>
                <c:pt idx="63">
                  <c:v>-2.925</c:v>
                </c:pt>
                <c:pt idx="64">
                  <c:v>-2.9</c:v>
                </c:pt>
                <c:pt idx="65">
                  <c:v>-2.875</c:v>
                </c:pt>
                <c:pt idx="66">
                  <c:v>-2.85</c:v>
                </c:pt>
                <c:pt idx="67">
                  <c:v>-2.825</c:v>
                </c:pt>
                <c:pt idx="68">
                  <c:v>-2.8</c:v>
                </c:pt>
                <c:pt idx="69">
                  <c:v>-2.775</c:v>
                </c:pt>
                <c:pt idx="70">
                  <c:v>-2.75</c:v>
                </c:pt>
                <c:pt idx="71">
                  <c:v>-2.725</c:v>
                </c:pt>
                <c:pt idx="72">
                  <c:v>-2.7</c:v>
                </c:pt>
                <c:pt idx="73">
                  <c:v>-2.675</c:v>
                </c:pt>
                <c:pt idx="74">
                  <c:v>-2.65</c:v>
                </c:pt>
                <c:pt idx="75">
                  <c:v>-2.625</c:v>
                </c:pt>
                <c:pt idx="76">
                  <c:v>-2.6</c:v>
                </c:pt>
                <c:pt idx="77">
                  <c:v>-2.575</c:v>
                </c:pt>
                <c:pt idx="78">
                  <c:v>-2.55</c:v>
                </c:pt>
                <c:pt idx="79">
                  <c:v>-2.525</c:v>
                </c:pt>
                <c:pt idx="80">
                  <c:v>-2.5</c:v>
                </c:pt>
                <c:pt idx="81">
                  <c:v>-2.475</c:v>
                </c:pt>
                <c:pt idx="82">
                  <c:v>-2.45</c:v>
                </c:pt>
                <c:pt idx="83">
                  <c:v>-2.425</c:v>
                </c:pt>
                <c:pt idx="84">
                  <c:v>-2.4</c:v>
                </c:pt>
                <c:pt idx="85">
                  <c:v>-2.375</c:v>
                </c:pt>
                <c:pt idx="86">
                  <c:v>-2.35</c:v>
                </c:pt>
                <c:pt idx="87">
                  <c:v>-2.325</c:v>
                </c:pt>
                <c:pt idx="88">
                  <c:v>-2.3</c:v>
                </c:pt>
                <c:pt idx="89">
                  <c:v>-2.275</c:v>
                </c:pt>
                <c:pt idx="90">
                  <c:v>-2.25</c:v>
                </c:pt>
                <c:pt idx="91">
                  <c:v>-2.225</c:v>
                </c:pt>
                <c:pt idx="92">
                  <c:v>-2.2</c:v>
                </c:pt>
                <c:pt idx="93">
                  <c:v>-2.175</c:v>
                </c:pt>
                <c:pt idx="94">
                  <c:v>-2.15</c:v>
                </c:pt>
                <c:pt idx="95">
                  <c:v>-2.125</c:v>
                </c:pt>
                <c:pt idx="96">
                  <c:v>-2.1</c:v>
                </c:pt>
                <c:pt idx="97">
                  <c:v>-2.075</c:v>
                </c:pt>
                <c:pt idx="98">
                  <c:v>-2.05</c:v>
                </c:pt>
                <c:pt idx="99">
                  <c:v>-2.025</c:v>
                </c:pt>
                <c:pt idx="100">
                  <c:v>-2</c:v>
                </c:pt>
                <c:pt idx="101">
                  <c:v>-1.975</c:v>
                </c:pt>
                <c:pt idx="102">
                  <c:v>-1.95</c:v>
                </c:pt>
                <c:pt idx="103">
                  <c:v>-1.925</c:v>
                </c:pt>
                <c:pt idx="104">
                  <c:v>-1.9</c:v>
                </c:pt>
                <c:pt idx="105">
                  <c:v>-1.875</c:v>
                </c:pt>
                <c:pt idx="106">
                  <c:v>-1.85</c:v>
                </c:pt>
                <c:pt idx="107">
                  <c:v>-1.825</c:v>
                </c:pt>
                <c:pt idx="108">
                  <c:v>-1.8</c:v>
                </c:pt>
                <c:pt idx="109">
                  <c:v>-1.775</c:v>
                </c:pt>
                <c:pt idx="110">
                  <c:v>-1.75</c:v>
                </c:pt>
                <c:pt idx="111">
                  <c:v>-1.725</c:v>
                </c:pt>
                <c:pt idx="112">
                  <c:v>-1.7</c:v>
                </c:pt>
                <c:pt idx="113">
                  <c:v>-1.675</c:v>
                </c:pt>
                <c:pt idx="114">
                  <c:v>-1.65</c:v>
                </c:pt>
                <c:pt idx="115">
                  <c:v>-1.625</c:v>
                </c:pt>
                <c:pt idx="116">
                  <c:v>-1.6</c:v>
                </c:pt>
                <c:pt idx="117">
                  <c:v>-1.575</c:v>
                </c:pt>
                <c:pt idx="118">
                  <c:v>-1.55</c:v>
                </c:pt>
                <c:pt idx="119">
                  <c:v>-1.525</c:v>
                </c:pt>
                <c:pt idx="120">
                  <c:v>-1.5</c:v>
                </c:pt>
                <c:pt idx="121">
                  <c:v>-1.475</c:v>
                </c:pt>
                <c:pt idx="122">
                  <c:v>-1.45</c:v>
                </c:pt>
                <c:pt idx="123">
                  <c:v>-1.425</c:v>
                </c:pt>
                <c:pt idx="124">
                  <c:v>-1.4</c:v>
                </c:pt>
                <c:pt idx="125">
                  <c:v>-1.375</c:v>
                </c:pt>
                <c:pt idx="126">
                  <c:v>-1.35</c:v>
                </c:pt>
                <c:pt idx="127">
                  <c:v>-1.325</c:v>
                </c:pt>
                <c:pt idx="128">
                  <c:v>-1.3</c:v>
                </c:pt>
                <c:pt idx="129">
                  <c:v>-1.275</c:v>
                </c:pt>
                <c:pt idx="130">
                  <c:v>-1.25</c:v>
                </c:pt>
                <c:pt idx="131">
                  <c:v>-1.225</c:v>
                </c:pt>
                <c:pt idx="132">
                  <c:v>-1.2</c:v>
                </c:pt>
                <c:pt idx="133">
                  <c:v>-1.175</c:v>
                </c:pt>
                <c:pt idx="134">
                  <c:v>-1.15</c:v>
                </c:pt>
                <c:pt idx="135">
                  <c:v>-1.125</c:v>
                </c:pt>
                <c:pt idx="136">
                  <c:v>-1.1</c:v>
                </c:pt>
                <c:pt idx="137">
                  <c:v>-1.075</c:v>
                </c:pt>
                <c:pt idx="138">
                  <c:v>-1.05</c:v>
                </c:pt>
                <c:pt idx="139">
                  <c:v>-1.025</c:v>
                </c:pt>
                <c:pt idx="140">
                  <c:v>-1</c:v>
                </c:pt>
                <c:pt idx="141">
                  <c:v>-0.975</c:v>
                </c:pt>
                <c:pt idx="142">
                  <c:v>-0.95</c:v>
                </c:pt>
                <c:pt idx="143">
                  <c:v>-0.925</c:v>
                </c:pt>
                <c:pt idx="144">
                  <c:v>-0.9</c:v>
                </c:pt>
                <c:pt idx="145">
                  <c:v>-0.875</c:v>
                </c:pt>
                <c:pt idx="146">
                  <c:v>-0.85</c:v>
                </c:pt>
                <c:pt idx="147">
                  <c:v>-0.825</c:v>
                </c:pt>
                <c:pt idx="148">
                  <c:v>-0.8</c:v>
                </c:pt>
                <c:pt idx="149">
                  <c:v>-0.775</c:v>
                </c:pt>
                <c:pt idx="150">
                  <c:v>-0.75</c:v>
                </c:pt>
                <c:pt idx="151">
                  <c:v>-0.725</c:v>
                </c:pt>
                <c:pt idx="152">
                  <c:v>-0.7</c:v>
                </c:pt>
                <c:pt idx="153">
                  <c:v>-0.675</c:v>
                </c:pt>
                <c:pt idx="154">
                  <c:v>-0.65</c:v>
                </c:pt>
                <c:pt idx="155">
                  <c:v>-0.625</c:v>
                </c:pt>
                <c:pt idx="156">
                  <c:v>-0.6</c:v>
                </c:pt>
                <c:pt idx="157">
                  <c:v>-0.575</c:v>
                </c:pt>
                <c:pt idx="158">
                  <c:v>-0.55</c:v>
                </c:pt>
                <c:pt idx="159">
                  <c:v>-0.525</c:v>
                </c:pt>
                <c:pt idx="160">
                  <c:v>-0.5</c:v>
                </c:pt>
                <c:pt idx="161">
                  <c:v>-0.475</c:v>
                </c:pt>
                <c:pt idx="162">
                  <c:v>-0.45</c:v>
                </c:pt>
                <c:pt idx="163">
                  <c:v>-0.425</c:v>
                </c:pt>
                <c:pt idx="164">
                  <c:v>-0.4</c:v>
                </c:pt>
                <c:pt idx="165">
                  <c:v>-0.375</c:v>
                </c:pt>
                <c:pt idx="166">
                  <c:v>-0.35</c:v>
                </c:pt>
                <c:pt idx="167">
                  <c:v>-0.325</c:v>
                </c:pt>
                <c:pt idx="168">
                  <c:v>-0.3</c:v>
                </c:pt>
                <c:pt idx="169">
                  <c:v>-0.275</c:v>
                </c:pt>
                <c:pt idx="170">
                  <c:v>-0.25</c:v>
                </c:pt>
                <c:pt idx="171">
                  <c:v>-0.225</c:v>
                </c:pt>
                <c:pt idx="172">
                  <c:v>-0.2</c:v>
                </c:pt>
                <c:pt idx="173">
                  <c:v>-0.175</c:v>
                </c:pt>
                <c:pt idx="174">
                  <c:v>-0.15</c:v>
                </c:pt>
                <c:pt idx="175">
                  <c:v>-0.125</c:v>
                </c:pt>
                <c:pt idx="176">
                  <c:v>-0.1</c:v>
                </c:pt>
                <c:pt idx="177">
                  <c:v>-0.075</c:v>
                </c:pt>
                <c:pt idx="178">
                  <c:v>-0.05</c:v>
                </c:pt>
                <c:pt idx="179">
                  <c:v>-0.025</c:v>
                </c:pt>
                <c:pt idx="180">
                  <c:v>0</c:v>
                </c:pt>
                <c:pt idx="181">
                  <c:v>0.025</c:v>
                </c:pt>
                <c:pt idx="182">
                  <c:v>0.05</c:v>
                </c:pt>
                <c:pt idx="183">
                  <c:v>0.075</c:v>
                </c:pt>
                <c:pt idx="184">
                  <c:v>0.1</c:v>
                </c:pt>
                <c:pt idx="185">
                  <c:v>0.125</c:v>
                </c:pt>
                <c:pt idx="186">
                  <c:v>0.15</c:v>
                </c:pt>
                <c:pt idx="187">
                  <c:v>0.175</c:v>
                </c:pt>
                <c:pt idx="188">
                  <c:v>0.2</c:v>
                </c:pt>
                <c:pt idx="189">
                  <c:v>0.225</c:v>
                </c:pt>
                <c:pt idx="190">
                  <c:v>0.25</c:v>
                </c:pt>
                <c:pt idx="191">
                  <c:v>0.275</c:v>
                </c:pt>
                <c:pt idx="192">
                  <c:v>0.3</c:v>
                </c:pt>
                <c:pt idx="193">
                  <c:v>0.325</c:v>
                </c:pt>
                <c:pt idx="194">
                  <c:v>0.35</c:v>
                </c:pt>
                <c:pt idx="195">
                  <c:v>0.375</c:v>
                </c:pt>
                <c:pt idx="196">
                  <c:v>0.4</c:v>
                </c:pt>
                <c:pt idx="197">
                  <c:v>0.425</c:v>
                </c:pt>
                <c:pt idx="198">
                  <c:v>0.45</c:v>
                </c:pt>
                <c:pt idx="199">
                  <c:v>0.475</c:v>
                </c:pt>
                <c:pt idx="200">
                  <c:v>0.5</c:v>
                </c:pt>
                <c:pt idx="201">
                  <c:v>0.525</c:v>
                </c:pt>
                <c:pt idx="202">
                  <c:v>0.55</c:v>
                </c:pt>
                <c:pt idx="203">
                  <c:v>0.575</c:v>
                </c:pt>
                <c:pt idx="204">
                  <c:v>0.6</c:v>
                </c:pt>
                <c:pt idx="205">
                  <c:v>0.625</c:v>
                </c:pt>
                <c:pt idx="206">
                  <c:v>0.65</c:v>
                </c:pt>
                <c:pt idx="207">
                  <c:v>0.675</c:v>
                </c:pt>
                <c:pt idx="208">
                  <c:v>0.7</c:v>
                </c:pt>
                <c:pt idx="209">
                  <c:v>0.725</c:v>
                </c:pt>
                <c:pt idx="210">
                  <c:v>0.75</c:v>
                </c:pt>
                <c:pt idx="211">
                  <c:v>0.775</c:v>
                </c:pt>
                <c:pt idx="212">
                  <c:v>0.8</c:v>
                </c:pt>
                <c:pt idx="213">
                  <c:v>0.825</c:v>
                </c:pt>
                <c:pt idx="214">
                  <c:v>0.85</c:v>
                </c:pt>
                <c:pt idx="215">
                  <c:v>0.875</c:v>
                </c:pt>
                <c:pt idx="216">
                  <c:v>0.9</c:v>
                </c:pt>
                <c:pt idx="217">
                  <c:v>0.925</c:v>
                </c:pt>
                <c:pt idx="218">
                  <c:v>0.95</c:v>
                </c:pt>
                <c:pt idx="219">
                  <c:v>0.975</c:v>
                </c:pt>
                <c:pt idx="220">
                  <c:v>1</c:v>
                </c:pt>
                <c:pt idx="221">
                  <c:v>1.025</c:v>
                </c:pt>
                <c:pt idx="222">
                  <c:v>1.05</c:v>
                </c:pt>
                <c:pt idx="223">
                  <c:v>1.075</c:v>
                </c:pt>
                <c:pt idx="224">
                  <c:v>1.1</c:v>
                </c:pt>
                <c:pt idx="225">
                  <c:v>1.125</c:v>
                </c:pt>
                <c:pt idx="226">
                  <c:v>1.15</c:v>
                </c:pt>
                <c:pt idx="227">
                  <c:v>1.175</c:v>
                </c:pt>
                <c:pt idx="228">
                  <c:v>1.2</c:v>
                </c:pt>
                <c:pt idx="229">
                  <c:v>1.225</c:v>
                </c:pt>
                <c:pt idx="230">
                  <c:v>1.25</c:v>
                </c:pt>
                <c:pt idx="231">
                  <c:v>1.275</c:v>
                </c:pt>
                <c:pt idx="232">
                  <c:v>1.3</c:v>
                </c:pt>
                <c:pt idx="233">
                  <c:v>1.325</c:v>
                </c:pt>
                <c:pt idx="234">
                  <c:v>1.35</c:v>
                </c:pt>
                <c:pt idx="235">
                  <c:v>1.375</c:v>
                </c:pt>
                <c:pt idx="236">
                  <c:v>1.4</c:v>
                </c:pt>
                <c:pt idx="237">
                  <c:v>1.425</c:v>
                </c:pt>
                <c:pt idx="238">
                  <c:v>1.45</c:v>
                </c:pt>
                <c:pt idx="239">
                  <c:v>1.475</c:v>
                </c:pt>
                <c:pt idx="240">
                  <c:v>1.5</c:v>
                </c:pt>
                <c:pt idx="241">
                  <c:v>1.525</c:v>
                </c:pt>
                <c:pt idx="242">
                  <c:v>1.55</c:v>
                </c:pt>
                <c:pt idx="243">
                  <c:v>1.575</c:v>
                </c:pt>
                <c:pt idx="244">
                  <c:v>1.6</c:v>
                </c:pt>
                <c:pt idx="245">
                  <c:v>1.625</c:v>
                </c:pt>
                <c:pt idx="246">
                  <c:v>1.65</c:v>
                </c:pt>
                <c:pt idx="247">
                  <c:v>1.675</c:v>
                </c:pt>
                <c:pt idx="248">
                  <c:v>1.7</c:v>
                </c:pt>
                <c:pt idx="249">
                  <c:v>1.725</c:v>
                </c:pt>
                <c:pt idx="250">
                  <c:v>1.75</c:v>
                </c:pt>
                <c:pt idx="251">
                  <c:v>1.775</c:v>
                </c:pt>
                <c:pt idx="252">
                  <c:v>1.8</c:v>
                </c:pt>
                <c:pt idx="253">
                  <c:v>1.825</c:v>
                </c:pt>
                <c:pt idx="254">
                  <c:v>1.85</c:v>
                </c:pt>
                <c:pt idx="255">
                  <c:v>1.875</c:v>
                </c:pt>
                <c:pt idx="256">
                  <c:v>1.9</c:v>
                </c:pt>
                <c:pt idx="257">
                  <c:v>1.925</c:v>
                </c:pt>
                <c:pt idx="258">
                  <c:v>1.95</c:v>
                </c:pt>
                <c:pt idx="259">
                  <c:v>1.975</c:v>
                </c:pt>
                <c:pt idx="260">
                  <c:v>2</c:v>
                </c:pt>
                <c:pt idx="261">
                  <c:v>2.025</c:v>
                </c:pt>
                <c:pt idx="262">
                  <c:v>2.05</c:v>
                </c:pt>
                <c:pt idx="263">
                  <c:v>2.075</c:v>
                </c:pt>
                <c:pt idx="264">
                  <c:v>2.1</c:v>
                </c:pt>
                <c:pt idx="265">
                  <c:v>2.125</c:v>
                </c:pt>
                <c:pt idx="266">
                  <c:v>2.15</c:v>
                </c:pt>
                <c:pt idx="267">
                  <c:v>2.175</c:v>
                </c:pt>
                <c:pt idx="268">
                  <c:v>2.2</c:v>
                </c:pt>
                <c:pt idx="269">
                  <c:v>2.225</c:v>
                </c:pt>
                <c:pt idx="270">
                  <c:v>2.25</c:v>
                </c:pt>
                <c:pt idx="271">
                  <c:v>2.275</c:v>
                </c:pt>
                <c:pt idx="272">
                  <c:v>2.3</c:v>
                </c:pt>
                <c:pt idx="273">
                  <c:v>2.325</c:v>
                </c:pt>
                <c:pt idx="274">
                  <c:v>2.35</c:v>
                </c:pt>
                <c:pt idx="275">
                  <c:v>2.375</c:v>
                </c:pt>
                <c:pt idx="276">
                  <c:v>2.4</c:v>
                </c:pt>
                <c:pt idx="277">
                  <c:v>2.425</c:v>
                </c:pt>
                <c:pt idx="278">
                  <c:v>2.45</c:v>
                </c:pt>
                <c:pt idx="279">
                  <c:v>2.475</c:v>
                </c:pt>
                <c:pt idx="280">
                  <c:v>2.5</c:v>
                </c:pt>
                <c:pt idx="281">
                  <c:v>2.525</c:v>
                </c:pt>
                <c:pt idx="282">
                  <c:v>2.55</c:v>
                </c:pt>
                <c:pt idx="283">
                  <c:v>2.575</c:v>
                </c:pt>
                <c:pt idx="284">
                  <c:v>2.6</c:v>
                </c:pt>
                <c:pt idx="285">
                  <c:v>2.625</c:v>
                </c:pt>
                <c:pt idx="286">
                  <c:v>2.65</c:v>
                </c:pt>
                <c:pt idx="287">
                  <c:v>2.675</c:v>
                </c:pt>
                <c:pt idx="288">
                  <c:v>2.7</c:v>
                </c:pt>
                <c:pt idx="289">
                  <c:v>2.725</c:v>
                </c:pt>
                <c:pt idx="290">
                  <c:v>2.75</c:v>
                </c:pt>
                <c:pt idx="291">
                  <c:v>2.775</c:v>
                </c:pt>
                <c:pt idx="292">
                  <c:v>2.8</c:v>
                </c:pt>
                <c:pt idx="293">
                  <c:v>2.825</c:v>
                </c:pt>
                <c:pt idx="294">
                  <c:v>2.85</c:v>
                </c:pt>
                <c:pt idx="295">
                  <c:v>2.875</c:v>
                </c:pt>
                <c:pt idx="296">
                  <c:v>2.9</c:v>
                </c:pt>
                <c:pt idx="297">
                  <c:v>2.925</c:v>
                </c:pt>
                <c:pt idx="298">
                  <c:v>2.95</c:v>
                </c:pt>
                <c:pt idx="299">
                  <c:v>2.975</c:v>
                </c:pt>
                <c:pt idx="300">
                  <c:v>3</c:v>
                </c:pt>
                <c:pt idx="301">
                  <c:v>3.025</c:v>
                </c:pt>
                <c:pt idx="302">
                  <c:v>3.05</c:v>
                </c:pt>
                <c:pt idx="303">
                  <c:v>3.075</c:v>
                </c:pt>
                <c:pt idx="304">
                  <c:v>3.1</c:v>
                </c:pt>
                <c:pt idx="305">
                  <c:v>3.125</c:v>
                </c:pt>
                <c:pt idx="306">
                  <c:v>3.15</c:v>
                </c:pt>
                <c:pt idx="307">
                  <c:v>3.175</c:v>
                </c:pt>
                <c:pt idx="308">
                  <c:v>3.2</c:v>
                </c:pt>
                <c:pt idx="309">
                  <c:v>3.225</c:v>
                </c:pt>
                <c:pt idx="310">
                  <c:v>3.25</c:v>
                </c:pt>
                <c:pt idx="311">
                  <c:v>3.275</c:v>
                </c:pt>
                <c:pt idx="312">
                  <c:v>3.3</c:v>
                </c:pt>
                <c:pt idx="313">
                  <c:v>3.325</c:v>
                </c:pt>
                <c:pt idx="314">
                  <c:v>3.35</c:v>
                </c:pt>
                <c:pt idx="315">
                  <c:v>3.375</c:v>
                </c:pt>
                <c:pt idx="316">
                  <c:v>3.4</c:v>
                </c:pt>
                <c:pt idx="317">
                  <c:v>3.425</c:v>
                </c:pt>
                <c:pt idx="318">
                  <c:v>3.45</c:v>
                </c:pt>
                <c:pt idx="319">
                  <c:v>3.475</c:v>
                </c:pt>
                <c:pt idx="320">
                  <c:v>3.5</c:v>
                </c:pt>
                <c:pt idx="321">
                  <c:v>3.525</c:v>
                </c:pt>
                <c:pt idx="322">
                  <c:v>3.55</c:v>
                </c:pt>
                <c:pt idx="323">
                  <c:v>3.575</c:v>
                </c:pt>
                <c:pt idx="324">
                  <c:v>3.6</c:v>
                </c:pt>
                <c:pt idx="325">
                  <c:v>3.625</c:v>
                </c:pt>
                <c:pt idx="326">
                  <c:v>3.65</c:v>
                </c:pt>
                <c:pt idx="327">
                  <c:v>3.675</c:v>
                </c:pt>
                <c:pt idx="328">
                  <c:v>3.7</c:v>
                </c:pt>
                <c:pt idx="329">
                  <c:v>3.725</c:v>
                </c:pt>
                <c:pt idx="330">
                  <c:v>3.75</c:v>
                </c:pt>
                <c:pt idx="331">
                  <c:v>3.775</c:v>
                </c:pt>
                <c:pt idx="332">
                  <c:v>3.8</c:v>
                </c:pt>
                <c:pt idx="333">
                  <c:v>3.825</c:v>
                </c:pt>
                <c:pt idx="334">
                  <c:v>3.85</c:v>
                </c:pt>
                <c:pt idx="335">
                  <c:v>3.875</c:v>
                </c:pt>
                <c:pt idx="336">
                  <c:v>3.9</c:v>
                </c:pt>
                <c:pt idx="337">
                  <c:v>3.925</c:v>
                </c:pt>
                <c:pt idx="338">
                  <c:v>3.95</c:v>
                </c:pt>
                <c:pt idx="339">
                  <c:v>3.975</c:v>
                </c:pt>
                <c:pt idx="340">
                  <c:v>4</c:v>
                </c:pt>
                <c:pt idx="341">
                  <c:v>4.025</c:v>
                </c:pt>
                <c:pt idx="342">
                  <c:v>4.05</c:v>
                </c:pt>
                <c:pt idx="343">
                  <c:v>4.075</c:v>
                </c:pt>
                <c:pt idx="344">
                  <c:v>4.1</c:v>
                </c:pt>
                <c:pt idx="345">
                  <c:v>4.125</c:v>
                </c:pt>
                <c:pt idx="346">
                  <c:v>4.15</c:v>
                </c:pt>
                <c:pt idx="347">
                  <c:v>4.175</c:v>
                </c:pt>
                <c:pt idx="348">
                  <c:v>4.2</c:v>
                </c:pt>
                <c:pt idx="349">
                  <c:v>4.225</c:v>
                </c:pt>
                <c:pt idx="350">
                  <c:v>4.25</c:v>
                </c:pt>
                <c:pt idx="351">
                  <c:v>4.275</c:v>
                </c:pt>
                <c:pt idx="352">
                  <c:v>4.3</c:v>
                </c:pt>
                <c:pt idx="353">
                  <c:v>4.325</c:v>
                </c:pt>
                <c:pt idx="354">
                  <c:v>4.35</c:v>
                </c:pt>
                <c:pt idx="355">
                  <c:v>4.375</c:v>
                </c:pt>
                <c:pt idx="356">
                  <c:v>4.4</c:v>
                </c:pt>
                <c:pt idx="357">
                  <c:v>4.425</c:v>
                </c:pt>
                <c:pt idx="358">
                  <c:v>4.45</c:v>
                </c:pt>
                <c:pt idx="359">
                  <c:v>4.475</c:v>
                </c:pt>
                <c:pt idx="360">
                  <c:v>4.5</c:v>
                </c:pt>
              </c:numCache>
            </c:numRef>
          </c:xVal>
          <c:yVal>
            <c:numRef>
              <c:f>'Chart Data'!$B$2:$B$362</c:f>
              <c:numCache>
                <c:formatCode>General</c:formatCode>
                <c:ptCount val="361"/>
                <c:pt idx="0">
                  <c:v>1.05296671847266</c:v>
                </c:pt>
                <c:pt idx="1">
                  <c:v>1.03939733960131</c:v>
                </c:pt>
                <c:pt idx="2">
                  <c:v>1.02602046845101</c:v>
                </c:pt>
                <c:pt idx="3">
                  <c:v>1.01283789972669</c:v>
                </c:pt>
                <c:pt idx="4">
                  <c:v>0.999851404553903</c:v>
                </c:pt>
                <c:pt idx="5">
                  <c:v>0.987062729614779</c:v>
                </c:pt>
                <c:pt idx="6">
                  <c:v>0.974473596313619</c:v>
                </c:pt>
                <c:pt idx="7">
                  <c:v>0.962085699973652</c:v>
                </c:pt>
                <c:pt idx="8">
                  <c:v>0.94990070906649</c:v>
                </c:pt>
                <c:pt idx="9">
                  <c:v>0.937920264475669</c:v>
                </c:pt>
                <c:pt idx="10">
                  <c:v>0.926145978795591</c:v>
                </c:pt>
                <c:pt idx="11">
                  <c:v>0.914579435667031</c:v>
                </c:pt>
                <c:pt idx="12">
                  <c:v>0.903222189150288</c:v>
                </c:pt>
                <c:pt idx="13">
                  <c:v>0.892075763136885</c:v>
                </c:pt>
                <c:pt idx="14">
                  <c:v>0.881141650800641</c:v>
                </c:pt>
                <c:pt idx="15">
                  <c:v>0.870421314088738</c:v>
                </c:pt>
                <c:pt idx="16">
                  <c:v>0.859916183253326</c:v>
                </c:pt>
                <c:pt idx="17">
                  <c:v>0.849627656423995</c:v>
                </c:pt>
                <c:pt idx="18">
                  <c:v>0.839557099221348</c:v>
                </c:pt>
                <c:pt idx="19">
                  <c:v>0.829705844411717</c:v>
                </c:pt>
                <c:pt idx="20">
                  <c:v>0.820075191602918</c:v>
                </c:pt>
                <c:pt idx="21">
                  <c:v>0.810666406980799</c:v>
                </c:pt>
                <c:pt idx="22">
                  <c:v>0.801480723086154</c:v>
                </c:pt>
                <c:pt idx="23">
                  <c:v>0.792519338631432</c:v>
                </c:pt>
                <c:pt idx="24">
                  <c:v>0.783783418356531</c:v>
                </c:pt>
                <c:pt idx="25">
                  <c:v>0.775274092922771</c:v>
                </c:pt>
                <c:pt idx="26">
                  <c:v>0.766992458844042</c:v>
                </c:pt>
                <c:pt idx="27">
                  <c:v>0.758939578453955</c:v>
                </c:pt>
                <c:pt idx="28">
                  <c:v>0.751116479907666</c:v>
                </c:pt>
                <c:pt idx="29">
                  <c:v>0.743524157216947</c:v>
                </c:pt>
                <c:pt idx="30">
                  <c:v>0.736163570316931</c:v>
                </c:pt>
                <c:pt idx="31">
                  <c:v>0.729035645162822</c:v>
                </c:pt>
                <c:pt idx="32">
                  <c:v>0.722141273854793</c:v>
                </c:pt>
                <c:pt idx="33">
                  <c:v>0.71548131478914</c:v>
                </c:pt>
                <c:pt idx="34">
                  <c:v>0.709056592833709</c:v>
                </c:pt>
                <c:pt idx="35">
                  <c:v>0.702867899525499</c:v>
                </c:pt>
                <c:pt idx="36">
                  <c:v>0.696915993288291</c:v>
                </c:pt>
                <c:pt idx="37">
                  <c:v>0.691201599668081</c:v>
                </c:pt>
                <c:pt idx="38">
                  <c:v>0.685725411584034</c:v>
                </c:pt>
                <c:pt idx="39">
                  <c:v>0.680488089592659</c:v>
                </c:pt>
                <c:pt idx="40">
                  <c:v>0.675490262162859</c:v>
                </c:pt>
                <c:pt idx="41">
                  <c:v>0.670732525959494</c:v>
                </c:pt>
                <c:pt idx="42">
                  <c:v>0.666215446133097</c:v>
                </c:pt>
                <c:pt idx="43">
                  <c:v>0.661939556613404</c:v>
                </c:pt>
                <c:pt idx="44">
                  <c:v>0.657905360404336</c:v>
                </c:pt>
                <c:pt idx="45">
                  <c:v>0.654113329878167</c:v>
                </c:pt>
                <c:pt idx="46">
                  <c:v>0.650563907066591</c:v>
                </c:pt>
                <c:pt idx="47">
                  <c:v>0.647257503946519</c:v>
                </c:pt>
                <c:pt idx="48">
                  <c:v>0.64419450271845</c:v>
                </c:pt>
                <c:pt idx="49">
                  <c:v>0.641375256075378</c:v>
                </c:pt>
                <c:pt idx="50">
                  <c:v>0.638800087460273</c:v>
                </c:pt>
                <c:pt idx="51">
                  <c:v>0.636469291310267</c:v>
                </c:pt>
                <c:pt idx="52">
                  <c:v>0.634383133285809</c:v>
                </c:pt>
                <c:pt idx="53">
                  <c:v>0.632541850483139</c:v>
                </c:pt>
                <c:pt idx="54">
                  <c:v>0.630945651628594</c:v>
                </c:pt>
                <c:pt idx="55">
                  <c:v>0.62959471725337</c:v>
                </c:pt>
                <c:pt idx="56">
                  <c:v>0.628489199847519</c:v>
                </c:pt>
                <c:pt idx="57">
                  <c:v>0.627629223992102</c:v>
                </c:pt>
                <c:pt idx="58">
                  <c:v>0.627014886468595</c:v>
                </c:pt>
                <c:pt idx="59">
                  <c:v>0.626646256344766</c:v>
                </c:pt>
                <c:pt idx="60">
                  <c:v>0.626523375036446</c:v>
                </c:pt>
                <c:pt idx="61">
                  <c:v>0.626646256344766</c:v>
                </c:pt>
                <c:pt idx="62">
                  <c:v>0.627014886468595</c:v>
                </c:pt>
                <c:pt idx="63">
                  <c:v>0.627629223992102</c:v>
                </c:pt>
                <c:pt idx="64">
                  <c:v>0.628489199847519</c:v>
                </c:pt>
                <c:pt idx="65">
                  <c:v>0.62959471725337</c:v>
                </c:pt>
                <c:pt idx="66">
                  <c:v>0.630945651628594</c:v>
                </c:pt>
                <c:pt idx="67">
                  <c:v>0.632541850483139</c:v>
                </c:pt>
                <c:pt idx="68">
                  <c:v>0.634383133285809</c:v>
                </c:pt>
                <c:pt idx="69">
                  <c:v>0.636469291310267</c:v>
                </c:pt>
                <c:pt idx="70">
                  <c:v>0.638800087460273</c:v>
                </c:pt>
                <c:pt idx="71">
                  <c:v>0.641375256075378</c:v>
                </c:pt>
                <c:pt idx="72">
                  <c:v>0.64419450271845</c:v>
                </c:pt>
                <c:pt idx="73">
                  <c:v>0.647257503946519</c:v>
                </c:pt>
                <c:pt idx="74">
                  <c:v>0.650563907066591</c:v>
                </c:pt>
                <c:pt idx="75">
                  <c:v>0.654113329878167</c:v>
                </c:pt>
                <c:pt idx="76">
                  <c:v>0.657905360404337</c:v>
                </c:pt>
                <c:pt idx="77">
                  <c:v>0.661939556613404</c:v>
                </c:pt>
                <c:pt idx="78">
                  <c:v>0.666215446133097</c:v>
                </c:pt>
                <c:pt idx="79">
                  <c:v>0.670732525959494</c:v>
                </c:pt>
                <c:pt idx="80">
                  <c:v>0.675490262162859</c:v>
                </c:pt>
                <c:pt idx="81">
                  <c:v>0.680488089592659</c:v>
                </c:pt>
                <c:pt idx="82">
                  <c:v>0.685725411584034</c:v>
                </c:pt>
                <c:pt idx="83">
                  <c:v>0.691201599668081</c:v>
                </c:pt>
                <c:pt idx="84">
                  <c:v>0.696915993288291</c:v>
                </c:pt>
                <c:pt idx="85">
                  <c:v>0.702867899525499</c:v>
                </c:pt>
                <c:pt idx="86">
                  <c:v>0.709056592833709</c:v>
                </c:pt>
                <c:pt idx="87">
                  <c:v>0.71548131478914</c:v>
                </c:pt>
                <c:pt idx="88">
                  <c:v>0.722141273854793</c:v>
                </c:pt>
                <c:pt idx="89">
                  <c:v>0.729035645162822</c:v>
                </c:pt>
                <c:pt idx="90">
                  <c:v>0.736163570316931</c:v>
                </c:pt>
                <c:pt idx="91">
                  <c:v>0.743524157216948</c:v>
                </c:pt>
                <c:pt idx="92">
                  <c:v>0.751116479907666</c:v>
                </c:pt>
                <c:pt idx="93">
                  <c:v>0.758939578453955</c:v>
                </c:pt>
                <c:pt idx="94">
                  <c:v>0.766992458844042</c:v>
                </c:pt>
                <c:pt idx="95">
                  <c:v>0.775274092922771</c:v>
                </c:pt>
                <c:pt idx="96">
                  <c:v>0.783783418356532</c:v>
                </c:pt>
                <c:pt idx="97">
                  <c:v>0.792519338631432</c:v>
                </c:pt>
                <c:pt idx="98">
                  <c:v>0.801480723086154</c:v>
                </c:pt>
                <c:pt idx="99">
                  <c:v>0.810666406980799</c:v>
                </c:pt>
                <c:pt idx="100">
                  <c:v>0.820075191602918</c:v>
                </c:pt>
                <c:pt idx="101">
                  <c:v>0.829705844411717</c:v>
                </c:pt>
                <c:pt idx="102">
                  <c:v>0.839557099221348</c:v>
                </c:pt>
                <c:pt idx="103">
                  <c:v>0.849627656423995</c:v>
                </c:pt>
                <c:pt idx="104">
                  <c:v>0.859916183253326</c:v>
                </c:pt>
                <c:pt idx="105">
                  <c:v>0.870421314088738</c:v>
                </c:pt>
                <c:pt idx="106">
                  <c:v>0.881141650800641</c:v>
                </c:pt>
                <c:pt idx="107">
                  <c:v>0.892075763136885</c:v>
                </c:pt>
                <c:pt idx="108">
                  <c:v>0.903222189150288</c:v>
                </c:pt>
                <c:pt idx="109">
                  <c:v>0.914579435667031</c:v>
                </c:pt>
                <c:pt idx="110">
                  <c:v>0.926145978795591</c:v>
                </c:pt>
                <c:pt idx="111">
                  <c:v>0.937920264475669</c:v>
                </c:pt>
                <c:pt idx="112">
                  <c:v>0.94990070906649</c:v>
                </c:pt>
                <c:pt idx="113">
                  <c:v>0.962085699973652</c:v>
                </c:pt>
                <c:pt idx="114">
                  <c:v>0.974473596313619</c:v>
                </c:pt>
                <c:pt idx="115">
                  <c:v>0.987062729614779</c:v>
                </c:pt>
                <c:pt idx="116">
                  <c:v>0.999851404553902</c:v>
                </c:pt>
                <c:pt idx="117">
                  <c:v>1.01283789972669</c:v>
                </c:pt>
                <c:pt idx="118">
                  <c:v>1.02602046845101</c:v>
                </c:pt>
                <c:pt idx="119">
                  <c:v>1.03939733960131</c:v>
                </c:pt>
                <c:pt idx="120">
                  <c:v>1.05296671847266</c:v>
                </c:pt>
                <c:pt idx="121">
                  <c:v>1.06672678767257</c:v>
                </c:pt>
                <c:pt idx="122">
                  <c:v>1.08067570803913</c:v>
                </c:pt>
                <c:pt idx="123">
                  <c:v>1.09481161958326</c:v>
                </c:pt>
                <c:pt idx="124">
                  <c:v>1.10913264245356</c:v>
                </c:pt>
                <c:pt idx="125">
                  <c:v>1.12363687792149</c:v>
                </c:pt>
                <c:pt idx="126">
                  <c:v>1.13832240938522</c:v>
                </c:pt>
                <c:pt idx="127">
                  <c:v>1.15318730338982</c:v>
                </c:pt>
                <c:pt idx="128">
                  <c:v>1.16822961066205</c:v>
                </c:pt>
                <c:pt idx="129">
                  <c:v>1.18344736715749</c:v>
                </c:pt>
                <c:pt idx="130">
                  <c:v>1.1988385951181</c:v>
                </c:pt>
                <c:pt idx="131">
                  <c:v>1.21440130413802</c:v>
                </c:pt>
                <c:pt idx="132">
                  <c:v>1.23013349223575</c:v>
                </c:pt>
                <c:pt idx="133">
                  <c:v>1.24603314693046</c:v>
                </c:pt>
                <c:pt idx="134">
                  <c:v>1.26209824632068</c:v>
                </c:pt>
                <c:pt idx="135">
                  <c:v>1.27832676016313</c:v>
                </c:pt>
                <c:pt idx="136">
                  <c:v>1.29471665095005</c:v>
                </c:pt>
                <c:pt idx="137">
                  <c:v>1.31126587498285</c:v>
                </c:pt>
                <c:pt idx="138">
                  <c:v>1.32797238344049</c:v>
                </c:pt>
                <c:pt idx="139">
                  <c:v>1.34483412344063</c:v>
                </c:pt>
                <c:pt idx="140">
                  <c:v>1.36184903909196</c:v>
                </c:pt>
                <c:pt idx="141">
                  <c:v>1.3813865791748</c:v>
                </c:pt>
                <c:pt idx="142">
                  <c:v>1.40107445620718</c:v>
                </c:pt>
                <c:pt idx="143">
                  <c:v>1.42091188978988</c:v>
                </c:pt>
                <c:pt idx="144">
                  <c:v>1.44089810133339</c:v>
                </c:pt>
                <c:pt idx="145">
                  <c:v>1.46103231540639</c:v>
                </c:pt>
                <c:pt idx="146">
                  <c:v>1.48131376106488</c:v>
                </c:pt>
                <c:pt idx="147">
                  <c:v>1.50174167316046</c:v>
                </c:pt>
                <c:pt idx="148">
                  <c:v>1.522315293626</c:v>
                </c:pt>
                <c:pt idx="149">
                  <c:v>1.5430338727372</c:v>
                </c:pt>
                <c:pt idx="150">
                  <c:v>1.56389667034857</c:v>
                </c:pt>
                <c:pt idx="151">
                  <c:v>1.58490295710242</c:v>
                </c:pt>
                <c:pt idx="152">
                  <c:v>1.60605201560958</c:v>
                </c:pt>
                <c:pt idx="153">
                  <c:v>1.62734314160063</c:v>
                </c:pt>
                <c:pt idx="154">
                  <c:v>1.64877564504638</c:v>
                </c:pt>
                <c:pt idx="155">
                  <c:v>1.67034885124662</c:v>
                </c:pt>
                <c:pt idx="156">
                  <c:v>1.69206210188612</c:v>
                </c:pt>
                <c:pt idx="157">
                  <c:v>1.71391475605684</c:v>
                </c:pt>
                <c:pt idx="158">
                  <c:v>1.73590619124555</c:v>
                </c:pt>
                <c:pt idx="159">
                  <c:v>1.75803580428608</c:v>
                </c:pt>
                <c:pt idx="160">
                  <c:v>1.7803030122753</c:v>
                </c:pt>
                <c:pt idx="161">
                  <c:v>1.80270725345232</c:v>
                </c:pt>
                <c:pt idx="162">
                  <c:v>1.82524798804013</c:v>
                </c:pt>
                <c:pt idx="163">
                  <c:v>1.84792469904917</c:v>
                </c:pt>
                <c:pt idx="164">
                  <c:v>1.87073689304229</c:v>
                </c:pt>
                <c:pt idx="165">
                  <c:v>1.8936841008606</c:v>
                </c:pt>
                <c:pt idx="166">
                  <c:v>1.91676587830977</c:v>
                </c:pt>
                <c:pt idx="167">
                  <c:v>1.93998180680644</c:v>
                </c:pt>
                <c:pt idx="168">
                  <c:v>1.96333149398423</c:v>
                </c:pt>
                <c:pt idx="169">
                  <c:v>1.98681457425929</c:v>
                </c:pt>
                <c:pt idx="170">
                  <c:v>2.01043070935483</c:v>
                </c:pt>
                <c:pt idx="171">
                  <c:v>2.03417958878457</c:v>
                </c:pt>
                <c:pt idx="172">
                  <c:v>2.05806093029477</c:v>
                </c:pt>
                <c:pt idx="173">
                  <c:v>2.08207448026475</c:v>
                </c:pt>
                <c:pt idx="174">
                  <c:v>2.10622001406562</c:v>
                </c:pt>
                <c:pt idx="175">
                  <c:v>2.13049733637717</c:v>
                </c:pt>
                <c:pt idx="176">
                  <c:v>2.15490628146272</c:v>
                </c:pt>
                <c:pt idx="177">
                  <c:v>2.17944671340184</c:v>
                </c:pt>
                <c:pt idx="178">
                  <c:v>2.20411852628093</c:v>
                </c:pt>
                <c:pt idx="179">
                  <c:v>2.22892164434147</c:v>
                </c:pt>
                <c:pt idx="180">
                  <c:v>2.25385602208595</c:v>
                </c:pt>
                <c:pt idx="181">
                  <c:v>2.27892164434147</c:v>
                </c:pt>
                <c:pt idx="182">
                  <c:v>2.30411852628093</c:v>
                </c:pt>
                <c:pt idx="183">
                  <c:v>2.32944671340184</c:v>
                </c:pt>
                <c:pt idx="184">
                  <c:v>2.35490628146272</c:v>
                </c:pt>
                <c:pt idx="185">
                  <c:v>2.38049733637717</c:v>
                </c:pt>
                <c:pt idx="186">
                  <c:v>2.40622001406562</c:v>
                </c:pt>
                <c:pt idx="187">
                  <c:v>2.43207448026475</c:v>
                </c:pt>
                <c:pt idx="188">
                  <c:v>2.45806093029477</c:v>
                </c:pt>
                <c:pt idx="189">
                  <c:v>2.48417958878457</c:v>
                </c:pt>
                <c:pt idx="190">
                  <c:v>2.51043070935483</c:v>
                </c:pt>
                <c:pt idx="191">
                  <c:v>2.53681457425929</c:v>
                </c:pt>
                <c:pt idx="192">
                  <c:v>2.56333149398423</c:v>
                </c:pt>
                <c:pt idx="193">
                  <c:v>2.58998180680644</c:v>
                </c:pt>
                <c:pt idx="194">
                  <c:v>2.61676587830977</c:v>
                </c:pt>
                <c:pt idx="195">
                  <c:v>2.6436841008606</c:v>
                </c:pt>
                <c:pt idx="196">
                  <c:v>2.67073689304229</c:v>
                </c:pt>
                <c:pt idx="197">
                  <c:v>2.69792469904917</c:v>
                </c:pt>
                <c:pt idx="198">
                  <c:v>2.72524798804013</c:v>
                </c:pt>
                <c:pt idx="199">
                  <c:v>2.75270725345232</c:v>
                </c:pt>
                <c:pt idx="200">
                  <c:v>2.7803030122753</c:v>
                </c:pt>
                <c:pt idx="201">
                  <c:v>2.80803580428608</c:v>
                </c:pt>
                <c:pt idx="202">
                  <c:v>2.83590619124555</c:v>
                </c:pt>
                <c:pt idx="203">
                  <c:v>2.86391475605684</c:v>
                </c:pt>
                <c:pt idx="204">
                  <c:v>2.89206210188612</c:v>
                </c:pt>
                <c:pt idx="205">
                  <c:v>2.92034885124662</c:v>
                </c:pt>
                <c:pt idx="206">
                  <c:v>2.94877564504638</c:v>
                </c:pt>
                <c:pt idx="207">
                  <c:v>2.97734314160063</c:v>
                </c:pt>
                <c:pt idx="208">
                  <c:v>3.00605201560958</c:v>
                </c:pt>
                <c:pt idx="209">
                  <c:v>3.03490295710242</c:v>
                </c:pt>
                <c:pt idx="210">
                  <c:v>3.06389667034857</c:v>
                </c:pt>
                <c:pt idx="211">
                  <c:v>3.0930338727372</c:v>
                </c:pt>
                <c:pt idx="212">
                  <c:v>3.122315293626</c:v>
                </c:pt>
                <c:pt idx="213">
                  <c:v>3.15174167316046</c:v>
                </c:pt>
                <c:pt idx="214">
                  <c:v>3.18131376106488</c:v>
                </c:pt>
                <c:pt idx="215">
                  <c:v>3.21103231540639</c:v>
                </c:pt>
                <c:pt idx="216">
                  <c:v>3.24089810133339</c:v>
                </c:pt>
                <c:pt idx="217">
                  <c:v>3.27091188978988</c:v>
                </c:pt>
                <c:pt idx="218">
                  <c:v>3.30107445620718</c:v>
                </c:pt>
                <c:pt idx="219">
                  <c:v>3.3313865791748</c:v>
                </c:pt>
                <c:pt idx="220">
                  <c:v>3.36184903909197</c:v>
                </c:pt>
                <c:pt idx="221">
                  <c:v>3.34483412344063</c:v>
                </c:pt>
                <c:pt idx="222">
                  <c:v>3.32797238344049</c:v>
                </c:pt>
                <c:pt idx="223">
                  <c:v>3.31126587498285</c:v>
                </c:pt>
                <c:pt idx="224">
                  <c:v>3.29471665095005</c:v>
                </c:pt>
                <c:pt idx="225">
                  <c:v>3.27832676016313</c:v>
                </c:pt>
                <c:pt idx="226">
                  <c:v>3.26209824632068</c:v>
                </c:pt>
                <c:pt idx="227">
                  <c:v>3.24603314693046</c:v>
                </c:pt>
                <c:pt idx="228">
                  <c:v>3.23013349223575</c:v>
                </c:pt>
                <c:pt idx="229">
                  <c:v>3.21440130413802</c:v>
                </c:pt>
                <c:pt idx="230">
                  <c:v>3.1988385951181</c:v>
                </c:pt>
                <c:pt idx="231">
                  <c:v>3.18344736715749</c:v>
                </c:pt>
                <c:pt idx="232">
                  <c:v>3.16822961066205</c:v>
                </c:pt>
                <c:pt idx="233">
                  <c:v>3.15318730338982</c:v>
                </c:pt>
                <c:pt idx="234">
                  <c:v>3.13832240938522</c:v>
                </c:pt>
                <c:pt idx="235">
                  <c:v>3.12363687792149</c:v>
                </c:pt>
                <c:pt idx="236">
                  <c:v>3.10913264245356</c:v>
                </c:pt>
                <c:pt idx="237">
                  <c:v>3.09481161958326</c:v>
                </c:pt>
                <c:pt idx="238">
                  <c:v>3.08067570803913</c:v>
                </c:pt>
                <c:pt idx="239">
                  <c:v>3.06672678767257</c:v>
                </c:pt>
                <c:pt idx="240">
                  <c:v>3.05296671847266</c:v>
                </c:pt>
                <c:pt idx="241">
                  <c:v>3.03939733960131</c:v>
                </c:pt>
                <c:pt idx="242">
                  <c:v>3.02602046845101</c:v>
                </c:pt>
                <c:pt idx="243">
                  <c:v>3.01283789972669</c:v>
                </c:pt>
                <c:pt idx="244">
                  <c:v>2.9998514045539</c:v>
                </c:pt>
                <c:pt idx="245">
                  <c:v>2.98706272961478</c:v>
                </c:pt>
                <c:pt idx="246">
                  <c:v>2.97447359631362</c:v>
                </c:pt>
                <c:pt idx="247">
                  <c:v>2.96208569997365</c:v>
                </c:pt>
                <c:pt idx="248">
                  <c:v>2.94990070906649</c:v>
                </c:pt>
                <c:pt idx="249">
                  <c:v>2.93792026447567</c:v>
                </c:pt>
                <c:pt idx="250">
                  <c:v>2.92614597879559</c:v>
                </c:pt>
                <c:pt idx="251">
                  <c:v>2.91457943566703</c:v>
                </c:pt>
                <c:pt idx="252">
                  <c:v>2.90322218915029</c:v>
                </c:pt>
                <c:pt idx="253">
                  <c:v>2.89207576313689</c:v>
                </c:pt>
                <c:pt idx="254">
                  <c:v>2.88114165080064</c:v>
                </c:pt>
                <c:pt idx="255">
                  <c:v>2.87042131408874</c:v>
                </c:pt>
                <c:pt idx="256">
                  <c:v>2.85991618325333</c:v>
                </c:pt>
                <c:pt idx="257">
                  <c:v>2.849627656424</c:v>
                </c:pt>
                <c:pt idx="258">
                  <c:v>2.83955709922135</c:v>
                </c:pt>
                <c:pt idx="259">
                  <c:v>2.82970584441172</c:v>
                </c:pt>
                <c:pt idx="260">
                  <c:v>2.82007519160292</c:v>
                </c:pt>
                <c:pt idx="261">
                  <c:v>2.8106664069808</c:v>
                </c:pt>
                <c:pt idx="262">
                  <c:v>2.80148072308615</c:v>
                </c:pt>
                <c:pt idx="263">
                  <c:v>2.79251933863143</c:v>
                </c:pt>
                <c:pt idx="264">
                  <c:v>2.78378341835653</c:v>
                </c:pt>
                <c:pt idx="265">
                  <c:v>2.77527409292277</c:v>
                </c:pt>
                <c:pt idx="266">
                  <c:v>2.76699245884404</c:v>
                </c:pt>
                <c:pt idx="267">
                  <c:v>2.75893957845396</c:v>
                </c:pt>
                <c:pt idx="268">
                  <c:v>2.75111647990767</c:v>
                </c:pt>
                <c:pt idx="269">
                  <c:v>2.74352415721695</c:v>
                </c:pt>
                <c:pt idx="270">
                  <c:v>2.73616357031693</c:v>
                </c:pt>
                <c:pt idx="271">
                  <c:v>2.72903564516282</c:v>
                </c:pt>
                <c:pt idx="272">
                  <c:v>2.72214127385479</c:v>
                </c:pt>
                <c:pt idx="273">
                  <c:v>2.71548131478914</c:v>
                </c:pt>
                <c:pt idx="274">
                  <c:v>2.70905659283371</c:v>
                </c:pt>
                <c:pt idx="275">
                  <c:v>2.7028678995255</c:v>
                </c:pt>
                <c:pt idx="276">
                  <c:v>2.69691599328829</c:v>
                </c:pt>
                <c:pt idx="277">
                  <c:v>2.69120159966808</c:v>
                </c:pt>
                <c:pt idx="278">
                  <c:v>2.68572541158403</c:v>
                </c:pt>
                <c:pt idx="279">
                  <c:v>2.68048808959266</c:v>
                </c:pt>
                <c:pt idx="280">
                  <c:v>2.67549026216286</c:v>
                </c:pt>
                <c:pt idx="281">
                  <c:v>2.67073252595949</c:v>
                </c:pt>
                <c:pt idx="282">
                  <c:v>2.6662154461331</c:v>
                </c:pt>
                <c:pt idx="283">
                  <c:v>2.6619395566134</c:v>
                </c:pt>
                <c:pt idx="284">
                  <c:v>2.65790536040434</c:v>
                </c:pt>
                <c:pt idx="285">
                  <c:v>2.65411332987817</c:v>
                </c:pt>
                <c:pt idx="286">
                  <c:v>2.65056390706659</c:v>
                </c:pt>
                <c:pt idx="287">
                  <c:v>2.64725750394652</c:v>
                </c:pt>
                <c:pt idx="288">
                  <c:v>2.64419450271845</c:v>
                </c:pt>
                <c:pt idx="289">
                  <c:v>2.64137525607538</c:v>
                </c:pt>
                <c:pt idx="290">
                  <c:v>2.63880008746027</c:v>
                </c:pt>
                <c:pt idx="291">
                  <c:v>2.63646929131027</c:v>
                </c:pt>
                <c:pt idx="292">
                  <c:v>2.63438313328581</c:v>
                </c:pt>
                <c:pt idx="293">
                  <c:v>2.63254185048314</c:v>
                </c:pt>
                <c:pt idx="294">
                  <c:v>2.63094565162859</c:v>
                </c:pt>
                <c:pt idx="295">
                  <c:v>2.62959471725337</c:v>
                </c:pt>
                <c:pt idx="296">
                  <c:v>2.62848919984752</c:v>
                </c:pt>
                <c:pt idx="297">
                  <c:v>2.6276292239921</c:v>
                </c:pt>
                <c:pt idx="298">
                  <c:v>2.6270148864686</c:v>
                </c:pt>
                <c:pt idx="299">
                  <c:v>2.62664625634477</c:v>
                </c:pt>
                <c:pt idx="300">
                  <c:v>2.62652337503645</c:v>
                </c:pt>
                <c:pt idx="301">
                  <c:v>2.62664625634477</c:v>
                </c:pt>
                <c:pt idx="302">
                  <c:v>2.6270148864686</c:v>
                </c:pt>
                <c:pt idx="303">
                  <c:v>2.6276292239921</c:v>
                </c:pt>
                <c:pt idx="304">
                  <c:v>2.62848919984752</c:v>
                </c:pt>
                <c:pt idx="305">
                  <c:v>2.62959471725337</c:v>
                </c:pt>
                <c:pt idx="306">
                  <c:v>2.63094565162859</c:v>
                </c:pt>
                <c:pt idx="307">
                  <c:v>2.63254185048314</c:v>
                </c:pt>
                <c:pt idx="308">
                  <c:v>2.63438313328581</c:v>
                </c:pt>
                <c:pt idx="309">
                  <c:v>2.63646929131027</c:v>
                </c:pt>
                <c:pt idx="310">
                  <c:v>2.63880008746027</c:v>
                </c:pt>
                <c:pt idx="311">
                  <c:v>2.64137525607538</c:v>
                </c:pt>
                <c:pt idx="312">
                  <c:v>2.64419450271845</c:v>
                </c:pt>
                <c:pt idx="313">
                  <c:v>2.64725750394652</c:v>
                </c:pt>
                <c:pt idx="314">
                  <c:v>2.65056390706659</c:v>
                </c:pt>
                <c:pt idx="315">
                  <c:v>2.65411332987817</c:v>
                </c:pt>
                <c:pt idx="316">
                  <c:v>2.65790536040434</c:v>
                </c:pt>
                <c:pt idx="317">
                  <c:v>2.6619395566134</c:v>
                </c:pt>
                <c:pt idx="318">
                  <c:v>2.6662154461331</c:v>
                </c:pt>
                <c:pt idx="319">
                  <c:v>2.67073252595949</c:v>
                </c:pt>
                <c:pt idx="320">
                  <c:v>2.67549026216286</c:v>
                </c:pt>
                <c:pt idx="321">
                  <c:v>2.68048808959266</c:v>
                </c:pt>
                <c:pt idx="322">
                  <c:v>2.68572541158403</c:v>
                </c:pt>
                <c:pt idx="323">
                  <c:v>2.69120159966808</c:v>
                </c:pt>
                <c:pt idx="324">
                  <c:v>2.69691599328829</c:v>
                </c:pt>
                <c:pt idx="325">
                  <c:v>2.7028678995255</c:v>
                </c:pt>
                <c:pt idx="326">
                  <c:v>2.70905659283371</c:v>
                </c:pt>
                <c:pt idx="327">
                  <c:v>2.71548131478914</c:v>
                </c:pt>
                <c:pt idx="328">
                  <c:v>2.72214127385479</c:v>
                </c:pt>
                <c:pt idx="329">
                  <c:v>2.72903564516282</c:v>
                </c:pt>
                <c:pt idx="330">
                  <c:v>2.73616357031693</c:v>
                </c:pt>
                <c:pt idx="331">
                  <c:v>2.74352415721695</c:v>
                </c:pt>
                <c:pt idx="332">
                  <c:v>2.75111647990767</c:v>
                </c:pt>
                <c:pt idx="333">
                  <c:v>2.75893957845396</c:v>
                </c:pt>
                <c:pt idx="334">
                  <c:v>2.76699245884404</c:v>
                </c:pt>
                <c:pt idx="335">
                  <c:v>2.77527409292277</c:v>
                </c:pt>
                <c:pt idx="336">
                  <c:v>2.78378341835653</c:v>
                </c:pt>
                <c:pt idx="337">
                  <c:v>2.79251933863143</c:v>
                </c:pt>
                <c:pt idx="338">
                  <c:v>2.80148072308615</c:v>
                </c:pt>
                <c:pt idx="339">
                  <c:v>2.8106664069808</c:v>
                </c:pt>
                <c:pt idx="340">
                  <c:v>2.82007519160292</c:v>
                </c:pt>
                <c:pt idx="341">
                  <c:v>2.82970584441172</c:v>
                </c:pt>
                <c:pt idx="342">
                  <c:v>2.83955709922135</c:v>
                </c:pt>
                <c:pt idx="343">
                  <c:v>2.849627656424</c:v>
                </c:pt>
                <c:pt idx="344">
                  <c:v>2.85991618325333</c:v>
                </c:pt>
                <c:pt idx="345">
                  <c:v>2.87042131408874</c:v>
                </c:pt>
                <c:pt idx="346">
                  <c:v>2.88114165080064</c:v>
                </c:pt>
                <c:pt idx="347">
                  <c:v>2.89207576313689</c:v>
                </c:pt>
                <c:pt idx="348">
                  <c:v>2.90322218915029</c:v>
                </c:pt>
                <c:pt idx="349">
                  <c:v>2.91457943566703</c:v>
                </c:pt>
                <c:pt idx="350">
                  <c:v>2.92614597879559</c:v>
                </c:pt>
                <c:pt idx="351">
                  <c:v>2.93792026447567</c:v>
                </c:pt>
                <c:pt idx="352">
                  <c:v>2.94990070906649</c:v>
                </c:pt>
                <c:pt idx="353">
                  <c:v>2.96208569997365</c:v>
                </c:pt>
                <c:pt idx="354">
                  <c:v>2.97447359631362</c:v>
                </c:pt>
                <c:pt idx="355">
                  <c:v>2.98706272961478</c:v>
                </c:pt>
                <c:pt idx="356">
                  <c:v>2.9998514045539</c:v>
                </c:pt>
                <c:pt idx="357">
                  <c:v>3.01283789972669</c:v>
                </c:pt>
                <c:pt idx="358">
                  <c:v>3.02602046845101</c:v>
                </c:pt>
                <c:pt idx="359">
                  <c:v>3.03939733960131</c:v>
                </c:pt>
                <c:pt idx="360">
                  <c:v>3.05296671847266</c:v>
                </c:pt>
              </c:numCache>
            </c:numRef>
          </c:yVal>
          <c:smooth val="1"/>
          <c:extLst>
            <c:ext xmlns:c16="http://schemas.microsoft.com/office/drawing/2014/chart" uri="{C3380CC4-5D6E-409C-BE32-E72D297353CC}">
              <c16:uniqueId val="{00000000-BD8E-424D-B19C-B1CAF72CC238}"/>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0.626523375036446</c:v>
                </c:pt>
              </c:numCache>
            </c:numRef>
          </c:yVal>
          <c:smooth val="1"/>
          <c:extLst>
            <c:ext xmlns:c16="http://schemas.microsoft.com/office/drawing/2014/chart" uri="{C3380CC4-5D6E-409C-BE32-E72D297353CC}">
              <c16:uniqueId val="{00000001-BD8E-424D-B19C-B1CAF72CC238}"/>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2.62652337503645</c:v>
                </c:pt>
              </c:numCache>
            </c:numRef>
          </c:yVal>
          <c:smooth val="1"/>
          <c:extLst>
            <c:ext xmlns:c16="http://schemas.microsoft.com/office/drawing/2014/chart" uri="{C3380CC4-5D6E-409C-BE32-E72D297353CC}">
              <c16:uniqueId val="{00000002-BD8E-424D-B19C-B1CAF72CC238}"/>
            </c:ext>
          </c:extLst>
        </c:ser>
        <c:ser>
          <c:idx val="3"/>
          <c:order val="3"/>
          <c:tx>
            <c:v>left GD steps</c:v>
          </c:tx>
          <c:spPr>
            <a:ln w="17145">
              <a:solidFill>
                <a:srgbClr val="326CB2"/>
              </a:solidFill>
            </a:ln>
          </c:spPr>
          <c:marker>
            <c:symbol val="none"/>
          </c:marker>
          <c:xVal>
            <c:numRef>
              <c:f>'Chart Data'!$G$2:$G$3</c:f>
              <c:numCache>
                <c:formatCode>General</c:formatCode>
                <c:ptCount val="2"/>
                <c:pt idx="0">
                  <c:v>-1.5</c:v>
                </c:pt>
                <c:pt idx="1">
                  <c:v>-1.77330057559031</c:v>
                </c:pt>
              </c:numCache>
            </c:numRef>
          </c:xVal>
          <c:yVal>
            <c:numRef>
              <c:f>'Chart Data'!$H$2:$H$3</c:f>
              <c:numCache>
                <c:formatCode>General</c:formatCode>
                <c:ptCount val="2"/>
                <c:pt idx="0">
                  <c:v>1.05296671847266</c:v>
                </c:pt>
                <c:pt idx="1">
                  <c:v>0.915359081549213</c:v>
                </c:pt>
              </c:numCache>
            </c:numRef>
          </c:yVal>
          <c:smooth val="1"/>
          <c:extLst>
            <c:ext xmlns:c16="http://schemas.microsoft.com/office/drawing/2014/chart" uri="{C3380CC4-5D6E-409C-BE32-E72D297353CC}">
              <c16:uniqueId val="{00000003-BD8E-424D-B19C-B1CAF72CC238}"/>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1.05296671847266</c:v>
                </c:pt>
              </c:numCache>
            </c:numRef>
          </c:yVal>
          <c:smooth val="1"/>
          <c:extLst>
            <c:ext xmlns:c16="http://schemas.microsoft.com/office/drawing/2014/chart" uri="{C3380CC4-5D6E-409C-BE32-E72D297353CC}">
              <c16:uniqueId val="{00000004-BD8E-424D-B19C-B1CAF72CC238}"/>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Data'!$K$2:$K$2</c:f>
              <c:numCache>
                <c:formatCode>General</c:formatCode>
                <c:ptCount val="1"/>
                <c:pt idx="0">
                  <c:v>-1.77330057559031</c:v>
                </c:pt>
              </c:numCache>
            </c:numRef>
          </c:xVal>
          <c:yVal>
            <c:numRef>
              <c:f>'Chart Data'!$L$2:$L$2</c:f>
              <c:numCache>
                <c:formatCode>General</c:formatCode>
                <c:ptCount val="1"/>
                <c:pt idx="0">
                  <c:v>0.915359081549213</c:v>
                </c:pt>
              </c:numCache>
            </c:numRef>
          </c:yVal>
          <c:smooth val="1"/>
          <c:extLst>
            <c:ext xmlns:c16="http://schemas.microsoft.com/office/drawing/2014/chart" uri="{C3380CC4-5D6E-409C-BE32-E72D297353CC}">
              <c16:uniqueId val="{00000005-BD8E-424D-B19C-B1CAF72CC238}"/>
            </c:ext>
          </c:extLst>
        </c:ser>
        <c:ser>
          <c:idx val="6"/>
          <c:order val="6"/>
          <c:tx>
            <c:v>right GD steps</c:v>
          </c:tx>
          <c:spPr>
            <a:ln w="17145">
              <a:solidFill>
                <a:srgbClr val="C45C28"/>
              </a:solidFill>
            </a:ln>
          </c:spPr>
          <c:marker>
            <c:symbol val="none"/>
          </c:marker>
          <c:xVal>
            <c:numRef>
              <c:f>'Chart Data'!$M$2:$M$3</c:f>
              <c:numCache>
                <c:formatCode>General</c:formatCode>
                <c:ptCount val="2"/>
                <c:pt idx="0">
                  <c:v>1.5</c:v>
                </c:pt>
                <c:pt idx="1">
                  <c:v>1.77330057559031</c:v>
                </c:pt>
              </c:numCache>
            </c:numRef>
          </c:xVal>
          <c:yVal>
            <c:numRef>
              <c:f>'Chart Data'!$N$2:$N$3</c:f>
              <c:numCache>
                <c:formatCode>General</c:formatCode>
                <c:ptCount val="2"/>
                <c:pt idx="0">
                  <c:v>3.05296671847266</c:v>
                </c:pt>
                <c:pt idx="1">
                  <c:v>2.91535908154921</c:v>
                </c:pt>
              </c:numCache>
            </c:numRef>
          </c:yVal>
          <c:smooth val="1"/>
          <c:extLst>
            <c:ext xmlns:c16="http://schemas.microsoft.com/office/drawing/2014/chart" uri="{C3380CC4-5D6E-409C-BE32-E72D297353CC}">
              <c16:uniqueId val="{00000006-BD8E-424D-B19C-B1CAF72CC238}"/>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3.05296671847266</c:v>
                </c:pt>
              </c:numCache>
            </c:numRef>
          </c:yVal>
          <c:smooth val="1"/>
          <c:extLst>
            <c:ext xmlns:c16="http://schemas.microsoft.com/office/drawing/2014/chart" uri="{C3380CC4-5D6E-409C-BE32-E72D297353CC}">
              <c16:uniqueId val="{00000007-BD8E-424D-B19C-B1CAF72CC238}"/>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Data'!$Q$2:$Q$2</c:f>
              <c:numCache>
                <c:formatCode>General</c:formatCode>
                <c:ptCount val="1"/>
                <c:pt idx="0">
                  <c:v>1.77330057559031</c:v>
                </c:pt>
              </c:numCache>
            </c:numRef>
          </c:xVal>
          <c:yVal>
            <c:numRef>
              <c:f>'Chart Data'!$R$2:$R$2</c:f>
              <c:numCache>
                <c:formatCode>General</c:formatCode>
                <c:ptCount val="1"/>
                <c:pt idx="0">
                  <c:v>2.91535908154921</c:v>
                </c:pt>
              </c:numCache>
            </c:numRef>
          </c:yVal>
          <c:smooth val="1"/>
          <c:extLst>
            <c:ext xmlns:c16="http://schemas.microsoft.com/office/drawing/2014/chart" uri="{C3380CC4-5D6E-409C-BE32-E72D297353CC}">
              <c16:uniqueId val="{00000008-BD8E-424D-B19C-B1CAF72CC238}"/>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-1.77330057559031</c:v>
                </c:pt>
              </c:numCache>
            </c:numRef>
          </c:xVal>
          <c:yVal>
            <c:numRef>
              <c:f>'Chart Data'!$T$2:$T$2</c:f>
              <c:numCache>
                <c:formatCode>General</c:formatCode>
                <c:ptCount val="1"/>
                <c:pt idx="0">
                  <c:v>0.915359081549213</c:v>
                </c:pt>
              </c:numCache>
            </c:numRef>
          </c:yVal>
          <c:smooth val="1"/>
          <c:extLst>
            <c:ext xmlns:c16="http://schemas.microsoft.com/office/drawing/2014/chart" uri="{C3380CC4-5D6E-409C-BE32-E72D297353CC}">
              <c16:uniqueId val="{00000009-BD8E-424D-B19C-B1CAF72CC238}"/>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1.77330057559031</c:v>
                </c:pt>
              </c:numCache>
            </c:numRef>
          </c:xVal>
          <c:yVal>
            <c:numRef>
              <c:f>'Chart Data'!$V$2:$V$2</c:f>
              <c:numCache>
                <c:formatCode>General</c:formatCode>
                <c:ptCount val="1"/>
                <c:pt idx="0">
                  <c:v>2.91535908154921</c:v>
                </c:pt>
              </c:numCache>
            </c:numRef>
          </c:yVal>
          <c:smooth val="1"/>
          <c:extLst>
            <c:ext xmlns:c16="http://schemas.microsoft.com/office/drawing/2014/chart" uri="{C3380CC4-5D6E-409C-BE32-E72D297353CC}">
              <c16:uniqueId val="{0000000A-BD8E-424D-B19C-B1CAF72CC238}"/>
            </c:ext>
          </c:extLst>
        </c:ser>
        <c:dLbls>
          <c:showLegendKey val="0"/>
          <c:showVal val="0"/>
          <c:showCatName val="0"/>
          <c:showSerName val="0"/>
          <c:showPercent val="0"/>
          <c:showBubbleSize val="0"/>
        </c:dLbls>
        <c:axId val="48650112"/>
        <c:axId val="48672768"/>
      </c:scatterChart>
      <c:valAx>
        <c:axId val="48672768"/>
        <c:scaling>
          <c:orientation val="minMax"/>
          <c:max val="4"/>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Logistic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1"/>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Logistic loss</c:v>
          </c:tx>
          <c:spPr>
            <a:ln w="30480">
              <a:solidFill>
                <a:srgbClr val="087F83"/>
              </a:solidFill>
            </a:ln>
          </c:spPr>
          <c:marker>
            <c:symbol val="none"/>
          </c:marker>
          <c:xVal>
            <c:numRef>
              <c:f>'Chart Data'!$A$2:$A$362</c:f>
              <c:numCache>
                <c:formatCode>General</c:formatCode>
                <c:ptCount val="361"/>
                <c:pt idx="0">
                  <c:v>-4.5</c:v>
                </c:pt>
                <c:pt idx="1">
                  <c:v>-4.475</c:v>
                </c:pt>
                <c:pt idx="2">
                  <c:v>-4.45</c:v>
                </c:pt>
                <c:pt idx="3">
                  <c:v>-4.425</c:v>
                </c:pt>
                <c:pt idx="4">
                  <c:v>-4.4</c:v>
                </c:pt>
                <c:pt idx="5">
                  <c:v>-4.375</c:v>
                </c:pt>
                <c:pt idx="6">
                  <c:v>-4.35</c:v>
                </c:pt>
                <c:pt idx="7">
                  <c:v>-4.325</c:v>
                </c:pt>
                <c:pt idx="8">
                  <c:v>-4.3</c:v>
                </c:pt>
                <c:pt idx="9">
                  <c:v>-4.275</c:v>
                </c:pt>
                <c:pt idx="10">
                  <c:v>-4.25</c:v>
                </c:pt>
                <c:pt idx="11">
                  <c:v>-4.225</c:v>
                </c:pt>
                <c:pt idx="12">
                  <c:v>-4.2</c:v>
                </c:pt>
                <c:pt idx="13">
                  <c:v>-4.175</c:v>
                </c:pt>
                <c:pt idx="14">
                  <c:v>-4.15</c:v>
                </c:pt>
                <c:pt idx="15">
                  <c:v>-4.125</c:v>
                </c:pt>
                <c:pt idx="16">
                  <c:v>-4.1</c:v>
                </c:pt>
                <c:pt idx="17">
                  <c:v>-4.075</c:v>
                </c:pt>
                <c:pt idx="18">
                  <c:v>-4.05</c:v>
                </c:pt>
                <c:pt idx="19">
                  <c:v>-4.025</c:v>
                </c:pt>
                <c:pt idx="20">
                  <c:v>-4</c:v>
                </c:pt>
                <c:pt idx="21">
                  <c:v>-3.975</c:v>
                </c:pt>
                <c:pt idx="22">
                  <c:v>-3.95</c:v>
                </c:pt>
                <c:pt idx="23">
                  <c:v>-3.925</c:v>
                </c:pt>
                <c:pt idx="24">
                  <c:v>-3.9</c:v>
                </c:pt>
                <c:pt idx="25">
                  <c:v>-3.875</c:v>
                </c:pt>
                <c:pt idx="26">
                  <c:v>-3.85</c:v>
                </c:pt>
                <c:pt idx="27">
                  <c:v>-3.825</c:v>
                </c:pt>
                <c:pt idx="28">
                  <c:v>-3.8</c:v>
                </c:pt>
                <c:pt idx="29">
                  <c:v>-3.775</c:v>
                </c:pt>
                <c:pt idx="30">
                  <c:v>-3.75</c:v>
                </c:pt>
                <c:pt idx="31">
                  <c:v>-3.725</c:v>
                </c:pt>
                <c:pt idx="32">
                  <c:v>-3.7</c:v>
                </c:pt>
                <c:pt idx="33">
                  <c:v>-3.675</c:v>
                </c:pt>
                <c:pt idx="34">
                  <c:v>-3.65</c:v>
                </c:pt>
                <c:pt idx="35">
                  <c:v>-3.625</c:v>
                </c:pt>
                <c:pt idx="36">
                  <c:v>-3.6</c:v>
                </c:pt>
                <c:pt idx="37">
                  <c:v>-3.575</c:v>
                </c:pt>
                <c:pt idx="38">
                  <c:v>-3.55</c:v>
                </c:pt>
                <c:pt idx="39">
                  <c:v>-3.525</c:v>
                </c:pt>
                <c:pt idx="40">
                  <c:v>-3.5</c:v>
                </c:pt>
                <c:pt idx="41">
                  <c:v>-3.475</c:v>
                </c:pt>
                <c:pt idx="42">
                  <c:v>-3.45</c:v>
                </c:pt>
                <c:pt idx="43">
                  <c:v>-3.425</c:v>
                </c:pt>
                <c:pt idx="44">
                  <c:v>-3.4</c:v>
                </c:pt>
                <c:pt idx="45">
                  <c:v>-3.375</c:v>
                </c:pt>
                <c:pt idx="46">
                  <c:v>-3.35</c:v>
                </c:pt>
                <c:pt idx="47">
                  <c:v>-3.325</c:v>
                </c:pt>
                <c:pt idx="48">
                  <c:v>-3.3</c:v>
                </c:pt>
                <c:pt idx="49">
                  <c:v>-3.275</c:v>
                </c:pt>
                <c:pt idx="50">
                  <c:v>-3.25</c:v>
                </c:pt>
                <c:pt idx="51">
                  <c:v>-3.225</c:v>
                </c:pt>
                <c:pt idx="52">
                  <c:v>-3.2</c:v>
                </c:pt>
                <c:pt idx="53">
                  <c:v>-3.175</c:v>
                </c:pt>
                <c:pt idx="54">
                  <c:v>-3.15</c:v>
                </c:pt>
                <c:pt idx="55">
                  <c:v>-3.125</c:v>
                </c:pt>
                <c:pt idx="56">
                  <c:v>-3.1</c:v>
                </c:pt>
                <c:pt idx="57">
                  <c:v>-3.075</c:v>
                </c:pt>
                <c:pt idx="58">
                  <c:v>-3.05</c:v>
                </c:pt>
                <c:pt idx="59">
                  <c:v>-3.025</c:v>
                </c:pt>
                <c:pt idx="60">
                  <c:v>-3</c:v>
                </c:pt>
                <c:pt idx="61">
                  <c:v>-2.975</c:v>
                </c:pt>
                <c:pt idx="62">
                  <c:v>-2.95</c:v>
                </c:pt>
                <c:pt idx="63">
                  <c:v>-2.925</c:v>
                </c:pt>
                <c:pt idx="64">
                  <c:v>-2.9</c:v>
                </c:pt>
                <c:pt idx="65">
                  <c:v>-2.875</c:v>
                </c:pt>
                <c:pt idx="66">
                  <c:v>-2.85</c:v>
                </c:pt>
                <c:pt idx="67">
                  <c:v>-2.825</c:v>
                </c:pt>
                <c:pt idx="68">
                  <c:v>-2.8</c:v>
                </c:pt>
                <c:pt idx="69">
                  <c:v>-2.775</c:v>
                </c:pt>
                <c:pt idx="70">
                  <c:v>-2.75</c:v>
                </c:pt>
                <c:pt idx="71">
                  <c:v>-2.725</c:v>
                </c:pt>
                <c:pt idx="72">
                  <c:v>-2.7</c:v>
                </c:pt>
                <c:pt idx="73">
                  <c:v>-2.675</c:v>
                </c:pt>
                <c:pt idx="74">
                  <c:v>-2.65</c:v>
                </c:pt>
                <c:pt idx="75">
                  <c:v>-2.625</c:v>
                </c:pt>
                <c:pt idx="76">
                  <c:v>-2.6</c:v>
                </c:pt>
                <c:pt idx="77">
                  <c:v>-2.575</c:v>
                </c:pt>
                <c:pt idx="78">
                  <c:v>-2.55</c:v>
                </c:pt>
                <c:pt idx="79">
                  <c:v>-2.525</c:v>
                </c:pt>
                <c:pt idx="80">
                  <c:v>-2.5</c:v>
                </c:pt>
                <c:pt idx="81">
                  <c:v>-2.475</c:v>
                </c:pt>
                <c:pt idx="82">
                  <c:v>-2.45</c:v>
                </c:pt>
                <c:pt idx="83">
                  <c:v>-2.425</c:v>
                </c:pt>
                <c:pt idx="84">
                  <c:v>-2.4</c:v>
                </c:pt>
                <c:pt idx="85">
                  <c:v>-2.375</c:v>
                </c:pt>
                <c:pt idx="86">
                  <c:v>-2.35</c:v>
                </c:pt>
                <c:pt idx="87">
                  <c:v>-2.325</c:v>
                </c:pt>
                <c:pt idx="88">
                  <c:v>-2.3</c:v>
                </c:pt>
                <c:pt idx="89">
                  <c:v>-2.275</c:v>
                </c:pt>
                <c:pt idx="90">
                  <c:v>-2.25</c:v>
                </c:pt>
                <c:pt idx="91">
                  <c:v>-2.225</c:v>
                </c:pt>
                <c:pt idx="92">
                  <c:v>-2.2</c:v>
                </c:pt>
                <c:pt idx="93">
                  <c:v>-2.175</c:v>
                </c:pt>
                <c:pt idx="94">
                  <c:v>-2.15</c:v>
                </c:pt>
                <c:pt idx="95">
                  <c:v>-2.125</c:v>
                </c:pt>
                <c:pt idx="96">
                  <c:v>-2.1</c:v>
                </c:pt>
                <c:pt idx="97">
                  <c:v>-2.075</c:v>
                </c:pt>
                <c:pt idx="98">
                  <c:v>-2.05</c:v>
                </c:pt>
                <c:pt idx="99">
                  <c:v>-2.025</c:v>
                </c:pt>
                <c:pt idx="100">
                  <c:v>-2</c:v>
                </c:pt>
                <c:pt idx="101">
                  <c:v>-1.975</c:v>
                </c:pt>
                <c:pt idx="102">
                  <c:v>-1.95</c:v>
                </c:pt>
                <c:pt idx="103">
                  <c:v>-1.925</c:v>
                </c:pt>
                <c:pt idx="104">
                  <c:v>-1.9</c:v>
                </c:pt>
                <c:pt idx="105">
                  <c:v>-1.875</c:v>
                </c:pt>
                <c:pt idx="106">
                  <c:v>-1.85</c:v>
                </c:pt>
                <c:pt idx="107">
                  <c:v>-1.825</c:v>
                </c:pt>
                <c:pt idx="108">
                  <c:v>-1.8</c:v>
                </c:pt>
                <c:pt idx="109">
                  <c:v>-1.775</c:v>
                </c:pt>
                <c:pt idx="110">
                  <c:v>-1.75</c:v>
                </c:pt>
                <c:pt idx="111">
                  <c:v>-1.725</c:v>
                </c:pt>
                <c:pt idx="112">
                  <c:v>-1.7</c:v>
                </c:pt>
                <c:pt idx="113">
                  <c:v>-1.675</c:v>
                </c:pt>
                <c:pt idx="114">
                  <c:v>-1.65</c:v>
                </c:pt>
                <c:pt idx="115">
                  <c:v>-1.625</c:v>
                </c:pt>
                <c:pt idx="116">
                  <c:v>-1.6</c:v>
                </c:pt>
                <c:pt idx="117">
                  <c:v>-1.575</c:v>
                </c:pt>
                <c:pt idx="118">
                  <c:v>-1.55</c:v>
                </c:pt>
                <c:pt idx="119">
                  <c:v>-1.525</c:v>
                </c:pt>
                <c:pt idx="120">
                  <c:v>-1.5</c:v>
                </c:pt>
                <c:pt idx="121">
                  <c:v>-1.475</c:v>
                </c:pt>
                <c:pt idx="122">
                  <c:v>-1.45</c:v>
                </c:pt>
                <c:pt idx="123">
                  <c:v>-1.425</c:v>
                </c:pt>
                <c:pt idx="124">
                  <c:v>-1.4</c:v>
                </c:pt>
                <c:pt idx="125">
                  <c:v>-1.375</c:v>
                </c:pt>
                <c:pt idx="126">
                  <c:v>-1.35</c:v>
                </c:pt>
                <c:pt idx="127">
                  <c:v>-1.325</c:v>
                </c:pt>
                <c:pt idx="128">
                  <c:v>-1.3</c:v>
                </c:pt>
                <c:pt idx="129">
                  <c:v>-1.275</c:v>
                </c:pt>
                <c:pt idx="130">
                  <c:v>-1.25</c:v>
                </c:pt>
                <c:pt idx="131">
                  <c:v>-1.225</c:v>
                </c:pt>
                <c:pt idx="132">
                  <c:v>-1.2</c:v>
                </c:pt>
                <c:pt idx="133">
                  <c:v>-1.175</c:v>
                </c:pt>
                <c:pt idx="134">
                  <c:v>-1.15</c:v>
                </c:pt>
                <c:pt idx="135">
                  <c:v>-1.125</c:v>
                </c:pt>
                <c:pt idx="136">
                  <c:v>-1.1</c:v>
                </c:pt>
                <c:pt idx="137">
                  <c:v>-1.075</c:v>
                </c:pt>
                <c:pt idx="138">
                  <c:v>-1.05</c:v>
                </c:pt>
                <c:pt idx="139">
                  <c:v>-1.025</c:v>
                </c:pt>
                <c:pt idx="140">
                  <c:v>-1</c:v>
                </c:pt>
                <c:pt idx="141">
                  <c:v>-0.975</c:v>
                </c:pt>
                <c:pt idx="142">
                  <c:v>-0.95</c:v>
                </c:pt>
                <c:pt idx="143">
                  <c:v>-0.925</c:v>
                </c:pt>
                <c:pt idx="144">
                  <c:v>-0.9</c:v>
                </c:pt>
                <c:pt idx="145">
                  <c:v>-0.875</c:v>
                </c:pt>
                <c:pt idx="146">
                  <c:v>-0.85</c:v>
                </c:pt>
                <c:pt idx="147">
                  <c:v>-0.825</c:v>
                </c:pt>
                <c:pt idx="148">
                  <c:v>-0.8</c:v>
                </c:pt>
                <c:pt idx="149">
                  <c:v>-0.775</c:v>
                </c:pt>
                <c:pt idx="150">
                  <c:v>-0.75</c:v>
                </c:pt>
                <c:pt idx="151">
                  <c:v>-0.725</c:v>
                </c:pt>
                <c:pt idx="152">
                  <c:v>-0.7</c:v>
                </c:pt>
                <c:pt idx="153">
                  <c:v>-0.675</c:v>
                </c:pt>
                <c:pt idx="154">
                  <c:v>-0.65</c:v>
                </c:pt>
                <c:pt idx="155">
                  <c:v>-0.625</c:v>
                </c:pt>
                <c:pt idx="156">
                  <c:v>-0.6</c:v>
                </c:pt>
                <c:pt idx="157">
                  <c:v>-0.575</c:v>
                </c:pt>
                <c:pt idx="158">
                  <c:v>-0.55</c:v>
                </c:pt>
                <c:pt idx="159">
                  <c:v>-0.525</c:v>
                </c:pt>
                <c:pt idx="160">
                  <c:v>-0.5</c:v>
                </c:pt>
                <c:pt idx="161">
                  <c:v>-0.475</c:v>
                </c:pt>
                <c:pt idx="162">
                  <c:v>-0.45</c:v>
                </c:pt>
                <c:pt idx="163">
                  <c:v>-0.425</c:v>
                </c:pt>
                <c:pt idx="164">
                  <c:v>-0.4</c:v>
                </c:pt>
                <c:pt idx="165">
                  <c:v>-0.375</c:v>
                </c:pt>
                <c:pt idx="166">
                  <c:v>-0.35</c:v>
                </c:pt>
                <c:pt idx="167">
                  <c:v>-0.325</c:v>
                </c:pt>
                <c:pt idx="168">
                  <c:v>-0.3</c:v>
                </c:pt>
                <c:pt idx="169">
                  <c:v>-0.275</c:v>
                </c:pt>
                <c:pt idx="170">
                  <c:v>-0.25</c:v>
                </c:pt>
                <c:pt idx="171">
                  <c:v>-0.225</c:v>
                </c:pt>
                <c:pt idx="172">
                  <c:v>-0.2</c:v>
                </c:pt>
                <c:pt idx="173">
                  <c:v>-0.175</c:v>
                </c:pt>
                <c:pt idx="174">
                  <c:v>-0.15</c:v>
                </c:pt>
                <c:pt idx="175">
                  <c:v>-0.125</c:v>
                </c:pt>
                <c:pt idx="176">
                  <c:v>-0.1</c:v>
                </c:pt>
                <c:pt idx="177">
                  <c:v>-0.075</c:v>
                </c:pt>
                <c:pt idx="178">
                  <c:v>-0.05</c:v>
                </c:pt>
                <c:pt idx="179">
                  <c:v>-0.025</c:v>
                </c:pt>
                <c:pt idx="180">
                  <c:v>0</c:v>
                </c:pt>
                <c:pt idx="181">
                  <c:v>0.025</c:v>
                </c:pt>
                <c:pt idx="182">
                  <c:v>0.05</c:v>
                </c:pt>
                <c:pt idx="183">
                  <c:v>0.075</c:v>
                </c:pt>
                <c:pt idx="184">
                  <c:v>0.1</c:v>
                </c:pt>
                <c:pt idx="185">
                  <c:v>0.125</c:v>
                </c:pt>
                <c:pt idx="186">
                  <c:v>0.15</c:v>
                </c:pt>
                <c:pt idx="187">
                  <c:v>0.175</c:v>
                </c:pt>
                <c:pt idx="188">
                  <c:v>0.2</c:v>
                </c:pt>
                <c:pt idx="189">
                  <c:v>0.225</c:v>
                </c:pt>
                <c:pt idx="190">
                  <c:v>0.25</c:v>
                </c:pt>
                <c:pt idx="191">
                  <c:v>0.275</c:v>
                </c:pt>
                <c:pt idx="192">
                  <c:v>0.3</c:v>
                </c:pt>
                <c:pt idx="193">
                  <c:v>0.325</c:v>
                </c:pt>
                <c:pt idx="194">
                  <c:v>0.35</c:v>
                </c:pt>
                <c:pt idx="195">
                  <c:v>0.375</c:v>
                </c:pt>
                <c:pt idx="196">
                  <c:v>0.4</c:v>
                </c:pt>
                <c:pt idx="197">
                  <c:v>0.425</c:v>
                </c:pt>
                <c:pt idx="198">
                  <c:v>0.45</c:v>
                </c:pt>
                <c:pt idx="199">
                  <c:v>0.475</c:v>
                </c:pt>
                <c:pt idx="200">
                  <c:v>0.5</c:v>
                </c:pt>
                <c:pt idx="201">
                  <c:v>0.525</c:v>
                </c:pt>
                <c:pt idx="202">
                  <c:v>0.55</c:v>
                </c:pt>
                <c:pt idx="203">
                  <c:v>0.575</c:v>
                </c:pt>
                <c:pt idx="204">
                  <c:v>0.6</c:v>
                </c:pt>
                <c:pt idx="205">
                  <c:v>0.625</c:v>
                </c:pt>
                <c:pt idx="206">
                  <c:v>0.65</c:v>
                </c:pt>
                <c:pt idx="207">
                  <c:v>0.675</c:v>
                </c:pt>
                <c:pt idx="208">
                  <c:v>0.7</c:v>
                </c:pt>
                <c:pt idx="209">
                  <c:v>0.725</c:v>
                </c:pt>
                <c:pt idx="210">
                  <c:v>0.75</c:v>
                </c:pt>
                <c:pt idx="211">
                  <c:v>0.775</c:v>
                </c:pt>
                <c:pt idx="212">
                  <c:v>0.8</c:v>
                </c:pt>
                <c:pt idx="213">
                  <c:v>0.825</c:v>
                </c:pt>
                <c:pt idx="214">
                  <c:v>0.85</c:v>
                </c:pt>
                <c:pt idx="215">
                  <c:v>0.875</c:v>
                </c:pt>
                <c:pt idx="216">
                  <c:v>0.9</c:v>
                </c:pt>
                <c:pt idx="217">
                  <c:v>0.925</c:v>
                </c:pt>
                <c:pt idx="218">
                  <c:v>0.95</c:v>
                </c:pt>
                <c:pt idx="219">
                  <c:v>0.975</c:v>
                </c:pt>
                <c:pt idx="220">
                  <c:v>1</c:v>
                </c:pt>
                <c:pt idx="221">
                  <c:v>1.025</c:v>
                </c:pt>
                <c:pt idx="222">
                  <c:v>1.05</c:v>
                </c:pt>
                <c:pt idx="223">
                  <c:v>1.075</c:v>
                </c:pt>
                <c:pt idx="224">
                  <c:v>1.1</c:v>
                </c:pt>
                <c:pt idx="225">
                  <c:v>1.125</c:v>
                </c:pt>
                <c:pt idx="226">
                  <c:v>1.15</c:v>
                </c:pt>
                <c:pt idx="227">
                  <c:v>1.175</c:v>
                </c:pt>
                <c:pt idx="228">
                  <c:v>1.2</c:v>
                </c:pt>
                <c:pt idx="229">
                  <c:v>1.225</c:v>
                </c:pt>
                <c:pt idx="230">
                  <c:v>1.25</c:v>
                </c:pt>
                <c:pt idx="231">
                  <c:v>1.275</c:v>
                </c:pt>
                <c:pt idx="232">
                  <c:v>1.3</c:v>
                </c:pt>
                <c:pt idx="233">
                  <c:v>1.325</c:v>
                </c:pt>
                <c:pt idx="234">
                  <c:v>1.35</c:v>
                </c:pt>
                <c:pt idx="235">
                  <c:v>1.375</c:v>
                </c:pt>
                <c:pt idx="236">
                  <c:v>1.4</c:v>
                </c:pt>
                <c:pt idx="237">
                  <c:v>1.425</c:v>
                </c:pt>
                <c:pt idx="238">
                  <c:v>1.45</c:v>
                </c:pt>
                <c:pt idx="239">
                  <c:v>1.475</c:v>
                </c:pt>
                <c:pt idx="240">
                  <c:v>1.5</c:v>
                </c:pt>
                <c:pt idx="241">
                  <c:v>1.525</c:v>
                </c:pt>
                <c:pt idx="242">
                  <c:v>1.55</c:v>
                </c:pt>
                <c:pt idx="243">
                  <c:v>1.575</c:v>
                </c:pt>
                <c:pt idx="244">
                  <c:v>1.6</c:v>
                </c:pt>
                <c:pt idx="245">
                  <c:v>1.625</c:v>
                </c:pt>
                <c:pt idx="246">
                  <c:v>1.65</c:v>
                </c:pt>
                <c:pt idx="247">
                  <c:v>1.675</c:v>
                </c:pt>
                <c:pt idx="248">
                  <c:v>1.7</c:v>
                </c:pt>
                <c:pt idx="249">
                  <c:v>1.725</c:v>
                </c:pt>
                <c:pt idx="250">
                  <c:v>1.75</c:v>
                </c:pt>
                <c:pt idx="251">
                  <c:v>1.775</c:v>
                </c:pt>
                <c:pt idx="252">
                  <c:v>1.8</c:v>
                </c:pt>
                <c:pt idx="253">
                  <c:v>1.825</c:v>
                </c:pt>
                <c:pt idx="254">
                  <c:v>1.85</c:v>
                </c:pt>
                <c:pt idx="255">
                  <c:v>1.875</c:v>
                </c:pt>
                <c:pt idx="256">
                  <c:v>1.9</c:v>
                </c:pt>
                <c:pt idx="257">
                  <c:v>1.925</c:v>
                </c:pt>
                <c:pt idx="258">
                  <c:v>1.95</c:v>
                </c:pt>
                <c:pt idx="259">
                  <c:v>1.975</c:v>
                </c:pt>
                <c:pt idx="260">
                  <c:v>2</c:v>
                </c:pt>
                <c:pt idx="261">
                  <c:v>2.025</c:v>
                </c:pt>
                <c:pt idx="262">
                  <c:v>2.05</c:v>
                </c:pt>
                <c:pt idx="263">
                  <c:v>2.075</c:v>
                </c:pt>
                <c:pt idx="264">
                  <c:v>2.1</c:v>
                </c:pt>
                <c:pt idx="265">
                  <c:v>2.125</c:v>
                </c:pt>
                <c:pt idx="266">
                  <c:v>2.15</c:v>
                </c:pt>
                <c:pt idx="267">
                  <c:v>2.175</c:v>
                </c:pt>
                <c:pt idx="268">
                  <c:v>2.2</c:v>
                </c:pt>
                <c:pt idx="269">
                  <c:v>2.225</c:v>
                </c:pt>
                <c:pt idx="270">
                  <c:v>2.25</c:v>
                </c:pt>
                <c:pt idx="271">
                  <c:v>2.275</c:v>
                </c:pt>
                <c:pt idx="272">
                  <c:v>2.3</c:v>
                </c:pt>
                <c:pt idx="273">
                  <c:v>2.325</c:v>
                </c:pt>
                <c:pt idx="274">
                  <c:v>2.35</c:v>
                </c:pt>
                <c:pt idx="275">
                  <c:v>2.375</c:v>
                </c:pt>
                <c:pt idx="276">
                  <c:v>2.4</c:v>
                </c:pt>
                <c:pt idx="277">
                  <c:v>2.425</c:v>
                </c:pt>
                <c:pt idx="278">
                  <c:v>2.45</c:v>
                </c:pt>
                <c:pt idx="279">
                  <c:v>2.475</c:v>
                </c:pt>
                <c:pt idx="280">
                  <c:v>2.5</c:v>
                </c:pt>
                <c:pt idx="281">
                  <c:v>2.525</c:v>
                </c:pt>
                <c:pt idx="282">
                  <c:v>2.55</c:v>
                </c:pt>
                <c:pt idx="283">
                  <c:v>2.575</c:v>
                </c:pt>
                <c:pt idx="284">
                  <c:v>2.6</c:v>
                </c:pt>
                <c:pt idx="285">
                  <c:v>2.625</c:v>
                </c:pt>
                <c:pt idx="286">
                  <c:v>2.65</c:v>
                </c:pt>
                <c:pt idx="287">
                  <c:v>2.675</c:v>
                </c:pt>
                <c:pt idx="288">
                  <c:v>2.7</c:v>
                </c:pt>
                <c:pt idx="289">
                  <c:v>2.725</c:v>
                </c:pt>
                <c:pt idx="290">
                  <c:v>2.75</c:v>
                </c:pt>
                <c:pt idx="291">
                  <c:v>2.775</c:v>
                </c:pt>
                <c:pt idx="292">
                  <c:v>2.8</c:v>
                </c:pt>
                <c:pt idx="293">
                  <c:v>2.825</c:v>
                </c:pt>
                <c:pt idx="294">
                  <c:v>2.85</c:v>
                </c:pt>
                <c:pt idx="295">
                  <c:v>2.875</c:v>
                </c:pt>
                <c:pt idx="296">
                  <c:v>2.9</c:v>
                </c:pt>
                <c:pt idx="297">
                  <c:v>2.925</c:v>
                </c:pt>
                <c:pt idx="298">
                  <c:v>2.95</c:v>
                </c:pt>
                <c:pt idx="299">
                  <c:v>2.975</c:v>
                </c:pt>
                <c:pt idx="300">
                  <c:v>3</c:v>
                </c:pt>
                <c:pt idx="301">
                  <c:v>3.025</c:v>
                </c:pt>
                <c:pt idx="302">
                  <c:v>3.05</c:v>
                </c:pt>
                <c:pt idx="303">
                  <c:v>3.075</c:v>
                </c:pt>
                <c:pt idx="304">
                  <c:v>3.1</c:v>
                </c:pt>
                <c:pt idx="305">
                  <c:v>3.125</c:v>
                </c:pt>
                <c:pt idx="306">
                  <c:v>3.15</c:v>
                </c:pt>
                <c:pt idx="307">
                  <c:v>3.175</c:v>
                </c:pt>
                <c:pt idx="308">
                  <c:v>3.2</c:v>
                </c:pt>
                <c:pt idx="309">
                  <c:v>3.225</c:v>
                </c:pt>
                <c:pt idx="310">
                  <c:v>3.25</c:v>
                </c:pt>
                <c:pt idx="311">
                  <c:v>3.275</c:v>
                </c:pt>
                <c:pt idx="312">
                  <c:v>3.3</c:v>
                </c:pt>
                <c:pt idx="313">
                  <c:v>3.325</c:v>
                </c:pt>
                <c:pt idx="314">
                  <c:v>3.35</c:v>
                </c:pt>
                <c:pt idx="315">
                  <c:v>3.375</c:v>
                </c:pt>
                <c:pt idx="316">
                  <c:v>3.4</c:v>
                </c:pt>
                <c:pt idx="317">
                  <c:v>3.425</c:v>
                </c:pt>
                <c:pt idx="318">
                  <c:v>3.45</c:v>
                </c:pt>
                <c:pt idx="319">
                  <c:v>3.475</c:v>
                </c:pt>
                <c:pt idx="320">
                  <c:v>3.5</c:v>
                </c:pt>
                <c:pt idx="321">
                  <c:v>3.525</c:v>
                </c:pt>
                <c:pt idx="322">
                  <c:v>3.55</c:v>
                </c:pt>
                <c:pt idx="323">
                  <c:v>3.575</c:v>
                </c:pt>
                <c:pt idx="324">
                  <c:v>3.6</c:v>
                </c:pt>
                <c:pt idx="325">
                  <c:v>3.625</c:v>
                </c:pt>
                <c:pt idx="326">
                  <c:v>3.65</c:v>
                </c:pt>
                <c:pt idx="327">
                  <c:v>3.675</c:v>
                </c:pt>
                <c:pt idx="328">
                  <c:v>3.7</c:v>
                </c:pt>
                <c:pt idx="329">
                  <c:v>3.725</c:v>
                </c:pt>
                <c:pt idx="330">
                  <c:v>3.75</c:v>
                </c:pt>
                <c:pt idx="331">
                  <c:v>3.775</c:v>
                </c:pt>
                <c:pt idx="332">
                  <c:v>3.8</c:v>
                </c:pt>
                <c:pt idx="333">
                  <c:v>3.825</c:v>
                </c:pt>
                <c:pt idx="334">
                  <c:v>3.85</c:v>
                </c:pt>
                <c:pt idx="335">
                  <c:v>3.875</c:v>
                </c:pt>
                <c:pt idx="336">
                  <c:v>3.9</c:v>
                </c:pt>
                <c:pt idx="337">
                  <c:v>3.925</c:v>
                </c:pt>
                <c:pt idx="338">
                  <c:v>3.95</c:v>
                </c:pt>
                <c:pt idx="339">
                  <c:v>3.975</c:v>
                </c:pt>
                <c:pt idx="340">
                  <c:v>4</c:v>
                </c:pt>
                <c:pt idx="341">
                  <c:v>4.025</c:v>
                </c:pt>
                <c:pt idx="342">
                  <c:v>4.05</c:v>
                </c:pt>
                <c:pt idx="343">
                  <c:v>4.075</c:v>
                </c:pt>
                <c:pt idx="344">
                  <c:v>4.1</c:v>
                </c:pt>
                <c:pt idx="345">
                  <c:v>4.125</c:v>
                </c:pt>
                <c:pt idx="346">
                  <c:v>4.15</c:v>
                </c:pt>
                <c:pt idx="347">
                  <c:v>4.175</c:v>
                </c:pt>
                <c:pt idx="348">
                  <c:v>4.2</c:v>
                </c:pt>
                <c:pt idx="349">
                  <c:v>4.225</c:v>
                </c:pt>
                <c:pt idx="350">
                  <c:v>4.25</c:v>
                </c:pt>
                <c:pt idx="351">
                  <c:v>4.275</c:v>
                </c:pt>
                <c:pt idx="352">
                  <c:v>4.3</c:v>
                </c:pt>
                <c:pt idx="353">
                  <c:v>4.325</c:v>
                </c:pt>
                <c:pt idx="354">
                  <c:v>4.35</c:v>
                </c:pt>
                <c:pt idx="355">
                  <c:v>4.375</c:v>
                </c:pt>
                <c:pt idx="356">
                  <c:v>4.4</c:v>
                </c:pt>
                <c:pt idx="357">
                  <c:v>4.425</c:v>
                </c:pt>
                <c:pt idx="358">
                  <c:v>4.45</c:v>
                </c:pt>
                <c:pt idx="359">
                  <c:v>4.475</c:v>
                </c:pt>
                <c:pt idx="360">
                  <c:v>4.5</c:v>
                </c:pt>
              </c:numCache>
            </c:numRef>
          </c:xVal>
          <c:yVal>
            <c:numRef>
              <c:f>'Chart Data'!$B$2:$B$362</c:f>
              <c:numCache>
                <c:formatCode>General</c:formatCode>
                <c:ptCount val="361"/>
                <c:pt idx="0">
                  <c:v>1.05296671847266</c:v>
                </c:pt>
                <c:pt idx="1">
                  <c:v>1.03939733960131</c:v>
                </c:pt>
                <c:pt idx="2">
                  <c:v>1.02602046845101</c:v>
                </c:pt>
                <c:pt idx="3">
                  <c:v>1.01283789972669</c:v>
                </c:pt>
                <c:pt idx="4">
                  <c:v>0.999851404553903</c:v>
                </c:pt>
                <c:pt idx="5">
                  <c:v>0.987062729614779</c:v>
                </c:pt>
                <c:pt idx="6">
                  <c:v>0.974473596313619</c:v>
                </c:pt>
                <c:pt idx="7">
                  <c:v>0.962085699973652</c:v>
                </c:pt>
                <c:pt idx="8">
                  <c:v>0.94990070906649</c:v>
                </c:pt>
                <c:pt idx="9">
                  <c:v>0.937920264475669</c:v>
                </c:pt>
                <c:pt idx="10">
                  <c:v>0.926145978795591</c:v>
                </c:pt>
                <c:pt idx="11">
                  <c:v>0.914579435667031</c:v>
                </c:pt>
                <c:pt idx="12">
                  <c:v>0.903222189150288</c:v>
                </c:pt>
                <c:pt idx="13">
                  <c:v>0.892075763136885</c:v>
                </c:pt>
                <c:pt idx="14">
                  <c:v>0.881141650800641</c:v>
                </c:pt>
                <c:pt idx="15">
                  <c:v>0.870421314088738</c:v>
                </c:pt>
                <c:pt idx="16">
                  <c:v>0.859916183253326</c:v>
                </c:pt>
                <c:pt idx="17">
                  <c:v>0.849627656423995</c:v>
                </c:pt>
                <c:pt idx="18">
                  <c:v>0.839557099221348</c:v>
                </c:pt>
                <c:pt idx="19">
                  <c:v>0.829705844411717</c:v>
                </c:pt>
                <c:pt idx="20">
                  <c:v>0.820075191602918</c:v>
                </c:pt>
                <c:pt idx="21">
                  <c:v>0.810666406980799</c:v>
                </c:pt>
                <c:pt idx="22">
                  <c:v>0.801480723086154</c:v>
                </c:pt>
                <c:pt idx="23">
                  <c:v>0.792519338631432</c:v>
                </c:pt>
                <c:pt idx="24">
                  <c:v>0.783783418356531</c:v>
                </c:pt>
                <c:pt idx="25">
                  <c:v>0.775274092922771</c:v>
                </c:pt>
                <c:pt idx="26">
                  <c:v>0.766992458844042</c:v>
                </c:pt>
                <c:pt idx="27">
                  <c:v>0.758939578453955</c:v>
                </c:pt>
                <c:pt idx="28">
                  <c:v>0.751116479907666</c:v>
                </c:pt>
                <c:pt idx="29">
                  <c:v>0.743524157216947</c:v>
                </c:pt>
                <c:pt idx="30">
                  <c:v>0.736163570316931</c:v>
                </c:pt>
                <c:pt idx="31">
                  <c:v>0.729035645162822</c:v>
                </c:pt>
                <c:pt idx="32">
                  <c:v>0.722141273854793</c:v>
                </c:pt>
                <c:pt idx="33">
                  <c:v>0.71548131478914</c:v>
                </c:pt>
                <c:pt idx="34">
                  <c:v>0.709056592833709</c:v>
                </c:pt>
                <c:pt idx="35">
                  <c:v>0.702867899525499</c:v>
                </c:pt>
                <c:pt idx="36">
                  <c:v>0.696915993288291</c:v>
                </c:pt>
                <c:pt idx="37">
                  <c:v>0.691201599668081</c:v>
                </c:pt>
                <c:pt idx="38">
                  <c:v>0.685725411584034</c:v>
                </c:pt>
                <c:pt idx="39">
                  <c:v>0.680488089592659</c:v>
                </c:pt>
                <c:pt idx="40">
                  <c:v>0.675490262162859</c:v>
                </c:pt>
                <c:pt idx="41">
                  <c:v>0.670732525959494</c:v>
                </c:pt>
                <c:pt idx="42">
                  <c:v>0.666215446133097</c:v>
                </c:pt>
                <c:pt idx="43">
                  <c:v>0.661939556613404</c:v>
                </c:pt>
                <c:pt idx="44">
                  <c:v>0.657905360404336</c:v>
                </c:pt>
                <c:pt idx="45">
                  <c:v>0.654113329878167</c:v>
                </c:pt>
                <c:pt idx="46">
                  <c:v>0.650563907066591</c:v>
                </c:pt>
                <c:pt idx="47">
                  <c:v>0.647257503946519</c:v>
                </c:pt>
                <c:pt idx="48">
                  <c:v>0.64419450271845</c:v>
                </c:pt>
                <c:pt idx="49">
                  <c:v>0.641375256075378</c:v>
                </c:pt>
                <c:pt idx="50">
                  <c:v>0.638800087460273</c:v>
                </c:pt>
                <c:pt idx="51">
                  <c:v>0.636469291310267</c:v>
                </c:pt>
                <c:pt idx="52">
                  <c:v>0.634383133285809</c:v>
                </c:pt>
                <c:pt idx="53">
                  <c:v>0.632541850483139</c:v>
                </c:pt>
                <c:pt idx="54">
                  <c:v>0.630945651628594</c:v>
                </c:pt>
                <c:pt idx="55">
                  <c:v>0.62959471725337</c:v>
                </c:pt>
                <c:pt idx="56">
                  <c:v>0.628489199847519</c:v>
                </c:pt>
                <c:pt idx="57">
                  <c:v>0.627629223992102</c:v>
                </c:pt>
                <c:pt idx="58">
                  <c:v>0.627014886468595</c:v>
                </c:pt>
                <c:pt idx="59">
                  <c:v>0.626646256344766</c:v>
                </c:pt>
                <c:pt idx="60">
                  <c:v>0.626523375036446</c:v>
                </c:pt>
                <c:pt idx="61">
                  <c:v>0.626646256344766</c:v>
                </c:pt>
                <c:pt idx="62">
                  <c:v>0.627014886468595</c:v>
                </c:pt>
                <c:pt idx="63">
                  <c:v>0.627629223992102</c:v>
                </c:pt>
                <c:pt idx="64">
                  <c:v>0.628489199847519</c:v>
                </c:pt>
                <c:pt idx="65">
                  <c:v>0.62959471725337</c:v>
                </c:pt>
                <c:pt idx="66">
                  <c:v>0.630945651628594</c:v>
                </c:pt>
                <c:pt idx="67">
                  <c:v>0.632541850483139</c:v>
                </c:pt>
                <c:pt idx="68">
                  <c:v>0.634383133285809</c:v>
                </c:pt>
                <c:pt idx="69">
                  <c:v>0.636469291310267</c:v>
                </c:pt>
                <c:pt idx="70">
                  <c:v>0.638800087460273</c:v>
                </c:pt>
                <c:pt idx="71">
                  <c:v>0.641375256075378</c:v>
                </c:pt>
                <c:pt idx="72">
                  <c:v>0.64419450271845</c:v>
                </c:pt>
                <c:pt idx="73">
                  <c:v>0.647257503946519</c:v>
                </c:pt>
                <c:pt idx="74">
                  <c:v>0.650563907066591</c:v>
                </c:pt>
                <c:pt idx="75">
                  <c:v>0.654113329878167</c:v>
                </c:pt>
                <c:pt idx="76">
                  <c:v>0.657905360404337</c:v>
                </c:pt>
                <c:pt idx="77">
                  <c:v>0.661939556613404</c:v>
                </c:pt>
                <c:pt idx="78">
                  <c:v>0.666215446133097</c:v>
                </c:pt>
                <c:pt idx="79">
                  <c:v>0.670732525959494</c:v>
                </c:pt>
                <c:pt idx="80">
                  <c:v>0.675490262162859</c:v>
                </c:pt>
                <c:pt idx="81">
                  <c:v>0.680488089592659</c:v>
                </c:pt>
                <c:pt idx="82">
                  <c:v>0.685725411584034</c:v>
                </c:pt>
                <c:pt idx="83">
                  <c:v>0.691201599668081</c:v>
                </c:pt>
                <c:pt idx="84">
                  <c:v>0.696915993288291</c:v>
                </c:pt>
                <c:pt idx="85">
                  <c:v>0.702867899525499</c:v>
                </c:pt>
                <c:pt idx="86">
                  <c:v>0.709056592833709</c:v>
                </c:pt>
                <c:pt idx="87">
                  <c:v>0.71548131478914</c:v>
                </c:pt>
                <c:pt idx="88">
                  <c:v>0.722141273854793</c:v>
                </c:pt>
                <c:pt idx="89">
                  <c:v>0.729035645162822</c:v>
                </c:pt>
                <c:pt idx="90">
                  <c:v>0.736163570316931</c:v>
                </c:pt>
                <c:pt idx="91">
                  <c:v>0.743524157216948</c:v>
                </c:pt>
                <c:pt idx="92">
                  <c:v>0.751116479907666</c:v>
                </c:pt>
                <c:pt idx="93">
                  <c:v>0.758939578453955</c:v>
                </c:pt>
                <c:pt idx="94">
                  <c:v>0.766992458844042</c:v>
                </c:pt>
                <c:pt idx="95">
                  <c:v>0.775274092922771</c:v>
                </c:pt>
                <c:pt idx="96">
                  <c:v>0.783783418356532</c:v>
                </c:pt>
                <c:pt idx="97">
                  <c:v>0.792519338631432</c:v>
                </c:pt>
                <c:pt idx="98">
                  <c:v>0.801480723086154</c:v>
                </c:pt>
                <c:pt idx="99">
                  <c:v>0.810666406980799</c:v>
                </c:pt>
                <c:pt idx="100">
                  <c:v>0.820075191602918</c:v>
                </c:pt>
                <c:pt idx="101">
                  <c:v>0.829705844411717</c:v>
                </c:pt>
                <c:pt idx="102">
                  <c:v>0.839557099221348</c:v>
                </c:pt>
                <c:pt idx="103">
                  <c:v>0.849627656423995</c:v>
                </c:pt>
                <c:pt idx="104">
                  <c:v>0.859916183253326</c:v>
                </c:pt>
                <c:pt idx="105">
                  <c:v>0.870421314088738</c:v>
                </c:pt>
                <c:pt idx="106">
                  <c:v>0.881141650800641</c:v>
                </c:pt>
                <c:pt idx="107">
                  <c:v>0.892075763136885</c:v>
                </c:pt>
                <c:pt idx="108">
                  <c:v>0.903222189150288</c:v>
                </c:pt>
                <c:pt idx="109">
                  <c:v>0.914579435667031</c:v>
                </c:pt>
                <c:pt idx="110">
                  <c:v>0.926145978795591</c:v>
                </c:pt>
                <c:pt idx="111">
                  <c:v>0.937920264475669</c:v>
                </c:pt>
                <c:pt idx="112">
                  <c:v>0.94990070906649</c:v>
                </c:pt>
                <c:pt idx="113">
                  <c:v>0.962085699973652</c:v>
                </c:pt>
                <c:pt idx="114">
                  <c:v>0.974473596313619</c:v>
                </c:pt>
                <c:pt idx="115">
                  <c:v>0.987062729614779</c:v>
                </c:pt>
                <c:pt idx="116">
                  <c:v>0.999851404553902</c:v>
                </c:pt>
                <c:pt idx="117">
                  <c:v>1.01283789972669</c:v>
                </c:pt>
                <c:pt idx="118">
                  <c:v>1.02602046845101</c:v>
                </c:pt>
                <c:pt idx="119">
                  <c:v>1.03939733960131</c:v>
                </c:pt>
                <c:pt idx="120">
                  <c:v>1.05296671847266</c:v>
                </c:pt>
                <c:pt idx="121">
                  <c:v>1.06672678767257</c:v>
                </c:pt>
                <c:pt idx="122">
                  <c:v>1.08067570803913</c:v>
                </c:pt>
                <c:pt idx="123">
                  <c:v>1.09481161958326</c:v>
                </c:pt>
                <c:pt idx="124">
                  <c:v>1.10913264245356</c:v>
                </c:pt>
                <c:pt idx="125">
                  <c:v>1.12363687792149</c:v>
                </c:pt>
                <c:pt idx="126">
                  <c:v>1.13832240938522</c:v>
                </c:pt>
                <c:pt idx="127">
                  <c:v>1.15318730338982</c:v>
                </c:pt>
                <c:pt idx="128">
                  <c:v>1.16822961066205</c:v>
                </c:pt>
                <c:pt idx="129">
                  <c:v>1.18344736715749</c:v>
                </c:pt>
                <c:pt idx="130">
                  <c:v>1.1988385951181</c:v>
                </c:pt>
                <c:pt idx="131">
                  <c:v>1.21440130413802</c:v>
                </c:pt>
                <c:pt idx="132">
                  <c:v>1.23013349223575</c:v>
                </c:pt>
                <c:pt idx="133">
                  <c:v>1.24603314693046</c:v>
                </c:pt>
                <c:pt idx="134">
                  <c:v>1.26209824632068</c:v>
                </c:pt>
                <c:pt idx="135">
                  <c:v>1.27832676016313</c:v>
                </c:pt>
                <c:pt idx="136">
                  <c:v>1.29471665095005</c:v>
                </c:pt>
                <c:pt idx="137">
                  <c:v>1.31126587498285</c:v>
                </c:pt>
                <c:pt idx="138">
                  <c:v>1.32797238344049</c:v>
                </c:pt>
                <c:pt idx="139">
                  <c:v>1.34483412344063</c:v>
                </c:pt>
                <c:pt idx="140">
                  <c:v>1.36184903909196</c:v>
                </c:pt>
                <c:pt idx="141">
                  <c:v>1.3813865791748</c:v>
                </c:pt>
                <c:pt idx="142">
                  <c:v>1.40107445620718</c:v>
                </c:pt>
                <c:pt idx="143">
                  <c:v>1.42091188978988</c:v>
                </c:pt>
                <c:pt idx="144">
                  <c:v>1.44089810133339</c:v>
                </c:pt>
                <c:pt idx="145">
                  <c:v>1.46103231540639</c:v>
                </c:pt>
                <c:pt idx="146">
                  <c:v>1.48131376106488</c:v>
                </c:pt>
                <c:pt idx="147">
                  <c:v>1.50174167316046</c:v>
                </c:pt>
                <c:pt idx="148">
                  <c:v>1.522315293626</c:v>
                </c:pt>
                <c:pt idx="149">
                  <c:v>1.5430338727372</c:v>
                </c:pt>
                <c:pt idx="150">
                  <c:v>1.56389667034857</c:v>
                </c:pt>
                <c:pt idx="151">
                  <c:v>1.58490295710242</c:v>
                </c:pt>
                <c:pt idx="152">
                  <c:v>1.60605201560958</c:v>
                </c:pt>
                <c:pt idx="153">
                  <c:v>1.62734314160063</c:v>
                </c:pt>
                <c:pt idx="154">
                  <c:v>1.64877564504638</c:v>
                </c:pt>
                <c:pt idx="155">
                  <c:v>1.67034885124662</c:v>
                </c:pt>
                <c:pt idx="156">
                  <c:v>1.69206210188612</c:v>
                </c:pt>
                <c:pt idx="157">
                  <c:v>1.71391475605684</c:v>
                </c:pt>
                <c:pt idx="158">
                  <c:v>1.73590619124555</c:v>
                </c:pt>
                <c:pt idx="159">
                  <c:v>1.75803580428608</c:v>
                </c:pt>
                <c:pt idx="160">
                  <c:v>1.7803030122753</c:v>
                </c:pt>
                <c:pt idx="161">
                  <c:v>1.80270725345232</c:v>
                </c:pt>
                <c:pt idx="162">
                  <c:v>1.82524798804013</c:v>
                </c:pt>
                <c:pt idx="163">
                  <c:v>1.84792469904917</c:v>
                </c:pt>
                <c:pt idx="164">
                  <c:v>1.87073689304229</c:v>
                </c:pt>
                <c:pt idx="165">
                  <c:v>1.8936841008606</c:v>
                </c:pt>
                <c:pt idx="166">
                  <c:v>1.91676587830977</c:v>
                </c:pt>
                <c:pt idx="167">
                  <c:v>1.93998180680644</c:v>
                </c:pt>
                <c:pt idx="168">
                  <c:v>1.96333149398423</c:v>
                </c:pt>
                <c:pt idx="169">
                  <c:v>1.98681457425929</c:v>
                </c:pt>
                <c:pt idx="170">
                  <c:v>2.01043070935483</c:v>
                </c:pt>
                <c:pt idx="171">
                  <c:v>2.03417958878457</c:v>
                </c:pt>
                <c:pt idx="172">
                  <c:v>2.05806093029477</c:v>
                </c:pt>
                <c:pt idx="173">
                  <c:v>2.08207448026475</c:v>
                </c:pt>
                <c:pt idx="174">
                  <c:v>2.10622001406562</c:v>
                </c:pt>
                <c:pt idx="175">
                  <c:v>2.13049733637717</c:v>
                </c:pt>
                <c:pt idx="176">
                  <c:v>2.15490628146272</c:v>
                </c:pt>
                <c:pt idx="177">
                  <c:v>2.17944671340184</c:v>
                </c:pt>
                <c:pt idx="178">
                  <c:v>2.20411852628093</c:v>
                </c:pt>
                <c:pt idx="179">
                  <c:v>2.22892164434147</c:v>
                </c:pt>
                <c:pt idx="180">
                  <c:v>2.25385602208595</c:v>
                </c:pt>
                <c:pt idx="181">
                  <c:v>2.27892164434147</c:v>
                </c:pt>
                <c:pt idx="182">
                  <c:v>2.30411852628093</c:v>
                </c:pt>
                <c:pt idx="183">
                  <c:v>2.32944671340184</c:v>
                </c:pt>
                <c:pt idx="184">
                  <c:v>2.35490628146272</c:v>
                </c:pt>
                <c:pt idx="185">
                  <c:v>2.38049733637717</c:v>
                </c:pt>
                <c:pt idx="186">
                  <c:v>2.40622001406562</c:v>
                </c:pt>
                <c:pt idx="187">
                  <c:v>2.43207448026475</c:v>
                </c:pt>
                <c:pt idx="188">
                  <c:v>2.45806093029477</c:v>
                </c:pt>
                <c:pt idx="189">
                  <c:v>2.48417958878457</c:v>
                </c:pt>
                <c:pt idx="190">
                  <c:v>2.51043070935483</c:v>
                </c:pt>
                <c:pt idx="191">
                  <c:v>2.53681457425929</c:v>
                </c:pt>
                <c:pt idx="192">
                  <c:v>2.56333149398423</c:v>
                </c:pt>
                <c:pt idx="193">
                  <c:v>2.58998180680644</c:v>
                </c:pt>
                <c:pt idx="194">
                  <c:v>2.61676587830977</c:v>
                </c:pt>
                <c:pt idx="195">
                  <c:v>2.6436841008606</c:v>
                </c:pt>
                <c:pt idx="196">
                  <c:v>2.67073689304229</c:v>
                </c:pt>
                <c:pt idx="197">
                  <c:v>2.69792469904917</c:v>
                </c:pt>
                <c:pt idx="198">
                  <c:v>2.72524798804013</c:v>
                </c:pt>
                <c:pt idx="199">
                  <c:v>2.75270725345232</c:v>
                </c:pt>
                <c:pt idx="200">
                  <c:v>2.7803030122753</c:v>
                </c:pt>
                <c:pt idx="201">
                  <c:v>2.80803580428608</c:v>
                </c:pt>
                <c:pt idx="202">
                  <c:v>2.83590619124555</c:v>
                </c:pt>
                <c:pt idx="203">
                  <c:v>2.86391475605684</c:v>
                </c:pt>
                <c:pt idx="204">
                  <c:v>2.89206210188612</c:v>
                </c:pt>
                <c:pt idx="205">
                  <c:v>2.92034885124662</c:v>
                </c:pt>
                <c:pt idx="206">
                  <c:v>2.94877564504638</c:v>
                </c:pt>
                <c:pt idx="207">
                  <c:v>2.97734314160063</c:v>
                </c:pt>
                <c:pt idx="208">
                  <c:v>3.00605201560958</c:v>
                </c:pt>
                <c:pt idx="209">
                  <c:v>3.03490295710242</c:v>
                </c:pt>
                <c:pt idx="210">
                  <c:v>3.06389667034857</c:v>
                </c:pt>
                <c:pt idx="211">
                  <c:v>3.0930338727372</c:v>
                </c:pt>
                <c:pt idx="212">
                  <c:v>3.122315293626</c:v>
                </c:pt>
                <c:pt idx="213">
                  <c:v>3.15174167316046</c:v>
                </c:pt>
                <c:pt idx="214">
                  <c:v>3.18131376106488</c:v>
                </c:pt>
                <c:pt idx="215">
                  <c:v>3.21103231540639</c:v>
                </c:pt>
                <c:pt idx="216">
                  <c:v>3.24089810133339</c:v>
                </c:pt>
                <c:pt idx="217">
                  <c:v>3.27091188978988</c:v>
                </c:pt>
                <c:pt idx="218">
                  <c:v>3.30107445620718</c:v>
                </c:pt>
                <c:pt idx="219">
                  <c:v>3.3313865791748</c:v>
                </c:pt>
                <c:pt idx="220">
                  <c:v>3.36184903909197</c:v>
                </c:pt>
                <c:pt idx="221">
                  <c:v>3.34483412344063</c:v>
                </c:pt>
                <c:pt idx="222">
                  <c:v>3.32797238344049</c:v>
                </c:pt>
                <c:pt idx="223">
                  <c:v>3.31126587498285</c:v>
                </c:pt>
                <c:pt idx="224">
                  <c:v>3.29471665095005</c:v>
                </c:pt>
                <c:pt idx="225">
                  <c:v>3.27832676016313</c:v>
                </c:pt>
                <c:pt idx="226">
                  <c:v>3.26209824632068</c:v>
                </c:pt>
                <c:pt idx="227">
                  <c:v>3.24603314693046</c:v>
                </c:pt>
                <c:pt idx="228">
                  <c:v>3.23013349223575</c:v>
                </c:pt>
                <c:pt idx="229">
                  <c:v>3.21440130413802</c:v>
                </c:pt>
                <c:pt idx="230">
                  <c:v>3.1988385951181</c:v>
                </c:pt>
                <c:pt idx="231">
                  <c:v>3.18344736715749</c:v>
                </c:pt>
                <c:pt idx="232">
                  <c:v>3.16822961066205</c:v>
                </c:pt>
                <c:pt idx="233">
                  <c:v>3.15318730338982</c:v>
                </c:pt>
                <c:pt idx="234">
                  <c:v>3.13832240938522</c:v>
                </c:pt>
                <c:pt idx="235">
                  <c:v>3.12363687792149</c:v>
                </c:pt>
                <c:pt idx="236">
                  <c:v>3.10913264245356</c:v>
                </c:pt>
                <c:pt idx="237">
                  <c:v>3.09481161958326</c:v>
                </c:pt>
                <c:pt idx="238">
                  <c:v>3.08067570803913</c:v>
                </c:pt>
                <c:pt idx="239">
                  <c:v>3.06672678767257</c:v>
                </c:pt>
                <c:pt idx="240">
                  <c:v>3.05296671847266</c:v>
                </c:pt>
                <c:pt idx="241">
                  <c:v>3.03939733960131</c:v>
                </c:pt>
                <c:pt idx="242">
                  <c:v>3.02602046845101</c:v>
                </c:pt>
                <c:pt idx="243">
                  <c:v>3.01283789972669</c:v>
                </c:pt>
                <c:pt idx="244">
                  <c:v>2.9998514045539</c:v>
                </c:pt>
                <c:pt idx="245">
                  <c:v>2.98706272961478</c:v>
                </c:pt>
                <c:pt idx="246">
                  <c:v>2.97447359631362</c:v>
                </c:pt>
                <c:pt idx="247">
                  <c:v>2.96208569997365</c:v>
                </c:pt>
                <c:pt idx="248">
                  <c:v>2.94990070906649</c:v>
                </c:pt>
                <c:pt idx="249">
                  <c:v>2.93792026447567</c:v>
                </c:pt>
                <c:pt idx="250">
                  <c:v>2.92614597879559</c:v>
                </c:pt>
                <c:pt idx="251">
                  <c:v>2.91457943566703</c:v>
                </c:pt>
                <c:pt idx="252">
                  <c:v>2.90322218915029</c:v>
                </c:pt>
                <c:pt idx="253">
                  <c:v>2.89207576313689</c:v>
                </c:pt>
                <c:pt idx="254">
                  <c:v>2.88114165080064</c:v>
                </c:pt>
                <c:pt idx="255">
                  <c:v>2.87042131408874</c:v>
                </c:pt>
                <c:pt idx="256">
                  <c:v>2.85991618325333</c:v>
                </c:pt>
                <c:pt idx="257">
                  <c:v>2.849627656424</c:v>
                </c:pt>
                <c:pt idx="258">
                  <c:v>2.83955709922135</c:v>
                </c:pt>
                <c:pt idx="259">
                  <c:v>2.82970584441172</c:v>
                </c:pt>
                <c:pt idx="260">
                  <c:v>2.82007519160292</c:v>
                </c:pt>
                <c:pt idx="261">
                  <c:v>2.8106664069808</c:v>
                </c:pt>
                <c:pt idx="262">
                  <c:v>2.80148072308615</c:v>
                </c:pt>
                <c:pt idx="263">
                  <c:v>2.79251933863143</c:v>
                </c:pt>
                <c:pt idx="264">
                  <c:v>2.78378341835653</c:v>
                </c:pt>
                <c:pt idx="265">
                  <c:v>2.77527409292277</c:v>
                </c:pt>
                <c:pt idx="266">
                  <c:v>2.76699245884404</c:v>
                </c:pt>
                <c:pt idx="267">
                  <c:v>2.75893957845396</c:v>
                </c:pt>
                <c:pt idx="268">
                  <c:v>2.75111647990767</c:v>
                </c:pt>
                <c:pt idx="269">
                  <c:v>2.74352415721695</c:v>
                </c:pt>
                <c:pt idx="270">
                  <c:v>2.73616357031693</c:v>
                </c:pt>
                <c:pt idx="271">
                  <c:v>2.72903564516282</c:v>
                </c:pt>
                <c:pt idx="272">
                  <c:v>2.72214127385479</c:v>
                </c:pt>
                <c:pt idx="273">
                  <c:v>2.71548131478914</c:v>
                </c:pt>
                <c:pt idx="274">
                  <c:v>2.70905659283371</c:v>
                </c:pt>
                <c:pt idx="275">
                  <c:v>2.7028678995255</c:v>
                </c:pt>
                <c:pt idx="276">
                  <c:v>2.69691599328829</c:v>
                </c:pt>
                <c:pt idx="277">
                  <c:v>2.69120159966808</c:v>
                </c:pt>
                <c:pt idx="278">
                  <c:v>2.68572541158403</c:v>
                </c:pt>
                <c:pt idx="279">
                  <c:v>2.68048808959266</c:v>
                </c:pt>
                <c:pt idx="280">
                  <c:v>2.67549026216286</c:v>
                </c:pt>
                <c:pt idx="281">
                  <c:v>2.67073252595949</c:v>
                </c:pt>
                <c:pt idx="282">
                  <c:v>2.6662154461331</c:v>
                </c:pt>
                <c:pt idx="283">
                  <c:v>2.6619395566134</c:v>
                </c:pt>
                <c:pt idx="284">
                  <c:v>2.65790536040434</c:v>
                </c:pt>
                <c:pt idx="285">
                  <c:v>2.65411332987817</c:v>
                </c:pt>
                <c:pt idx="286">
                  <c:v>2.65056390706659</c:v>
                </c:pt>
                <c:pt idx="287">
                  <c:v>2.64725750394652</c:v>
                </c:pt>
                <c:pt idx="288">
                  <c:v>2.64419450271845</c:v>
                </c:pt>
                <c:pt idx="289">
                  <c:v>2.64137525607538</c:v>
                </c:pt>
                <c:pt idx="290">
                  <c:v>2.63880008746027</c:v>
                </c:pt>
                <c:pt idx="291">
                  <c:v>2.63646929131027</c:v>
                </c:pt>
                <c:pt idx="292">
                  <c:v>2.63438313328581</c:v>
                </c:pt>
                <c:pt idx="293">
                  <c:v>2.63254185048314</c:v>
                </c:pt>
                <c:pt idx="294">
                  <c:v>2.63094565162859</c:v>
                </c:pt>
                <c:pt idx="295">
                  <c:v>2.62959471725337</c:v>
                </c:pt>
                <c:pt idx="296">
                  <c:v>2.62848919984752</c:v>
                </c:pt>
                <c:pt idx="297">
                  <c:v>2.6276292239921</c:v>
                </c:pt>
                <c:pt idx="298">
                  <c:v>2.6270148864686</c:v>
                </c:pt>
                <c:pt idx="299">
                  <c:v>2.62664625634477</c:v>
                </c:pt>
                <c:pt idx="300">
                  <c:v>2.62652337503645</c:v>
                </c:pt>
                <c:pt idx="301">
                  <c:v>2.62664625634477</c:v>
                </c:pt>
                <c:pt idx="302">
                  <c:v>2.6270148864686</c:v>
                </c:pt>
                <c:pt idx="303">
                  <c:v>2.6276292239921</c:v>
                </c:pt>
                <c:pt idx="304">
                  <c:v>2.62848919984752</c:v>
                </c:pt>
                <c:pt idx="305">
                  <c:v>2.62959471725337</c:v>
                </c:pt>
                <c:pt idx="306">
                  <c:v>2.63094565162859</c:v>
                </c:pt>
                <c:pt idx="307">
                  <c:v>2.63254185048314</c:v>
                </c:pt>
                <c:pt idx="308">
                  <c:v>2.63438313328581</c:v>
                </c:pt>
                <c:pt idx="309">
                  <c:v>2.63646929131027</c:v>
                </c:pt>
                <c:pt idx="310">
                  <c:v>2.63880008746027</c:v>
                </c:pt>
                <c:pt idx="311">
                  <c:v>2.64137525607538</c:v>
                </c:pt>
                <c:pt idx="312">
                  <c:v>2.64419450271845</c:v>
                </c:pt>
                <c:pt idx="313">
                  <c:v>2.64725750394652</c:v>
                </c:pt>
                <c:pt idx="314">
                  <c:v>2.65056390706659</c:v>
                </c:pt>
                <c:pt idx="315">
                  <c:v>2.65411332987817</c:v>
                </c:pt>
                <c:pt idx="316">
                  <c:v>2.65790536040434</c:v>
                </c:pt>
                <c:pt idx="317">
                  <c:v>2.6619395566134</c:v>
                </c:pt>
                <c:pt idx="318">
                  <c:v>2.6662154461331</c:v>
                </c:pt>
                <c:pt idx="319">
                  <c:v>2.67073252595949</c:v>
                </c:pt>
                <c:pt idx="320">
                  <c:v>2.67549026216286</c:v>
                </c:pt>
                <c:pt idx="321">
                  <c:v>2.68048808959266</c:v>
                </c:pt>
                <c:pt idx="322">
                  <c:v>2.68572541158403</c:v>
                </c:pt>
                <c:pt idx="323">
                  <c:v>2.69120159966808</c:v>
                </c:pt>
                <c:pt idx="324">
                  <c:v>2.69691599328829</c:v>
                </c:pt>
                <c:pt idx="325">
                  <c:v>2.7028678995255</c:v>
                </c:pt>
                <c:pt idx="326">
                  <c:v>2.70905659283371</c:v>
                </c:pt>
                <c:pt idx="327">
                  <c:v>2.71548131478914</c:v>
                </c:pt>
                <c:pt idx="328">
                  <c:v>2.72214127385479</c:v>
                </c:pt>
                <c:pt idx="329">
                  <c:v>2.72903564516282</c:v>
                </c:pt>
                <c:pt idx="330">
                  <c:v>2.73616357031693</c:v>
                </c:pt>
                <c:pt idx="331">
                  <c:v>2.74352415721695</c:v>
                </c:pt>
                <c:pt idx="332">
                  <c:v>2.75111647990767</c:v>
                </c:pt>
                <c:pt idx="333">
                  <c:v>2.75893957845396</c:v>
                </c:pt>
                <c:pt idx="334">
                  <c:v>2.76699245884404</c:v>
                </c:pt>
                <c:pt idx="335">
                  <c:v>2.77527409292277</c:v>
                </c:pt>
                <c:pt idx="336">
                  <c:v>2.78378341835653</c:v>
                </c:pt>
                <c:pt idx="337">
                  <c:v>2.79251933863143</c:v>
                </c:pt>
                <c:pt idx="338">
                  <c:v>2.80148072308615</c:v>
                </c:pt>
                <c:pt idx="339">
                  <c:v>2.8106664069808</c:v>
                </c:pt>
                <c:pt idx="340">
                  <c:v>2.82007519160292</c:v>
                </c:pt>
                <c:pt idx="341">
                  <c:v>2.82970584441172</c:v>
                </c:pt>
                <c:pt idx="342">
                  <c:v>2.83955709922135</c:v>
                </c:pt>
                <c:pt idx="343">
                  <c:v>2.849627656424</c:v>
                </c:pt>
                <c:pt idx="344">
                  <c:v>2.85991618325333</c:v>
                </c:pt>
                <c:pt idx="345">
                  <c:v>2.87042131408874</c:v>
                </c:pt>
                <c:pt idx="346">
                  <c:v>2.88114165080064</c:v>
                </c:pt>
                <c:pt idx="347">
                  <c:v>2.89207576313689</c:v>
                </c:pt>
                <c:pt idx="348">
                  <c:v>2.90322218915029</c:v>
                </c:pt>
                <c:pt idx="349">
                  <c:v>2.91457943566703</c:v>
                </c:pt>
                <c:pt idx="350">
                  <c:v>2.92614597879559</c:v>
                </c:pt>
                <c:pt idx="351">
                  <c:v>2.93792026447567</c:v>
                </c:pt>
                <c:pt idx="352">
                  <c:v>2.94990070906649</c:v>
                </c:pt>
                <c:pt idx="353">
                  <c:v>2.96208569997365</c:v>
                </c:pt>
                <c:pt idx="354">
                  <c:v>2.97447359631362</c:v>
                </c:pt>
                <c:pt idx="355">
                  <c:v>2.98706272961478</c:v>
                </c:pt>
                <c:pt idx="356">
                  <c:v>2.9998514045539</c:v>
                </c:pt>
                <c:pt idx="357">
                  <c:v>3.01283789972669</c:v>
                </c:pt>
                <c:pt idx="358">
                  <c:v>3.02602046845101</c:v>
                </c:pt>
                <c:pt idx="359">
                  <c:v>3.03939733960131</c:v>
                </c:pt>
                <c:pt idx="360">
                  <c:v>3.05296671847266</c:v>
                </c:pt>
              </c:numCache>
            </c:numRef>
          </c:yVal>
          <c:smooth val="1"/>
          <c:extLst>
            <c:ext xmlns:c16="http://schemas.microsoft.com/office/drawing/2014/chart" uri="{C3380CC4-5D6E-409C-BE32-E72D297353CC}">
              <c16:uniqueId val="{00000000-090A-4828-8432-730962B580B1}"/>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0.626523375036446</c:v>
                </c:pt>
              </c:numCache>
            </c:numRef>
          </c:yVal>
          <c:smooth val="1"/>
          <c:extLst>
            <c:ext xmlns:c16="http://schemas.microsoft.com/office/drawing/2014/chart" uri="{C3380CC4-5D6E-409C-BE32-E72D297353CC}">
              <c16:uniqueId val="{00000001-090A-4828-8432-730962B580B1}"/>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2.62652337503645</c:v>
                </c:pt>
              </c:numCache>
            </c:numRef>
          </c:yVal>
          <c:smooth val="1"/>
          <c:extLst>
            <c:ext xmlns:c16="http://schemas.microsoft.com/office/drawing/2014/chart" uri="{C3380CC4-5D6E-409C-BE32-E72D297353CC}">
              <c16:uniqueId val="{00000002-090A-4828-8432-730962B580B1}"/>
            </c:ext>
          </c:extLst>
        </c:ser>
        <c:ser>
          <c:idx val="3"/>
          <c:order val="3"/>
          <c:tx>
            <c:v>left GD steps</c:v>
          </c:tx>
          <c:spPr>
            <a:ln w="17145">
              <a:solidFill>
                <a:srgbClr val="326CB2"/>
              </a:solidFill>
            </a:ln>
          </c:spPr>
          <c:marker>
            <c:symbol val="none"/>
          </c:marker>
          <c:xVal>
            <c:numRef>
              <c:f>'Chart Data'!$G$2:$G$4</c:f>
              <c:numCache>
                <c:formatCode>General</c:formatCode>
                <c:ptCount val="3"/>
                <c:pt idx="0">
                  <c:v>-1.5</c:v>
                </c:pt>
                <c:pt idx="1">
                  <c:v>-1.77330057559031</c:v>
                </c:pt>
                <c:pt idx="2">
                  <c:v>-2.00282808162535</c:v>
                </c:pt>
              </c:numCache>
            </c:numRef>
          </c:xVal>
          <c:yVal>
            <c:numRef>
              <c:f>'Chart Data'!$H$2:$H$4</c:f>
              <c:numCache>
                <c:formatCode>General</c:formatCode>
                <c:ptCount val="3"/>
                <c:pt idx="0">
                  <c:v>1.05296671847266</c:v>
                </c:pt>
                <c:pt idx="1">
                  <c:v>0.915359081549213</c:v>
                </c:pt>
                <c:pt idx="2">
                  <c:v>0.818999686312374</c:v>
                </c:pt>
              </c:numCache>
            </c:numRef>
          </c:yVal>
          <c:smooth val="1"/>
          <c:extLst>
            <c:ext xmlns:c16="http://schemas.microsoft.com/office/drawing/2014/chart" uri="{C3380CC4-5D6E-409C-BE32-E72D297353CC}">
              <c16:uniqueId val="{00000003-090A-4828-8432-730962B580B1}"/>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1.05296671847266</c:v>
                </c:pt>
              </c:numCache>
            </c:numRef>
          </c:yVal>
          <c:smooth val="1"/>
          <c:extLst>
            <c:ext xmlns:c16="http://schemas.microsoft.com/office/drawing/2014/chart" uri="{C3380CC4-5D6E-409C-BE32-E72D297353CC}">
              <c16:uniqueId val="{00000004-090A-4828-8432-730962B580B1}"/>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Data'!$K$2:$K$3</c:f>
              <c:numCache>
                <c:formatCode>General</c:formatCode>
                <c:ptCount val="2"/>
                <c:pt idx="0">
                  <c:v>-1.77330057559031</c:v>
                </c:pt>
                <c:pt idx="1">
                  <c:v>-2.00282808162535</c:v>
                </c:pt>
              </c:numCache>
            </c:numRef>
          </c:xVal>
          <c:yVal>
            <c:numRef>
              <c:f>'Chart Data'!$L$2:$L$3</c:f>
              <c:numCache>
                <c:formatCode>General</c:formatCode>
                <c:ptCount val="2"/>
                <c:pt idx="0">
                  <c:v>0.915359081549213</c:v>
                </c:pt>
                <c:pt idx="1">
                  <c:v>0.818999686312374</c:v>
                </c:pt>
              </c:numCache>
            </c:numRef>
          </c:yVal>
          <c:smooth val="1"/>
          <c:extLst>
            <c:ext xmlns:c16="http://schemas.microsoft.com/office/drawing/2014/chart" uri="{C3380CC4-5D6E-409C-BE32-E72D297353CC}">
              <c16:uniqueId val="{00000005-090A-4828-8432-730962B580B1}"/>
            </c:ext>
          </c:extLst>
        </c:ser>
        <c:ser>
          <c:idx val="6"/>
          <c:order val="6"/>
          <c:tx>
            <c:v>right GD steps</c:v>
          </c:tx>
          <c:spPr>
            <a:ln w="17145">
              <a:solidFill>
                <a:srgbClr val="C45C28"/>
              </a:solidFill>
            </a:ln>
          </c:spPr>
          <c:marker>
            <c:symbol val="none"/>
          </c:marker>
          <c:xVal>
            <c:numRef>
              <c:f>'Chart Data'!$M$2:$M$4</c:f>
              <c:numCache>
                <c:formatCode>General</c:formatCode>
                <c:ptCount val="3"/>
                <c:pt idx="0">
                  <c:v>1.5</c:v>
                </c:pt>
                <c:pt idx="1">
                  <c:v>1.77330057559031</c:v>
                </c:pt>
                <c:pt idx="2">
                  <c:v>2.00282808162535</c:v>
                </c:pt>
              </c:numCache>
            </c:numRef>
          </c:xVal>
          <c:yVal>
            <c:numRef>
              <c:f>'Chart Data'!$N$2:$N$4</c:f>
              <c:numCache>
                <c:formatCode>General</c:formatCode>
                <c:ptCount val="3"/>
                <c:pt idx="0">
                  <c:v>3.05296671847266</c:v>
                </c:pt>
                <c:pt idx="1">
                  <c:v>2.91535908154921</c:v>
                </c:pt>
                <c:pt idx="2">
                  <c:v>2.81899968631237</c:v>
                </c:pt>
              </c:numCache>
            </c:numRef>
          </c:yVal>
          <c:smooth val="1"/>
          <c:extLst>
            <c:ext xmlns:c16="http://schemas.microsoft.com/office/drawing/2014/chart" uri="{C3380CC4-5D6E-409C-BE32-E72D297353CC}">
              <c16:uniqueId val="{00000006-090A-4828-8432-730962B580B1}"/>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3.05296671847266</c:v>
                </c:pt>
              </c:numCache>
            </c:numRef>
          </c:yVal>
          <c:smooth val="1"/>
          <c:extLst>
            <c:ext xmlns:c16="http://schemas.microsoft.com/office/drawing/2014/chart" uri="{C3380CC4-5D6E-409C-BE32-E72D297353CC}">
              <c16:uniqueId val="{00000007-090A-4828-8432-730962B580B1}"/>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Data'!$Q$2:$Q$3</c:f>
              <c:numCache>
                <c:formatCode>General</c:formatCode>
                <c:ptCount val="2"/>
                <c:pt idx="0">
                  <c:v>1.77330057559031</c:v>
                </c:pt>
                <c:pt idx="1">
                  <c:v>2.00282808162535</c:v>
                </c:pt>
              </c:numCache>
            </c:numRef>
          </c:xVal>
          <c:yVal>
            <c:numRef>
              <c:f>'Chart Data'!$R$2:$R$3</c:f>
              <c:numCache>
                <c:formatCode>General</c:formatCode>
                <c:ptCount val="2"/>
                <c:pt idx="0">
                  <c:v>2.91535908154921</c:v>
                </c:pt>
                <c:pt idx="1">
                  <c:v>2.81899968631237</c:v>
                </c:pt>
              </c:numCache>
            </c:numRef>
          </c:yVal>
          <c:smooth val="1"/>
          <c:extLst>
            <c:ext xmlns:c16="http://schemas.microsoft.com/office/drawing/2014/chart" uri="{C3380CC4-5D6E-409C-BE32-E72D297353CC}">
              <c16:uniqueId val="{00000008-090A-4828-8432-730962B580B1}"/>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-2.00282808162535</c:v>
                </c:pt>
              </c:numCache>
            </c:numRef>
          </c:xVal>
          <c:yVal>
            <c:numRef>
              <c:f>'Chart Data'!$T$2:$T$2</c:f>
              <c:numCache>
                <c:formatCode>General</c:formatCode>
                <c:ptCount val="1"/>
                <c:pt idx="0">
                  <c:v>0.818999686312374</c:v>
                </c:pt>
              </c:numCache>
            </c:numRef>
          </c:yVal>
          <c:smooth val="1"/>
          <c:extLst>
            <c:ext xmlns:c16="http://schemas.microsoft.com/office/drawing/2014/chart" uri="{C3380CC4-5D6E-409C-BE32-E72D297353CC}">
              <c16:uniqueId val="{00000009-090A-4828-8432-730962B580B1}"/>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2.00282808162535</c:v>
                </c:pt>
              </c:numCache>
            </c:numRef>
          </c:xVal>
          <c:yVal>
            <c:numRef>
              <c:f>'Chart Data'!$V$2:$V$2</c:f>
              <c:numCache>
                <c:formatCode>General</c:formatCode>
                <c:ptCount val="1"/>
                <c:pt idx="0">
                  <c:v>2.81899968631237</c:v>
                </c:pt>
              </c:numCache>
            </c:numRef>
          </c:yVal>
          <c:smooth val="1"/>
          <c:extLst>
            <c:ext xmlns:c16="http://schemas.microsoft.com/office/drawing/2014/chart" uri="{C3380CC4-5D6E-409C-BE32-E72D297353CC}">
              <c16:uniqueId val="{0000000A-090A-4828-8432-730962B580B1}"/>
            </c:ext>
          </c:extLst>
        </c:ser>
        <c:dLbls>
          <c:showLegendKey val="0"/>
          <c:showVal val="0"/>
          <c:showCatName val="0"/>
          <c:showSerName val="0"/>
          <c:showPercent val="0"/>
          <c:showBubbleSize val="0"/>
        </c:dLbls>
        <c:axId val="48650112"/>
        <c:axId val="48672768"/>
      </c:scatterChart>
      <c:valAx>
        <c:axId val="48672768"/>
        <c:scaling>
          <c:orientation val="minMax"/>
          <c:max val="4"/>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Logistic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1"/>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Logistic loss</c:v>
          </c:tx>
          <c:spPr>
            <a:ln w="30480">
              <a:solidFill>
                <a:srgbClr val="087F83"/>
              </a:solidFill>
            </a:ln>
          </c:spPr>
          <c:marker>
            <c:symbol val="none"/>
          </c:marker>
          <c:xVal>
            <c:numRef>
              <c:f>'Chart Data'!$A$2:$A$362</c:f>
              <c:numCache>
                <c:formatCode>General</c:formatCode>
                <c:ptCount val="361"/>
                <c:pt idx="0">
                  <c:v>-4.5</c:v>
                </c:pt>
                <c:pt idx="1">
                  <c:v>-4.475</c:v>
                </c:pt>
                <c:pt idx="2">
                  <c:v>-4.45</c:v>
                </c:pt>
                <c:pt idx="3">
                  <c:v>-4.425</c:v>
                </c:pt>
                <c:pt idx="4">
                  <c:v>-4.4</c:v>
                </c:pt>
                <c:pt idx="5">
                  <c:v>-4.375</c:v>
                </c:pt>
                <c:pt idx="6">
                  <c:v>-4.35</c:v>
                </c:pt>
                <c:pt idx="7">
                  <c:v>-4.325</c:v>
                </c:pt>
                <c:pt idx="8">
                  <c:v>-4.3</c:v>
                </c:pt>
                <c:pt idx="9">
                  <c:v>-4.275</c:v>
                </c:pt>
                <c:pt idx="10">
                  <c:v>-4.25</c:v>
                </c:pt>
                <c:pt idx="11">
                  <c:v>-4.225</c:v>
                </c:pt>
                <c:pt idx="12">
                  <c:v>-4.2</c:v>
                </c:pt>
                <c:pt idx="13">
                  <c:v>-4.175</c:v>
                </c:pt>
                <c:pt idx="14">
                  <c:v>-4.15</c:v>
                </c:pt>
                <c:pt idx="15">
                  <c:v>-4.125</c:v>
                </c:pt>
                <c:pt idx="16">
                  <c:v>-4.1</c:v>
                </c:pt>
                <c:pt idx="17">
                  <c:v>-4.075</c:v>
                </c:pt>
                <c:pt idx="18">
                  <c:v>-4.05</c:v>
                </c:pt>
                <c:pt idx="19">
                  <c:v>-4.025</c:v>
                </c:pt>
                <c:pt idx="20">
                  <c:v>-4</c:v>
                </c:pt>
                <c:pt idx="21">
                  <c:v>-3.975</c:v>
                </c:pt>
                <c:pt idx="22">
                  <c:v>-3.95</c:v>
                </c:pt>
                <c:pt idx="23">
                  <c:v>-3.925</c:v>
                </c:pt>
                <c:pt idx="24">
                  <c:v>-3.9</c:v>
                </c:pt>
                <c:pt idx="25">
                  <c:v>-3.875</c:v>
                </c:pt>
                <c:pt idx="26">
                  <c:v>-3.85</c:v>
                </c:pt>
                <c:pt idx="27">
                  <c:v>-3.825</c:v>
                </c:pt>
                <c:pt idx="28">
                  <c:v>-3.8</c:v>
                </c:pt>
                <c:pt idx="29">
                  <c:v>-3.775</c:v>
                </c:pt>
                <c:pt idx="30">
                  <c:v>-3.75</c:v>
                </c:pt>
                <c:pt idx="31">
                  <c:v>-3.725</c:v>
                </c:pt>
                <c:pt idx="32">
                  <c:v>-3.7</c:v>
                </c:pt>
                <c:pt idx="33">
                  <c:v>-3.675</c:v>
                </c:pt>
                <c:pt idx="34">
                  <c:v>-3.65</c:v>
                </c:pt>
                <c:pt idx="35">
                  <c:v>-3.625</c:v>
                </c:pt>
                <c:pt idx="36">
                  <c:v>-3.6</c:v>
                </c:pt>
                <c:pt idx="37">
                  <c:v>-3.575</c:v>
                </c:pt>
                <c:pt idx="38">
                  <c:v>-3.55</c:v>
                </c:pt>
                <c:pt idx="39">
                  <c:v>-3.525</c:v>
                </c:pt>
                <c:pt idx="40">
                  <c:v>-3.5</c:v>
                </c:pt>
                <c:pt idx="41">
                  <c:v>-3.475</c:v>
                </c:pt>
                <c:pt idx="42">
                  <c:v>-3.45</c:v>
                </c:pt>
                <c:pt idx="43">
                  <c:v>-3.425</c:v>
                </c:pt>
                <c:pt idx="44">
                  <c:v>-3.4</c:v>
                </c:pt>
                <c:pt idx="45">
                  <c:v>-3.375</c:v>
                </c:pt>
                <c:pt idx="46">
                  <c:v>-3.35</c:v>
                </c:pt>
                <c:pt idx="47">
                  <c:v>-3.325</c:v>
                </c:pt>
                <c:pt idx="48">
                  <c:v>-3.3</c:v>
                </c:pt>
                <c:pt idx="49">
                  <c:v>-3.275</c:v>
                </c:pt>
                <c:pt idx="50">
                  <c:v>-3.25</c:v>
                </c:pt>
                <c:pt idx="51">
                  <c:v>-3.225</c:v>
                </c:pt>
                <c:pt idx="52">
                  <c:v>-3.2</c:v>
                </c:pt>
                <c:pt idx="53">
                  <c:v>-3.175</c:v>
                </c:pt>
                <c:pt idx="54">
                  <c:v>-3.15</c:v>
                </c:pt>
                <c:pt idx="55">
                  <c:v>-3.125</c:v>
                </c:pt>
                <c:pt idx="56">
                  <c:v>-3.1</c:v>
                </c:pt>
                <c:pt idx="57">
                  <c:v>-3.075</c:v>
                </c:pt>
                <c:pt idx="58">
                  <c:v>-3.05</c:v>
                </c:pt>
                <c:pt idx="59">
                  <c:v>-3.025</c:v>
                </c:pt>
                <c:pt idx="60">
                  <c:v>-3</c:v>
                </c:pt>
                <c:pt idx="61">
                  <c:v>-2.975</c:v>
                </c:pt>
                <c:pt idx="62">
                  <c:v>-2.95</c:v>
                </c:pt>
                <c:pt idx="63">
                  <c:v>-2.925</c:v>
                </c:pt>
                <c:pt idx="64">
                  <c:v>-2.9</c:v>
                </c:pt>
                <c:pt idx="65">
                  <c:v>-2.875</c:v>
                </c:pt>
                <c:pt idx="66">
                  <c:v>-2.85</c:v>
                </c:pt>
                <c:pt idx="67">
                  <c:v>-2.825</c:v>
                </c:pt>
                <c:pt idx="68">
                  <c:v>-2.8</c:v>
                </c:pt>
                <c:pt idx="69">
                  <c:v>-2.775</c:v>
                </c:pt>
                <c:pt idx="70">
                  <c:v>-2.75</c:v>
                </c:pt>
                <c:pt idx="71">
                  <c:v>-2.725</c:v>
                </c:pt>
                <c:pt idx="72">
                  <c:v>-2.7</c:v>
                </c:pt>
                <c:pt idx="73">
                  <c:v>-2.675</c:v>
                </c:pt>
                <c:pt idx="74">
                  <c:v>-2.65</c:v>
                </c:pt>
                <c:pt idx="75">
                  <c:v>-2.625</c:v>
                </c:pt>
                <c:pt idx="76">
                  <c:v>-2.6</c:v>
                </c:pt>
                <c:pt idx="77">
                  <c:v>-2.575</c:v>
                </c:pt>
                <c:pt idx="78">
                  <c:v>-2.55</c:v>
                </c:pt>
                <c:pt idx="79">
                  <c:v>-2.525</c:v>
                </c:pt>
                <c:pt idx="80">
                  <c:v>-2.5</c:v>
                </c:pt>
                <c:pt idx="81">
                  <c:v>-2.475</c:v>
                </c:pt>
                <c:pt idx="82">
                  <c:v>-2.45</c:v>
                </c:pt>
                <c:pt idx="83">
                  <c:v>-2.425</c:v>
                </c:pt>
                <c:pt idx="84">
                  <c:v>-2.4</c:v>
                </c:pt>
                <c:pt idx="85">
                  <c:v>-2.375</c:v>
                </c:pt>
                <c:pt idx="86">
                  <c:v>-2.35</c:v>
                </c:pt>
                <c:pt idx="87">
                  <c:v>-2.325</c:v>
                </c:pt>
                <c:pt idx="88">
                  <c:v>-2.3</c:v>
                </c:pt>
                <c:pt idx="89">
                  <c:v>-2.275</c:v>
                </c:pt>
                <c:pt idx="90">
                  <c:v>-2.25</c:v>
                </c:pt>
                <c:pt idx="91">
                  <c:v>-2.225</c:v>
                </c:pt>
                <c:pt idx="92">
                  <c:v>-2.2</c:v>
                </c:pt>
                <c:pt idx="93">
                  <c:v>-2.175</c:v>
                </c:pt>
                <c:pt idx="94">
                  <c:v>-2.15</c:v>
                </c:pt>
                <c:pt idx="95">
                  <c:v>-2.125</c:v>
                </c:pt>
                <c:pt idx="96">
                  <c:v>-2.1</c:v>
                </c:pt>
                <c:pt idx="97">
                  <c:v>-2.075</c:v>
                </c:pt>
                <c:pt idx="98">
                  <c:v>-2.05</c:v>
                </c:pt>
                <c:pt idx="99">
                  <c:v>-2.025</c:v>
                </c:pt>
                <c:pt idx="100">
                  <c:v>-2</c:v>
                </c:pt>
                <c:pt idx="101">
                  <c:v>-1.975</c:v>
                </c:pt>
                <c:pt idx="102">
                  <c:v>-1.95</c:v>
                </c:pt>
                <c:pt idx="103">
                  <c:v>-1.925</c:v>
                </c:pt>
                <c:pt idx="104">
                  <c:v>-1.9</c:v>
                </c:pt>
                <c:pt idx="105">
                  <c:v>-1.875</c:v>
                </c:pt>
                <c:pt idx="106">
                  <c:v>-1.85</c:v>
                </c:pt>
                <c:pt idx="107">
                  <c:v>-1.825</c:v>
                </c:pt>
                <c:pt idx="108">
                  <c:v>-1.8</c:v>
                </c:pt>
                <c:pt idx="109">
                  <c:v>-1.775</c:v>
                </c:pt>
                <c:pt idx="110">
                  <c:v>-1.75</c:v>
                </c:pt>
                <c:pt idx="111">
                  <c:v>-1.725</c:v>
                </c:pt>
                <c:pt idx="112">
                  <c:v>-1.7</c:v>
                </c:pt>
                <c:pt idx="113">
                  <c:v>-1.675</c:v>
                </c:pt>
                <c:pt idx="114">
                  <c:v>-1.65</c:v>
                </c:pt>
                <c:pt idx="115">
                  <c:v>-1.625</c:v>
                </c:pt>
                <c:pt idx="116">
                  <c:v>-1.6</c:v>
                </c:pt>
                <c:pt idx="117">
                  <c:v>-1.575</c:v>
                </c:pt>
                <c:pt idx="118">
                  <c:v>-1.55</c:v>
                </c:pt>
                <c:pt idx="119">
                  <c:v>-1.525</c:v>
                </c:pt>
                <c:pt idx="120">
                  <c:v>-1.5</c:v>
                </c:pt>
                <c:pt idx="121">
                  <c:v>-1.475</c:v>
                </c:pt>
                <c:pt idx="122">
                  <c:v>-1.45</c:v>
                </c:pt>
                <c:pt idx="123">
                  <c:v>-1.425</c:v>
                </c:pt>
                <c:pt idx="124">
                  <c:v>-1.4</c:v>
                </c:pt>
                <c:pt idx="125">
                  <c:v>-1.375</c:v>
                </c:pt>
                <c:pt idx="126">
                  <c:v>-1.35</c:v>
                </c:pt>
                <c:pt idx="127">
                  <c:v>-1.325</c:v>
                </c:pt>
                <c:pt idx="128">
                  <c:v>-1.3</c:v>
                </c:pt>
                <c:pt idx="129">
                  <c:v>-1.275</c:v>
                </c:pt>
                <c:pt idx="130">
                  <c:v>-1.25</c:v>
                </c:pt>
                <c:pt idx="131">
                  <c:v>-1.225</c:v>
                </c:pt>
                <c:pt idx="132">
                  <c:v>-1.2</c:v>
                </c:pt>
                <c:pt idx="133">
                  <c:v>-1.175</c:v>
                </c:pt>
                <c:pt idx="134">
                  <c:v>-1.15</c:v>
                </c:pt>
                <c:pt idx="135">
                  <c:v>-1.125</c:v>
                </c:pt>
                <c:pt idx="136">
                  <c:v>-1.1</c:v>
                </c:pt>
                <c:pt idx="137">
                  <c:v>-1.075</c:v>
                </c:pt>
                <c:pt idx="138">
                  <c:v>-1.05</c:v>
                </c:pt>
                <c:pt idx="139">
                  <c:v>-1.025</c:v>
                </c:pt>
                <c:pt idx="140">
                  <c:v>-1</c:v>
                </c:pt>
                <c:pt idx="141">
                  <c:v>-0.975</c:v>
                </c:pt>
                <c:pt idx="142">
                  <c:v>-0.95</c:v>
                </c:pt>
                <c:pt idx="143">
                  <c:v>-0.925</c:v>
                </c:pt>
                <c:pt idx="144">
                  <c:v>-0.9</c:v>
                </c:pt>
                <c:pt idx="145">
                  <c:v>-0.875</c:v>
                </c:pt>
                <c:pt idx="146">
                  <c:v>-0.85</c:v>
                </c:pt>
                <c:pt idx="147">
                  <c:v>-0.825</c:v>
                </c:pt>
                <c:pt idx="148">
                  <c:v>-0.8</c:v>
                </c:pt>
                <c:pt idx="149">
                  <c:v>-0.775</c:v>
                </c:pt>
                <c:pt idx="150">
                  <c:v>-0.75</c:v>
                </c:pt>
                <c:pt idx="151">
                  <c:v>-0.725</c:v>
                </c:pt>
                <c:pt idx="152">
                  <c:v>-0.7</c:v>
                </c:pt>
                <c:pt idx="153">
                  <c:v>-0.675</c:v>
                </c:pt>
                <c:pt idx="154">
                  <c:v>-0.65</c:v>
                </c:pt>
                <c:pt idx="155">
                  <c:v>-0.625</c:v>
                </c:pt>
                <c:pt idx="156">
                  <c:v>-0.6</c:v>
                </c:pt>
                <c:pt idx="157">
                  <c:v>-0.575</c:v>
                </c:pt>
                <c:pt idx="158">
                  <c:v>-0.55</c:v>
                </c:pt>
                <c:pt idx="159">
                  <c:v>-0.525</c:v>
                </c:pt>
                <c:pt idx="160">
                  <c:v>-0.5</c:v>
                </c:pt>
                <c:pt idx="161">
                  <c:v>-0.475</c:v>
                </c:pt>
                <c:pt idx="162">
                  <c:v>-0.45</c:v>
                </c:pt>
                <c:pt idx="163">
                  <c:v>-0.425</c:v>
                </c:pt>
                <c:pt idx="164">
                  <c:v>-0.4</c:v>
                </c:pt>
                <c:pt idx="165">
                  <c:v>-0.375</c:v>
                </c:pt>
                <c:pt idx="166">
                  <c:v>-0.35</c:v>
                </c:pt>
                <c:pt idx="167">
                  <c:v>-0.325</c:v>
                </c:pt>
                <c:pt idx="168">
                  <c:v>-0.3</c:v>
                </c:pt>
                <c:pt idx="169">
                  <c:v>-0.275</c:v>
                </c:pt>
                <c:pt idx="170">
                  <c:v>-0.25</c:v>
                </c:pt>
                <c:pt idx="171">
                  <c:v>-0.225</c:v>
                </c:pt>
                <c:pt idx="172">
                  <c:v>-0.2</c:v>
                </c:pt>
                <c:pt idx="173">
                  <c:v>-0.175</c:v>
                </c:pt>
                <c:pt idx="174">
                  <c:v>-0.15</c:v>
                </c:pt>
                <c:pt idx="175">
                  <c:v>-0.125</c:v>
                </c:pt>
                <c:pt idx="176">
                  <c:v>-0.1</c:v>
                </c:pt>
                <c:pt idx="177">
                  <c:v>-0.075</c:v>
                </c:pt>
                <c:pt idx="178">
                  <c:v>-0.05</c:v>
                </c:pt>
                <c:pt idx="179">
                  <c:v>-0.025</c:v>
                </c:pt>
                <c:pt idx="180">
                  <c:v>0</c:v>
                </c:pt>
                <c:pt idx="181">
                  <c:v>0.025</c:v>
                </c:pt>
                <c:pt idx="182">
                  <c:v>0.05</c:v>
                </c:pt>
                <c:pt idx="183">
                  <c:v>0.075</c:v>
                </c:pt>
                <c:pt idx="184">
                  <c:v>0.1</c:v>
                </c:pt>
                <c:pt idx="185">
                  <c:v>0.125</c:v>
                </c:pt>
                <c:pt idx="186">
                  <c:v>0.15</c:v>
                </c:pt>
                <c:pt idx="187">
                  <c:v>0.175</c:v>
                </c:pt>
                <c:pt idx="188">
                  <c:v>0.2</c:v>
                </c:pt>
                <c:pt idx="189">
                  <c:v>0.225</c:v>
                </c:pt>
                <c:pt idx="190">
                  <c:v>0.25</c:v>
                </c:pt>
                <c:pt idx="191">
                  <c:v>0.275</c:v>
                </c:pt>
                <c:pt idx="192">
                  <c:v>0.3</c:v>
                </c:pt>
                <c:pt idx="193">
                  <c:v>0.325</c:v>
                </c:pt>
                <c:pt idx="194">
                  <c:v>0.35</c:v>
                </c:pt>
                <c:pt idx="195">
                  <c:v>0.375</c:v>
                </c:pt>
                <c:pt idx="196">
                  <c:v>0.4</c:v>
                </c:pt>
                <c:pt idx="197">
                  <c:v>0.425</c:v>
                </c:pt>
                <c:pt idx="198">
                  <c:v>0.45</c:v>
                </c:pt>
                <c:pt idx="199">
                  <c:v>0.475</c:v>
                </c:pt>
                <c:pt idx="200">
                  <c:v>0.5</c:v>
                </c:pt>
                <c:pt idx="201">
                  <c:v>0.525</c:v>
                </c:pt>
                <c:pt idx="202">
                  <c:v>0.55</c:v>
                </c:pt>
                <c:pt idx="203">
                  <c:v>0.575</c:v>
                </c:pt>
                <c:pt idx="204">
                  <c:v>0.6</c:v>
                </c:pt>
                <c:pt idx="205">
                  <c:v>0.625</c:v>
                </c:pt>
                <c:pt idx="206">
                  <c:v>0.65</c:v>
                </c:pt>
                <c:pt idx="207">
                  <c:v>0.675</c:v>
                </c:pt>
                <c:pt idx="208">
                  <c:v>0.7</c:v>
                </c:pt>
                <c:pt idx="209">
                  <c:v>0.725</c:v>
                </c:pt>
                <c:pt idx="210">
                  <c:v>0.75</c:v>
                </c:pt>
                <c:pt idx="211">
                  <c:v>0.775</c:v>
                </c:pt>
                <c:pt idx="212">
                  <c:v>0.8</c:v>
                </c:pt>
                <c:pt idx="213">
                  <c:v>0.825</c:v>
                </c:pt>
                <c:pt idx="214">
                  <c:v>0.85</c:v>
                </c:pt>
                <c:pt idx="215">
                  <c:v>0.875</c:v>
                </c:pt>
                <c:pt idx="216">
                  <c:v>0.9</c:v>
                </c:pt>
                <c:pt idx="217">
                  <c:v>0.925</c:v>
                </c:pt>
                <c:pt idx="218">
                  <c:v>0.95</c:v>
                </c:pt>
                <c:pt idx="219">
                  <c:v>0.975</c:v>
                </c:pt>
                <c:pt idx="220">
                  <c:v>1</c:v>
                </c:pt>
                <c:pt idx="221">
                  <c:v>1.025</c:v>
                </c:pt>
                <c:pt idx="222">
                  <c:v>1.05</c:v>
                </c:pt>
                <c:pt idx="223">
                  <c:v>1.075</c:v>
                </c:pt>
                <c:pt idx="224">
                  <c:v>1.1</c:v>
                </c:pt>
                <c:pt idx="225">
                  <c:v>1.125</c:v>
                </c:pt>
                <c:pt idx="226">
                  <c:v>1.15</c:v>
                </c:pt>
                <c:pt idx="227">
                  <c:v>1.175</c:v>
                </c:pt>
                <c:pt idx="228">
                  <c:v>1.2</c:v>
                </c:pt>
                <c:pt idx="229">
                  <c:v>1.225</c:v>
                </c:pt>
                <c:pt idx="230">
                  <c:v>1.25</c:v>
                </c:pt>
                <c:pt idx="231">
                  <c:v>1.275</c:v>
                </c:pt>
                <c:pt idx="232">
                  <c:v>1.3</c:v>
                </c:pt>
                <c:pt idx="233">
                  <c:v>1.325</c:v>
                </c:pt>
                <c:pt idx="234">
                  <c:v>1.35</c:v>
                </c:pt>
                <c:pt idx="235">
                  <c:v>1.375</c:v>
                </c:pt>
                <c:pt idx="236">
                  <c:v>1.4</c:v>
                </c:pt>
                <c:pt idx="237">
                  <c:v>1.425</c:v>
                </c:pt>
                <c:pt idx="238">
                  <c:v>1.45</c:v>
                </c:pt>
                <c:pt idx="239">
                  <c:v>1.475</c:v>
                </c:pt>
                <c:pt idx="240">
                  <c:v>1.5</c:v>
                </c:pt>
                <c:pt idx="241">
                  <c:v>1.525</c:v>
                </c:pt>
                <c:pt idx="242">
                  <c:v>1.55</c:v>
                </c:pt>
                <c:pt idx="243">
                  <c:v>1.575</c:v>
                </c:pt>
                <c:pt idx="244">
                  <c:v>1.6</c:v>
                </c:pt>
                <c:pt idx="245">
                  <c:v>1.625</c:v>
                </c:pt>
                <c:pt idx="246">
                  <c:v>1.65</c:v>
                </c:pt>
                <c:pt idx="247">
                  <c:v>1.675</c:v>
                </c:pt>
                <c:pt idx="248">
                  <c:v>1.7</c:v>
                </c:pt>
                <c:pt idx="249">
                  <c:v>1.725</c:v>
                </c:pt>
                <c:pt idx="250">
                  <c:v>1.75</c:v>
                </c:pt>
                <c:pt idx="251">
                  <c:v>1.775</c:v>
                </c:pt>
                <c:pt idx="252">
                  <c:v>1.8</c:v>
                </c:pt>
                <c:pt idx="253">
                  <c:v>1.825</c:v>
                </c:pt>
                <c:pt idx="254">
                  <c:v>1.85</c:v>
                </c:pt>
                <c:pt idx="255">
                  <c:v>1.875</c:v>
                </c:pt>
                <c:pt idx="256">
                  <c:v>1.9</c:v>
                </c:pt>
                <c:pt idx="257">
                  <c:v>1.925</c:v>
                </c:pt>
                <c:pt idx="258">
                  <c:v>1.95</c:v>
                </c:pt>
                <c:pt idx="259">
                  <c:v>1.975</c:v>
                </c:pt>
                <c:pt idx="260">
                  <c:v>2</c:v>
                </c:pt>
                <c:pt idx="261">
                  <c:v>2.025</c:v>
                </c:pt>
                <c:pt idx="262">
                  <c:v>2.05</c:v>
                </c:pt>
                <c:pt idx="263">
                  <c:v>2.075</c:v>
                </c:pt>
                <c:pt idx="264">
                  <c:v>2.1</c:v>
                </c:pt>
                <c:pt idx="265">
                  <c:v>2.125</c:v>
                </c:pt>
                <c:pt idx="266">
                  <c:v>2.15</c:v>
                </c:pt>
                <c:pt idx="267">
                  <c:v>2.175</c:v>
                </c:pt>
                <c:pt idx="268">
                  <c:v>2.2</c:v>
                </c:pt>
                <c:pt idx="269">
                  <c:v>2.225</c:v>
                </c:pt>
                <c:pt idx="270">
                  <c:v>2.25</c:v>
                </c:pt>
                <c:pt idx="271">
                  <c:v>2.275</c:v>
                </c:pt>
                <c:pt idx="272">
                  <c:v>2.3</c:v>
                </c:pt>
                <c:pt idx="273">
                  <c:v>2.325</c:v>
                </c:pt>
                <c:pt idx="274">
                  <c:v>2.35</c:v>
                </c:pt>
                <c:pt idx="275">
                  <c:v>2.375</c:v>
                </c:pt>
                <c:pt idx="276">
                  <c:v>2.4</c:v>
                </c:pt>
                <c:pt idx="277">
                  <c:v>2.425</c:v>
                </c:pt>
                <c:pt idx="278">
                  <c:v>2.45</c:v>
                </c:pt>
                <c:pt idx="279">
                  <c:v>2.475</c:v>
                </c:pt>
                <c:pt idx="280">
                  <c:v>2.5</c:v>
                </c:pt>
                <c:pt idx="281">
                  <c:v>2.525</c:v>
                </c:pt>
                <c:pt idx="282">
                  <c:v>2.55</c:v>
                </c:pt>
                <c:pt idx="283">
                  <c:v>2.575</c:v>
                </c:pt>
                <c:pt idx="284">
                  <c:v>2.6</c:v>
                </c:pt>
                <c:pt idx="285">
                  <c:v>2.625</c:v>
                </c:pt>
                <c:pt idx="286">
                  <c:v>2.65</c:v>
                </c:pt>
                <c:pt idx="287">
                  <c:v>2.675</c:v>
                </c:pt>
                <c:pt idx="288">
                  <c:v>2.7</c:v>
                </c:pt>
                <c:pt idx="289">
                  <c:v>2.725</c:v>
                </c:pt>
                <c:pt idx="290">
                  <c:v>2.75</c:v>
                </c:pt>
                <c:pt idx="291">
                  <c:v>2.775</c:v>
                </c:pt>
                <c:pt idx="292">
                  <c:v>2.8</c:v>
                </c:pt>
                <c:pt idx="293">
                  <c:v>2.825</c:v>
                </c:pt>
                <c:pt idx="294">
                  <c:v>2.85</c:v>
                </c:pt>
                <c:pt idx="295">
                  <c:v>2.875</c:v>
                </c:pt>
                <c:pt idx="296">
                  <c:v>2.9</c:v>
                </c:pt>
                <c:pt idx="297">
                  <c:v>2.925</c:v>
                </c:pt>
                <c:pt idx="298">
                  <c:v>2.95</c:v>
                </c:pt>
                <c:pt idx="299">
                  <c:v>2.975</c:v>
                </c:pt>
                <c:pt idx="300">
                  <c:v>3</c:v>
                </c:pt>
                <c:pt idx="301">
                  <c:v>3.025</c:v>
                </c:pt>
                <c:pt idx="302">
                  <c:v>3.05</c:v>
                </c:pt>
                <c:pt idx="303">
                  <c:v>3.075</c:v>
                </c:pt>
                <c:pt idx="304">
                  <c:v>3.1</c:v>
                </c:pt>
                <c:pt idx="305">
                  <c:v>3.125</c:v>
                </c:pt>
                <c:pt idx="306">
                  <c:v>3.15</c:v>
                </c:pt>
                <c:pt idx="307">
                  <c:v>3.175</c:v>
                </c:pt>
                <c:pt idx="308">
                  <c:v>3.2</c:v>
                </c:pt>
                <c:pt idx="309">
                  <c:v>3.225</c:v>
                </c:pt>
                <c:pt idx="310">
                  <c:v>3.25</c:v>
                </c:pt>
                <c:pt idx="311">
                  <c:v>3.275</c:v>
                </c:pt>
                <c:pt idx="312">
                  <c:v>3.3</c:v>
                </c:pt>
                <c:pt idx="313">
                  <c:v>3.325</c:v>
                </c:pt>
                <c:pt idx="314">
                  <c:v>3.35</c:v>
                </c:pt>
                <c:pt idx="315">
                  <c:v>3.375</c:v>
                </c:pt>
                <c:pt idx="316">
                  <c:v>3.4</c:v>
                </c:pt>
                <c:pt idx="317">
                  <c:v>3.425</c:v>
                </c:pt>
                <c:pt idx="318">
                  <c:v>3.45</c:v>
                </c:pt>
                <c:pt idx="319">
                  <c:v>3.475</c:v>
                </c:pt>
                <c:pt idx="320">
                  <c:v>3.5</c:v>
                </c:pt>
                <c:pt idx="321">
                  <c:v>3.525</c:v>
                </c:pt>
                <c:pt idx="322">
                  <c:v>3.55</c:v>
                </c:pt>
                <c:pt idx="323">
                  <c:v>3.575</c:v>
                </c:pt>
                <c:pt idx="324">
                  <c:v>3.6</c:v>
                </c:pt>
                <c:pt idx="325">
                  <c:v>3.625</c:v>
                </c:pt>
                <c:pt idx="326">
                  <c:v>3.65</c:v>
                </c:pt>
                <c:pt idx="327">
                  <c:v>3.675</c:v>
                </c:pt>
                <c:pt idx="328">
                  <c:v>3.7</c:v>
                </c:pt>
                <c:pt idx="329">
                  <c:v>3.725</c:v>
                </c:pt>
                <c:pt idx="330">
                  <c:v>3.75</c:v>
                </c:pt>
                <c:pt idx="331">
                  <c:v>3.775</c:v>
                </c:pt>
                <c:pt idx="332">
                  <c:v>3.8</c:v>
                </c:pt>
                <c:pt idx="333">
                  <c:v>3.825</c:v>
                </c:pt>
                <c:pt idx="334">
                  <c:v>3.85</c:v>
                </c:pt>
                <c:pt idx="335">
                  <c:v>3.875</c:v>
                </c:pt>
                <c:pt idx="336">
                  <c:v>3.9</c:v>
                </c:pt>
                <c:pt idx="337">
                  <c:v>3.925</c:v>
                </c:pt>
                <c:pt idx="338">
                  <c:v>3.95</c:v>
                </c:pt>
                <c:pt idx="339">
                  <c:v>3.975</c:v>
                </c:pt>
                <c:pt idx="340">
                  <c:v>4</c:v>
                </c:pt>
                <c:pt idx="341">
                  <c:v>4.025</c:v>
                </c:pt>
                <c:pt idx="342">
                  <c:v>4.05</c:v>
                </c:pt>
                <c:pt idx="343">
                  <c:v>4.075</c:v>
                </c:pt>
                <c:pt idx="344">
                  <c:v>4.1</c:v>
                </c:pt>
                <c:pt idx="345">
                  <c:v>4.125</c:v>
                </c:pt>
                <c:pt idx="346">
                  <c:v>4.15</c:v>
                </c:pt>
                <c:pt idx="347">
                  <c:v>4.175</c:v>
                </c:pt>
                <c:pt idx="348">
                  <c:v>4.2</c:v>
                </c:pt>
                <c:pt idx="349">
                  <c:v>4.225</c:v>
                </c:pt>
                <c:pt idx="350">
                  <c:v>4.25</c:v>
                </c:pt>
                <c:pt idx="351">
                  <c:v>4.275</c:v>
                </c:pt>
                <c:pt idx="352">
                  <c:v>4.3</c:v>
                </c:pt>
                <c:pt idx="353">
                  <c:v>4.325</c:v>
                </c:pt>
                <c:pt idx="354">
                  <c:v>4.35</c:v>
                </c:pt>
                <c:pt idx="355">
                  <c:v>4.375</c:v>
                </c:pt>
                <c:pt idx="356">
                  <c:v>4.4</c:v>
                </c:pt>
                <c:pt idx="357">
                  <c:v>4.425</c:v>
                </c:pt>
                <c:pt idx="358">
                  <c:v>4.45</c:v>
                </c:pt>
                <c:pt idx="359">
                  <c:v>4.475</c:v>
                </c:pt>
                <c:pt idx="360">
                  <c:v>4.5</c:v>
                </c:pt>
              </c:numCache>
            </c:numRef>
          </c:xVal>
          <c:yVal>
            <c:numRef>
              <c:f>'Chart Data'!$B$2:$B$362</c:f>
              <c:numCache>
                <c:formatCode>General</c:formatCode>
                <c:ptCount val="361"/>
                <c:pt idx="0">
                  <c:v>1.05296671847266</c:v>
                </c:pt>
                <c:pt idx="1">
                  <c:v>1.03939733960131</c:v>
                </c:pt>
                <c:pt idx="2">
                  <c:v>1.02602046845101</c:v>
                </c:pt>
                <c:pt idx="3">
                  <c:v>1.01283789972669</c:v>
                </c:pt>
                <c:pt idx="4">
                  <c:v>0.999851404553903</c:v>
                </c:pt>
                <c:pt idx="5">
                  <c:v>0.987062729614779</c:v>
                </c:pt>
                <c:pt idx="6">
                  <c:v>0.974473596313619</c:v>
                </c:pt>
                <c:pt idx="7">
                  <c:v>0.962085699973652</c:v>
                </c:pt>
                <c:pt idx="8">
                  <c:v>0.94990070906649</c:v>
                </c:pt>
                <c:pt idx="9">
                  <c:v>0.937920264475669</c:v>
                </c:pt>
                <c:pt idx="10">
                  <c:v>0.926145978795591</c:v>
                </c:pt>
                <c:pt idx="11">
                  <c:v>0.914579435667031</c:v>
                </c:pt>
                <c:pt idx="12">
                  <c:v>0.903222189150288</c:v>
                </c:pt>
                <c:pt idx="13">
                  <c:v>0.892075763136885</c:v>
                </c:pt>
                <c:pt idx="14">
                  <c:v>0.881141650800641</c:v>
                </c:pt>
                <c:pt idx="15">
                  <c:v>0.870421314088738</c:v>
                </c:pt>
                <c:pt idx="16">
                  <c:v>0.859916183253326</c:v>
                </c:pt>
                <c:pt idx="17">
                  <c:v>0.849627656423995</c:v>
                </c:pt>
                <c:pt idx="18">
                  <c:v>0.839557099221348</c:v>
                </c:pt>
                <c:pt idx="19">
                  <c:v>0.829705844411717</c:v>
                </c:pt>
                <c:pt idx="20">
                  <c:v>0.820075191602918</c:v>
                </c:pt>
                <c:pt idx="21">
                  <c:v>0.810666406980799</c:v>
                </c:pt>
                <c:pt idx="22">
                  <c:v>0.801480723086154</c:v>
                </c:pt>
                <c:pt idx="23">
                  <c:v>0.792519338631432</c:v>
                </c:pt>
                <c:pt idx="24">
                  <c:v>0.783783418356531</c:v>
                </c:pt>
                <c:pt idx="25">
                  <c:v>0.775274092922771</c:v>
                </c:pt>
                <c:pt idx="26">
                  <c:v>0.766992458844042</c:v>
                </c:pt>
                <c:pt idx="27">
                  <c:v>0.758939578453955</c:v>
                </c:pt>
                <c:pt idx="28">
                  <c:v>0.751116479907666</c:v>
                </c:pt>
                <c:pt idx="29">
                  <c:v>0.743524157216947</c:v>
                </c:pt>
                <c:pt idx="30">
                  <c:v>0.736163570316931</c:v>
                </c:pt>
                <c:pt idx="31">
                  <c:v>0.729035645162822</c:v>
                </c:pt>
                <c:pt idx="32">
                  <c:v>0.722141273854793</c:v>
                </c:pt>
                <c:pt idx="33">
                  <c:v>0.71548131478914</c:v>
                </c:pt>
                <c:pt idx="34">
                  <c:v>0.709056592833709</c:v>
                </c:pt>
                <c:pt idx="35">
                  <c:v>0.702867899525499</c:v>
                </c:pt>
                <c:pt idx="36">
                  <c:v>0.696915993288291</c:v>
                </c:pt>
                <c:pt idx="37">
                  <c:v>0.691201599668081</c:v>
                </c:pt>
                <c:pt idx="38">
                  <c:v>0.685725411584034</c:v>
                </c:pt>
                <c:pt idx="39">
                  <c:v>0.680488089592659</c:v>
                </c:pt>
                <c:pt idx="40">
                  <c:v>0.675490262162859</c:v>
                </c:pt>
                <c:pt idx="41">
                  <c:v>0.670732525959494</c:v>
                </c:pt>
                <c:pt idx="42">
                  <c:v>0.666215446133097</c:v>
                </c:pt>
                <c:pt idx="43">
                  <c:v>0.661939556613404</c:v>
                </c:pt>
                <c:pt idx="44">
                  <c:v>0.657905360404336</c:v>
                </c:pt>
                <c:pt idx="45">
                  <c:v>0.654113329878167</c:v>
                </c:pt>
                <c:pt idx="46">
                  <c:v>0.650563907066591</c:v>
                </c:pt>
                <c:pt idx="47">
                  <c:v>0.647257503946519</c:v>
                </c:pt>
                <c:pt idx="48">
                  <c:v>0.64419450271845</c:v>
                </c:pt>
                <c:pt idx="49">
                  <c:v>0.641375256075378</c:v>
                </c:pt>
                <c:pt idx="50">
                  <c:v>0.638800087460273</c:v>
                </c:pt>
                <c:pt idx="51">
                  <c:v>0.636469291310267</c:v>
                </c:pt>
                <c:pt idx="52">
                  <c:v>0.634383133285809</c:v>
                </c:pt>
                <c:pt idx="53">
                  <c:v>0.632541850483139</c:v>
                </c:pt>
                <c:pt idx="54">
                  <c:v>0.630945651628594</c:v>
                </c:pt>
                <c:pt idx="55">
                  <c:v>0.62959471725337</c:v>
                </c:pt>
                <c:pt idx="56">
                  <c:v>0.628489199847519</c:v>
                </c:pt>
                <c:pt idx="57">
                  <c:v>0.627629223992102</c:v>
                </c:pt>
                <c:pt idx="58">
                  <c:v>0.627014886468595</c:v>
                </c:pt>
                <c:pt idx="59">
                  <c:v>0.626646256344766</c:v>
                </c:pt>
                <c:pt idx="60">
                  <c:v>0.626523375036446</c:v>
                </c:pt>
                <c:pt idx="61">
                  <c:v>0.626646256344766</c:v>
                </c:pt>
                <c:pt idx="62">
                  <c:v>0.627014886468595</c:v>
                </c:pt>
                <c:pt idx="63">
                  <c:v>0.627629223992102</c:v>
                </c:pt>
                <c:pt idx="64">
                  <c:v>0.628489199847519</c:v>
                </c:pt>
                <c:pt idx="65">
                  <c:v>0.62959471725337</c:v>
                </c:pt>
                <c:pt idx="66">
                  <c:v>0.630945651628594</c:v>
                </c:pt>
                <c:pt idx="67">
                  <c:v>0.632541850483139</c:v>
                </c:pt>
                <c:pt idx="68">
                  <c:v>0.634383133285809</c:v>
                </c:pt>
                <c:pt idx="69">
                  <c:v>0.636469291310267</c:v>
                </c:pt>
                <c:pt idx="70">
                  <c:v>0.638800087460273</c:v>
                </c:pt>
                <c:pt idx="71">
                  <c:v>0.641375256075378</c:v>
                </c:pt>
                <c:pt idx="72">
                  <c:v>0.64419450271845</c:v>
                </c:pt>
                <c:pt idx="73">
                  <c:v>0.647257503946519</c:v>
                </c:pt>
                <c:pt idx="74">
                  <c:v>0.650563907066591</c:v>
                </c:pt>
                <c:pt idx="75">
                  <c:v>0.654113329878167</c:v>
                </c:pt>
                <c:pt idx="76">
                  <c:v>0.657905360404337</c:v>
                </c:pt>
                <c:pt idx="77">
                  <c:v>0.661939556613404</c:v>
                </c:pt>
                <c:pt idx="78">
                  <c:v>0.666215446133097</c:v>
                </c:pt>
                <c:pt idx="79">
                  <c:v>0.670732525959494</c:v>
                </c:pt>
                <c:pt idx="80">
                  <c:v>0.675490262162859</c:v>
                </c:pt>
                <c:pt idx="81">
                  <c:v>0.680488089592659</c:v>
                </c:pt>
                <c:pt idx="82">
                  <c:v>0.685725411584034</c:v>
                </c:pt>
                <c:pt idx="83">
                  <c:v>0.691201599668081</c:v>
                </c:pt>
                <c:pt idx="84">
                  <c:v>0.696915993288291</c:v>
                </c:pt>
                <c:pt idx="85">
                  <c:v>0.702867899525499</c:v>
                </c:pt>
                <c:pt idx="86">
                  <c:v>0.709056592833709</c:v>
                </c:pt>
                <c:pt idx="87">
                  <c:v>0.71548131478914</c:v>
                </c:pt>
                <c:pt idx="88">
                  <c:v>0.722141273854793</c:v>
                </c:pt>
                <c:pt idx="89">
                  <c:v>0.729035645162822</c:v>
                </c:pt>
                <c:pt idx="90">
                  <c:v>0.736163570316931</c:v>
                </c:pt>
                <c:pt idx="91">
                  <c:v>0.743524157216948</c:v>
                </c:pt>
                <c:pt idx="92">
                  <c:v>0.751116479907666</c:v>
                </c:pt>
                <c:pt idx="93">
                  <c:v>0.758939578453955</c:v>
                </c:pt>
                <c:pt idx="94">
                  <c:v>0.766992458844042</c:v>
                </c:pt>
                <c:pt idx="95">
                  <c:v>0.775274092922771</c:v>
                </c:pt>
                <c:pt idx="96">
                  <c:v>0.783783418356532</c:v>
                </c:pt>
                <c:pt idx="97">
                  <c:v>0.792519338631432</c:v>
                </c:pt>
                <c:pt idx="98">
                  <c:v>0.801480723086154</c:v>
                </c:pt>
                <c:pt idx="99">
                  <c:v>0.810666406980799</c:v>
                </c:pt>
                <c:pt idx="100">
                  <c:v>0.820075191602918</c:v>
                </c:pt>
                <c:pt idx="101">
                  <c:v>0.829705844411717</c:v>
                </c:pt>
                <c:pt idx="102">
                  <c:v>0.839557099221348</c:v>
                </c:pt>
                <c:pt idx="103">
                  <c:v>0.849627656423995</c:v>
                </c:pt>
                <c:pt idx="104">
                  <c:v>0.859916183253326</c:v>
                </c:pt>
                <c:pt idx="105">
                  <c:v>0.870421314088738</c:v>
                </c:pt>
                <c:pt idx="106">
                  <c:v>0.881141650800641</c:v>
                </c:pt>
                <c:pt idx="107">
                  <c:v>0.892075763136885</c:v>
                </c:pt>
                <c:pt idx="108">
                  <c:v>0.903222189150288</c:v>
                </c:pt>
                <c:pt idx="109">
                  <c:v>0.914579435667031</c:v>
                </c:pt>
                <c:pt idx="110">
                  <c:v>0.926145978795591</c:v>
                </c:pt>
                <c:pt idx="111">
                  <c:v>0.937920264475669</c:v>
                </c:pt>
                <c:pt idx="112">
                  <c:v>0.94990070906649</c:v>
                </c:pt>
                <c:pt idx="113">
                  <c:v>0.962085699973652</c:v>
                </c:pt>
                <c:pt idx="114">
                  <c:v>0.974473596313619</c:v>
                </c:pt>
                <c:pt idx="115">
                  <c:v>0.987062729614779</c:v>
                </c:pt>
                <c:pt idx="116">
                  <c:v>0.999851404553902</c:v>
                </c:pt>
                <c:pt idx="117">
                  <c:v>1.01283789972669</c:v>
                </c:pt>
                <c:pt idx="118">
                  <c:v>1.02602046845101</c:v>
                </c:pt>
                <c:pt idx="119">
                  <c:v>1.03939733960131</c:v>
                </c:pt>
                <c:pt idx="120">
                  <c:v>1.05296671847266</c:v>
                </c:pt>
                <c:pt idx="121">
                  <c:v>1.06672678767257</c:v>
                </c:pt>
                <c:pt idx="122">
                  <c:v>1.08067570803913</c:v>
                </c:pt>
                <c:pt idx="123">
                  <c:v>1.09481161958326</c:v>
                </c:pt>
                <c:pt idx="124">
                  <c:v>1.10913264245356</c:v>
                </c:pt>
                <c:pt idx="125">
                  <c:v>1.12363687792149</c:v>
                </c:pt>
                <c:pt idx="126">
                  <c:v>1.13832240938522</c:v>
                </c:pt>
                <c:pt idx="127">
                  <c:v>1.15318730338982</c:v>
                </c:pt>
                <c:pt idx="128">
                  <c:v>1.16822961066205</c:v>
                </c:pt>
                <c:pt idx="129">
                  <c:v>1.18344736715749</c:v>
                </c:pt>
                <c:pt idx="130">
                  <c:v>1.1988385951181</c:v>
                </c:pt>
                <c:pt idx="131">
                  <c:v>1.21440130413802</c:v>
                </c:pt>
                <c:pt idx="132">
                  <c:v>1.23013349223575</c:v>
                </c:pt>
                <c:pt idx="133">
                  <c:v>1.24603314693046</c:v>
                </c:pt>
                <c:pt idx="134">
                  <c:v>1.26209824632068</c:v>
                </c:pt>
                <c:pt idx="135">
                  <c:v>1.27832676016313</c:v>
                </c:pt>
                <c:pt idx="136">
                  <c:v>1.29471665095005</c:v>
                </c:pt>
                <c:pt idx="137">
                  <c:v>1.31126587498285</c:v>
                </c:pt>
                <c:pt idx="138">
                  <c:v>1.32797238344049</c:v>
                </c:pt>
                <c:pt idx="139">
                  <c:v>1.34483412344063</c:v>
                </c:pt>
                <c:pt idx="140">
                  <c:v>1.36184903909196</c:v>
                </c:pt>
                <c:pt idx="141">
                  <c:v>1.3813865791748</c:v>
                </c:pt>
                <c:pt idx="142">
                  <c:v>1.40107445620718</c:v>
                </c:pt>
                <c:pt idx="143">
                  <c:v>1.42091188978988</c:v>
                </c:pt>
                <c:pt idx="144">
                  <c:v>1.44089810133339</c:v>
                </c:pt>
                <c:pt idx="145">
                  <c:v>1.46103231540639</c:v>
                </c:pt>
                <c:pt idx="146">
                  <c:v>1.48131376106488</c:v>
                </c:pt>
                <c:pt idx="147">
                  <c:v>1.50174167316046</c:v>
                </c:pt>
                <c:pt idx="148">
                  <c:v>1.522315293626</c:v>
                </c:pt>
                <c:pt idx="149">
                  <c:v>1.5430338727372</c:v>
                </c:pt>
                <c:pt idx="150">
                  <c:v>1.56389667034857</c:v>
                </c:pt>
                <c:pt idx="151">
                  <c:v>1.58490295710242</c:v>
                </c:pt>
                <c:pt idx="152">
                  <c:v>1.60605201560958</c:v>
                </c:pt>
                <c:pt idx="153">
                  <c:v>1.62734314160063</c:v>
                </c:pt>
                <c:pt idx="154">
                  <c:v>1.64877564504638</c:v>
                </c:pt>
                <c:pt idx="155">
                  <c:v>1.67034885124662</c:v>
                </c:pt>
                <c:pt idx="156">
                  <c:v>1.69206210188612</c:v>
                </c:pt>
                <c:pt idx="157">
                  <c:v>1.71391475605684</c:v>
                </c:pt>
                <c:pt idx="158">
                  <c:v>1.73590619124555</c:v>
                </c:pt>
                <c:pt idx="159">
                  <c:v>1.75803580428608</c:v>
                </c:pt>
                <c:pt idx="160">
                  <c:v>1.7803030122753</c:v>
                </c:pt>
                <c:pt idx="161">
                  <c:v>1.80270725345232</c:v>
                </c:pt>
                <c:pt idx="162">
                  <c:v>1.82524798804013</c:v>
                </c:pt>
                <c:pt idx="163">
                  <c:v>1.84792469904917</c:v>
                </c:pt>
                <c:pt idx="164">
                  <c:v>1.87073689304229</c:v>
                </c:pt>
                <c:pt idx="165">
                  <c:v>1.8936841008606</c:v>
                </c:pt>
                <c:pt idx="166">
                  <c:v>1.91676587830977</c:v>
                </c:pt>
                <c:pt idx="167">
                  <c:v>1.93998180680644</c:v>
                </c:pt>
                <c:pt idx="168">
                  <c:v>1.96333149398423</c:v>
                </c:pt>
                <c:pt idx="169">
                  <c:v>1.98681457425929</c:v>
                </c:pt>
                <c:pt idx="170">
                  <c:v>2.01043070935483</c:v>
                </c:pt>
                <c:pt idx="171">
                  <c:v>2.03417958878457</c:v>
                </c:pt>
                <c:pt idx="172">
                  <c:v>2.05806093029477</c:v>
                </c:pt>
                <c:pt idx="173">
                  <c:v>2.08207448026475</c:v>
                </c:pt>
                <c:pt idx="174">
                  <c:v>2.10622001406562</c:v>
                </c:pt>
                <c:pt idx="175">
                  <c:v>2.13049733637717</c:v>
                </c:pt>
                <c:pt idx="176">
                  <c:v>2.15490628146272</c:v>
                </c:pt>
                <c:pt idx="177">
                  <c:v>2.17944671340184</c:v>
                </c:pt>
                <c:pt idx="178">
                  <c:v>2.20411852628093</c:v>
                </c:pt>
                <c:pt idx="179">
                  <c:v>2.22892164434147</c:v>
                </c:pt>
                <c:pt idx="180">
                  <c:v>2.25385602208595</c:v>
                </c:pt>
                <c:pt idx="181">
                  <c:v>2.27892164434147</c:v>
                </c:pt>
                <c:pt idx="182">
                  <c:v>2.30411852628093</c:v>
                </c:pt>
                <c:pt idx="183">
                  <c:v>2.32944671340184</c:v>
                </c:pt>
                <c:pt idx="184">
                  <c:v>2.35490628146272</c:v>
                </c:pt>
                <c:pt idx="185">
                  <c:v>2.38049733637717</c:v>
                </c:pt>
                <c:pt idx="186">
                  <c:v>2.40622001406562</c:v>
                </c:pt>
                <c:pt idx="187">
                  <c:v>2.43207448026475</c:v>
                </c:pt>
                <c:pt idx="188">
                  <c:v>2.45806093029477</c:v>
                </c:pt>
                <c:pt idx="189">
                  <c:v>2.48417958878457</c:v>
                </c:pt>
                <c:pt idx="190">
                  <c:v>2.51043070935483</c:v>
                </c:pt>
                <c:pt idx="191">
                  <c:v>2.53681457425929</c:v>
                </c:pt>
                <c:pt idx="192">
                  <c:v>2.56333149398423</c:v>
                </c:pt>
                <c:pt idx="193">
                  <c:v>2.58998180680644</c:v>
                </c:pt>
                <c:pt idx="194">
                  <c:v>2.61676587830977</c:v>
                </c:pt>
                <c:pt idx="195">
                  <c:v>2.6436841008606</c:v>
                </c:pt>
                <c:pt idx="196">
                  <c:v>2.67073689304229</c:v>
                </c:pt>
                <c:pt idx="197">
                  <c:v>2.69792469904917</c:v>
                </c:pt>
                <c:pt idx="198">
                  <c:v>2.72524798804013</c:v>
                </c:pt>
                <c:pt idx="199">
                  <c:v>2.75270725345232</c:v>
                </c:pt>
                <c:pt idx="200">
                  <c:v>2.7803030122753</c:v>
                </c:pt>
                <c:pt idx="201">
                  <c:v>2.80803580428608</c:v>
                </c:pt>
                <c:pt idx="202">
                  <c:v>2.83590619124555</c:v>
                </c:pt>
                <c:pt idx="203">
                  <c:v>2.86391475605684</c:v>
                </c:pt>
                <c:pt idx="204">
                  <c:v>2.89206210188612</c:v>
                </c:pt>
                <c:pt idx="205">
                  <c:v>2.92034885124662</c:v>
                </c:pt>
                <c:pt idx="206">
                  <c:v>2.94877564504638</c:v>
                </c:pt>
                <c:pt idx="207">
                  <c:v>2.97734314160063</c:v>
                </c:pt>
                <c:pt idx="208">
                  <c:v>3.00605201560958</c:v>
                </c:pt>
                <c:pt idx="209">
                  <c:v>3.03490295710242</c:v>
                </c:pt>
                <c:pt idx="210">
                  <c:v>3.06389667034857</c:v>
                </c:pt>
                <c:pt idx="211">
                  <c:v>3.0930338727372</c:v>
                </c:pt>
                <c:pt idx="212">
                  <c:v>3.122315293626</c:v>
                </c:pt>
                <c:pt idx="213">
                  <c:v>3.15174167316046</c:v>
                </c:pt>
                <c:pt idx="214">
                  <c:v>3.18131376106488</c:v>
                </c:pt>
                <c:pt idx="215">
                  <c:v>3.21103231540639</c:v>
                </c:pt>
                <c:pt idx="216">
                  <c:v>3.24089810133339</c:v>
                </c:pt>
                <c:pt idx="217">
                  <c:v>3.27091188978988</c:v>
                </c:pt>
                <c:pt idx="218">
                  <c:v>3.30107445620718</c:v>
                </c:pt>
                <c:pt idx="219">
                  <c:v>3.3313865791748</c:v>
                </c:pt>
                <c:pt idx="220">
                  <c:v>3.36184903909197</c:v>
                </c:pt>
                <c:pt idx="221">
                  <c:v>3.34483412344063</c:v>
                </c:pt>
                <c:pt idx="222">
                  <c:v>3.32797238344049</c:v>
                </c:pt>
                <c:pt idx="223">
                  <c:v>3.31126587498285</c:v>
                </c:pt>
                <c:pt idx="224">
                  <c:v>3.29471665095005</c:v>
                </c:pt>
                <c:pt idx="225">
                  <c:v>3.27832676016313</c:v>
                </c:pt>
                <c:pt idx="226">
                  <c:v>3.26209824632068</c:v>
                </c:pt>
                <c:pt idx="227">
                  <c:v>3.24603314693046</c:v>
                </c:pt>
                <c:pt idx="228">
                  <c:v>3.23013349223575</c:v>
                </c:pt>
                <c:pt idx="229">
                  <c:v>3.21440130413802</c:v>
                </c:pt>
                <c:pt idx="230">
                  <c:v>3.1988385951181</c:v>
                </c:pt>
                <c:pt idx="231">
                  <c:v>3.18344736715749</c:v>
                </c:pt>
                <c:pt idx="232">
                  <c:v>3.16822961066205</c:v>
                </c:pt>
                <c:pt idx="233">
                  <c:v>3.15318730338982</c:v>
                </c:pt>
                <c:pt idx="234">
                  <c:v>3.13832240938522</c:v>
                </c:pt>
                <c:pt idx="235">
                  <c:v>3.12363687792149</c:v>
                </c:pt>
                <c:pt idx="236">
                  <c:v>3.10913264245356</c:v>
                </c:pt>
                <c:pt idx="237">
                  <c:v>3.09481161958326</c:v>
                </c:pt>
                <c:pt idx="238">
                  <c:v>3.08067570803913</c:v>
                </c:pt>
                <c:pt idx="239">
                  <c:v>3.06672678767257</c:v>
                </c:pt>
                <c:pt idx="240">
                  <c:v>3.05296671847266</c:v>
                </c:pt>
                <c:pt idx="241">
                  <c:v>3.03939733960131</c:v>
                </c:pt>
                <c:pt idx="242">
                  <c:v>3.02602046845101</c:v>
                </c:pt>
                <c:pt idx="243">
                  <c:v>3.01283789972669</c:v>
                </c:pt>
                <c:pt idx="244">
                  <c:v>2.9998514045539</c:v>
                </c:pt>
                <c:pt idx="245">
                  <c:v>2.98706272961478</c:v>
                </c:pt>
                <c:pt idx="246">
                  <c:v>2.97447359631362</c:v>
                </c:pt>
                <c:pt idx="247">
                  <c:v>2.96208569997365</c:v>
                </c:pt>
                <c:pt idx="248">
                  <c:v>2.94990070906649</c:v>
                </c:pt>
                <c:pt idx="249">
                  <c:v>2.93792026447567</c:v>
                </c:pt>
                <c:pt idx="250">
                  <c:v>2.92614597879559</c:v>
                </c:pt>
                <c:pt idx="251">
                  <c:v>2.91457943566703</c:v>
                </c:pt>
                <c:pt idx="252">
                  <c:v>2.90322218915029</c:v>
                </c:pt>
                <c:pt idx="253">
                  <c:v>2.89207576313689</c:v>
                </c:pt>
                <c:pt idx="254">
                  <c:v>2.88114165080064</c:v>
                </c:pt>
                <c:pt idx="255">
                  <c:v>2.87042131408874</c:v>
                </c:pt>
                <c:pt idx="256">
                  <c:v>2.85991618325333</c:v>
                </c:pt>
                <c:pt idx="257">
                  <c:v>2.849627656424</c:v>
                </c:pt>
                <c:pt idx="258">
                  <c:v>2.83955709922135</c:v>
                </c:pt>
                <c:pt idx="259">
                  <c:v>2.82970584441172</c:v>
                </c:pt>
                <c:pt idx="260">
                  <c:v>2.82007519160292</c:v>
                </c:pt>
                <c:pt idx="261">
                  <c:v>2.8106664069808</c:v>
                </c:pt>
                <c:pt idx="262">
                  <c:v>2.80148072308615</c:v>
                </c:pt>
                <c:pt idx="263">
                  <c:v>2.79251933863143</c:v>
                </c:pt>
                <c:pt idx="264">
                  <c:v>2.78378341835653</c:v>
                </c:pt>
                <c:pt idx="265">
                  <c:v>2.77527409292277</c:v>
                </c:pt>
                <c:pt idx="266">
                  <c:v>2.76699245884404</c:v>
                </c:pt>
                <c:pt idx="267">
                  <c:v>2.75893957845396</c:v>
                </c:pt>
                <c:pt idx="268">
                  <c:v>2.75111647990767</c:v>
                </c:pt>
                <c:pt idx="269">
                  <c:v>2.74352415721695</c:v>
                </c:pt>
                <c:pt idx="270">
                  <c:v>2.73616357031693</c:v>
                </c:pt>
                <c:pt idx="271">
                  <c:v>2.72903564516282</c:v>
                </c:pt>
                <c:pt idx="272">
                  <c:v>2.72214127385479</c:v>
                </c:pt>
                <c:pt idx="273">
                  <c:v>2.71548131478914</c:v>
                </c:pt>
                <c:pt idx="274">
                  <c:v>2.70905659283371</c:v>
                </c:pt>
                <c:pt idx="275">
                  <c:v>2.7028678995255</c:v>
                </c:pt>
                <c:pt idx="276">
                  <c:v>2.69691599328829</c:v>
                </c:pt>
                <c:pt idx="277">
                  <c:v>2.69120159966808</c:v>
                </c:pt>
                <c:pt idx="278">
                  <c:v>2.68572541158403</c:v>
                </c:pt>
                <c:pt idx="279">
                  <c:v>2.68048808959266</c:v>
                </c:pt>
                <c:pt idx="280">
                  <c:v>2.67549026216286</c:v>
                </c:pt>
                <c:pt idx="281">
                  <c:v>2.67073252595949</c:v>
                </c:pt>
                <c:pt idx="282">
                  <c:v>2.6662154461331</c:v>
                </c:pt>
                <c:pt idx="283">
                  <c:v>2.6619395566134</c:v>
                </c:pt>
                <c:pt idx="284">
                  <c:v>2.65790536040434</c:v>
                </c:pt>
                <c:pt idx="285">
                  <c:v>2.65411332987817</c:v>
                </c:pt>
                <c:pt idx="286">
                  <c:v>2.65056390706659</c:v>
                </c:pt>
                <c:pt idx="287">
                  <c:v>2.64725750394652</c:v>
                </c:pt>
                <c:pt idx="288">
                  <c:v>2.64419450271845</c:v>
                </c:pt>
                <c:pt idx="289">
                  <c:v>2.64137525607538</c:v>
                </c:pt>
                <c:pt idx="290">
                  <c:v>2.63880008746027</c:v>
                </c:pt>
                <c:pt idx="291">
                  <c:v>2.63646929131027</c:v>
                </c:pt>
                <c:pt idx="292">
                  <c:v>2.63438313328581</c:v>
                </c:pt>
                <c:pt idx="293">
                  <c:v>2.63254185048314</c:v>
                </c:pt>
                <c:pt idx="294">
                  <c:v>2.63094565162859</c:v>
                </c:pt>
                <c:pt idx="295">
                  <c:v>2.62959471725337</c:v>
                </c:pt>
                <c:pt idx="296">
                  <c:v>2.62848919984752</c:v>
                </c:pt>
                <c:pt idx="297">
                  <c:v>2.6276292239921</c:v>
                </c:pt>
                <c:pt idx="298">
                  <c:v>2.6270148864686</c:v>
                </c:pt>
                <c:pt idx="299">
                  <c:v>2.62664625634477</c:v>
                </c:pt>
                <c:pt idx="300">
                  <c:v>2.62652337503645</c:v>
                </c:pt>
                <c:pt idx="301">
                  <c:v>2.62664625634477</c:v>
                </c:pt>
                <c:pt idx="302">
                  <c:v>2.6270148864686</c:v>
                </c:pt>
                <c:pt idx="303">
                  <c:v>2.6276292239921</c:v>
                </c:pt>
                <c:pt idx="304">
                  <c:v>2.62848919984752</c:v>
                </c:pt>
                <c:pt idx="305">
                  <c:v>2.62959471725337</c:v>
                </c:pt>
                <c:pt idx="306">
                  <c:v>2.63094565162859</c:v>
                </c:pt>
                <c:pt idx="307">
                  <c:v>2.63254185048314</c:v>
                </c:pt>
                <c:pt idx="308">
                  <c:v>2.63438313328581</c:v>
                </c:pt>
                <c:pt idx="309">
                  <c:v>2.63646929131027</c:v>
                </c:pt>
                <c:pt idx="310">
                  <c:v>2.63880008746027</c:v>
                </c:pt>
                <c:pt idx="311">
                  <c:v>2.64137525607538</c:v>
                </c:pt>
                <c:pt idx="312">
                  <c:v>2.64419450271845</c:v>
                </c:pt>
                <c:pt idx="313">
                  <c:v>2.64725750394652</c:v>
                </c:pt>
                <c:pt idx="314">
                  <c:v>2.65056390706659</c:v>
                </c:pt>
                <c:pt idx="315">
                  <c:v>2.65411332987817</c:v>
                </c:pt>
                <c:pt idx="316">
                  <c:v>2.65790536040434</c:v>
                </c:pt>
                <c:pt idx="317">
                  <c:v>2.6619395566134</c:v>
                </c:pt>
                <c:pt idx="318">
                  <c:v>2.6662154461331</c:v>
                </c:pt>
                <c:pt idx="319">
                  <c:v>2.67073252595949</c:v>
                </c:pt>
                <c:pt idx="320">
                  <c:v>2.67549026216286</c:v>
                </c:pt>
                <c:pt idx="321">
                  <c:v>2.68048808959266</c:v>
                </c:pt>
                <c:pt idx="322">
                  <c:v>2.68572541158403</c:v>
                </c:pt>
                <c:pt idx="323">
                  <c:v>2.69120159966808</c:v>
                </c:pt>
                <c:pt idx="324">
                  <c:v>2.69691599328829</c:v>
                </c:pt>
                <c:pt idx="325">
                  <c:v>2.7028678995255</c:v>
                </c:pt>
                <c:pt idx="326">
                  <c:v>2.70905659283371</c:v>
                </c:pt>
                <c:pt idx="327">
                  <c:v>2.71548131478914</c:v>
                </c:pt>
                <c:pt idx="328">
                  <c:v>2.72214127385479</c:v>
                </c:pt>
                <c:pt idx="329">
                  <c:v>2.72903564516282</c:v>
                </c:pt>
                <c:pt idx="330">
                  <c:v>2.73616357031693</c:v>
                </c:pt>
                <c:pt idx="331">
                  <c:v>2.74352415721695</c:v>
                </c:pt>
                <c:pt idx="332">
                  <c:v>2.75111647990767</c:v>
                </c:pt>
                <c:pt idx="333">
                  <c:v>2.75893957845396</c:v>
                </c:pt>
                <c:pt idx="334">
                  <c:v>2.76699245884404</c:v>
                </c:pt>
                <c:pt idx="335">
                  <c:v>2.77527409292277</c:v>
                </c:pt>
                <c:pt idx="336">
                  <c:v>2.78378341835653</c:v>
                </c:pt>
                <c:pt idx="337">
                  <c:v>2.79251933863143</c:v>
                </c:pt>
                <c:pt idx="338">
                  <c:v>2.80148072308615</c:v>
                </c:pt>
                <c:pt idx="339">
                  <c:v>2.8106664069808</c:v>
                </c:pt>
                <c:pt idx="340">
                  <c:v>2.82007519160292</c:v>
                </c:pt>
                <c:pt idx="341">
                  <c:v>2.82970584441172</c:v>
                </c:pt>
                <c:pt idx="342">
                  <c:v>2.83955709922135</c:v>
                </c:pt>
                <c:pt idx="343">
                  <c:v>2.849627656424</c:v>
                </c:pt>
                <c:pt idx="344">
                  <c:v>2.85991618325333</c:v>
                </c:pt>
                <c:pt idx="345">
                  <c:v>2.87042131408874</c:v>
                </c:pt>
                <c:pt idx="346">
                  <c:v>2.88114165080064</c:v>
                </c:pt>
                <c:pt idx="347">
                  <c:v>2.89207576313689</c:v>
                </c:pt>
                <c:pt idx="348">
                  <c:v>2.90322218915029</c:v>
                </c:pt>
                <c:pt idx="349">
                  <c:v>2.91457943566703</c:v>
                </c:pt>
                <c:pt idx="350">
                  <c:v>2.92614597879559</c:v>
                </c:pt>
                <c:pt idx="351">
                  <c:v>2.93792026447567</c:v>
                </c:pt>
                <c:pt idx="352">
                  <c:v>2.94990070906649</c:v>
                </c:pt>
                <c:pt idx="353">
                  <c:v>2.96208569997365</c:v>
                </c:pt>
                <c:pt idx="354">
                  <c:v>2.97447359631362</c:v>
                </c:pt>
                <c:pt idx="355">
                  <c:v>2.98706272961478</c:v>
                </c:pt>
                <c:pt idx="356">
                  <c:v>2.9998514045539</c:v>
                </c:pt>
                <c:pt idx="357">
                  <c:v>3.01283789972669</c:v>
                </c:pt>
                <c:pt idx="358">
                  <c:v>3.02602046845101</c:v>
                </c:pt>
                <c:pt idx="359">
                  <c:v>3.03939733960131</c:v>
                </c:pt>
                <c:pt idx="360">
                  <c:v>3.05296671847266</c:v>
                </c:pt>
              </c:numCache>
            </c:numRef>
          </c:yVal>
          <c:smooth val="1"/>
          <c:extLst>
            <c:ext xmlns:c16="http://schemas.microsoft.com/office/drawing/2014/chart" uri="{C3380CC4-5D6E-409C-BE32-E72D297353CC}">
              <c16:uniqueId val="{00000000-BCAE-4D67-8089-F9F64FD45113}"/>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0.626523375036446</c:v>
                </c:pt>
              </c:numCache>
            </c:numRef>
          </c:yVal>
          <c:smooth val="1"/>
          <c:extLst>
            <c:ext xmlns:c16="http://schemas.microsoft.com/office/drawing/2014/chart" uri="{C3380CC4-5D6E-409C-BE32-E72D297353CC}">
              <c16:uniqueId val="{00000001-BCAE-4D67-8089-F9F64FD45113}"/>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2.62652337503645</c:v>
                </c:pt>
              </c:numCache>
            </c:numRef>
          </c:yVal>
          <c:smooth val="1"/>
          <c:extLst>
            <c:ext xmlns:c16="http://schemas.microsoft.com/office/drawing/2014/chart" uri="{C3380CC4-5D6E-409C-BE32-E72D297353CC}">
              <c16:uniqueId val="{00000002-BCAE-4D67-8089-F9F64FD45113}"/>
            </c:ext>
          </c:extLst>
        </c:ser>
        <c:ser>
          <c:idx val="3"/>
          <c:order val="3"/>
          <c:tx>
            <c:v>left GD steps</c:v>
          </c:tx>
          <c:spPr>
            <a:ln w="17145">
              <a:solidFill>
                <a:srgbClr val="326CB2"/>
              </a:solidFill>
            </a:ln>
          </c:spPr>
          <c:marker>
            <c:symbol val="none"/>
          </c:marker>
          <c:xVal>
            <c:numRef>
              <c:f>'Chart Data'!$G$2:$G$7</c:f>
              <c:numCache>
                <c:formatCode>General</c:formatCode>
                <c:ptCount val="6"/>
                <c:pt idx="0">
                  <c:v>-1.5</c:v>
                </c:pt>
                <c:pt idx="1">
                  <c:v>-1.77330057559031</c:v>
                </c:pt>
                <c:pt idx="2">
                  <c:v>-2.00282808162535</c:v>
                </c:pt>
                <c:pt idx="3">
                  <c:v>-2.19272448547277</c:v>
                </c:pt>
                <c:pt idx="4">
                  <c:v>-2.34822435115727</c:v>
                </c:pt>
                <c:pt idx="5">
                  <c:v>-2.47469633489384</c:v>
                </c:pt>
              </c:numCache>
            </c:numRef>
          </c:xVal>
          <c:yVal>
            <c:numRef>
              <c:f>'Chart Data'!$H$2:$H$7</c:f>
              <c:numCache>
                <c:formatCode>General</c:formatCode>
                <c:ptCount val="6"/>
                <c:pt idx="0">
                  <c:v>1.05296671847266</c:v>
                </c:pt>
                <c:pt idx="1">
                  <c:v>0.915359081549213</c:v>
                </c:pt>
                <c:pt idx="2">
                  <c:v>0.818999686312374</c:v>
                </c:pt>
                <c:pt idx="3">
                  <c:v>0.753369398360652</c:v>
                </c:pt>
                <c:pt idx="4">
                  <c:v>0.709505137237307</c:v>
                </c:pt>
                <c:pt idx="5">
                  <c:v>0.680550269654881</c:v>
                </c:pt>
              </c:numCache>
            </c:numRef>
          </c:yVal>
          <c:smooth val="1"/>
          <c:extLst>
            <c:ext xmlns:c16="http://schemas.microsoft.com/office/drawing/2014/chart" uri="{C3380CC4-5D6E-409C-BE32-E72D297353CC}">
              <c16:uniqueId val="{00000003-BCAE-4D67-8089-F9F64FD45113}"/>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1.05296671847266</c:v>
                </c:pt>
              </c:numCache>
            </c:numRef>
          </c:yVal>
          <c:smooth val="1"/>
          <c:extLst>
            <c:ext xmlns:c16="http://schemas.microsoft.com/office/drawing/2014/chart" uri="{C3380CC4-5D6E-409C-BE32-E72D297353CC}">
              <c16:uniqueId val="{00000004-BCAE-4D67-8089-F9F64FD45113}"/>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Data'!$K$2:$K$6</c:f>
              <c:numCache>
                <c:formatCode>General</c:formatCode>
                <c:ptCount val="5"/>
                <c:pt idx="0">
                  <c:v>-1.77330057559031</c:v>
                </c:pt>
                <c:pt idx="1">
                  <c:v>-2.00282808162535</c:v>
                </c:pt>
                <c:pt idx="2">
                  <c:v>-2.19272448547277</c:v>
                </c:pt>
                <c:pt idx="3">
                  <c:v>-2.34822435115727</c:v>
                </c:pt>
                <c:pt idx="4">
                  <c:v>-2.47469633489384</c:v>
                </c:pt>
              </c:numCache>
            </c:numRef>
          </c:xVal>
          <c:yVal>
            <c:numRef>
              <c:f>'Chart Data'!$L$2:$L$6</c:f>
              <c:numCache>
                <c:formatCode>General</c:formatCode>
                <c:ptCount val="5"/>
                <c:pt idx="0">
                  <c:v>0.915359081549213</c:v>
                </c:pt>
                <c:pt idx="1">
                  <c:v>0.818999686312374</c:v>
                </c:pt>
                <c:pt idx="2">
                  <c:v>0.753369398360652</c:v>
                </c:pt>
                <c:pt idx="3">
                  <c:v>0.709505137237307</c:v>
                </c:pt>
                <c:pt idx="4">
                  <c:v>0.680550269654881</c:v>
                </c:pt>
              </c:numCache>
            </c:numRef>
          </c:yVal>
          <c:smooth val="1"/>
          <c:extLst>
            <c:ext xmlns:c16="http://schemas.microsoft.com/office/drawing/2014/chart" uri="{C3380CC4-5D6E-409C-BE32-E72D297353CC}">
              <c16:uniqueId val="{00000005-BCAE-4D67-8089-F9F64FD45113}"/>
            </c:ext>
          </c:extLst>
        </c:ser>
        <c:ser>
          <c:idx val="6"/>
          <c:order val="6"/>
          <c:tx>
            <c:v>right GD steps</c:v>
          </c:tx>
          <c:spPr>
            <a:ln w="17145">
              <a:solidFill>
                <a:srgbClr val="C45C28"/>
              </a:solidFill>
            </a:ln>
          </c:spPr>
          <c:marker>
            <c:symbol val="none"/>
          </c:marker>
          <c:xVal>
            <c:numRef>
              <c:f>'Chart Data'!$M$2:$M$7</c:f>
              <c:numCache>
                <c:formatCode>General</c:formatCode>
                <c:ptCount val="6"/>
                <c:pt idx="0">
                  <c:v>1.5</c:v>
                </c:pt>
                <c:pt idx="1">
                  <c:v>1.77330057559031</c:v>
                </c:pt>
                <c:pt idx="2">
                  <c:v>2.00282808162535</c:v>
                </c:pt>
                <c:pt idx="3">
                  <c:v>2.19272448547277</c:v>
                </c:pt>
                <c:pt idx="4">
                  <c:v>2.34822435115727</c:v>
                </c:pt>
                <c:pt idx="5">
                  <c:v>2.47469633489384</c:v>
                </c:pt>
              </c:numCache>
            </c:numRef>
          </c:xVal>
          <c:yVal>
            <c:numRef>
              <c:f>'Chart Data'!$N$2:$N$7</c:f>
              <c:numCache>
                <c:formatCode>General</c:formatCode>
                <c:ptCount val="6"/>
                <c:pt idx="0">
                  <c:v>3.05296671847266</c:v>
                </c:pt>
                <c:pt idx="1">
                  <c:v>2.91535908154921</c:v>
                </c:pt>
                <c:pt idx="2">
                  <c:v>2.81899968631237</c:v>
                </c:pt>
                <c:pt idx="3">
                  <c:v>2.75336939836065</c:v>
                </c:pt>
                <c:pt idx="4">
                  <c:v>2.70950513723731</c:v>
                </c:pt>
                <c:pt idx="5">
                  <c:v>2.68055026965488</c:v>
                </c:pt>
              </c:numCache>
            </c:numRef>
          </c:yVal>
          <c:smooth val="1"/>
          <c:extLst>
            <c:ext xmlns:c16="http://schemas.microsoft.com/office/drawing/2014/chart" uri="{C3380CC4-5D6E-409C-BE32-E72D297353CC}">
              <c16:uniqueId val="{00000006-BCAE-4D67-8089-F9F64FD45113}"/>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3.05296671847266</c:v>
                </c:pt>
              </c:numCache>
            </c:numRef>
          </c:yVal>
          <c:smooth val="1"/>
          <c:extLst>
            <c:ext xmlns:c16="http://schemas.microsoft.com/office/drawing/2014/chart" uri="{C3380CC4-5D6E-409C-BE32-E72D297353CC}">
              <c16:uniqueId val="{00000007-BCAE-4D67-8089-F9F64FD45113}"/>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Data'!$Q$2:$Q$6</c:f>
              <c:numCache>
                <c:formatCode>General</c:formatCode>
                <c:ptCount val="5"/>
                <c:pt idx="0">
                  <c:v>1.77330057559031</c:v>
                </c:pt>
                <c:pt idx="1">
                  <c:v>2.00282808162535</c:v>
                </c:pt>
                <c:pt idx="2">
                  <c:v>2.19272448547277</c:v>
                </c:pt>
                <c:pt idx="3">
                  <c:v>2.34822435115727</c:v>
                </c:pt>
                <c:pt idx="4">
                  <c:v>2.47469633489384</c:v>
                </c:pt>
              </c:numCache>
            </c:numRef>
          </c:xVal>
          <c:yVal>
            <c:numRef>
              <c:f>'Chart Data'!$R$2:$R$6</c:f>
              <c:numCache>
                <c:formatCode>General</c:formatCode>
                <c:ptCount val="5"/>
                <c:pt idx="0">
                  <c:v>2.91535908154921</c:v>
                </c:pt>
                <c:pt idx="1">
                  <c:v>2.81899968631237</c:v>
                </c:pt>
                <c:pt idx="2">
                  <c:v>2.75336939836065</c:v>
                </c:pt>
                <c:pt idx="3">
                  <c:v>2.70950513723731</c:v>
                </c:pt>
                <c:pt idx="4">
                  <c:v>2.68055026965488</c:v>
                </c:pt>
              </c:numCache>
            </c:numRef>
          </c:yVal>
          <c:smooth val="1"/>
          <c:extLst>
            <c:ext xmlns:c16="http://schemas.microsoft.com/office/drawing/2014/chart" uri="{C3380CC4-5D6E-409C-BE32-E72D297353CC}">
              <c16:uniqueId val="{00000008-BCAE-4D67-8089-F9F64FD45113}"/>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-2.47469633489384</c:v>
                </c:pt>
              </c:numCache>
            </c:numRef>
          </c:xVal>
          <c:yVal>
            <c:numRef>
              <c:f>'Chart Data'!$T$2:$T$2</c:f>
              <c:numCache>
                <c:formatCode>General</c:formatCode>
                <c:ptCount val="1"/>
                <c:pt idx="0">
                  <c:v>0.680550269654881</c:v>
                </c:pt>
              </c:numCache>
            </c:numRef>
          </c:yVal>
          <c:smooth val="1"/>
          <c:extLst>
            <c:ext xmlns:c16="http://schemas.microsoft.com/office/drawing/2014/chart" uri="{C3380CC4-5D6E-409C-BE32-E72D297353CC}">
              <c16:uniqueId val="{00000009-BCAE-4D67-8089-F9F64FD45113}"/>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2.47469633489384</c:v>
                </c:pt>
              </c:numCache>
            </c:numRef>
          </c:xVal>
          <c:yVal>
            <c:numRef>
              <c:f>'Chart Data'!$V$2:$V$2</c:f>
              <c:numCache>
                <c:formatCode>General</c:formatCode>
                <c:ptCount val="1"/>
                <c:pt idx="0">
                  <c:v>2.68055026965488</c:v>
                </c:pt>
              </c:numCache>
            </c:numRef>
          </c:yVal>
          <c:smooth val="1"/>
          <c:extLst>
            <c:ext xmlns:c16="http://schemas.microsoft.com/office/drawing/2014/chart" uri="{C3380CC4-5D6E-409C-BE32-E72D297353CC}">
              <c16:uniqueId val="{0000000A-BCAE-4D67-8089-F9F64FD45113}"/>
            </c:ext>
          </c:extLst>
        </c:ser>
        <c:dLbls>
          <c:showLegendKey val="0"/>
          <c:showVal val="0"/>
          <c:showCatName val="0"/>
          <c:showSerName val="0"/>
          <c:showPercent val="0"/>
          <c:showBubbleSize val="0"/>
        </c:dLbls>
        <c:axId val="48650112"/>
        <c:axId val="48672768"/>
      </c:scatterChart>
      <c:valAx>
        <c:axId val="48672768"/>
        <c:scaling>
          <c:orientation val="minMax"/>
          <c:max val="4"/>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Logistic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1"/>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Logistic loss</c:v>
          </c:tx>
          <c:spPr>
            <a:ln w="30480">
              <a:solidFill>
                <a:srgbClr val="087F83"/>
              </a:solidFill>
            </a:ln>
          </c:spPr>
          <c:marker>
            <c:symbol val="none"/>
          </c:marker>
          <c:xVal>
            <c:numRef>
              <c:f>'Chart Data'!$A$2:$A$362</c:f>
              <c:numCache>
                <c:formatCode>General</c:formatCode>
                <c:ptCount val="361"/>
                <c:pt idx="0">
                  <c:v>-4.5</c:v>
                </c:pt>
                <c:pt idx="1">
                  <c:v>-4.475</c:v>
                </c:pt>
                <c:pt idx="2">
                  <c:v>-4.45</c:v>
                </c:pt>
                <c:pt idx="3">
                  <c:v>-4.425</c:v>
                </c:pt>
                <c:pt idx="4">
                  <c:v>-4.4</c:v>
                </c:pt>
                <c:pt idx="5">
                  <c:v>-4.375</c:v>
                </c:pt>
                <c:pt idx="6">
                  <c:v>-4.35</c:v>
                </c:pt>
                <c:pt idx="7">
                  <c:v>-4.325</c:v>
                </c:pt>
                <c:pt idx="8">
                  <c:v>-4.3</c:v>
                </c:pt>
                <c:pt idx="9">
                  <c:v>-4.275</c:v>
                </c:pt>
                <c:pt idx="10">
                  <c:v>-4.25</c:v>
                </c:pt>
                <c:pt idx="11">
                  <c:v>-4.225</c:v>
                </c:pt>
                <c:pt idx="12">
                  <c:v>-4.2</c:v>
                </c:pt>
                <c:pt idx="13">
                  <c:v>-4.175</c:v>
                </c:pt>
                <c:pt idx="14">
                  <c:v>-4.15</c:v>
                </c:pt>
                <c:pt idx="15">
                  <c:v>-4.125</c:v>
                </c:pt>
                <c:pt idx="16">
                  <c:v>-4.1</c:v>
                </c:pt>
                <c:pt idx="17">
                  <c:v>-4.075</c:v>
                </c:pt>
                <c:pt idx="18">
                  <c:v>-4.05</c:v>
                </c:pt>
                <c:pt idx="19">
                  <c:v>-4.025</c:v>
                </c:pt>
                <c:pt idx="20">
                  <c:v>-4</c:v>
                </c:pt>
                <c:pt idx="21">
                  <c:v>-3.975</c:v>
                </c:pt>
                <c:pt idx="22">
                  <c:v>-3.95</c:v>
                </c:pt>
                <c:pt idx="23">
                  <c:v>-3.925</c:v>
                </c:pt>
                <c:pt idx="24">
                  <c:v>-3.9</c:v>
                </c:pt>
                <c:pt idx="25">
                  <c:v>-3.875</c:v>
                </c:pt>
                <c:pt idx="26">
                  <c:v>-3.85</c:v>
                </c:pt>
                <c:pt idx="27">
                  <c:v>-3.825</c:v>
                </c:pt>
                <c:pt idx="28">
                  <c:v>-3.8</c:v>
                </c:pt>
                <c:pt idx="29">
                  <c:v>-3.775</c:v>
                </c:pt>
                <c:pt idx="30">
                  <c:v>-3.75</c:v>
                </c:pt>
                <c:pt idx="31">
                  <c:v>-3.725</c:v>
                </c:pt>
                <c:pt idx="32">
                  <c:v>-3.7</c:v>
                </c:pt>
                <c:pt idx="33">
                  <c:v>-3.675</c:v>
                </c:pt>
                <c:pt idx="34">
                  <c:v>-3.65</c:v>
                </c:pt>
                <c:pt idx="35">
                  <c:v>-3.625</c:v>
                </c:pt>
                <c:pt idx="36">
                  <c:v>-3.6</c:v>
                </c:pt>
                <c:pt idx="37">
                  <c:v>-3.575</c:v>
                </c:pt>
                <c:pt idx="38">
                  <c:v>-3.55</c:v>
                </c:pt>
                <c:pt idx="39">
                  <c:v>-3.525</c:v>
                </c:pt>
                <c:pt idx="40">
                  <c:v>-3.5</c:v>
                </c:pt>
                <c:pt idx="41">
                  <c:v>-3.475</c:v>
                </c:pt>
                <c:pt idx="42">
                  <c:v>-3.45</c:v>
                </c:pt>
                <c:pt idx="43">
                  <c:v>-3.425</c:v>
                </c:pt>
                <c:pt idx="44">
                  <c:v>-3.4</c:v>
                </c:pt>
                <c:pt idx="45">
                  <c:v>-3.375</c:v>
                </c:pt>
                <c:pt idx="46">
                  <c:v>-3.35</c:v>
                </c:pt>
                <c:pt idx="47">
                  <c:v>-3.325</c:v>
                </c:pt>
                <c:pt idx="48">
                  <c:v>-3.3</c:v>
                </c:pt>
                <c:pt idx="49">
                  <c:v>-3.275</c:v>
                </c:pt>
                <c:pt idx="50">
                  <c:v>-3.25</c:v>
                </c:pt>
                <c:pt idx="51">
                  <c:v>-3.225</c:v>
                </c:pt>
                <c:pt idx="52">
                  <c:v>-3.2</c:v>
                </c:pt>
                <c:pt idx="53">
                  <c:v>-3.175</c:v>
                </c:pt>
                <c:pt idx="54">
                  <c:v>-3.15</c:v>
                </c:pt>
                <c:pt idx="55">
                  <c:v>-3.125</c:v>
                </c:pt>
                <c:pt idx="56">
                  <c:v>-3.1</c:v>
                </c:pt>
                <c:pt idx="57">
                  <c:v>-3.075</c:v>
                </c:pt>
                <c:pt idx="58">
                  <c:v>-3.05</c:v>
                </c:pt>
                <c:pt idx="59">
                  <c:v>-3.025</c:v>
                </c:pt>
                <c:pt idx="60">
                  <c:v>-3</c:v>
                </c:pt>
                <c:pt idx="61">
                  <c:v>-2.975</c:v>
                </c:pt>
                <c:pt idx="62">
                  <c:v>-2.95</c:v>
                </c:pt>
                <c:pt idx="63">
                  <c:v>-2.925</c:v>
                </c:pt>
                <c:pt idx="64">
                  <c:v>-2.9</c:v>
                </c:pt>
                <c:pt idx="65">
                  <c:v>-2.875</c:v>
                </c:pt>
                <c:pt idx="66">
                  <c:v>-2.85</c:v>
                </c:pt>
                <c:pt idx="67">
                  <c:v>-2.825</c:v>
                </c:pt>
                <c:pt idx="68">
                  <c:v>-2.8</c:v>
                </c:pt>
                <c:pt idx="69">
                  <c:v>-2.775</c:v>
                </c:pt>
                <c:pt idx="70">
                  <c:v>-2.75</c:v>
                </c:pt>
                <c:pt idx="71">
                  <c:v>-2.725</c:v>
                </c:pt>
                <c:pt idx="72">
                  <c:v>-2.7</c:v>
                </c:pt>
                <c:pt idx="73">
                  <c:v>-2.675</c:v>
                </c:pt>
                <c:pt idx="74">
                  <c:v>-2.65</c:v>
                </c:pt>
                <c:pt idx="75">
                  <c:v>-2.625</c:v>
                </c:pt>
                <c:pt idx="76">
                  <c:v>-2.6</c:v>
                </c:pt>
                <c:pt idx="77">
                  <c:v>-2.575</c:v>
                </c:pt>
                <c:pt idx="78">
                  <c:v>-2.55</c:v>
                </c:pt>
                <c:pt idx="79">
                  <c:v>-2.525</c:v>
                </c:pt>
                <c:pt idx="80">
                  <c:v>-2.5</c:v>
                </c:pt>
                <c:pt idx="81">
                  <c:v>-2.475</c:v>
                </c:pt>
                <c:pt idx="82">
                  <c:v>-2.45</c:v>
                </c:pt>
                <c:pt idx="83">
                  <c:v>-2.425</c:v>
                </c:pt>
                <c:pt idx="84">
                  <c:v>-2.4</c:v>
                </c:pt>
                <c:pt idx="85">
                  <c:v>-2.375</c:v>
                </c:pt>
                <c:pt idx="86">
                  <c:v>-2.35</c:v>
                </c:pt>
                <c:pt idx="87">
                  <c:v>-2.325</c:v>
                </c:pt>
                <c:pt idx="88">
                  <c:v>-2.3</c:v>
                </c:pt>
                <c:pt idx="89">
                  <c:v>-2.275</c:v>
                </c:pt>
                <c:pt idx="90">
                  <c:v>-2.25</c:v>
                </c:pt>
                <c:pt idx="91">
                  <c:v>-2.225</c:v>
                </c:pt>
                <c:pt idx="92">
                  <c:v>-2.2</c:v>
                </c:pt>
                <c:pt idx="93">
                  <c:v>-2.175</c:v>
                </c:pt>
                <c:pt idx="94">
                  <c:v>-2.15</c:v>
                </c:pt>
                <c:pt idx="95">
                  <c:v>-2.125</c:v>
                </c:pt>
                <c:pt idx="96">
                  <c:v>-2.1</c:v>
                </c:pt>
                <c:pt idx="97">
                  <c:v>-2.075</c:v>
                </c:pt>
                <c:pt idx="98">
                  <c:v>-2.05</c:v>
                </c:pt>
                <c:pt idx="99">
                  <c:v>-2.025</c:v>
                </c:pt>
                <c:pt idx="100">
                  <c:v>-2</c:v>
                </c:pt>
                <c:pt idx="101">
                  <c:v>-1.975</c:v>
                </c:pt>
                <c:pt idx="102">
                  <c:v>-1.95</c:v>
                </c:pt>
                <c:pt idx="103">
                  <c:v>-1.925</c:v>
                </c:pt>
                <c:pt idx="104">
                  <c:v>-1.9</c:v>
                </c:pt>
                <c:pt idx="105">
                  <c:v>-1.875</c:v>
                </c:pt>
                <c:pt idx="106">
                  <c:v>-1.85</c:v>
                </c:pt>
                <c:pt idx="107">
                  <c:v>-1.825</c:v>
                </c:pt>
                <c:pt idx="108">
                  <c:v>-1.8</c:v>
                </c:pt>
                <c:pt idx="109">
                  <c:v>-1.775</c:v>
                </c:pt>
                <c:pt idx="110">
                  <c:v>-1.75</c:v>
                </c:pt>
                <c:pt idx="111">
                  <c:v>-1.725</c:v>
                </c:pt>
                <c:pt idx="112">
                  <c:v>-1.7</c:v>
                </c:pt>
                <c:pt idx="113">
                  <c:v>-1.675</c:v>
                </c:pt>
                <c:pt idx="114">
                  <c:v>-1.65</c:v>
                </c:pt>
                <c:pt idx="115">
                  <c:v>-1.625</c:v>
                </c:pt>
                <c:pt idx="116">
                  <c:v>-1.6</c:v>
                </c:pt>
                <c:pt idx="117">
                  <c:v>-1.575</c:v>
                </c:pt>
                <c:pt idx="118">
                  <c:v>-1.55</c:v>
                </c:pt>
                <c:pt idx="119">
                  <c:v>-1.525</c:v>
                </c:pt>
                <c:pt idx="120">
                  <c:v>-1.5</c:v>
                </c:pt>
                <c:pt idx="121">
                  <c:v>-1.475</c:v>
                </c:pt>
                <c:pt idx="122">
                  <c:v>-1.45</c:v>
                </c:pt>
                <c:pt idx="123">
                  <c:v>-1.425</c:v>
                </c:pt>
                <c:pt idx="124">
                  <c:v>-1.4</c:v>
                </c:pt>
                <c:pt idx="125">
                  <c:v>-1.375</c:v>
                </c:pt>
                <c:pt idx="126">
                  <c:v>-1.35</c:v>
                </c:pt>
                <c:pt idx="127">
                  <c:v>-1.325</c:v>
                </c:pt>
                <c:pt idx="128">
                  <c:v>-1.3</c:v>
                </c:pt>
                <c:pt idx="129">
                  <c:v>-1.275</c:v>
                </c:pt>
                <c:pt idx="130">
                  <c:v>-1.25</c:v>
                </c:pt>
                <c:pt idx="131">
                  <c:v>-1.225</c:v>
                </c:pt>
                <c:pt idx="132">
                  <c:v>-1.2</c:v>
                </c:pt>
                <c:pt idx="133">
                  <c:v>-1.175</c:v>
                </c:pt>
                <c:pt idx="134">
                  <c:v>-1.15</c:v>
                </c:pt>
                <c:pt idx="135">
                  <c:v>-1.125</c:v>
                </c:pt>
                <c:pt idx="136">
                  <c:v>-1.1</c:v>
                </c:pt>
                <c:pt idx="137">
                  <c:v>-1.075</c:v>
                </c:pt>
                <c:pt idx="138">
                  <c:v>-1.05</c:v>
                </c:pt>
                <c:pt idx="139">
                  <c:v>-1.025</c:v>
                </c:pt>
                <c:pt idx="140">
                  <c:v>-1</c:v>
                </c:pt>
                <c:pt idx="141">
                  <c:v>-0.975</c:v>
                </c:pt>
                <c:pt idx="142">
                  <c:v>-0.95</c:v>
                </c:pt>
                <c:pt idx="143">
                  <c:v>-0.925</c:v>
                </c:pt>
                <c:pt idx="144">
                  <c:v>-0.9</c:v>
                </c:pt>
                <c:pt idx="145">
                  <c:v>-0.875</c:v>
                </c:pt>
                <c:pt idx="146">
                  <c:v>-0.85</c:v>
                </c:pt>
                <c:pt idx="147">
                  <c:v>-0.825</c:v>
                </c:pt>
                <c:pt idx="148">
                  <c:v>-0.8</c:v>
                </c:pt>
                <c:pt idx="149">
                  <c:v>-0.775</c:v>
                </c:pt>
                <c:pt idx="150">
                  <c:v>-0.75</c:v>
                </c:pt>
                <c:pt idx="151">
                  <c:v>-0.725</c:v>
                </c:pt>
                <c:pt idx="152">
                  <c:v>-0.7</c:v>
                </c:pt>
                <c:pt idx="153">
                  <c:v>-0.675</c:v>
                </c:pt>
                <c:pt idx="154">
                  <c:v>-0.65</c:v>
                </c:pt>
                <c:pt idx="155">
                  <c:v>-0.625</c:v>
                </c:pt>
                <c:pt idx="156">
                  <c:v>-0.6</c:v>
                </c:pt>
                <c:pt idx="157">
                  <c:v>-0.575</c:v>
                </c:pt>
                <c:pt idx="158">
                  <c:v>-0.55</c:v>
                </c:pt>
                <c:pt idx="159">
                  <c:v>-0.525</c:v>
                </c:pt>
                <c:pt idx="160">
                  <c:v>-0.5</c:v>
                </c:pt>
                <c:pt idx="161">
                  <c:v>-0.475</c:v>
                </c:pt>
                <c:pt idx="162">
                  <c:v>-0.45</c:v>
                </c:pt>
                <c:pt idx="163">
                  <c:v>-0.425</c:v>
                </c:pt>
                <c:pt idx="164">
                  <c:v>-0.4</c:v>
                </c:pt>
                <c:pt idx="165">
                  <c:v>-0.375</c:v>
                </c:pt>
                <c:pt idx="166">
                  <c:v>-0.35</c:v>
                </c:pt>
                <c:pt idx="167">
                  <c:v>-0.325</c:v>
                </c:pt>
                <c:pt idx="168">
                  <c:v>-0.3</c:v>
                </c:pt>
                <c:pt idx="169">
                  <c:v>-0.275</c:v>
                </c:pt>
                <c:pt idx="170">
                  <c:v>-0.25</c:v>
                </c:pt>
                <c:pt idx="171">
                  <c:v>-0.225</c:v>
                </c:pt>
                <c:pt idx="172">
                  <c:v>-0.2</c:v>
                </c:pt>
                <c:pt idx="173">
                  <c:v>-0.175</c:v>
                </c:pt>
                <c:pt idx="174">
                  <c:v>-0.15</c:v>
                </c:pt>
                <c:pt idx="175">
                  <c:v>-0.125</c:v>
                </c:pt>
                <c:pt idx="176">
                  <c:v>-0.1</c:v>
                </c:pt>
                <c:pt idx="177">
                  <c:v>-0.075</c:v>
                </c:pt>
                <c:pt idx="178">
                  <c:v>-0.05</c:v>
                </c:pt>
                <c:pt idx="179">
                  <c:v>-0.025</c:v>
                </c:pt>
                <c:pt idx="180">
                  <c:v>0</c:v>
                </c:pt>
                <c:pt idx="181">
                  <c:v>0.025</c:v>
                </c:pt>
                <c:pt idx="182">
                  <c:v>0.05</c:v>
                </c:pt>
                <c:pt idx="183">
                  <c:v>0.075</c:v>
                </c:pt>
                <c:pt idx="184">
                  <c:v>0.1</c:v>
                </c:pt>
                <c:pt idx="185">
                  <c:v>0.125</c:v>
                </c:pt>
                <c:pt idx="186">
                  <c:v>0.15</c:v>
                </c:pt>
                <c:pt idx="187">
                  <c:v>0.175</c:v>
                </c:pt>
                <c:pt idx="188">
                  <c:v>0.2</c:v>
                </c:pt>
                <c:pt idx="189">
                  <c:v>0.225</c:v>
                </c:pt>
                <c:pt idx="190">
                  <c:v>0.25</c:v>
                </c:pt>
                <c:pt idx="191">
                  <c:v>0.275</c:v>
                </c:pt>
                <c:pt idx="192">
                  <c:v>0.3</c:v>
                </c:pt>
                <c:pt idx="193">
                  <c:v>0.325</c:v>
                </c:pt>
                <c:pt idx="194">
                  <c:v>0.35</c:v>
                </c:pt>
                <c:pt idx="195">
                  <c:v>0.375</c:v>
                </c:pt>
                <c:pt idx="196">
                  <c:v>0.4</c:v>
                </c:pt>
                <c:pt idx="197">
                  <c:v>0.425</c:v>
                </c:pt>
                <c:pt idx="198">
                  <c:v>0.45</c:v>
                </c:pt>
                <c:pt idx="199">
                  <c:v>0.475</c:v>
                </c:pt>
                <c:pt idx="200">
                  <c:v>0.5</c:v>
                </c:pt>
                <c:pt idx="201">
                  <c:v>0.525</c:v>
                </c:pt>
                <c:pt idx="202">
                  <c:v>0.55</c:v>
                </c:pt>
                <c:pt idx="203">
                  <c:v>0.575</c:v>
                </c:pt>
                <c:pt idx="204">
                  <c:v>0.6</c:v>
                </c:pt>
                <c:pt idx="205">
                  <c:v>0.625</c:v>
                </c:pt>
                <c:pt idx="206">
                  <c:v>0.65</c:v>
                </c:pt>
                <c:pt idx="207">
                  <c:v>0.675</c:v>
                </c:pt>
                <c:pt idx="208">
                  <c:v>0.7</c:v>
                </c:pt>
                <c:pt idx="209">
                  <c:v>0.725</c:v>
                </c:pt>
                <c:pt idx="210">
                  <c:v>0.75</c:v>
                </c:pt>
                <c:pt idx="211">
                  <c:v>0.775</c:v>
                </c:pt>
                <c:pt idx="212">
                  <c:v>0.8</c:v>
                </c:pt>
                <c:pt idx="213">
                  <c:v>0.825</c:v>
                </c:pt>
                <c:pt idx="214">
                  <c:v>0.85</c:v>
                </c:pt>
                <c:pt idx="215">
                  <c:v>0.875</c:v>
                </c:pt>
                <c:pt idx="216">
                  <c:v>0.9</c:v>
                </c:pt>
                <c:pt idx="217">
                  <c:v>0.925</c:v>
                </c:pt>
                <c:pt idx="218">
                  <c:v>0.95</c:v>
                </c:pt>
                <c:pt idx="219">
                  <c:v>0.975</c:v>
                </c:pt>
                <c:pt idx="220">
                  <c:v>1</c:v>
                </c:pt>
                <c:pt idx="221">
                  <c:v>1.025</c:v>
                </c:pt>
                <c:pt idx="222">
                  <c:v>1.05</c:v>
                </c:pt>
                <c:pt idx="223">
                  <c:v>1.075</c:v>
                </c:pt>
                <c:pt idx="224">
                  <c:v>1.1</c:v>
                </c:pt>
                <c:pt idx="225">
                  <c:v>1.125</c:v>
                </c:pt>
                <c:pt idx="226">
                  <c:v>1.15</c:v>
                </c:pt>
                <c:pt idx="227">
                  <c:v>1.175</c:v>
                </c:pt>
                <c:pt idx="228">
                  <c:v>1.2</c:v>
                </c:pt>
                <c:pt idx="229">
                  <c:v>1.225</c:v>
                </c:pt>
                <c:pt idx="230">
                  <c:v>1.25</c:v>
                </c:pt>
                <c:pt idx="231">
                  <c:v>1.275</c:v>
                </c:pt>
                <c:pt idx="232">
                  <c:v>1.3</c:v>
                </c:pt>
                <c:pt idx="233">
                  <c:v>1.325</c:v>
                </c:pt>
                <c:pt idx="234">
                  <c:v>1.35</c:v>
                </c:pt>
                <c:pt idx="235">
                  <c:v>1.375</c:v>
                </c:pt>
                <c:pt idx="236">
                  <c:v>1.4</c:v>
                </c:pt>
                <c:pt idx="237">
                  <c:v>1.425</c:v>
                </c:pt>
                <c:pt idx="238">
                  <c:v>1.45</c:v>
                </c:pt>
                <c:pt idx="239">
                  <c:v>1.475</c:v>
                </c:pt>
                <c:pt idx="240">
                  <c:v>1.5</c:v>
                </c:pt>
                <c:pt idx="241">
                  <c:v>1.525</c:v>
                </c:pt>
                <c:pt idx="242">
                  <c:v>1.55</c:v>
                </c:pt>
                <c:pt idx="243">
                  <c:v>1.575</c:v>
                </c:pt>
                <c:pt idx="244">
                  <c:v>1.6</c:v>
                </c:pt>
                <c:pt idx="245">
                  <c:v>1.625</c:v>
                </c:pt>
                <c:pt idx="246">
                  <c:v>1.65</c:v>
                </c:pt>
                <c:pt idx="247">
                  <c:v>1.675</c:v>
                </c:pt>
                <c:pt idx="248">
                  <c:v>1.7</c:v>
                </c:pt>
                <c:pt idx="249">
                  <c:v>1.725</c:v>
                </c:pt>
                <c:pt idx="250">
                  <c:v>1.75</c:v>
                </c:pt>
                <c:pt idx="251">
                  <c:v>1.775</c:v>
                </c:pt>
                <c:pt idx="252">
                  <c:v>1.8</c:v>
                </c:pt>
                <c:pt idx="253">
                  <c:v>1.825</c:v>
                </c:pt>
                <c:pt idx="254">
                  <c:v>1.85</c:v>
                </c:pt>
                <c:pt idx="255">
                  <c:v>1.875</c:v>
                </c:pt>
                <c:pt idx="256">
                  <c:v>1.9</c:v>
                </c:pt>
                <c:pt idx="257">
                  <c:v>1.925</c:v>
                </c:pt>
                <c:pt idx="258">
                  <c:v>1.95</c:v>
                </c:pt>
                <c:pt idx="259">
                  <c:v>1.975</c:v>
                </c:pt>
                <c:pt idx="260">
                  <c:v>2</c:v>
                </c:pt>
                <c:pt idx="261">
                  <c:v>2.025</c:v>
                </c:pt>
                <c:pt idx="262">
                  <c:v>2.05</c:v>
                </c:pt>
                <c:pt idx="263">
                  <c:v>2.075</c:v>
                </c:pt>
                <c:pt idx="264">
                  <c:v>2.1</c:v>
                </c:pt>
                <c:pt idx="265">
                  <c:v>2.125</c:v>
                </c:pt>
                <c:pt idx="266">
                  <c:v>2.15</c:v>
                </c:pt>
                <c:pt idx="267">
                  <c:v>2.175</c:v>
                </c:pt>
                <c:pt idx="268">
                  <c:v>2.2</c:v>
                </c:pt>
                <c:pt idx="269">
                  <c:v>2.225</c:v>
                </c:pt>
                <c:pt idx="270">
                  <c:v>2.25</c:v>
                </c:pt>
                <c:pt idx="271">
                  <c:v>2.275</c:v>
                </c:pt>
                <c:pt idx="272">
                  <c:v>2.3</c:v>
                </c:pt>
                <c:pt idx="273">
                  <c:v>2.325</c:v>
                </c:pt>
                <c:pt idx="274">
                  <c:v>2.35</c:v>
                </c:pt>
                <c:pt idx="275">
                  <c:v>2.375</c:v>
                </c:pt>
                <c:pt idx="276">
                  <c:v>2.4</c:v>
                </c:pt>
                <c:pt idx="277">
                  <c:v>2.425</c:v>
                </c:pt>
                <c:pt idx="278">
                  <c:v>2.45</c:v>
                </c:pt>
                <c:pt idx="279">
                  <c:v>2.475</c:v>
                </c:pt>
                <c:pt idx="280">
                  <c:v>2.5</c:v>
                </c:pt>
                <c:pt idx="281">
                  <c:v>2.525</c:v>
                </c:pt>
                <c:pt idx="282">
                  <c:v>2.55</c:v>
                </c:pt>
                <c:pt idx="283">
                  <c:v>2.575</c:v>
                </c:pt>
                <c:pt idx="284">
                  <c:v>2.6</c:v>
                </c:pt>
                <c:pt idx="285">
                  <c:v>2.625</c:v>
                </c:pt>
                <c:pt idx="286">
                  <c:v>2.65</c:v>
                </c:pt>
                <c:pt idx="287">
                  <c:v>2.675</c:v>
                </c:pt>
                <c:pt idx="288">
                  <c:v>2.7</c:v>
                </c:pt>
                <c:pt idx="289">
                  <c:v>2.725</c:v>
                </c:pt>
                <c:pt idx="290">
                  <c:v>2.75</c:v>
                </c:pt>
                <c:pt idx="291">
                  <c:v>2.775</c:v>
                </c:pt>
                <c:pt idx="292">
                  <c:v>2.8</c:v>
                </c:pt>
                <c:pt idx="293">
                  <c:v>2.825</c:v>
                </c:pt>
                <c:pt idx="294">
                  <c:v>2.85</c:v>
                </c:pt>
                <c:pt idx="295">
                  <c:v>2.875</c:v>
                </c:pt>
                <c:pt idx="296">
                  <c:v>2.9</c:v>
                </c:pt>
                <c:pt idx="297">
                  <c:v>2.925</c:v>
                </c:pt>
                <c:pt idx="298">
                  <c:v>2.95</c:v>
                </c:pt>
                <c:pt idx="299">
                  <c:v>2.975</c:v>
                </c:pt>
                <c:pt idx="300">
                  <c:v>3</c:v>
                </c:pt>
                <c:pt idx="301">
                  <c:v>3.025</c:v>
                </c:pt>
                <c:pt idx="302">
                  <c:v>3.05</c:v>
                </c:pt>
                <c:pt idx="303">
                  <c:v>3.075</c:v>
                </c:pt>
                <c:pt idx="304">
                  <c:v>3.1</c:v>
                </c:pt>
                <c:pt idx="305">
                  <c:v>3.125</c:v>
                </c:pt>
                <c:pt idx="306">
                  <c:v>3.15</c:v>
                </c:pt>
                <c:pt idx="307">
                  <c:v>3.175</c:v>
                </c:pt>
                <c:pt idx="308">
                  <c:v>3.2</c:v>
                </c:pt>
                <c:pt idx="309">
                  <c:v>3.225</c:v>
                </c:pt>
                <c:pt idx="310">
                  <c:v>3.25</c:v>
                </c:pt>
                <c:pt idx="311">
                  <c:v>3.275</c:v>
                </c:pt>
                <c:pt idx="312">
                  <c:v>3.3</c:v>
                </c:pt>
                <c:pt idx="313">
                  <c:v>3.325</c:v>
                </c:pt>
                <c:pt idx="314">
                  <c:v>3.35</c:v>
                </c:pt>
                <c:pt idx="315">
                  <c:v>3.375</c:v>
                </c:pt>
                <c:pt idx="316">
                  <c:v>3.4</c:v>
                </c:pt>
                <c:pt idx="317">
                  <c:v>3.425</c:v>
                </c:pt>
                <c:pt idx="318">
                  <c:v>3.45</c:v>
                </c:pt>
                <c:pt idx="319">
                  <c:v>3.475</c:v>
                </c:pt>
                <c:pt idx="320">
                  <c:v>3.5</c:v>
                </c:pt>
                <c:pt idx="321">
                  <c:v>3.525</c:v>
                </c:pt>
                <c:pt idx="322">
                  <c:v>3.55</c:v>
                </c:pt>
                <c:pt idx="323">
                  <c:v>3.575</c:v>
                </c:pt>
                <c:pt idx="324">
                  <c:v>3.6</c:v>
                </c:pt>
                <c:pt idx="325">
                  <c:v>3.625</c:v>
                </c:pt>
                <c:pt idx="326">
                  <c:v>3.65</c:v>
                </c:pt>
                <c:pt idx="327">
                  <c:v>3.675</c:v>
                </c:pt>
                <c:pt idx="328">
                  <c:v>3.7</c:v>
                </c:pt>
                <c:pt idx="329">
                  <c:v>3.725</c:v>
                </c:pt>
                <c:pt idx="330">
                  <c:v>3.75</c:v>
                </c:pt>
                <c:pt idx="331">
                  <c:v>3.775</c:v>
                </c:pt>
                <c:pt idx="332">
                  <c:v>3.8</c:v>
                </c:pt>
                <c:pt idx="333">
                  <c:v>3.825</c:v>
                </c:pt>
                <c:pt idx="334">
                  <c:v>3.85</c:v>
                </c:pt>
                <c:pt idx="335">
                  <c:v>3.875</c:v>
                </c:pt>
                <c:pt idx="336">
                  <c:v>3.9</c:v>
                </c:pt>
                <c:pt idx="337">
                  <c:v>3.925</c:v>
                </c:pt>
                <c:pt idx="338">
                  <c:v>3.95</c:v>
                </c:pt>
                <c:pt idx="339">
                  <c:v>3.975</c:v>
                </c:pt>
                <c:pt idx="340">
                  <c:v>4</c:v>
                </c:pt>
                <c:pt idx="341">
                  <c:v>4.025</c:v>
                </c:pt>
                <c:pt idx="342">
                  <c:v>4.05</c:v>
                </c:pt>
                <c:pt idx="343">
                  <c:v>4.075</c:v>
                </c:pt>
                <c:pt idx="344">
                  <c:v>4.1</c:v>
                </c:pt>
                <c:pt idx="345">
                  <c:v>4.125</c:v>
                </c:pt>
                <c:pt idx="346">
                  <c:v>4.15</c:v>
                </c:pt>
                <c:pt idx="347">
                  <c:v>4.175</c:v>
                </c:pt>
                <c:pt idx="348">
                  <c:v>4.2</c:v>
                </c:pt>
                <c:pt idx="349">
                  <c:v>4.225</c:v>
                </c:pt>
                <c:pt idx="350">
                  <c:v>4.25</c:v>
                </c:pt>
                <c:pt idx="351">
                  <c:v>4.275</c:v>
                </c:pt>
                <c:pt idx="352">
                  <c:v>4.3</c:v>
                </c:pt>
                <c:pt idx="353">
                  <c:v>4.325</c:v>
                </c:pt>
                <c:pt idx="354">
                  <c:v>4.35</c:v>
                </c:pt>
                <c:pt idx="355">
                  <c:v>4.375</c:v>
                </c:pt>
                <c:pt idx="356">
                  <c:v>4.4</c:v>
                </c:pt>
                <c:pt idx="357">
                  <c:v>4.425</c:v>
                </c:pt>
                <c:pt idx="358">
                  <c:v>4.45</c:v>
                </c:pt>
                <c:pt idx="359">
                  <c:v>4.475</c:v>
                </c:pt>
                <c:pt idx="360">
                  <c:v>4.5</c:v>
                </c:pt>
              </c:numCache>
            </c:numRef>
          </c:xVal>
          <c:yVal>
            <c:numRef>
              <c:f>'Chart Data'!$B$2:$B$362</c:f>
              <c:numCache>
                <c:formatCode>General</c:formatCode>
                <c:ptCount val="361"/>
                <c:pt idx="0">
                  <c:v>1.05296671847266</c:v>
                </c:pt>
                <c:pt idx="1">
                  <c:v>1.03939733960131</c:v>
                </c:pt>
                <c:pt idx="2">
                  <c:v>1.02602046845101</c:v>
                </c:pt>
                <c:pt idx="3">
                  <c:v>1.01283789972669</c:v>
                </c:pt>
                <c:pt idx="4">
                  <c:v>0.999851404553903</c:v>
                </c:pt>
                <c:pt idx="5">
                  <c:v>0.987062729614779</c:v>
                </c:pt>
                <c:pt idx="6">
                  <c:v>0.974473596313619</c:v>
                </c:pt>
                <c:pt idx="7">
                  <c:v>0.962085699973652</c:v>
                </c:pt>
                <c:pt idx="8">
                  <c:v>0.94990070906649</c:v>
                </c:pt>
                <c:pt idx="9">
                  <c:v>0.937920264475669</c:v>
                </c:pt>
                <c:pt idx="10">
                  <c:v>0.926145978795591</c:v>
                </c:pt>
                <c:pt idx="11">
                  <c:v>0.914579435667031</c:v>
                </c:pt>
                <c:pt idx="12">
                  <c:v>0.903222189150288</c:v>
                </c:pt>
                <c:pt idx="13">
                  <c:v>0.892075763136885</c:v>
                </c:pt>
                <c:pt idx="14">
                  <c:v>0.881141650800641</c:v>
                </c:pt>
                <c:pt idx="15">
                  <c:v>0.870421314088738</c:v>
                </c:pt>
                <c:pt idx="16">
                  <c:v>0.859916183253326</c:v>
                </c:pt>
                <c:pt idx="17">
                  <c:v>0.849627656423995</c:v>
                </c:pt>
                <c:pt idx="18">
                  <c:v>0.839557099221348</c:v>
                </c:pt>
                <c:pt idx="19">
                  <c:v>0.829705844411717</c:v>
                </c:pt>
                <c:pt idx="20">
                  <c:v>0.820075191602918</c:v>
                </c:pt>
                <c:pt idx="21">
                  <c:v>0.810666406980799</c:v>
                </c:pt>
                <c:pt idx="22">
                  <c:v>0.801480723086154</c:v>
                </c:pt>
                <c:pt idx="23">
                  <c:v>0.792519338631432</c:v>
                </c:pt>
                <c:pt idx="24">
                  <c:v>0.783783418356531</c:v>
                </c:pt>
                <c:pt idx="25">
                  <c:v>0.775274092922771</c:v>
                </c:pt>
                <c:pt idx="26">
                  <c:v>0.766992458844042</c:v>
                </c:pt>
                <c:pt idx="27">
                  <c:v>0.758939578453955</c:v>
                </c:pt>
                <c:pt idx="28">
                  <c:v>0.751116479907666</c:v>
                </c:pt>
                <c:pt idx="29">
                  <c:v>0.743524157216947</c:v>
                </c:pt>
                <c:pt idx="30">
                  <c:v>0.736163570316931</c:v>
                </c:pt>
                <c:pt idx="31">
                  <c:v>0.729035645162822</c:v>
                </c:pt>
                <c:pt idx="32">
                  <c:v>0.722141273854793</c:v>
                </c:pt>
                <c:pt idx="33">
                  <c:v>0.71548131478914</c:v>
                </c:pt>
                <c:pt idx="34">
                  <c:v>0.709056592833709</c:v>
                </c:pt>
                <c:pt idx="35">
                  <c:v>0.702867899525499</c:v>
                </c:pt>
                <c:pt idx="36">
                  <c:v>0.696915993288291</c:v>
                </c:pt>
                <c:pt idx="37">
                  <c:v>0.691201599668081</c:v>
                </c:pt>
                <c:pt idx="38">
                  <c:v>0.685725411584034</c:v>
                </c:pt>
                <c:pt idx="39">
                  <c:v>0.680488089592659</c:v>
                </c:pt>
                <c:pt idx="40">
                  <c:v>0.675490262162859</c:v>
                </c:pt>
                <c:pt idx="41">
                  <c:v>0.670732525959494</c:v>
                </c:pt>
                <c:pt idx="42">
                  <c:v>0.666215446133097</c:v>
                </c:pt>
                <c:pt idx="43">
                  <c:v>0.661939556613404</c:v>
                </c:pt>
                <c:pt idx="44">
                  <c:v>0.657905360404336</c:v>
                </c:pt>
                <c:pt idx="45">
                  <c:v>0.654113329878167</c:v>
                </c:pt>
                <c:pt idx="46">
                  <c:v>0.650563907066591</c:v>
                </c:pt>
                <c:pt idx="47">
                  <c:v>0.647257503946519</c:v>
                </c:pt>
                <c:pt idx="48">
                  <c:v>0.64419450271845</c:v>
                </c:pt>
                <c:pt idx="49">
                  <c:v>0.641375256075378</c:v>
                </c:pt>
                <c:pt idx="50">
                  <c:v>0.638800087460273</c:v>
                </c:pt>
                <c:pt idx="51">
                  <c:v>0.636469291310267</c:v>
                </c:pt>
                <c:pt idx="52">
                  <c:v>0.634383133285809</c:v>
                </c:pt>
                <c:pt idx="53">
                  <c:v>0.632541850483139</c:v>
                </c:pt>
                <c:pt idx="54">
                  <c:v>0.630945651628594</c:v>
                </c:pt>
                <c:pt idx="55">
                  <c:v>0.62959471725337</c:v>
                </c:pt>
                <c:pt idx="56">
                  <c:v>0.628489199847519</c:v>
                </c:pt>
                <c:pt idx="57">
                  <c:v>0.627629223992102</c:v>
                </c:pt>
                <c:pt idx="58">
                  <c:v>0.627014886468595</c:v>
                </c:pt>
                <c:pt idx="59">
                  <c:v>0.626646256344766</c:v>
                </c:pt>
                <c:pt idx="60">
                  <c:v>0.626523375036446</c:v>
                </c:pt>
                <c:pt idx="61">
                  <c:v>0.626646256344766</c:v>
                </c:pt>
                <c:pt idx="62">
                  <c:v>0.627014886468595</c:v>
                </c:pt>
                <c:pt idx="63">
                  <c:v>0.627629223992102</c:v>
                </c:pt>
                <c:pt idx="64">
                  <c:v>0.628489199847519</c:v>
                </c:pt>
                <c:pt idx="65">
                  <c:v>0.62959471725337</c:v>
                </c:pt>
                <c:pt idx="66">
                  <c:v>0.630945651628594</c:v>
                </c:pt>
                <c:pt idx="67">
                  <c:v>0.632541850483139</c:v>
                </c:pt>
                <c:pt idx="68">
                  <c:v>0.634383133285809</c:v>
                </c:pt>
                <c:pt idx="69">
                  <c:v>0.636469291310267</c:v>
                </c:pt>
                <c:pt idx="70">
                  <c:v>0.638800087460273</c:v>
                </c:pt>
                <c:pt idx="71">
                  <c:v>0.641375256075378</c:v>
                </c:pt>
                <c:pt idx="72">
                  <c:v>0.64419450271845</c:v>
                </c:pt>
                <c:pt idx="73">
                  <c:v>0.647257503946519</c:v>
                </c:pt>
                <c:pt idx="74">
                  <c:v>0.650563907066591</c:v>
                </c:pt>
                <c:pt idx="75">
                  <c:v>0.654113329878167</c:v>
                </c:pt>
                <c:pt idx="76">
                  <c:v>0.657905360404337</c:v>
                </c:pt>
                <c:pt idx="77">
                  <c:v>0.661939556613404</c:v>
                </c:pt>
                <c:pt idx="78">
                  <c:v>0.666215446133097</c:v>
                </c:pt>
                <c:pt idx="79">
                  <c:v>0.670732525959494</c:v>
                </c:pt>
                <c:pt idx="80">
                  <c:v>0.675490262162859</c:v>
                </c:pt>
                <c:pt idx="81">
                  <c:v>0.680488089592659</c:v>
                </c:pt>
                <c:pt idx="82">
                  <c:v>0.685725411584034</c:v>
                </c:pt>
                <c:pt idx="83">
                  <c:v>0.691201599668081</c:v>
                </c:pt>
                <c:pt idx="84">
                  <c:v>0.696915993288291</c:v>
                </c:pt>
                <c:pt idx="85">
                  <c:v>0.702867899525499</c:v>
                </c:pt>
                <c:pt idx="86">
                  <c:v>0.709056592833709</c:v>
                </c:pt>
                <c:pt idx="87">
                  <c:v>0.71548131478914</c:v>
                </c:pt>
                <c:pt idx="88">
                  <c:v>0.722141273854793</c:v>
                </c:pt>
                <c:pt idx="89">
                  <c:v>0.729035645162822</c:v>
                </c:pt>
                <c:pt idx="90">
                  <c:v>0.736163570316931</c:v>
                </c:pt>
                <c:pt idx="91">
                  <c:v>0.743524157216948</c:v>
                </c:pt>
                <c:pt idx="92">
                  <c:v>0.751116479907666</c:v>
                </c:pt>
                <c:pt idx="93">
                  <c:v>0.758939578453955</c:v>
                </c:pt>
                <c:pt idx="94">
                  <c:v>0.766992458844042</c:v>
                </c:pt>
                <c:pt idx="95">
                  <c:v>0.775274092922771</c:v>
                </c:pt>
                <c:pt idx="96">
                  <c:v>0.783783418356532</c:v>
                </c:pt>
                <c:pt idx="97">
                  <c:v>0.792519338631432</c:v>
                </c:pt>
                <c:pt idx="98">
                  <c:v>0.801480723086154</c:v>
                </c:pt>
                <c:pt idx="99">
                  <c:v>0.810666406980799</c:v>
                </c:pt>
                <c:pt idx="100">
                  <c:v>0.820075191602918</c:v>
                </c:pt>
                <c:pt idx="101">
                  <c:v>0.829705844411717</c:v>
                </c:pt>
                <c:pt idx="102">
                  <c:v>0.839557099221348</c:v>
                </c:pt>
                <c:pt idx="103">
                  <c:v>0.849627656423995</c:v>
                </c:pt>
                <c:pt idx="104">
                  <c:v>0.859916183253326</c:v>
                </c:pt>
                <c:pt idx="105">
                  <c:v>0.870421314088738</c:v>
                </c:pt>
                <c:pt idx="106">
                  <c:v>0.881141650800641</c:v>
                </c:pt>
                <c:pt idx="107">
                  <c:v>0.892075763136885</c:v>
                </c:pt>
                <c:pt idx="108">
                  <c:v>0.903222189150288</c:v>
                </c:pt>
                <c:pt idx="109">
                  <c:v>0.914579435667031</c:v>
                </c:pt>
                <c:pt idx="110">
                  <c:v>0.926145978795591</c:v>
                </c:pt>
                <c:pt idx="111">
                  <c:v>0.937920264475669</c:v>
                </c:pt>
                <c:pt idx="112">
                  <c:v>0.94990070906649</c:v>
                </c:pt>
                <c:pt idx="113">
                  <c:v>0.962085699973652</c:v>
                </c:pt>
                <c:pt idx="114">
                  <c:v>0.974473596313619</c:v>
                </c:pt>
                <c:pt idx="115">
                  <c:v>0.987062729614779</c:v>
                </c:pt>
                <c:pt idx="116">
                  <c:v>0.999851404553902</c:v>
                </c:pt>
                <c:pt idx="117">
                  <c:v>1.01283789972669</c:v>
                </c:pt>
                <c:pt idx="118">
                  <c:v>1.02602046845101</c:v>
                </c:pt>
                <c:pt idx="119">
                  <c:v>1.03939733960131</c:v>
                </c:pt>
                <c:pt idx="120">
                  <c:v>1.05296671847266</c:v>
                </c:pt>
                <c:pt idx="121">
                  <c:v>1.06672678767257</c:v>
                </c:pt>
                <c:pt idx="122">
                  <c:v>1.08067570803913</c:v>
                </c:pt>
                <c:pt idx="123">
                  <c:v>1.09481161958326</c:v>
                </c:pt>
                <c:pt idx="124">
                  <c:v>1.10913264245356</c:v>
                </c:pt>
                <c:pt idx="125">
                  <c:v>1.12363687792149</c:v>
                </c:pt>
                <c:pt idx="126">
                  <c:v>1.13832240938522</c:v>
                </c:pt>
                <c:pt idx="127">
                  <c:v>1.15318730338982</c:v>
                </c:pt>
                <c:pt idx="128">
                  <c:v>1.16822961066205</c:v>
                </c:pt>
                <c:pt idx="129">
                  <c:v>1.18344736715749</c:v>
                </c:pt>
                <c:pt idx="130">
                  <c:v>1.1988385951181</c:v>
                </c:pt>
                <c:pt idx="131">
                  <c:v>1.21440130413802</c:v>
                </c:pt>
                <c:pt idx="132">
                  <c:v>1.23013349223575</c:v>
                </c:pt>
                <c:pt idx="133">
                  <c:v>1.24603314693046</c:v>
                </c:pt>
                <c:pt idx="134">
                  <c:v>1.26209824632068</c:v>
                </c:pt>
                <c:pt idx="135">
                  <c:v>1.27832676016313</c:v>
                </c:pt>
                <c:pt idx="136">
                  <c:v>1.29471665095005</c:v>
                </c:pt>
                <c:pt idx="137">
                  <c:v>1.31126587498285</c:v>
                </c:pt>
                <c:pt idx="138">
                  <c:v>1.32797238344049</c:v>
                </c:pt>
                <c:pt idx="139">
                  <c:v>1.34483412344063</c:v>
                </c:pt>
                <c:pt idx="140">
                  <c:v>1.36184903909196</c:v>
                </c:pt>
                <c:pt idx="141">
                  <c:v>1.3813865791748</c:v>
                </c:pt>
                <c:pt idx="142">
                  <c:v>1.40107445620718</c:v>
                </c:pt>
                <c:pt idx="143">
                  <c:v>1.42091188978988</c:v>
                </c:pt>
                <c:pt idx="144">
                  <c:v>1.44089810133339</c:v>
                </c:pt>
                <c:pt idx="145">
                  <c:v>1.46103231540639</c:v>
                </c:pt>
                <c:pt idx="146">
                  <c:v>1.48131376106488</c:v>
                </c:pt>
                <c:pt idx="147">
                  <c:v>1.50174167316046</c:v>
                </c:pt>
                <c:pt idx="148">
                  <c:v>1.522315293626</c:v>
                </c:pt>
                <c:pt idx="149">
                  <c:v>1.5430338727372</c:v>
                </c:pt>
                <c:pt idx="150">
                  <c:v>1.56389667034857</c:v>
                </c:pt>
                <c:pt idx="151">
                  <c:v>1.58490295710242</c:v>
                </c:pt>
                <c:pt idx="152">
                  <c:v>1.60605201560958</c:v>
                </c:pt>
                <c:pt idx="153">
                  <c:v>1.62734314160063</c:v>
                </c:pt>
                <c:pt idx="154">
                  <c:v>1.64877564504638</c:v>
                </c:pt>
                <c:pt idx="155">
                  <c:v>1.67034885124662</c:v>
                </c:pt>
                <c:pt idx="156">
                  <c:v>1.69206210188612</c:v>
                </c:pt>
                <c:pt idx="157">
                  <c:v>1.71391475605684</c:v>
                </c:pt>
                <c:pt idx="158">
                  <c:v>1.73590619124555</c:v>
                </c:pt>
                <c:pt idx="159">
                  <c:v>1.75803580428608</c:v>
                </c:pt>
                <c:pt idx="160">
                  <c:v>1.7803030122753</c:v>
                </c:pt>
                <c:pt idx="161">
                  <c:v>1.80270725345232</c:v>
                </c:pt>
                <c:pt idx="162">
                  <c:v>1.82524798804013</c:v>
                </c:pt>
                <c:pt idx="163">
                  <c:v>1.84792469904917</c:v>
                </c:pt>
                <c:pt idx="164">
                  <c:v>1.87073689304229</c:v>
                </c:pt>
                <c:pt idx="165">
                  <c:v>1.8936841008606</c:v>
                </c:pt>
                <c:pt idx="166">
                  <c:v>1.91676587830977</c:v>
                </c:pt>
                <c:pt idx="167">
                  <c:v>1.93998180680644</c:v>
                </c:pt>
                <c:pt idx="168">
                  <c:v>1.96333149398423</c:v>
                </c:pt>
                <c:pt idx="169">
                  <c:v>1.98681457425929</c:v>
                </c:pt>
                <c:pt idx="170">
                  <c:v>2.01043070935483</c:v>
                </c:pt>
                <c:pt idx="171">
                  <c:v>2.03417958878457</c:v>
                </c:pt>
                <c:pt idx="172">
                  <c:v>2.05806093029477</c:v>
                </c:pt>
                <c:pt idx="173">
                  <c:v>2.08207448026475</c:v>
                </c:pt>
                <c:pt idx="174">
                  <c:v>2.10622001406562</c:v>
                </c:pt>
                <c:pt idx="175">
                  <c:v>2.13049733637717</c:v>
                </c:pt>
                <c:pt idx="176">
                  <c:v>2.15490628146272</c:v>
                </c:pt>
                <c:pt idx="177">
                  <c:v>2.17944671340184</c:v>
                </c:pt>
                <c:pt idx="178">
                  <c:v>2.20411852628093</c:v>
                </c:pt>
                <c:pt idx="179">
                  <c:v>2.22892164434147</c:v>
                </c:pt>
                <c:pt idx="180">
                  <c:v>2.25385602208595</c:v>
                </c:pt>
                <c:pt idx="181">
                  <c:v>2.27892164434147</c:v>
                </c:pt>
                <c:pt idx="182">
                  <c:v>2.30411852628093</c:v>
                </c:pt>
                <c:pt idx="183">
                  <c:v>2.32944671340184</c:v>
                </c:pt>
                <c:pt idx="184">
                  <c:v>2.35490628146272</c:v>
                </c:pt>
                <c:pt idx="185">
                  <c:v>2.38049733637717</c:v>
                </c:pt>
                <c:pt idx="186">
                  <c:v>2.40622001406562</c:v>
                </c:pt>
                <c:pt idx="187">
                  <c:v>2.43207448026475</c:v>
                </c:pt>
                <c:pt idx="188">
                  <c:v>2.45806093029477</c:v>
                </c:pt>
                <c:pt idx="189">
                  <c:v>2.48417958878457</c:v>
                </c:pt>
                <c:pt idx="190">
                  <c:v>2.51043070935483</c:v>
                </c:pt>
                <c:pt idx="191">
                  <c:v>2.53681457425929</c:v>
                </c:pt>
                <c:pt idx="192">
                  <c:v>2.56333149398423</c:v>
                </c:pt>
                <c:pt idx="193">
                  <c:v>2.58998180680644</c:v>
                </c:pt>
                <c:pt idx="194">
                  <c:v>2.61676587830977</c:v>
                </c:pt>
                <c:pt idx="195">
                  <c:v>2.6436841008606</c:v>
                </c:pt>
                <c:pt idx="196">
                  <c:v>2.67073689304229</c:v>
                </c:pt>
                <c:pt idx="197">
                  <c:v>2.69792469904917</c:v>
                </c:pt>
                <c:pt idx="198">
                  <c:v>2.72524798804013</c:v>
                </c:pt>
                <c:pt idx="199">
                  <c:v>2.75270725345232</c:v>
                </c:pt>
                <c:pt idx="200">
                  <c:v>2.7803030122753</c:v>
                </c:pt>
                <c:pt idx="201">
                  <c:v>2.80803580428608</c:v>
                </c:pt>
                <c:pt idx="202">
                  <c:v>2.83590619124555</c:v>
                </c:pt>
                <c:pt idx="203">
                  <c:v>2.86391475605684</c:v>
                </c:pt>
                <c:pt idx="204">
                  <c:v>2.89206210188612</c:v>
                </c:pt>
                <c:pt idx="205">
                  <c:v>2.92034885124662</c:v>
                </c:pt>
                <c:pt idx="206">
                  <c:v>2.94877564504638</c:v>
                </c:pt>
                <c:pt idx="207">
                  <c:v>2.97734314160063</c:v>
                </c:pt>
                <c:pt idx="208">
                  <c:v>3.00605201560958</c:v>
                </c:pt>
                <c:pt idx="209">
                  <c:v>3.03490295710242</c:v>
                </c:pt>
                <c:pt idx="210">
                  <c:v>3.06389667034857</c:v>
                </c:pt>
                <c:pt idx="211">
                  <c:v>3.0930338727372</c:v>
                </c:pt>
                <c:pt idx="212">
                  <c:v>3.122315293626</c:v>
                </c:pt>
                <c:pt idx="213">
                  <c:v>3.15174167316046</c:v>
                </c:pt>
                <c:pt idx="214">
                  <c:v>3.18131376106488</c:v>
                </c:pt>
                <c:pt idx="215">
                  <c:v>3.21103231540639</c:v>
                </c:pt>
                <c:pt idx="216">
                  <c:v>3.24089810133339</c:v>
                </c:pt>
                <c:pt idx="217">
                  <c:v>3.27091188978988</c:v>
                </c:pt>
                <c:pt idx="218">
                  <c:v>3.30107445620718</c:v>
                </c:pt>
                <c:pt idx="219">
                  <c:v>3.3313865791748</c:v>
                </c:pt>
                <c:pt idx="220">
                  <c:v>3.36184903909197</c:v>
                </c:pt>
                <c:pt idx="221">
                  <c:v>3.34483412344063</c:v>
                </c:pt>
                <c:pt idx="222">
                  <c:v>3.32797238344049</c:v>
                </c:pt>
                <c:pt idx="223">
                  <c:v>3.31126587498285</c:v>
                </c:pt>
                <c:pt idx="224">
                  <c:v>3.29471665095005</c:v>
                </c:pt>
                <c:pt idx="225">
                  <c:v>3.27832676016313</c:v>
                </c:pt>
                <c:pt idx="226">
                  <c:v>3.26209824632068</c:v>
                </c:pt>
                <c:pt idx="227">
                  <c:v>3.24603314693046</c:v>
                </c:pt>
                <c:pt idx="228">
                  <c:v>3.23013349223575</c:v>
                </c:pt>
                <c:pt idx="229">
                  <c:v>3.21440130413802</c:v>
                </c:pt>
                <c:pt idx="230">
                  <c:v>3.1988385951181</c:v>
                </c:pt>
                <c:pt idx="231">
                  <c:v>3.18344736715749</c:v>
                </c:pt>
                <c:pt idx="232">
                  <c:v>3.16822961066205</c:v>
                </c:pt>
                <c:pt idx="233">
                  <c:v>3.15318730338982</c:v>
                </c:pt>
                <c:pt idx="234">
                  <c:v>3.13832240938522</c:v>
                </c:pt>
                <c:pt idx="235">
                  <c:v>3.12363687792149</c:v>
                </c:pt>
                <c:pt idx="236">
                  <c:v>3.10913264245356</c:v>
                </c:pt>
                <c:pt idx="237">
                  <c:v>3.09481161958326</c:v>
                </c:pt>
                <c:pt idx="238">
                  <c:v>3.08067570803913</c:v>
                </c:pt>
                <c:pt idx="239">
                  <c:v>3.06672678767257</c:v>
                </c:pt>
                <c:pt idx="240">
                  <c:v>3.05296671847266</c:v>
                </c:pt>
                <c:pt idx="241">
                  <c:v>3.03939733960131</c:v>
                </c:pt>
                <c:pt idx="242">
                  <c:v>3.02602046845101</c:v>
                </c:pt>
                <c:pt idx="243">
                  <c:v>3.01283789972669</c:v>
                </c:pt>
                <c:pt idx="244">
                  <c:v>2.9998514045539</c:v>
                </c:pt>
                <c:pt idx="245">
                  <c:v>2.98706272961478</c:v>
                </c:pt>
                <c:pt idx="246">
                  <c:v>2.97447359631362</c:v>
                </c:pt>
                <c:pt idx="247">
                  <c:v>2.96208569997365</c:v>
                </c:pt>
                <c:pt idx="248">
                  <c:v>2.94990070906649</c:v>
                </c:pt>
                <c:pt idx="249">
                  <c:v>2.93792026447567</c:v>
                </c:pt>
                <c:pt idx="250">
                  <c:v>2.92614597879559</c:v>
                </c:pt>
                <c:pt idx="251">
                  <c:v>2.91457943566703</c:v>
                </c:pt>
                <c:pt idx="252">
                  <c:v>2.90322218915029</c:v>
                </c:pt>
                <c:pt idx="253">
                  <c:v>2.89207576313689</c:v>
                </c:pt>
                <c:pt idx="254">
                  <c:v>2.88114165080064</c:v>
                </c:pt>
                <c:pt idx="255">
                  <c:v>2.87042131408874</c:v>
                </c:pt>
                <c:pt idx="256">
                  <c:v>2.85991618325333</c:v>
                </c:pt>
                <c:pt idx="257">
                  <c:v>2.849627656424</c:v>
                </c:pt>
                <c:pt idx="258">
                  <c:v>2.83955709922135</c:v>
                </c:pt>
                <c:pt idx="259">
                  <c:v>2.82970584441172</c:v>
                </c:pt>
                <c:pt idx="260">
                  <c:v>2.82007519160292</c:v>
                </c:pt>
                <c:pt idx="261">
                  <c:v>2.8106664069808</c:v>
                </c:pt>
                <c:pt idx="262">
                  <c:v>2.80148072308615</c:v>
                </c:pt>
                <c:pt idx="263">
                  <c:v>2.79251933863143</c:v>
                </c:pt>
                <c:pt idx="264">
                  <c:v>2.78378341835653</c:v>
                </c:pt>
                <c:pt idx="265">
                  <c:v>2.77527409292277</c:v>
                </c:pt>
                <c:pt idx="266">
                  <c:v>2.76699245884404</c:v>
                </c:pt>
                <c:pt idx="267">
                  <c:v>2.75893957845396</c:v>
                </c:pt>
                <c:pt idx="268">
                  <c:v>2.75111647990767</c:v>
                </c:pt>
                <c:pt idx="269">
                  <c:v>2.74352415721695</c:v>
                </c:pt>
                <c:pt idx="270">
                  <c:v>2.73616357031693</c:v>
                </c:pt>
                <c:pt idx="271">
                  <c:v>2.72903564516282</c:v>
                </c:pt>
                <c:pt idx="272">
                  <c:v>2.72214127385479</c:v>
                </c:pt>
                <c:pt idx="273">
                  <c:v>2.71548131478914</c:v>
                </c:pt>
                <c:pt idx="274">
                  <c:v>2.70905659283371</c:v>
                </c:pt>
                <c:pt idx="275">
                  <c:v>2.7028678995255</c:v>
                </c:pt>
                <c:pt idx="276">
                  <c:v>2.69691599328829</c:v>
                </c:pt>
                <c:pt idx="277">
                  <c:v>2.69120159966808</c:v>
                </c:pt>
                <c:pt idx="278">
                  <c:v>2.68572541158403</c:v>
                </c:pt>
                <c:pt idx="279">
                  <c:v>2.68048808959266</c:v>
                </c:pt>
                <c:pt idx="280">
                  <c:v>2.67549026216286</c:v>
                </c:pt>
                <c:pt idx="281">
                  <c:v>2.67073252595949</c:v>
                </c:pt>
                <c:pt idx="282">
                  <c:v>2.6662154461331</c:v>
                </c:pt>
                <c:pt idx="283">
                  <c:v>2.6619395566134</c:v>
                </c:pt>
                <c:pt idx="284">
                  <c:v>2.65790536040434</c:v>
                </c:pt>
                <c:pt idx="285">
                  <c:v>2.65411332987817</c:v>
                </c:pt>
                <c:pt idx="286">
                  <c:v>2.65056390706659</c:v>
                </c:pt>
                <c:pt idx="287">
                  <c:v>2.64725750394652</c:v>
                </c:pt>
                <c:pt idx="288">
                  <c:v>2.64419450271845</c:v>
                </c:pt>
                <c:pt idx="289">
                  <c:v>2.64137525607538</c:v>
                </c:pt>
                <c:pt idx="290">
                  <c:v>2.63880008746027</c:v>
                </c:pt>
                <c:pt idx="291">
                  <c:v>2.63646929131027</c:v>
                </c:pt>
                <c:pt idx="292">
                  <c:v>2.63438313328581</c:v>
                </c:pt>
                <c:pt idx="293">
                  <c:v>2.63254185048314</c:v>
                </c:pt>
                <c:pt idx="294">
                  <c:v>2.63094565162859</c:v>
                </c:pt>
                <c:pt idx="295">
                  <c:v>2.62959471725337</c:v>
                </c:pt>
                <c:pt idx="296">
                  <c:v>2.62848919984752</c:v>
                </c:pt>
                <c:pt idx="297">
                  <c:v>2.6276292239921</c:v>
                </c:pt>
                <c:pt idx="298">
                  <c:v>2.6270148864686</c:v>
                </c:pt>
                <c:pt idx="299">
                  <c:v>2.62664625634477</c:v>
                </c:pt>
                <c:pt idx="300">
                  <c:v>2.62652337503645</c:v>
                </c:pt>
                <c:pt idx="301">
                  <c:v>2.62664625634477</c:v>
                </c:pt>
                <c:pt idx="302">
                  <c:v>2.6270148864686</c:v>
                </c:pt>
                <c:pt idx="303">
                  <c:v>2.6276292239921</c:v>
                </c:pt>
                <c:pt idx="304">
                  <c:v>2.62848919984752</c:v>
                </c:pt>
                <c:pt idx="305">
                  <c:v>2.62959471725337</c:v>
                </c:pt>
                <c:pt idx="306">
                  <c:v>2.63094565162859</c:v>
                </c:pt>
                <c:pt idx="307">
                  <c:v>2.63254185048314</c:v>
                </c:pt>
                <c:pt idx="308">
                  <c:v>2.63438313328581</c:v>
                </c:pt>
                <c:pt idx="309">
                  <c:v>2.63646929131027</c:v>
                </c:pt>
                <c:pt idx="310">
                  <c:v>2.63880008746027</c:v>
                </c:pt>
                <c:pt idx="311">
                  <c:v>2.64137525607538</c:v>
                </c:pt>
                <c:pt idx="312">
                  <c:v>2.64419450271845</c:v>
                </c:pt>
                <c:pt idx="313">
                  <c:v>2.64725750394652</c:v>
                </c:pt>
                <c:pt idx="314">
                  <c:v>2.65056390706659</c:v>
                </c:pt>
                <c:pt idx="315">
                  <c:v>2.65411332987817</c:v>
                </c:pt>
                <c:pt idx="316">
                  <c:v>2.65790536040434</c:v>
                </c:pt>
                <c:pt idx="317">
                  <c:v>2.6619395566134</c:v>
                </c:pt>
                <c:pt idx="318">
                  <c:v>2.6662154461331</c:v>
                </c:pt>
                <c:pt idx="319">
                  <c:v>2.67073252595949</c:v>
                </c:pt>
                <c:pt idx="320">
                  <c:v>2.67549026216286</c:v>
                </c:pt>
                <c:pt idx="321">
                  <c:v>2.68048808959266</c:v>
                </c:pt>
                <c:pt idx="322">
                  <c:v>2.68572541158403</c:v>
                </c:pt>
                <c:pt idx="323">
                  <c:v>2.69120159966808</c:v>
                </c:pt>
                <c:pt idx="324">
                  <c:v>2.69691599328829</c:v>
                </c:pt>
                <c:pt idx="325">
                  <c:v>2.7028678995255</c:v>
                </c:pt>
                <c:pt idx="326">
                  <c:v>2.70905659283371</c:v>
                </c:pt>
                <c:pt idx="327">
                  <c:v>2.71548131478914</c:v>
                </c:pt>
                <c:pt idx="328">
                  <c:v>2.72214127385479</c:v>
                </c:pt>
                <c:pt idx="329">
                  <c:v>2.72903564516282</c:v>
                </c:pt>
                <c:pt idx="330">
                  <c:v>2.73616357031693</c:v>
                </c:pt>
                <c:pt idx="331">
                  <c:v>2.74352415721695</c:v>
                </c:pt>
                <c:pt idx="332">
                  <c:v>2.75111647990767</c:v>
                </c:pt>
                <c:pt idx="333">
                  <c:v>2.75893957845396</c:v>
                </c:pt>
                <c:pt idx="334">
                  <c:v>2.76699245884404</c:v>
                </c:pt>
                <c:pt idx="335">
                  <c:v>2.77527409292277</c:v>
                </c:pt>
                <c:pt idx="336">
                  <c:v>2.78378341835653</c:v>
                </c:pt>
                <c:pt idx="337">
                  <c:v>2.79251933863143</c:v>
                </c:pt>
                <c:pt idx="338">
                  <c:v>2.80148072308615</c:v>
                </c:pt>
                <c:pt idx="339">
                  <c:v>2.8106664069808</c:v>
                </c:pt>
                <c:pt idx="340">
                  <c:v>2.82007519160292</c:v>
                </c:pt>
                <c:pt idx="341">
                  <c:v>2.82970584441172</c:v>
                </c:pt>
                <c:pt idx="342">
                  <c:v>2.83955709922135</c:v>
                </c:pt>
                <c:pt idx="343">
                  <c:v>2.849627656424</c:v>
                </c:pt>
                <c:pt idx="344">
                  <c:v>2.85991618325333</c:v>
                </c:pt>
                <c:pt idx="345">
                  <c:v>2.87042131408874</c:v>
                </c:pt>
                <c:pt idx="346">
                  <c:v>2.88114165080064</c:v>
                </c:pt>
                <c:pt idx="347">
                  <c:v>2.89207576313689</c:v>
                </c:pt>
                <c:pt idx="348">
                  <c:v>2.90322218915029</c:v>
                </c:pt>
                <c:pt idx="349">
                  <c:v>2.91457943566703</c:v>
                </c:pt>
                <c:pt idx="350">
                  <c:v>2.92614597879559</c:v>
                </c:pt>
                <c:pt idx="351">
                  <c:v>2.93792026447567</c:v>
                </c:pt>
                <c:pt idx="352">
                  <c:v>2.94990070906649</c:v>
                </c:pt>
                <c:pt idx="353">
                  <c:v>2.96208569997365</c:v>
                </c:pt>
                <c:pt idx="354">
                  <c:v>2.97447359631362</c:v>
                </c:pt>
                <c:pt idx="355">
                  <c:v>2.98706272961478</c:v>
                </c:pt>
                <c:pt idx="356">
                  <c:v>2.9998514045539</c:v>
                </c:pt>
                <c:pt idx="357">
                  <c:v>3.01283789972669</c:v>
                </c:pt>
                <c:pt idx="358">
                  <c:v>3.02602046845101</c:v>
                </c:pt>
                <c:pt idx="359">
                  <c:v>3.03939733960131</c:v>
                </c:pt>
                <c:pt idx="360">
                  <c:v>3.05296671847266</c:v>
                </c:pt>
              </c:numCache>
            </c:numRef>
          </c:yVal>
          <c:smooth val="1"/>
          <c:extLst>
            <c:ext xmlns:c16="http://schemas.microsoft.com/office/drawing/2014/chart" uri="{C3380CC4-5D6E-409C-BE32-E72D297353CC}">
              <c16:uniqueId val="{00000000-DAFA-488F-A6AD-C0CC66373C82}"/>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0.626523375036446</c:v>
                </c:pt>
              </c:numCache>
            </c:numRef>
          </c:yVal>
          <c:smooth val="1"/>
          <c:extLst>
            <c:ext xmlns:c16="http://schemas.microsoft.com/office/drawing/2014/chart" uri="{C3380CC4-5D6E-409C-BE32-E72D297353CC}">
              <c16:uniqueId val="{00000001-DAFA-488F-A6AD-C0CC66373C82}"/>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2.62652337503645</c:v>
                </c:pt>
              </c:numCache>
            </c:numRef>
          </c:yVal>
          <c:smooth val="1"/>
          <c:extLst>
            <c:ext xmlns:c16="http://schemas.microsoft.com/office/drawing/2014/chart" uri="{C3380CC4-5D6E-409C-BE32-E72D297353CC}">
              <c16:uniqueId val="{00000002-DAFA-488F-A6AD-C0CC66373C82}"/>
            </c:ext>
          </c:extLst>
        </c:ser>
        <c:ser>
          <c:idx val="3"/>
          <c:order val="3"/>
          <c:tx>
            <c:v>left GD steps</c:v>
          </c:tx>
          <c:spPr>
            <a:ln w="17145">
              <a:solidFill>
                <a:srgbClr val="326CB2"/>
              </a:solidFill>
            </a:ln>
          </c:spPr>
          <c:marker>
            <c:symbol val="none"/>
          </c:marker>
          <c:xVal>
            <c:numRef>
              <c:f>'Chart Data'!$G$2:$G$12</c:f>
              <c:numCache>
                <c:formatCode>General</c:formatCode>
                <c:ptCount val="11"/>
                <c:pt idx="0">
                  <c:v>-1.5</c:v>
                </c:pt>
                <c:pt idx="1">
                  <c:v>-1.77330057559031</c:v>
                </c:pt>
                <c:pt idx="2">
                  <c:v>-2.00282808162535</c:v>
                </c:pt>
                <c:pt idx="3">
                  <c:v>-2.19272448547277</c:v>
                </c:pt>
                <c:pt idx="4">
                  <c:v>-2.34822435115727</c:v>
                </c:pt>
                <c:pt idx="5">
                  <c:v>-2.47469633489384</c:v>
                </c:pt>
                <c:pt idx="6">
                  <c:v>-2.57710805145693</c:v>
                </c:pt>
                <c:pt idx="7">
                  <c:v>-2.65980289371361</c:v>
                </c:pt>
                <c:pt idx="8">
                  <c:v>-2.72645601559355</c:v>
                </c:pt>
                <c:pt idx="9">
                  <c:v>-2.78011687941228</c:v>
                </c:pt>
                <c:pt idx="10">
                  <c:v>-2.82328571770543</c:v>
                </c:pt>
              </c:numCache>
            </c:numRef>
          </c:xVal>
          <c:yVal>
            <c:numRef>
              <c:f>'Chart Data'!$H$2:$H$12</c:f>
              <c:numCache>
                <c:formatCode>General</c:formatCode>
                <c:ptCount val="11"/>
                <c:pt idx="0">
                  <c:v>1.05296671847266</c:v>
                </c:pt>
                <c:pt idx="1">
                  <c:v>0.915359081549213</c:v>
                </c:pt>
                <c:pt idx="2">
                  <c:v>0.818999686312374</c:v>
                </c:pt>
                <c:pt idx="3">
                  <c:v>0.753369398360652</c:v>
                </c:pt>
                <c:pt idx="4">
                  <c:v>0.709505137237307</c:v>
                </c:pt>
                <c:pt idx="5">
                  <c:v>0.680550269654881</c:v>
                </c:pt>
                <c:pt idx="6">
                  <c:v>0.661590047296636</c:v>
                </c:pt>
                <c:pt idx="7">
                  <c:v>0.649238429328861</c:v>
                </c:pt>
                <c:pt idx="8">
                  <c:v>0.641218579989309</c:v>
                </c:pt>
                <c:pt idx="9">
                  <c:v>0.636022386887178</c:v>
                </c:pt>
                <c:pt idx="10">
                  <c:v>0.63266028517605</c:v>
                </c:pt>
              </c:numCache>
            </c:numRef>
          </c:yVal>
          <c:smooth val="1"/>
          <c:extLst>
            <c:ext xmlns:c16="http://schemas.microsoft.com/office/drawing/2014/chart" uri="{C3380CC4-5D6E-409C-BE32-E72D297353CC}">
              <c16:uniqueId val="{00000003-DAFA-488F-A6AD-C0CC66373C82}"/>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1.05296671847266</c:v>
                </c:pt>
              </c:numCache>
            </c:numRef>
          </c:yVal>
          <c:smooth val="1"/>
          <c:extLst>
            <c:ext xmlns:c16="http://schemas.microsoft.com/office/drawing/2014/chart" uri="{C3380CC4-5D6E-409C-BE32-E72D297353CC}">
              <c16:uniqueId val="{00000004-DAFA-488F-A6AD-C0CC66373C82}"/>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Data'!$K$2:$K$11</c:f>
              <c:numCache>
                <c:formatCode>General</c:formatCode>
                <c:ptCount val="10"/>
                <c:pt idx="0">
                  <c:v>-1.77330057559031</c:v>
                </c:pt>
                <c:pt idx="1">
                  <c:v>-2.00282808162535</c:v>
                </c:pt>
                <c:pt idx="2">
                  <c:v>-2.19272448547277</c:v>
                </c:pt>
                <c:pt idx="3">
                  <c:v>-2.34822435115727</c:v>
                </c:pt>
                <c:pt idx="4">
                  <c:v>-2.47469633489384</c:v>
                </c:pt>
                <c:pt idx="5">
                  <c:v>-2.57710805145693</c:v>
                </c:pt>
                <c:pt idx="6">
                  <c:v>-2.65980289371361</c:v>
                </c:pt>
                <c:pt idx="7">
                  <c:v>-2.72645601559355</c:v>
                </c:pt>
                <c:pt idx="8">
                  <c:v>-2.78011687941228</c:v>
                </c:pt>
                <c:pt idx="9">
                  <c:v>-2.82328571770543</c:v>
                </c:pt>
              </c:numCache>
            </c:numRef>
          </c:xVal>
          <c:yVal>
            <c:numRef>
              <c:f>'Chart Data'!$L$2:$L$11</c:f>
              <c:numCache>
                <c:formatCode>General</c:formatCode>
                <c:ptCount val="10"/>
                <c:pt idx="0">
                  <c:v>0.915359081549213</c:v>
                </c:pt>
                <c:pt idx="1">
                  <c:v>0.818999686312374</c:v>
                </c:pt>
                <c:pt idx="2">
                  <c:v>0.753369398360652</c:v>
                </c:pt>
                <c:pt idx="3">
                  <c:v>0.709505137237307</c:v>
                </c:pt>
                <c:pt idx="4">
                  <c:v>0.680550269654881</c:v>
                </c:pt>
                <c:pt idx="5">
                  <c:v>0.661590047296636</c:v>
                </c:pt>
                <c:pt idx="6">
                  <c:v>0.649238429328861</c:v>
                </c:pt>
                <c:pt idx="7">
                  <c:v>0.641218579989309</c:v>
                </c:pt>
                <c:pt idx="8">
                  <c:v>0.636022386887178</c:v>
                </c:pt>
                <c:pt idx="9">
                  <c:v>0.63266028517605</c:v>
                </c:pt>
              </c:numCache>
            </c:numRef>
          </c:yVal>
          <c:smooth val="1"/>
          <c:extLst>
            <c:ext xmlns:c16="http://schemas.microsoft.com/office/drawing/2014/chart" uri="{C3380CC4-5D6E-409C-BE32-E72D297353CC}">
              <c16:uniqueId val="{00000005-DAFA-488F-A6AD-C0CC66373C82}"/>
            </c:ext>
          </c:extLst>
        </c:ser>
        <c:ser>
          <c:idx val="6"/>
          <c:order val="6"/>
          <c:tx>
            <c:v>right GD steps</c:v>
          </c:tx>
          <c:spPr>
            <a:ln w="17145">
              <a:solidFill>
                <a:srgbClr val="C45C28"/>
              </a:solidFill>
            </a:ln>
          </c:spPr>
          <c:marker>
            <c:symbol val="none"/>
          </c:marker>
          <c:xVal>
            <c:numRef>
              <c:f>'Chart Data'!$M$2:$M$12</c:f>
              <c:numCache>
                <c:formatCode>General</c:formatCode>
                <c:ptCount val="11"/>
                <c:pt idx="0">
                  <c:v>1.5</c:v>
                </c:pt>
                <c:pt idx="1">
                  <c:v>1.77330057559031</c:v>
                </c:pt>
                <c:pt idx="2">
                  <c:v>2.00282808162535</c:v>
                </c:pt>
                <c:pt idx="3">
                  <c:v>2.19272448547277</c:v>
                </c:pt>
                <c:pt idx="4">
                  <c:v>2.34822435115727</c:v>
                </c:pt>
                <c:pt idx="5">
                  <c:v>2.47469633489384</c:v>
                </c:pt>
                <c:pt idx="6">
                  <c:v>2.57710805145693</c:v>
                </c:pt>
                <c:pt idx="7">
                  <c:v>2.65980289371361</c:v>
                </c:pt>
                <c:pt idx="8">
                  <c:v>2.72645601559355</c:v>
                </c:pt>
                <c:pt idx="9">
                  <c:v>2.78011687941228</c:v>
                </c:pt>
                <c:pt idx="10">
                  <c:v>2.82328571770543</c:v>
                </c:pt>
              </c:numCache>
            </c:numRef>
          </c:xVal>
          <c:yVal>
            <c:numRef>
              <c:f>'Chart Data'!$N$2:$N$12</c:f>
              <c:numCache>
                <c:formatCode>General</c:formatCode>
                <c:ptCount val="11"/>
                <c:pt idx="0">
                  <c:v>3.05296671847266</c:v>
                </c:pt>
                <c:pt idx="1">
                  <c:v>2.91535908154921</c:v>
                </c:pt>
                <c:pt idx="2">
                  <c:v>2.81899968631237</c:v>
                </c:pt>
                <c:pt idx="3">
                  <c:v>2.75336939836065</c:v>
                </c:pt>
                <c:pt idx="4">
                  <c:v>2.70950513723731</c:v>
                </c:pt>
                <c:pt idx="5">
                  <c:v>2.68055026965488</c:v>
                </c:pt>
                <c:pt idx="6">
                  <c:v>2.66159004729664</c:v>
                </c:pt>
                <c:pt idx="7">
                  <c:v>2.64923842932886</c:v>
                </c:pt>
                <c:pt idx="8">
                  <c:v>2.64121857998931</c:v>
                </c:pt>
                <c:pt idx="9">
                  <c:v>2.63602238688718</c:v>
                </c:pt>
                <c:pt idx="10">
                  <c:v>2.63266028517605</c:v>
                </c:pt>
              </c:numCache>
            </c:numRef>
          </c:yVal>
          <c:smooth val="1"/>
          <c:extLst>
            <c:ext xmlns:c16="http://schemas.microsoft.com/office/drawing/2014/chart" uri="{C3380CC4-5D6E-409C-BE32-E72D297353CC}">
              <c16:uniqueId val="{00000006-DAFA-488F-A6AD-C0CC66373C82}"/>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3.05296671847266</c:v>
                </c:pt>
              </c:numCache>
            </c:numRef>
          </c:yVal>
          <c:smooth val="1"/>
          <c:extLst>
            <c:ext xmlns:c16="http://schemas.microsoft.com/office/drawing/2014/chart" uri="{C3380CC4-5D6E-409C-BE32-E72D297353CC}">
              <c16:uniqueId val="{00000007-DAFA-488F-A6AD-C0CC66373C82}"/>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Data'!$Q$2:$Q$11</c:f>
              <c:numCache>
                <c:formatCode>General</c:formatCode>
                <c:ptCount val="10"/>
                <c:pt idx="0">
                  <c:v>1.77330057559031</c:v>
                </c:pt>
                <c:pt idx="1">
                  <c:v>2.00282808162535</c:v>
                </c:pt>
                <c:pt idx="2">
                  <c:v>2.19272448547277</c:v>
                </c:pt>
                <c:pt idx="3">
                  <c:v>2.34822435115727</c:v>
                </c:pt>
                <c:pt idx="4">
                  <c:v>2.47469633489384</c:v>
                </c:pt>
                <c:pt idx="5">
                  <c:v>2.57710805145693</c:v>
                </c:pt>
                <c:pt idx="6">
                  <c:v>2.65980289371361</c:v>
                </c:pt>
                <c:pt idx="7">
                  <c:v>2.72645601559355</c:v>
                </c:pt>
                <c:pt idx="8">
                  <c:v>2.78011687941228</c:v>
                </c:pt>
                <c:pt idx="9">
                  <c:v>2.82328571770543</c:v>
                </c:pt>
              </c:numCache>
            </c:numRef>
          </c:xVal>
          <c:yVal>
            <c:numRef>
              <c:f>'Chart Data'!$R$2:$R$11</c:f>
              <c:numCache>
                <c:formatCode>General</c:formatCode>
                <c:ptCount val="10"/>
                <c:pt idx="0">
                  <c:v>2.91535908154921</c:v>
                </c:pt>
                <c:pt idx="1">
                  <c:v>2.81899968631237</c:v>
                </c:pt>
                <c:pt idx="2">
                  <c:v>2.75336939836065</c:v>
                </c:pt>
                <c:pt idx="3">
                  <c:v>2.70950513723731</c:v>
                </c:pt>
                <c:pt idx="4">
                  <c:v>2.68055026965488</c:v>
                </c:pt>
                <c:pt idx="5">
                  <c:v>2.66159004729664</c:v>
                </c:pt>
                <c:pt idx="6">
                  <c:v>2.64923842932886</c:v>
                </c:pt>
                <c:pt idx="7">
                  <c:v>2.64121857998931</c:v>
                </c:pt>
                <c:pt idx="8">
                  <c:v>2.63602238688718</c:v>
                </c:pt>
                <c:pt idx="9">
                  <c:v>2.63266028517605</c:v>
                </c:pt>
              </c:numCache>
            </c:numRef>
          </c:yVal>
          <c:smooth val="1"/>
          <c:extLst>
            <c:ext xmlns:c16="http://schemas.microsoft.com/office/drawing/2014/chart" uri="{C3380CC4-5D6E-409C-BE32-E72D297353CC}">
              <c16:uniqueId val="{00000008-DAFA-488F-A6AD-C0CC66373C82}"/>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-2.82328571770543</c:v>
                </c:pt>
              </c:numCache>
            </c:numRef>
          </c:xVal>
          <c:yVal>
            <c:numRef>
              <c:f>'Chart Data'!$T$2:$T$2</c:f>
              <c:numCache>
                <c:formatCode>General</c:formatCode>
                <c:ptCount val="1"/>
                <c:pt idx="0">
                  <c:v>0.63266028517605</c:v>
                </c:pt>
              </c:numCache>
            </c:numRef>
          </c:yVal>
          <c:smooth val="1"/>
          <c:extLst>
            <c:ext xmlns:c16="http://schemas.microsoft.com/office/drawing/2014/chart" uri="{C3380CC4-5D6E-409C-BE32-E72D297353CC}">
              <c16:uniqueId val="{00000009-DAFA-488F-A6AD-C0CC66373C82}"/>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2.82328571770543</c:v>
                </c:pt>
              </c:numCache>
            </c:numRef>
          </c:xVal>
          <c:yVal>
            <c:numRef>
              <c:f>'Chart Data'!$V$2:$V$2</c:f>
              <c:numCache>
                <c:formatCode>General</c:formatCode>
                <c:ptCount val="1"/>
                <c:pt idx="0">
                  <c:v>2.63266028517605</c:v>
                </c:pt>
              </c:numCache>
            </c:numRef>
          </c:yVal>
          <c:smooth val="1"/>
          <c:extLst>
            <c:ext xmlns:c16="http://schemas.microsoft.com/office/drawing/2014/chart" uri="{C3380CC4-5D6E-409C-BE32-E72D297353CC}">
              <c16:uniqueId val="{0000000A-DAFA-488F-A6AD-C0CC66373C82}"/>
            </c:ext>
          </c:extLst>
        </c:ser>
        <c:dLbls>
          <c:showLegendKey val="0"/>
          <c:showVal val="0"/>
          <c:showCatName val="0"/>
          <c:showSerName val="0"/>
          <c:showPercent val="0"/>
          <c:showBubbleSize val="0"/>
        </c:dLbls>
        <c:axId val="48650112"/>
        <c:axId val="48672768"/>
      </c:scatterChart>
      <c:valAx>
        <c:axId val="48672768"/>
        <c:scaling>
          <c:orientation val="minMax"/>
          <c:max val="4"/>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Logistic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1"/>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manualLayout>
          <c:layoutTarget val="inner"/>
          <c:xMode val="edge"/>
          <c:yMode val="edge"/>
          <c:x val="0.14000000000000001"/>
          <c:y val="0.06"/>
          <c:w val="0.82"/>
          <c:h val="0.8"/>
        </c:manualLayout>
      </c:layout>
      <c:scatterChart>
        <c:scatterStyle val="lineMarker"/>
        <c:varyColors val="1"/>
        <c:ser>
          <c:idx val="0"/>
          <c:order val="0"/>
          <c:tx>
            <c:v>Logistic loss</c:v>
          </c:tx>
          <c:spPr>
            <a:ln w="30480">
              <a:solidFill>
                <a:srgbClr val="087F83"/>
              </a:solidFill>
            </a:ln>
          </c:spPr>
          <c:marker>
            <c:symbol val="none"/>
          </c:marker>
          <c:xVal>
            <c:numRef>
              <c:f>'Chart Data'!$A$2:$A$362</c:f>
              <c:numCache>
                <c:formatCode>General</c:formatCode>
                <c:ptCount val="361"/>
                <c:pt idx="0">
                  <c:v>-4.5</c:v>
                </c:pt>
                <c:pt idx="1">
                  <c:v>-4.475</c:v>
                </c:pt>
                <c:pt idx="2">
                  <c:v>-4.45</c:v>
                </c:pt>
                <c:pt idx="3">
                  <c:v>-4.425</c:v>
                </c:pt>
                <c:pt idx="4">
                  <c:v>-4.4</c:v>
                </c:pt>
                <c:pt idx="5">
                  <c:v>-4.375</c:v>
                </c:pt>
                <c:pt idx="6">
                  <c:v>-4.35</c:v>
                </c:pt>
                <c:pt idx="7">
                  <c:v>-4.325</c:v>
                </c:pt>
                <c:pt idx="8">
                  <c:v>-4.3</c:v>
                </c:pt>
                <c:pt idx="9">
                  <c:v>-4.275</c:v>
                </c:pt>
                <c:pt idx="10">
                  <c:v>-4.25</c:v>
                </c:pt>
                <c:pt idx="11">
                  <c:v>-4.225</c:v>
                </c:pt>
                <c:pt idx="12">
                  <c:v>-4.2</c:v>
                </c:pt>
                <c:pt idx="13">
                  <c:v>-4.175</c:v>
                </c:pt>
                <c:pt idx="14">
                  <c:v>-4.15</c:v>
                </c:pt>
                <c:pt idx="15">
                  <c:v>-4.125</c:v>
                </c:pt>
                <c:pt idx="16">
                  <c:v>-4.1</c:v>
                </c:pt>
                <c:pt idx="17">
                  <c:v>-4.075</c:v>
                </c:pt>
                <c:pt idx="18">
                  <c:v>-4.05</c:v>
                </c:pt>
                <c:pt idx="19">
                  <c:v>-4.025</c:v>
                </c:pt>
                <c:pt idx="20">
                  <c:v>-4</c:v>
                </c:pt>
                <c:pt idx="21">
                  <c:v>-3.975</c:v>
                </c:pt>
                <c:pt idx="22">
                  <c:v>-3.95</c:v>
                </c:pt>
                <c:pt idx="23">
                  <c:v>-3.925</c:v>
                </c:pt>
                <c:pt idx="24">
                  <c:v>-3.9</c:v>
                </c:pt>
                <c:pt idx="25">
                  <c:v>-3.875</c:v>
                </c:pt>
                <c:pt idx="26">
                  <c:v>-3.85</c:v>
                </c:pt>
                <c:pt idx="27">
                  <c:v>-3.825</c:v>
                </c:pt>
                <c:pt idx="28">
                  <c:v>-3.8</c:v>
                </c:pt>
                <c:pt idx="29">
                  <c:v>-3.775</c:v>
                </c:pt>
                <c:pt idx="30">
                  <c:v>-3.75</c:v>
                </c:pt>
                <c:pt idx="31">
                  <c:v>-3.725</c:v>
                </c:pt>
                <c:pt idx="32">
                  <c:v>-3.7</c:v>
                </c:pt>
                <c:pt idx="33">
                  <c:v>-3.675</c:v>
                </c:pt>
                <c:pt idx="34">
                  <c:v>-3.65</c:v>
                </c:pt>
                <c:pt idx="35">
                  <c:v>-3.625</c:v>
                </c:pt>
                <c:pt idx="36">
                  <c:v>-3.6</c:v>
                </c:pt>
                <c:pt idx="37">
                  <c:v>-3.575</c:v>
                </c:pt>
                <c:pt idx="38">
                  <c:v>-3.55</c:v>
                </c:pt>
                <c:pt idx="39">
                  <c:v>-3.525</c:v>
                </c:pt>
                <c:pt idx="40">
                  <c:v>-3.5</c:v>
                </c:pt>
                <c:pt idx="41">
                  <c:v>-3.475</c:v>
                </c:pt>
                <c:pt idx="42">
                  <c:v>-3.45</c:v>
                </c:pt>
                <c:pt idx="43">
                  <c:v>-3.425</c:v>
                </c:pt>
                <c:pt idx="44">
                  <c:v>-3.4</c:v>
                </c:pt>
                <c:pt idx="45">
                  <c:v>-3.375</c:v>
                </c:pt>
                <c:pt idx="46">
                  <c:v>-3.35</c:v>
                </c:pt>
                <c:pt idx="47">
                  <c:v>-3.325</c:v>
                </c:pt>
                <c:pt idx="48">
                  <c:v>-3.3</c:v>
                </c:pt>
                <c:pt idx="49">
                  <c:v>-3.275</c:v>
                </c:pt>
                <c:pt idx="50">
                  <c:v>-3.25</c:v>
                </c:pt>
                <c:pt idx="51">
                  <c:v>-3.225</c:v>
                </c:pt>
                <c:pt idx="52">
                  <c:v>-3.2</c:v>
                </c:pt>
                <c:pt idx="53">
                  <c:v>-3.175</c:v>
                </c:pt>
                <c:pt idx="54">
                  <c:v>-3.15</c:v>
                </c:pt>
                <c:pt idx="55">
                  <c:v>-3.125</c:v>
                </c:pt>
                <c:pt idx="56">
                  <c:v>-3.1</c:v>
                </c:pt>
                <c:pt idx="57">
                  <c:v>-3.075</c:v>
                </c:pt>
                <c:pt idx="58">
                  <c:v>-3.05</c:v>
                </c:pt>
                <c:pt idx="59">
                  <c:v>-3.025</c:v>
                </c:pt>
                <c:pt idx="60">
                  <c:v>-3</c:v>
                </c:pt>
                <c:pt idx="61">
                  <c:v>-2.975</c:v>
                </c:pt>
                <c:pt idx="62">
                  <c:v>-2.95</c:v>
                </c:pt>
                <c:pt idx="63">
                  <c:v>-2.925</c:v>
                </c:pt>
                <c:pt idx="64">
                  <c:v>-2.9</c:v>
                </c:pt>
                <c:pt idx="65">
                  <c:v>-2.875</c:v>
                </c:pt>
                <c:pt idx="66">
                  <c:v>-2.85</c:v>
                </c:pt>
                <c:pt idx="67">
                  <c:v>-2.825</c:v>
                </c:pt>
                <c:pt idx="68">
                  <c:v>-2.8</c:v>
                </c:pt>
                <c:pt idx="69">
                  <c:v>-2.775</c:v>
                </c:pt>
                <c:pt idx="70">
                  <c:v>-2.75</c:v>
                </c:pt>
                <c:pt idx="71">
                  <c:v>-2.725</c:v>
                </c:pt>
                <c:pt idx="72">
                  <c:v>-2.7</c:v>
                </c:pt>
                <c:pt idx="73">
                  <c:v>-2.675</c:v>
                </c:pt>
                <c:pt idx="74">
                  <c:v>-2.65</c:v>
                </c:pt>
                <c:pt idx="75">
                  <c:v>-2.625</c:v>
                </c:pt>
                <c:pt idx="76">
                  <c:v>-2.6</c:v>
                </c:pt>
                <c:pt idx="77">
                  <c:v>-2.575</c:v>
                </c:pt>
                <c:pt idx="78">
                  <c:v>-2.55</c:v>
                </c:pt>
                <c:pt idx="79">
                  <c:v>-2.525</c:v>
                </c:pt>
                <c:pt idx="80">
                  <c:v>-2.5</c:v>
                </c:pt>
                <c:pt idx="81">
                  <c:v>-2.475</c:v>
                </c:pt>
                <c:pt idx="82">
                  <c:v>-2.45</c:v>
                </c:pt>
                <c:pt idx="83">
                  <c:v>-2.425</c:v>
                </c:pt>
                <c:pt idx="84">
                  <c:v>-2.4</c:v>
                </c:pt>
                <c:pt idx="85">
                  <c:v>-2.375</c:v>
                </c:pt>
                <c:pt idx="86">
                  <c:v>-2.35</c:v>
                </c:pt>
                <c:pt idx="87">
                  <c:v>-2.325</c:v>
                </c:pt>
                <c:pt idx="88">
                  <c:v>-2.3</c:v>
                </c:pt>
                <c:pt idx="89">
                  <c:v>-2.275</c:v>
                </c:pt>
                <c:pt idx="90">
                  <c:v>-2.25</c:v>
                </c:pt>
                <c:pt idx="91">
                  <c:v>-2.225</c:v>
                </c:pt>
                <c:pt idx="92">
                  <c:v>-2.2</c:v>
                </c:pt>
                <c:pt idx="93">
                  <c:v>-2.175</c:v>
                </c:pt>
                <c:pt idx="94">
                  <c:v>-2.15</c:v>
                </c:pt>
                <c:pt idx="95">
                  <c:v>-2.125</c:v>
                </c:pt>
                <c:pt idx="96">
                  <c:v>-2.1</c:v>
                </c:pt>
                <c:pt idx="97">
                  <c:v>-2.075</c:v>
                </c:pt>
                <c:pt idx="98">
                  <c:v>-2.05</c:v>
                </c:pt>
                <c:pt idx="99">
                  <c:v>-2.025</c:v>
                </c:pt>
                <c:pt idx="100">
                  <c:v>-2</c:v>
                </c:pt>
                <c:pt idx="101">
                  <c:v>-1.975</c:v>
                </c:pt>
                <c:pt idx="102">
                  <c:v>-1.95</c:v>
                </c:pt>
                <c:pt idx="103">
                  <c:v>-1.925</c:v>
                </c:pt>
                <c:pt idx="104">
                  <c:v>-1.9</c:v>
                </c:pt>
                <c:pt idx="105">
                  <c:v>-1.875</c:v>
                </c:pt>
                <c:pt idx="106">
                  <c:v>-1.85</c:v>
                </c:pt>
                <c:pt idx="107">
                  <c:v>-1.825</c:v>
                </c:pt>
                <c:pt idx="108">
                  <c:v>-1.8</c:v>
                </c:pt>
                <c:pt idx="109">
                  <c:v>-1.775</c:v>
                </c:pt>
                <c:pt idx="110">
                  <c:v>-1.75</c:v>
                </c:pt>
                <c:pt idx="111">
                  <c:v>-1.725</c:v>
                </c:pt>
                <c:pt idx="112">
                  <c:v>-1.7</c:v>
                </c:pt>
                <c:pt idx="113">
                  <c:v>-1.675</c:v>
                </c:pt>
                <c:pt idx="114">
                  <c:v>-1.65</c:v>
                </c:pt>
                <c:pt idx="115">
                  <c:v>-1.625</c:v>
                </c:pt>
                <c:pt idx="116">
                  <c:v>-1.6</c:v>
                </c:pt>
                <c:pt idx="117">
                  <c:v>-1.575</c:v>
                </c:pt>
                <c:pt idx="118">
                  <c:v>-1.55</c:v>
                </c:pt>
                <c:pt idx="119">
                  <c:v>-1.525</c:v>
                </c:pt>
                <c:pt idx="120">
                  <c:v>-1.5</c:v>
                </c:pt>
                <c:pt idx="121">
                  <c:v>-1.475</c:v>
                </c:pt>
                <c:pt idx="122">
                  <c:v>-1.45</c:v>
                </c:pt>
                <c:pt idx="123">
                  <c:v>-1.425</c:v>
                </c:pt>
                <c:pt idx="124">
                  <c:v>-1.4</c:v>
                </c:pt>
                <c:pt idx="125">
                  <c:v>-1.375</c:v>
                </c:pt>
                <c:pt idx="126">
                  <c:v>-1.35</c:v>
                </c:pt>
                <c:pt idx="127">
                  <c:v>-1.325</c:v>
                </c:pt>
                <c:pt idx="128">
                  <c:v>-1.3</c:v>
                </c:pt>
                <c:pt idx="129">
                  <c:v>-1.275</c:v>
                </c:pt>
                <c:pt idx="130">
                  <c:v>-1.25</c:v>
                </c:pt>
                <c:pt idx="131">
                  <c:v>-1.225</c:v>
                </c:pt>
                <c:pt idx="132">
                  <c:v>-1.2</c:v>
                </c:pt>
                <c:pt idx="133">
                  <c:v>-1.175</c:v>
                </c:pt>
                <c:pt idx="134">
                  <c:v>-1.15</c:v>
                </c:pt>
                <c:pt idx="135">
                  <c:v>-1.125</c:v>
                </c:pt>
                <c:pt idx="136">
                  <c:v>-1.1</c:v>
                </c:pt>
                <c:pt idx="137">
                  <c:v>-1.075</c:v>
                </c:pt>
                <c:pt idx="138">
                  <c:v>-1.05</c:v>
                </c:pt>
                <c:pt idx="139">
                  <c:v>-1.025</c:v>
                </c:pt>
                <c:pt idx="140">
                  <c:v>-1</c:v>
                </c:pt>
                <c:pt idx="141">
                  <c:v>-0.975</c:v>
                </c:pt>
                <c:pt idx="142">
                  <c:v>-0.95</c:v>
                </c:pt>
                <c:pt idx="143">
                  <c:v>-0.925</c:v>
                </c:pt>
                <c:pt idx="144">
                  <c:v>-0.9</c:v>
                </c:pt>
                <c:pt idx="145">
                  <c:v>-0.875</c:v>
                </c:pt>
                <c:pt idx="146">
                  <c:v>-0.85</c:v>
                </c:pt>
                <c:pt idx="147">
                  <c:v>-0.825</c:v>
                </c:pt>
                <c:pt idx="148">
                  <c:v>-0.8</c:v>
                </c:pt>
                <c:pt idx="149">
                  <c:v>-0.775</c:v>
                </c:pt>
                <c:pt idx="150">
                  <c:v>-0.75</c:v>
                </c:pt>
                <c:pt idx="151">
                  <c:v>-0.725</c:v>
                </c:pt>
                <c:pt idx="152">
                  <c:v>-0.7</c:v>
                </c:pt>
                <c:pt idx="153">
                  <c:v>-0.675</c:v>
                </c:pt>
                <c:pt idx="154">
                  <c:v>-0.65</c:v>
                </c:pt>
                <c:pt idx="155">
                  <c:v>-0.625</c:v>
                </c:pt>
                <c:pt idx="156">
                  <c:v>-0.6</c:v>
                </c:pt>
                <c:pt idx="157">
                  <c:v>-0.575</c:v>
                </c:pt>
                <c:pt idx="158">
                  <c:v>-0.55</c:v>
                </c:pt>
                <c:pt idx="159">
                  <c:v>-0.525</c:v>
                </c:pt>
                <c:pt idx="160">
                  <c:v>-0.5</c:v>
                </c:pt>
                <c:pt idx="161">
                  <c:v>-0.475</c:v>
                </c:pt>
                <c:pt idx="162">
                  <c:v>-0.45</c:v>
                </c:pt>
                <c:pt idx="163">
                  <c:v>-0.425</c:v>
                </c:pt>
                <c:pt idx="164">
                  <c:v>-0.4</c:v>
                </c:pt>
                <c:pt idx="165">
                  <c:v>-0.375</c:v>
                </c:pt>
                <c:pt idx="166">
                  <c:v>-0.35</c:v>
                </c:pt>
                <c:pt idx="167">
                  <c:v>-0.325</c:v>
                </c:pt>
                <c:pt idx="168">
                  <c:v>-0.3</c:v>
                </c:pt>
                <c:pt idx="169">
                  <c:v>-0.275</c:v>
                </c:pt>
                <c:pt idx="170">
                  <c:v>-0.25</c:v>
                </c:pt>
                <c:pt idx="171">
                  <c:v>-0.225</c:v>
                </c:pt>
                <c:pt idx="172">
                  <c:v>-0.2</c:v>
                </c:pt>
                <c:pt idx="173">
                  <c:v>-0.175</c:v>
                </c:pt>
                <c:pt idx="174">
                  <c:v>-0.15</c:v>
                </c:pt>
                <c:pt idx="175">
                  <c:v>-0.125</c:v>
                </c:pt>
                <c:pt idx="176">
                  <c:v>-0.1</c:v>
                </c:pt>
                <c:pt idx="177">
                  <c:v>-0.075</c:v>
                </c:pt>
                <c:pt idx="178">
                  <c:v>-0.05</c:v>
                </c:pt>
                <c:pt idx="179">
                  <c:v>-0.025</c:v>
                </c:pt>
                <c:pt idx="180">
                  <c:v>0</c:v>
                </c:pt>
                <c:pt idx="181">
                  <c:v>0.025</c:v>
                </c:pt>
                <c:pt idx="182">
                  <c:v>0.05</c:v>
                </c:pt>
                <c:pt idx="183">
                  <c:v>0.075</c:v>
                </c:pt>
                <c:pt idx="184">
                  <c:v>0.1</c:v>
                </c:pt>
                <c:pt idx="185">
                  <c:v>0.125</c:v>
                </c:pt>
                <c:pt idx="186">
                  <c:v>0.15</c:v>
                </c:pt>
                <c:pt idx="187">
                  <c:v>0.175</c:v>
                </c:pt>
                <c:pt idx="188">
                  <c:v>0.2</c:v>
                </c:pt>
                <c:pt idx="189">
                  <c:v>0.225</c:v>
                </c:pt>
                <c:pt idx="190">
                  <c:v>0.25</c:v>
                </c:pt>
                <c:pt idx="191">
                  <c:v>0.275</c:v>
                </c:pt>
                <c:pt idx="192">
                  <c:v>0.3</c:v>
                </c:pt>
                <c:pt idx="193">
                  <c:v>0.325</c:v>
                </c:pt>
                <c:pt idx="194">
                  <c:v>0.35</c:v>
                </c:pt>
                <c:pt idx="195">
                  <c:v>0.375</c:v>
                </c:pt>
                <c:pt idx="196">
                  <c:v>0.4</c:v>
                </c:pt>
                <c:pt idx="197">
                  <c:v>0.425</c:v>
                </c:pt>
                <c:pt idx="198">
                  <c:v>0.45</c:v>
                </c:pt>
                <c:pt idx="199">
                  <c:v>0.475</c:v>
                </c:pt>
                <c:pt idx="200">
                  <c:v>0.5</c:v>
                </c:pt>
                <c:pt idx="201">
                  <c:v>0.525</c:v>
                </c:pt>
                <c:pt idx="202">
                  <c:v>0.55</c:v>
                </c:pt>
                <c:pt idx="203">
                  <c:v>0.575</c:v>
                </c:pt>
                <c:pt idx="204">
                  <c:v>0.6</c:v>
                </c:pt>
                <c:pt idx="205">
                  <c:v>0.625</c:v>
                </c:pt>
                <c:pt idx="206">
                  <c:v>0.65</c:v>
                </c:pt>
                <c:pt idx="207">
                  <c:v>0.675</c:v>
                </c:pt>
                <c:pt idx="208">
                  <c:v>0.7</c:v>
                </c:pt>
                <c:pt idx="209">
                  <c:v>0.725</c:v>
                </c:pt>
                <c:pt idx="210">
                  <c:v>0.75</c:v>
                </c:pt>
                <c:pt idx="211">
                  <c:v>0.775</c:v>
                </c:pt>
                <c:pt idx="212">
                  <c:v>0.8</c:v>
                </c:pt>
                <c:pt idx="213">
                  <c:v>0.825</c:v>
                </c:pt>
                <c:pt idx="214">
                  <c:v>0.85</c:v>
                </c:pt>
                <c:pt idx="215">
                  <c:v>0.875</c:v>
                </c:pt>
                <c:pt idx="216">
                  <c:v>0.9</c:v>
                </c:pt>
                <c:pt idx="217">
                  <c:v>0.925</c:v>
                </c:pt>
                <c:pt idx="218">
                  <c:v>0.95</c:v>
                </c:pt>
                <c:pt idx="219">
                  <c:v>0.975</c:v>
                </c:pt>
                <c:pt idx="220">
                  <c:v>1</c:v>
                </c:pt>
                <c:pt idx="221">
                  <c:v>1.025</c:v>
                </c:pt>
                <c:pt idx="222">
                  <c:v>1.05</c:v>
                </c:pt>
                <c:pt idx="223">
                  <c:v>1.075</c:v>
                </c:pt>
                <c:pt idx="224">
                  <c:v>1.1</c:v>
                </c:pt>
                <c:pt idx="225">
                  <c:v>1.125</c:v>
                </c:pt>
                <c:pt idx="226">
                  <c:v>1.15</c:v>
                </c:pt>
                <c:pt idx="227">
                  <c:v>1.175</c:v>
                </c:pt>
                <c:pt idx="228">
                  <c:v>1.2</c:v>
                </c:pt>
                <c:pt idx="229">
                  <c:v>1.225</c:v>
                </c:pt>
                <c:pt idx="230">
                  <c:v>1.25</c:v>
                </c:pt>
                <c:pt idx="231">
                  <c:v>1.275</c:v>
                </c:pt>
                <c:pt idx="232">
                  <c:v>1.3</c:v>
                </c:pt>
                <c:pt idx="233">
                  <c:v>1.325</c:v>
                </c:pt>
                <c:pt idx="234">
                  <c:v>1.35</c:v>
                </c:pt>
                <c:pt idx="235">
                  <c:v>1.375</c:v>
                </c:pt>
                <c:pt idx="236">
                  <c:v>1.4</c:v>
                </c:pt>
                <c:pt idx="237">
                  <c:v>1.425</c:v>
                </c:pt>
                <c:pt idx="238">
                  <c:v>1.45</c:v>
                </c:pt>
                <c:pt idx="239">
                  <c:v>1.475</c:v>
                </c:pt>
                <c:pt idx="240">
                  <c:v>1.5</c:v>
                </c:pt>
                <c:pt idx="241">
                  <c:v>1.525</c:v>
                </c:pt>
                <c:pt idx="242">
                  <c:v>1.55</c:v>
                </c:pt>
                <c:pt idx="243">
                  <c:v>1.575</c:v>
                </c:pt>
                <c:pt idx="244">
                  <c:v>1.6</c:v>
                </c:pt>
                <c:pt idx="245">
                  <c:v>1.625</c:v>
                </c:pt>
                <c:pt idx="246">
                  <c:v>1.65</c:v>
                </c:pt>
                <c:pt idx="247">
                  <c:v>1.675</c:v>
                </c:pt>
                <c:pt idx="248">
                  <c:v>1.7</c:v>
                </c:pt>
                <c:pt idx="249">
                  <c:v>1.725</c:v>
                </c:pt>
                <c:pt idx="250">
                  <c:v>1.75</c:v>
                </c:pt>
                <c:pt idx="251">
                  <c:v>1.775</c:v>
                </c:pt>
                <c:pt idx="252">
                  <c:v>1.8</c:v>
                </c:pt>
                <c:pt idx="253">
                  <c:v>1.825</c:v>
                </c:pt>
                <c:pt idx="254">
                  <c:v>1.85</c:v>
                </c:pt>
                <c:pt idx="255">
                  <c:v>1.875</c:v>
                </c:pt>
                <c:pt idx="256">
                  <c:v>1.9</c:v>
                </c:pt>
                <c:pt idx="257">
                  <c:v>1.925</c:v>
                </c:pt>
                <c:pt idx="258">
                  <c:v>1.95</c:v>
                </c:pt>
                <c:pt idx="259">
                  <c:v>1.975</c:v>
                </c:pt>
                <c:pt idx="260">
                  <c:v>2</c:v>
                </c:pt>
                <c:pt idx="261">
                  <c:v>2.025</c:v>
                </c:pt>
                <c:pt idx="262">
                  <c:v>2.05</c:v>
                </c:pt>
                <c:pt idx="263">
                  <c:v>2.075</c:v>
                </c:pt>
                <c:pt idx="264">
                  <c:v>2.1</c:v>
                </c:pt>
                <c:pt idx="265">
                  <c:v>2.125</c:v>
                </c:pt>
                <c:pt idx="266">
                  <c:v>2.15</c:v>
                </c:pt>
                <c:pt idx="267">
                  <c:v>2.175</c:v>
                </c:pt>
                <c:pt idx="268">
                  <c:v>2.2</c:v>
                </c:pt>
                <c:pt idx="269">
                  <c:v>2.225</c:v>
                </c:pt>
                <c:pt idx="270">
                  <c:v>2.25</c:v>
                </c:pt>
                <c:pt idx="271">
                  <c:v>2.275</c:v>
                </c:pt>
                <c:pt idx="272">
                  <c:v>2.3</c:v>
                </c:pt>
                <c:pt idx="273">
                  <c:v>2.325</c:v>
                </c:pt>
                <c:pt idx="274">
                  <c:v>2.35</c:v>
                </c:pt>
                <c:pt idx="275">
                  <c:v>2.375</c:v>
                </c:pt>
                <c:pt idx="276">
                  <c:v>2.4</c:v>
                </c:pt>
                <c:pt idx="277">
                  <c:v>2.425</c:v>
                </c:pt>
                <c:pt idx="278">
                  <c:v>2.45</c:v>
                </c:pt>
                <c:pt idx="279">
                  <c:v>2.475</c:v>
                </c:pt>
                <c:pt idx="280">
                  <c:v>2.5</c:v>
                </c:pt>
                <c:pt idx="281">
                  <c:v>2.525</c:v>
                </c:pt>
                <c:pt idx="282">
                  <c:v>2.55</c:v>
                </c:pt>
                <c:pt idx="283">
                  <c:v>2.575</c:v>
                </c:pt>
                <c:pt idx="284">
                  <c:v>2.6</c:v>
                </c:pt>
                <c:pt idx="285">
                  <c:v>2.625</c:v>
                </c:pt>
                <c:pt idx="286">
                  <c:v>2.65</c:v>
                </c:pt>
                <c:pt idx="287">
                  <c:v>2.675</c:v>
                </c:pt>
                <c:pt idx="288">
                  <c:v>2.7</c:v>
                </c:pt>
                <c:pt idx="289">
                  <c:v>2.725</c:v>
                </c:pt>
                <c:pt idx="290">
                  <c:v>2.75</c:v>
                </c:pt>
                <c:pt idx="291">
                  <c:v>2.775</c:v>
                </c:pt>
                <c:pt idx="292">
                  <c:v>2.8</c:v>
                </c:pt>
                <c:pt idx="293">
                  <c:v>2.825</c:v>
                </c:pt>
                <c:pt idx="294">
                  <c:v>2.85</c:v>
                </c:pt>
                <c:pt idx="295">
                  <c:v>2.875</c:v>
                </c:pt>
                <c:pt idx="296">
                  <c:v>2.9</c:v>
                </c:pt>
                <c:pt idx="297">
                  <c:v>2.925</c:v>
                </c:pt>
                <c:pt idx="298">
                  <c:v>2.95</c:v>
                </c:pt>
                <c:pt idx="299">
                  <c:v>2.975</c:v>
                </c:pt>
                <c:pt idx="300">
                  <c:v>3</c:v>
                </c:pt>
                <c:pt idx="301">
                  <c:v>3.025</c:v>
                </c:pt>
                <c:pt idx="302">
                  <c:v>3.05</c:v>
                </c:pt>
                <c:pt idx="303">
                  <c:v>3.075</c:v>
                </c:pt>
                <c:pt idx="304">
                  <c:v>3.1</c:v>
                </c:pt>
                <c:pt idx="305">
                  <c:v>3.125</c:v>
                </c:pt>
                <c:pt idx="306">
                  <c:v>3.15</c:v>
                </c:pt>
                <c:pt idx="307">
                  <c:v>3.175</c:v>
                </c:pt>
                <c:pt idx="308">
                  <c:v>3.2</c:v>
                </c:pt>
                <c:pt idx="309">
                  <c:v>3.225</c:v>
                </c:pt>
                <c:pt idx="310">
                  <c:v>3.25</c:v>
                </c:pt>
                <c:pt idx="311">
                  <c:v>3.275</c:v>
                </c:pt>
                <c:pt idx="312">
                  <c:v>3.3</c:v>
                </c:pt>
                <c:pt idx="313">
                  <c:v>3.325</c:v>
                </c:pt>
                <c:pt idx="314">
                  <c:v>3.35</c:v>
                </c:pt>
                <c:pt idx="315">
                  <c:v>3.375</c:v>
                </c:pt>
                <c:pt idx="316">
                  <c:v>3.4</c:v>
                </c:pt>
                <c:pt idx="317">
                  <c:v>3.425</c:v>
                </c:pt>
                <c:pt idx="318">
                  <c:v>3.45</c:v>
                </c:pt>
                <c:pt idx="319">
                  <c:v>3.475</c:v>
                </c:pt>
                <c:pt idx="320">
                  <c:v>3.5</c:v>
                </c:pt>
                <c:pt idx="321">
                  <c:v>3.525</c:v>
                </c:pt>
                <c:pt idx="322">
                  <c:v>3.55</c:v>
                </c:pt>
                <c:pt idx="323">
                  <c:v>3.575</c:v>
                </c:pt>
                <c:pt idx="324">
                  <c:v>3.6</c:v>
                </c:pt>
                <c:pt idx="325">
                  <c:v>3.625</c:v>
                </c:pt>
                <c:pt idx="326">
                  <c:v>3.65</c:v>
                </c:pt>
                <c:pt idx="327">
                  <c:v>3.675</c:v>
                </c:pt>
                <c:pt idx="328">
                  <c:v>3.7</c:v>
                </c:pt>
                <c:pt idx="329">
                  <c:v>3.725</c:v>
                </c:pt>
                <c:pt idx="330">
                  <c:v>3.75</c:v>
                </c:pt>
                <c:pt idx="331">
                  <c:v>3.775</c:v>
                </c:pt>
                <c:pt idx="332">
                  <c:v>3.8</c:v>
                </c:pt>
                <c:pt idx="333">
                  <c:v>3.825</c:v>
                </c:pt>
                <c:pt idx="334">
                  <c:v>3.85</c:v>
                </c:pt>
                <c:pt idx="335">
                  <c:v>3.875</c:v>
                </c:pt>
                <c:pt idx="336">
                  <c:v>3.9</c:v>
                </c:pt>
                <c:pt idx="337">
                  <c:v>3.925</c:v>
                </c:pt>
                <c:pt idx="338">
                  <c:v>3.95</c:v>
                </c:pt>
                <c:pt idx="339">
                  <c:v>3.975</c:v>
                </c:pt>
                <c:pt idx="340">
                  <c:v>4</c:v>
                </c:pt>
                <c:pt idx="341">
                  <c:v>4.025</c:v>
                </c:pt>
                <c:pt idx="342">
                  <c:v>4.05</c:v>
                </c:pt>
                <c:pt idx="343">
                  <c:v>4.075</c:v>
                </c:pt>
                <c:pt idx="344">
                  <c:v>4.1</c:v>
                </c:pt>
                <c:pt idx="345">
                  <c:v>4.125</c:v>
                </c:pt>
                <c:pt idx="346">
                  <c:v>4.15</c:v>
                </c:pt>
                <c:pt idx="347">
                  <c:v>4.175</c:v>
                </c:pt>
                <c:pt idx="348">
                  <c:v>4.2</c:v>
                </c:pt>
                <c:pt idx="349">
                  <c:v>4.225</c:v>
                </c:pt>
                <c:pt idx="350">
                  <c:v>4.25</c:v>
                </c:pt>
                <c:pt idx="351">
                  <c:v>4.275</c:v>
                </c:pt>
                <c:pt idx="352">
                  <c:v>4.3</c:v>
                </c:pt>
                <c:pt idx="353">
                  <c:v>4.325</c:v>
                </c:pt>
                <c:pt idx="354">
                  <c:v>4.35</c:v>
                </c:pt>
                <c:pt idx="355">
                  <c:v>4.375</c:v>
                </c:pt>
                <c:pt idx="356">
                  <c:v>4.4</c:v>
                </c:pt>
                <c:pt idx="357">
                  <c:v>4.425</c:v>
                </c:pt>
                <c:pt idx="358">
                  <c:v>4.45</c:v>
                </c:pt>
                <c:pt idx="359">
                  <c:v>4.475</c:v>
                </c:pt>
                <c:pt idx="360">
                  <c:v>4.5</c:v>
                </c:pt>
              </c:numCache>
            </c:numRef>
          </c:xVal>
          <c:yVal>
            <c:numRef>
              <c:f>'Chart Data'!$B$2:$B$362</c:f>
              <c:numCache>
                <c:formatCode>General</c:formatCode>
                <c:ptCount val="361"/>
                <c:pt idx="0">
                  <c:v>1.05296671847266</c:v>
                </c:pt>
                <c:pt idx="1">
                  <c:v>1.03939733960131</c:v>
                </c:pt>
                <c:pt idx="2">
                  <c:v>1.02602046845101</c:v>
                </c:pt>
                <c:pt idx="3">
                  <c:v>1.01283789972669</c:v>
                </c:pt>
                <c:pt idx="4">
                  <c:v>0.999851404553903</c:v>
                </c:pt>
                <c:pt idx="5">
                  <c:v>0.987062729614779</c:v>
                </c:pt>
                <c:pt idx="6">
                  <c:v>0.974473596313619</c:v>
                </c:pt>
                <c:pt idx="7">
                  <c:v>0.962085699973652</c:v>
                </c:pt>
                <c:pt idx="8">
                  <c:v>0.94990070906649</c:v>
                </c:pt>
                <c:pt idx="9">
                  <c:v>0.937920264475669</c:v>
                </c:pt>
                <c:pt idx="10">
                  <c:v>0.926145978795591</c:v>
                </c:pt>
                <c:pt idx="11">
                  <c:v>0.914579435667031</c:v>
                </c:pt>
                <c:pt idx="12">
                  <c:v>0.903222189150288</c:v>
                </c:pt>
                <c:pt idx="13">
                  <c:v>0.892075763136885</c:v>
                </c:pt>
                <c:pt idx="14">
                  <c:v>0.881141650800641</c:v>
                </c:pt>
                <c:pt idx="15">
                  <c:v>0.870421314088738</c:v>
                </c:pt>
                <c:pt idx="16">
                  <c:v>0.859916183253326</c:v>
                </c:pt>
                <c:pt idx="17">
                  <c:v>0.849627656423995</c:v>
                </c:pt>
                <c:pt idx="18">
                  <c:v>0.839557099221348</c:v>
                </c:pt>
                <c:pt idx="19">
                  <c:v>0.829705844411717</c:v>
                </c:pt>
                <c:pt idx="20">
                  <c:v>0.820075191602918</c:v>
                </c:pt>
                <c:pt idx="21">
                  <c:v>0.810666406980799</c:v>
                </c:pt>
                <c:pt idx="22">
                  <c:v>0.801480723086154</c:v>
                </c:pt>
                <c:pt idx="23">
                  <c:v>0.792519338631432</c:v>
                </c:pt>
                <c:pt idx="24">
                  <c:v>0.783783418356531</c:v>
                </c:pt>
                <c:pt idx="25">
                  <c:v>0.775274092922771</c:v>
                </c:pt>
                <c:pt idx="26">
                  <c:v>0.766992458844042</c:v>
                </c:pt>
                <c:pt idx="27">
                  <c:v>0.758939578453955</c:v>
                </c:pt>
                <c:pt idx="28">
                  <c:v>0.751116479907666</c:v>
                </c:pt>
                <c:pt idx="29">
                  <c:v>0.743524157216947</c:v>
                </c:pt>
                <c:pt idx="30">
                  <c:v>0.736163570316931</c:v>
                </c:pt>
                <c:pt idx="31">
                  <c:v>0.729035645162822</c:v>
                </c:pt>
                <c:pt idx="32">
                  <c:v>0.722141273854793</c:v>
                </c:pt>
                <c:pt idx="33">
                  <c:v>0.71548131478914</c:v>
                </c:pt>
                <c:pt idx="34">
                  <c:v>0.709056592833709</c:v>
                </c:pt>
                <c:pt idx="35">
                  <c:v>0.702867899525499</c:v>
                </c:pt>
                <c:pt idx="36">
                  <c:v>0.696915993288291</c:v>
                </c:pt>
                <c:pt idx="37">
                  <c:v>0.691201599668081</c:v>
                </c:pt>
                <c:pt idx="38">
                  <c:v>0.685725411584034</c:v>
                </c:pt>
                <c:pt idx="39">
                  <c:v>0.680488089592659</c:v>
                </c:pt>
                <c:pt idx="40">
                  <c:v>0.675490262162859</c:v>
                </c:pt>
                <c:pt idx="41">
                  <c:v>0.670732525959494</c:v>
                </c:pt>
                <c:pt idx="42">
                  <c:v>0.666215446133097</c:v>
                </c:pt>
                <c:pt idx="43">
                  <c:v>0.661939556613404</c:v>
                </c:pt>
                <c:pt idx="44">
                  <c:v>0.657905360404336</c:v>
                </c:pt>
                <c:pt idx="45">
                  <c:v>0.654113329878167</c:v>
                </c:pt>
                <c:pt idx="46">
                  <c:v>0.650563907066591</c:v>
                </c:pt>
                <c:pt idx="47">
                  <c:v>0.647257503946519</c:v>
                </c:pt>
                <c:pt idx="48">
                  <c:v>0.64419450271845</c:v>
                </c:pt>
                <c:pt idx="49">
                  <c:v>0.641375256075378</c:v>
                </c:pt>
                <c:pt idx="50">
                  <c:v>0.638800087460273</c:v>
                </c:pt>
                <c:pt idx="51">
                  <c:v>0.636469291310267</c:v>
                </c:pt>
                <c:pt idx="52">
                  <c:v>0.634383133285809</c:v>
                </c:pt>
                <c:pt idx="53">
                  <c:v>0.632541850483139</c:v>
                </c:pt>
                <c:pt idx="54">
                  <c:v>0.630945651628594</c:v>
                </c:pt>
                <c:pt idx="55">
                  <c:v>0.62959471725337</c:v>
                </c:pt>
                <c:pt idx="56">
                  <c:v>0.628489199847519</c:v>
                </c:pt>
                <c:pt idx="57">
                  <c:v>0.627629223992102</c:v>
                </c:pt>
                <c:pt idx="58">
                  <c:v>0.627014886468595</c:v>
                </c:pt>
                <c:pt idx="59">
                  <c:v>0.626646256344766</c:v>
                </c:pt>
                <c:pt idx="60">
                  <c:v>0.626523375036446</c:v>
                </c:pt>
                <c:pt idx="61">
                  <c:v>0.626646256344766</c:v>
                </c:pt>
                <c:pt idx="62">
                  <c:v>0.627014886468595</c:v>
                </c:pt>
                <c:pt idx="63">
                  <c:v>0.627629223992102</c:v>
                </c:pt>
                <c:pt idx="64">
                  <c:v>0.628489199847519</c:v>
                </c:pt>
                <c:pt idx="65">
                  <c:v>0.62959471725337</c:v>
                </c:pt>
                <c:pt idx="66">
                  <c:v>0.630945651628594</c:v>
                </c:pt>
                <c:pt idx="67">
                  <c:v>0.632541850483139</c:v>
                </c:pt>
                <c:pt idx="68">
                  <c:v>0.634383133285809</c:v>
                </c:pt>
                <c:pt idx="69">
                  <c:v>0.636469291310267</c:v>
                </c:pt>
                <c:pt idx="70">
                  <c:v>0.638800087460273</c:v>
                </c:pt>
                <c:pt idx="71">
                  <c:v>0.641375256075378</c:v>
                </c:pt>
                <c:pt idx="72">
                  <c:v>0.64419450271845</c:v>
                </c:pt>
                <c:pt idx="73">
                  <c:v>0.647257503946519</c:v>
                </c:pt>
                <c:pt idx="74">
                  <c:v>0.650563907066591</c:v>
                </c:pt>
                <c:pt idx="75">
                  <c:v>0.654113329878167</c:v>
                </c:pt>
                <c:pt idx="76">
                  <c:v>0.657905360404337</c:v>
                </c:pt>
                <c:pt idx="77">
                  <c:v>0.661939556613404</c:v>
                </c:pt>
                <c:pt idx="78">
                  <c:v>0.666215446133097</c:v>
                </c:pt>
                <c:pt idx="79">
                  <c:v>0.670732525959494</c:v>
                </c:pt>
                <c:pt idx="80">
                  <c:v>0.675490262162859</c:v>
                </c:pt>
                <c:pt idx="81">
                  <c:v>0.680488089592659</c:v>
                </c:pt>
                <c:pt idx="82">
                  <c:v>0.685725411584034</c:v>
                </c:pt>
                <c:pt idx="83">
                  <c:v>0.691201599668081</c:v>
                </c:pt>
                <c:pt idx="84">
                  <c:v>0.696915993288291</c:v>
                </c:pt>
                <c:pt idx="85">
                  <c:v>0.702867899525499</c:v>
                </c:pt>
                <c:pt idx="86">
                  <c:v>0.709056592833709</c:v>
                </c:pt>
                <c:pt idx="87">
                  <c:v>0.71548131478914</c:v>
                </c:pt>
                <c:pt idx="88">
                  <c:v>0.722141273854793</c:v>
                </c:pt>
                <c:pt idx="89">
                  <c:v>0.729035645162822</c:v>
                </c:pt>
                <c:pt idx="90">
                  <c:v>0.736163570316931</c:v>
                </c:pt>
                <c:pt idx="91">
                  <c:v>0.743524157216948</c:v>
                </c:pt>
                <c:pt idx="92">
                  <c:v>0.751116479907666</c:v>
                </c:pt>
                <c:pt idx="93">
                  <c:v>0.758939578453955</c:v>
                </c:pt>
                <c:pt idx="94">
                  <c:v>0.766992458844042</c:v>
                </c:pt>
                <c:pt idx="95">
                  <c:v>0.775274092922771</c:v>
                </c:pt>
                <c:pt idx="96">
                  <c:v>0.783783418356532</c:v>
                </c:pt>
                <c:pt idx="97">
                  <c:v>0.792519338631432</c:v>
                </c:pt>
                <c:pt idx="98">
                  <c:v>0.801480723086154</c:v>
                </c:pt>
                <c:pt idx="99">
                  <c:v>0.810666406980799</c:v>
                </c:pt>
                <c:pt idx="100">
                  <c:v>0.820075191602918</c:v>
                </c:pt>
                <c:pt idx="101">
                  <c:v>0.829705844411717</c:v>
                </c:pt>
                <c:pt idx="102">
                  <c:v>0.839557099221348</c:v>
                </c:pt>
                <c:pt idx="103">
                  <c:v>0.849627656423995</c:v>
                </c:pt>
                <c:pt idx="104">
                  <c:v>0.859916183253326</c:v>
                </c:pt>
                <c:pt idx="105">
                  <c:v>0.870421314088738</c:v>
                </c:pt>
                <c:pt idx="106">
                  <c:v>0.881141650800641</c:v>
                </c:pt>
                <c:pt idx="107">
                  <c:v>0.892075763136885</c:v>
                </c:pt>
                <c:pt idx="108">
                  <c:v>0.903222189150288</c:v>
                </c:pt>
                <c:pt idx="109">
                  <c:v>0.914579435667031</c:v>
                </c:pt>
                <c:pt idx="110">
                  <c:v>0.926145978795591</c:v>
                </c:pt>
                <c:pt idx="111">
                  <c:v>0.937920264475669</c:v>
                </c:pt>
                <c:pt idx="112">
                  <c:v>0.94990070906649</c:v>
                </c:pt>
                <c:pt idx="113">
                  <c:v>0.962085699973652</c:v>
                </c:pt>
                <c:pt idx="114">
                  <c:v>0.974473596313619</c:v>
                </c:pt>
                <c:pt idx="115">
                  <c:v>0.987062729614779</c:v>
                </c:pt>
                <c:pt idx="116">
                  <c:v>0.999851404553902</c:v>
                </c:pt>
                <c:pt idx="117">
                  <c:v>1.01283789972669</c:v>
                </c:pt>
                <c:pt idx="118">
                  <c:v>1.02602046845101</c:v>
                </c:pt>
                <c:pt idx="119">
                  <c:v>1.03939733960131</c:v>
                </c:pt>
                <c:pt idx="120">
                  <c:v>1.05296671847266</c:v>
                </c:pt>
                <c:pt idx="121">
                  <c:v>1.06672678767257</c:v>
                </c:pt>
                <c:pt idx="122">
                  <c:v>1.08067570803913</c:v>
                </c:pt>
                <c:pt idx="123">
                  <c:v>1.09481161958326</c:v>
                </c:pt>
                <c:pt idx="124">
                  <c:v>1.10913264245356</c:v>
                </c:pt>
                <c:pt idx="125">
                  <c:v>1.12363687792149</c:v>
                </c:pt>
                <c:pt idx="126">
                  <c:v>1.13832240938522</c:v>
                </c:pt>
                <c:pt idx="127">
                  <c:v>1.15318730338982</c:v>
                </c:pt>
                <c:pt idx="128">
                  <c:v>1.16822961066205</c:v>
                </c:pt>
                <c:pt idx="129">
                  <c:v>1.18344736715749</c:v>
                </c:pt>
                <c:pt idx="130">
                  <c:v>1.1988385951181</c:v>
                </c:pt>
                <c:pt idx="131">
                  <c:v>1.21440130413802</c:v>
                </c:pt>
                <c:pt idx="132">
                  <c:v>1.23013349223575</c:v>
                </c:pt>
                <c:pt idx="133">
                  <c:v>1.24603314693046</c:v>
                </c:pt>
                <c:pt idx="134">
                  <c:v>1.26209824632068</c:v>
                </c:pt>
                <c:pt idx="135">
                  <c:v>1.27832676016313</c:v>
                </c:pt>
                <c:pt idx="136">
                  <c:v>1.29471665095005</c:v>
                </c:pt>
                <c:pt idx="137">
                  <c:v>1.31126587498285</c:v>
                </c:pt>
                <c:pt idx="138">
                  <c:v>1.32797238344049</c:v>
                </c:pt>
                <c:pt idx="139">
                  <c:v>1.34483412344063</c:v>
                </c:pt>
                <c:pt idx="140">
                  <c:v>1.36184903909196</c:v>
                </c:pt>
                <c:pt idx="141">
                  <c:v>1.3813865791748</c:v>
                </c:pt>
                <c:pt idx="142">
                  <c:v>1.40107445620718</c:v>
                </c:pt>
                <c:pt idx="143">
                  <c:v>1.42091188978988</c:v>
                </c:pt>
                <c:pt idx="144">
                  <c:v>1.44089810133339</c:v>
                </c:pt>
                <c:pt idx="145">
                  <c:v>1.46103231540639</c:v>
                </c:pt>
                <c:pt idx="146">
                  <c:v>1.48131376106488</c:v>
                </c:pt>
                <c:pt idx="147">
                  <c:v>1.50174167316046</c:v>
                </c:pt>
                <c:pt idx="148">
                  <c:v>1.522315293626</c:v>
                </c:pt>
                <c:pt idx="149">
                  <c:v>1.5430338727372</c:v>
                </c:pt>
                <c:pt idx="150">
                  <c:v>1.56389667034857</c:v>
                </c:pt>
                <c:pt idx="151">
                  <c:v>1.58490295710242</c:v>
                </c:pt>
                <c:pt idx="152">
                  <c:v>1.60605201560958</c:v>
                </c:pt>
                <c:pt idx="153">
                  <c:v>1.62734314160063</c:v>
                </c:pt>
                <c:pt idx="154">
                  <c:v>1.64877564504638</c:v>
                </c:pt>
                <c:pt idx="155">
                  <c:v>1.67034885124662</c:v>
                </c:pt>
                <c:pt idx="156">
                  <c:v>1.69206210188612</c:v>
                </c:pt>
                <c:pt idx="157">
                  <c:v>1.71391475605684</c:v>
                </c:pt>
                <c:pt idx="158">
                  <c:v>1.73590619124555</c:v>
                </c:pt>
                <c:pt idx="159">
                  <c:v>1.75803580428608</c:v>
                </c:pt>
                <c:pt idx="160">
                  <c:v>1.7803030122753</c:v>
                </c:pt>
                <c:pt idx="161">
                  <c:v>1.80270725345232</c:v>
                </c:pt>
                <c:pt idx="162">
                  <c:v>1.82524798804013</c:v>
                </c:pt>
                <c:pt idx="163">
                  <c:v>1.84792469904917</c:v>
                </c:pt>
                <c:pt idx="164">
                  <c:v>1.87073689304229</c:v>
                </c:pt>
                <c:pt idx="165">
                  <c:v>1.8936841008606</c:v>
                </c:pt>
                <c:pt idx="166">
                  <c:v>1.91676587830977</c:v>
                </c:pt>
                <c:pt idx="167">
                  <c:v>1.93998180680644</c:v>
                </c:pt>
                <c:pt idx="168">
                  <c:v>1.96333149398423</c:v>
                </c:pt>
                <c:pt idx="169">
                  <c:v>1.98681457425929</c:v>
                </c:pt>
                <c:pt idx="170">
                  <c:v>2.01043070935483</c:v>
                </c:pt>
                <c:pt idx="171">
                  <c:v>2.03417958878457</c:v>
                </c:pt>
                <c:pt idx="172">
                  <c:v>2.05806093029477</c:v>
                </c:pt>
                <c:pt idx="173">
                  <c:v>2.08207448026475</c:v>
                </c:pt>
                <c:pt idx="174">
                  <c:v>2.10622001406562</c:v>
                </c:pt>
                <c:pt idx="175">
                  <c:v>2.13049733637717</c:v>
                </c:pt>
                <c:pt idx="176">
                  <c:v>2.15490628146272</c:v>
                </c:pt>
                <c:pt idx="177">
                  <c:v>2.17944671340184</c:v>
                </c:pt>
                <c:pt idx="178">
                  <c:v>2.20411852628093</c:v>
                </c:pt>
                <c:pt idx="179">
                  <c:v>2.22892164434147</c:v>
                </c:pt>
                <c:pt idx="180">
                  <c:v>2.25385602208595</c:v>
                </c:pt>
                <c:pt idx="181">
                  <c:v>2.27892164434147</c:v>
                </c:pt>
                <c:pt idx="182">
                  <c:v>2.30411852628093</c:v>
                </c:pt>
                <c:pt idx="183">
                  <c:v>2.32944671340184</c:v>
                </c:pt>
                <c:pt idx="184">
                  <c:v>2.35490628146272</c:v>
                </c:pt>
                <c:pt idx="185">
                  <c:v>2.38049733637717</c:v>
                </c:pt>
                <c:pt idx="186">
                  <c:v>2.40622001406562</c:v>
                </c:pt>
                <c:pt idx="187">
                  <c:v>2.43207448026475</c:v>
                </c:pt>
                <c:pt idx="188">
                  <c:v>2.45806093029477</c:v>
                </c:pt>
                <c:pt idx="189">
                  <c:v>2.48417958878457</c:v>
                </c:pt>
                <c:pt idx="190">
                  <c:v>2.51043070935483</c:v>
                </c:pt>
                <c:pt idx="191">
                  <c:v>2.53681457425929</c:v>
                </c:pt>
                <c:pt idx="192">
                  <c:v>2.56333149398423</c:v>
                </c:pt>
                <c:pt idx="193">
                  <c:v>2.58998180680644</c:v>
                </c:pt>
                <c:pt idx="194">
                  <c:v>2.61676587830977</c:v>
                </c:pt>
                <c:pt idx="195">
                  <c:v>2.6436841008606</c:v>
                </c:pt>
                <c:pt idx="196">
                  <c:v>2.67073689304229</c:v>
                </c:pt>
                <c:pt idx="197">
                  <c:v>2.69792469904917</c:v>
                </c:pt>
                <c:pt idx="198">
                  <c:v>2.72524798804013</c:v>
                </c:pt>
                <c:pt idx="199">
                  <c:v>2.75270725345232</c:v>
                </c:pt>
                <c:pt idx="200">
                  <c:v>2.7803030122753</c:v>
                </c:pt>
                <c:pt idx="201">
                  <c:v>2.80803580428608</c:v>
                </c:pt>
                <c:pt idx="202">
                  <c:v>2.83590619124555</c:v>
                </c:pt>
                <c:pt idx="203">
                  <c:v>2.86391475605684</c:v>
                </c:pt>
                <c:pt idx="204">
                  <c:v>2.89206210188612</c:v>
                </c:pt>
                <c:pt idx="205">
                  <c:v>2.92034885124662</c:v>
                </c:pt>
                <c:pt idx="206">
                  <c:v>2.94877564504638</c:v>
                </c:pt>
                <c:pt idx="207">
                  <c:v>2.97734314160063</c:v>
                </c:pt>
                <c:pt idx="208">
                  <c:v>3.00605201560958</c:v>
                </c:pt>
                <c:pt idx="209">
                  <c:v>3.03490295710242</c:v>
                </c:pt>
                <c:pt idx="210">
                  <c:v>3.06389667034857</c:v>
                </c:pt>
                <c:pt idx="211">
                  <c:v>3.0930338727372</c:v>
                </c:pt>
                <c:pt idx="212">
                  <c:v>3.122315293626</c:v>
                </c:pt>
                <c:pt idx="213">
                  <c:v>3.15174167316046</c:v>
                </c:pt>
                <c:pt idx="214">
                  <c:v>3.18131376106488</c:v>
                </c:pt>
                <c:pt idx="215">
                  <c:v>3.21103231540639</c:v>
                </c:pt>
                <c:pt idx="216">
                  <c:v>3.24089810133339</c:v>
                </c:pt>
                <c:pt idx="217">
                  <c:v>3.27091188978988</c:v>
                </c:pt>
                <c:pt idx="218">
                  <c:v>3.30107445620718</c:v>
                </c:pt>
                <c:pt idx="219">
                  <c:v>3.3313865791748</c:v>
                </c:pt>
                <c:pt idx="220">
                  <c:v>3.36184903909197</c:v>
                </c:pt>
                <c:pt idx="221">
                  <c:v>3.34483412344063</c:v>
                </c:pt>
                <c:pt idx="222">
                  <c:v>3.32797238344049</c:v>
                </c:pt>
                <c:pt idx="223">
                  <c:v>3.31126587498285</c:v>
                </c:pt>
                <c:pt idx="224">
                  <c:v>3.29471665095005</c:v>
                </c:pt>
                <c:pt idx="225">
                  <c:v>3.27832676016313</c:v>
                </c:pt>
                <c:pt idx="226">
                  <c:v>3.26209824632068</c:v>
                </c:pt>
                <c:pt idx="227">
                  <c:v>3.24603314693046</c:v>
                </c:pt>
                <c:pt idx="228">
                  <c:v>3.23013349223575</c:v>
                </c:pt>
                <c:pt idx="229">
                  <c:v>3.21440130413802</c:v>
                </c:pt>
                <c:pt idx="230">
                  <c:v>3.1988385951181</c:v>
                </c:pt>
                <c:pt idx="231">
                  <c:v>3.18344736715749</c:v>
                </c:pt>
                <c:pt idx="232">
                  <c:v>3.16822961066205</c:v>
                </c:pt>
                <c:pt idx="233">
                  <c:v>3.15318730338982</c:v>
                </c:pt>
                <c:pt idx="234">
                  <c:v>3.13832240938522</c:v>
                </c:pt>
                <c:pt idx="235">
                  <c:v>3.12363687792149</c:v>
                </c:pt>
                <c:pt idx="236">
                  <c:v>3.10913264245356</c:v>
                </c:pt>
                <c:pt idx="237">
                  <c:v>3.09481161958326</c:v>
                </c:pt>
                <c:pt idx="238">
                  <c:v>3.08067570803913</c:v>
                </c:pt>
                <c:pt idx="239">
                  <c:v>3.06672678767257</c:v>
                </c:pt>
                <c:pt idx="240">
                  <c:v>3.05296671847266</c:v>
                </c:pt>
                <c:pt idx="241">
                  <c:v>3.03939733960131</c:v>
                </c:pt>
                <c:pt idx="242">
                  <c:v>3.02602046845101</c:v>
                </c:pt>
                <c:pt idx="243">
                  <c:v>3.01283789972669</c:v>
                </c:pt>
                <c:pt idx="244">
                  <c:v>2.9998514045539</c:v>
                </c:pt>
                <c:pt idx="245">
                  <c:v>2.98706272961478</c:v>
                </c:pt>
                <c:pt idx="246">
                  <c:v>2.97447359631362</c:v>
                </c:pt>
                <c:pt idx="247">
                  <c:v>2.96208569997365</c:v>
                </c:pt>
                <c:pt idx="248">
                  <c:v>2.94990070906649</c:v>
                </c:pt>
                <c:pt idx="249">
                  <c:v>2.93792026447567</c:v>
                </c:pt>
                <c:pt idx="250">
                  <c:v>2.92614597879559</c:v>
                </c:pt>
                <c:pt idx="251">
                  <c:v>2.91457943566703</c:v>
                </c:pt>
                <c:pt idx="252">
                  <c:v>2.90322218915029</c:v>
                </c:pt>
                <c:pt idx="253">
                  <c:v>2.89207576313689</c:v>
                </c:pt>
                <c:pt idx="254">
                  <c:v>2.88114165080064</c:v>
                </c:pt>
                <c:pt idx="255">
                  <c:v>2.87042131408874</c:v>
                </c:pt>
                <c:pt idx="256">
                  <c:v>2.85991618325333</c:v>
                </c:pt>
                <c:pt idx="257">
                  <c:v>2.849627656424</c:v>
                </c:pt>
                <c:pt idx="258">
                  <c:v>2.83955709922135</c:v>
                </c:pt>
                <c:pt idx="259">
                  <c:v>2.82970584441172</c:v>
                </c:pt>
                <c:pt idx="260">
                  <c:v>2.82007519160292</c:v>
                </c:pt>
                <c:pt idx="261">
                  <c:v>2.8106664069808</c:v>
                </c:pt>
                <c:pt idx="262">
                  <c:v>2.80148072308615</c:v>
                </c:pt>
                <c:pt idx="263">
                  <c:v>2.79251933863143</c:v>
                </c:pt>
                <c:pt idx="264">
                  <c:v>2.78378341835653</c:v>
                </c:pt>
                <c:pt idx="265">
                  <c:v>2.77527409292277</c:v>
                </c:pt>
                <c:pt idx="266">
                  <c:v>2.76699245884404</c:v>
                </c:pt>
                <c:pt idx="267">
                  <c:v>2.75893957845396</c:v>
                </c:pt>
                <c:pt idx="268">
                  <c:v>2.75111647990767</c:v>
                </c:pt>
                <c:pt idx="269">
                  <c:v>2.74352415721695</c:v>
                </c:pt>
                <c:pt idx="270">
                  <c:v>2.73616357031693</c:v>
                </c:pt>
                <c:pt idx="271">
                  <c:v>2.72903564516282</c:v>
                </c:pt>
                <c:pt idx="272">
                  <c:v>2.72214127385479</c:v>
                </c:pt>
                <c:pt idx="273">
                  <c:v>2.71548131478914</c:v>
                </c:pt>
                <c:pt idx="274">
                  <c:v>2.70905659283371</c:v>
                </c:pt>
                <c:pt idx="275">
                  <c:v>2.7028678995255</c:v>
                </c:pt>
                <c:pt idx="276">
                  <c:v>2.69691599328829</c:v>
                </c:pt>
                <c:pt idx="277">
                  <c:v>2.69120159966808</c:v>
                </c:pt>
                <c:pt idx="278">
                  <c:v>2.68572541158403</c:v>
                </c:pt>
                <c:pt idx="279">
                  <c:v>2.68048808959266</c:v>
                </c:pt>
                <c:pt idx="280">
                  <c:v>2.67549026216286</c:v>
                </c:pt>
                <c:pt idx="281">
                  <c:v>2.67073252595949</c:v>
                </c:pt>
                <c:pt idx="282">
                  <c:v>2.6662154461331</c:v>
                </c:pt>
                <c:pt idx="283">
                  <c:v>2.6619395566134</c:v>
                </c:pt>
                <c:pt idx="284">
                  <c:v>2.65790536040434</c:v>
                </c:pt>
                <c:pt idx="285">
                  <c:v>2.65411332987817</c:v>
                </c:pt>
                <c:pt idx="286">
                  <c:v>2.65056390706659</c:v>
                </c:pt>
                <c:pt idx="287">
                  <c:v>2.64725750394652</c:v>
                </c:pt>
                <c:pt idx="288">
                  <c:v>2.64419450271845</c:v>
                </c:pt>
                <c:pt idx="289">
                  <c:v>2.64137525607538</c:v>
                </c:pt>
                <c:pt idx="290">
                  <c:v>2.63880008746027</c:v>
                </c:pt>
                <c:pt idx="291">
                  <c:v>2.63646929131027</c:v>
                </c:pt>
                <c:pt idx="292">
                  <c:v>2.63438313328581</c:v>
                </c:pt>
                <c:pt idx="293">
                  <c:v>2.63254185048314</c:v>
                </c:pt>
                <c:pt idx="294">
                  <c:v>2.63094565162859</c:v>
                </c:pt>
                <c:pt idx="295">
                  <c:v>2.62959471725337</c:v>
                </c:pt>
                <c:pt idx="296">
                  <c:v>2.62848919984752</c:v>
                </c:pt>
                <c:pt idx="297">
                  <c:v>2.6276292239921</c:v>
                </c:pt>
                <c:pt idx="298">
                  <c:v>2.6270148864686</c:v>
                </c:pt>
                <c:pt idx="299">
                  <c:v>2.62664625634477</c:v>
                </c:pt>
                <c:pt idx="300">
                  <c:v>2.62652337503645</c:v>
                </c:pt>
                <c:pt idx="301">
                  <c:v>2.62664625634477</c:v>
                </c:pt>
                <c:pt idx="302">
                  <c:v>2.6270148864686</c:v>
                </c:pt>
                <c:pt idx="303">
                  <c:v>2.6276292239921</c:v>
                </c:pt>
                <c:pt idx="304">
                  <c:v>2.62848919984752</c:v>
                </c:pt>
                <c:pt idx="305">
                  <c:v>2.62959471725337</c:v>
                </c:pt>
                <c:pt idx="306">
                  <c:v>2.63094565162859</c:v>
                </c:pt>
                <c:pt idx="307">
                  <c:v>2.63254185048314</c:v>
                </c:pt>
                <c:pt idx="308">
                  <c:v>2.63438313328581</c:v>
                </c:pt>
                <c:pt idx="309">
                  <c:v>2.63646929131027</c:v>
                </c:pt>
                <c:pt idx="310">
                  <c:v>2.63880008746027</c:v>
                </c:pt>
                <c:pt idx="311">
                  <c:v>2.64137525607538</c:v>
                </c:pt>
                <c:pt idx="312">
                  <c:v>2.64419450271845</c:v>
                </c:pt>
                <c:pt idx="313">
                  <c:v>2.64725750394652</c:v>
                </c:pt>
                <c:pt idx="314">
                  <c:v>2.65056390706659</c:v>
                </c:pt>
                <c:pt idx="315">
                  <c:v>2.65411332987817</c:v>
                </c:pt>
                <c:pt idx="316">
                  <c:v>2.65790536040434</c:v>
                </c:pt>
                <c:pt idx="317">
                  <c:v>2.6619395566134</c:v>
                </c:pt>
                <c:pt idx="318">
                  <c:v>2.6662154461331</c:v>
                </c:pt>
                <c:pt idx="319">
                  <c:v>2.67073252595949</c:v>
                </c:pt>
                <c:pt idx="320">
                  <c:v>2.67549026216286</c:v>
                </c:pt>
                <c:pt idx="321">
                  <c:v>2.68048808959266</c:v>
                </c:pt>
                <c:pt idx="322">
                  <c:v>2.68572541158403</c:v>
                </c:pt>
                <c:pt idx="323">
                  <c:v>2.69120159966808</c:v>
                </c:pt>
                <c:pt idx="324">
                  <c:v>2.69691599328829</c:v>
                </c:pt>
                <c:pt idx="325">
                  <c:v>2.7028678995255</c:v>
                </c:pt>
                <c:pt idx="326">
                  <c:v>2.70905659283371</c:v>
                </c:pt>
                <c:pt idx="327">
                  <c:v>2.71548131478914</c:v>
                </c:pt>
                <c:pt idx="328">
                  <c:v>2.72214127385479</c:v>
                </c:pt>
                <c:pt idx="329">
                  <c:v>2.72903564516282</c:v>
                </c:pt>
                <c:pt idx="330">
                  <c:v>2.73616357031693</c:v>
                </c:pt>
                <c:pt idx="331">
                  <c:v>2.74352415721695</c:v>
                </c:pt>
                <c:pt idx="332">
                  <c:v>2.75111647990767</c:v>
                </c:pt>
                <c:pt idx="333">
                  <c:v>2.75893957845396</c:v>
                </c:pt>
                <c:pt idx="334">
                  <c:v>2.76699245884404</c:v>
                </c:pt>
                <c:pt idx="335">
                  <c:v>2.77527409292277</c:v>
                </c:pt>
                <c:pt idx="336">
                  <c:v>2.78378341835653</c:v>
                </c:pt>
                <c:pt idx="337">
                  <c:v>2.79251933863143</c:v>
                </c:pt>
                <c:pt idx="338">
                  <c:v>2.80148072308615</c:v>
                </c:pt>
                <c:pt idx="339">
                  <c:v>2.8106664069808</c:v>
                </c:pt>
                <c:pt idx="340">
                  <c:v>2.82007519160292</c:v>
                </c:pt>
                <c:pt idx="341">
                  <c:v>2.82970584441172</c:v>
                </c:pt>
                <c:pt idx="342">
                  <c:v>2.83955709922135</c:v>
                </c:pt>
                <c:pt idx="343">
                  <c:v>2.849627656424</c:v>
                </c:pt>
                <c:pt idx="344">
                  <c:v>2.85991618325333</c:v>
                </c:pt>
                <c:pt idx="345">
                  <c:v>2.87042131408874</c:v>
                </c:pt>
                <c:pt idx="346">
                  <c:v>2.88114165080064</c:v>
                </c:pt>
                <c:pt idx="347">
                  <c:v>2.89207576313689</c:v>
                </c:pt>
                <c:pt idx="348">
                  <c:v>2.90322218915029</c:v>
                </c:pt>
                <c:pt idx="349">
                  <c:v>2.91457943566703</c:v>
                </c:pt>
                <c:pt idx="350">
                  <c:v>2.92614597879559</c:v>
                </c:pt>
                <c:pt idx="351">
                  <c:v>2.93792026447567</c:v>
                </c:pt>
                <c:pt idx="352">
                  <c:v>2.94990070906649</c:v>
                </c:pt>
                <c:pt idx="353">
                  <c:v>2.96208569997365</c:v>
                </c:pt>
                <c:pt idx="354">
                  <c:v>2.97447359631362</c:v>
                </c:pt>
                <c:pt idx="355">
                  <c:v>2.98706272961478</c:v>
                </c:pt>
                <c:pt idx="356">
                  <c:v>2.9998514045539</c:v>
                </c:pt>
                <c:pt idx="357">
                  <c:v>3.01283789972669</c:v>
                </c:pt>
                <c:pt idx="358">
                  <c:v>3.02602046845101</c:v>
                </c:pt>
                <c:pt idx="359">
                  <c:v>3.03939733960131</c:v>
                </c:pt>
                <c:pt idx="360">
                  <c:v>3.05296671847266</c:v>
                </c:pt>
              </c:numCache>
            </c:numRef>
          </c:yVal>
          <c:smooth val="1"/>
          <c:extLst>
            <c:ext xmlns:c16="http://schemas.microsoft.com/office/drawing/2014/chart" uri="{C3380CC4-5D6E-409C-BE32-E72D297353CC}">
              <c16:uniqueId val="{00000000-A866-4D36-ADE2-721E6E84D790}"/>
            </c:ext>
          </c:extLst>
        </c:ser>
        <c:ser>
          <c:idx val="1"/>
          <c:order val="1"/>
          <c:tx>
            <c:v>Global minimum</c:v>
          </c:tx>
          <c:spPr>
            <a:ln w="0">
              <a:noFill/>
            </a:ln>
          </c:spPr>
          <c:marker>
            <c:symbol val="circle"/>
            <c:size val="9"/>
            <c:spPr>
              <a:solidFill>
                <a:srgbClr val="298438"/>
              </a:solidFill>
              <a:ln w="9525">
                <a:solidFill>
                  <a:srgbClr val="298438"/>
                </a:solidFill>
              </a:ln>
            </c:spPr>
          </c:marker>
          <c:xVal>
            <c:numRef>
              <c:f>'Chart Data'!$C$2:$C$2</c:f>
              <c:numCache>
                <c:formatCode>General</c:formatCode>
                <c:ptCount val="1"/>
                <c:pt idx="0">
                  <c:v>-3</c:v>
                </c:pt>
              </c:numCache>
            </c:numRef>
          </c:xVal>
          <c:yVal>
            <c:numRef>
              <c:f>'Chart Data'!$D$2:$D$2</c:f>
              <c:numCache>
                <c:formatCode>General</c:formatCode>
                <c:ptCount val="1"/>
                <c:pt idx="0">
                  <c:v>0.626523375036446</c:v>
                </c:pt>
              </c:numCache>
            </c:numRef>
          </c:yVal>
          <c:smooth val="1"/>
          <c:extLst>
            <c:ext xmlns:c16="http://schemas.microsoft.com/office/drawing/2014/chart" uri="{C3380CC4-5D6E-409C-BE32-E72D297353CC}">
              <c16:uniqueId val="{00000001-A866-4D36-ADE2-721E6E84D790}"/>
            </c:ext>
          </c:extLst>
        </c:ser>
        <c:ser>
          <c:idx val="2"/>
          <c:order val="2"/>
          <c:tx>
            <c:v>Strict local minimum</c:v>
          </c:tx>
          <c:spPr>
            <a:ln w="0">
              <a:noFill/>
            </a:ln>
          </c:spPr>
          <c:marker>
            <c:symbol val="circle"/>
            <c:size val="9"/>
            <c:spPr>
              <a:solidFill>
                <a:srgbClr val="C45C28"/>
              </a:solidFill>
              <a:ln w="9525">
                <a:solidFill>
                  <a:srgbClr val="C45C28"/>
                </a:solidFill>
              </a:ln>
            </c:spPr>
          </c:marker>
          <c:xVal>
            <c:numRef>
              <c:f>'Chart Data'!$E$2:$E$2</c:f>
              <c:numCache>
                <c:formatCode>General</c:formatCode>
                <c:ptCount val="1"/>
                <c:pt idx="0">
                  <c:v>3</c:v>
                </c:pt>
              </c:numCache>
            </c:numRef>
          </c:xVal>
          <c:yVal>
            <c:numRef>
              <c:f>'Chart Data'!$F$2:$F$2</c:f>
              <c:numCache>
                <c:formatCode>General</c:formatCode>
                <c:ptCount val="1"/>
                <c:pt idx="0">
                  <c:v>2.62652337503645</c:v>
                </c:pt>
              </c:numCache>
            </c:numRef>
          </c:yVal>
          <c:smooth val="1"/>
          <c:extLst>
            <c:ext xmlns:c16="http://schemas.microsoft.com/office/drawing/2014/chart" uri="{C3380CC4-5D6E-409C-BE32-E72D297353CC}">
              <c16:uniqueId val="{00000002-A866-4D36-ADE2-721E6E84D790}"/>
            </c:ext>
          </c:extLst>
        </c:ser>
        <c:ser>
          <c:idx val="3"/>
          <c:order val="3"/>
          <c:tx>
            <c:v>left GD steps</c:v>
          </c:tx>
          <c:spPr>
            <a:ln w="17145">
              <a:solidFill>
                <a:srgbClr val="326CB2"/>
              </a:solidFill>
            </a:ln>
          </c:spPr>
          <c:marker>
            <c:symbol val="none"/>
          </c:marker>
          <c:xVal>
            <c:numRef>
              <c:f>'Chart Data'!$G$2:$G$22</c:f>
              <c:numCache>
                <c:formatCode>General</c:formatCode>
                <c:ptCount val="21"/>
                <c:pt idx="0">
                  <c:v>-1.5</c:v>
                </c:pt>
                <c:pt idx="1">
                  <c:v>-1.77330057559031</c:v>
                </c:pt>
                <c:pt idx="2">
                  <c:v>-2.00282808162535</c:v>
                </c:pt>
                <c:pt idx="3">
                  <c:v>-2.19272448547277</c:v>
                </c:pt>
                <c:pt idx="4">
                  <c:v>-2.34822435115727</c:v>
                </c:pt>
                <c:pt idx="5">
                  <c:v>-2.47469633489384</c:v>
                </c:pt>
                <c:pt idx="6">
                  <c:v>-2.57710805145693</c:v>
                </c:pt>
                <c:pt idx="7">
                  <c:v>-2.65980289371361</c:v>
                </c:pt>
                <c:pt idx="8">
                  <c:v>-2.72645601559355</c:v>
                </c:pt>
                <c:pt idx="9">
                  <c:v>-2.78011687941228</c:v>
                </c:pt>
                <c:pt idx="10">
                  <c:v>-2.82328571770543</c:v>
                </c:pt>
                <c:pt idx="11">
                  <c:v>-2.85799729143087</c:v>
                </c:pt>
                <c:pt idx="12">
                  <c:v>-2.88589983520808</c:v>
                </c:pt>
                <c:pt idx="13">
                  <c:v>-2.90832453524705</c:v>
                </c:pt>
                <c:pt idx="14">
                  <c:v>-2.92634448660014</c:v>
                </c:pt>
                <c:pt idx="15">
                  <c:v>-2.94082368593167</c:v>
                </c:pt>
                <c:pt idx="16">
                  <c:v>-2.95245723507269</c:v>
                </c:pt>
                <c:pt idx="17">
                  <c:v>-2.96180407720286</c:v>
                </c:pt>
                <c:pt idx="18">
                  <c:v>-2.96931352330434</c:v>
                </c:pt>
                <c:pt idx="19">
                  <c:v>-2.97534668067096</c:v>
                </c:pt>
                <c:pt idx="20">
                  <c:v>-2.98019372922176</c:v>
                </c:pt>
              </c:numCache>
            </c:numRef>
          </c:xVal>
          <c:yVal>
            <c:numRef>
              <c:f>'Chart Data'!$H$2:$H$22</c:f>
              <c:numCache>
                <c:formatCode>General</c:formatCode>
                <c:ptCount val="21"/>
                <c:pt idx="0">
                  <c:v>1.05296671847266</c:v>
                </c:pt>
                <c:pt idx="1">
                  <c:v>0.915359081549213</c:v>
                </c:pt>
                <c:pt idx="2">
                  <c:v>0.818999686312374</c:v>
                </c:pt>
                <c:pt idx="3">
                  <c:v>0.753369398360652</c:v>
                </c:pt>
                <c:pt idx="4">
                  <c:v>0.709505137237307</c:v>
                </c:pt>
                <c:pt idx="5">
                  <c:v>0.680550269654881</c:v>
                </c:pt>
                <c:pt idx="6">
                  <c:v>0.661590047296636</c:v>
                </c:pt>
                <c:pt idx="7">
                  <c:v>0.649238429328861</c:v>
                </c:pt>
                <c:pt idx="8">
                  <c:v>0.641218579989309</c:v>
                </c:pt>
                <c:pt idx="9">
                  <c:v>0.636022386887178</c:v>
                </c:pt>
                <c:pt idx="10">
                  <c:v>0.63266028517605</c:v>
                </c:pt>
                <c:pt idx="11">
                  <c:v>0.63048681114119</c:v>
                </c:pt>
                <c:pt idx="12">
                  <c:v>0.629082536575151</c:v>
                </c:pt>
                <c:pt idx="13">
                  <c:v>0.628175570551106</c:v>
                </c:pt>
                <c:pt idx="14">
                  <c:v>0.627589934584161</c:v>
                </c:pt>
                <c:pt idx="15">
                  <c:v>0.627211841705685</c:v>
                </c:pt>
                <c:pt idx="16">
                  <c:v>0.626967764797856</c:v>
                </c:pt>
                <c:pt idx="17">
                  <c:v>0.626810211526661</c:v>
                </c:pt>
                <c:pt idx="18">
                  <c:v>0.626708513989949</c:v>
                </c:pt>
                <c:pt idx="19">
                  <c:v>0.626642871959686</c:v>
                </c:pt>
                <c:pt idx="20">
                  <c:v>0.626600503156684</c:v>
                </c:pt>
              </c:numCache>
            </c:numRef>
          </c:yVal>
          <c:smooth val="1"/>
          <c:extLst>
            <c:ext xmlns:c16="http://schemas.microsoft.com/office/drawing/2014/chart" uri="{C3380CC4-5D6E-409C-BE32-E72D297353CC}">
              <c16:uniqueId val="{00000003-A866-4D36-ADE2-721E6E84D790}"/>
            </c:ext>
          </c:extLst>
        </c:ser>
        <c:ser>
          <c:idx val="4"/>
          <c:order val="4"/>
          <c:tx>
            <c:v>left start</c:v>
          </c:tx>
          <c:spPr>
            <a:ln w="0">
              <a:noFill/>
            </a:ln>
          </c:spPr>
          <c:marker>
            <c:symbol val="circle"/>
            <c:size val="8"/>
            <c:spPr>
              <a:solidFill>
                <a:srgbClr val="FFFFFF"/>
              </a:solidFill>
              <a:ln w="19050">
                <a:solidFill>
                  <a:srgbClr val="326CB2"/>
                </a:solidFill>
              </a:ln>
            </c:spPr>
          </c:marker>
          <c:xVal>
            <c:numRef>
              <c:f>'Chart Data'!$I$2:$I$2</c:f>
              <c:numCache>
                <c:formatCode>General</c:formatCode>
                <c:ptCount val="1"/>
                <c:pt idx="0">
                  <c:v>-1.5</c:v>
                </c:pt>
              </c:numCache>
            </c:numRef>
          </c:xVal>
          <c:yVal>
            <c:numRef>
              <c:f>'Chart Data'!$J$2:$J$2</c:f>
              <c:numCache>
                <c:formatCode>General</c:formatCode>
                <c:ptCount val="1"/>
                <c:pt idx="0">
                  <c:v>1.05296671847266</c:v>
                </c:pt>
              </c:numCache>
            </c:numRef>
          </c:yVal>
          <c:smooth val="1"/>
          <c:extLst>
            <c:ext xmlns:c16="http://schemas.microsoft.com/office/drawing/2014/chart" uri="{C3380CC4-5D6E-409C-BE32-E72D297353CC}">
              <c16:uniqueId val="{00000004-A866-4D36-ADE2-721E6E84D790}"/>
            </c:ext>
          </c:extLst>
        </c:ser>
        <c:ser>
          <c:idx val="5"/>
          <c:order val="5"/>
          <c:tx>
            <c:v>left iterates</c:v>
          </c:tx>
          <c:spPr>
            <a:ln w="0">
              <a:noFill/>
            </a:ln>
          </c:spPr>
          <c:marker>
            <c:symbol val="circle"/>
            <c:size val="4"/>
            <c:spPr>
              <a:solidFill>
                <a:srgbClr val="326CB2"/>
              </a:solidFill>
              <a:ln w="9525">
                <a:solidFill>
                  <a:srgbClr val="326CB2"/>
                </a:solidFill>
              </a:ln>
            </c:spPr>
          </c:marker>
          <c:xVal>
            <c:numRef>
              <c:f>'Chart Data'!$K$2:$K$21</c:f>
              <c:numCache>
                <c:formatCode>General</c:formatCode>
                <c:ptCount val="20"/>
                <c:pt idx="0">
                  <c:v>-1.77330057559031</c:v>
                </c:pt>
                <c:pt idx="1">
                  <c:v>-2.00282808162535</c:v>
                </c:pt>
                <c:pt idx="2">
                  <c:v>-2.19272448547277</c:v>
                </c:pt>
                <c:pt idx="3">
                  <c:v>-2.34822435115727</c:v>
                </c:pt>
                <c:pt idx="4">
                  <c:v>-2.47469633489384</c:v>
                </c:pt>
                <c:pt idx="5">
                  <c:v>-2.57710805145693</c:v>
                </c:pt>
                <c:pt idx="6">
                  <c:v>-2.65980289371361</c:v>
                </c:pt>
                <c:pt idx="7">
                  <c:v>-2.72645601559355</c:v>
                </c:pt>
                <c:pt idx="8">
                  <c:v>-2.78011687941228</c:v>
                </c:pt>
                <c:pt idx="9">
                  <c:v>-2.82328571770543</c:v>
                </c:pt>
                <c:pt idx="10">
                  <c:v>-2.85799729143087</c:v>
                </c:pt>
                <c:pt idx="11">
                  <c:v>-2.88589983520808</c:v>
                </c:pt>
                <c:pt idx="12">
                  <c:v>-2.90832453524705</c:v>
                </c:pt>
                <c:pt idx="13">
                  <c:v>-2.92634448660014</c:v>
                </c:pt>
                <c:pt idx="14">
                  <c:v>-2.94082368593167</c:v>
                </c:pt>
                <c:pt idx="15">
                  <c:v>-2.95245723507269</c:v>
                </c:pt>
                <c:pt idx="16">
                  <c:v>-2.96180407720286</c:v>
                </c:pt>
                <c:pt idx="17">
                  <c:v>-2.96931352330434</c:v>
                </c:pt>
                <c:pt idx="18">
                  <c:v>-2.97534668067096</c:v>
                </c:pt>
                <c:pt idx="19">
                  <c:v>-2.98019372922176</c:v>
                </c:pt>
              </c:numCache>
            </c:numRef>
          </c:xVal>
          <c:yVal>
            <c:numRef>
              <c:f>'Chart Data'!$L$2:$L$21</c:f>
              <c:numCache>
                <c:formatCode>General</c:formatCode>
                <c:ptCount val="20"/>
                <c:pt idx="0">
                  <c:v>0.915359081549213</c:v>
                </c:pt>
                <c:pt idx="1">
                  <c:v>0.818999686312374</c:v>
                </c:pt>
                <c:pt idx="2">
                  <c:v>0.753369398360652</c:v>
                </c:pt>
                <c:pt idx="3">
                  <c:v>0.709505137237307</c:v>
                </c:pt>
                <c:pt idx="4">
                  <c:v>0.680550269654881</c:v>
                </c:pt>
                <c:pt idx="5">
                  <c:v>0.661590047296636</c:v>
                </c:pt>
                <c:pt idx="6">
                  <c:v>0.649238429328861</c:v>
                </c:pt>
                <c:pt idx="7">
                  <c:v>0.641218579989309</c:v>
                </c:pt>
                <c:pt idx="8">
                  <c:v>0.636022386887178</c:v>
                </c:pt>
                <c:pt idx="9">
                  <c:v>0.63266028517605</c:v>
                </c:pt>
                <c:pt idx="10">
                  <c:v>0.63048681114119</c:v>
                </c:pt>
                <c:pt idx="11">
                  <c:v>0.629082536575151</c:v>
                </c:pt>
                <c:pt idx="12">
                  <c:v>0.628175570551106</c:v>
                </c:pt>
                <c:pt idx="13">
                  <c:v>0.627589934584161</c:v>
                </c:pt>
                <c:pt idx="14">
                  <c:v>0.627211841705685</c:v>
                </c:pt>
                <c:pt idx="15">
                  <c:v>0.626967764797856</c:v>
                </c:pt>
                <c:pt idx="16">
                  <c:v>0.626810211526661</c:v>
                </c:pt>
                <c:pt idx="17">
                  <c:v>0.626708513989949</c:v>
                </c:pt>
                <c:pt idx="18">
                  <c:v>0.626642871959686</c:v>
                </c:pt>
                <c:pt idx="19">
                  <c:v>0.626600503156684</c:v>
                </c:pt>
              </c:numCache>
            </c:numRef>
          </c:yVal>
          <c:smooth val="1"/>
          <c:extLst>
            <c:ext xmlns:c16="http://schemas.microsoft.com/office/drawing/2014/chart" uri="{C3380CC4-5D6E-409C-BE32-E72D297353CC}">
              <c16:uniqueId val="{00000005-A866-4D36-ADE2-721E6E84D790}"/>
            </c:ext>
          </c:extLst>
        </c:ser>
        <c:ser>
          <c:idx val="6"/>
          <c:order val="6"/>
          <c:tx>
            <c:v>right GD steps</c:v>
          </c:tx>
          <c:spPr>
            <a:ln w="17145">
              <a:solidFill>
                <a:srgbClr val="C45C28"/>
              </a:solidFill>
            </a:ln>
          </c:spPr>
          <c:marker>
            <c:symbol val="none"/>
          </c:marker>
          <c:xVal>
            <c:numRef>
              <c:f>'Chart Data'!$M$2:$M$22</c:f>
              <c:numCache>
                <c:formatCode>General</c:formatCode>
                <c:ptCount val="21"/>
                <c:pt idx="0">
                  <c:v>1.5</c:v>
                </c:pt>
                <c:pt idx="1">
                  <c:v>1.77330057559031</c:v>
                </c:pt>
                <c:pt idx="2">
                  <c:v>2.00282808162535</c:v>
                </c:pt>
                <c:pt idx="3">
                  <c:v>2.19272448547277</c:v>
                </c:pt>
                <c:pt idx="4">
                  <c:v>2.34822435115727</c:v>
                </c:pt>
                <c:pt idx="5">
                  <c:v>2.47469633489384</c:v>
                </c:pt>
                <c:pt idx="6">
                  <c:v>2.57710805145693</c:v>
                </c:pt>
                <c:pt idx="7">
                  <c:v>2.65980289371361</c:v>
                </c:pt>
                <c:pt idx="8">
                  <c:v>2.72645601559355</c:v>
                </c:pt>
                <c:pt idx="9">
                  <c:v>2.78011687941228</c:v>
                </c:pt>
                <c:pt idx="10">
                  <c:v>2.82328571770543</c:v>
                </c:pt>
                <c:pt idx="11">
                  <c:v>2.85799729143087</c:v>
                </c:pt>
                <c:pt idx="12">
                  <c:v>2.88589983520808</c:v>
                </c:pt>
                <c:pt idx="13">
                  <c:v>2.90832453524705</c:v>
                </c:pt>
                <c:pt idx="14">
                  <c:v>2.92634448660014</c:v>
                </c:pt>
                <c:pt idx="15">
                  <c:v>2.94082368593167</c:v>
                </c:pt>
                <c:pt idx="16">
                  <c:v>2.95245723507269</c:v>
                </c:pt>
                <c:pt idx="17">
                  <c:v>2.96180407720286</c:v>
                </c:pt>
                <c:pt idx="18">
                  <c:v>2.96931352330434</c:v>
                </c:pt>
                <c:pt idx="19">
                  <c:v>2.97534668067096</c:v>
                </c:pt>
                <c:pt idx="20">
                  <c:v>2.98019372922176</c:v>
                </c:pt>
              </c:numCache>
            </c:numRef>
          </c:xVal>
          <c:yVal>
            <c:numRef>
              <c:f>'Chart Data'!$N$2:$N$22</c:f>
              <c:numCache>
                <c:formatCode>General</c:formatCode>
                <c:ptCount val="21"/>
                <c:pt idx="0">
                  <c:v>3.05296671847266</c:v>
                </c:pt>
                <c:pt idx="1">
                  <c:v>2.91535908154921</c:v>
                </c:pt>
                <c:pt idx="2">
                  <c:v>2.81899968631237</c:v>
                </c:pt>
                <c:pt idx="3">
                  <c:v>2.75336939836065</c:v>
                </c:pt>
                <c:pt idx="4">
                  <c:v>2.70950513723731</c:v>
                </c:pt>
                <c:pt idx="5">
                  <c:v>2.68055026965488</c:v>
                </c:pt>
                <c:pt idx="6">
                  <c:v>2.66159004729664</c:v>
                </c:pt>
                <c:pt idx="7">
                  <c:v>2.64923842932886</c:v>
                </c:pt>
                <c:pt idx="8">
                  <c:v>2.64121857998931</c:v>
                </c:pt>
                <c:pt idx="9">
                  <c:v>2.63602238688718</c:v>
                </c:pt>
                <c:pt idx="10">
                  <c:v>2.63266028517605</c:v>
                </c:pt>
                <c:pt idx="11">
                  <c:v>2.63048681114119</c:v>
                </c:pt>
                <c:pt idx="12">
                  <c:v>2.62908253657515</c:v>
                </c:pt>
                <c:pt idx="13">
                  <c:v>2.62817557055111</c:v>
                </c:pt>
                <c:pt idx="14">
                  <c:v>2.62758993458416</c:v>
                </c:pt>
                <c:pt idx="15">
                  <c:v>2.62721184170568</c:v>
                </c:pt>
                <c:pt idx="16">
                  <c:v>2.62696776479786</c:v>
                </c:pt>
                <c:pt idx="17">
                  <c:v>2.62681021152666</c:v>
                </c:pt>
                <c:pt idx="18">
                  <c:v>2.62670851398995</c:v>
                </c:pt>
                <c:pt idx="19">
                  <c:v>2.62664287195969</c:v>
                </c:pt>
                <c:pt idx="20">
                  <c:v>2.62660050315668</c:v>
                </c:pt>
              </c:numCache>
            </c:numRef>
          </c:yVal>
          <c:smooth val="1"/>
          <c:extLst>
            <c:ext xmlns:c16="http://schemas.microsoft.com/office/drawing/2014/chart" uri="{C3380CC4-5D6E-409C-BE32-E72D297353CC}">
              <c16:uniqueId val="{00000006-A866-4D36-ADE2-721E6E84D790}"/>
            </c:ext>
          </c:extLst>
        </c:ser>
        <c:ser>
          <c:idx val="7"/>
          <c:order val="7"/>
          <c:tx>
            <c:v>right start</c:v>
          </c:tx>
          <c:spPr>
            <a:ln w="0">
              <a:noFill/>
            </a:ln>
          </c:spPr>
          <c:marker>
            <c:symbol val="circle"/>
            <c:size val="8"/>
            <c:spPr>
              <a:solidFill>
                <a:srgbClr val="FFFFFF"/>
              </a:solidFill>
              <a:ln w="19050">
                <a:solidFill>
                  <a:srgbClr val="C45C28"/>
                </a:solidFill>
              </a:ln>
            </c:spPr>
          </c:marker>
          <c:xVal>
            <c:numRef>
              <c:f>'Chart Data'!$O$2:$O$2</c:f>
              <c:numCache>
                <c:formatCode>General</c:formatCode>
                <c:ptCount val="1"/>
                <c:pt idx="0">
                  <c:v>1.5</c:v>
                </c:pt>
              </c:numCache>
            </c:numRef>
          </c:xVal>
          <c:yVal>
            <c:numRef>
              <c:f>'Chart Data'!$P$2:$P$2</c:f>
              <c:numCache>
                <c:formatCode>General</c:formatCode>
                <c:ptCount val="1"/>
                <c:pt idx="0">
                  <c:v>3.05296671847266</c:v>
                </c:pt>
              </c:numCache>
            </c:numRef>
          </c:yVal>
          <c:smooth val="1"/>
          <c:extLst>
            <c:ext xmlns:c16="http://schemas.microsoft.com/office/drawing/2014/chart" uri="{C3380CC4-5D6E-409C-BE32-E72D297353CC}">
              <c16:uniqueId val="{00000007-A866-4D36-ADE2-721E6E84D790}"/>
            </c:ext>
          </c:extLst>
        </c:ser>
        <c:ser>
          <c:idx val="8"/>
          <c:order val="8"/>
          <c:tx>
            <c:v>right iterates</c:v>
          </c:tx>
          <c:spPr>
            <a:ln w="0">
              <a:noFill/>
            </a:ln>
          </c:spPr>
          <c:marker>
            <c:symbol val="circle"/>
            <c:size val="4"/>
            <c:spPr>
              <a:solidFill>
                <a:srgbClr val="C45C28"/>
              </a:solidFill>
              <a:ln w="9525">
                <a:solidFill>
                  <a:srgbClr val="C45C28"/>
                </a:solidFill>
              </a:ln>
            </c:spPr>
          </c:marker>
          <c:xVal>
            <c:numRef>
              <c:f>'Chart Data'!$Q$2:$Q$21</c:f>
              <c:numCache>
                <c:formatCode>General</c:formatCode>
                <c:ptCount val="20"/>
                <c:pt idx="0">
                  <c:v>1.77330057559031</c:v>
                </c:pt>
                <c:pt idx="1">
                  <c:v>2.00282808162535</c:v>
                </c:pt>
                <c:pt idx="2">
                  <c:v>2.19272448547277</c:v>
                </c:pt>
                <c:pt idx="3">
                  <c:v>2.34822435115727</c:v>
                </c:pt>
                <c:pt idx="4">
                  <c:v>2.47469633489384</c:v>
                </c:pt>
                <c:pt idx="5">
                  <c:v>2.57710805145693</c:v>
                </c:pt>
                <c:pt idx="6">
                  <c:v>2.65980289371361</c:v>
                </c:pt>
                <c:pt idx="7">
                  <c:v>2.72645601559355</c:v>
                </c:pt>
                <c:pt idx="8">
                  <c:v>2.78011687941228</c:v>
                </c:pt>
                <c:pt idx="9">
                  <c:v>2.82328571770543</c:v>
                </c:pt>
                <c:pt idx="10">
                  <c:v>2.85799729143087</c:v>
                </c:pt>
                <c:pt idx="11">
                  <c:v>2.88589983520808</c:v>
                </c:pt>
                <c:pt idx="12">
                  <c:v>2.90832453524705</c:v>
                </c:pt>
                <c:pt idx="13">
                  <c:v>2.92634448660014</c:v>
                </c:pt>
                <c:pt idx="14">
                  <c:v>2.94082368593167</c:v>
                </c:pt>
                <c:pt idx="15">
                  <c:v>2.95245723507269</c:v>
                </c:pt>
                <c:pt idx="16">
                  <c:v>2.96180407720286</c:v>
                </c:pt>
                <c:pt idx="17">
                  <c:v>2.96931352330434</c:v>
                </c:pt>
                <c:pt idx="18">
                  <c:v>2.97534668067096</c:v>
                </c:pt>
                <c:pt idx="19">
                  <c:v>2.98019372922176</c:v>
                </c:pt>
              </c:numCache>
            </c:numRef>
          </c:xVal>
          <c:yVal>
            <c:numRef>
              <c:f>'Chart Data'!$R$2:$R$21</c:f>
              <c:numCache>
                <c:formatCode>General</c:formatCode>
                <c:ptCount val="20"/>
                <c:pt idx="0">
                  <c:v>2.91535908154921</c:v>
                </c:pt>
                <c:pt idx="1">
                  <c:v>2.81899968631237</c:v>
                </c:pt>
                <c:pt idx="2">
                  <c:v>2.75336939836065</c:v>
                </c:pt>
                <c:pt idx="3">
                  <c:v>2.70950513723731</c:v>
                </c:pt>
                <c:pt idx="4">
                  <c:v>2.68055026965488</c:v>
                </c:pt>
                <c:pt idx="5">
                  <c:v>2.66159004729664</c:v>
                </c:pt>
                <c:pt idx="6">
                  <c:v>2.64923842932886</c:v>
                </c:pt>
                <c:pt idx="7">
                  <c:v>2.64121857998931</c:v>
                </c:pt>
                <c:pt idx="8">
                  <c:v>2.63602238688718</c:v>
                </c:pt>
                <c:pt idx="9">
                  <c:v>2.63266028517605</c:v>
                </c:pt>
                <c:pt idx="10">
                  <c:v>2.63048681114119</c:v>
                </c:pt>
                <c:pt idx="11">
                  <c:v>2.62908253657515</c:v>
                </c:pt>
                <c:pt idx="12">
                  <c:v>2.62817557055111</c:v>
                </c:pt>
                <c:pt idx="13">
                  <c:v>2.62758993458416</c:v>
                </c:pt>
                <c:pt idx="14">
                  <c:v>2.62721184170568</c:v>
                </c:pt>
                <c:pt idx="15">
                  <c:v>2.62696776479786</c:v>
                </c:pt>
                <c:pt idx="16">
                  <c:v>2.62681021152666</c:v>
                </c:pt>
                <c:pt idx="17">
                  <c:v>2.62670851398995</c:v>
                </c:pt>
                <c:pt idx="18">
                  <c:v>2.62664287195969</c:v>
                </c:pt>
                <c:pt idx="19">
                  <c:v>2.62660050315668</c:v>
                </c:pt>
              </c:numCache>
            </c:numRef>
          </c:yVal>
          <c:smooth val="1"/>
          <c:extLst>
            <c:ext xmlns:c16="http://schemas.microsoft.com/office/drawing/2014/chart" uri="{C3380CC4-5D6E-409C-BE32-E72D297353CC}">
              <c16:uniqueId val="{00000008-A866-4D36-ADE2-721E6E84D790}"/>
            </c:ext>
          </c:extLst>
        </c:ser>
        <c:ser>
          <c:idx val="9"/>
          <c:order val="9"/>
          <c:tx>
            <c:v>left current</c:v>
          </c:tx>
          <c:spPr>
            <a:ln w="0">
              <a:noFill/>
            </a:ln>
          </c:spPr>
          <c:marker>
            <c:symbol val="circle"/>
            <c:size val="8"/>
            <c:spPr>
              <a:solidFill>
                <a:srgbClr val="326CB2"/>
              </a:solidFill>
              <a:ln w="9525">
                <a:solidFill>
                  <a:srgbClr val="326CB2"/>
                </a:solidFill>
              </a:ln>
            </c:spPr>
          </c:marker>
          <c:xVal>
            <c:numRef>
              <c:f>'Chart Data'!$S$2:$S$2</c:f>
              <c:numCache>
                <c:formatCode>General</c:formatCode>
                <c:ptCount val="1"/>
                <c:pt idx="0">
                  <c:v>-2.98019372922176</c:v>
                </c:pt>
              </c:numCache>
            </c:numRef>
          </c:xVal>
          <c:yVal>
            <c:numRef>
              <c:f>'Chart Data'!$T$2:$T$2</c:f>
              <c:numCache>
                <c:formatCode>General</c:formatCode>
                <c:ptCount val="1"/>
                <c:pt idx="0">
                  <c:v>0.626600503156684</c:v>
                </c:pt>
              </c:numCache>
            </c:numRef>
          </c:yVal>
          <c:smooth val="1"/>
          <c:extLst>
            <c:ext xmlns:c16="http://schemas.microsoft.com/office/drawing/2014/chart" uri="{C3380CC4-5D6E-409C-BE32-E72D297353CC}">
              <c16:uniqueId val="{00000009-A866-4D36-ADE2-721E6E84D790}"/>
            </c:ext>
          </c:extLst>
        </c:ser>
        <c:ser>
          <c:idx val="10"/>
          <c:order val="10"/>
          <c:tx>
            <c:v>right current</c:v>
          </c:tx>
          <c:spPr>
            <a:ln w="0">
              <a:noFill/>
            </a:ln>
          </c:spPr>
          <c:marker>
            <c:symbol val="circle"/>
            <c:size val="8"/>
            <c:spPr>
              <a:solidFill>
                <a:srgbClr val="C45C28"/>
              </a:solidFill>
              <a:ln w="9525">
                <a:solidFill>
                  <a:srgbClr val="C45C28"/>
                </a:solidFill>
              </a:ln>
            </c:spPr>
          </c:marker>
          <c:xVal>
            <c:numRef>
              <c:f>'Chart Data'!$U$2:$U$2</c:f>
              <c:numCache>
                <c:formatCode>General</c:formatCode>
                <c:ptCount val="1"/>
                <c:pt idx="0">
                  <c:v>2.98019372922176</c:v>
                </c:pt>
              </c:numCache>
            </c:numRef>
          </c:xVal>
          <c:yVal>
            <c:numRef>
              <c:f>'Chart Data'!$V$2:$V$2</c:f>
              <c:numCache>
                <c:formatCode>General</c:formatCode>
                <c:ptCount val="1"/>
                <c:pt idx="0">
                  <c:v>2.62660050315668</c:v>
                </c:pt>
              </c:numCache>
            </c:numRef>
          </c:yVal>
          <c:smooth val="1"/>
          <c:extLst>
            <c:ext xmlns:c16="http://schemas.microsoft.com/office/drawing/2014/chart" uri="{C3380CC4-5D6E-409C-BE32-E72D297353CC}">
              <c16:uniqueId val="{0000000A-A866-4D36-ADE2-721E6E84D790}"/>
            </c:ext>
          </c:extLst>
        </c:ser>
        <c:dLbls>
          <c:showLegendKey val="0"/>
          <c:showVal val="0"/>
          <c:showCatName val="0"/>
          <c:showSerName val="0"/>
          <c:showPercent val="0"/>
          <c:showBubbleSize val="0"/>
        </c:dLbls>
        <c:axId val="48650112"/>
        <c:axId val="48672768"/>
      </c:scatterChart>
      <c:valAx>
        <c:axId val="48672768"/>
        <c:scaling>
          <c:orientation val="minMax"/>
          <c:max val="4"/>
          <c:min val="0"/>
        </c:scaling>
        <c:delete val="0"/>
        <c:axPos val="l"/>
        <c:majorGridlines>
          <c:spPr>
            <a:ln w="6191">
              <a:solidFill>
                <a:srgbClr val="DCE3EB"/>
              </a:solidFill>
            </a:ln>
          </c:spPr>
        </c:majorGridlines>
        <c:title>
          <c:tx>
            <c:rich>
              <a:bodyPr/>
              <a:lstStyle/>
              <a:p>
                <a:r>
                  <a:rPr lang="it-IT" sz="1650">
                    <a:solidFill>
                      <a:srgbClr val="182D45"/>
                    </a:solidFill>
                    <a:latin typeface="DejaVu Sans"/>
                    <a:ea typeface="DejaVu Sans"/>
                    <a:cs typeface="DejaVu Sans"/>
                  </a:rPr>
                  <a:t>Logistic loss</a:t>
                </a:r>
              </a:p>
            </c:rich>
          </c:tx>
          <c:overlay val="0"/>
        </c:title>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4.5"/>
        <c:crossBetween val="midCat"/>
        <c:majorUnit val="1"/>
      </c:valAx>
      <c:valAx>
        <c:axId val="48650112"/>
        <c:scaling>
          <c:orientation val="minMax"/>
          <c:max val="4.5"/>
          <c:min val="-4.5"/>
        </c:scaling>
        <c:delete val="0"/>
        <c:axPos val="b"/>
        <c:majorGridlines>
          <c:spPr>
            <a:ln w="6191">
              <a:solidFill>
                <a:srgbClr val="DCE3EB"/>
              </a:solidFill>
            </a:ln>
          </c:spPr>
        </c:majorGridlines>
        <c:numFmt formatCode="General" sourceLinked="1"/>
        <c:majorTickMark val="none"/>
        <c:minorTickMark val="none"/>
        <c:tickLblPos val="low"/>
        <c:spPr>
          <a:ln w="6668">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a:t>
            </a:r>
          </a:p>
          <a:p>
            <a:r>
              <a:t>Lecture 4. The cover follows the established University of Bristol design.</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1: Affine layers and activation functions. Introduce the four parts of the lecture, then begin with affine layers and activation functions.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 min.</a:t>
            </a:r>
          </a:p>
          <a:p>
            <a:r>
              <a:t>Recall the end of Lecture 2. The feature functions are fixed even though the predictor is nonlinear in x. The coefficients are what training changes.</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1.3 min.</a:t>
            </a:r>
          </a:p>
          <a:p>
            <a:r>
              <a:t>Preview only. We will define the feature functions concretely using affine transformations and ReLU. All feature values form a row, while scalar-output weights form a column.</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first attempt, not yet the final neural-network feature construction. Each column of W and one bias define one feature. All entries of W and b are adjustable. We retain the input notation x from the previous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feature has weight w1=2 and bias b1=1. The output has weight w2=3 and bias b2=-4. Substitution gives the identical predictor f(x)=6x-1 for every input x. The equivalent direct model has weight w_tilde=w2*w1=6 and bias b_tilde=w2*b1+b2=-1. This is an exact equivalence of functions, not an approximation or a statement about fitted values on a particular dataset.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feature parameters are W of size d by m and the row b of length m. The output uses the m by 1 weight column w_out and scalar bias b_out. The equivalent direct weight column is w_tilde=W*w_out, of size d by 1. The equivalent scalar bias is b_tilde=b*w_out+b_out. Hence f(x)=x*w_tilde+b_tilde for every input x. This is the same identification made numerically on the preceding slide. For vector outputs, replace the output weight column by a matrix and the bias scalar by a row: composition is still affine. Combining successive stages two at a time therefore proves that any finite sequence of affine transformations is affine. Additional affine stages alone cannot produce nonlinear predictors.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 min.</a:t>
            </a:r>
          </a:p>
          <a:p>
            <a:r>
              <a:t>Rectified linear unit. Scalar input and scalar output. Emphasise continuity and the change of slope at zero; differentiation comes at the end.</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2: Neural networks and the forward pass. Briefly locate this part in the lecture before continuing.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First compute only xW=(-1,2,1). The input row x, hidden weight matrix W and hidden bias row b remain visible above the diagram. Both preactivations and activations are deliberately left as question marks. The six edge labels are W11=1, W21=-1, W12=2, W22=0, W13=-1, W23=1.</a:t>
            </a:r>
          </a:p>
          <a:p>
            <a:r>
              <a:t>Source: SEMTM0051_week4_neural_networks_generalisation.tex.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every diagram element and parameter in the same position. Add b=(0,1,0) to the weighted sums (-1,2,1). The preactivation question marks become -1,3,1. The activation values are still unknown.</a:t>
            </a:r>
          </a:p>
          <a:p>
            <a:r>
              <a:t>Source: SEMTM0051_week4_neural_networks_generalisation.tex.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the previous calculations visible and all elements in fixed positions. Apply ReLU to the preactivations (-1,3,1). The activation question marks become 0,3,1. These are the values used by the output layer on the next slide.</a:t>
            </a:r>
          </a:p>
          <a:p>
            <a:r>
              <a:t>Source: SEMTM0051_week4_neural_networks_generalisation.tex.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from the hidden activations 0,3,1. Multiply them by output weights 2,-1,1/2 and add: the weighted sum is -5/2. Add b_out=-1 to obtain -7/2=-3.5. The output is affine: no ReLU is applied here.</a:t>
            </a:r>
          </a:p>
          <a:p>
            <a:r>
              <a:t>Source: SEMTM0051_week4_neural_networks_generalisation.tex.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hidden unit, also called a neuron, computes one scalar feature value by forming a weighted sum, adding its bias and applying an activation function. Here the activation function is ReLU. Each complete horizontal row represents one hidden unit, with successive intermediate values. The three diagram columns are not three different layers.</a:t>
            </a:r>
          </a:p>
          <a:p>
            <a:r>
              <a:t>One hidden layer of width three, with two input coordinates. Follow each horizontal row: the weighted sum, addition of the bias, then ReLU. The three columns are successive values within the same unit, not three layers. Here j identifies a hidden unit. No layer subscript is needed. The output calculation is introduced on the next slide.</a:t>
            </a:r>
          </a:p>
          <a:p>
            <a:r>
              <a:t>Source: SEMTM0051_week4_neural_networks_generalisation.tex.</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508161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0.4 min.</a:t>
            </a:r>
          </a:p>
          <a:p>
            <a:r>
              <a:t>The highlighted horizontal row is one hidden neuron. Follow its weighted sum, the addition of its own bias, its preactivation, and the scalar ReLU that produces its activation. The three displayed values belong to one calculation, not three neurons or three layers.</a:t>
            </a:r>
          </a:p>
          <a:p>
            <a:r>
              <a:t>The other two rows are two further neurons in the same hidden layer. The input coordinates are shared; each neuron has its own weights and bias. The output phi_1(x) is the value produced by the highlighted neuron.</a:t>
            </a:r>
          </a:p>
          <a:p>
            <a:r>
              <a:t>Source: SEMTM0051_week4_neural_networks_generalisation.tex.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0.8 min.</a:t>
            </a:r>
          </a:p>
          <a:p>
            <a:r>
              <a:t>The three middle circles contain the activations produced by the three hidden neurons described on the preceding slides. Each circle summarises the weighted sum, bias and ReLU calculation for one neuron. They are not a new set of hidden neurons.</a:t>
            </a:r>
          </a:p>
          <a:p>
            <a:r>
              <a:t>For a scalar output, combine the three activations using one output weight per neuron, then add the output bias. The output weights form a 3 by 1 column. The displayed sum is the component form of the row-times-column product. The affine output here does not apply another ReLU.</a:t>
            </a:r>
          </a:p>
          <a:p>
            <a:r>
              <a:t>The next slides evaluate a numerical example, starting with the hidden weighted sums. The numerical output weights and bias appear when computing the final output.</a:t>
            </a:r>
          </a:p>
          <a:p>
            <a:r>
              <a:t>Source: SEMTM0051_week4_neural_networks_generalisation.tex, one hidden layer and the forward pass.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hidden layer groups units receiving the same input row. Its width m is the number of these units. In the preceding example, the width is three. The input has d coordinates and the output has q coordinates.</a:t>
            </a:r>
          </a:p>
          <a:p>
            <a:r>
              <a:t>Collect the scalar preactivation functions a_j into the row-valued function a, and the scalar feature functions phi_j into the row-valued feature map phi. W and b are hidden parameters; W_out and b_out are output parameters. There is one hidden layer, so a and phi have no layer subscript. Theta collects all parameter entries in a fixed order. For q=1, W_out is a column and b_out is a scalar.</a:t>
            </a:r>
          </a:p>
          <a:p>
            <a:r>
              <a:t>Source: SEMTM0051_week4_neural_networks_generalisation.tex.</a:t>
            </a:r>
          </a:p>
          <a:p>
            <a:r>
              <a:t>This slide formalises the calculations just completed. The numerical example had two input coordinates, three hidden neurons and one output, so d=2, m=3 and q=1. We now collect preactivations and activations into rows, define ReLU on a row component by component, and collect all adjustable coefficients into theta. The notation also permits several outputs.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 min.</a:t>
            </a:r>
          </a:p>
          <a:p>
            <a:r>
              <a:t>This example changes only the first hidden neuron from the numerical forward pass. Originally W11=1, W21=-1 and b1=0. Illustratively change these parameters to W11=1, W21=1 and b1=-1. This is not a computed gradient-descent update. The other hidden neurons and the output parameters stay fixed.</a:t>
            </a:r>
          </a:p>
          <a:p>
            <a:r>
              <a:t>The two plots show the scalar value of the first feature on the input plane. Both axes cover [0,3], with equal aspect ratio, and both maps use the same continuous colour scale from 0 to 5. The original feature ranges from 0 to 3 on this domain, and the changed feature ranges from 0 to 5. White regions have activation zero, as explained in the shared legend. These are activation regions, not predicted classes.</a:t>
            </a:r>
          </a:p>
          <a:p>
            <a:r>
              <a:t>The original boundary is x1-x2=0 and the active side is x1&gt;x2. The changed boundary is x1+x2-1=0 and the active side is x1+x2&gt;1. Changing the weights alters the orientation, while the bias affects the offset. The weight norm is unchanged in this particular comparison.</a:t>
            </a:r>
          </a:p>
          <a:p>
            <a:r>
              <a:t>The same input (1,2) is marked strictly inside both plots. The original first feature gives ReLU(1-2)=0, whereas the changed first feature gives ReLU(1+2-1)=2. The comparison uses only this neuron, so no other activation values need to be recalled. Changing the hidden parameters changes the feature function and hence its value at the same input.</a:t>
            </a:r>
          </a:p>
          <a:p>
            <a:r>
              <a:t>Source: Week 4 neural network notes, the one-hidden-layer forward-pass example and discussion of learned features. The parameter perturbation is an elementary illustration extending that example.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introduce a layer index r. Bold phi_r maps the original input to the whole row of activations at hidden layer r; phi_{r,j} is its j-th scalar component. Square brackets followed by j select that component. The earlier phi_j becomes phi_{1,j}; the earlier hidden parameters W,b become W_1,b_1. Output parameters W_out,b_out become W_L,b_L. Depth L counts affine layers, including the output but excluding the input. In the pictured example L=3 and the widths are 2,5,7,3. Define phi_0(x)=x to write the recursion uniformly. ReLU applies coordinatewise.</a:t>
            </a:r>
          </a:p>
          <a:p>
            <a:r>
              <a:t>Source: SEMTM0051_week4_neural_networks_generalisation.tex.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 min.</a:t>
            </a:r>
          </a:p>
          <a:p>
            <a:r>
              <a:t>Ask for the size of W2 before the table. Explain the count as edges plus biases. A network architecture determines the number and shapes of parameters before they are fitted.</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 min.</a:t>
            </a:r>
          </a:p>
          <a:p>
            <a:r>
              <a:t>This is the same loss choice as Lectures 2 and 3. Only the family of score functions has changed. The logistic empirical loss is a sum, with no 1/N factor.</a:t>
            </a:r>
          </a:p>
          <a:p>
            <a:r>
              <a:t>Source: SEMTM0051_week4_neural_networks_generalisation.tex, lecture notes by Roberto Colomboni.</a:t>
            </a:r>
          </a:p>
          <a:p>
            <a:r>
              <a:t>Convention: the Heaviside step function is 0 for s&lt;=0 and 1 for s&gt;0, including step(0)=0. Thus h(x)=step(f_theta(x)): class 1 requires p_theta(x)&gt;1/2, equivalently a strictly positive score. Probability 1/2 or score zero gives class 0, the smaller binary class index.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1.1 min.</a:t>
            </a:r>
          </a:p>
          <a:p>
            <a:r>
              <a:t>Recall Softmax for a full row of probabilities from Lecture 3. The component formula makes the normalization explicit. Argmax gives the set of indices with maximal probability. The outer min selects the smallest class index in a tie. This agrees with choosing class 0 in the binary case when both labels have probability 1/2.</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3: What neural networks can represent. Briefly locate this part in the lecture before continuing.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a:t>
            </a:r>
          </a:p>
          <a:p>
            <a:r>
              <a:t>Show the complete target before constructing it. It is zero before x=0, rises to one at x=1, falls to zero at x=2, and stays zero afterwards. A single affine function cannot reproduce these changes of slope.</a:t>
            </a:r>
          </a:p>
          <a:p>
            <a:r>
              <a:t>We could choose this as a fixed feature, as in Lecture 2. Here we will construct it using ReLU units with adjustable weights and biases. In this example we choose the parameters by hand to make their roles visible. This establishes representational capacity; it does not show that training will find the parameters.</a:t>
            </a:r>
          </a:p>
          <a:p>
            <a:r>
              <a:t>Source: SEMTM0051_week4_neural_networks_generalisation.tex, What the hidden layers can represent and Three ReLUs can form a triangular function.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a:t>
            </a:r>
          </a:p>
          <a:p>
            <a:r>
              <a:t>The dashed grey curve is the target. The coloured curve is the current sum. Keep the axes fixed so students can compare the three constructions. These parameters are chosen by hand.</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a:t>
            </a:r>
          </a:p>
          <a:p>
            <a:r>
              <a:t>The dashed grey curve is the target. The coloured curve is the current sum. Keep the axes fixed so students can compare the three constructions. These parameters are chosen by hand.</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0.5 min.</a:t>
            </a:r>
          </a:p>
          <a:p>
            <a:r>
              <a:t>The third hidden unit computes ReLU(x-2). Its output weight is +1, so it adds a slope of +1 after x=2 and cancels the previous slope of -1. The combined output is zero before x=0, rises to one at x=1, falls to zero at x=2 and remains zero afterwards. This completes the sequence of one, two and three hidden units.</a:t>
            </a:r>
          </a:p>
          <a:p>
            <a:r>
              <a:t>Source: SEMTM0051_week4_neural_networks_generalisation.tex.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0.6 min.</a:t>
            </a:r>
          </a:p>
          <a:p>
            <a:r>
              <a:t>The triangular predictor uses one scalar input and one hidden layer of width three. The hidden weight row W=(1,1,1) and bias row b=(0,-1,-2) give the feature values ReLU(x), ReLU(x-1) and ReLU(x-2). The output weight column is (1,-2,1)^T and the output bias is zero. These parameters reproduce the completed triangular function on the preceding slide.</a:t>
            </a:r>
          </a:p>
          <a:p>
            <a:r>
              <a:t>Source: SEMTM0051_week4_neural_networks_generalisation.tex.</a:t>
            </a:r>
          </a:p>
          <a:p>
            <a:r>
              <a:t>The explicit parameters control the construction: hidden biases set the breakpoints, and the output weights change the slopes. These parameters can be fitted to data instead of chosen by hand. Adjusting arbitrary individual parameters need not preserve an exact tent shape.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1.1 min.</a:t>
            </a:r>
          </a:p>
          <a:p>
            <a:r>
              <a:t>Only four observations. This example asks whether an affine score can correctly classify these data using the same threshold convention as Lecture 3.</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1.7 min.</a:t>
            </a:r>
          </a:p>
          <a:p>
            <a:r>
              <a:t>Use h=0 at score zero. The class 0 observations require b&lt;=0 and b+w1+w2&lt;=0. The class 1 observations require b+w1&gt;0 and b+w2&gt;0. Adding each pair gives 2b+w1+w2&lt;=0 and 2b+w1+w2&gt;0, which contradict each other. This proof is short enough for the slide.</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1.8 min.</a:t>
            </a:r>
          </a:p>
          <a:p>
            <a:r>
              <a:t>Use phi without a layer subscript in this standalone example. The table evaluates every observation. All four labels are correct, but sigmoid probabilities are only about .378 or .622. Correct classification is not zero logistic loss.</a:t>
            </a:r>
          </a:p>
          <a:p>
            <a:r>
              <a:t>Source: SEMTM0051_week4_neural_networks_generalisation.tex, lecture notes by Roberto Colomboni.</a:t>
            </a:r>
          </a:p>
          <a:p>
            <a:r>
              <a:t>The binary rule is h(x)=1 only when f(x)&gt;0, and h(x)=0 when f(x)&lt;=0. All scores in this table are +0.5 or -0.5, so the predictions are unchanged by the convention at zero.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2.1 min.</a:t>
            </a:r>
          </a:p>
          <a:p>
            <a:r>
              <a:t>The input plane has two boundary lines. The feature plane needs one line. Both class 0 inputs map exactly to (0,0); this intentional collision is labelled, not jittered. Coordinates in the right plot are feature values.</a:t>
            </a:r>
          </a:p>
          <a:p>
            <a:r>
              <a:t>Source: SEMTM0051_week4_neural_networks_generalisation.tex, lecture notes by Roberto Colomboni.</a:t>
            </a:r>
          </a:p>
          <a:p>
            <a:r>
              <a:t>The output is affine in the hidden feature values. Since those features are nonlinear functions of the original input, the corresponding decision boundary in input space need not be a single straight line. The figure shows this directly. A suitable fixed feature expansion could also solve XOR; this example illustrates the network construction and the change of geometry.</a:t>
            </a:r>
          </a:p>
          <a:p>
            <a:r>
              <a:t>Boundary convention: points with |x1-x2|=1/2, equivalently phi1(x)+phi2(x)=1/2, have output score zero and receive class 0. Class 1 requires strict inequality &gt;1/2. The boundary locations and the four plotted observations are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4: Fitting neural networks and local minima. Briefly locate this part in the lecture before continuing.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1.3 min.</a:t>
            </a:r>
          </a:p>
          <a:p>
            <a:r>
              <a:t>Use a generic per-observation loss: squared for regression or a classification loss applied after the appropriate probability link. All current derivatives are computed before updating parameters.</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1.3 min.</a:t>
            </a:r>
          </a:p>
          <a:p>
            <a:r>
              <a:t>This is a restricted family. Hidden biases are tied to the same scalar with opposite signs. Do not claim that the local minima remain local minima when all weights and biases are released. Horizontal axis of this graph is x, not theta.</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1.4 min.</a:t>
            </a:r>
          </a:p>
          <a:p>
            <a:r>
              <a:t>Now the horizontal axis is the adjustable parameter theta. The data points are fixed. Derive the first piece orally if time permits; the notes contain every interval calculation.</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 min.</a:t>
            </a:r>
          </a:p>
          <a:p>
            <a:r>
              <a:t>At -3 the squared loss is zero and therefore globally minimal. At +3 the loss increases for small nonzero moves but is larger than at -3: a strict local minimum in this restricted family. Zero derivative alone does not distinguish them.</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1.3 min.</a:t>
            </a:r>
          </a:p>
          <a:p>
            <a:r>
              <a:t>The same scalar network gives a sigmoid probability. Natural logarithms. Global loss 2log(1+exp(-1))=.626523375, local loss 2log(1+exp(1))=2.626523375. Both stationary. Predictions reverse at +3.</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clicks reveal t=1,2,5,10,20, starting from t=0. Both initialisations update simultaneously. Learning rate eta=.05. Each frame contains every actual intermediate GD segment up to its displayed t, not one artificial large jump. The blue and orange filled points show current iterates. Hollow circles retain the two initial positions. Parameter and loss readouts use four decimal places, with approximation signs. At t=20 neither run has reached its limiting minimum exactly. Values are calculated from f_theta(x)=|x-theta|-3 with the fixed observations from the notes. Suggested time: 1.1 min. Source: Week4 lecture notes, section7.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clicks reveal t=1,2,5,10,20, starting from t=0. Both initialisations update simultaneously. Learning rate eta=.5. Each frame contains every actual intermediate GD segment up to its displayed t, not one artificial large jump. The blue and orange filled points show current iterates. Hollow circles retain the two initial positions. Parameter and loss readouts use four decimal places, with approximation signs. At t=20 neither run has reached its limiting minimum exactly. Values are calculated from f_theta(x)=|x-theta|-3 with the fixed observations from the notes. Suggested time: 1.1 min. Source: Week4 lecture notes, section7.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1.8 min.</a:t>
            </a:r>
          </a:p>
          <a:p>
            <a:r>
              <a:t>These are practical heuristics in a general application. Different initialisations compare training fits; validation data assess generalisation. Minibatches use a randomly selected subset instead of all observations, so their gradient need not vanish where the full gradient does. Momentum accumulates information from past gradients and can reinforce consistent update directions. Adam combines a moving average of gradients with adaptive parameter-wise scaling based on squared gradients. These choices change the optimisation trajectory without guaranteeing escape from every local minimum.</a:t>
            </a:r>
          </a:p>
          <a:p>
            <a:r>
              <a:t>Width result: Quynh Nguyen (2019), On Connected Sublevel Sets in Deep Learning, ICML, Theorem 6.1. For fully connected ReLU networks, distinct training inputs, a loss convex in the network outputs, and every hidden layer of width at least N (the number of training inputs), the loss has no bad local valleys. For one hidden layer this condition is m &gt;= N. This concerns the geometry of the training loss and is not a theorem guaranteeing convergence of gradient descent. Non-strict suboptimal local minima on flat regions can remain. https://proceedings.mlr.press/v97/nguyen19a/nguyen19a.pdf</a:t>
            </a:r>
          </a:p>
          <a:p>
            <a:r>
              <a:t>Momentum reference: Sutskever et al. (2013), On the importance of initialization and momentum in deep learning. https://proceedings.mlr.press/v28/sutskever13.pdf. Adam reference: Kingma and Ba (2015), Adam: A Method for Stochastic Optimization. https://arxiv.org/abs/1412.6980.</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a:t>
            </a:r>
          </a:p>
          <a:p>
            <a:r>
              <a:t>Gradient descent needs the loss gradient with respect to all network parameters. As in logistic regression, differentiating the loss requires following a composition of functions. Each network layer applies an affine transformation and an activation function, and the loss acts on the final prediction. The chain rule connects these operations. Backpropagation organises the calculation efficiently by reusing intermediate derivatives in a backward pass. Lecture 5 develops that calculation.</a:t>
            </a:r>
          </a:p>
          <a:p>
            <a:r>
              <a:t>Source: SEMTM0051_week4_neural_networks_generalisation.tex, lecture notes by Roberto Colomboni.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lecture notes on the course GitHub page give further detail and exercises. Exercise solutions are posted before the next lecture. The hyperlink and QR code both lead to the course repository.</a:t>
            </a:r>
          </a:p>
          <a:p>
            <a:r>
              <a:t>Course materials: https://github.com/semtm0051/2026_27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80.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30.png"/><Relationship Id="rId4" Type="http://schemas.openxmlformats.org/officeDocument/2006/relationships/image" Target="../media/image22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630.png"/><Relationship Id="rId13" Type="http://schemas.openxmlformats.org/officeDocument/2006/relationships/image" Target="../media/image681.png"/><Relationship Id="rId18" Type="http://schemas.openxmlformats.org/officeDocument/2006/relationships/image" Target="../media/image730.png"/><Relationship Id="rId3" Type="http://schemas.openxmlformats.org/officeDocument/2006/relationships/image" Target="../media/image25.png"/><Relationship Id="rId21" Type="http://schemas.openxmlformats.org/officeDocument/2006/relationships/image" Target="../media/image760.png"/><Relationship Id="rId7" Type="http://schemas.openxmlformats.org/officeDocument/2006/relationships/image" Target="../media/image620.png"/><Relationship Id="rId12" Type="http://schemas.openxmlformats.org/officeDocument/2006/relationships/image" Target="../media/image671.png"/><Relationship Id="rId17" Type="http://schemas.openxmlformats.org/officeDocument/2006/relationships/image" Target="../media/image720.png"/><Relationship Id="rId2" Type="http://schemas.openxmlformats.org/officeDocument/2006/relationships/notesSlide" Target="../notesSlides/notesSlide10.xml"/><Relationship Id="rId16" Type="http://schemas.openxmlformats.org/officeDocument/2006/relationships/image" Target="../media/image710.png"/><Relationship Id="rId20" Type="http://schemas.openxmlformats.org/officeDocument/2006/relationships/image" Target="../media/image750.png"/><Relationship Id="rId1" Type="http://schemas.openxmlformats.org/officeDocument/2006/relationships/slideLayout" Target="../slideLayouts/slideLayout1.xml"/><Relationship Id="rId6" Type="http://schemas.openxmlformats.org/officeDocument/2006/relationships/image" Target="../media/image611.png"/><Relationship Id="rId11" Type="http://schemas.openxmlformats.org/officeDocument/2006/relationships/image" Target="../media/image27.png"/><Relationship Id="rId24" Type="http://schemas.openxmlformats.org/officeDocument/2006/relationships/image" Target="../media/image28.png"/><Relationship Id="rId5" Type="http://schemas.openxmlformats.org/officeDocument/2006/relationships/image" Target="../media/image600.png"/><Relationship Id="rId15" Type="http://schemas.openxmlformats.org/officeDocument/2006/relationships/image" Target="../media/image700.png"/><Relationship Id="rId23" Type="http://schemas.openxmlformats.org/officeDocument/2006/relationships/image" Target="../media/image780.png"/><Relationship Id="rId10" Type="http://schemas.openxmlformats.org/officeDocument/2006/relationships/image" Target="../media/image26.png"/><Relationship Id="rId19" Type="http://schemas.openxmlformats.org/officeDocument/2006/relationships/image" Target="../media/image740.png"/><Relationship Id="rId4" Type="http://schemas.openxmlformats.org/officeDocument/2006/relationships/image" Target="../media/image590.png"/><Relationship Id="rId9" Type="http://schemas.openxmlformats.org/officeDocument/2006/relationships/image" Target="../media/image640.png"/><Relationship Id="rId14" Type="http://schemas.openxmlformats.org/officeDocument/2006/relationships/image" Target="../media/image690.png"/><Relationship Id="rId22" Type="http://schemas.openxmlformats.org/officeDocument/2006/relationships/image" Target="../media/image770.png"/></Relationships>
</file>

<file path=ppt/slides/_rels/slide11.xml.rels><?xml version="1.0" encoding="UTF-8" standalone="yes"?>
<Relationships xmlns="http://schemas.openxmlformats.org/package/2006/relationships"><Relationship Id="rId8" Type="http://schemas.openxmlformats.org/officeDocument/2006/relationships/image" Target="../media/image630.png"/><Relationship Id="rId13" Type="http://schemas.openxmlformats.org/officeDocument/2006/relationships/image" Target="../media/image820.png"/><Relationship Id="rId18" Type="http://schemas.openxmlformats.org/officeDocument/2006/relationships/image" Target="../media/image86.png"/><Relationship Id="rId3" Type="http://schemas.openxmlformats.org/officeDocument/2006/relationships/image" Target="../media/image48.png"/><Relationship Id="rId21" Type="http://schemas.openxmlformats.org/officeDocument/2006/relationships/image" Target="../media/image88.png"/><Relationship Id="rId7" Type="http://schemas.openxmlformats.org/officeDocument/2006/relationships/image" Target="../media/image620.png"/><Relationship Id="rId12" Type="http://schemas.openxmlformats.org/officeDocument/2006/relationships/image" Target="../media/image810.png"/><Relationship Id="rId17" Type="http://schemas.openxmlformats.org/officeDocument/2006/relationships/image" Target="../media/image85.png"/><Relationship Id="rId25" Type="http://schemas.openxmlformats.org/officeDocument/2006/relationships/image" Target="../media/image29.png"/><Relationship Id="rId2" Type="http://schemas.openxmlformats.org/officeDocument/2006/relationships/notesSlide" Target="../notesSlides/notesSlide11.xml"/><Relationship Id="rId16" Type="http://schemas.openxmlformats.org/officeDocument/2006/relationships/image" Target="../media/image84.png"/><Relationship Id="rId20" Type="http://schemas.openxmlformats.org/officeDocument/2006/relationships/image" Target="../media/image750.png"/><Relationship Id="rId1" Type="http://schemas.openxmlformats.org/officeDocument/2006/relationships/slideLayout" Target="../slideLayouts/slideLayout1.xml"/><Relationship Id="rId6" Type="http://schemas.openxmlformats.org/officeDocument/2006/relationships/image" Target="../media/image611.png"/><Relationship Id="rId11" Type="http://schemas.openxmlformats.org/officeDocument/2006/relationships/image" Target="../media/image27.png"/><Relationship Id="rId24" Type="http://schemas.openxmlformats.org/officeDocument/2006/relationships/image" Target="../media/image91.png"/><Relationship Id="rId5" Type="http://schemas.openxmlformats.org/officeDocument/2006/relationships/image" Target="../media/image600.png"/><Relationship Id="rId15" Type="http://schemas.openxmlformats.org/officeDocument/2006/relationships/image" Target="../media/image700.png"/><Relationship Id="rId23" Type="http://schemas.openxmlformats.org/officeDocument/2006/relationships/image" Target="../media/image90.png"/><Relationship Id="rId10" Type="http://schemas.openxmlformats.org/officeDocument/2006/relationships/image" Target="../media/image26.png"/><Relationship Id="rId19" Type="http://schemas.openxmlformats.org/officeDocument/2006/relationships/image" Target="../media/image87.png"/><Relationship Id="rId4" Type="http://schemas.openxmlformats.org/officeDocument/2006/relationships/image" Target="../media/image590.png"/><Relationship Id="rId9" Type="http://schemas.openxmlformats.org/officeDocument/2006/relationships/image" Target="../media/image640.png"/><Relationship Id="rId14" Type="http://schemas.openxmlformats.org/officeDocument/2006/relationships/image" Target="../media/image830.png"/><Relationship Id="rId22" Type="http://schemas.openxmlformats.org/officeDocument/2006/relationships/image" Target="../media/image89.png"/></Relationships>
</file>

<file path=ppt/slides/_rels/slide12.xml.rels><?xml version="1.0" encoding="UTF-8" standalone="yes"?>
<Relationships xmlns="http://schemas.openxmlformats.org/package/2006/relationships"><Relationship Id="rId8" Type="http://schemas.openxmlformats.org/officeDocument/2006/relationships/image" Target="../media/image630.png"/><Relationship Id="rId13" Type="http://schemas.openxmlformats.org/officeDocument/2006/relationships/image" Target="../media/image96.png"/><Relationship Id="rId18" Type="http://schemas.openxmlformats.org/officeDocument/2006/relationships/image" Target="../media/image101.png"/><Relationship Id="rId26" Type="http://schemas.openxmlformats.org/officeDocument/2006/relationships/image" Target="../media/image31.png"/><Relationship Id="rId3" Type="http://schemas.openxmlformats.org/officeDocument/2006/relationships/image" Target="../media/image48.png"/><Relationship Id="rId21" Type="http://schemas.openxmlformats.org/officeDocument/2006/relationships/image" Target="../media/image104.png"/><Relationship Id="rId7" Type="http://schemas.openxmlformats.org/officeDocument/2006/relationships/image" Target="../media/image620.png"/><Relationship Id="rId12" Type="http://schemas.openxmlformats.org/officeDocument/2006/relationships/image" Target="../media/image95.png"/><Relationship Id="rId17" Type="http://schemas.openxmlformats.org/officeDocument/2006/relationships/image" Target="../media/image100.png"/><Relationship Id="rId25" Type="http://schemas.openxmlformats.org/officeDocument/2006/relationships/image" Target="../media/image108.png"/><Relationship Id="rId2" Type="http://schemas.openxmlformats.org/officeDocument/2006/relationships/notesSlide" Target="../notesSlides/notesSlide12.xml"/><Relationship Id="rId16" Type="http://schemas.openxmlformats.org/officeDocument/2006/relationships/image" Target="../media/image99.png"/><Relationship Id="rId20" Type="http://schemas.openxmlformats.org/officeDocument/2006/relationships/image" Target="../media/image103.png"/><Relationship Id="rId1" Type="http://schemas.openxmlformats.org/officeDocument/2006/relationships/slideLayout" Target="../slideLayouts/slideLayout1.xml"/><Relationship Id="rId6" Type="http://schemas.openxmlformats.org/officeDocument/2006/relationships/image" Target="../media/image611.png"/><Relationship Id="rId11" Type="http://schemas.openxmlformats.org/officeDocument/2006/relationships/image" Target="../media/image30.png"/><Relationship Id="rId24" Type="http://schemas.openxmlformats.org/officeDocument/2006/relationships/image" Target="../media/image107.png"/><Relationship Id="rId5" Type="http://schemas.openxmlformats.org/officeDocument/2006/relationships/image" Target="../media/image600.png"/><Relationship Id="rId15" Type="http://schemas.openxmlformats.org/officeDocument/2006/relationships/image" Target="../media/image98.png"/><Relationship Id="rId23" Type="http://schemas.openxmlformats.org/officeDocument/2006/relationships/image" Target="../media/image106.png"/><Relationship Id="rId10" Type="http://schemas.openxmlformats.org/officeDocument/2006/relationships/image" Target="../media/image292.png"/><Relationship Id="rId19" Type="http://schemas.openxmlformats.org/officeDocument/2006/relationships/image" Target="../media/image102.png"/><Relationship Id="rId4" Type="http://schemas.openxmlformats.org/officeDocument/2006/relationships/image" Target="../media/image590.png"/><Relationship Id="rId9" Type="http://schemas.openxmlformats.org/officeDocument/2006/relationships/image" Target="../media/image640.png"/><Relationship Id="rId14" Type="http://schemas.openxmlformats.org/officeDocument/2006/relationships/image" Target="../media/image97.png"/><Relationship Id="rId22" Type="http://schemas.openxmlformats.org/officeDocument/2006/relationships/image" Target="../media/image105.png"/></Relationships>
</file>

<file path=ppt/slides/_rels/slide13.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image" Target="../media/image120.png"/><Relationship Id="rId3" Type="http://schemas.openxmlformats.org/officeDocument/2006/relationships/image" Target="../media/image110.png"/><Relationship Id="rId7" Type="http://schemas.openxmlformats.org/officeDocument/2006/relationships/image" Target="../media/image114.png"/><Relationship Id="rId12" Type="http://schemas.openxmlformats.org/officeDocument/2006/relationships/image" Target="../media/image7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13.png"/><Relationship Id="rId11" Type="http://schemas.openxmlformats.org/officeDocument/2006/relationships/image" Target="../media/image118.png"/><Relationship Id="rId5" Type="http://schemas.openxmlformats.org/officeDocument/2006/relationships/image" Target="../media/image112.png"/><Relationship Id="rId10" Type="http://schemas.openxmlformats.org/officeDocument/2006/relationships/image" Target="../media/image117.png"/><Relationship Id="rId4" Type="http://schemas.openxmlformats.org/officeDocument/2006/relationships/image" Target="../media/image111.png"/><Relationship Id="rId9" Type="http://schemas.openxmlformats.org/officeDocument/2006/relationships/image" Target="../media/image116.png"/></Relationships>
</file>

<file path=ppt/slides/_rels/slide14.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271.png"/><Relationship Id="rId18" Type="http://schemas.openxmlformats.org/officeDocument/2006/relationships/image" Target="../media/image45.png"/><Relationship Id="rId3" Type="http://schemas.openxmlformats.org/officeDocument/2006/relationships/image" Target="../media/image300.png"/><Relationship Id="rId21" Type="http://schemas.openxmlformats.org/officeDocument/2006/relationships/image" Target="../media/image39.png"/><Relationship Id="rId7" Type="http://schemas.openxmlformats.org/officeDocument/2006/relationships/image" Target="../media/image34.png"/><Relationship Id="rId12" Type="http://schemas.openxmlformats.org/officeDocument/2006/relationships/image" Target="../media/image260.png"/><Relationship Id="rId17" Type="http://schemas.openxmlformats.org/officeDocument/2006/relationships/image" Target="../media/image291.png"/><Relationship Id="rId2" Type="http://schemas.openxmlformats.org/officeDocument/2006/relationships/notesSlide" Target="../notesSlides/notesSlide14.xml"/><Relationship Id="rId16" Type="http://schemas.openxmlformats.org/officeDocument/2006/relationships/image" Target="../media/image281.png"/><Relationship Id="rId20"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2.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0.png"/><Relationship Id="rId9" Type="http://schemas.openxmlformats.org/officeDocument/2006/relationships/image" Target="../media/image250.png"/><Relationship Id="rId14" Type="http://schemas.openxmlformats.org/officeDocument/2006/relationships/image" Target="../media/image41.png"/><Relationship Id="rId22" Type="http://schemas.openxmlformats.org/officeDocument/2006/relationships/image" Target="../media/image49.png"/></Relationships>
</file>

<file path=ppt/slides/_rels/slide15.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43.png"/><Relationship Id="rId18" Type="http://schemas.openxmlformats.org/officeDocument/2006/relationships/image" Target="../media/image62.png"/><Relationship Id="rId3" Type="http://schemas.openxmlformats.org/officeDocument/2006/relationships/image" Target="../media/image270.png"/><Relationship Id="rId21" Type="http://schemas.openxmlformats.org/officeDocument/2006/relationships/image" Target="../media/image57.png"/><Relationship Id="rId7" Type="http://schemas.openxmlformats.org/officeDocument/2006/relationships/image" Target="../media/image51.png"/><Relationship Id="rId12" Type="http://schemas.openxmlformats.org/officeDocument/2006/relationships/image" Target="../media/image40.png"/><Relationship Id="rId17" Type="http://schemas.openxmlformats.org/officeDocument/2006/relationships/image" Target="../media/image47.png"/><Relationship Id="rId2" Type="http://schemas.openxmlformats.org/officeDocument/2006/relationships/notesSlide" Target="../notesSlides/notesSlide15.xml"/><Relationship Id="rId16" Type="http://schemas.openxmlformats.org/officeDocument/2006/relationships/image" Target="../media/image44.png"/><Relationship Id="rId20" Type="http://schemas.openxmlformats.org/officeDocument/2006/relationships/image" Target="../media/image56.png"/><Relationship Id="rId1" Type="http://schemas.openxmlformats.org/officeDocument/2006/relationships/slideLayout" Target="../slideLayouts/slideLayout1.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290.png"/><Relationship Id="rId15" Type="http://schemas.openxmlformats.org/officeDocument/2006/relationships/image" Target="../media/image59.png"/><Relationship Id="rId10" Type="http://schemas.openxmlformats.org/officeDocument/2006/relationships/image" Target="../media/image54.png"/><Relationship Id="rId19" Type="http://schemas.openxmlformats.org/officeDocument/2006/relationships/image" Target="../media/image63.png"/><Relationship Id="rId4" Type="http://schemas.openxmlformats.org/officeDocument/2006/relationships/image" Target="../media/image280.png"/><Relationship Id="rId9" Type="http://schemas.openxmlformats.org/officeDocument/2006/relationships/image" Target="../media/image53.png"/><Relationship Id="rId14" Type="http://schemas.openxmlformats.org/officeDocument/2006/relationships/image" Target="../media/image58.png"/><Relationship Id="rId22" Type="http://schemas.openxmlformats.org/officeDocument/2006/relationships/image" Target="../media/image66.png"/></Relationships>
</file>

<file path=ppt/slides/_rels/slide16.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6.png"/><Relationship Id="rId3" Type="http://schemas.openxmlformats.org/officeDocument/2006/relationships/image" Target="../media/image400.png"/><Relationship Id="rId7" Type="http://schemas.openxmlformats.org/officeDocument/2006/relationships/image" Target="../media/image67.png"/><Relationship Id="rId12" Type="http://schemas.openxmlformats.org/officeDocument/2006/relationships/image" Target="../media/image7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72.png"/><Relationship Id="rId11" Type="http://schemas.openxmlformats.org/officeDocument/2006/relationships/image" Target="../media/image74.png"/><Relationship Id="rId5" Type="http://schemas.openxmlformats.org/officeDocument/2006/relationships/image" Target="../media/image441.png"/><Relationship Id="rId15" Type="http://schemas.openxmlformats.org/officeDocument/2006/relationships/image" Target="../media/image471.png"/><Relationship Id="rId10" Type="http://schemas.openxmlformats.org/officeDocument/2006/relationships/image" Target="../media/image430.png"/><Relationship Id="rId4" Type="http://schemas.openxmlformats.org/officeDocument/2006/relationships/image" Target="../media/image431.png"/><Relationship Id="rId9" Type="http://schemas.openxmlformats.org/officeDocument/2006/relationships/image" Target="../media/image69.png"/><Relationship Id="rId14" Type="http://schemas.openxmlformats.org/officeDocument/2006/relationships/image" Target="../media/image440.png"/></Relationships>
</file>

<file path=ppt/slides/_rels/slide17.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0.png"/><Relationship Id="rId7" Type="http://schemas.openxmlformats.org/officeDocument/2006/relationships/image" Target="../media/image8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511.png"/><Relationship Id="rId9" Type="http://schemas.openxmlformats.org/officeDocument/2006/relationships/image" Target="../media/image711.png"/></Relationships>
</file>

<file path=ppt/slides/_rels/slide18.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82.png"/><Relationship Id="rId7"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09.png"/><Relationship Id="rId5" Type="http://schemas.openxmlformats.org/officeDocument/2006/relationships/image" Target="../media/image92.png"/><Relationship Id="rId4" Type="http://schemas.openxmlformats.org/officeDocument/2006/relationships/image" Target="../media/image83.png"/></Relationships>
</file>

<file path=ppt/slides/_rels/slide19.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65.png"/><Relationship Id="rId7" Type="http://schemas.openxmlformats.org/officeDocument/2006/relationships/image" Target="../media/image77.png"/><Relationship Id="rId2" Type="http://schemas.openxmlformats.org/officeDocument/2006/relationships/image" Target="../media/image64.png"/><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0.png"/></Relationships>
</file>

<file path=ppt/slides/_rels/slide20.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94.png"/><Relationship Id="rId7" Type="http://schemas.openxmlformats.org/officeDocument/2006/relationships/image" Target="../media/image65.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23.png"/><Relationship Id="rId11" Type="http://schemas.openxmlformats.org/officeDocument/2006/relationships/image" Target="../media/image124.png"/><Relationship Id="rId5" Type="http://schemas.openxmlformats.org/officeDocument/2006/relationships/image" Target="../media/image122.png"/><Relationship Id="rId10" Type="http://schemas.openxmlformats.org/officeDocument/2006/relationships/image" Target="../media/image73.png"/><Relationship Id="rId4" Type="http://schemas.openxmlformats.org/officeDocument/2006/relationships/image" Target="../media/image119.png"/><Relationship Id="rId9" Type="http://schemas.openxmlformats.org/officeDocument/2006/relationships/image" Target="../media/image72.png"/></Relationships>
</file>

<file path=ppt/slides/_rels/slide21.xml.rels><?xml version="1.0" encoding="UTF-8" standalone="yes"?>
<Relationships xmlns="http://schemas.openxmlformats.org/package/2006/relationships"><Relationship Id="rId3" Type="http://schemas.openxmlformats.org/officeDocument/2006/relationships/image" Target="../media/image125.png"/><Relationship Id="rId7" Type="http://schemas.openxmlformats.org/officeDocument/2006/relationships/image" Target="../media/image127.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26.png"/><Relationship Id="rId5" Type="http://schemas.openxmlformats.org/officeDocument/2006/relationships/image" Target="../media/image128.png"/><Relationship Id="rId4" Type="http://schemas.openxmlformats.org/officeDocument/2006/relationships/image" Target="../media/image470.png"/></Relationships>
</file>

<file path=ppt/slides/_rels/slide22.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image" Target="../media/image480.png"/><Relationship Id="rId7" Type="http://schemas.openxmlformats.org/officeDocument/2006/relationships/image" Target="../media/image13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129.png"/><Relationship Id="rId9" Type="http://schemas.openxmlformats.org/officeDocument/2006/relationships/image" Target="../media/image134.png"/></Relationships>
</file>

<file path=ppt/slides/_rels/slide23.xml.rels><?xml version="1.0" encoding="UTF-8" standalone="yes"?>
<Relationships xmlns="http://schemas.openxmlformats.org/package/2006/relationships"><Relationship Id="rId3" Type="http://schemas.openxmlformats.org/officeDocument/2006/relationships/image" Target="../media/image135.png"/><Relationship Id="rId7" Type="http://schemas.openxmlformats.org/officeDocument/2006/relationships/image" Target="../media/image136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28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7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21.png"/><Relationship Id="rId7" Type="http://schemas.openxmlformats.org/officeDocument/2006/relationships/image" Target="../media/image139.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38.png"/><Relationship Id="rId5" Type="http://schemas.openxmlformats.org/officeDocument/2006/relationships/chart" Target="../charts/chart3.xml"/><Relationship Id="rId4" Type="http://schemas.openxmlformats.org/officeDocument/2006/relationships/image" Target="../media/image1300.png"/></Relationships>
</file>

<file path=ppt/slides/_rels/slide27.xml.rels><?xml version="1.0" encoding="UTF-8" standalone="yes"?>
<Relationships xmlns="http://schemas.openxmlformats.org/package/2006/relationships"><Relationship Id="rId8" Type="http://schemas.openxmlformats.org/officeDocument/2006/relationships/image" Target="../media/image1321.png"/><Relationship Id="rId3" Type="http://schemas.openxmlformats.org/officeDocument/2006/relationships/image" Target="../media/image1391.png"/><Relationship Id="rId7" Type="http://schemas.openxmlformats.org/officeDocument/2006/relationships/image" Target="../media/image140.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38.png"/><Relationship Id="rId5" Type="http://schemas.openxmlformats.org/officeDocument/2006/relationships/chart" Target="../charts/chart4.xml"/><Relationship Id="rId4" Type="http://schemas.openxmlformats.org/officeDocument/2006/relationships/image" Target="../media/image1310.png"/></Relationships>
</file>

<file path=ppt/slides/_rels/slide28.xml.rels><?xml version="1.0" encoding="UTF-8" standalone="yes"?>
<Relationships xmlns="http://schemas.openxmlformats.org/package/2006/relationships"><Relationship Id="rId3" Type="http://schemas.openxmlformats.org/officeDocument/2006/relationships/image" Target="../media/image1400.png"/><Relationship Id="rId7" Type="http://schemas.openxmlformats.org/officeDocument/2006/relationships/image" Target="../media/image14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38.png"/><Relationship Id="rId5" Type="http://schemas.openxmlformats.org/officeDocument/2006/relationships/chart" Target="../charts/chart5.xml"/><Relationship Id="rId4" Type="http://schemas.openxmlformats.org/officeDocument/2006/relationships/image" Target="../media/image1320.png"/></Relationships>
</file>

<file path=ppt/slides/_rels/slide29.xml.rels><?xml version="1.0" encoding="UTF-8" standalone="yes"?>
<Relationships xmlns="http://schemas.openxmlformats.org/package/2006/relationships"><Relationship Id="rId8" Type="http://schemas.openxmlformats.org/officeDocument/2006/relationships/image" Target="../media/image144.png"/><Relationship Id="rId3" Type="http://schemas.openxmlformats.org/officeDocument/2006/relationships/image" Target="../media/image142.png"/><Relationship Id="rId7" Type="http://schemas.openxmlformats.org/officeDocument/2006/relationships/image" Target="../media/image143.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38.png"/><Relationship Id="rId5" Type="http://schemas.openxmlformats.org/officeDocument/2006/relationships/chart" Target="../charts/chart6.xml"/><Relationship Id="rId10" Type="http://schemas.openxmlformats.org/officeDocument/2006/relationships/image" Target="../media/image146.png"/><Relationship Id="rId4" Type="http://schemas.openxmlformats.org/officeDocument/2006/relationships/image" Target="../media/image1320.png"/><Relationship Id="rId9" Type="http://schemas.openxmlformats.org/officeDocument/2006/relationships/image" Target="../media/image145.png"/></Relationships>
</file>

<file path=ppt/slides/_rels/slide30.xml.rels><?xml version="1.0" encoding="UTF-8" standalone="yes"?>
<Relationships xmlns="http://schemas.openxmlformats.org/package/2006/relationships"><Relationship Id="rId3" Type="http://schemas.openxmlformats.org/officeDocument/2006/relationships/image" Target="../media/image141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370.png"/><Relationship Id="rId5" Type="http://schemas.openxmlformats.org/officeDocument/2006/relationships/image" Target="../media/image1360.png"/><Relationship Id="rId4" Type="http://schemas.openxmlformats.org/officeDocument/2006/relationships/chart" Target="../charts/chart7.xml"/></Relationships>
</file>

<file path=ppt/slides/_rels/slide31.xml.rels><?xml version="1.0" encoding="UTF-8" standalone="yes"?>
<Relationships xmlns="http://schemas.openxmlformats.org/package/2006/relationships"><Relationship Id="rId8" Type="http://schemas.openxmlformats.org/officeDocument/2006/relationships/image" Target="../media/image1401.png"/><Relationship Id="rId3" Type="http://schemas.openxmlformats.org/officeDocument/2006/relationships/image" Target="../media/image1380.png"/><Relationship Id="rId7" Type="http://schemas.openxmlformats.org/officeDocument/2006/relationships/image" Target="../media/image1390.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230.png"/><Relationship Id="rId5" Type="http://schemas.openxmlformats.org/officeDocument/2006/relationships/image" Target="../media/image1220.png"/><Relationship Id="rId4" Type="http://schemas.openxmlformats.org/officeDocument/2006/relationships/image" Target="../media/image1420.png"/></Relationships>
</file>

<file path=ppt/slides/_rels/slide32.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33.xml.rels><?xml version="1.0" encoding="UTF-8" standalone="yes"?>
<Relationships xmlns="http://schemas.openxmlformats.org/package/2006/relationships"><Relationship Id="rId8" Type="http://schemas.openxmlformats.org/officeDocument/2006/relationships/image" Target="../media/image153.png"/><Relationship Id="rId3" Type="http://schemas.openxmlformats.org/officeDocument/2006/relationships/chart" Target="../charts/chart8.xml"/><Relationship Id="rId7" Type="http://schemas.openxmlformats.org/officeDocument/2006/relationships/image" Target="../media/image15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151.png"/><Relationship Id="rId5" Type="http://schemas.openxmlformats.org/officeDocument/2006/relationships/image" Target="../media/image1410.png"/><Relationship Id="rId4" Type="http://schemas.openxmlformats.org/officeDocument/2006/relationships/chart" Target="../charts/chart9.xml"/><Relationship Id="rId9" Type="http://schemas.openxmlformats.org/officeDocument/2006/relationships/image" Target="../media/image15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45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460.png"/></Relationships>
</file>

<file path=ppt/slides/_rels/slide36.xml.rels><?xml version="1.0" encoding="UTF-8" standalone="yes"?>
<Relationships xmlns="http://schemas.openxmlformats.org/package/2006/relationships"><Relationship Id="rId8" Type="http://schemas.openxmlformats.org/officeDocument/2006/relationships/image" Target="../media/image158.png"/><Relationship Id="rId3" Type="http://schemas.openxmlformats.org/officeDocument/2006/relationships/image" Target="../media/image155.png"/><Relationship Id="rId7" Type="http://schemas.openxmlformats.org/officeDocument/2006/relationships/image" Target="../media/image157.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563.png"/><Relationship Id="rId5" Type="http://schemas.openxmlformats.org/officeDocument/2006/relationships/chart" Target="../charts/chart10.xml"/><Relationship Id="rId10" Type="http://schemas.openxmlformats.org/officeDocument/2006/relationships/image" Target="../media/image160.png"/><Relationship Id="rId4" Type="http://schemas.openxmlformats.org/officeDocument/2006/relationships/image" Target="../media/image156.png"/><Relationship Id="rId9" Type="http://schemas.openxmlformats.org/officeDocument/2006/relationships/image" Target="../media/image159.png"/></Relationships>
</file>

<file path=ppt/slides/_rels/slide37.xml.rels><?xml version="1.0" encoding="UTF-8" standalone="yes"?>
<Relationships xmlns="http://schemas.openxmlformats.org/package/2006/relationships"><Relationship Id="rId3" Type="http://schemas.openxmlformats.org/officeDocument/2006/relationships/image" Target="../media/image161.png"/><Relationship Id="rId7" Type="http://schemas.openxmlformats.org/officeDocument/2006/relationships/image" Target="../media/image1500.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1490.png"/><Relationship Id="rId5" Type="http://schemas.openxmlformats.org/officeDocument/2006/relationships/chart" Target="../charts/chart11.xml"/><Relationship Id="rId4" Type="http://schemas.openxmlformats.org/officeDocument/2006/relationships/image" Target="../media/image1480.png"/></Relationships>
</file>

<file path=ppt/slides/_rels/slide38.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530.png"/><Relationship Id="rId4" Type="http://schemas.openxmlformats.org/officeDocument/2006/relationships/image" Target="../media/image1520.png"/></Relationships>
</file>

<file path=ppt/slides/_rels/slide39.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chart" Target="../charts/chart12.xml"/><Relationship Id="rId4" Type="http://schemas.openxmlformats.org/officeDocument/2006/relationships/image" Target="../media/image1540.png"/></Relationships>
</file>

<file path=ppt/slides/_rels/slide40.xml.rels><?xml version="1.0" encoding="UTF-8" standalone="yes"?>
<Relationships xmlns="http://schemas.openxmlformats.org/package/2006/relationships"><Relationship Id="rId8" Type="http://schemas.openxmlformats.org/officeDocument/2006/relationships/image" Target="../media/image164.png"/><Relationship Id="rId13" Type="http://schemas.openxmlformats.org/officeDocument/2006/relationships/image" Target="../media/image167.png"/><Relationship Id="rId18" Type="http://schemas.openxmlformats.org/officeDocument/2006/relationships/chart" Target="../charts/chart16.xml"/><Relationship Id="rId26" Type="http://schemas.openxmlformats.org/officeDocument/2006/relationships/chart" Target="../charts/chart18.xml"/><Relationship Id="rId3" Type="http://schemas.openxmlformats.org/officeDocument/2006/relationships/image" Target="../media/image1550.png"/><Relationship Id="rId21" Type="http://schemas.openxmlformats.org/officeDocument/2006/relationships/image" Target="../media/image171.png"/><Relationship Id="rId7" Type="http://schemas.openxmlformats.org/officeDocument/2006/relationships/image" Target="../media/image1581.png"/><Relationship Id="rId12" Type="http://schemas.openxmlformats.org/officeDocument/2006/relationships/image" Target="../media/image166.png"/><Relationship Id="rId17" Type="http://schemas.openxmlformats.org/officeDocument/2006/relationships/image" Target="../media/image169.png"/><Relationship Id="rId25" Type="http://schemas.openxmlformats.org/officeDocument/2006/relationships/image" Target="../media/image173.png"/><Relationship Id="rId2" Type="http://schemas.openxmlformats.org/officeDocument/2006/relationships/notesSlide" Target="../notesSlides/notesSlide39.xml"/><Relationship Id="rId16" Type="http://schemas.openxmlformats.org/officeDocument/2006/relationships/image" Target="../media/image168.png"/><Relationship Id="rId20" Type="http://schemas.openxmlformats.org/officeDocument/2006/relationships/image" Target="../media/image170.png"/><Relationship Id="rId29" Type="http://schemas.openxmlformats.org/officeDocument/2006/relationships/image" Target="../media/image175.png"/><Relationship Id="rId1" Type="http://schemas.openxmlformats.org/officeDocument/2006/relationships/slideLayout" Target="../slideLayouts/slideLayout1.xml"/><Relationship Id="rId6" Type="http://schemas.openxmlformats.org/officeDocument/2006/relationships/chart" Target="../charts/chart13.xml"/><Relationship Id="rId11" Type="http://schemas.openxmlformats.org/officeDocument/2006/relationships/image" Target="../media/image1591.png"/><Relationship Id="rId24" Type="http://schemas.openxmlformats.org/officeDocument/2006/relationships/image" Target="../media/image172.png"/><Relationship Id="rId5" Type="http://schemas.openxmlformats.org/officeDocument/2006/relationships/image" Target="../media/image1572.png"/><Relationship Id="rId15" Type="http://schemas.openxmlformats.org/officeDocument/2006/relationships/image" Target="../media/image1601.png"/><Relationship Id="rId23" Type="http://schemas.openxmlformats.org/officeDocument/2006/relationships/image" Target="../media/image1640.png"/><Relationship Id="rId28" Type="http://schemas.openxmlformats.org/officeDocument/2006/relationships/image" Target="../media/image174.png"/><Relationship Id="rId10" Type="http://schemas.openxmlformats.org/officeDocument/2006/relationships/chart" Target="../charts/chart14.xml"/><Relationship Id="rId19" Type="http://schemas.openxmlformats.org/officeDocument/2006/relationships/image" Target="../media/image1621.png"/><Relationship Id="rId4" Type="http://schemas.openxmlformats.org/officeDocument/2006/relationships/image" Target="../media/image1562.png"/><Relationship Id="rId9" Type="http://schemas.openxmlformats.org/officeDocument/2006/relationships/image" Target="../media/image165.png"/><Relationship Id="rId14" Type="http://schemas.openxmlformats.org/officeDocument/2006/relationships/chart" Target="../charts/chart15.xml"/><Relationship Id="rId22" Type="http://schemas.openxmlformats.org/officeDocument/2006/relationships/chart" Target="../charts/chart17.xml"/><Relationship Id="rId27" Type="http://schemas.openxmlformats.org/officeDocument/2006/relationships/image" Target="../media/image1661.png"/></Relationships>
</file>

<file path=ppt/slides/_rels/slide41.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179.png"/><Relationship Id="rId18" Type="http://schemas.openxmlformats.org/officeDocument/2006/relationships/chart" Target="../charts/chart22.xml"/><Relationship Id="rId26" Type="http://schemas.openxmlformats.org/officeDocument/2006/relationships/chart" Target="../charts/chart24.xml"/><Relationship Id="rId3" Type="http://schemas.openxmlformats.org/officeDocument/2006/relationships/image" Target="../media/image1660.png"/><Relationship Id="rId21" Type="http://schemas.openxmlformats.org/officeDocument/2006/relationships/image" Target="../media/image184.png"/><Relationship Id="rId7" Type="http://schemas.openxmlformats.org/officeDocument/2006/relationships/image" Target="../media/image1581.png"/><Relationship Id="rId12" Type="http://schemas.openxmlformats.org/officeDocument/2006/relationships/image" Target="../media/image178.png"/><Relationship Id="rId17" Type="http://schemas.openxmlformats.org/officeDocument/2006/relationships/image" Target="../media/image182.png"/><Relationship Id="rId25" Type="http://schemas.openxmlformats.org/officeDocument/2006/relationships/image" Target="../media/image186.png"/><Relationship Id="rId2" Type="http://schemas.openxmlformats.org/officeDocument/2006/relationships/notesSlide" Target="../notesSlides/notesSlide40.xml"/><Relationship Id="rId16" Type="http://schemas.openxmlformats.org/officeDocument/2006/relationships/image" Target="../media/image181.png"/><Relationship Id="rId20" Type="http://schemas.openxmlformats.org/officeDocument/2006/relationships/image" Target="../media/image183.png"/><Relationship Id="rId29" Type="http://schemas.openxmlformats.org/officeDocument/2006/relationships/image" Target="../media/image188.png"/><Relationship Id="rId1" Type="http://schemas.openxmlformats.org/officeDocument/2006/relationships/slideLayout" Target="../slideLayouts/slideLayout1.xml"/><Relationship Id="rId6" Type="http://schemas.openxmlformats.org/officeDocument/2006/relationships/chart" Target="../charts/chart19.xml"/><Relationship Id="rId11" Type="http://schemas.openxmlformats.org/officeDocument/2006/relationships/image" Target="../media/image1591.png"/><Relationship Id="rId24" Type="http://schemas.openxmlformats.org/officeDocument/2006/relationships/image" Target="../media/image185.png"/><Relationship Id="rId5" Type="http://schemas.openxmlformats.org/officeDocument/2006/relationships/image" Target="../media/image1572.png"/><Relationship Id="rId15" Type="http://schemas.openxmlformats.org/officeDocument/2006/relationships/image" Target="../media/image1601.png"/><Relationship Id="rId23" Type="http://schemas.openxmlformats.org/officeDocument/2006/relationships/image" Target="../media/image1640.png"/><Relationship Id="rId28" Type="http://schemas.openxmlformats.org/officeDocument/2006/relationships/image" Target="../media/image187.png"/><Relationship Id="rId10" Type="http://schemas.openxmlformats.org/officeDocument/2006/relationships/chart" Target="../charts/chart20.xml"/><Relationship Id="rId19" Type="http://schemas.openxmlformats.org/officeDocument/2006/relationships/image" Target="../media/image1621.png"/><Relationship Id="rId4" Type="http://schemas.openxmlformats.org/officeDocument/2006/relationships/image" Target="../media/image1562.png"/><Relationship Id="rId9" Type="http://schemas.openxmlformats.org/officeDocument/2006/relationships/image" Target="../media/image177.png"/><Relationship Id="rId14" Type="http://schemas.openxmlformats.org/officeDocument/2006/relationships/chart" Target="../charts/chart21.xml"/><Relationship Id="rId22" Type="http://schemas.openxmlformats.org/officeDocument/2006/relationships/chart" Target="../charts/chart23.xml"/><Relationship Id="rId27" Type="http://schemas.openxmlformats.org/officeDocument/2006/relationships/image" Target="../media/image1770.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hyperlink" Target="https://github.com/semtm0051/2026_27" TargetMode="External"/><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8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D45"/>
        </a:solidFill>
        <a:effectLst/>
      </p:bgPr>
    </p:bg>
    <p:spTree>
      <p:nvGrpSpPr>
        <p:cNvPr id="1" name=""/>
        <p:cNvGrpSpPr/>
        <p:nvPr/>
      </p:nvGrpSpPr>
      <p:grpSpPr>
        <a:xfrm>
          <a:off x="0" y="0"/>
          <a:ext cx="0" cy="0"/>
          <a:chOff x="0" y="0"/>
          <a:chExt cx="0" cy="0"/>
        </a:xfrm>
      </p:grpSpPr>
      <p:pic>
        <p:nvPicPr>
          <p:cNvPr id="14" name="Immagine 10"/>
          <p:cNvPicPr/>
          <p:nvPr/>
        </p:nvPicPr>
        <p:blipFill>
          <a:blip r:embed="rId3"/>
          <a:srcRect l="19825" r="19825"/>
          <a:stretch/>
        </p:blipFill>
        <p:spPr>
          <a:xfrm>
            <a:off x="6858000" y="1333440"/>
            <a:ext cx="5333760" cy="5524200"/>
          </a:xfrm>
          <a:prstGeom prst="rect">
            <a:avLst/>
          </a:prstGeom>
          <a:noFill/>
          <a:ln w="0">
            <a:noFill/>
          </a:ln>
        </p:spPr>
      </p:pic>
      <p:sp>
        <p:nvSpPr>
          <p:cNvPr id="15" name="cover_image_blend"/>
          <p:cNvSpPr/>
          <p:nvPr/>
        </p:nvSpPr>
        <p:spPr>
          <a:xfrm>
            <a:off x="6705720" y="1333440"/>
            <a:ext cx="685440" cy="5524200"/>
          </a:xfrm>
          <a:prstGeom prst="rect">
            <a:avLst/>
          </a:prstGeom>
          <a:gradFill rotWithShape="0">
            <a:gsLst>
              <a:gs pos="0">
                <a:srgbClr val="182D45"/>
              </a:gs>
              <a:gs pos="100000">
                <a:srgbClr val="182D45">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u="none" strike="noStrike">
              <a:solidFill>
                <a:schemeClr val="dk1"/>
              </a:solidFill>
              <a:effectLst/>
              <a:uFillTx/>
              <a:latin typeface="Calibri"/>
              <a:ea typeface="Calibri"/>
            </a:endParaRPr>
          </a:p>
        </p:txBody>
      </p:sp>
      <p:sp>
        <p:nvSpPr>
          <p:cNvPr id="16" name="university_header"/>
          <p:cNvSpPr/>
          <p:nvPr/>
        </p:nvSpPr>
        <p:spPr>
          <a:xfrm>
            <a:off x="9144" y="0"/>
            <a:ext cx="12191760" cy="133308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u="none" strike="noStrike">
              <a:solidFill>
                <a:schemeClr val="dk1"/>
              </a:solidFill>
              <a:effectLst/>
              <a:uFillTx/>
              <a:latin typeface="Calibri"/>
              <a:ea typeface="Calibri"/>
            </a:endParaRPr>
          </a:p>
        </p:txBody>
      </p:sp>
      <p:pic>
        <p:nvPicPr>
          <p:cNvPr id="17" name="Immagine 13"/>
          <p:cNvPicPr/>
          <p:nvPr/>
        </p:nvPicPr>
        <p:blipFill>
          <a:blip r:embed="rId4"/>
          <a:stretch/>
        </p:blipFill>
        <p:spPr>
          <a:xfrm>
            <a:off x="609480" y="285840"/>
            <a:ext cx="2723760" cy="787320"/>
          </a:xfrm>
          <a:prstGeom prst="rect">
            <a:avLst/>
          </a:prstGeom>
          <a:noFill/>
          <a:ln w="0">
            <a:noFill/>
          </a:ln>
        </p:spPr>
      </p:pic>
      <p:sp>
        <p:nvSpPr>
          <p:cNvPr id="18" name="lecture_number"/>
          <p:cNvSpPr/>
          <p:nvPr/>
        </p:nvSpPr>
        <p:spPr>
          <a:xfrm>
            <a:off x="609480" y="1952640"/>
            <a:ext cx="5238360" cy="38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1870" b="1" u="none" strike="noStrike">
                <a:solidFill>
                  <a:srgbClr val="86D2CE"/>
                </a:solidFill>
                <a:effectLst/>
                <a:uFillTx/>
                <a:latin typeface="DejaVu Sans"/>
                <a:ea typeface="DejaVu Sans"/>
              </a:rPr>
              <a:t>LECTURE 4</a:t>
            </a:r>
          </a:p>
        </p:txBody>
      </p:sp>
      <p:sp>
        <p:nvSpPr>
          <p:cNvPr id="19" name="lecture_title"/>
          <p:cNvSpPr/>
          <p:nvPr/>
        </p:nvSpPr>
        <p:spPr>
          <a:xfrm>
            <a:off x="609480" y="2505240"/>
            <a:ext cx="6000480" cy="156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4650" b="1" u="none" strike="noStrike">
                <a:solidFill>
                  <a:srgbClr val="FFFFFF"/>
                </a:solidFill>
                <a:effectLst/>
                <a:uFillTx/>
                <a:latin typeface="DejaVu Sans"/>
                <a:ea typeface="DejaVu Sans"/>
              </a:rPr>
              <a:t>Neural</a:t>
            </a:r>
          </a:p>
          <a:p>
            <a:pPr defTabSz="914400">
              <a:lnSpc>
                <a:spcPct val="100000"/>
              </a:lnSpc>
            </a:pPr>
            <a:r>
              <a:rPr lang="it-IT" sz="4650" b="1" u="none" strike="noStrike">
                <a:solidFill>
                  <a:srgbClr val="FFFFFF"/>
                </a:solidFill>
                <a:effectLst/>
                <a:uFillTx/>
                <a:latin typeface="DejaVu Sans"/>
                <a:ea typeface="DejaVu Sans"/>
              </a:rPr>
              <a:t>networks</a:t>
            </a:r>
          </a:p>
        </p:txBody>
      </p:sp>
      <p:sp>
        <p:nvSpPr>
          <p:cNvPr id="20" name="course_name"/>
          <p:cNvSpPr/>
          <p:nvPr/>
        </p:nvSpPr>
        <p:spPr>
          <a:xfrm>
            <a:off x="609480" y="4362480"/>
            <a:ext cx="5981400" cy="475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2020" b="0" u="none" strike="noStrike">
                <a:solidFill>
                  <a:srgbClr val="FFFFFF"/>
                </a:solidFill>
                <a:effectLst/>
                <a:uFillTx/>
                <a:latin typeface="DejaVu Sans"/>
                <a:ea typeface="DejaVu Sans"/>
              </a:rPr>
              <a:t>Foundations of Artificial Intelligence</a:t>
            </a:r>
            <a:endParaRPr lang="en-US" sz="2020" b="0" u="none" strike="noStrike">
              <a:solidFill>
                <a:srgbClr val="FFFFFF"/>
              </a:solidFill>
              <a:effectLst/>
              <a:uFillTx/>
              <a:latin typeface="Arial"/>
            </a:endParaRPr>
          </a:p>
        </p:txBody>
      </p:sp>
      <p:sp>
        <p:nvSpPr>
          <p:cNvPr id="21" name="course_code_year"/>
          <p:cNvSpPr/>
          <p:nvPr/>
        </p:nvSpPr>
        <p:spPr>
          <a:xfrm>
            <a:off x="609480" y="4857840"/>
            <a:ext cx="5981400" cy="38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1729" b="0" u="none" strike="noStrike">
                <a:solidFill>
                  <a:srgbClr val="C7D7E7"/>
                </a:solidFill>
                <a:effectLst/>
                <a:uFillTx/>
                <a:latin typeface="DejaVu Sans"/>
                <a:ea typeface="DejaVu Sans"/>
              </a:rPr>
              <a:t>SEMTM0051   ·   2026/27</a:t>
            </a:r>
            <a:endParaRPr lang="en-US" sz="1729" b="0" u="none" strike="noStrike">
              <a:solidFill>
                <a:srgbClr val="FFFFFF"/>
              </a:solidFill>
              <a:effectLst/>
              <a:uFillTx/>
              <a:latin typeface="Arial"/>
            </a:endParaRPr>
          </a:p>
        </p:txBody>
      </p:sp>
      <p:sp>
        <p:nvSpPr>
          <p:cNvPr id="22" name="lecturer"/>
          <p:cNvSpPr/>
          <p:nvPr/>
        </p:nvSpPr>
        <p:spPr>
          <a:xfrm>
            <a:off x="609480" y="6076800"/>
            <a:ext cx="5981400" cy="41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1870" b="0" u="none" strike="noStrike">
                <a:solidFill>
                  <a:srgbClr val="FFFFFF"/>
                </a:solidFill>
                <a:effectLst/>
                <a:uFillTx/>
                <a:latin typeface="DejaVu Sans"/>
                <a:ea typeface="DejaVu Sans"/>
              </a:rPr>
              <a:t>Lecturer: Dr Roberto Colomboni</a:t>
            </a:r>
            <a:endParaRPr lang="en-US" sz="187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2693F52B-D081-4A97-B595-75339A13768B}"/>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err="1">
                <a:solidFill>
                  <a:srgbClr val="182D45"/>
                </a:solidFill>
                <a:latin typeface="DejaVu Sans"/>
                <a:ea typeface="DejaVu Sans"/>
                <a:cs typeface="DejaVu Sans"/>
              </a:rPr>
              <a:t>Today’s</a:t>
            </a:r>
            <a:r>
              <a:rPr lang="it-IT" sz="3300" b="1" dirty="0">
                <a:solidFill>
                  <a:srgbClr val="182D45"/>
                </a:solidFill>
                <a:latin typeface="DejaVu Sans"/>
                <a:ea typeface="DejaVu Sans"/>
                <a:cs typeface="DejaVu Sans"/>
              </a:rPr>
              <a:t> </a:t>
            </a:r>
            <a:r>
              <a:rPr lang="it-IT" sz="3300" b="1" dirty="0" err="1">
                <a:solidFill>
                  <a:srgbClr val="182D45"/>
                </a:solidFill>
                <a:latin typeface="DejaVu Sans"/>
                <a:ea typeface="DejaVu Sans"/>
                <a:cs typeface="DejaVu Sans"/>
              </a:rPr>
              <a:t>lecture</a:t>
            </a:r>
            <a:endParaRPr sz="3300" b="1" dirty="0">
              <a:solidFill>
                <a:srgbClr val="182D45"/>
              </a:solidFill>
              <a:latin typeface="DejaVu Sans"/>
              <a:ea typeface="DejaVu Sans"/>
              <a:cs typeface="DejaVu Sans"/>
            </a:endParaRPr>
          </a:p>
        </p:txBody>
      </p:sp>
      <p:sp>
        <p:nvSpPr>
          <p:cNvPr id="3" name="footer_course">
            <a:extLst>
              <a:ext uri="{FF2B5EF4-FFF2-40B4-BE49-F238E27FC236}">
                <a16:creationId xmlns:a16="http://schemas.microsoft.com/office/drawing/2014/main" id="{C955A40D-15A1-4849-B5E5-D3D9FD865D18}"/>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F9E019C6-63FB-47EE-9AF6-7B731BE2A4F8}"/>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a:t>
            </a:r>
          </a:p>
        </p:txBody>
      </p:sp>
      <p:sp>
        <p:nvSpPr>
          <p:cNvPr id="10" name="agenda_first_topic_neutral">
            <a:extLst>
              <a:ext uri="{FF2B5EF4-FFF2-40B4-BE49-F238E27FC236}">
                <a16:creationId xmlns:a16="http://schemas.microsoft.com/office/drawing/2014/main" id="{73051655-E1B0-40DC-A151-F293F4BC4CEF}"/>
              </a:ext>
            </a:extLst>
          </p:cNvPr>
          <p:cNvSpPr>
            <a:spLocks noGrp="1"/>
          </p:cNvSpPr>
          <p:nvPr/>
        </p:nvSpPr>
        <p:spPr>
          <a:xfrm>
            <a:off x="904875" y="2190750"/>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dirty="0">
                <a:solidFill>
                  <a:srgbClr val="8993A0"/>
                </a:solidFill>
                <a:latin typeface="DejaVu Sans"/>
                <a:ea typeface="DejaVu Sans"/>
                <a:cs typeface="DejaVu Sans"/>
              </a:rPr>
              <a:t>Affine layers and activation functions</a:t>
            </a:r>
          </a:p>
        </p:txBody>
      </p:sp>
      <p:sp>
        <p:nvSpPr>
          <p:cNvPr id="5" name="text_1">
            <a:extLst>
              <a:ext uri="{FF2B5EF4-FFF2-40B4-BE49-F238E27FC236}">
                <a16:creationId xmlns:a16="http://schemas.microsoft.com/office/drawing/2014/main" id="{5B658870-CA52-4FA4-8882-00512766B006}"/>
              </a:ext>
            </a:extLst>
          </p:cNvPr>
          <p:cNvSpPr>
            <a:spLocks noGrp="1"/>
          </p:cNvSpPr>
          <p:nvPr/>
        </p:nvSpPr>
        <p:spPr>
          <a:xfrm>
            <a:off x="904875" y="2190750"/>
            <a:ext cx="10382250" cy="619125"/>
          </a:xfrm>
          <a:prstGeom prst="rect">
            <a:avLst/>
          </a:prstGeom>
          <a:solidFill>
            <a:srgbClr val="FFFFFF"/>
          </a:solidFill>
          <a:ln w="0">
            <a:noFill/>
          </a:ln>
        </p:spPr>
        <p:txBody>
          <a:bodyPr anchor="ctr">
            <a:noAutofit/>
          </a:bodyPr>
          <a:lstStyle/>
          <a:p>
            <a:pPr algn="ctr">
              <a:defRPr sz="2475" b="1">
                <a:solidFill>
                  <a:srgbClr val="087F83"/>
                </a:solidFill>
                <a:latin typeface="DejaVu Sans"/>
                <a:ea typeface="DejaVu Sans"/>
                <a:cs typeface="DejaVu Sans"/>
              </a:defRPr>
            </a:pPr>
            <a:r>
              <a:rPr sz="2475" b="1" dirty="0">
                <a:solidFill>
                  <a:srgbClr val="087F83"/>
                </a:solidFill>
                <a:latin typeface="DejaVu Sans"/>
                <a:ea typeface="DejaVu Sans"/>
                <a:cs typeface="DejaVu Sans"/>
              </a:rPr>
              <a:t>Affine layers and activation functions</a:t>
            </a:r>
          </a:p>
        </p:txBody>
      </p:sp>
      <p:sp>
        <p:nvSpPr>
          <p:cNvPr id="6" name="text_2">
            <a:extLst>
              <a:ext uri="{FF2B5EF4-FFF2-40B4-BE49-F238E27FC236}">
                <a16:creationId xmlns:a16="http://schemas.microsoft.com/office/drawing/2014/main" id="{3092D8BF-3CD5-4A8C-80FC-0065AF43ED5D}"/>
              </a:ext>
            </a:extLst>
          </p:cNvPr>
          <p:cNvSpPr>
            <a:spLocks noGrp="1"/>
          </p:cNvSpPr>
          <p:nvPr/>
        </p:nvSpPr>
        <p:spPr>
          <a:xfrm>
            <a:off x="904875" y="3190875"/>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Neural networks and the forward pass</a:t>
            </a:r>
          </a:p>
        </p:txBody>
      </p:sp>
      <p:sp>
        <p:nvSpPr>
          <p:cNvPr id="7" name="text_3">
            <a:extLst>
              <a:ext uri="{FF2B5EF4-FFF2-40B4-BE49-F238E27FC236}">
                <a16:creationId xmlns:a16="http://schemas.microsoft.com/office/drawing/2014/main" id="{18D2B001-4AC1-49D4-992B-59E74B7F6F46}"/>
              </a:ext>
            </a:extLst>
          </p:cNvPr>
          <p:cNvSpPr>
            <a:spLocks noGrp="1"/>
          </p:cNvSpPr>
          <p:nvPr/>
        </p:nvSpPr>
        <p:spPr>
          <a:xfrm>
            <a:off x="904875" y="4191000"/>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What neural networks can represent</a:t>
            </a:r>
          </a:p>
        </p:txBody>
      </p:sp>
      <p:sp>
        <p:nvSpPr>
          <p:cNvPr id="8" name="text_4">
            <a:extLst>
              <a:ext uri="{FF2B5EF4-FFF2-40B4-BE49-F238E27FC236}">
                <a16:creationId xmlns:a16="http://schemas.microsoft.com/office/drawing/2014/main" id="{4A68E26D-C1FB-4612-86A2-433DD4F1E4BC}"/>
              </a:ext>
            </a:extLst>
          </p:cNvPr>
          <p:cNvSpPr>
            <a:spLocks noGrp="1"/>
          </p:cNvSpPr>
          <p:nvPr/>
        </p:nvSpPr>
        <p:spPr>
          <a:xfrm>
            <a:off x="904875" y="5191125"/>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Fitting neural networks and local minima</a:t>
            </a:r>
          </a:p>
        </p:txBody>
      </p:sp>
    </p:spTree>
    <p:extLst>
      <p:ext uri="{BB962C8B-B14F-4D97-AF65-F5344CB8AC3E}">
        <p14:creationId xmlns:p14="http://schemas.microsoft.com/office/powerpoint/2010/main" val="63584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43486BE5-525B-464E-9EBA-A5E179970583}"/>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What we fitted before</a:t>
            </a:r>
          </a:p>
        </p:txBody>
      </p:sp>
      <p:sp>
        <p:nvSpPr>
          <p:cNvPr id="2" name="lead">
            <a:extLst>
              <a:ext uri="{FF2B5EF4-FFF2-40B4-BE49-F238E27FC236}">
                <a16:creationId xmlns:a16="http://schemas.microsoft.com/office/drawing/2014/main" id="{08DBB9DF-4BB8-40AC-A56A-770D0DFF494E}"/>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In </a:t>
            </a:r>
            <a:r>
              <a:rPr lang="it-IT" sz="2175" b="0" dirty="0">
                <a:solidFill>
                  <a:srgbClr val="526276"/>
                </a:solidFill>
                <a:latin typeface="DejaVu Sans"/>
                <a:ea typeface="DejaVu Sans"/>
                <a:cs typeface="DejaVu Sans"/>
              </a:rPr>
              <a:t>linear</a:t>
            </a:r>
            <a:r>
              <a:rPr sz="2175" b="0" dirty="0">
                <a:solidFill>
                  <a:srgbClr val="526276"/>
                </a:solidFill>
                <a:latin typeface="DejaVu Sans"/>
                <a:ea typeface="DejaVu Sans"/>
                <a:cs typeface="DejaVu Sans"/>
              </a:rPr>
              <a:t> regression</a:t>
            </a:r>
            <a:r>
              <a:rPr lang="it-IT" sz="2175" b="0" dirty="0">
                <a:solidFill>
                  <a:srgbClr val="526276"/>
                </a:solidFill>
                <a:latin typeface="DejaVu Sans"/>
                <a:ea typeface="DejaVu Sans"/>
                <a:cs typeface="DejaVu Sans"/>
              </a:rPr>
              <a:t> (</a:t>
            </a:r>
            <a:r>
              <a:rPr lang="it-IT" sz="2175" b="0" dirty="0" err="1">
                <a:solidFill>
                  <a:srgbClr val="526276"/>
                </a:solidFill>
                <a:latin typeface="DejaVu Sans"/>
                <a:ea typeface="DejaVu Sans"/>
                <a:cs typeface="DejaVu Sans"/>
              </a:rPr>
              <a:t>we</a:t>
            </a:r>
            <a:r>
              <a:rPr lang="it-IT" sz="2175" b="0" dirty="0">
                <a:solidFill>
                  <a:srgbClr val="526276"/>
                </a:solidFill>
                <a:latin typeface="DejaVu Sans"/>
                <a:ea typeface="DejaVu Sans"/>
                <a:cs typeface="DejaVu Sans"/>
              </a:rPr>
              <a:t> </a:t>
            </a:r>
            <a:r>
              <a:rPr lang="it-IT" sz="2175" b="0" dirty="0" err="1">
                <a:solidFill>
                  <a:srgbClr val="526276"/>
                </a:solidFill>
                <a:latin typeface="DejaVu Sans"/>
                <a:ea typeface="DejaVu Sans"/>
                <a:cs typeface="DejaVu Sans"/>
              </a:rPr>
              <a:t>could</a:t>
            </a:r>
            <a:r>
              <a:rPr lang="it-IT" sz="2175" b="0" dirty="0">
                <a:solidFill>
                  <a:srgbClr val="526276"/>
                </a:solidFill>
                <a:latin typeface="DejaVu Sans"/>
                <a:ea typeface="DejaVu Sans"/>
                <a:cs typeface="DejaVu Sans"/>
              </a:rPr>
              <a:t> </a:t>
            </a:r>
            <a:r>
              <a:rPr lang="it-IT" sz="2175" b="0" dirty="0" err="1">
                <a:solidFill>
                  <a:srgbClr val="526276"/>
                </a:solidFill>
                <a:latin typeface="DejaVu Sans"/>
                <a:ea typeface="DejaVu Sans"/>
                <a:cs typeface="DejaVu Sans"/>
              </a:rPr>
              <a:t>have</a:t>
            </a:r>
            <a:r>
              <a:rPr lang="it-IT" sz="2175" b="0" dirty="0">
                <a:solidFill>
                  <a:srgbClr val="526276"/>
                </a:solidFill>
                <a:latin typeface="DejaVu Sans"/>
                <a:ea typeface="DejaVu Sans"/>
                <a:cs typeface="DejaVu Sans"/>
              </a:rPr>
              <a:t> </a:t>
            </a:r>
            <a:r>
              <a:rPr lang="it-IT" sz="2175" b="0" dirty="0" err="1">
                <a:solidFill>
                  <a:srgbClr val="526276"/>
                </a:solidFill>
                <a:latin typeface="DejaVu Sans"/>
                <a:ea typeface="DejaVu Sans"/>
                <a:cs typeface="DejaVu Sans"/>
              </a:rPr>
              <a:t>done</a:t>
            </a:r>
            <a:r>
              <a:rPr lang="it-IT" sz="2175" b="0" dirty="0">
                <a:solidFill>
                  <a:srgbClr val="526276"/>
                </a:solidFill>
                <a:latin typeface="DejaVu Sans"/>
                <a:ea typeface="DejaVu Sans"/>
                <a:cs typeface="DejaVu Sans"/>
              </a:rPr>
              <a:t> the </a:t>
            </a:r>
            <a:r>
              <a:rPr lang="it-IT" sz="2175" b="0" dirty="0" err="1">
                <a:solidFill>
                  <a:srgbClr val="526276"/>
                </a:solidFill>
                <a:latin typeface="DejaVu Sans"/>
                <a:ea typeface="DejaVu Sans"/>
                <a:cs typeface="DejaVu Sans"/>
              </a:rPr>
              <a:t>same</a:t>
            </a:r>
            <a:r>
              <a:rPr lang="it-IT" sz="2175" b="0" dirty="0">
                <a:solidFill>
                  <a:srgbClr val="526276"/>
                </a:solidFill>
                <a:latin typeface="DejaVu Sans"/>
                <a:ea typeface="DejaVu Sans"/>
                <a:cs typeface="DejaVu Sans"/>
              </a:rPr>
              <a:t> in linear </a:t>
            </a:r>
            <a:r>
              <a:rPr lang="it-IT" sz="2175" b="0" dirty="0" err="1">
                <a:solidFill>
                  <a:srgbClr val="526276"/>
                </a:solidFill>
                <a:latin typeface="DejaVu Sans"/>
                <a:ea typeface="DejaVu Sans"/>
                <a:cs typeface="DejaVu Sans"/>
              </a:rPr>
              <a:t>classification</a:t>
            </a:r>
            <a:r>
              <a:rPr lang="it-IT" sz="2175" b="0" dirty="0">
                <a:solidFill>
                  <a:srgbClr val="526276"/>
                </a:solidFill>
                <a:latin typeface="DejaVu Sans"/>
                <a:ea typeface="DejaVu Sans"/>
                <a:cs typeface="DejaVu Sans"/>
              </a:rPr>
              <a:t>)</a:t>
            </a:r>
            <a:r>
              <a:rPr sz="2175" b="0" dirty="0">
                <a:solidFill>
                  <a:srgbClr val="526276"/>
                </a:solidFill>
                <a:latin typeface="DejaVu Sans"/>
                <a:ea typeface="DejaVu Sans"/>
                <a:cs typeface="DejaVu Sans"/>
              </a:rPr>
              <a:t>,</a:t>
            </a:r>
            <a:endParaRPr lang="it-IT" sz="2175" b="0" dirty="0">
              <a:solidFill>
                <a:srgbClr val="526276"/>
              </a:solidFill>
              <a:latin typeface="DejaVu Sans"/>
              <a:ea typeface="DejaVu Sans"/>
              <a:cs typeface="DejaVu Sans"/>
            </a:endParaRPr>
          </a:p>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we </a:t>
            </a:r>
            <a:r>
              <a:rPr sz="2175" b="0" dirty="0">
                <a:solidFill>
                  <a:srgbClr val="FF0000"/>
                </a:solidFill>
                <a:latin typeface="DejaVu Sans"/>
                <a:ea typeface="DejaVu Sans"/>
                <a:cs typeface="DejaVu Sans"/>
              </a:rPr>
              <a:t>chose the feature functions in advance</a:t>
            </a:r>
            <a:r>
              <a:rPr sz="2175" b="0" dirty="0">
                <a:solidFill>
                  <a:srgbClr val="526276"/>
                </a:solidFill>
                <a:latin typeface="DejaVu Sans"/>
                <a:ea typeface="DejaVu Sans"/>
                <a:cs typeface="DejaVu Sans"/>
              </a:rPr>
              <a:t>.</a:t>
            </a:r>
          </a:p>
        </p:txBody>
      </p:sp>
      <p:sp>
        <p:nvSpPr>
          <p:cNvPr id="3" name="footer_course">
            <a:extLst>
              <a:ext uri="{FF2B5EF4-FFF2-40B4-BE49-F238E27FC236}">
                <a16:creationId xmlns:a16="http://schemas.microsoft.com/office/drawing/2014/main" id="{D70A9ADE-A4EF-448E-9B1E-A98D080FA459}"/>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79D04217-F928-40FD-BD91-EA0B601FCE0F}"/>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3</a:t>
            </a:r>
          </a:p>
        </p:txBody>
      </p:sp>
      <mc:AlternateContent xmlns:mc="http://schemas.openxmlformats.org/markup-compatibility/2006" xmlns:a14="http://schemas.microsoft.com/office/drawing/2010/main">
        <mc:Choice Requires="a14">
          <p:sp>
            <p:nvSpPr>
              <p:cNvPr id="5" name="equation_1" descr="f(x)=b+w_1x+w_2x^2">
                <a:extLst>
                  <a:ext uri="{FF2B5EF4-FFF2-40B4-BE49-F238E27FC236}">
                    <a16:creationId xmlns:a16="http://schemas.microsoft.com/office/drawing/2014/main" id="{F828C226-3CA0-42C0-BB27-E8C150A467FD}"/>
                  </a:ext>
                </a:extLst>
              </p:cNvPr>
              <p:cNvSpPr>
                <a:spLocks noGrp="1"/>
              </p:cNvSpPr>
              <p:nvPr/>
            </p:nvSpPr>
            <p:spPr>
              <a:xfrm>
                <a:off x="952500" y="1595628"/>
                <a:ext cx="10287000" cy="1095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a:solidFill>
                            <a:srgbClr val="087F83"/>
                          </a:solidFill>
                          <a:latin typeface="Cambria Math"/>
                          <a:ea typeface="Cambria Math"/>
                          <a:cs typeface="Cambria Math"/>
                        </a:rPr>
                        <m:t>𝑓</m:t>
                      </m:r>
                      <m:r>
                        <a:rPr lang="en-GB" sz="3000">
                          <a:solidFill>
                            <a:srgbClr val="087F83"/>
                          </a:solidFill>
                          <a:latin typeface="Cambria Math"/>
                          <a:ea typeface="Cambria Math"/>
                          <a:cs typeface="Cambria Math"/>
                        </a:rPr>
                        <m:t>(</m:t>
                      </m:r>
                      <m:r>
                        <a:rPr lang="en-GB" sz="3000">
                          <a:solidFill>
                            <a:srgbClr val="087F83"/>
                          </a:solidFill>
                          <a:latin typeface="Cambria Math"/>
                          <a:ea typeface="Cambria Math"/>
                          <a:cs typeface="Cambria Math"/>
                        </a:rPr>
                        <m:t>𝑥</m:t>
                      </m:r>
                      <m:r>
                        <a:rPr lang="en-GB" sz="3000">
                          <a:solidFill>
                            <a:srgbClr val="087F83"/>
                          </a:solidFill>
                          <a:latin typeface="Cambria Math"/>
                          <a:ea typeface="Cambria Math"/>
                          <a:cs typeface="Cambria Math"/>
                        </a:rPr>
                        <m:t>)=</m:t>
                      </m:r>
                      <m:r>
                        <a:rPr lang="en-GB" sz="3000">
                          <a:solidFill>
                            <a:srgbClr val="087F83"/>
                          </a:solidFill>
                          <a:latin typeface="Cambria Math"/>
                          <a:ea typeface="Cambria Math"/>
                          <a:cs typeface="Cambria Math"/>
                        </a:rPr>
                        <m:t>𝑏</m:t>
                      </m:r>
                      <m:r>
                        <a:rPr lang="en-GB" sz="3000">
                          <a:solidFill>
                            <a:srgbClr val="087F83"/>
                          </a:solidFill>
                          <a:latin typeface="Cambria Math"/>
                          <a:ea typeface="Cambria Math"/>
                          <a:cs typeface="Cambria Math"/>
                        </a:rPr>
                        <m:t>+</m:t>
                      </m:r>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𝑤</m:t>
                          </m:r>
                        </m:e>
                        <m:sub>
                          <m:r>
                            <a:rPr lang="en-GB" sz="3000">
                              <a:solidFill>
                                <a:srgbClr val="087F83"/>
                              </a:solidFill>
                              <a:latin typeface="Cambria Math"/>
                              <a:ea typeface="Cambria Math"/>
                              <a:cs typeface="Cambria Math"/>
                            </a:rPr>
                            <m:t>1</m:t>
                          </m:r>
                        </m:sub>
                      </m:sSub>
                      <m:r>
                        <a:rPr lang="en-GB" sz="3000">
                          <a:solidFill>
                            <a:srgbClr val="087F83"/>
                          </a:solidFill>
                          <a:latin typeface="Cambria Math"/>
                          <a:ea typeface="Cambria Math"/>
                          <a:cs typeface="Cambria Math"/>
                        </a:rPr>
                        <m:t>𝑥</m:t>
                      </m:r>
                      <m:r>
                        <a:rPr lang="en-GB" sz="3000">
                          <a:solidFill>
                            <a:srgbClr val="087F83"/>
                          </a:solidFill>
                          <a:latin typeface="Cambria Math"/>
                          <a:ea typeface="Cambria Math"/>
                          <a:cs typeface="Cambria Math"/>
                        </a:rPr>
                        <m:t>+</m:t>
                      </m:r>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𝑤</m:t>
                          </m:r>
                        </m:e>
                        <m:sub>
                          <m:r>
                            <a:rPr lang="en-GB" sz="3000">
                              <a:solidFill>
                                <a:srgbClr val="087F83"/>
                              </a:solidFill>
                              <a:latin typeface="Cambria Math"/>
                              <a:ea typeface="Cambria Math"/>
                              <a:cs typeface="Cambria Math"/>
                            </a:rPr>
                            <m:t>2</m:t>
                          </m:r>
                        </m:sub>
                      </m:sSub>
                      <m:sSup>
                        <m:sSupPr>
                          <m:ctrlPr>
                            <a:rPr lang="en-GB" sz="3000">
                              <a:solidFill>
                                <a:srgbClr val="087F83"/>
                              </a:solidFill>
                              <a:latin typeface="Cambria Math"/>
                              <a:ea typeface="Cambria Math"/>
                              <a:cs typeface="Cambria Math"/>
                            </a:rPr>
                          </m:ctrlPr>
                        </m:sSupPr>
                        <m:e>
                          <m:r>
                            <a:rPr lang="en-GB" sz="3000">
                              <a:solidFill>
                                <a:srgbClr val="087F83"/>
                              </a:solidFill>
                              <a:latin typeface="Cambria Math"/>
                              <a:ea typeface="Cambria Math"/>
                              <a:cs typeface="Cambria Math"/>
                            </a:rPr>
                            <m:t>𝑥</m:t>
                          </m:r>
                        </m:e>
                        <m:sup>
                          <m:r>
                            <a:rPr lang="en-GB" sz="3000">
                              <a:solidFill>
                                <a:srgbClr val="087F83"/>
                              </a:solidFill>
                              <a:latin typeface="Cambria Math"/>
                              <a:ea typeface="Cambria Math"/>
                              <a:cs typeface="Cambria Math"/>
                            </a:rPr>
                            <m:t>2</m:t>
                          </m:r>
                        </m:sup>
                      </m:sSup>
                    </m:oMath>
                  </m:oMathPara>
                </a14:m>
                <a:endParaRPr lang="en-GB" sz="3000" dirty="0"/>
              </a:p>
            </p:txBody>
          </p:sp>
        </mc:Choice>
        <mc:Fallback xmlns="">
          <p:sp>
            <p:nvSpPr>
              <p:cNvPr id="5" name="equation_1" descr="f(x)=b+w_1x+w_2x^2">
                <a:extLst>
                  <a:ext uri="{FF2B5EF4-FFF2-40B4-BE49-F238E27FC236}">
                    <a16:creationId xmlns:a16="http://schemas.microsoft.com/office/drawing/2014/main" id="{F828C226-3CA0-42C0-BB27-E8C150A467FD}"/>
                  </a:ext>
                </a:extLst>
              </p:cNvPr>
              <p:cNvSpPr>
                <a:spLocks noGrp="1" noRot="1" noChangeAspect="1" noMove="1" noResize="1" noEditPoints="1" noAdjustHandles="1" noChangeArrowheads="1" noChangeShapeType="1" noTextEdit="1"/>
              </p:cNvSpPr>
              <p:nvPr/>
            </p:nvSpPr>
            <p:spPr>
              <a:xfrm>
                <a:off x="952500" y="1595628"/>
                <a:ext cx="10287000" cy="1095375"/>
              </a:xfrm>
              <a:prstGeom prst="rect">
                <a:avLst/>
              </a:prstGeom>
              <a:blipFill>
                <a:blip r:embed="rId3"/>
                <a:stretch>
                  <a:fillRect/>
                </a:stretch>
              </a:blipFill>
              <a:ln w="0">
                <a:noFill/>
              </a:ln>
            </p:spPr>
            <p:txBody>
              <a:bodyPr/>
              <a:lstStyle/>
              <a:p>
                <a:r>
                  <a:rPr lang="it-IT">
                    <a:noFill/>
                  </a:rPr>
                  <a:t> </a:t>
                </a:r>
              </a:p>
            </p:txBody>
          </p:sp>
        </mc:Fallback>
      </mc:AlternateContent>
      <p:sp>
        <p:nvSpPr>
          <p:cNvPr id="6" name="text_2">
            <a:extLst>
              <a:ext uri="{FF2B5EF4-FFF2-40B4-BE49-F238E27FC236}">
                <a16:creationId xmlns:a16="http://schemas.microsoft.com/office/drawing/2014/main" id="{C8FA98F1-9761-431B-AE58-8DAE7459EE0F}"/>
              </a:ext>
            </a:extLst>
          </p:cNvPr>
          <p:cNvSpPr>
            <a:spLocks noGrp="1"/>
          </p:cNvSpPr>
          <p:nvPr/>
        </p:nvSpPr>
        <p:spPr>
          <a:xfrm>
            <a:off x="3342321" y="2629090"/>
            <a:ext cx="5095875" cy="476250"/>
          </a:xfrm>
          <a:prstGeom prst="rect">
            <a:avLst/>
          </a:prstGeom>
          <a:noFill/>
          <a:ln w="0">
            <a:noFill/>
          </a:ln>
        </p:spPr>
        <p:txBody>
          <a:bodyPr anchor="ctr">
            <a:noAutofit/>
          </a:bodyPr>
          <a:lstStyle/>
          <a:p>
            <a:pPr algn="ctr">
              <a:defRPr sz="2175" b="1">
                <a:solidFill>
                  <a:srgbClr val="182D45"/>
                </a:solidFill>
                <a:latin typeface="DejaVu Sans"/>
                <a:ea typeface="DejaVu Sans"/>
                <a:cs typeface="DejaVu Sans"/>
              </a:defRPr>
            </a:pPr>
            <a:r>
              <a:rPr sz="2175" b="1" dirty="0">
                <a:solidFill>
                  <a:srgbClr val="182D45"/>
                </a:solidFill>
                <a:latin typeface="DejaVu Sans"/>
                <a:ea typeface="DejaVu Sans"/>
                <a:cs typeface="DejaVu Sans"/>
              </a:rPr>
              <a:t>Fixed feature functions</a:t>
            </a:r>
          </a:p>
        </p:txBody>
      </p:sp>
      <mc:AlternateContent xmlns:mc="http://schemas.openxmlformats.org/markup-compatibility/2006" xmlns:a14="http://schemas.microsoft.com/office/drawing/2010/main">
        <mc:Choice Requires="a14">
          <p:sp>
            <p:nvSpPr>
              <p:cNvPr id="7" name="equation_3" descr="\phi_1(x)=x, \phi_2(x)=x^2">
                <a:extLst>
                  <a:ext uri="{FF2B5EF4-FFF2-40B4-BE49-F238E27FC236}">
                    <a16:creationId xmlns:a16="http://schemas.microsoft.com/office/drawing/2014/main" id="{695D6404-5A0D-427A-8464-084750D0ED96}"/>
                  </a:ext>
                </a:extLst>
              </p:cNvPr>
              <p:cNvSpPr>
                <a:spLocks noGrp="1"/>
              </p:cNvSpPr>
              <p:nvPr/>
            </p:nvSpPr>
            <p:spPr>
              <a:xfrm>
                <a:off x="1031747" y="3031332"/>
                <a:ext cx="10128504" cy="857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it-IT" sz="3000" i="1">
                              <a:solidFill>
                                <a:srgbClr val="087F83"/>
                              </a:solidFill>
                              <a:latin typeface="Cambria Math" panose="02040503050406030204" pitchFamily="18" charset="0"/>
                              <a:ea typeface="Cambria Math"/>
                              <a:cs typeface="Cambria Math"/>
                            </a:rPr>
                          </m:ctrlPr>
                        </m:sSubPr>
                        <m:e>
                          <m:r>
                            <a:rPr lang="it-IT" sz="3000" i="1">
                              <a:solidFill>
                                <a:srgbClr val="087F83"/>
                              </a:solidFill>
                              <a:latin typeface="Cambria Math" panose="02040503050406030204" pitchFamily="18" charset="0"/>
                              <a:ea typeface="Cambria Math"/>
                              <a:cs typeface="Cambria Math"/>
                            </a:rPr>
                            <m:t>𝜙</m:t>
                          </m:r>
                        </m:e>
                        <m:sub>
                          <m:r>
                            <a:rPr lang="it-IT" sz="3000" b="0" i="1" smtClean="0">
                              <a:solidFill>
                                <a:srgbClr val="087F83"/>
                              </a:solidFill>
                              <a:latin typeface="Cambria Math" panose="02040503050406030204" pitchFamily="18" charset="0"/>
                              <a:ea typeface="Cambria Math"/>
                              <a:cs typeface="Cambria Math"/>
                            </a:rPr>
                            <m:t>1</m:t>
                          </m:r>
                        </m:sub>
                      </m:sSub>
                      <m:d>
                        <m:dPr>
                          <m:ctrlPr>
                            <a:rPr lang="it-IT" sz="3000" i="1">
                              <a:solidFill>
                                <a:srgbClr val="087F83"/>
                              </a:solidFill>
                              <a:latin typeface="Cambria Math" panose="02040503050406030204" pitchFamily="18" charset="0"/>
                              <a:ea typeface="Cambria Math"/>
                              <a:cs typeface="Cambria Math"/>
                            </a:rPr>
                          </m:ctrlPr>
                        </m:dPr>
                        <m:e>
                          <m:r>
                            <a:rPr lang="it-IT" sz="3000" i="1">
                              <a:solidFill>
                                <a:srgbClr val="087F83"/>
                              </a:solidFill>
                              <a:latin typeface="Cambria Math" panose="02040503050406030204" pitchFamily="18" charset="0"/>
                              <a:ea typeface="Cambria Math"/>
                              <a:cs typeface="Cambria Math"/>
                            </a:rPr>
                            <m:t>𝑥</m:t>
                          </m:r>
                        </m:e>
                      </m:d>
                      <m:r>
                        <a:rPr lang="it-IT" sz="3000" i="1">
                          <a:solidFill>
                            <a:srgbClr val="087F83"/>
                          </a:solidFill>
                          <a:latin typeface="Cambria Math" panose="02040503050406030204" pitchFamily="18" charset="0"/>
                          <a:ea typeface="Cambria Math"/>
                          <a:cs typeface="Cambria Math"/>
                        </a:rPr>
                        <m:t>=</m:t>
                      </m:r>
                      <m:r>
                        <a:rPr lang="it-IT" sz="3000" b="0" i="1" smtClean="0">
                          <a:solidFill>
                            <a:srgbClr val="087F83"/>
                          </a:solidFill>
                          <a:latin typeface="Cambria Math" panose="02040503050406030204" pitchFamily="18" charset="0"/>
                          <a:ea typeface="Cambria Math"/>
                          <a:cs typeface="Cambria Math"/>
                        </a:rPr>
                        <m:t>1,  </m:t>
                      </m:r>
                      <m:sSub>
                        <m:sSubPr>
                          <m:ctrlPr>
                            <a:rPr lang="it-IT" sz="3000" b="0" i="1" smtClean="0">
                              <a:solidFill>
                                <a:srgbClr val="087F83"/>
                              </a:solidFill>
                              <a:latin typeface="Cambria Math" panose="02040503050406030204" pitchFamily="18" charset="0"/>
                              <a:ea typeface="Cambria Math"/>
                              <a:cs typeface="Cambria Math"/>
                            </a:rPr>
                          </m:ctrlPr>
                        </m:sSubPr>
                        <m:e>
                          <m:r>
                            <a:rPr lang="it-IT" sz="3000" b="0" i="1" smtClean="0">
                              <a:solidFill>
                                <a:srgbClr val="087F83"/>
                              </a:solidFill>
                              <a:latin typeface="Cambria Math" panose="02040503050406030204" pitchFamily="18" charset="0"/>
                              <a:ea typeface="Cambria Math"/>
                              <a:cs typeface="Cambria Math"/>
                            </a:rPr>
                            <m:t>𝜙</m:t>
                          </m:r>
                        </m:e>
                        <m:sub>
                          <m:r>
                            <a:rPr lang="it-IT" sz="3000" b="0" i="1" smtClean="0">
                              <a:solidFill>
                                <a:srgbClr val="087F83"/>
                              </a:solidFill>
                              <a:latin typeface="Cambria Math" panose="02040503050406030204" pitchFamily="18" charset="0"/>
                              <a:ea typeface="Cambria Math"/>
                              <a:cs typeface="Cambria Math"/>
                            </a:rPr>
                            <m:t>2</m:t>
                          </m:r>
                        </m:sub>
                      </m:sSub>
                      <m:d>
                        <m:dPr>
                          <m:ctrlPr>
                            <a:rPr lang="it-IT" sz="3000" b="0" i="1" smtClean="0">
                              <a:solidFill>
                                <a:srgbClr val="087F83"/>
                              </a:solidFill>
                              <a:latin typeface="Cambria Math" panose="02040503050406030204" pitchFamily="18" charset="0"/>
                              <a:ea typeface="Cambria Math"/>
                              <a:cs typeface="Cambria Math"/>
                            </a:rPr>
                          </m:ctrlPr>
                        </m:dPr>
                        <m:e>
                          <m:r>
                            <a:rPr lang="it-IT" sz="3000" b="0" i="1" smtClean="0">
                              <a:solidFill>
                                <a:srgbClr val="087F83"/>
                              </a:solidFill>
                              <a:latin typeface="Cambria Math" panose="02040503050406030204" pitchFamily="18" charset="0"/>
                              <a:ea typeface="Cambria Math"/>
                              <a:cs typeface="Cambria Math"/>
                            </a:rPr>
                            <m:t>𝑥</m:t>
                          </m:r>
                        </m:e>
                      </m:d>
                      <m:r>
                        <a:rPr lang="it-IT" sz="3000" b="0" i="1" smtClean="0">
                          <a:solidFill>
                            <a:srgbClr val="087F83"/>
                          </a:solidFill>
                          <a:latin typeface="Cambria Math" panose="02040503050406030204" pitchFamily="18" charset="0"/>
                          <a:ea typeface="Cambria Math"/>
                          <a:cs typeface="Cambria Math"/>
                        </a:rPr>
                        <m:t>=</m:t>
                      </m:r>
                      <m:r>
                        <a:rPr lang="it-IT" sz="3000" b="0" i="1" smtClean="0">
                          <a:solidFill>
                            <a:srgbClr val="087F83"/>
                          </a:solidFill>
                          <a:latin typeface="Cambria Math" panose="02040503050406030204" pitchFamily="18" charset="0"/>
                          <a:ea typeface="Cambria Math"/>
                          <a:cs typeface="Cambria Math"/>
                        </a:rPr>
                        <m:t>𝑥</m:t>
                      </m:r>
                      <m:r>
                        <a:rPr lang="it-IT" sz="3000" b="0" i="1" smtClean="0">
                          <a:solidFill>
                            <a:srgbClr val="087F83"/>
                          </a:solidFill>
                          <a:latin typeface="Cambria Math" panose="02040503050406030204" pitchFamily="18" charset="0"/>
                          <a:ea typeface="Cambria Math"/>
                          <a:cs typeface="Cambria Math"/>
                        </a:rPr>
                        <m:t>,  </m:t>
                      </m:r>
                      <m:sSub>
                        <m:sSubPr>
                          <m:ctrlPr>
                            <a:rPr lang="it-IT" sz="3000" b="0" i="1" smtClean="0">
                              <a:solidFill>
                                <a:srgbClr val="087F83"/>
                              </a:solidFill>
                              <a:latin typeface="Cambria Math" panose="02040503050406030204" pitchFamily="18" charset="0"/>
                              <a:ea typeface="Cambria Math"/>
                              <a:cs typeface="Cambria Math"/>
                            </a:rPr>
                          </m:ctrlPr>
                        </m:sSubPr>
                        <m:e>
                          <m:r>
                            <a:rPr lang="it-IT" sz="3000" b="0" i="1" smtClean="0">
                              <a:solidFill>
                                <a:srgbClr val="087F83"/>
                              </a:solidFill>
                              <a:latin typeface="Cambria Math" panose="02040503050406030204" pitchFamily="18" charset="0"/>
                              <a:ea typeface="Cambria Math"/>
                              <a:cs typeface="Cambria Math"/>
                            </a:rPr>
                            <m:t>𝜙</m:t>
                          </m:r>
                        </m:e>
                        <m:sub>
                          <m:r>
                            <a:rPr lang="it-IT" sz="3000" b="0" i="1" smtClean="0">
                              <a:solidFill>
                                <a:srgbClr val="087F83"/>
                              </a:solidFill>
                              <a:latin typeface="Cambria Math" panose="02040503050406030204" pitchFamily="18" charset="0"/>
                              <a:ea typeface="Cambria Math"/>
                              <a:cs typeface="Cambria Math"/>
                            </a:rPr>
                            <m:t>3</m:t>
                          </m:r>
                        </m:sub>
                      </m:sSub>
                      <m:d>
                        <m:dPr>
                          <m:ctrlPr>
                            <a:rPr lang="it-IT" sz="3000" b="0" i="1" smtClean="0">
                              <a:solidFill>
                                <a:srgbClr val="087F83"/>
                              </a:solidFill>
                              <a:latin typeface="Cambria Math" panose="02040503050406030204" pitchFamily="18" charset="0"/>
                              <a:ea typeface="Cambria Math"/>
                              <a:cs typeface="Cambria Math"/>
                            </a:rPr>
                          </m:ctrlPr>
                        </m:dPr>
                        <m:e>
                          <m:r>
                            <a:rPr lang="it-IT" sz="3000" b="0" i="1" smtClean="0">
                              <a:solidFill>
                                <a:srgbClr val="087F83"/>
                              </a:solidFill>
                              <a:latin typeface="Cambria Math" panose="02040503050406030204" pitchFamily="18" charset="0"/>
                              <a:ea typeface="Cambria Math"/>
                              <a:cs typeface="Cambria Math"/>
                            </a:rPr>
                            <m:t>𝑥</m:t>
                          </m:r>
                        </m:e>
                      </m:d>
                      <m:r>
                        <a:rPr lang="it-IT" sz="3000" b="0" i="1" smtClean="0">
                          <a:solidFill>
                            <a:srgbClr val="087F83"/>
                          </a:solidFill>
                          <a:latin typeface="Cambria Math" panose="02040503050406030204" pitchFamily="18" charset="0"/>
                          <a:ea typeface="Cambria Math"/>
                          <a:cs typeface="Cambria Math"/>
                        </a:rPr>
                        <m:t>=</m:t>
                      </m:r>
                      <m:sSup>
                        <m:sSupPr>
                          <m:ctrlPr>
                            <a:rPr lang="it-IT" sz="3000" b="0" i="1" smtClean="0">
                              <a:solidFill>
                                <a:srgbClr val="087F83"/>
                              </a:solidFill>
                              <a:latin typeface="Cambria Math" panose="02040503050406030204" pitchFamily="18" charset="0"/>
                              <a:ea typeface="Cambria Math"/>
                              <a:cs typeface="Cambria Math"/>
                            </a:rPr>
                          </m:ctrlPr>
                        </m:sSupPr>
                        <m:e>
                          <m:r>
                            <a:rPr lang="it-IT" sz="3000" b="0" i="1" smtClean="0">
                              <a:solidFill>
                                <a:srgbClr val="087F83"/>
                              </a:solidFill>
                              <a:latin typeface="Cambria Math" panose="02040503050406030204" pitchFamily="18" charset="0"/>
                              <a:ea typeface="Cambria Math"/>
                              <a:cs typeface="Cambria Math"/>
                            </a:rPr>
                            <m:t>𝑥</m:t>
                          </m:r>
                        </m:e>
                        <m:sup>
                          <m:r>
                            <a:rPr lang="it-IT" sz="3000" b="0" i="1" smtClean="0">
                              <a:solidFill>
                                <a:srgbClr val="087F83"/>
                              </a:solidFill>
                              <a:latin typeface="Cambria Math" panose="02040503050406030204" pitchFamily="18" charset="0"/>
                              <a:ea typeface="Cambria Math"/>
                              <a:cs typeface="Cambria Math"/>
                            </a:rPr>
                            <m:t>2</m:t>
                          </m:r>
                        </m:sup>
                      </m:sSup>
                    </m:oMath>
                  </m:oMathPara>
                </a14:m>
                <a:endParaRPr lang="en-GB" sz="3000" dirty="0"/>
              </a:p>
            </p:txBody>
          </p:sp>
        </mc:Choice>
        <mc:Fallback xmlns="">
          <p:sp>
            <p:nvSpPr>
              <p:cNvPr id="7" name="equation_3" descr="\phi_1(x)=x, \phi_2(x)=x^2">
                <a:extLst>
                  <a:ext uri="{FF2B5EF4-FFF2-40B4-BE49-F238E27FC236}">
                    <a16:creationId xmlns:a16="http://schemas.microsoft.com/office/drawing/2014/main" id="{695D6404-5A0D-427A-8464-084750D0ED96}"/>
                  </a:ext>
                </a:extLst>
              </p:cNvPr>
              <p:cNvSpPr>
                <a:spLocks noGrp="1" noRot="1" noChangeAspect="1" noMove="1" noResize="1" noEditPoints="1" noAdjustHandles="1" noChangeArrowheads="1" noChangeShapeType="1" noTextEdit="1"/>
              </p:cNvSpPr>
              <p:nvPr/>
            </p:nvSpPr>
            <p:spPr>
              <a:xfrm>
                <a:off x="1031747" y="3031332"/>
                <a:ext cx="10128504" cy="857250"/>
              </a:xfrm>
              <a:prstGeom prst="rect">
                <a:avLst/>
              </a:prstGeom>
              <a:blipFill>
                <a:blip r:embed="rId4"/>
                <a:stretch>
                  <a:fillRect/>
                </a:stretch>
              </a:blipFill>
              <a:ln w="0">
                <a:noFill/>
              </a:ln>
            </p:spPr>
            <p:txBody>
              <a:bodyPr/>
              <a:lstStyle/>
              <a:p>
                <a:r>
                  <a:rPr lang="it-IT">
                    <a:noFill/>
                  </a:rPr>
                  <a:t> </a:t>
                </a:r>
              </a:p>
            </p:txBody>
          </p:sp>
        </mc:Fallback>
      </mc:AlternateContent>
      <p:sp>
        <p:nvSpPr>
          <p:cNvPr id="8" name="text_4">
            <a:extLst>
              <a:ext uri="{FF2B5EF4-FFF2-40B4-BE49-F238E27FC236}">
                <a16:creationId xmlns:a16="http://schemas.microsoft.com/office/drawing/2014/main" id="{BF3CD30F-EAC1-4ED7-BD17-EF5F3C4BDF99}"/>
              </a:ext>
            </a:extLst>
          </p:cNvPr>
          <p:cNvSpPr>
            <a:spLocks noGrp="1"/>
          </p:cNvSpPr>
          <p:nvPr/>
        </p:nvSpPr>
        <p:spPr>
          <a:xfrm>
            <a:off x="3342320" y="4016786"/>
            <a:ext cx="5095875" cy="476250"/>
          </a:xfrm>
          <a:prstGeom prst="rect">
            <a:avLst/>
          </a:prstGeom>
          <a:noFill/>
          <a:ln w="0">
            <a:noFill/>
          </a:ln>
        </p:spPr>
        <p:txBody>
          <a:bodyPr anchor="ctr">
            <a:noAutofit/>
          </a:bodyPr>
          <a:lstStyle/>
          <a:p>
            <a:pPr algn="ctr">
              <a:defRPr sz="2175" b="1">
                <a:solidFill>
                  <a:srgbClr val="182D45"/>
                </a:solidFill>
                <a:latin typeface="DejaVu Sans"/>
                <a:ea typeface="DejaVu Sans"/>
                <a:cs typeface="DejaVu Sans"/>
              </a:defRPr>
            </a:pPr>
            <a:r>
              <a:rPr sz="2175" b="1" dirty="0">
                <a:solidFill>
                  <a:srgbClr val="182D45"/>
                </a:solidFill>
                <a:latin typeface="DejaVu Sans"/>
                <a:ea typeface="DejaVu Sans"/>
                <a:cs typeface="DejaVu Sans"/>
              </a:rPr>
              <a:t>Adjustable coefficients</a:t>
            </a:r>
          </a:p>
        </p:txBody>
      </p:sp>
      <mc:AlternateContent xmlns:mc="http://schemas.openxmlformats.org/markup-compatibility/2006" xmlns:a14="http://schemas.microsoft.com/office/drawing/2010/main">
        <mc:Choice Requires="a14">
          <p:sp>
            <p:nvSpPr>
              <p:cNvPr id="9" name="equation_5" descr="b,\quad w_1,\quad w_2">
                <a:extLst>
                  <a:ext uri="{FF2B5EF4-FFF2-40B4-BE49-F238E27FC236}">
                    <a16:creationId xmlns:a16="http://schemas.microsoft.com/office/drawing/2014/main" id="{706E91FB-D9BA-4902-AEEC-0477B852F4EE}"/>
                  </a:ext>
                </a:extLst>
              </p:cNvPr>
              <p:cNvSpPr>
                <a:spLocks noGrp="1"/>
              </p:cNvSpPr>
              <p:nvPr/>
            </p:nvSpPr>
            <p:spPr>
              <a:xfrm>
                <a:off x="3548061" y="4364259"/>
                <a:ext cx="5095875" cy="857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200">
                          <a:solidFill>
                            <a:srgbClr val="087F83"/>
                          </a:solidFill>
                          <a:latin typeface="Cambria Math"/>
                          <a:ea typeface="Cambria Math"/>
                          <a:cs typeface="Cambria Math"/>
                        </a:rPr>
                        <m:t>𝑏</m:t>
                      </m:r>
                      <m:r>
                        <a:rPr lang="en-GB" sz="3200">
                          <a:solidFill>
                            <a:srgbClr val="087F83"/>
                          </a:solidFill>
                          <a:latin typeface="Cambria Math"/>
                          <a:ea typeface="Cambria Math"/>
                          <a:cs typeface="Cambria Math"/>
                        </a:rPr>
                        <m:t>, </m:t>
                      </m:r>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𝑤</m:t>
                          </m:r>
                        </m:e>
                        <m:sub>
                          <m:r>
                            <a:rPr lang="en-GB" sz="3200">
                              <a:solidFill>
                                <a:srgbClr val="087F83"/>
                              </a:solidFill>
                              <a:latin typeface="Cambria Math"/>
                              <a:ea typeface="Cambria Math"/>
                              <a:cs typeface="Cambria Math"/>
                            </a:rPr>
                            <m:t>1</m:t>
                          </m:r>
                        </m:sub>
                      </m:sSub>
                      <m:r>
                        <a:rPr lang="en-GB" sz="3200">
                          <a:solidFill>
                            <a:srgbClr val="087F83"/>
                          </a:solidFill>
                          <a:latin typeface="Cambria Math"/>
                          <a:ea typeface="Cambria Math"/>
                          <a:cs typeface="Cambria Math"/>
                        </a:rPr>
                        <m:t>, </m:t>
                      </m:r>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𝑤</m:t>
                          </m:r>
                        </m:e>
                        <m:sub>
                          <m:r>
                            <a:rPr lang="en-GB" sz="3200">
                              <a:solidFill>
                                <a:srgbClr val="087F83"/>
                              </a:solidFill>
                              <a:latin typeface="Cambria Math"/>
                              <a:ea typeface="Cambria Math"/>
                              <a:cs typeface="Cambria Math"/>
                            </a:rPr>
                            <m:t>2</m:t>
                          </m:r>
                        </m:sub>
                      </m:sSub>
                    </m:oMath>
                  </m:oMathPara>
                </a14:m>
                <a:endParaRPr lang="en-GB" sz="3200" dirty="0"/>
              </a:p>
            </p:txBody>
          </p:sp>
        </mc:Choice>
        <mc:Fallback xmlns="">
          <p:sp>
            <p:nvSpPr>
              <p:cNvPr id="9" name="equation_5" descr="b,\quad w_1,\quad w_2">
                <a:extLst>
                  <a:ext uri="{FF2B5EF4-FFF2-40B4-BE49-F238E27FC236}">
                    <a16:creationId xmlns:a16="http://schemas.microsoft.com/office/drawing/2014/main" id="{706E91FB-D9BA-4902-AEEC-0477B852F4EE}"/>
                  </a:ext>
                </a:extLst>
              </p:cNvPr>
              <p:cNvSpPr>
                <a:spLocks noGrp="1" noRot="1" noChangeAspect="1" noMove="1" noResize="1" noEditPoints="1" noAdjustHandles="1" noChangeArrowheads="1" noChangeShapeType="1" noTextEdit="1"/>
              </p:cNvSpPr>
              <p:nvPr/>
            </p:nvSpPr>
            <p:spPr>
              <a:xfrm>
                <a:off x="3548061" y="4364259"/>
                <a:ext cx="5095875" cy="857250"/>
              </a:xfrm>
              <a:prstGeom prst="rect">
                <a:avLst/>
              </a:prstGeom>
              <a:blipFill>
                <a:blip r:embed="rId5"/>
                <a:stretch>
                  <a:fillRect/>
                </a:stretch>
              </a:blipFill>
              <a:ln w="0">
                <a:noFill/>
              </a:ln>
            </p:spPr>
            <p:txBody>
              <a:bodyPr/>
              <a:lstStyle/>
              <a:p>
                <a:r>
                  <a:rPr lang="it-IT">
                    <a:noFill/>
                  </a:rPr>
                  <a:t> </a:t>
                </a:r>
              </a:p>
            </p:txBody>
          </p:sp>
        </mc:Fallback>
      </mc:AlternateContent>
      <p:sp>
        <p:nvSpPr>
          <p:cNvPr id="10" name="text_6">
            <a:extLst>
              <a:ext uri="{FF2B5EF4-FFF2-40B4-BE49-F238E27FC236}">
                <a16:creationId xmlns:a16="http://schemas.microsoft.com/office/drawing/2014/main" id="{B1DEFEA4-0316-4BB1-9DA7-73642A3A7A80}"/>
              </a:ext>
            </a:extLst>
          </p:cNvPr>
          <p:cNvSpPr>
            <a:spLocks noGrp="1"/>
          </p:cNvSpPr>
          <p:nvPr/>
        </p:nvSpPr>
        <p:spPr>
          <a:xfrm>
            <a:off x="571499" y="5710427"/>
            <a:ext cx="11049000" cy="5048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FF0000"/>
                </a:solidFill>
                <a:latin typeface="DejaVu Sans"/>
                <a:ea typeface="DejaVu Sans"/>
                <a:cs typeface="DejaVu Sans"/>
              </a:rPr>
              <a:t>Can the data also help us choose the feature functions?</a:t>
            </a:r>
          </a:p>
        </p:txBody>
      </p:sp>
    </p:spTree>
    <p:extLst>
      <p:ext uri="{BB962C8B-B14F-4D97-AF65-F5344CB8AC3E}">
        <p14:creationId xmlns:p14="http://schemas.microsoft.com/office/powerpoint/2010/main" val="1890461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508B09BA-1FA2-4191-BD4B-0C0E246EC1EE}"/>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Learning the feature functions</a:t>
            </a:r>
          </a:p>
        </p:txBody>
      </p:sp>
      <p:sp>
        <p:nvSpPr>
          <p:cNvPr id="2" name="lead">
            <a:extLst>
              <a:ext uri="{FF2B5EF4-FFF2-40B4-BE49-F238E27FC236}">
                <a16:creationId xmlns:a16="http://schemas.microsoft.com/office/drawing/2014/main" id="{50754E84-72BF-4D48-9A4E-71413ADAE969}"/>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chemeClr val="tx2"/>
                </a:solidFill>
                <a:latin typeface="DejaVu Sans"/>
                <a:ea typeface="DejaVu Sans"/>
                <a:cs typeface="DejaVu Sans"/>
              </a:rPr>
              <a:t>A neural network places adjustable parameters </a:t>
            </a:r>
            <a:r>
              <a:rPr sz="2175" b="0" dirty="0">
                <a:solidFill>
                  <a:srgbClr val="FF0000"/>
                </a:solidFill>
                <a:latin typeface="DejaVu Sans"/>
                <a:ea typeface="DejaVu Sans"/>
                <a:cs typeface="DejaVu Sans"/>
              </a:rPr>
              <a:t>inside</a:t>
            </a:r>
            <a:r>
              <a:rPr sz="2175" b="0" dirty="0">
                <a:solidFill>
                  <a:schemeClr val="tx2"/>
                </a:solidFill>
                <a:latin typeface="DejaVu Sans"/>
                <a:ea typeface="DejaVu Sans"/>
                <a:cs typeface="DejaVu Sans"/>
              </a:rPr>
              <a:t> the feature functions.</a:t>
            </a:r>
          </a:p>
        </p:txBody>
      </p:sp>
      <p:sp>
        <p:nvSpPr>
          <p:cNvPr id="3" name="footer_course">
            <a:extLst>
              <a:ext uri="{FF2B5EF4-FFF2-40B4-BE49-F238E27FC236}">
                <a16:creationId xmlns:a16="http://schemas.microsoft.com/office/drawing/2014/main" id="{5C6FD787-1CF6-4C6B-B0D8-D8DF7D15D23E}"/>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F55D5867-6860-4504-8486-FBF36BC5C71E}"/>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4</a:t>
            </a:r>
          </a:p>
        </p:txBody>
      </p:sp>
      <mc:AlternateContent xmlns:mc="http://schemas.openxmlformats.org/markup-compatibility/2006" xmlns:a14="http://schemas.microsoft.com/office/drawing/2010/main">
        <mc:Choice Requires="a14">
          <p:sp>
            <p:nvSpPr>
              <p:cNvPr id="5" name="equation_1" descr="f(\mathbf{x})=b+\sum_{j=1}^{m}w_j\phi_j(\mathbf{x})">
                <a:extLst>
                  <a:ext uri="{FF2B5EF4-FFF2-40B4-BE49-F238E27FC236}">
                    <a16:creationId xmlns:a16="http://schemas.microsoft.com/office/drawing/2014/main" id="{68E39FFA-75E0-486B-BAB7-72CFB1AFFF75}"/>
                  </a:ext>
                </a:extLst>
              </p:cNvPr>
              <p:cNvSpPr>
                <a:spLocks noGrp="1"/>
              </p:cNvSpPr>
              <p:nvPr/>
            </p:nvSpPr>
            <p:spPr>
              <a:xfrm>
                <a:off x="476250" y="1594580"/>
                <a:ext cx="10668000" cy="2093976"/>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600" smtClean="0">
                          <a:solidFill>
                            <a:srgbClr val="087F83"/>
                          </a:solidFill>
                          <a:latin typeface="Cambria Math"/>
                          <a:ea typeface="Cambria Math"/>
                          <a:cs typeface="Cambria Math"/>
                        </a:rPr>
                        <m:t>𝑓</m:t>
                      </m:r>
                      <m:d>
                        <m:dPr>
                          <m:ctrlPr>
                            <a:rPr lang="en-GB" sz="3600" smtClean="0">
                              <a:solidFill>
                                <a:srgbClr val="087F83"/>
                              </a:solidFill>
                              <a:latin typeface="Cambria Math"/>
                              <a:ea typeface="Cambria Math"/>
                              <a:cs typeface="Cambria Math"/>
                            </a:rPr>
                          </m:ctrlPr>
                        </m:dPr>
                        <m:e>
                          <m:r>
                            <a:rPr lang="en-GB" sz="3600" smtClean="0">
                              <a:solidFill>
                                <a:srgbClr val="087F83"/>
                              </a:solidFill>
                              <a:latin typeface="Cambria Math"/>
                              <a:ea typeface="Cambria Math"/>
                              <a:cs typeface="Cambria Math"/>
                            </a:rPr>
                            <m:t>𝐱</m:t>
                          </m:r>
                        </m:e>
                      </m:d>
                      <m:r>
                        <a:rPr lang="en-GB" sz="3600" smtClean="0">
                          <a:solidFill>
                            <a:srgbClr val="087F83"/>
                          </a:solidFill>
                          <a:latin typeface="Cambria Math"/>
                          <a:ea typeface="Cambria Math"/>
                          <a:cs typeface="Cambria Math"/>
                        </a:rPr>
                        <m:t>=</m:t>
                      </m:r>
                      <m:r>
                        <a:rPr lang="en-GB" sz="3600" smtClean="0">
                          <a:solidFill>
                            <a:srgbClr val="087F83"/>
                          </a:solidFill>
                          <a:latin typeface="Cambria Math"/>
                          <a:ea typeface="Cambria Math"/>
                          <a:cs typeface="Cambria Math"/>
                        </a:rPr>
                        <m:t>𝑏</m:t>
                      </m:r>
                      <m:r>
                        <a:rPr lang="en-GB" sz="3600" smtClean="0">
                          <a:solidFill>
                            <a:srgbClr val="087F83"/>
                          </a:solidFill>
                          <a:latin typeface="Cambria Math"/>
                          <a:ea typeface="Cambria Math"/>
                          <a:cs typeface="Cambria Math"/>
                        </a:rPr>
                        <m:t>+</m:t>
                      </m:r>
                      <m:nary>
                        <m:naryPr>
                          <m:chr m:val="∑"/>
                          <m:limLoc m:val="undOvr"/>
                          <m:ctrlPr>
                            <a:rPr lang="en-GB" sz="3600">
                              <a:solidFill>
                                <a:srgbClr val="087F83"/>
                              </a:solidFill>
                              <a:latin typeface="Cambria Math"/>
                              <a:ea typeface="Cambria Math"/>
                              <a:cs typeface="Cambria Math"/>
                            </a:rPr>
                          </m:ctrlPr>
                        </m:naryPr>
                        <m:sub>
                          <m:r>
                            <a:rPr lang="en-GB" sz="3600">
                              <a:solidFill>
                                <a:srgbClr val="087F83"/>
                              </a:solidFill>
                              <a:latin typeface="Cambria Math"/>
                              <a:ea typeface="Cambria Math"/>
                              <a:cs typeface="Cambria Math"/>
                            </a:rPr>
                            <m:t>𝑗</m:t>
                          </m:r>
                          <m:r>
                            <a:rPr lang="en-GB" sz="3600">
                              <a:solidFill>
                                <a:srgbClr val="087F83"/>
                              </a:solidFill>
                              <a:latin typeface="Cambria Math"/>
                              <a:ea typeface="Cambria Math"/>
                              <a:cs typeface="Cambria Math"/>
                            </a:rPr>
                            <m:t>=1</m:t>
                          </m:r>
                        </m:sub>
                        <m:sup>
                          <m:r>
                            <a:rPr lang="en-GB" sz="3600">
                              <a:solidFill>
                                <a:srgbClr val="087F83"/>
                              </a:solidFill>
                              <a:latin typeface="Cambria Math"/>
                              <a:ea typeface="Cambria Math"/>
                              <a:cs typeface="Cambria Math"/>
                            </a:rPr>
                            <m:t>𝑚</m:t>
                          </m:r>
                        </m:sup>
                        <m:e>
                          <m:sSub>
                            <m:sSubPr>
                              <m:ctrlPr>
                                <a:rPr lang="en-GB" sz="3600">
                                  <a:solidFill>
                                    <a:srgbClr val="087F83"/>
                                  </a:solidFill>
                                  <a:latin typeface="Cambria Math"/>
                                  <a:ea typeface="Cambria Math"/>
                                  <a:cs typeface="Cambria Math"/>
                                </a:rPr>
                              </m:ctrlPr>
                            </m:sSubPr>
                            <m:e>
                              <m:r>
                                <a:rPr lang="en-GB" sz="3600">
                                  <a:solidFill>
                                    <a:srgbClr val="087F83"/>
                                  </a:solidFill>
                                  <a:latin typeface="Cambria Math"/>
                                  <a:ea typeface="Cambria Math"/>
                                  <a:cs typeface="Cambria Math"/>
                                </a:rPr>
                                <m:t>𝑤</m:t>
                              </m:r>
                            </m:e>
                            <m:sub>
                              <m:r>
                                <a:rPr lang="en-GB" sz="3600">
                                  <a:solidFill>
                                    <a:srgbClr val="087F83"/>
                                  </a:solidFill>
                                  <a:latin typeface="Cambria Math"/>
                                  <a:ea typeface="Cambria Math"/>
                                  <a:cs typeface="Cambria Math"/>
                                </a:rPr>
                                <m:t>𝑗</m:t>
                              </m:r>
                            </m:sub>
                          </m:sSub>
                          <m:sSub>
                            <m:sSubPr>
                              <m:ctrlPr>
                                <a:rPr lang="en-GB" sz="3600">
                                  <a:solidFill>
                                    <a:srgbClr val="087F83"/>
                                  </a:solidFill>
                                  <a:latin typeface="Cambria Math"/>
                                  <a:ea typeface="Cambria Math"/>
                                  <a:cs typeface="Cambria Math"/>
                                </a:rPr>
                              </m:ctrlPr>
                            </m:sSubPr>
                            <m:e>
                              <m:r>
                                <a:rPr lang="en-GB" sz="3600">
                                  <a:solidFill>
                                    <a:srgbClr val="087F83"/>
                                  </a:solidFill>
                                  <a:latin typeface="Cambria Math"/>
                                  <a:ea typeface="Cambria Math"/>
                                  <a:cs typeface="Cambria Math"/>
                                </a:rPr>
                                <m:t>𝜙</m:t>
                              </m:r>
                            </m:e>
                            <m:sub>
                              <m:r>
                                <a:rPr lang="en-GB" sz="3600">
                                  <a:solidFill>
                                    <a:srgbClr val="087F83"/>
                                  </a:solidFill>
                                  <a:latin typeface="Cambria Math"/>
                                  <a:ea typeface="Cambria Math"/>
                                  <a:cs typeface="Cambria Math"/>
                                </a:rPr>
                                <m:t>𝑗</m:t>
                              </m:r>
                            </m:sub>
                          </m:sSub>
                          <m:d>
                            <m:dPr>
                              <m:ctrlPr>
                                <a:rPr lang="en-GB" sz="3600">
                                  <a:solidFill>
                                    <a:srgbClr val="087F83"/>
                                  </a:solidFill>
                                  <a:latin typeface="Cambria Math"/>
                                  <a:ea typeface="Cambria Math"/>
                                  <a:cs typeface="Cambria Math"/>
                                </a:rPr>
                              </m:ctrlPr>
                            </m:dPr>
                            <m:e>
                              <m:r>
                                <a:rPr lang="en-GB" sz="3600">
                                  <a:solidFill>
                                    <a:srgbClr val="087F83"/>
                                  </a:solidFill>
                                  <a:latin typeface="Cambria Math"/>
                                  <a:ea typeface="Cambria Math"/>
                                  <a:cs typeface="Cambria Math"/>
                                </a:rPr>
                                <m:t>𝐱</m:t>
                              </m:r>
                            </m:e>
                          </m:d>
                        </m:e>
                      </m:nary>
                    </m:oMath>
                  </m:oMathPara>
                </a14:m>
                <a:endParaRPr lang="en-GB" sz="3600" dirty="0"/>
              </a:p>
            </p:txBody>
          </p:sp>
        </mc:Choice>
        <mc:Fallback xmlns="">
          <p:sp>
            <p:nvSpPr>
              <p:cNvPr id="5" name="equation_1" descr="f(\mathbf{x})=b+\sum_{j=1}^{m}w_j\phi_j(\mathbf{x})">
                <a:extLst>
                  <a:ext uri="{FF2B5EF4-FFF2-40B4-BE49-F238E27FC236}">
                    <a16:creationId xmlns:a16="http://schemas.microsoft.com/office/drawing/2014/main" id="{68E39FFA-75E0-486B-BAB7-72CFB1AFFF75}"/>
                  </a:ext>
                </a:extLst>
              </p:cNvPr>
              <p:cNvSpPr>
                <a:spLocks noGrp="1" noRot="1" noChangeAspect="1" noMove="1" noResize="1" noEditPoints="1" noAdjustHandles="1" noChangeArrowheads="1" noChangeShapeType="1" noTextEdit="1"/>
              </p:cNvSpPr>
              <p:nvPr/>
            </p:nvSpPr>
            <p:spPr>
              <a:xfrm>
                <a:off x="476250" y="1594580"/>
                <a:ext cx="10668000" cy="2093976"/>
              </a:xfrm>
              <a:prstGeom prst="rect">
                <a:avLst/>
              </a:prstGeom>
              <a:blipFill>
                <a:blip r:embed="rId3"/>
                <a:stretch>
                  <a:fillRect/>
                </a:stretch>
              </a:blipFill>
              <a:ln w="0">
                <a:noFill/>
              </a:ln>
            </p:spPr>
            <p:txBody>
              <a:bodyPr/>
              <a:lstStyle/>
              <a:p>
                <a:r>
                  <a:rPr lang="it-IT">
                    <a:noFill/>
                  </a:rPr>
                  <a:t> </a:t>
                </a:r>
              </a:p>
            </p:txBody>
          </p:sp>
        </mc:Fallback>
      </mc:AlternateContent>
      <p:sp>
        <p:nvSpPr>
          <p:cNvPr id="6" name="text_2">
            <a:extLst>
              <a:ext uri="{FF2B5EF4-FFF2-40B4-BE49-F238E27FC236}">
                <a16:creationId xmlns:a16="http://schemas.microsoft.com/office/drawing/2014/main" id="{2A5D4D29-4DB3-4F1D-90B4-B124613B6FF0}"/>
              </a:ext>
            </a:extLst>
          </p:cNvPr>
          <p:cNvSpPr>
            <a:spLocks noGrp="1"/>
          </p:cNvSpPr>
          <p:nvPr/>
        </p:nvSpPr>
        <p:spPr>
          <a:xfrm>
            <a:off x="714375" y="3662458"/>
            <a:ext cx="5095875" cy="785622"/>
          </a:xfrm>
          <a:prstGeom prst="rect">
            <a:avLst/>
          </a:prstGeom>
          <a:noFill/>
          <a:ln w="0">
            <a:noFill/>
          </a:ln>
        </p:spPr>
        <p:txBody>
          <a:bodyPr anchor="ctr" wrap="none" lIns="0" rIns="0" tIns="0" bIns="0">
            <a:noAutofit/>
          </a:bodyPr>
          <a:lstStyle/>
          <a:p>
            <a:pPr algn="ctr"/>
            <a:r>
              <a:rPr lang="en-GB" sz="2200" b="1">
                <a:solidFill>
                  <a:srgbClr val="182D45"/>
                </a:solidFill>
                <a:latin typeface="DejaVu Sans"/>
              </a:rPr>
              <a:t>Feature functions with</a:t>
            </a:r>
            <a:endParaRPr lang="en-GB" sz="2200"/>
          </a:p>
          <a:p>
            <a:pPr algn="ctr"/>
            <a:r>
              <a:rPr lang="en-GB" sz="2200" b="1">
                <a:solidFill>
                  <a:srgbClr val="182D45"/>
                </a:solidFill>
                <a:latin typeface="DejaVu Sans"/>
              </a:rPr>
              <a:t>adjustable parameters</a:t>
            </a:r>
            <a:endParaRPr lang="en-GB" sz="2200"/>
          </a:p>
        </p:txBody>
      </p:sp>
      <mc:AlternateContent xmlns:mc="http://schemas.openxmlformats.org/markup-compatibility/2006" xmlns:a14="http://schemas.microsoft.com/office/drawing/2010/main">
        <mc:Choice Requires="a14">
          <p:sp>
            <p:nvSpPr>
              <p:cNvPr id="7" name="equation_3" descr="\phi_1,\ldots,\phi_m">
                <a:extLst>
                  <a:ext uri="{FF2B5EF4-FFF2-40B4-BE49-F238E27FC236}">
                    <a16:creationId xmlns:a16="http://schemas.microsoft.com/office/drawing/2014/main" id="{2F0861F5-3CED-4EA6-A22C-5B4B7B32B8C6}"/>
                  </a:ext>
                </a:extLst>
              </p:cNvPr>
              <p:cNvSpPr>
                <a:spLocks noGrp="1"/>
              </p:cNvSpPr>
              <p:nvPr/>
            </p:nvSpPr>
            <p:spPr>
              <a:xfrm>
                <a:off x="714375" y="4385119"/>
                <a:ext cx="5095875" cy="666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𝜙</m:t>
                          </m:r>
                        </m:e>
                        <m:sub>
                          <m:r>
                            <a:rPr lang="en-GB" sz="3200">
                              <a:solidFill>
                                <a:srgbClr val="087F83"/>
                              </a:solidFill>
                              <a:latin typeface="Cambria Math"/>
                              <a:ea typeface="Cambria Math"/>
                              <a:cs typeface="Cambria Math"/>
                            </a:rPr>
                            <m:t>1</m:t>
                          </m:r>
                        </m:sub>
                      </m:sSub>
                      <m:r>
                        <a:rPr lang="en-GB" sz="3200">
                          <a:solidFill>
                            <a:srgbClr val="087F83"/>
                          </a:solidFill>
                          <a:latin typeface="Cambria Math"/>
                          <a:ea typeface="Cambria Math"/>
                          <a:cs typeface="Cambria Math"/>
                        </a:rPr>
                        <m:t>,…,</m:t>
                      </m:r>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𝜙</m:t>
                          </m:r>
                        </m:e>
                        <m:sub>
                          <m:r>
                            <a:rPr lang="en-GB" sz="3200">
                              <a:solidFill>
                                <a:srgbClr val="087F83"/>
                              </a:solidFill>
                              <a:latin typeface="Cambria Math"/>
                              <a:ea typeface="Cambria Math"/>
                              <a:cs typeface="Cambria Math"/>
                            </a:rPr>
                            <m:t>𝑚</m:t>
                          </m:r>
                        </m:sub>
                      </m:sSub>
                    </m:oMath>
                  </m:oMathPara>
                </a14:m>
                <a:endParaRPr lang="en-GB" sz="3200" dirty="0"/>
              </a:p>
            </p:txBody>
          </p:sp>
        </mc:Choice>
        <mc:Fallback xmlns="">
          <p:sp>
            <p:nvSpPr>
              <p:cNvPr id="7" name="equation_3" descr="\phi_1,\ldots,\phi_m">
                <a:extLst>
                  <a:ext uri="{FF2B5EF4-FFF2-40B4-BE49-F238E27FC236}">
                    <a16:creationId xmlns:a16="http://schemas.microsoft.com/office/drawing/2014/main" id="{2F0861F5-3CED-4EA6-A22C-5B4B7B32B8C6}"/>
                  </a:ext>
                </a:extLst>
              </p:cNvPr>
              <p:cNvSpPr>
                <a:spLocks noGrp="1" noRot="1" noChangeAspect="1" noMove="1" noResize="1" noEditPoints="1" noAdjustHandles="1" noChangeArrowheads="1" noChangeShapeType="1" noTextEdit="1"/>
              </p:cNvSpPr>
              <p:nvPr/>
            </p:nvSpPr>
            <p:spPr>
              <a:xfrm>
                <a:off x="714375" y="4385119"/>
                <a:ext cx="5095875" cy="666750"/>
              </a:xfrm>
              <a:prstGeom prst="rect">
                <a:avLst/>
              </a:prstGeom>
              <a:blipFill>
                <a:blip r:embed="rId4"/>
                <a:stretch>
                  <a:fillRect/>
                </a:stretch>
              </a:blipFill>
              <a:ln w="0">
                <a:noFill/>
              </a:ln>
            </p:spPr>
            <p:txBody>
              <a:bodyPr/>
              <a:lstStyle/>
              <a:p>
                <a:r>
                  <a:rPr lang="it-IT">
                    <a:noFill/>
                  </a:rPr>
                  <a:t> </a:t>
                </a:r>
              </a:p>
            </p:txBody>
          </p:sp>
        </mc:Fallback>
      </mc:AlternateContent>
      <p:sp>
        <p:nvSpPr>
          <p:cNvPr id="8" name="text_4">
            <a:extLst>
              <a:ext uri="{FF2B5EF4-FFF2-40B4-BE49-F238E27FC236}">
                <a16:creationId xmlns:a16="http://schemas.microsoft.com/office/drawing/2014/main" id="{8E557E98-F97E-440D-AD7F-E6C9F0B51EAB}"/>
              </a:ext>
            </a:extLst>
          </p:cNvPr>
          <p:cNvSpPr>
            <a:spLocks noGrp="1"/>
          </p:cNvSpPr>
          <p:nvPr/>
        </p:nvSpPr>
        <p:spPr>
          <a:xfrm>
            <a:off x="6286500" y="3640931"/>
            <a:ext cx="5238750" cy="781050"/>
          </a:xfrm>
          <a:prstGeom prst="rect">
            <a:avLst/>
          </a:prstGeom>
          <a:noFill/>
          <a:ln w="0">
            <a:noFill/>
          </a:ln>
        </p:spPr>
        <p:txBody>
          <a:bodyPr anchor="ctr">
            <a:noAutofit/>
          </a:bodyPr>
          <a:lstStyle/>
          <a:p>
            <a:pPr algn="ctr">
              <a:defRPr sz="2175" b="1">
                <a:solidFill>
                  <a:srgbClr val="182D45"/>
                </a:solidFill>
                <a:latin typeface="DejaVu Sans"/>
                <a:ea typeface="DejaVu Sans"/>
                <a:cs typeface="DejaVu Sans"/>
              </a:defRPr>
            </a:pPr>
            <a:r>
              <a:rPr sz="2175" b="1" dirty="0">
                <a:solidFill>
                  <a:srgbClr val="182D45"/>
                </a:solidFill>
                <a:latin typeface="DejaVu Sans"/>
                <a:ea typeface="DejaVu Sans"/>
                <a:cs typeface="DejaVu Sans"/>
              </a:rPr>
              <a:t>Parameters combining</a:t>
            </a:r>
            <a:r>
              <a:rPr lang="it-IT" sz="2175" b="1" dirty="0">
                <a:solidFill>
                  <a:srgbClr val="182D45"/>
                </a:solidFill>
                <a:latin typeface="DejaVu Sans"/>
                <a:ea typeface="DejaVu Sans"/>
                <a:cs typeface="DejaVu Sans"/>
              </a:rPr>
              <a:t> </a:t>
            </a:r>
            <a:r>
              <a:rPr sz="2175" b="1" dirty="0">
                <a:solidFill>
                  <a:srgbClr val="182D45"/>
                </a:solidFill>
                <a:latin typeface="DejaVu Sans"/>
                <a:ea typeface="DejaVu Sans"/>
                <a:cs typeface="DejaVu Sans"/>
              </a:rPr>
              <a:t>the values</a:t>
            </a:r>
            <a:r>
              <a:rPr lang="it-IT" sz="2175" b="1" dirty="0">
                <a:solidFill>
                  <a:srgbClr val="182D45"/>
                </a:solidFill>
                <a:latin typeface="DejaVu Sans"/>
                <a:ea typeface="DejaVu Sans"/>
                <a:cs typeface="DejaVu Sans"/>
              </a:rPr>
              <a:t> of the feature </a:t>
            </a:r>
            <a:r>
              <a:rPr lang="it-IT" sz="2175" b="1" dirty="0" err="1">
                <a:solidFill>
                  <a:srgbClr val="182D45"/>
                </a:solidFill>
                <a:latin typeface="DejaVu Sans"/>
                <a:ea typeface="DejaVu Sans"/>
                <a:cs typeface="DejaVu Sans"/>
              </a:rPr>
              <a:t>functions</a:t>
            </a:r>
            <a:endParaRPr sz="2175" b="1" dirty="0">
              <a:solidFill>
                <a:srgbClr val="182D45"/>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9" name="equation_5" descr="b,\ w_1,\ldots,w_m">
                <a:extLst>
                  <a:ext uri="{FF2B5EF4-FFF2-40B4-BE49-F238E27FC236}">
                    <a16:creationId xmlns:a16="http://schemas.microsoft.com/office/drawing/2014/main" id="{6F5E3962-D00D-46F7-BBDF-C6710DE713E0}"/>
                  </a:ext>
                </a:extLst>
              </p:cNvPr>
              <p:cNvSpPr>
                <a:spLocks noGrp="1"/>
              </p:cNvSpPr>
              <p:nvPr/>
            </p:nvSpPr>
            <p:spPr>
              <a:xfrm>
                <a:off x="6381750" y="4385119"/>
                <a:ext cx="5238750" cy="666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200">
                          <a:solidFill>
                            <a:srgbClr val="087F83"/>
                          </a:solidFill>
                          <a:latin typeface="Cambria Math"/>
                          <a:ea typeface="Cambria Math"/>
                          <a:cs typeface="Cambria Math"/>
                        </a:rPr>
                        <m:t>𝑏</m:t>
                      </m:r>
                      <m:r>
                        <a:rPr lang="en-GB" sz="3200">
                          <a:solidFill>
                            <a:srgbClr val="087F83"/>
                          </a:solidFill>
                          <a:latin typeface="Cambria Math"/>
                          <a:ea typeface="Cambria Math"/>
                          <a:cs typeface="Cambria Math"/>
                        </a:rPr>
                        <m:t>, </m:t>
                      </m:r>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𝑤</m:t>
                          </m:r>
                        </m:e>
                        <m:sub>
                          <m:r>
                            <a:rPr lang="en-GB" sz="3200">
                              <a:solidFill>
                                <a:srgbClr val="087F83"/>
                              </a:solidFill>
                              <a:latin typeface="Cambria Math"/>
                              <a:ea typeface="Cambria Math"/>
                              <a:cs typeface="Cambria Math"/>
                            </a:rPr>
                            <m:t>1</m:t>
                          </m:r>
                        </m:sub>
                      </m:sSub>
                      <m:r>
                        <a:rPr lang="en-GB" sz="3200">
                          <a:solidFill>
                            <a:srgbClr val="087F83"/>
                          </a:solidFill>
                          <a:latin typeface="Cambria Math"/>
                          <a:ea typeface="Cambria Math"/>
                          <a:cs typeface="Cambria Math"/>
                        </a:rPr>
                        <m:t>,…,</m:t>
                      </m:r>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𝑤</m:t>
                          </m:r>
                        </m:e>
                        <m:sub>
                          <m:r>
                            <a:rPr lang="en-GB" sz="3200">
                              <a:solidFill>
                                <a:srgbClr val="087F83"/>
                              </a:solidFill>
                              <a:latin typeface="Cambria Math"/>
                              <a:ea typeface="Cambria Math"/>
                              <a:cs typeface="Cambria Math"/>
                            </a:rPr>
                            <m:t>𝑚</m:t>
                          </m:r>
                        </m:sub>
                      </m:sSub>
                    </m:oMath>
                  </m:oMathPara>
                </a14:m>
                <a:endParaRPr lang="en-GB" sz="3200" dirty="0"/>
              </a:p>
            </p:txBody>
          </p:sp>
        </mc:Choice>
        <mc:Fallback xmlns="">
          <p:sp>
            <p:nvSpPr>
              <p:cNvPr id="9" name="equation_5" descr="b,\ w_1,\ldots,w_m">
                <a:extLst>
                  <a:ext uri="{FF2B5EF4-FFF2-40B4-BE49-F238E27FC236}">
                    <a16:creationId xmlns:a16="http://schemas.microsoft.com/office/drawing/2014/main" id="{6F5E3962-D00D-46F7-BBDF-C6710DE713E0}"/>
                  </a:ext>
                </a:extLst>
              </p:cNvPr>
              <p:cNvSpPr>
                <a:spLocks noGrp="1" noRot="1" noChangeAspect="1" noMove="1" noResize="1" noEditPoints="1" noAdjustHandles="1" noChangeArrowheads="1" noChangeShapeType="1" noTextEdit="1"/>
              </p:cNvSpPr>
              <p:nvPr/>
            </p:nvSpPr>
            <p:spPr>
              <a:xfrm>
                <a:off x="6381750" y="4385119"/>
                <a:ext cx="5238750" cy="666750"/>
              </a:xfrm>
              <a:prstGeom prst="rect">
                <a:avLst/>
              </a:prstGeom>
              <a:blipFill>
                <a:blip r:embed="rId5"/>
                <a:stretch>
                  <a:fillRect/>
                </a:stretch>
              </a:blipFill>
              <a:ln w="0">
                <a:noFill/>
              </a:ln>
            </p:spPr>
            <p:txBody>
              <a:bodyPr/>
              <a:lstStyle/>
              <a:p>
                <a:r>
                  <a:rPr lang="it-IT">
                    <a:noFill/>
                  </a:rPr>
                  <a:t> </a:t>
                </a:r>
              </a:p>
            </p:txBody>
          </p:sp>
        </mc:Fallback>
      </mc:AlternateContent>
      <p:sp>
        <p:nvSpPr>
          <p:cNvPr id="13" name="text_6">
            <a:extLst>
              <a:ext uri="{FF2B5EF4-FFF2-40B4-BE49-F238E27FC236}">
                <a16:creationId xmlns:a16="http://schemas.microsoft.com/office/drawing/2014/main" id="{CD5884E1-25C0-54A3-8C41-D6675A18290B}"/>
              </a:ext>
            </a:extLst>
          </p:cNvPr>
          <p:cNvSpPr>
            <a:spLocks noGrp="1"/>
          </p:cNvSpPr>
          <p:nvPr/>
        </p:nvSpPr>
        <p:spPr>
          <a:xfrm>
            <a:off x="285750" y="5257800"/>
            <a:ext cx="11049000" cy="52387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lang="it-IT" sz="2100" b="1" dirty="0">
                <a:solidFill>
                  <a:srgbClr val="182D45"/>
                </a:solidFill>
                <a:latin typeface="DejaVu Sans"/>
                <a:ea typeface="DejaVu Sans"/>
                <a:cs typeface="DejaVu Sans"/>
              </a:rPr>
              <a:t>How do </a:t>
            </a:r>
            <a:r>
              <a:rPr lang="it-IT" sz="2100" b="1" dirty="0" err="1">
                <a:solidFill>
                  <a:srgbClr val="182D45"/>
                </a:solidFill>
                <a:latin typeface="DejaVu Sans"/>
                <a:ea typeface="DejaVu Sans"/>
                <a:cs typeface="DejaVu Sans"/>
              </a:rPr>
              <a:t>we</a:t>
            </a:r>
            <a:r>
              <a:rPr lang="it-IT" sz="2100" b="1" dirty="0">
                <a:solidFill>
                  <a:srgbClr val="182D45"/>
                </a:solidFill>
                <a:latin typeface="DejaVu Sans"/>
                <a:ea typeface="DejaVu Sans"/>
                <a:cs typeface="DejaVu Sans"/>
              </a:rPr>
              <a:t> do </a:t>
            </a:r>
            <a:r>
              <a:rPr lang="it-IT" sz="2100" b="1" dirty="0" err="1">
                <a:solidFill>
                  <a:srgbClr val="182D45"/>
                </a:solidFill>
                <a:latin typeface="DejaVu Sans"/>
                <a:ea typeface="DejaVu Sans"/>
                <a:cs typeface="DejaVu Sans"/>
              </a:rPr>
              <a:t>that</a:t>
            </a:r>
            <a:r>
              <a:rPr lang="it-IT" sz="2100" b="1" dirty="0">
                <a:solidFill>
                  <a:srgbClr val="182D45"/>
                </a:solidFill>
                <a:latin typeface="DejaVu Sans"/>
                <a:ea typeface="DejaVu Sans"/>
                <a:cs typeface="DejaVu Sans"/>
              </a:rPr>
              <a:t>?</a:t>
            </a:r>
          </a:p>
        </p:txBody>
      </p:sp>
      <p:sp>
        <p:nvSpPr>
          <p:cNvPr id="15" name="text_6">
            <a:extLst>
              <a:ext uri="{FF2B5EF4-FFF2-40B4-BE49-F238E27FC236}">
                <a16:creationId xmlns:a16="http://schemas.microsoft.com/office/drawing/2014/main" id="{38F702B2-5DF7-4FC9-1C5E-5EB9790C8CEE}"/>
              </a:ext>
            </a:extLst>
          </p:cNvPr>
          <p:cNvSpPr>
            <a:spLocks noGrp="1"/>
          </p:cNvSpPr>
          <p:nvPr/>
        </p:nvSpPr>
        <p:spPr>
          <a:xfrm>
            <a:off x="571500" y="5857875"/>
            <a:ext cx="11049000" cy="404432"/>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First, let us try </a:t>
            </a:r>
            <a:r>
              <a:rPr sz="2100" b="1" dirty="0">
                <a:solidFill>
                  <a:srgbClr val="FF0000"/>
                </a:solidFill>
                <a:latin typeface="DejaVu Sans"/>
                <a:ea typeface="DejaVu Sans"/>
                <a:cs typeface="DejaVu Sans"/>
              </a:rPr>
              <a:t>affine feature functions</a:t>
            </a:r>
            <a:r>
              <a:rPr sz="2100" b="1" dirty="0">
                <a:solidFill>
                  <a:srgbClr val="182D45"/>
                </a:solidFill>
                <a:latin typeface="DejaVu Sans"/>
                <a:ea typeface="DejaVu Sans"/>
                <a:cs typeface="DejaVu Sans"/>
              </a:rPr>
              <a:t> with adjustable coefficients.</a:t>
            </a:r>
          </a:p>
        </p:txBody>
      </p:sp>
    </p:spTree>
    <p:extLst>
      <p:ext uri="{BB962C8B-B14F-4D97-AF65-F5344CB8AC3E}">
        <p14:creationId xmlns:p14="http://schemas.microsoft.com/office/powerpoint/2010/main" val="163222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68942FD2-2E0A-4671-8B1D-3A22EC40820C}"/>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A first idea: affine feature functions</a:t>
            </a:r>
          </a:p>
        </p:txBody>
      </p:sp>
      <p:sp>
        <p:nvSpPr>
          <p:cNvPr id="2" name="lead">
            <a:extLst>
              <a:ext uri="{FF2B5EF4-FFF2-40B4-BE49-F238E27FC236}">
                <a16:creationId xmlns:a16="http://schemas.microsoft.com/office/drawing/2014/main" id="{937CAD97-0307-4227-9B39-8A8A06AF8B9F}"/>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it-IT" sz="2175" b="0" dirty="0">
                <a:solidFill>
                  <a:srgbClr val="526276"/>
                </a:solidFill>
                <a:latin typeface="DejaVu Sans"/>
                <a:ea typeface="DejaVu Sans"/>
                <a:cs typeface="DejaVu Sans"/>
              </a:rPr>
              <a:t>M</a:t>
            </a:r>
            <a:r>
              <a:rPr sz="2175" b="0" dirty="0" err="1">
                <a:solidFill>
                  <a:srgbClr val="526276"/>
                </a:solidFill>
                <a:latin typeface="DejaVu Sans"/>
                <a:ea typeface="DejaVu Sans"/>
                <a:cs typeface="DejaVu Sans"/>
              </a:rPr>
              <a:t>ake</a:t>
            </a:r>
            <a:r>
              <a:rPr sz="2175" b="0" dirty="0">
                <a:solidFill>
                  <a:srgbClr val="526276"/>
                </a:solidFill>
                <a:latin typeface="DejaVu Sans"/>
                <a:ea typeface="DejaVu Sans"/>
                <a:cs typeface="DejaVu Sans"/>
              </a:rPr>
              <a:t> each feature</a:t>
            </a:r>
            <a:r>
              <a:rPr lang="it-IT" sz="2175" b="0" dirty="0">
                <a:solidFill>
                  <a:srgbClr val="526276"/>
                </a:solidFill>
                <a:latin typeface="DejaVu Sans"/>
                <a:ea typeface="DejaVu Sans"/>
                <a:cs typeface="DejaVu Sans"/>
              </a:rPr>
              <a:t> </a:t>
            </a:r>
            <a:r>
              <a:rPr lang="it-IT" sz="2175" b="0" dirty="0" err="1">
                <a:solidFill>
                  <a:srgbClr val="526276"/>
                </a:solidFill>
                <a:latin typeface="DejaVu Sans"/>
                <a:ea typeface="DejaVu Sans"/>
                <a:cs typeface="DejaVu Sans"/>
              </a:rPr>
              <a:t>map</a:t>
            </a:r>
            <a:r>
              <a:rPr sz="2175" b="0" dirty="0">
                <a:solidFill>
                  <a:srgbClr val="526276"/>
                </a:solidFill>
                <a:latin typeface="DejaVu Sans"/>
                <a:ea typeface="DejaVu Sans"/>
                <a:cs typeface="DejaVu Sans"/>
              </a:rPr>
              <a:t> an </a:t>
            </a:r>
            <a:r>
              <a:rPr sz="2175" b="0" dirty="0">
                <a:solidFill>
                  <a:srgbClr val="FF0000"/>
                </a:solidFill>
                <a:latin typeface="DejaVu Sans"/>
                <a:ea typeface="DejaVu Sans"/>
                <a:cs typeface="DejaVu Sans"/>
              </a:rPr>
              <a:t>affine</a:t>
            </a:r>
            <a:r>
              <a:rPr sz="2175" b="0" dirty="0">
                <a:solidFill>
                  <a:srgbClr val="526276"/>
                </a:solidFill>
                <a:latin typeface="DejaVu Sans"/>
                <a:ea typeface="DejaVu Sans"/>
                <a:cs typeface="DejaVu Sans"/>
              </a:rPr>
              <a:t> function of the input.</a:t>
            </a:r>
          </a:p>
        </p:txBody>
      </p:sp>
      <p:sp>
        <p:nvSpPr>
          <p:cNvPr id="3" name="footer_course">
            <a:extLst>
              <a:ext uri="{FF2B5EF4-FFF2-40B4-BE49-F238E27FC236}">
                <a16:creationId xmlns:a16="http://schemas.microsoft.com/office/drawing/2014/main" id="{98C3783D-133F-490C-8108-80870F7ED164}"/>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4DE3DDDB-19EB-49F0-9981-4990FF74A747}"/>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5</a:t>
            </a:r>
          </a:p>
        </p:txBody>
      </p:sp>
      <mc:AlternateContent xmlns:mc="http://schemas.openxmlformats.org/markup-compatibility/2006" xmlns:a14="http://schemas.microsoft.com/office/drawing/2010/main">
        <mc:Choice Requires="a14">
          <p:sp>
            <p:nvSpPr>
              <p:cNvPr id="5" name="dimensions" descr="\mathbf{x}\in\mathbb{R}^{1\times d},\quad \mathbf{W}\in\mathbb{R}^{d\times m},\quad\mathbf{b}\in\mathbb{R}^{1\times m}">
                <a:extLst>
                  <a:ext uri="{FF2B5EF4-FFF2-40B4-BE49-F238E27FC236}">
                    <a16:creationId xmlns:a16="http://schemas.microsoft.com/office/drawing/2014/main" id="{30E246B5-498D-49A0-B35A-4071E83A7E2A}"/>
                  </a:ext>
                </a:extLst>
              </p:cNvPr>
              <p:cNvSpPr>
                <a:spLocks noGrp="1"/>
              </p:cNvSpPr>
              <p:nvPr/>
            </p:nvSpPr>
            <p:spPr>
              <a:xfrm>
                <a:off x="571500" y="1819275"/>
                <a:ext cx="1114425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smtClean="0">
                          <a:solidFill>
                            <a:srgbClr val="087F83"/>
                          </a:solidFill>
                          <a:latin typeface="Cambria Math" panose="02040503050406030204" pitchFamily="18" charset="0"/>
                          <a:ea typeface="Cambria Math"/>
                          <a:cs typeface="Cambria Math"/>
                        </a:rPr>
                        <m:t>𝐱</m:t>
                      </m:r>
                      <m:r>
                        <a:rPr lang="it-IT" sz="2300" b="0" i="0" smtClean="0">
                          <a:solidFill>
                            <a:srgbClr val="087F83"/>
                          </a:solidFill>
                          <a:latin typeface="Cambria Math" panose="02040503050406030204" pitchFamily="18" charset="0"/>
                          <a:ea typeface="Cambria Math"/>
                          <a:cs typeface="Cambria Math"/>
                        </a:rPr>
                        <m:t>=</m:t>
                      </m:r>
                      <m:d>
                        <m:dPr>
                          <m:ctrlPr>
                            <a:rPr lang="it-IT" sz="2300" b="0" i="1" smtClean="0">
                              <a:solidFill>
                                <a:srgbClr val="087F83"/>
                              </a:solidFill>
                              <a:latin typeface="Cambria Math" panose="02040503050406030204" pitchFamily="18" charset="0"/>
                              <a:ea typeface="Cambria Math"/>
                            </a:rPr>
                          </m:ctrlPr>
                        </m:dPr>
                        <m:e>
                          <m:sSub>
                            <m:sSubPr>
                              <m:ctrlPr>
                                <a:rPr lang="it-IT" sz="2300" b="0" i="1" smtClean="0">
                                  <a:solidFill>
                                    <a:srgbClr val="087F83"/>
                                  </a:solidFill>
                                  <a:latin typeface="Cambria Math" panose="02040503050406030204" pitchFamily="18" charset="0"/>
                                  <a:ea typeface="Cambria Math"/>
                                </a:rPr>
                              </m:ctrlPr>
                            </m:sSubPr>
                            <m:e>
                              <m:r>
                                <a:rPr lang="it-IT" sz="2300" b="0" i="1" smtClean="0">
                                  <a:solidFill>
                                    <a:srgbClr val="087F83"/>
                                  </a:solidFill>
                                  <a:latin typeface="Cambria Math" panose="02040503050406030204" pitchFamily="18" charset="0"/>
                                  <a:ea typeface="Cambria Math"/>
                                </a:rPr>
                                <m:t>𝑥</m:t>
                              </m:r>
                            </m:e>
                            <m:sub>
                              <m:r>
                                <a:rPr lang="it-IT" sz="2300" b="0" i="1" smtClean="0">
                                  <a:solidFill>
                                    <a:srgbClr val="087F83"/>
                                  </a:solidFill>
                                  <a:latin typeface="Cambria Math" panose="02040503050406030204" pitchFamily="18" charset="0"/>
                                  <a:ea typeface="Cambria Math"/>
                                </a:rPr>
                                <m:t>1</m:t>
                              </m:r>
                            </m:sub>
                          </m:sSub>
                          <m:r>
                            <a:rPr lang="it-IT" sz="2300" b="0" i="1" smtClean="0">
                              <a:solidFill>
                                <a:srgbClr val="087F83"/>
                              </a:solidFill>
                              <a:latin typeface="Cambria Math" panose="02040503050406030204" pitchFamily="18" charset="0"/>
                              <a:ea typeface="Cambria Math"/>
                            </a:rPr>
                            <m:t>,…,</m:t>
                          </m:r>
                          <m:sSub>
                            <m:sSubPr>
                              <m:ctrlPr>
                                <a:rPr lang="it-IT" sz="2300" b="0" i="1" smtClean="0">
                                  <a:solidFill>
                                    <a:srgbClr val="087F83"/>
                                  </a:solidFill>
                                  <a:latin typeface="Cambria Math" panose="02040503050406030204" pitchFamily="18" charset="0"/>
                                  <a:ea typeface="Cambria Math"/>
                                </a:rPr>
                              </m:ctrlPr>
                            </m:sSubPr>
                            <m:e>
                              <m:r>
                                <a:rPr lang="it-IT" sz="2300" b="0" i="1" smtClean="0">
                                  <a:solidFill>
                                    <a:srgbClr val="087F83"/>
                                  </a:solidFill>
                                  <a:latin typeface="Cambria Math" panose="02040503050406030204" pitchFamily="18" charset="0"/>
                                  <a:ea typeface="Cambria Math"/>
                                </a:rPr>
                                <m:t>𝑥</m:t>
                              </m:r>
                            </m:e>
                            <m:sub>
                              <m:r>
                                <a:rPr lang="it-IT" sz="2300" b="0" i="1" smtClean="0">
                                  <a:solidFill>
                                    <a:srgbClr val="087F83"/>
                                  </a:solidFill>
                                  <a:latin typeface="Cambria Math" panose="02040503050406030204" pitchFamily="18" charset="0"/>
                                  <a:ea typeface="Cambria Math"/>
                                </a:rPr>
                                <m:t>𝑑</m:t>
                              </m:r>
                            </m:sub>
                          </m:sSub>
                        </m:e>
                      </m:d>
                      <m:r>
                        <a:rPr lang="en-GB" sz="2300">
                          <a:solidFill>
                            <a:srgbClr val="087F83"/>
                          </a:solidFill>
                          <a:latin typeface="Cambria Math" panose="02040503050406030204" pitchFamily="18" charset="0"/>
                          <a:ea typeface="Cambria Math"/>
                          <a:cs typeface="Cambria Math"/>
                        </a:rPr>
                        <m:t>∈</m:t>
                      </m:r>
                      <m:sSup>
                        <m:sSupPr>
                          <m:ctrlPr>
                            <a:rPr lang="en-GB" sz="2300">
                              <a:solidFill>
                                <a:srgbClr val="087F83"/>
                              </a:solidFill>
                              <a:latin typeface="Cambria Math" panose="02040503050406030204" pitchFamily="18" charset="0"/>
                              <a:ea typeface="Cambria Math"/>
                              <a:cs typeface="Cambria Math"/>
                            </a:rPr>
                          </m:ctrlPr>
                        </m:sSupPr>
                        <m:e>
                          <m:r>
                            <a:rPr lang="en-GB" sz="2300">
                              <a:solidFill>
                                <a:srgbClr val="087F83"/>
                              </a:solidFill>
                              <a:latin typeface="Cambria Math" panose="02040503050406030204" pitchFamily="18" charset="0"/>
                              <a:ea typeface="Cambria Math"/>
                              <a:cs typeface="Cambria Math"/>
                            </a:rPr>
                            <m:t>ℝ</m:t>
                          </m:r>
                        </m:e>
                        <m:sup>
                          <m:r>
                            <a:rPr lang="en-GB" sz="2300">
                              <a:solidFill>
                                <a:srgbClr val="087F83"/>
                              </a:solidFill>
                              <a:latin typeface="Cambria Math" panose="02040503050406030204" pitchFamily="18" charset="0"/>
                              <a:ea typeface="Cambria Math"/>
                              <a:cs typeface="Cambria Math"/>
                            </a:rPr>
                            <m:t>1×</m:t>
                          </m:r>
                          <m:r>
                            <a:rPr lang="en-GB" sz="2300">
                              <a:solidFill>
                                <a:srgbClr val="087F83"/>
                              </a:solidFill>
                              <a:latin typeface="Cambria Math" panose="02040503050406030204" pitchFamily="18" charset="0"/>
                              <a:ea typeface="Cambria Math"/>
                              <a:cs typeface="Cambria Math"/>
                            </a:rPr>
                            <m:t>𝑑</m:t>
                          </m:r>
                        </m:sup>
                      </m:sSup>
                      <m:r>
                        <a:rPr lang="en-GB" sz="2300">
                          <a:solidFill>
                            <a:srgbClr val="087F83"/>
                          </a:solidFill>
                          <a:latin typeface="Cambria Math" panose="02040503050406030204" pitchFamily="18" charset="0"/>
                          <a:ea typeface="Cambria Math"/>
                          <a:cs typeface="Cambria Math"/>
                        </a:rPr>
                        <m:t>, </m:t>
                      </m:r>
                      <m:r>
                        <a:rPr lang="en-GB" sz="2300">
                          <a:solidFill>
                            <a:srgbClr val="087F83"/>
                          </a:solidFill>
                          <a:latin typeface="Cambria Math" panose="02040503050406030204" pitchFamily="18" charset="0"/>
                          <a:ea typeface="Cambria Math"/>
                          <a:cs typeface="Cambria Math"/>
                        </a:rPr>
                        <m:t>𝐖</m:t>
                      </m:r>
                      <m:r>
                        <a:rPr lang="it-IT" sz="2300" b="0" i="0" smtClean="0">
                          <a:solidFill>
                            <a:srgbClr val="087F83"/>
                          </a:solidFill>
                          <a:latin typeface="Cambria Math" panose="02040503050406030204" pitchFamily="18" charset="0"/>
                          <a:ea typeface="Cambria Math"/>
                          <a:cs typeface="Cambria Math"/>
                        </a:rPr>
                        <m:t>=</m:t>
                      </m:r>
                      <m:d>
                        <m:dPr>
                          <m:ctrlPr>
                            <a:rPr lang="it-IT" sz="2300" i="1">
                              <a:solidFill>
                                <a:srgbClr val="087F83"/>
                              </a:solidFill>
                              <a:latin typeface="Cambria Math" panose="02040503050406030204" pitchFamily="18" charset="0"/>
                            </a:rPr>
                          </m:ctrlPr>
                        </m:dPr>
                        <m:e>
                          <m:m>
                            <m:mPr>
                              <m:mcs>
                                <m:mc>
                                  <m:mcPr>
                                    <m:count m:val="3"/>
                                    <m:mcJc m:val="center"/>
                                  </m:mcPr>
                                </m:mc>
                              </m:mcs>
                              <m:ctrlPr>
                                <a:rPr lang="it-IT" sz="2300" i="1">
                                  <a:solidFill>
                                    <a:srgbClr val="087F83"/>
                                  </a:solidFill>
                                  <a:latin typeface="Cambria Math" panose="02040503050406030204" pitchFamily="18" charset="0"/>
                                </a:rPr>
                              </m:ctrlPr>
                            </m:mPr>
                            <m:mr>
                              <m:e>
                                <m:sSub>
                                  <m:sSubPr>
                                    <m:ctrlPr>
                                      <a:rPr lang="it-IT" sz="2300" i="1">
                                        <a:solidFill>
                                          <a:srgbClr val="087F83"/>
                                        </a:solidFill>
                                        <a:latin typeface="Cambria Math" panose="02040503050406030204" pitchFamily="18" charset="0"/>
                                      </a:rPr>
                                    </m:ctrlPr>
                                  </m:sSubPr>
                                  <m:e>
                                    <m:r>
                                      <a:rPr lang="it-IT" sz="2300" i="1">
                                        <a:solidFill>
                                          <a:srgbClr val="087F83"/>
                                        </a:solidFill>
                                        <a:latin typeface="Cambria Math" panose="02040503050406030204" pitchFamily="18" charset="0"/>
                                      </a:rPr>
                                      <m:t>𝑊</m:t>
                                    </m:r>
                                  </m:e>
                                  <m:sub>
                                    <m:r>
                                      <a:rPr lang="it-IT" sz="2300" i="1">
                                        <a:solidFill>
                                          <a:srgbClr val="087F83"/>
                                        </a:solidFill>
                                        <a:latin typeface="Cambria Math" panose="02040503050406030204" pitchFamily="18" charset="0"/>
                                      </a:rPr>
                                      <m:t>11</m:t>
                                    </m:r>
                                  </m:sub>
                                </m:sSub>
                              </m:e>
                              <m:e>
                                <m:r>
                                  <a:rPr lang="it-IT" sz="2300" i="1">
                                    <a:solidFill>
                                      <a:srgbClr val="087F83"/>
                                    </a:solidFill>
                                    <a:latin typeface="Cambria Math" panose="02040503050406030204" pitchFamily="18" charset="0"/>
                                  </a:rPr>
                                  <m:t>⋯</m:t>
                                </m:r>
                              </m:e>
                              <m:e>
                                <m:sSub>
                                  <m:sSubPr>
                                    <m:ctrlPr>
                                      <a:rPr lang="it-IT" sz="2300" i="1">
                                        <a:solidFill>
                                          <a:srgbClr val="087F83"/>
                                        </a:solidFill>
                                        <a:latin typeface="Cambria Math" panose="02040503050406030204" pitchFamily="18" charset="0"/>
                                      </a:rPr>
                                    </m:ctrlPr>
                                  </m:sSubPr>
                                  <m:e>
                                    <m:r>
                                      <a:rPr lang="it-IT" sz="2300" i="1">
                                        <a:solidFill>
                                          <a:srgbClr val="087F83"/>
                                        </a:solidFill>
                                        <a:latin typeface="Cambria Math" panose="02040503050406030204" pitchFamily="18" charset="0"/>
                                      </a:rPr>
                                      <m:t>𝑊</m:t>
                                    </m:r>
                                  </m:e>
                                  <m:sub>
                                    <m:r>
                                      <a:rPr lang="it-IT" sz="2300" b="0" i="1" smtClean="0">
                                        <a:solidFill>
                                          <a:srgbClr val="087F83"/>
                                        </a:solidFill>
                                        <a:latin typeface="Cambria Math" panose="02040503050406030204" pitchFamily="18" charset="0"/>
                                      </a:rPr>
                                      <m:t>1</m:t>
                                    </m:r>
                                    <m:r>
                                      <a:rPr lang="it-IT" sz="2300" i="1">
                                        <a:solidFill>
                                          <a:srgbClr val="087F83"/>
                                        </a:solidFill>
                                        <a:latin typeface="Cambria Math" panose="02040503050406030204" pitchFamily="18" charset="0"/>
                                      </a:rPr>
                                      <m:t>𝑚</m:t>
                                    </m:r>
                                  </m:sub>
                                </m:sSub>
                              </m:e>
                            </m:mr>
                            <m:mr>
                              <m:e>
                                <m:r>
                                  <a:rPr lang="it-IT" sz="2300" i="1">
                                    <a:solidFill>
                                      <a:srgbClr val="087F83"/>
                                    </a:solidFill>
                                    <a:latin typeface="Cambria Math" panose="02040503050406030204" pitchFamily="18" charset="0"/>
                                  </a:rPr>
                                  <m:t>⋮</m:t>
                                </m:r>
                              </m:e>
                              <m:e>
                                <m:r>
                                  <a:rPr lang="it-IT" sz="2300" i="1">
                                    <a:solidFill>
                                      <a:srgbClr val="087F83"/>
                                    </a:solidFill>
                                    <a:latin typeface="Cambria Math" panose="02040503050406030204" pitchFamily="18" charset="0"/>
                                  </a:rPr>
                                  <m:t>⋱</m:t>
                                </m:r>
                              </m:e>
                              <m:e>
                                <m:r>
                                  <a:rPr lang="it-IT" sz="2300" i="1">
                                    <a:solidFill>
                                      <a:srgbClr val="087F83"/>
                                    </a:solidFill>
                                    <a:latin typeface="Cambria Math" panose="02040503050406030204" pitchFamily="18" charset="0"/>
                                  </a:rPr>
                                  <m:t>⋮</m:t>
                                </m:r>
                              </m:e>
                            </m:mr>
                            <m:mr>
                              <m:e>
                                <m:sSub>
                                  <m:sSubPr>
                                    <m:ctrlPr>
                                      <a:rPr lang="it-IT" sz="2300" i="1">
                                        <a:solidFill>
                                          <a:srgbClr val="087F83"/>
                                        </a:solidFill>
                                        <a:latin typeface="Cambria Math" panose="02040503050406030204" pitchFamily="18" charset="0"/>
                                      </a:rPr>
                                    </m:ctrlPr>
                                  </m:sSubPr>
                                  <m:e>
                                    <m:r>
                                      <a:rPr lang="it-IT" sz="2300" i="1">
                                        <a:solidFill>
                                          <a:srgbClr val="087F83"/>
                                        </a:solidFill>
                                        <a:latin typeface="Cambria Math" panose="02040503050406030204" pitchFamily="18" charset="0"/>
                                      </a:rPr>
                                      <m:t>𝑊</m:t>
                                    </m:r>
                                  </m:e>
                                  <m:sub>
                                    <m:r>
                                      <a:rPr lang="it-IT" sz="2300" b="0" i="1" smtClean="0">
                                        <a:solidFill>
                                          <a:srgbClr val="087F83"/>
                                        </a:solidFill>
                                        <a:latin typeface="Cambria Math" panose="02040503050406030204" pitchFamily="18" charset="0"/>
                                      </a:rPr>
                                      <m:t>𝑑</m:t>
                                    </m:r>
                                    <m:r>
                                      <a:rPr lang="it-IT" sz="2300" i="1">
                                        <a:solidFill>
                                          <a:srgbClr val="087F83"/>
                                        </a:solidFill>
                                        <a:latin typeface="Cambria Math" panose="02040503050406030204" pitchFamily="18" charset="0"/>
                                      </a:rPr>
                                      <m:t>1</m:t>
                                    </m:r>
                                  </m:sub>
                                </m:sSub>
                              </m:e>
                              <m:e>
                                <m:r>
                                  <a:rPr lang="it-IT" sz="2300" i="1">
                                    <a:solidFill>
                                      <a:srgbClr val="087F83"/>
                                    </a:solidFill>
                                    <a:latin typeface="Cambria Math" panose="02040503050406030204" pitchFamily="18" charset="0"/>
                                  </a:rPr>
                                  <m:t>⋯</m:t>
                                </m:r>
                              </m:e>
                              <m:e>
                                <m:sSub>
                                  <m:sSubPr>
                                    <m:ctrlPr>
                                      <a:rPr lang="it-IT" sz="2300" i="1">
                                        <a:solidFill>
                                          <a:srgbClr val="087F83"/>
                                        </a:solidFill>
                                        <a:latin typeface="Cambria Math" panose="02040503050406030204" pitchFamily="18" charset="0"/>
                                      </a:rPr>
                                    </m:ctrlPr>
                                  </m:sSubPr>
                                  <m:e>
                                    <m:r>
                                      <a:rPr lang="it-IT" sz="2300" i="1">
                                        <a:solidFill>
                                          <a:srgbClr val="087F83"/>
                                        </a:solidFill>
                                        <a:latin typeface="Cambria Math" panose="02040503050406030204" pitchFamily="18" charset="0"/>
                                      </a:rPr>
                                      <m:t>𝑊</m:t>
                                    </m:r>
                                  </m:e>
                                  <m:sub>
                                    <m:r>
                                      <a:rPr lang="it-IT" sz="2300" b="0" i="1" smtClean="0">
                                        <a:solidFill>
                                          <a:srgbClr val="087F83"/>
                                        </a:solidFill>
                                        <a:latin typeface="Cambria Math" panose="02040503050406030204" pitchFamily="18" charset="0"/>
                                      </a:rPr>
                                      <m:t>𝑑</m:t>
                                    </m:r>
                                    <m:r>
                                      <a:rPr lang="it-IT" sz="2300" i="1">
                                        <a:solidFill>
                                          <a:srgbClr val="087F83"/>
                                        </a:solidFill>
                                        <a:latin typeface="Cambria Math" panose="02040503050406030204" pitchFamily="18" charset="0"/>
                                      </a:rPr>
                                      <m:t>𝑚</m:t>
                                    </m:r>
                                  </m:sub>
                                </m:sSub>
                              </m:e>
                            </m:mr>
                          </m:m>
                        </m:e>
                      </m:d>
                      <m:r>
                        <a:rPr lang="it-IT" sz="2300" b="0" i="1" smtClean="0">
                          <a:solidFill>
                            <a:srgbClr val="087F83"/>
                          </a:solidFill>
                          <a:latin typeface="Cambria Math" panose="02040503050406030204" pitchFamily="18" charset="0"/>
                        </a:rPr>
                        <m:t> </m:t>
                      </m:r>
                      <m:r>
                        <a:rPr lang="en-GB" sz="2300">
                          <a:solidFill>
                            <a:srgbClr val="087F83"/>
                          </a:solidFill>
                          <a:latin typeface="Cambria Math" panose="02040503050406030204" pitchFamily="18" charset="0"/>
                          <a:ea typeface="Cambria Math"/>
                          <a:cs typeface="Cambria Math"/>
                        </a:rPr>
                        <m:t>∈</m:t>
                      </m:r>
                      <m:sSup>
                        <m:sSupPr>
                          <m:ctrlPr>
                            <a:rPr lang="en-GB" sz="2300">
                              <a:solidFill>
                                <a:srgbClr val="087F83"/>
                              </a:solidFill>
                              <a:latin typeface="Cambria Math" panose="02040503050406030204" pitchFamily="18" charset="0"/>
                              <a:ea typeface="Cambria Math"/>
                              <a:cs typeface="Cambria Math"/>
                            </a:rPr>
                          </m:ctrlPr>
                        </m:sSupPr>
                        <m:e>
                          <m:r>
                            <a:rPr lang="en-GB" sz="2300">
                              <a:solidFill>
                                <a:srgbClr val="087F83"/>
                              </a:solidFill>
                              <a:latin typeface="Cambria Math" panose="02040503050406030204" pitchFamily="18" charset="0"/>
                              <a:ea typeface="Cambria Math"/>
                              <a:cs typeface="Cambria Math"/>
                            </a:rPr>
                            <m:t>ℝ</m:t>
                          </m:r>
                        </m:e>
                        <m:sup>
                          <m:r>
                            <a:rPr lang="en-GB" sz="2300">
                              <a:solidFill>
                                <a:srgbClr val="087F83"/>
                              </a:solidFill>
                              <a:latin typeface="Cambria Math" panose="02040503050406030204" pitchFamily="18" charset="0"/>
                              <a:ea typeface="Cambria Math"/>
                              <a:cs typeface="Cambria Math"/>
                            </a:rPr>
                            <m:t>𝑑</m:t>
                          </m:r>
                          <m:r>
                            <a:rPr lang="en-GB" sz="2300">
                              <a:solidFill>
                                <a:srgbClr val="087F83"/>
                              </a:solidFill>
                              <a:latin typeface="Cambria Math" panose="02040503050406030204" pitchFamily="18" charset="0"/>
                              <a:ea typeface="Cambria Math"/>
                              <a:cs typeface="Cambria Math"/>
                            </a:rPr>
                            <m:t>×</m:t>
                          </m:r>
                          <m:r>
                            <a:rPr lang="en-GB" sz="2300">
                              <a:solidFill>
                                <a:srgbClr val="087F83"/>
                              </a:solidFill>
                              <a:latin typeface="Cambria Math" panose="02040503050406030204" pitchFamily="18" charset="0"/>
                              <a:ea typeface="Cambria Math"/>
                              <a:cs typeface="Cambria Math"/>
                            </a:rPr>
                            <m:t>𝑚</m:t>
                          </m:r>
                        </m:sup>
                      </m:sSup>
                      <m:r>
                        <a:rPr lang="en-GB" sz="2300">
                          <a:solidFill>
                            <a:srgbClr val="087F83"/>
                          </a:solidFill>
                          <a:latin typeface="Cambria Math" panose="02040503050406030204" pitchFamily="18" charset="0"/>
                          <a:ea typeface="Cambria Math"/>
                          <a:cs typeface="Cambria Math"/>
                        </a:rPr>
                        <m:t>, </m:t>
                      </m:r>
                      <m:r>
                        <a:rPr lang="en-GB" sz="2300">
                          <a:solidFill>
                            <a:srgbClr val="087F83"/>
                          </a:solidFill>
                          <a:latin typeface="Cambria Math" panose="02040503050406030204" pitchFamily="18" charset="0"/>
                          <a:ea typeface="Cambria Math"/>
                          <a:cs typeface="Cambria Math"/>
                        </a:rPr>
                        <m:t>𝐛</m:t>
                      </m:r>
                      <m:r>
                        <a:rPr lang="it-IT" sz="2300" b="0" i="0" smtClean="0">
                          <a:solidFill>
                            <a:srgbClr val="087F83"/>
                          </a:solidFill>
                          <a:latin typeface="Cambria Math" panose="02040503050406030204" pitchFamily="18" charset="0"/>
                          <a:ea typeface="Cambria Math"/>
                          <a:cs typeface="Cambria Math"/>
                        </a:rPr>
                        <m:t>=</m:t>
                      </m:r>
                      <m:d>
                        <m:dPr>
                          <m:ctrlPr>
                            <a:rPr lang="it-IT" sz="2300" b="0" i="1" smtClean="0">
                              <a:solidFill>
                                <a:srgbClr val="087F83"/>
                              </a:solidFill>
                              <a:latin typeface="Cambria Math" panose="02040503050406030204" pitchFamily="18" charset="0"/>
                              <a:ea typeface="Cambria Math"/>
                            </a:rPr>
                          </m:ctrlPr>
                        </m:dPr>
                        <m:e>
                          <m:sSub>
                            <m:sSubPr>
                              <m:ctrlPr>
                                <a:rPr lang="it-IT" sz="2300" b="0" i="1" smtClean="0">
                                  <a:solidFill>
                                    <a:srgbClr val="087F83"/>
                                  </a:solidFill>
                                  <a:latin typeface="Cambria Math" panose="02040503050406030204" pitchFamily="18" charset="0"/>
                                  <a:ea typeface="Cambria Math"/>
                                </a:rPr>
                              </m:ctrlPr>
                            </m:sSubPr>
                            <m:e>
                              <m:r>
                                <a:rPr lang="it-IT" sz="2300" b="0" i="1" smtClean="0">
                                  <a:solidFill>
                                    <a:srgbClr val="087F83"/>
                                  </a:solidFill>
                                  <a:latin typeface="Cambria Math" panose="02040503050406030204" pitchFamily="18" charset="0"/>
                                  <a:ea typeface="Cambria Math"/>
                                </a:rPr>
                                <m:t>𝑏</m:t>
                              </m:r>
                            </m:e>
                            <m:sub>
                              <m:r>
                                <a:rPr lang="it-IT" sz="2300" b="0" i="1" smtClean="0">
                                  <a:solidFill>
                                    <a:srgbClr val="087F83"/>
                                  </a:solidFill>
                                  <a:latin typeface="Cambria Math" panose="02040503050406030204" pitchFamily="18" charset="0"/>
                                  <a:ea typeface="Cambria Math"/>
                                </a:rPr>
                                <m:t>1</m:t>
                              </m:r>
                            </m:sub>
                          </m:sSub>
                          <m:r>
                            <a:rPr lang="it-IT" sz="2300" b="0" i="1" smtClean="0">
                              <a:solidFill>
                                <a:srgbClr val="087F83"/>
                              </a:solidFill>
                              <a:latin typeface="Cambria Math" panose="02040503050406030204" pitchFamily="18" charset="0"/>
                              <a:ea typeface="Cambria Math"/>
                            </a:rPr>
                            <m:t>,…,</m:t>
                          </m:r>
                          <m:sSub>
                            <m:sSubPr>
                              <m:ctrlPr>
                                <a:rPr lang="it-IT" sz="2300" b="0" i="1" smtClean="0">
                                  <a:solidFill>
                                    <a:srgbClr val="087F83"/>
                                  </a:solidFill>
                                  <a:latin typeface="Cambria Math" panose="02040503050406030204" pitchFamily="18" charset="0"/>
                                  <a:ea typeface="Cambria Math"/>
                                </a:rPr>
                              </m:ctrlPr>
                            </m:sSubPr>
                            <m:e>
                              <m:r>
                                <a:rPr lang="it-IT" sz="2300" b="0" i="1" smtClean="0">
                                  <a:solidFill>
                                    <a:srgbClr val="087F83"/>
                                  </a:solidFill>
                                  <a:latin typeface="Cambria Math" panose="02040503050406030204" pitchFamily="18" charset="0"/>
                                  <a:ea typeface="Cambria Math"/>
                                </a:rPr>
                                <m:t>𝑏</m:t>
                              </m:r>
                            </m:e>
                            <m:sub>
                              <m:r>
                                <a:rPr lang="it-IT" sz="2300" b="0" i="1" smtClean="0">
                                  <a:solidFill>
                                    <a:srgbClr val="087F83"/>
                                  </a:solidFill>
                                  <a:latin typeface="Cambria Math" panose="02040503050406030204" pitchFamily="18" charset="0"/>
                                  <a:ea typeface="Cambria Math"/>
                                </a:rPr>
                                <m:t>𝑚</m:t>
                              </m:r>
                            </m:sub>
                          </m:sSub>
                        </m:e>
                      </m:d>
                      <m:r>
                        <a:rPr lang="en-GB" sz="2300">
                          <a:solidFill>
                            <a:srgbClr val="087F83"/>
                          </a:solidFill>
                          <a:latin typeface="Cambria Math" panose="02040503050406030204" pitchFamily="18" charset="0"/>
                          <a:ea typeface="Cambria Math"/>
                          <a:cs typeface="Cambria Math"/>
                        </a:rPr>
                        <m:t>∈</m:t>
                      </m:r>
                      <m:sSup>
                        <m:sSupPr>
                          <m:ctrlPr>
                            <a:rPr lang="en-GB" sz="2300">
                              <a:solidFill>
                                <a:srgbClr val="087F83"/>
                              </a:solidFill>
                              <a:latin typeface="Cambria Math" panose="02040503050406030204" pitchFamily="18" charset="0"/>
                              <a:ea typeface="Cambria Math"/>
                              <a:cs typeface="Cambria Math"/>
                            </a:rPr>
                          </m:ctrlPr>
                        </m:sSupPr>
                        <m:e>
                          <m:r>
                            <a:rPr lang="en-GB" sz="2300">
                              <a:solidFill>
                                <a:srgbClr val="087F83"/>
                              </a:solidFill>
                              <a:latin typeface="Cambria Math" panose="02040503050406030204" pitchFamily="18" charset="0"/>
                              <a:ea typeface="Cambria Math"/>
                              <a:cs typeface="Cambria Math"/>
                            </a:rPr>
                            <m:t>ℝ</m:t>
                          </m:r>
                        </m:e>
                        <m:sup>
                          <m:r>
                            <a:rPr lang="en-GB" sz="2300">
                              <a:solidFill>
                                <a:srgbClr val="087F83"/>
                              </a:solidFill>
                              <a:latin typeface="Cambria Math" panose="02040503050406030204" pitchFamily="18" charset="0"/>
                              <a:ea typeface="Cambria Math"/>
                              <a:cs typeface="Cambria Math"/>
                            </a:rPr>
                            <m:t>1×</m:t>
                          </m:r>
                          <m:r>
                            <a:rPr lang="en-GB" sz="2300">
                              <a:solidFill>
                                <a:srgbClr val="087F83"/>
                              </a:solidFill>
                              <a:latin typeface="Cambria Math" panose="02040503050406030204" pitchFamily="18" charset="0"/>
                              <a:ea typeface="Cambria Math"/>
                              <a:cs typeface="Cambria Math"/>
                            </a:rPr>
                            <m:t>𝑚</m:t>
                          </m:r>
                        </m:sup>
                      </m:sSup>
                    </m:oMath>
                  </m:oMathPara>
                </a14:m>
                <a:endParaRPr lang="en-GB" sz="2300" dirty="0">
                  <a:solidFill>
                    <a:srgbClr val="087F83"/>
                  </a:solidFill>
                </a:endParaRPr>
              </a:p>
            </p:txBody>
          </p:sp>
        </mc:Choice>
        <mc:Fallback xmlns="">
          <p:sp>
            <p:nvSpPr>
              <p:cNvPr id="5" name="dimensions" descr="\mathbf{x}\in\mathbb{R}^{1\times d},\quad \mathbf{W}\in\mathbb{R}^{d\times m},\quad\mathbf{b}\in\mathbb{R}^{1\times m}">
                <a:extLst>
                  <a:ext uri="{FF2B5EF4-FFF2-40B4-BE49-F238E27FC236}">
                    <a16:creationId xmlns:a16="http://schemas.microsoft.com/office/drawing/2014/main" id="{30E246B5-498D-49A0-B35A-4071E83A7E2A}"/>
                  </a:ext>
                </a:extLst>
              </p:cNvPr>
              <p:cNvSpPr>
                <a:spLocks noGrp="1" noRot="1" noChangeAspect="1" noMove="1" noResize="1" noEditPoints="1" noAdjustHandles="1" noChangeArrowheads="1" noChangeShapeType="1" noTextEdit="1"/>
              </p:cNvSpPr>
              <p:nvPr/>
            </p:nvSpPr>
            <p:spPr>
              <a:xfrm>
                <a:off x="571500" y="1819275"/>
                <a:ext cx="11144250" cy="904875"/>
              </a:xfrm>
              <a:prstGeom prst="rect">
                <a:avLst/>
              </a:prstGeom>
              <a:blipFill>
                <a:blip r:embed="rId3"/>
                <a:stretch>
                  <a:fillRect b="-469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feature" descr="\phi_j(\mathbf{x})=\sum_{k=1}^{d}x_kW_{kj}+b_j,\qquad j=1,\ldots,m">
                <a:extLst>
                  <a:ext uri="{FF2B5EF4-FFF2-40B4-BE49-F238E27FC236}">
                    <a16:creationId xmlns:a16="http://schemas.microsoft.com/office/drawing/2014/main" id="{E418CB32-1995-45A5-AA6A-027F85503AE3}"/>
                  </a:ext>
                </a:extLst>
              </p:cNvPr>
              <p:cNvSpPr>
                <a:spLocks noGrp="1"/>
              </p:cNvSpPr>
              <p:nvPr/>
            </p:nvSpPr>
            <p:spPr>
              <a:xfrm>
                <a:off x="523875" y="3057525"/>
                <a:ext cx="11144250" cy="1047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𝜙</m:t>
                          </m:r>
                        </m:e>
                        <m:sub>
                          <m:r>
                            <a:rPr lang="en-GB" sz="3100">
                              <a:solidFill>
                                <a:srgbClr val="087F83"/>
                              </a:solidFill>
                              <a:latin typeface="Cambria Math"/>
                              <a:ea typeface="Cambria Math"/>
                              <a:cs typeface="Cambria Math"/>
                            </a:rPr>
                            <m:t>𝑗</m:t>
                          </m:r>
                        </m:sub>
                      </m:sSub>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𝐱</m:t>
                          </m:r>
                        </m:e>
                      </m:d>
                      <m:r>
                        <a:rPr lang="it-IT" sz="3200" b="0" i="0" smtClean="0">
                          <a:solidFill>
                            <a:srgbClr val="087F83"/>
                          </a:solidFill>
                          <a:latin typeface="Cambria Math" panose="02040503050406030204" pitchFamily="18" charset="0"/>
                          <a:ea typeface="Cambria Math"/>
                          <a:cs typeface="Cambria Math"/>
                        </a:rPr>
                        <m:t>=</m:t>
                      </m:r>
                      <m:nary>
                        <m:naryPr>
                          <m:chr m:val="∑"/>
                          <m:limLoc m:val="undOvr"/>
                          <m:ctrlPr>
                            <a:rPr lang="en-GB" sz="3100">
                              <a:solidFill>
                                <a:srgbClr val="087F83"/>
                              </a:solidFill>
                              <a:latin typeface="Cambria Math"/>
                              <a:ea typeface="Cambria Math"/>
                              <a:cs typeface="Cambria Math"/>
                            </a:rPr>
                          </m:ctrlPr>
                        </m:naryPr>
                        <m:sub>
                          <m:r>
                            <a:rPr lang="en-GB" sz="3100">
                              <a:solidFill>
                                <a:srgbClr val="087F83"/>
                              </a:solidFill>
                              <a:latin typeface="Cambria Math"/>
                              <a:ea typeface="Cambria Math"/>
                              <a:cs typeface="Cambria Math"/>
                            </a:rPr>
                            <m:t>𝑘</m:t>
                          </m:r>
                          <m:r>
                            <a:rPr lang="en-GB" sz="3100">
                              <a:solidFill>
                                <a:srgbClr val="087F83"/>
                              </a:solidFill>
                              <a:latin typeface="Cambria Math"/>
                              <a:ea typeface="Cambria Math"/>
                              <a:cs typeface="Cambria Math"/>
                            </a:rPr>
                            <m:t>=1</m:t>
                          </m:r>
                        </m:sub>
                        <m:sup>
                          <m:r>
                            <a:rPr lang="en-GB" sz="3100">
                              <a:solidFill>
                                <a:srgbClr val="087F83"/>
                              </a:solidFill>
                              <a:latin typeface="Cambria Math"/>
                              <a:ea typeface="Cambria Math"/>
                              <a:cs typeface="Cambria Math"/>
                            </a:rPr>
                            <m:t>𝑑</m:t>
                          </m:r>
                        </m:sup>
                        <m:e>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𝑥</m:t>
                              </m:r>
                            </m:e>
                            <m:sub>
                              <m:r>
                                <a:rPr lang="en-GB" sz="3100">
                                  <a:solidFill>
                                    <a:srgbClr val="087F83"/>
                                  </a:solidFill>
                                  <a:latin typeface="Cambria Math"/>
                                  <a:ea typeface="Cambria Math"/>
                                  <a:cs typeface="Cambria Math"/>
                                </a:rPr>
                                <m:t>𝑘</m:t>
                              </m:r>
                            </m:sub>
                          </m:sSub>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𝑊</m:t>
                              </m:r>
                            </m:e>
                            <m:sub>
                              <m:r>
                                <a:rPr lang="en-GB" sz="3100">
                                  <a:solidFill>
                                    <a:srgbClr val="087F83"/>
                                  </a:solidFill>
                                  <a:latin typeface="Cambria Math"/>
                                  <a:ea typeface="Cambria Math"/>
                                  <a:cs typeface="Cambria Math"/>
                                </a:rPr>
                                <m:t>𝑘𝑗</m:t>
                              </m:r>
                            </m:sub>
                          </m:sSub>
                        </m:e>
                      </m:nary>
                      <m:r>
                        <a:rPr lang="en-GB" sz="3100">
                          <a:solidFill>
                            <a:srgbClr val="087F83"/>
                          </a:solidFill>
                          <a:latin typeface="Cambria Math"/>
                          <a:ea typeface="Cambria Math"/>
                          <a:cs typeface="Cambria Math"/>
                        </a:rPr>
                        <m:t>+</m:t>
                      </m:r>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𝑏</m:t>
                          </m:r>
                        </m:e>
                        <m:sub>
                          <m:r>
                            <a:rPr lang="en-GB" sz="3100">
                              <a:solidFill>
                                <a:srgbClr val="087F83"/>
                              </a:solidFill>
                              <a:latin typeface="Cambria Math"/>
                              <a:ea typeface="Cambria Math"/>
                              <a:cs typeface="Cambria Math"/>
                            </a:rPr>
                            <m:t>𝑗</m:t>
                          </m:r>
                        </m:sub>
                      </m:sSub>
                      <m:r>
                        <a:rPr lang="en-GB" sz="3100">
                          <a:solidFill>
                            <a:srgbClr val="087F83"/>
                          </a:solidFill>
                          <a:latin typeface="Cambria Math"/>
                          <a:ea typeface="Cambria Math"/>
                          <a:cs typeface="Cambria Math"/>
                        </a:rPr>
                        <m:t>,  </m:t>
                      </m:r>
                      <m:r>
                        <a:rPr lang="en-GB" sz="3100">
                          <a:solidFill>
                            <a:srgbClr val="087F83"/>
                          </a:solidFill>
                          <a:latin typeface="Cambria Math"/>
                          <a:ea typeface="Cambria Math"/>
                          <a:cs typeface="Cambria Math"/>
                        </a:rPr>
                        <m:t>𝑗</m:t>
                      </m:r>
                      <m:r>
                        <a:rPr lang="en-GB" sz="3100">
                          <a:solidFill>
                            <a:srgbClr val="087F83"/>
                          </a:solidFill>
                          <a:latin typeface="Cambria Math"/>
                          <a:ea typeface="Cambria Math"/>
                          <a:cs typeface="Cambria Math"/>
                        </a:rPr>
                        <m:t>=1,…,</m:t>
                      </m:r>
                      <m:r>
                        <a:rPr lang="en-GB" sz="3100">
                          <a:solidFill>
                            <a:srgbClr val="087F83"/>
                          </a:solidFill>
                          <a:latin typeface="Cambria Math"/>
                          <a:ea typeface="Cambria Math"/>
                          <a:cs typeface="Cambria Math"/>
                        </a:rPr>
                        <m:t>𝑚</m:t>
                      </m:r>
                    </m:oMath>
                  </m:oMathPara>
                </a14:m>
                <a:endParaRPr lang="en-GB" sz="3100" dirty="0"/>
              </a:p>
            </p:txBody>
          </p:sp>
        </mc:Choice>
        <mc:Fallback xmlns="">
          <p:sp>
            <p:nvSpPr>
              <p:cNvPr id="6" name="feature" descr="\phi_j(\mathbf{x})=\sum_{k=1}^{d}x_kW_{kj}+b_j,\qquad j=1,\ldots,m">
                <a:extLst>
                  <a:ext uri="{FF2B5EF4-FFF2-40B4-BE49-F238E27FC236}">
                    <a16:creationId xmlns:a16="http://schemas.microsoft.com/office/drawing/2014/main" id="{E418CB32-1995-45A5-AA6A-027F85503AE3}"/>
                  </a:ext>
                </a:extLst>
              </p:cNvPr>
              <p:cNvSpPr>
                <a:spLocks noGrp="1" noRot="1" noChangeAspect="1" noMove="1" noResize="1" noEditPoints="1" noAdjustHandles="1" noChangeArrowheads="1" noChangeShapeType="1" noTextEdit="1"/>
              </p:cNvSpPr>
              <p:nvPr/>
            </p:nvSpPr>
            <p:spPr>
              <a:xfrm>
                <a:off x="523875" y="3057525"/>
                <a:ext cx="11144250" cy="1047750"/>
              </a:xfrm>
              <a:prstGeom prst="rect">
                <a:avLst/>
              </a:prstGeom>
              <a:blipFill>
                <a:blip r:embed="rId4"/>
                <a:stretch>
                  <a:fillRect t="-9357" b="-1462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features_row" descr="\boldsymbol{\phi}(\mathbf{x})=(\phi_1(\mathbf{x}),\ldots,\phi_m(\mathbf{x}))=\mathbf{x}\mathbf{W}+\mathbf{b}">
                <a:extLst>
                  <a:ext uri="{FF2B5EF4-FFF2-40B4-BE49-F238E27FC236}">
                    <a16:creationId xmlns:a16="http://schemas.microsoft.com/office/drawing/2014/main" id="{BD2F9AC6-0537-42D4-9E51-F0D02A67C447}"/>
                  </a:ext>
                </a:extLst>
              </p:cNvPr>
              <p:cNvSpPr>
                <a:spLocks noGrp="1"/>
              </p:cNvSpPr>
              <p:nvPr/>
            </p:nvSpPr>
            <p:spPr>
              <a:xfrm>
                <a:off x="323850" y="4514850"/>
                <a:ext cx="1114425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900" smtClean="0">
                          <a:solidFill>
                            <a:srgbClr val="087F83"/>
                          </a:solidFill>
                          <a:latin typeface="Cambria Math"/>
                          <a:ea typeface="Cambria Math"/>
                          <a:cs typeface="Cambria Math"/>
                        </a:rPr>
                        <m:t>𝛟</m:t>
                      </m:r>
                      <m:d>
                        <m:dPr>
                          <m:ctrlPr>
                            <a:rPr lang="en-GB" sz="2900" smtClean="0">
                              <a:solidFill>
                                <a:srgbClr val="087F83"/>
                              </a:solidFill>
                              <a:latin typeface="Cambria Math"/>
                              <a:ea typeface="Cambria Math"/>
                              <a:cs typeface="Cambria Math"/>
                            </a:rPr>
                          </m:ctrlPr>
                        </m:dPr>
                        <m:e>
                          <m:r>
                            <a:rPr lang="en-GB" sz="2900" smtClean="0">
                              <a:solidFill>
                                <a:srgbClr val="087F83"/>
                              </a:solidFill>
                              <a:latin typeface="Cambria Math"/>
                              <a:ea typeface="Cambria Math"/>
                              <a:cs typeface="Cambria Math"/>
                            </a:rPr>
                            <m:t>𝐱</m:t>
                          </m:r>
                        </m:e>
                      </m:d>
                      <m:r>
                        <a:rPr lang="en-GB" sz="2900" smtClean="0">
                          <a:solidFill>
                            <a:srgbClr val="087F83"/>
                          </a:solidFill>
                          <a:latin typeface="Cambria Math"/>
                          <a:ea typeface="Cambria Math"/>
                          <a:cs typeface="Cambria Math"/>
                        </a:rPr>
                        <m:t>=</m:t>
                      </m:r>
                      <m:d>
                        <m:dPr>
                          <m:ctrlPr>
                            <a:rPr lang="en-GB" sz="2900" i="1">
                              <a:solidFill>
                                <a:srgbClr val="087F83"/>
                              </a:solidFill>
                              <a:latin typeface="Cambria Math" panose="02040503050406030204" pitchFamily="18" charset="0"/>
                              <a:ea typeface="Cambria Math"/>
                              <a:cs typeface="Cambria Math"/>
                            </a:rPr>
                          </m:ctrlPr>
                        </m:dPr>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𝜙</m:t>
                              </m:r>
                            </m:e>
                            <m:sub>
                              <m:r>
                                <a:rPr lang="en-GB" sz="2900">
                                  <a:solidFill>
                                    <a:srgbClr val="087F83"/>
                                  </a:solidFill>
                                  <a:latin typeface="Cambria Math"/>
                                  <a:ea typeface="Cambria Math"/>
                                  <a:cs typeface="Cambria Math"/>
                                </a:rPr>
                                <m:t>1</m:t>
                              </m:r>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𝐱</m:t>
                              </m:r>
                            </m:e>
                          </m:d>
                          <m:r>
                            <a:rPr lang="en-GB" sz="2900">
                              <a:solidFill>
                                <a:srgbClr val="087F83"/>
                              </a:solidFill>
                              <a:latin typeface="Cambria Math"/>
                              <a:ea typeface="Cambria Math"/>
                              <a:cs typeface="Cambria Math"/>
                            </a:rPr>
                            <m:t>,…,</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𝜙</m:t>
                              </m:r>
                            </m:e>
                            <m:sub>
                              <m:r>
                                <a:rPr lang="en-GB" sz="2900">
                                  <a:solidFill>
                                    <a:srgbClr val="087F83"/>
                                  </a:solidFill>
                                  <a:latin typeface="Cambria Math"/>
                                  <a:ea typeface="Cambria Math"/>
                                  <a:cs typeface="Cambria Math"/>
                                </a:rPr>
                                <m:t>𝑚</m:t>
                              </m:r>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𝐱</m:t>
                              </m:r>
                            </m:e>
                          </m:d>
                        </m:e>
                      </m:d>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𝐱𝐖</m:t>
                      </m:r>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𝐛</m:t>
                      </m:r>
                      <m:r>
                        <a:rPr lang="it-IT" sz="2900" b="0" i="1" smtClean="0">
                          <a:solidFill>
                            <a:srgbClr val="087F83"/>
                          </a:solidFill>
                          <a:latin typeface="Cambria Math" panose="02040503050406030204" pitchFamily="18" charset="0"/>
                          <a:ea typeface="Cambria Math"/>
                          <a:cs typeface="Cambria Math"/>
                        </a:rPr>
                        <m:t>∈</m:t>
                      </m:r>
                      <m:sSup>
                        <m:sSupPr>
                          <m:ctrlPr>
                            <a:rPr lang="it-IT" sz="2900" b="0" i="1" smtClean="0">
                              <a:solidFill>
                                <a:srgbClr val="087F83"/>
                              </a:solidFill>
                              <a:latin typeface="Cambria Math" panose="02040503050406030204" pitchFamily="18" charset="0"/>
                              <a:ea typeface="Cambria Math"/>
                              <a:cs typeface="Cambria Math"/>
                            </a:rPr>
                          </m:ctrlPr>
                        </m:sSupPr>
                        <m:e>
                          <m:r>
                            <a:rPr lang="it-IT" sz="2900" b="0" i="1" smtClean="0">
                              <a:solidFill>
                                <a:srgbClr val="087F83"/>
                              </a:solidFill>
                              <a:latin typeface="Cambria Math" panose="02040503050406030204" pitchFamily="18" charset="0"/>
                              <a:ea typeface="Cambria Math"/>
                              <a:cs typeface="Cambria Math"/>
                            </a:rPr>
                            <m:t>ℝ</m:t>
                          </m:r>
                        </m:e>
                        <m:sup>
                          <m:r>
                            <a:rPr lang="it-IT" sz="2900" b="0" i="1" smtClean="0">
                              <a:solidFill>
                                <a:srgbClr val="087F83"/>
                              </a:solidFill>
                              <a:latin typeface="Cambria Math" panose="02040503050406030204" pitchFamily="18" charset="0"/>
                              <a:ea typeface="Cambria Math"/>
                              <a:cs typeface="Cambria Math"/>
                            </a:rPr>
                            <m:t>1×</m:t>
                          </m:r>
                          <m:r>
                            <a:rPr lang="it-IT" sz="2900" b="0" i="1" smtClean="0">
                              <a:solidFill>
                                <a:srgbClr val="087F83"/>
                              </a:solidFill>
                              <a:latin typeface="Cambria Math" panose="02040503050406030204" pitchFamily="18" charset="0"/>
                              <a:ea typeface="Cambria Math"/>
                              <a:cs typeface="Cambria Math"/>
                            </a:rPr>
                            <m:t>𝑚</m:t>
                          </m:r>
                        </m:sup>
                      </m:sSup>
                    </m:oMath>
                  </m:oMathPara>
                </a14:m>
                <a:endParaRPr lang="en-GB" sz="2900" dirty="0"/>
              </a:p>
            </p:txBody>
          </p:sp>
        </mc:Choice>
        <mc:Fallback xmlns="">
          <p:sp>
            <p:nvSpPr>
              <p:cNvPr id="7" name="features_row" descr="\boldsymbol{\phi}(\mathbf{x})=(\phi_1(\mathbf{x}),\ldots,\phi_m(\mathbf{x}))=\mathbf{x}\mathbf{W}+\mathbf{b}">
                <a:extLst>
                  <a:ext uri="{FF2B5EF4-FFF2-40B4-BE49-F238E27FC236}">
                    <a16:creationId xmlns:a16="http://schemas.microsoft.com/office/drawing/2014/main" id="{BD2F9AC6-0537-42D4-9E51-F0D02A67C447}"/>
                  </a:ext>
                </a:extLst>
              </p:cNvPr>
              <p:cNvSpPr>
                <a:spLocks noGrp="1" noRot="1" noChangeAspect="1" noMove="1" noResize="1" noEditPoints="1" noAdjustHandles="1" noChangeArrowheads="1" noChangeShapeType="1" noTextEdit="1"/>
              </p:cNvSpPr>
              <p:nvPr/>
            </p:nvSpPr>
            <p:spPr>
              <a:xfrm>
                <a:off x="323850" y="4514850"/>
                <a:ext cx="11144250" cy="9525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takeaway">
                <a:extLst>
                  <a:ext uri="{FF2B5EF4-FFF2-40B4-BE49-F238E27FC236}">
                    <a16:creationId xmlns:a16="http://schemas.microsoft.com/office/drawing/2014/main" id="{3FADF8BD-9254-4D26-B621-55526067650B}"/>
                  </a:ext>
                </a:extLst>
              </p:cNvPr>
              <p:cNvSpPr>
                <a:spLocks noGrp="1"/>
              </p:cNvSpPr>
              <p:nvPr/>
            </p:nvSpPr>
            <p:spPr>
              <a:xfrm>
                <a:off x="523875" y="5757100"/>
                <a:ext cx="11049000" cy="5048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lang="en-GB" sz="2100" b="1" dirty="0">
                    <a:solidFill>
                      <a:srgbClr val="182D45"/>
                    </a:solidFill>
                    <a:latin typeface="DejaVu Sans"/>
                    <a:ea typeface="DejaVu Sans"/>
                    <a:cs typeface="DejaVu Sans"/>
                  </a:rPr>
                  <a:t>The weights </a:t>
                </a:r>
                <a14:m>
                  <m:oMath xmlns:m="http://schemas.openxmlformats.org/officeDocument/2006/math">
                    <m:r>
                      <a:rPr lang="en-GB" sz="2100" b="1" i="0" smtClean="0">
                        <a:solidFill>
                          <a:srgbClr val="FF0000"/>
                        </a:solidFill>
                        <a:latin typeface="Cambria Math" panose="02040503050406030204" pitchFamily="18" charset="0"/>
                        <a:ea typeface="DejaVu Sans"/>
                        <a:cs typeface="DejaVu Sans"/>
                      </a:rPr>
                      <m:t>𝐖</m:t>
                    </m:r>
                  </m:oMath>
                </a14:m>
                <a:r>
                  <a:rPr lang="en-GB" sz="2100" b="1" dirty="0">
                    <a:solidFill>
                      <a:srgbClr val="182D45"/>
                    </a:solidFill>
                    <a:latin typeface="DejaVu Sans"/>
                    <a:ea typeface="DejaVu Sans"/>
                    <a:cs typeface="DejaVu Sans"/>
                  </a:rPr>
                  <a:t> and biases </a:t>
                </a:r>
                <a14:m>
                  <m:oMath xmlns:m="http://schemas.openxmlformats.org/officeDocument/2006/math">
                    <m:r>
                      <a:rPr lang="it-IT" sz="2100" b="1" i="0" smtClean="0">
                        <a:solidFill>
                          <a:srgbClr val="FF0000"/>
                        </a:solidFill>
                        <a:latin typeface="Cambria Math" panose="02040503050406030204" pitchFamily="18" charset="0"/>
                        <a:ea typeface="DejaVu Sans"/>
                        <a:cs typeface="DejaVu Sans"/>
                      </a:rPr>
                      <m:t>𝐛</m:t>
                    </m:r>
                  </m:oMath>
                </a14:m>
                <a:r>
                  <a:rPr lang="en-GB" sz="2100" b="1" dirty="0">
                    <a:solidFill>
                      <a:srgbClr val="182D45"/>
                    </a:solidFill>
                    <a:latin typeface="DejaVu Sans"/>
                    <a:ea typeface="DejaVu Sans"/>
                    <a:cs typeface="DejaVu Sans"/>
                  </a:rPr>
                  <a:t> determine the feature functions.</a:t>
                </a:r>
                <a:endParaRPr sz="2100" b="1" dirty="0">
                  <a:solidFill>
                    <a:srgbClr val="182D45"/>
                  </a:solidFill>
                  <a:latin typeface="DejaVu Sans"/>
                  <a:ea typeface="DejaVu Sans"/>
                  <a:cs typeface="DejaVu Sans"/>
                </a:endParaRPr>
              </a:p>
            </p:txBody>
          </p:sp>
        </mc:Choice>
        <mc:Fallback xmlns="">
          <p:sp>
            <p:nvSpPr>
              <p:cNvPr id="8" name="takeaway">
                <a:extLst>
                  <a:ext uri="{FF2B5EF4-FFF2-40B4-BE49-F238E27FC236}">
                    <a16:creationId xmlns:a16="http://schemas.microsoft.com/office/drawing/2014/main" id="{3FADF8BD-9254-4D26-B621-55526067650B}"/>
                  </a:ext>
                </a:extLst>
              </p:cNvPr>
              <p:cNvSpPr>
                <a:spLocks noGrp="1" noRot="1" noChangeAspect="1" noMove="1" noResize="1" noEditPoints="1" noAdjustHandles="1" noChangeArrowheads="1" noChangeShapeType="1" noTextEdit="1"/>
              </p:cNvSpPr>
              <p:nvPr/>
            </p:nvSpPr>
            <p:spPr>
              <a:xfrm>
                <a:off x="523875" y="5757100"/>
                <a:ext cx="11049000" cy="504825"/>
              </a:xfrm>
              <a:prstGeom prst="rect">
                <a:avLst/>
              </a:prstGeom>
              <a:blipFill>
                <a:blip r:embed="rId6"/>
                <a:stretch>
                  <a:fillRect b="-14458"/>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561985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63827BAC-EDE9-4E31-8073-0B6884A629C2}"/>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An affine feature and an affine output</a:t>
            </a:r>
          </a:p>
        </p:txBody>
      </p:sp>
      <p:sp>
        <p:nvSpPr>
          <p:cNvPr id="2" name="lead">
            <a:extLst>
              <a:ext uri="{FF2B5EF4-FFF2-40B4-BE49-F238E27FC236}">
                <a16:creationId xmlns:a16="http://schemas.microsoft.com/office/drawing/2014/main" id="{BBF790CD-234F-4EE1-A996-2873D90E0CE3}"/>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The</a:t>
            </a:r>
            <a:r>
              <a:rPr lang="it-IT" sz="2175" b="0" dirty="0">
                <a:solidFill>
                  <a:srgbClr val="526276"/>
                </a:solidFill>
                <a:latin typeface="DejaVu Sans"/>
                <a:ea typeface="DejaVu Sans"/>
                <a:cs typeface="DejaVu Sans"/>
              </a:rPr>
              <a:t> </a:t>
            </a:r>
            <a:r>
              <a:rPr lang="it-IT" sz="2175" b="0" dirty="0" err="1">
                <a:solidFill>
                  <a:srgbClr val="526276"/>
                </a:solidFill>
                <a:latin typeface="DejaVu Sans"/>
                <a:ea typeface="DejaVu Sans"/>
                <a:cs typeface="DejaVu Sans"/>
              </a:rPr>
              <a:t>composition</a:t>
            </a:r>
            <a:r>
              <a:rPr lang="it-IT" sz="2175" b="0" dirty="0">
                <a:solidFill>
                  <a:srgbClr val="526276"/>
                </a:solidFill>
                <a:latin typeface="DejaVu Sans"/>
                <a:ea typeface="DejaVu Sans"/>
                <a:cs typeface="DejaVu Sans"/>
              </a:rPr>
              <a:t> of</a:t>
            </a:r>
            <a:r>
              <a:rPr sz="2175" b="0" dirty="0">
                <a:solidFill>
                  <a:srgbClr val="526276"/>
                </a:solidFill>
                <a:latin typeface="DejaVu Sans"/>
                <a:ea typeface="DejaVu Sans"/>
                <a:cs typeface="DejaVu Sans"/>
              </a:rPr>
              <a:t> </a:t>
            </a:r>
            <a:r>
              <a:rPr sz="2175" b="0" dirty="0">
                <a:solidFill>
                  <a:srgbClr val="FF0000"/>
                </a:solidFill>
                <a:latin typeface="DejaVu Sans"/>
                <a:ea typeface="DejaVu Sans"/>
                <a:cs typeface="DejaVu Sans"/>
              </a:rPr>
              <a:t>two affine</a:t>
            </a:r>
            <a:r>
              <a:rPr lang="it-IT" sz="2175" b="0" dirty="0">
                <a:solidFill>
                  <a:srgbClr val="FF0000"/>
                </a:solidFill>
                <a:latin typeface="DejaVu Sans"/>
                <a:ea typeface="DejaVu Sans"/>
                <a:cs typeface="DejaVu Sans"/>
              </a:rPr>
              <a:t> </a:t>
            </a:r>
            <a:r>
              <a:rPr lang="it-IT" sz="2175" b="0" dirty="0" err="1">
                <a:solidFill>
                  <a:srgbClr val="FF0000"/>
                </a:solidFill>
                <a:latin typeface="DejaVu Sans"/>
                <a:ea typeface="DejaVu Sans"/>
                <a:cs typeface="DejaVu Sans"/>
              </a:rPr>
              <a:t>functions</a:t>
            </a:r>
            <a:r>
              <a:rPr sz="2175" b="0" dirty="0">
                <a:solidFill>
                  <a:srgbClr val="FF0000"/>
                </a:solidFill>
                <a:latin typeface="DejaVu Sans"/>
                <a:ea typeface="DejaVu Sans"/>
                <a:cs typeface="DejaVu Sans"/>
              </a:rPr>
              <a:t> </a:t>
            </a:r>
            <a:r>
              <a:rPr lang="it-IT" sz="2175" b="0" dirty="0" err="1">
                <a:solidFill>
                  <a:srgbClr val="526276"/>
                </a:solidFill>
                <a:latin typeface="DejaVu Sans"/>
                <a:ea typeface="DejaVu Sans"/>
                <a:cs typeface="DejaVu Sans"/>
              </a:rPr>
              <a:t>is</a:t>
            </a:r>
            <a:r>
              <a:rPr sz="2175" b="0" dirty="0">
                <a:solidFill>
                  <a:srgbClr val="526276"/>
                </a:solidFill>
                <a:latin typeface="DejaVu Sans"/>
                <a:ea typeface="DejaVu Sans"/>
                <a:cs typeface="DejaVu Sans"/>
              </a:rPr>
              <a:t> </a:t>
            </a:r>
            <a:r>
              <a:rPr lang="it-IT" sz="2175" b="0" dirty="0">
                <a:solidFill>
                  <a:srgbClr val="526276"/>
                </a:solidFill>
                <a:latin typeface="DejaVu Sans"/>
                <a:ea typeface="DejaVu Sans"/>
                <a:cs typeface="DejaVu Sans"/>
              </a:rPr>
              <a:t>an </a:t>
            </a:r>
            <a:r>
              <a:rPr sz="2175" b="0" dirty="0">
                <a:solidFill>
                  <a:srgbClr val="FF0000"/>
                </a:solidFill>
                <a:latin typeface="DejaVu Sans"/>
                <a:ea typeface="DejaVu Sans"/>
                <a:cs typeface="DejaVu Sans"/>
              </a:rPr>
              <a:t>affine</a:t>
            </a:r>
            <a:r>
              <a:rPr lang="it-IT" sz="2175" b="0" dirty="0">
                <a:solidFill>
                  <a:srgbClr val="FF0000"/>
                </a:solidFill>
                <a:latin typeface="DejaVu Sans"/>
                <a:ea typeface="DejaVu Sans"/>
                <a:cs typeface="DejaVu Sans"/>
              </a:rPr>
              <a:t> </a:t>
            </a:r>
            <a:r>
              <a:rPr lang="it-IT" sz="2175" b="0" dirty="0" err="1">
                <a:solidFill>
                  <a:srgbClr val="FF0000"/>
                </a:solidFill>
                <a:latin typeface="DejaVu Sans"/>
                <a:ea typeface="DejaVu Sans"/>
                <a:cs typeface="DejaVu Sans"/>
              </a:rPr>
              <a:t>function</a:t>
            </a:r>
            <a:r>
              <a:rPr sz="2175" b="0" dirty="0">
                <a:solidFill>
                  <a:srgbClr val="526276"/>
                </a:solidFill>
                <a:latin typeface="DejaVu Sans"/>
                <a:ea typeface="DejaVu Sans"/>
                <a:cs typeface="DejaVu Sans"/>
              </a:rPr>
              <a:t>.</a:t>
            </a:r>
          </a:p>
        </p:txBody>
      </p:sp>
      <p:sp>
        <p:nvSpPr>
          <p:cNvPr id="3" name="feature_label">
            <a:extLst>
              <a:ext uri="{FF2B5EF4-FFF2-40B4-BE49-F238E27FC236}">
                <a16:creationId xmlns:a16="http://schemas.microsoft.com/office/drawing/2014/main" id="{BBD61A3A-1B28-4E6D-94D6-A9ED3F6323AB}"/>
              </a:ext>
            </a:extLst>
          </p:cNvPr>
          <p:cNvSpPr>
            <a:spLocks noGrp="1"/>
          </p:cNvSpPr>
          <p:nvPr/>
        </p:nvSpPr>
        <p:spPr>
          <a:xfrm>
            <a:off x="714375" y="1952625"/>
            <a:ext cx="5095875" cy="4286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Feature function</a:t>
            </a:r>
          </a:p>
        </p:txBody>
      </p:sp>
      <p:sp>
        <p:nvSpPr>
          <p:cNvPr id="4" name="output_label">
            <a:extLst>
              <a:ext uri="{FF2B5EF4-FFF2-40B4-BE49-F238E27FC236}">
                <a16:creationId xmlns:a16="http://schemas.microsoft.com/office/drawing/2014/main" id="{EE1D0A5C-6191-4288-A6A0-E4E265973381}"/>
              </a:ext>
            </a:extLst>
          </p:cNvPr>
          <p:cNvSpPr>
            <a:spLocks noGrp="1"/>
          </p:cNvSpPr>
          <p:nvPr/>
        </p:nvSpPr>
        <p:spPr>
          <a:xfrm>
            <a:off x="6381750" y="1952625"/>
            <a:ext cx="5095875" cy="4286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a:solidFill>
                  <a:srgbClr val="182D45"/>
                </a:solidFill>
                <a:latin typeface="DejaVu Sans"/>
                <a:ea typeface="DejaVu Sans"/>
                <a:cs typeface="DejaVu Sans"/>
              </a:rPr>
              <a:t>Affine output</a:t>
            </a:r>
          </a:p>
        </p:txBody>
      </p:sp>
      <mc:AlternateContent xmlns:mc="http://schemas.openxmlformats.org/markup-compatibility/2006" xmlns:a14="http://schemas.microsoft.com/office/drawing/2010/main">
        <mc:Choice Requires="a14">
          <p:sp>
            <p:nvSpPr>
              <p:cNvPr id="5" name="feature" descr="\phi(x)=w_1x+b_1">
                <a:extLst>
                  <a:ext uri="{FF2B5EF4-FFF2-40B4-BE49-F238E27FC236}">
                    <a16:creationId xmlns:a16="http://schemas.microsoft.com/office/drawing/2014/main" id="{D3EED5AD-DD20-4651-9480-19D56536DDB7}"/>
                  </a:ext>
                </a:extLst>
              </p:cNvPr>
              <p:cNvSpPr>
                <a:spLocks noGrp="1"/>
              </p:cNvSpPr>
              <p:nvPr/>
            </p:nvSpPr>
            <p:spPr>
              <a:xfrm>
                <a:off x="714375" y="2447925"/>
                <a:ext cx="5095875" cy="666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smtClean="0">
                          <a:solidFill>
                            <a:srgbClr val="087F83"/>
                          </a:solidFill>
                          <a:latin typeface="Cambria Math"/>
                          <a:ea typeface="Cambria Math"/>
                          <a:cs typeface="Cambria Math"/>
                        </a:rPr>
                        <m:t>𝜙</m:t>
                      </m:r>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𝑥</m:t>
                          </m:r>
                        </m:e>
                      </m:d>
                      <m:r>
                        <a:rPr lang="en-GB" sz="3000">
                          <a:solidFill>
                            <a:srgbClr val="087F83"/>
                          </a:solidFill>
                          <a:latin typeface="Cambria Math"/>
                          <a:ea typeface="Cambria Math"/>
                          <a:cs typeface="Cambria Math"/>
                        </a:rPr>
                        <m:t>=</m:t>
                      </m:r>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𝑤</m:t>
                          </m:r>
                        </m:e>
                        <m:sub>
                          <m:r>
                            <a:rPr lang="en-GB" sz="3000">
                              <a:solidFill>
                                <a:srgbClr val="087F83"/>
                              </a:solidFill>
                              <a:latin typeface="Cambria Math"/>
                              <a:ea typeface="Cambria Math"/>
                              <a:cs typeface="Cambria Math"/>
                            </a:rPr>
                            <m:t>1</m:t>
                          </m:r>
                        </m:sub>
                      </m:sSub>
                      <m:r>
                        <a:rPr lang="en-GB" sz="3000">
                          <a:solidFill>
                            <a:srgbClr val="087F83"/>
                          </a:solidFill>
                          <a:latin typeface="Cambria Math"/>
                          <a:ea typeface="Cambria Math"/>
                          <a:cs typeface="Cambria Math"/>
                        </a:rPr>
                        <m:t>𝑥</m:t>
                      </m:r>
                      <m:r>
                        <a:rPr lang="en-GB" sz="3000">
                          <a:solidFill>
                            <a:srgbClr val="087F83"/>
                          </a:solidFill>
                          <a:latin typeface="Cambria Math"/>
                          <a:ea typeface="Cambria Math"/>
                          <a:cs typeface="Cambria Math"/>
                        </a:rPr>
                        <m:t>+</m:t>
                      </m:r>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𝑏</m:t>
                          </m:r>
                        </m:e>
                        <m:sub>
                          <m:r>
                            <a:rPr lang="en-GB" sz="3000">
                              <a:solidFill>
                                <a:srgbClr val="087F83"/>
                              </a:solidFill>
                              <a:latin typeface="Cambria Math"/>
                              <a:ea typeface="Cambria Math"/>
                              <a:cs typeface="Cambria Math"/>
                            </a:rPr>
                            <m:t>1</m:t>
                          </m:r>
                        </m:sub>
                      </m:sSub>
                    </m:oMath>
                  </m:oMathPara>
                </a14:m>
                <a:endParaRPr lang="en-GB" sz="3000" dirty="0"/>
              </a:p>
            </p:txBody>
          </p:sp>
        </mc:Choice>
        <mc:Fallback xmlns="">
          <p:sp>
            <p:nvSpPr>
              <p:cNvPr id="5" name="feature" descr="\phi(x)=w_1x+b_1">
                <a:extLst>
                  <a:ext uri="{FF2B5EF4-FFF2-40B4-BE49-F238E27FC236}">
                    <a16:creationId xmlns:a16="http://schemas.microsoft.com/office/drawing/2014/main" id="{D3EED5AD-DD20-4651-9480-19D56536DDB7}"/>
                  </a:ext>
                </a:extLst>
              </p:cNvPr>
              <p:cNvSpPr>
                <a:spLocks noGrp="1" noRot="1" noChangeAspect="1" noMove="1" noResize="1" noEditPoints="1" noAdjustHandles="1" noChangeArrowheads="1" noChangeShapeType="1" noTextEdit="1"/>
              </p:cNvSpPr>
              <p:nvPr/>
            </p:nvSpPr>
            <p:spPr>
              <a:xfrm>
                <a:off x="714375" y="2447925"/>
                <a:ext cx="5095875" cy="66675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output" descr="f(x)=w_2\phi(x)+b_2">
                <a:extLst>
                  <a:ext uri="{FF2B5EF4-FFF2-40B4-BE49-F238E27FC236}">
                    <a16:creationId xmlns:a16="http://schemas.microsoft.com/office/drawing/2014/main" id="{E449B06B-2D00-4A30-B351-8EF43FF02706}"/>
                  </a:ext>
                </a:extLst>
              </p:cNvPr>
              <p:cNvSpPr>
                <a:spLocks noGrp="1"/>
              </p:cNvSpPr>
              <p:nvPr/>
            </p:nvSpPr>
            <p:spPr>
              <a:xfrm>
                <a:off x="6381750" y="2447925"/>
                <a:ext cx="5095875" cy="666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smtClean="0">
                          <a:solidFill>
                            <a:srgbClr val="087F83"/>
                          </a:solidFill>
                          <a:latin typeface="Cambria Math"/>
                          <a:ea typeface="Cambria Math"/>
                          <a:cs typeface="Cambria Math"/>
                        </a:rPr>
                        <m:t>𝑓</m:t>
                      </m:r>
                      <m:d>
                        <m:dPr>
                          <m:ctrlPr>
                            <a:rPr lang="en-GB" sz="3000" smtClean="0">
                              <a:solidFill>
                                <a:srgbClr val="087F83"/>
                              </a:solidFill>
                              <a:latin typeface="Cambria Math"/>
                              <a:ea typeface="Cambria Math"/>
                              <a:cs typeface="Cambria Math"/>
                            </a:rPr>
                          </m:ctrlPr>
                        </m:dPr>
                        <m:e>
                          <m:r>
                            <a:rPr lang="en-GB" sz="3000" smtClean="0">
                              <a:solidFill>
                                <a:srgbClr val="087F83"/>
                              </a:solidFill>
                              <a:latin typeface="Cambria Math"/>
                              <a:ea typeface="Cambria Math"/>
                              <a:cs typeface="Cambria Math"/>
                            </a:rPr>
                            <m:t>𝑥</m:t>
                          </m:r>
                        </m:e>
                      </m:d>
                      <m:r>
                        <a:rPr lang="en-GB" sz="3000" smtClean="0">
                          <a:solidFill>
                            <a:srgbClr val="087F83"/>
                          </a:solidFill>
                          <a:latin typeface="Cambria Math"/>
                          <a:ea typeface="Cambria Math"/>
                          <a:cs typeface="Cambria Math"/>
                        </a:rPr>
                        <m:t>=</m:t>
                      </m:r>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𝑤</m:t>
                          </m:r>
                        </m:e>
                        <m:sub>
                          <m:r>
                            <a:rPr lang="en-GB" sz="3000" smtClean="0">
                              <a:solidFill>
                                <a:srgbClr val="087F83"/>
                              </a:solidFill>
                              <a:latin typeface="Cambria Math"/>
                              <a:ea typeface="Cambria Math"/>
                              <a:cs typeface="Cambria Math"/>
                            </a:rPr>
                            <m:t>2</m:t>
                          </m:r>
                        </m:sub>
                      </m:sSub>
                      <m:r>
                        <a:rPr lang="en-GB" sz="3000">
                          <a:solidFill>
                            <a:srgbClr val="087F83"/>
                          </a:solidFill>
                          <a:latin typeface="Cambria Math"/>
                          <a:ea typeface="Cambria Math"/>
                          <a:cs typeface="Cambria Math"/>
                        </a:rPr>
                        <m:t>𝜙</m:t>
                      </m:r>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𝑥</m:t>
                          </m:r>
                        </m:e>
                      </m:d>
                      <m:r>
                        <a:rPr lang="en-GB" sz="3000">
                          <a:solidFill>
                            <a:srgbClr val="087F83"/>
                          </a:solidFill>
                          <a:latin typeface="Cambria Math"/>
                          <a:ea typeface="Cambria Math"/>
                          <a:cs typeface="Cambria Math"/>
                        </a:rPr>
                        <m:t>+</m:t>
                      </m:r>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𝑏</m:t>
                          </m:r>
                        </m:e>
                        <m:sub>
                          <m:r>
                            <a:rPr lang="en-GB" sz="3000">
                              <a:solidFill>
                                <a:srgbClr val="087F83"/>
                              </a:solidFill>
                              <a:latin typeface="Cambria Math"/>
                              <a:ea typeface="Cambria Math"/>
                              <a:cs typeface="Cambria Math"/>
                            </a:rPr>
                            <m:t>2</m:t>
                          </m:r>
                        </m:sub>
                      </m:sSub>
                    </m:oMath>
                  </m:oMathPara>
                </a14:m>
                <a:endParaRPr lang="en-GB" sz="3000" dirty="0"/>
              </a:p>
            </p:txBody>
          </p:sp>
        </mc:Choice>
        <mc:Fallback xmlns="">
          <p:sp>
            <p:nvSpPr>
              <p:cNvPr id="6" name="output" descr="f(x)=w_2\phi(x)+b_2">
                <a:extLst>
                  <a:ext uri="{FF2B5EF4-FFF2-40B4-BE49-F238E27FC236}">
                    <a16:creationId xmlns:a16="http://schemas.microsoft.com/office/drawing/2014/main" id="{E449B06B-2D00-4A30-B351-8EF43FF02706}"/>
                  </a:ext>
                </a:extLst>
              </p:cNvPr>
              <p:cNvSpPr>
                <a:spLocks noGrp="1" noRot="1" noChangeAspect="1" noMove="1" noResize="1" noEditPoints="1" noAdjustHandles="1" noChangeArrowheads="1" noChangeShapeType="1" noTextEdit="1"/>
              </p:cNvSpPr>
              <p:nvPr/>
            </p:nvSpPr>
            <p:spPr>
              <a:xfrm>
                <a:off x="6381750" y="2447925"/>
                <a:ext cx="5095875" cy="66675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feature_parameters" descr="w_1=2,\qquad b_1=1">
                <a:extLst>
                  <a:ext uri="{FF2B5EF4-FFF2-40B4-BE49-F238E27FC236}">
                    <a16:creationId xmlns:a16="http://schemas.microsoft.com/office/drawing/2014/main" id="{D6C77699-23AA-47C9-986F-DE6A69CEE1F0}"/>
                  </a:ext>
                </a:extLst>
              </p:cNvPr>
              <p:cNvSpPr>
                <a:spLocks noGrp="1"/>
              </p:cNvSpPr>
              <p:nvPr/>
            </p:nvSpPr>
            <p:spPr>
              <a:xfrm>
                <a:off x="714375" y="3171825"/>
                <a:ext cx="5095875"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𝑤</m:t>
                          </m:r>
                        </m:e>
                        <m:sub>
                          <m:r>
                            <a:rPr lang="en-GB" sz="2800">
                              <a:solidFill>
                                <a:srgbClr val="087F83"/>
                              </a:solidFill>
                              <a:latin typeface="Cambria Math"/>
                              <a:ea typeface="Cambria Math"/>
                              <a:cs typeface="Cambria Math"/>
                            </a:rPr>
                            <m:t>1</m:t>
                          </m:r>
                        </m:sub>
                      </m:sSub>
                      <m:r>
                        <a:rPr lang="en-GB" sz="2800">
                          <a:solidFill>
                            <a:srgbClr val="087F83"/>
                          </a:solidFill>
                          <a:latin typeface="Cambria Math"/>
                          <a:ea typeface="Cambria Math"/>
                          <a:cs typeface="Cambria Math"/>
                        </a:rPr>
                        <m:t>=2,  </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𝑏</m:t>
                          </m:r>
                        </m:e>
                        <m:sub>
                          <m:r>
                            <a:rPr lang="en-GB" sz="2800">
                              <a:solidFill>
                                <a:srgbClr val="087F83"/>
                              </a:solidFill>
                              <a:latin typeface="Cambria Math"/>
                              <a:ea typeface="Cambria Math"/>
                              <a:cs typeface="Cambria Math"/>
                            </a:rPr>
                            <m:t>1</m:t>
                          </m:r>
                        </m:sub>
                      </m:sSub>
                      <m:r>
                        <a:rPr lang="en-GB" sz="2800">
                          <a:solidFill>
                            <a:srgbClr val="087F83"/>
                          </a:solidFill>
                          <a:latin typeface="Cambria Math"/>
                          <a:ea typeface="Cambria Math"/>
                          <a:cs typeface="Cambria Math"/>
                        </a:rPr>
                        <m:t>=1</m:t>
                      </m:r>
                    </m:oMath>
                  </m:oMathPara>
                </a14:m>
                <a:endParaRPr lang="en-GB" sz="2800" dirty="0"/>
              </a:p>
            </p:txBody>
          </p:sp>
        </mc:Choice>
        <mc:Fallback xmlns="">
          <p:sp>
            <p:nvSpPr>
              <p:cNvPr id="7" name="feature_parameters" descr="w_1=2,\qquad b_1=1">
                <a:extLst>
                  <a:ext uri="{FF2B5EF4-FFF2-40B4-BE49-F238E27FC236}">
                    <a16:creationId xmlns:a16="http://schemas.microsoft.com/office/drawing/2014/main" id="{D6C77699-23AA-47C9-986F-DE6A69CEE1F0}"/>
                  </a:ext>
                </a:extLst>
              </p:cNvPr>
              <p:cNvSpPr>
                <a:spLocks noGrp="1" noRot="1" noChangeAspect="1" noMove="1" noResize="1" noEditPoints="1" noAdjustHandles="1" noChangeArrowheads="1" noChangeShapeType="1" noTextEdit="1"/>
              </p:cNvSpPr>
              <p:nvPr/>
            </p:nvSpPr>
            <p:spPr>
              <a:xfrm>
                <a:off x="714375" y="3171825"/>
                <a:ext cx="5095875" cy="619125"/>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output_parameters" descr="w_2=3,\qquad b_2=-4">
                <a:extLst>
                  <a:ext uri="{FF2B5EF4-FFF2-40B4-BE49-F238E27FC236}">
                    <a16:creationId xmlns:a16="http://schemas.microsoft.com/office/drawing/2014/main" id="{34B5091E-5607-44C8-B34F-538A9991DE91}"/>
                  </a:ext>
                </a:extLst>
              </p:cNvPr>
              <p:cNvSpPr>
                <a:spLocks noGrp="1"/>
              </p:cNvSpPr>
              <p:nvPr/>
            </p:nvSpPr>
            <p:spPr>
              <a:xfrm>
                <a:off x="6381750" y="3171825"/>
                <a:ext cx="5095875"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𝑤</m:t>
                          </m:r>
                        </m:e>
                        <m:sub>
                          <m:r>
                            <a:rPr lang="en-GB" sz="2800">
                              <a:solidFill>
                                <a:srgbClr val="087F83"/>
                              </a:solidFill>
                              <a:latin typeface="Cambria Math"/>
                              <a:ea typeface="Cambria Math"/>
                              <a:cs typeface="Cambria Math"/>
                            </a:rPr>
                            <m:t>2</m:t>
                          </m:r>
                        </m:sub>
                      </m:sSub>
                      <m:r>
                        <a:rPr lang="en-GB" sz="2800">
                          <a:solidFill>
                            <a:srgbClr val="087F83"/>
                          </a:solidFill>
                          <a:latin typeface="Cambria Math"/>
                          <a:ea typeface="Cambria Math"/>
                          <a:cs typeface="Cambria Math"/>
                        </a:rPr>
                        <m:t>=3,  </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𝑏</m:t>
                          </m:r>
                        </m:e>
                        <m:sub>
                          <m:r>
                            <a:rPr lang="en-GB" sz="2800">
                              <a:solidFill>
                                <a:srgbClr val="087F83"/>
                              </a:solidFill>
                              <a:latin typeface="Cambria Math"/>
                              <a:ea typeface="Cambria Math"/>
                              <a:cs typeface="Cambria Math"/>
                            </a:rPr>
                            <m:t>2</m:t>
                          </m:r>
                        </m:sub>
                      </m:sSub>
                      <m:r>
                        <a:rPr lang="en-GB" sz="2800">
                          <a:solidFill>
                            <a:srgbClr val="087F83"/>
                          </a:solidFill>
                          <a:latin typeface="Cambria Math"/>
                          <a:ea typeface="Cambria Math"/>
                          <a:cs typeface="Cambria Math"/>
                        </a:rPr>
                        <m:t>=−4</m:t>
                      </m:r>
                    </m:oMath>
                  </m:oMathPara>
                </a14:m>
                <a:endParaRPr lang="en-GB" sz="2800" dirty="0"/>
              </a:p>
            </p:txBody>
          </p:sp>
        </mc:Choice>
        <mc:Fallback xmlns="">
          <p:sp>
            <p:nvSpPr>
              <p:cNvPr id="8" name="output_parameters" descr="w_2=3,\qquad b_2=-4">
                <a:extLst>
                  <a:ext uri="{FF2B5EF4-FFF2-40B4-BE49-F238E27FC236}">
                    <a16:creationId xmlns:a16="http://schemas.microsoft.com/office/drawing/2014/main" id="{34B5091E-5607-44C8-B34F-538A9991DE91}"/>
                  </a:ext>
                </a:extLst>
              </p:cNvPr>
              <p:cNvSpPr>
                <a:spLocks noGrp="1" noRot="1" noChangeAspect="1" noMove="1" noResize="1" noEditPoints="1" noAdjustHandles="1" noChangeArrowheads="1" noChangeShapeType="1" noTextEdit="1"/>
              </p:cNvSpPr>
              <p:nvPr/>
            </p:nvSpPr>
            <p:spPr>
              <a:xfrm>
                <a:off x="6381750" y="3171825"/>
                <a:ext cx="5095875" cy="619125"/>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composition" descr="f(x)=3(2x+1)-4=6x-1">
                <a:extLst>
                  <a:ext uri="{FF2B5EF4-FFF2-40B4-BE49-F238E27FC236}">
                    <a16:creationId xmlns:a16="http://schemas.microsoft.com/office/drawing/2014/main" id="{A9C17E82-CFAB-4DF0-975B-518A08AA1421}"/>
                  </a:ext>
                </a:extLst>
              </p:cNvPr>
              <p:cNvSpPr>
                <a:spLocks noGrp="1"/>
              </p:cNvSpPr>
              <p:nvPr/>
            </p:nvSpPr>
            <p:spPr>
              <a:xfrm>
                <a:off x="619125" y="4157662"/>
                <a:ext cx="10953750" cy="476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smtClean="0">
                          <a:solidFill>
                            <a:srgbClr val="087F83"/>
                          </a:solidFill>
                          <a:latin typeface="Cambria Math"/>
                          <a:ea typeface="Cambria Math"/>
                          <a:cs typeface="Cambria Math"/>
                        </a:rPr>
                        <m:t>𝑓</m:t>
                      </m:r>
                      <m:d>
                        <m:dPr>
                          <m:ctrlPr>
                            <a:rPr lang="en-GB" sz="3000" smtClean="0">
                              <a:solidFill>
                                <a:srgbClr val="087F83"/>
                              </a:solidFill>
                              <a:latin typeface="Cambria Math"/>
                              <a:ea typeface="Cambria Math"/>
                              <a:cs typeface="Cambria Math"/>
                            </a:rPr>
                          </m:ctrlPr>
                        </m:dPr>
                        <m:e>
                          <m:r>
                            <a:rPr lang="en-GB" sz="3000" smtClean="0">
                              <a:solidFill>
                                <a:srgbClr val="087F83"/>
                              </a:solidFill>
                              <a:latin typeface="Cambria Math"/>
                              <a:ea typeface="Cambria Math"/>
                              <a:cs typeface="Cambria Math"/>
                            </a:rPr>
                            <m:t>𝑥</m:t>
                          </m:r>
                        </m:e>
                      </m:d>
                      <m:r>
                        <a:rPr lang="it-IT" sz="3000" b="0" i="1" smtClean="0">
                          <a:solidFill>
                            <a:srgbClr val="087F83"/>
                          </a:solidFill>
                          <a:latin typeface="Cambria Math" panose="02040503050406030204" pitchFamily="18" charset="0"/>
                          <a:ea typeface="Cambria Math"/>
                          <a:cs typeface="Cambria Math"/>
                        </a:rPr>
                        <m:t>=</m:t>
                      </m:r>
                      <m:r>
                        <a:rPr lang="en-GB" sz="3000" smtClean="0">
                          <a:solidFill>
                            <a:srgbClr val="087F83"/>
                          </a:solidFill>
                          <a:latin typeface="Cambria Math"/>
                          <a:ea typeface="Cambria Math"/>
                          <a:cs typeface="Cambria Math"/>
                        </a:rPr>
                        <m:t>3</m:t>
                      </m:r>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2</m:t>
                          </m:r>
                          <m:r>
                            <a:rPr lang="en-GB" sz="3000">
                              <a:solidFill>
                                <a:srgbClr val="087F83"/>
                              </a:solidFill>
                              <a:latin typeface="Cambria Math"/>
                              <a:ea typeface="Cambria Math"/>
                              <a:cs typeface="Cambria Math"/>
                            </a:rPr>
                            <m:t>𝑥</m:t>
                          </m:r>
                          <m:r>
                            <a:rPr lang="en-GB" sz="3000">
                              <a:solidFill>
                                <a:srgbClr val="087F83"/>
                              </a:solidFill>
                              <a:latin typeface="Cambria Math"/>
                              <a:ea typeface="Cambria Math"/>
                              <a:cs typeface="Cambria Math"/>
                            </a:rPr>
                            <m:t>+1</m:t>
                          </m:r>
                        </m:e>
                      </m:d>
                      <m:r>
                        <a:rPr lang="en-GB" sz="3000">
                          <a:solidFill>
                            <a:srgbClr val="087F83"/>
                          </a:solidFill>
                          <a:latin typeface="Cambria Math"/>
                          <a:ea typeface="Cambria Math"/>
                          <a:cs typeface="Cambria Math"/>
                        </a:rPr>
                        <m:t>−4=6</m:t>
                      </m:r>
                      <m:r>
                        <a:rPr lang="en-GB" sz="3000">
                          <a:solidFill>
                            <a:srgbClr val="087F83"/>
                          </a:solidFill>
                          <a:latin typeface="Cambria Math"/>
                          <a:ea typeface="Cambria Math"/>
                          <a:cs typeface="Cambria Math"/>
                        </a:rPr>
                        <m:t>𝑥</m:t>
                      </m:r>
                      <m:r>
                        <a:rPr lang="en-GB" sz="3000">
                          <a:solidFill>
                            <a:srgbClr val="087F83"/>
                          </a:solidFill>
                          <a:latin typeface="Cambria Math"/>
                          <a:ea typeface="Cambria Math"/>
                          <a:cs typeface="Cambria Math"/>
                        </a:rPr>
                        <m:t>−1</m:t>
                      </m:r>
                    </m:oMath>
                  </m:oMathPara>
                </a14:m>
                <a:endParaRPr lang="en-GB" sz="3000" dirty="0"/>
              </a:p>
            </p:txBody>
          </p:sp>
        </mc:Choice>
        <mc:Fallback xmlns="">
          <p:sp>
            <p:nvSpPr>
              <p:cNvPr id="9" name="composition" descr="f(x)=3(2x+1)-4=6x-1">
                <a:extLst>
                  <a:ext uri="{FF2B5EF4-FFF2-40B4-BE49-F238E27FC236}">
                    <a16:creationId xmlns:a16="http://schemas.microsoft.com/office/drawing/2014/main" id="{A9C17E82-CFAB-4DF0-975B-518A08AA1421}"/>
                  </a:ext>
                </a:extLst>
              </p:cNvPr>
              <p:cNvSpPr>
                <a:spLocks noGrp="1" noRot="1" noChangeAspect="1" noMove="1" noResize="1" noEditPoints="1" noAdjustHandles="1" noChangeArrowheads="1" noChangeShapeType="1" noTextEdit="1"/>
              </p:cNvSpPr>
              <p:nvPr/>
            </p:nvSpPr>
            <p:spPr>
              <a:xfrm>
                <a:off x="619125" y="4157662"/>
                <a:ext cx="10953750" cy="47625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equivalence">
                <a:extLst>
                  <a:ext uri="{FF2B5EF4-FFF2-40B4-BE49-F238E27FC236}">
                    <a16:creationId xmlns:a16="http://schemas.microsoft.com/office/drawing/2014/main" id="{2E5AEEA2-3C34-4C9C-9CEE-7B4266C4DA26}"/>
                  </a:ext>
                </a:extLst>
              </p:cNvPr>
              <p:cNvSpPr>
                <a:spLocks noGrp="1"/>
              </p:cNvSpPr>
              <p:nvPr/>
            </p:nvSpPr>
            <p:spPr>
              <a:xfrm>
                <a:off x="571500" y="4905565"/>
                <a:ext cx="11049000" cy="619124"/>
              </a:xfrm>
              <a:prstGeom prst="rect">
                <a:avLst/>
              </a:prstGeom>
              <a:noFill/>
              <a:ln w="0">
                <a:noFill/>
              </a:ln>
            </p:spPr>
            <p:txBody>
              <a:bodyPr anchor="ctr">
                <a:noAutofit/>
              </a:bodyPr>
              <a:lstStyle/>
              <a:p>
                <a:pPr algn="ctr">
                  <a:defRPr sz="2025" b="1">
                    <a:solidFill>
                      <a:srgbClr val="182D45"/>
                    </a:solidFill>
                    <a:latin typeface="DejaVu Sans"/>
                    <a:ea typeface="DejaVu Sans"/>
                    <a:cs typeface="DejaVu Sans"/>
                  </a:defRPr>
                </a:pPr>
                <a:r>
                  <a:rPr lang="it-IT" sz="2025" b="1" dirty="0" err="1">
                    <a:solidFill>
                      <a:srgbClr val="182D45"/>
                    </a:solidFill>
                    <a:latin typeface="DejaVu Sans"/>
                    <a:ea typeface="DejaVu Sans"/>
                    <a:cs typeface="DejaVu Sans"/>
                  </a:rPr>
                  <a:t>We</a:t>
                </a:r>
                <a:r>
                  <a:rPr lang="it-IT" sz="2025" b="1" dirty="0">
                    <a:solidFill>
                      <a:srgbClr val="182D45"/>
                    </a:solidFill>
                    <a:latin typeface="DejaVu Sans"/>
                    <a:ea typeface="DejaVu Sans"/>
                    <a:cs typeface="DejaVu Sans"/>
                  </a:rPr>
                  <a:t> can </a:t>
                </a:r>
                <a:r>
                  <a:rPr lang="it-IT" sz="2025" b="1" dirty="0" err="1">
                    <a:solidFill>
                      <a:srgbClr val="182D45"/>
                    </a:solidFill>
                    <a:latin typeface="DejaVu Sans"/>
                    <a:ea typeface="DejaVu Sans"/>
                    <a:cs typeface="DejaVu Sans"/>
                  </a:rPr>
                  <a:t>write</a:t>
                </a:r>
                <a:r>
                  <a:rPr lang="it-IT" sz="2025" b="1" dirty="0">
                    <a:solidFill>
                      <a:srgbClr val="182D45"/>
                    </a:solidFill>
                    <a:latin typeface="DejaVu Sans"/>
                    <a:ea typeface="DejaVu Sans"/>
                    <a:cs typeface="DejaVu Sans"/>
                  </a:rPr>
                  <a:t> the </a:t>
                </a:r>
                <a:r>
                  <a:rPr lang="it-IT" sz="2025" b="1" dirty="0" err="1">
                    <a:solidFill>
                      <a:srgbClr val="182D45"/>
                    </a:solidFill>
                    <a:latin typeface="DejaVu Sans"/>
                    <a:ea typeface="DejaVu Sans"/>
                    <a:cs typeface="DejaVu Sans"/>
                  </a:rPr>
                  <a:t>same</a:t>
                </a:r>
                <a:r>
                  <a:rPr lang="it-IT" sz="2025" b="1" dirty="0">
                    <a:solidFill>
                      <a:srgbClr val="182D45"/>
                    </a:solidFill>
                    <a:latin typeface="DejaVu Sans"/>
                    <a:ea typeface="DejaVu Sans"/>
                    <a:cs typeface="DejaVu Sans"/>
                  </a:rPr>
                  <a:t> </a:t>
                </a:r>
                <a:r>
                  <a:rPr lang="it-IT" sz="2025" b="1" dirty="0" err="1">
                    <a:solidFill>
                      <a:srgbClr val="182D45"/>
                    </a:solidFill>
                    <a:latin typeface="DejaVu Sans"/>
                    <a:ea typeface="DejaVu Sans"/>
                    <a:cs typeface="DejaVu Sans"/>
                  </a:rPr>
                  <a:t>predictor</a:t>
                </a:r>
                <a:r>
                  <a:rPr lang="it-IT" sz="2025" b="1" dirty="0">
                    <a:solidFill>
                      <a:srgbClr val="182D45"/>
                    </a:solidFill>
                    <a:latin typeface="DejaVu Sans"/>
                    <a:ea typeface="DejaVu Sans"/>
                    <a:cs typeface="DejaVu Sans"/>
                  </a:rPr>
                  <a:t> </a:t>
                </a:r>
                <a:r>
                  <a:rPr sz="2025" b="1" dirty="0">
                    <a:solidFill>
                      <a:srgbClr val="182D45"/>
                    </a:solidFill>
                    <a:latin typeface="DejaVu Sans"/>
                    <a:ea typeface="DejaVu Sans"/>
                    <a:cs typeface="DejaVu Sans"/>
                  </a:rPr>
                  <a:t>directly </a:t>
                </a:r>
                <a:r>
                  <a:rPr lang="it-IT" sz="2025" b="1" dirty="0" err="1">
                    <a:solidFill>
                      <a:srgbClr val="182D45"/>
                    </a:solidFill>
                    <a:latin typeface="DejaVu Sans"/>
                    <a:ea typeface="DejaVu Sans"/>
                    <a:cs typeface="DejaVu Sans"/>
                  </a:rPr>
                  <a:t>as</a:t>
                </a:r>
                <a:r>
                  <a:rPr lang="it-IT" sz="2025" b="1" dirty="0">
                    <a:solidFill>
                      <a:srgbClr val="182D45"/>
                    </a:solidFill>
                    <a:latin typeface="DejaVu Sans"/>
                    <a:ea typeface="DejaVu Sans"/>
                    <a:cs typeface="DejaVu Sans"/>
                  </a:rPr>
                  <a:t> an </a:t>
                </a:r>
                <a:r>
                  <a:rPr lang="it-IT" sz="2025" b="1" dirty="0">
                    <a:solidFill>
                      <a:srgbClr val="FF0000"/>
                    </a:solidFill>
                    <a:latin typeface="DejaVu Sans"/>
                    <a:ea typeface="DejaVu Sans"/>
                    <a:cs typeface="DejaVu Sans"/>
                  </a:rPr>
                  <a:t>affine </a:t>
                </a:r>
                <a:r>
                  <a:rPr lang="it-IT" sz="2025" b="1" dirty="0" err="1">
                    <a:solidFill>
                      <a:srgbClr val="FF0000"/>
                    </a:solidFill>
                    <a:latin typeface="DejaVu Sans"/>
                    <a:ea typeface="DejaVu Sans"/>
                    <a:cs typeface="DejaVu Sans"/>
                  </a:rPr>
                  <a:t>function</a:t>
                </a:r>
                <a:r>
                  <a:rPr lang="it-IT" sz="2025" b="1" dirty="0">
                    <a:solidFill>
                      <a:srgbClr val="FF0000"/>
                    </a:solidFill>
                    <a:latin typeface="DejaVu Sans"/>
                    <a:ea typeface="DejaVu Sans"/>
                    <a:cs typeface="DejaVu Sans"/>
                  </a:rPr>
                  <a:t> </a:t>
                </a:r>
                <a:r>
                  <a:rPr lang="it-IT" sz="2025" b="1" dirty="0">
                    <a:solidFill>
                      <a:srgbClr val="182D45"/>
                    </a:solidFill>
                    <a:latin typeface="DejaVu Sans"/>
                    <a:ea typeface="DejaVu Sans"/>
                    <a:cs typeface="DejaVu Sans"/>
                  </a:rPr>
                  <a:t>of</a:t>
                </a:r>
                <a:r>
                  <a:rPr sz="2025" b="1" dirty="0">
                    <a:solidFill>
                      <a:srgbClr val="182D45"/>
                    </a:solidFill>
                    <a:latin typeface="DejaVu Sans"/>
                    <a:ea typeface="DejaVu Sans"/>
                    <a:cs typeface="DejaVu Sans"/>
                  </a:rPr>
                  <a:t> </a:t>
                </a:r>
                <a14:m>
                  <m:oMath xmlns:m="http://schemas.openxmlformats.org/officeDocument/2006/math">
                    <m:r>
                      <a:rPr lang="it-IT" sz="2025" b="1" i="1" dirty="0" smtClean="0">
                        <a:solidFill>
                          <a:srgbClr val="182D45"/>
                        </a:solidFill>
                        <a:latin typeface="Cambria Math" panose="02040503050406030204" pitchFamily="18" charset="0"/>
                        <a:ea typeface="DejaVu Sans"/>
                        <a:cs typeface="DejaVu Sans"/>
                      </a:rPr>
                      <m:t>𝒙</m:t>
                    </m:r>
                  </m:oMath>
                </a14:m>
                <a:r>
                  <a:rPr sz="2025" b="1" dirty="0">
                    <a:solidFill>
                      <a:srgbClr val="182D45"/>
                    </a:solidFill>
                    <a:latin typeface="DejaVu Sans"/>
                    <a:ea typeface="DejaVu Sans"/>
                    <a:cs typeface="DejaVu Sans"/>
                  </a:rPr>
                  <a:t>,</a:t>
                </a:r>
                <a:endParaRPr lang="it-IT" sz="2025" b="1" dirty="0">
                  <a:solidFill>
                    <a:srgbClr val="182D45"/>
                  </a:solidFill>
                  <a:latin typeface="DejaVu Sans"/>
                  <a:ea typeface="DejaVu Sans"/>
                  <a:cs typeface="DejaVu Sans"/>
                </a:endParaRPr>
              </a:p>
              <a:p>
                <a:pPr algn="ctr">
                  <a:defRPr sz="2025" b="1">
                    <a:solidFill>
                      <a:srgbClr val="182D45"/>
                    </a:solidFill>
                    <a:latin typeface="DejaVu Sans"/>
                    <a:ea typeface="DejaVu Sans"/>
                    <a:cs typeface="DejaVu Sans"/>
                  </a:defRPr>
                </a:pPr>
                <a:r>
                  <a:rPr sz="2025" b="1" dirty="0">
                    <a:solidFill>
                      <a:srgbClr val="182D45"/>
                    </a:solidFill>
                    <a:latin typeface="DejaVu Sans"/>
                    <a:ea typeface="DejaVu Sans"/>
                    <a:cs typeface="DejaVu Sans"/>
                  </a:rPr>
                  <a:t>with </a:t>
                </a:r>
                <a:r>
                  <a:rPr sz="2025" b="1" dirty="0">
                    <a:solidFill>
                      <a:srgbClr val="FF0000"/>
                    </a:solidFill>
                    <a:latin typeface="DejaVu Sans"/>
                    <a:ea typeface="DejaVu Sans"/>
                    <a:cs typeface="DejaVu Sans"/>
                  </a:rPr>
                  <a:t>no intermediate feature</a:t>
                </a:r>
                <a:r>
                  <a:rPr lang="it-IT" sz="2025" b="1" dirty="0">
                    <a:solidFill>
                      <a:srgbClr val="FF0000"/>
                    </a:solidFill>
                    <a:latin typeface="DejaVu Sans"/>
                    <a:ea typeface="DejaVu Sans"/>
                    <a:cs typeface="DejaVu Sans"/>
                  </a:rPr>
                  <a:t>s</a:t>
                </a:r>
                <a:r>
                  <a:rPr sz="2025" b="1" dirty="0">
                    <a:solidFill>
                      <a:srgbClr val="182D45"/>
                    </a:solidFill>
                    <a:latin typeface="DejaVu Sans"/>
                    <a:ea typeface="DejaVu Sans"/>
                    <a:cs typeface="DejaVu Sans"/>
                  </a:rPr>
                  <a:t>:</a:t>
                </a:r>
              </a:p>
            </p:txBody>
          </p:sp>
        </mc:Choice>
        <mc:Fallback xmlns="">
          <p:sp>
            <p:nvSpPr>
              <p:cNvPr id="10" name="equivalence">
                <a:extLst>
                  <a:ext uri="{FF2B5EF4-FFF2-40B4-BE49-F238E27FC236}">
                    <a16:creationId xmlns:a16="http://schemas.microsoft.com/office/drawing/2014/main" id="{2E5AEEA2-3C34-4C9C-9CEE-7B4266C4DA26}"/>
                  </a:ext>
                </a:extLst>
              </p:cNvPr>
              <p:cNvSpPr>
                <a:spLocks noGrp="1" noRot="1" noChangeAspect="1" noMove="1" noResize="1" noEditPoints="1" noAdjustHandles="1" noChangeArrowheads="1" noChangeShapeType="1" noTextEdit="1"/>
              </p:cNvSpPr>
              <p:nvPr/>
            </p:nvSpPr>
            <p:spPr>
              <a:xfrm>
                <a:off x="571500" y="4905565"/>
                <a:ext cx="11049000" cy="619124"/>
              </a:xfrm>
              <a:prstGeom prst="rect">
                <a:avLst/>
              </a:prstGeom>
              <a:blipFill>
                <a:blip r:embed="rId8"/>
                <a:stretch>
                  <a:fillRect t="-12871" b="-2574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direct" descr="f(x)=\widetilde{w}x+\widetilde{b},\qquad\widetilde{w}=6,\quad\widetilde{b}=-1">
                <a:extLst>
                  <a:ext uri="{FF2B5EF4-FFF2-40B4-BE49-F238E27FC236}">
                    <a16:creationId xmlns:a16="http://schemas.microsoft.com/office/drawing/2014/main" id="{ACD0BB43-F83C-43C1-8BFD-E111D1EC90EE}"/>
                  </a:ext>
                </a:extLst>
              </p:cNvPr>
              <p:cNvSpPr>
                <a:spLocks noGrp="1"/>
              </p:cNvSpPr>
              <p:nvPr/>
            </p:nvSpPr>
            <p:spPr>
              <a:xfrm>
                <a:off x="333375" y="5619750"/>
                <a:ext cx="10953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900">
                          <a:solidFill>
                            <a:srgbClr val="087F83"/>
                          </a:solidFill>
                          <a:latin typeface="Cambria Math"/>
                          <a:ea typeface="Cambria Math"/>
                          <a:cs typeface="Cambria Math"/>
                        </a:rPr>
                        <m:t>𝑓</m:t>
                      </m:r>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𝑥</m:t>
                      </m:r>
                      <m:r>
                        <a:rPr lang="en-GB" sz="2900">
                          <a:solidFill>
                            <a:srgbClr val="087F83"/>
                          </a:solidFill>
                          <a:latin typeface="Cambria Math"/>
                          <a:ea typeface="Cambria Math"/>
                          <a:cs typeface="Cambria Math"/>
                        </a:rPr>
                        <m:t>)=</m:t>
                      </m:r>
                      <m:acc>
                        <m:accPr>
                          <m:chr m:val="̃"/>
                          <m:ctrlPr>
                            <a:rPr lang="en-GB" sz="2900">
                              <a:solidFill>
                                <a:srgbClr val="087F83"/>
                              </a:solidFill>
                              <a:latin typeface="Cambria Math"/>
                              <a:ea typeface="Cambria Math"/>
                              <a:cs typeface="Cambria Math"/>
                            </a:rPr>
                          </m:ctrlPr>
                        </m:accPr>
                        <m:e>
                          <m:r>
                            <a:rPr lang="en-GB" sz="2900">
                              <a:solidFill>
                                <a:srgbClr val="087F83"/>
                              </a:solidFill>
                              <a:latin typeface="Cambria Math"/>
                              <a:ea typeface="Cambria Math"/>
                              <a:cs typeface="Cambria Math"/>
                            </a:rPr>
                            <m:t>𝑤</m:t>
                          </m:r>
                        </m:e>
                      </m:acc>
                      <m:r>
                        <a:rPr lang="en-GB" sz="2900">
                          <a:solidFill>
                            <a:srgbClr val="087F83"/>
                          </a:solidFill>
                          <a:latin typeface="Cambria Math"/>
                          <a:ea typeface="Cambria Math"/>
                          <a:cs typeface="Cambria Math"/>
                        </a:rPr>
                        <m:t>𝑥</m:t>
                      </m:r>
                      <m:r>
                        <a:rPr lang="en-GB" sz="2900">
                          <a:solidFill>
                            <a:srgbClr val="087F83"/>
                          </a:solidFill>
                          <a:latin typeface="Cambria Math"/>
                          <a:ea typeface="Cambria Math"/>
                          <a:cs typeface="Cambria Math"/>
                        </a:rPr>
                        <m:t>+</m:t>
                      </m:r>
                      <m:acc>
                        <m:accPr>
                          <m:chr m:val="̃"/>
                          <m:ctrlPr>
                            <a:rPr lang="en-GB" sz="2900">
                              <a:solidFill>
                                <a:srgbClr val="087F83"/>
                              </a:solidFill>
                              <a:latin typeface="Cambria Math"/>
                              <a:ea typeface="Cambria Math"/>
                              <a:cs typeface="Cambria Math"/>
                            </a:rPr>
                          </m:ctrlPr>
                        </m:accPr>
                        <m:e>
                          <m:r>
                            <a:rPr lang="en-GB" sz="2900">
                              <a:solidFill>
                                <a:srgbClr val="087F83"/>
                              </a:solidFill>
                              <a:latin typeface="Cambria Math"/>
                              <a:ea typeface="Cambria Math"/>
                              <a:cs typeface="Cambria Math"/>
                            </a:rPr>
                            <m:t>𝑏</m:t>
                          </m:r>
                        </m:e>
                      </m:acc>
                      <m:r>
                        <a:rPr lang="en-GB" sz="2900">
                          <a:solidFill>
                            <a:srgbClr val="087F83"/>
                          </a:solidFill>
                          <a:latin typeface="Cambria Math"/>
                          <a:ea typeface="Cambria Math"/>
                          <a:cs typeface="Cambria Math"/>
                        </a:rPr>
                        <m:t>,  </m:t>
                      </m:r>
                      <m:acc>
                        <m:accPr>
                          <m:chr m:val="̃"/>
                          <m:ctrlPr>
                            <a:rPr lang="en-GB" sz="2900">
                              <a:solidFill>
                                <a:srgbClr val="087F83"/>
                              </a:solidFill>
                              <a:latin typeface="Cambria Math"/>
                              <a:ea typeface="Cambria Math"/>
                              <a:cs typeface="Cambria Math"/>
                            </a:rPr>
                          </m:ctrlPr>
                        </m:accPr>
                        <m:e>
                          <m:r>
                            <a:rPr lang="en-GB" sz="2900">
                              <a:solidFill>
                                <a:srgbClr val="087F83"/>
                              </a:solidFill>
                              <a:latin typeface="Cambria Math"/>
                              <a:ea typeface="Cambria Math"/>
                              <a:cs typeface="Cambria Math"/>
                            </a:rPr>
                            <m:t>𝑤</m:t>
                          </m:r>
                        </m:e>
                      </m:acc>
                      <m:r>
                        <a:rPr lang="en-GB" sz="2900">
                          <a:solidFill>
                            <a:srgbClr val="087F83"/>
                          </a:solidFill>
                          <a:latin typeface="Cambria Math"/>
                          <a:ea typeface="Cambria Math"/>
                          <a:cs typeface="Cambria Math"/>
                        </a:rPr>
                        <m:t>=6, </m:t>
                      </m:r>
                      <m:acc>
                        <m:accPr>
                          <m:chr m:val="̃"/>
                          <m:ctrlPr>
                            <a:rPr lang="en-GB" sz="2900">
                              <a:solidFill>
                                <a:srgbClr val="087F83"/>
                              </a:solidFill>
                              <a:latin typeface="Cambria Math"/>
                              <a:ea typeface="Cambria Math"/>
                              <a:cs typeface="Cambria Math"/>
                            </a:rPr>
                          </m:ctrlPr>
                        </m:accPr>
                        <m:e>
                          <m:r>
                            <a:rPr lang="en-GB" sz="2900">
                              <a:solidFill>
                                <a:srgbClr val="087F83"/>
                              </a:solidFill>
                              <a:latin typeface="Cambria Math"/>
                              <a:ea typeface="Cambria Math"/>
                              <a:cs typeface="Cambria Math"/>
                            </a:rPr>
                            <m:t>𝑏</m:t>
                          </m:r>
                        </m:e>
                      </m:acc>
                      <m:r>
                        <a:rPr lang="en-GB" sz="2900">
                          <a:solidFill>
                            <a:srgbClr val="087F83"/>
                          </a:solidFill>
                          <a:latin typeface="Cambria Math"/>
                          <a:ea typeface="Cambria Math"/>
                          <a:cs typeface="Cambria Math"/>
                        </a:rPr>
                        <m:t>=−1</m:t>
                      </m:r>
                    </m:oMath>
                  </m:oMathPara>
                </a14:m>
                <a:endParaRPr lang="en-GB" sz="2900" dirty="0"/>
              </a:p>
            </p:txBody>
          </p:sp>
        </mc:Choice>
        <mc:Fallback xmlns="">
          <p:sp>
            <p:nvSpPr>
              <p:cNvPr id="11" name="direct" descr="f(x)=\widetilde{w}x+\widetilde{b},\qquad\widetilde{w}=6,\quad\widetilde{b}=-1">
                <a:extLst>
                  <a:ext uri="{FF2B5EF4-FFF2-40B4-BE49-F238E27FC236}">
                    <a16:creationId xmlns:a16="http://schemas.microsoft.com/office/drawing/2014/main" id="{ACD0BB43-F83C-43C1-8BFD-E111D1EC90EE}"/>
                  </a:ext>
                </a:extLst>
              </p:cNvPr>
              <p:cNvSpPr>
                <a:spLocks noGrp="1" noRot="1" noChangeAspect="1" noMove="1" noResize="1" noEditPoints="1" noAdjustHandles="1" noChangeArrowheads="1" noChangeShapeType="1" noTextEdit="1"/>
              </p:cNvSpPr>
              <p:nvPr/>
            </p:nvSpPr>
            <p:spPr>
              <a:xfrm>
                <a:off x="333375" y="5619750"/>
                <a:ext cx="10953750" cy="619125"/>
              </a:xfrm>
              <a:prstGeom prst="rect">
                <a:avLst/>
              </a:prstGeom>
              <a:blipFill>
                <a:blip r:embed="rId9"/>
                <a:stretch>
                  <a:fillRect/>
                </a:stretch>
              </a:blipFill>
              <a:ln w="0">
                <a:noFill/>
              </a:ln>
            </p:spPr>
            <p:txBody>
              <a:bodyPr/>
              <a:lstStyle/>
              <a:p>
                <a:r>
                  <a:rPr lang="it-IT">
                    <a:noFill/>
                  </a:rPr>
                  <a:t> </a:t>
                </a:r>
              </a:p>
            </p:txBody>
          </p:sp>
        </mc:Fallback>
      </mc:AlternateContent>
      <p:sp>
        <p:nvSpPr>
          <p:cNvPr id="12" name="footer_course">
            <a:extLst>
              <a:ext uri="{FF2B5EF4-FFF2-40B4-BE49-F238E27FC236}">
                <a16:creationId xmlns:a16="http://schemas.microsoft.com/office/drawing/2014/main" id="{618C5F28-A0E0-40DD-89E8-A67817A581AE}"/>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13" name="footer_number">
            <a:extLst>
              <a:ext uri="{FF2B5EF4-FFF2-40B4-BE49-F238E27FC236}">
                <a16:creationId xmlns:a16="http://schemas.microsoft.com/office/drawing/2014/main" id="{5019973D-CD7D-43E4-8EA7-A4D6E0B55146}"/>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6</a:t>
            </a:r>
          </a:p>
        </p:txBody>
      </p:sp>
    </p:spTree>
    <p:extLst>
      <p:ext uri="{BB962C8B-B14F-4D97-AF65-F5344CB8AC3E}">
        <p14:creationId xmlns:p14="http://schemas.microsoft.com/office/powerpoint/2010/main" val="1589623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E5A0813B-A63A-4769-BD48-E7CB11C8759D}"/>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Affine features still give an affine predictor</a:t>
            </a:r>
          </a:p>
        </p:txBody>
      </p:sp>
      <p:sp>
        <p:nvSpPr>
          <p:cNvPr id="2" name="lead">
            <a:extLst>
              <a:ext uri="{FF2B5EF4-FFF2-40B4-BE49-F238E27FC236}">
                <a16:creationId xmlns:a16="http://schemas.microsoft.com/office/drawing/2014/main" id="{1F732E60-A452-4662-8891-37059D347768}"/>
              </a:ext>
            </a:extLst>
          </p:cNvPr>
          <p:cNvSpPr>
            <a:spLocks noGrp="1"/>
          </p:cNvSpPr>
          <p:nvPr/>
        </p:nvSpPr>
        <p:spPr>
          <a:xfrm>
            <a:off x="523875" y="787066"/>
            <a:ext cx="11144250" cy="6667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it-IT" sz="2175" b="0" dirty="0">
                <a:solidFill>
                  <a:srgbClr val="526276"/>
                </a:solidFill>
                <a:latin typeface="DejaVu Sans"/>
                <a:ea typeface="DejaVu Sans"/>
                <a:cs typeface="DejaVu Sans"/>
              </a:rPr>
              <a:t>Same </a:t>
            </a:r>
            <a:r>
              <a:rPr lang="it-IT" sz="2175" b="0" dirty="0" err="1">
                <a:solidFill>
                  <a:srgbClr val="526276"/>
                </a:solidFill>
                <a:latin typeface="DejaVu Sans"/>
                <a:ea typeface="DejaVu Sans"/>
                <a:cs typeface="DejaVu Sans"/>
              </a:rPr>
              <a:t>problem</a:t>
            </a:r>
            <a:r>
              <a:rPr lang="it-IT" sz="2175" b="0" dirty="0">
                <a:solidFill>
                  <a:srgbClr val="526276"/>
                </a:solidFill>
                <a:latin typeface="DejaVu Sans"/>
                <a:ea typeface="DejaVu Sans"/>
                <a:cs typeface="DejaVu Sans"/>
              </a:rPr>
              <a:t> </a:t>
            </a:r>
            <a:r>
              <a:rPr sz="2175" b="0" dirty="0">
                <a:solidFill>
                  <a:srgbClr val="526276"/>
                </a:solidFill>
                <a:latin typeface="DejaVu Sans"/>
                <a:ea typeface="DejaVu Sans"/>
                <a:cs typeface="DejaVu Sans"/>
              </a:rPr>
              <a:t>for </a:t>
            </a:r>
            <a:r>
              <a:rPr sz="2175" b="0" dirty="0">
                <a:solidFill>
                  <a:srgbClr val="FF0000"/>
                </a:solidFill>
                <a:latin typeface="DejaVu Sans"/>
                <a:ea typeface="DejaVu Sans"/>
                <a:cs typeface="DejaVu Sans"/>
              </a:rPr>
              <a:t>any</a:t>
            </a:r>
            <a:r>
              <a:rPr sz="2175" b="0" dirty="0">
                <a:solidFill>
                  <a:srgbClr val="526276"/>
                </a:solidFill>
                <a:latin typeface="DejaVu Sans"/>
                <a:ea typeface="DejaVu Sans"/>
                <a:cs typeface="DejaVu Sans"/>
              </a:rPr>
              <a:t> number of affine features.</a:t>
            </a:r>
          </a:p>
        </p:txBody>
      </p:sp>
      <mc:AlternateContent xmlns:mc="http://schemas.openxmlformats.org/markup-compatibility/2006" xmlns:a14="http://schemas.microsoft.com/office/drawing/2010/main">
        <mc:Choice Requires="a14">
          <p:sp>
            <p:nvSpPr>
              <p:cNvPr id="3" name="features" descr="\boldsymbol{\phi}(\mathbf{x})=\mathbf{x}\mathbf{W}+\mathbf{b}">
                <a:extLst>
                  <a:ext uri="{FF2B5EF4-FFF2-40B4-BE49-F238E27FC236}">
                    <a16:creationId xmlns:a16="http://schemas.microsoft.com/office/drawing/2014/main" id="{F6993B36-9546-4624-931A-82BBA9CD7D7C}"/>
                  </a:ext>
                </a:extLst>
              </p:cNvPr>
              <p:cNvSpPr>
                <a:spLocks noGrp="1"/>
              </p:cNvSpPr>
              <p:nvPr/>
            </p:nvSpPr>
            <p:spPr>
              <a:xfrm>
                <a:off x="595503" y="1237980"/>
                <a:ext cx="111442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900">
                          <a:solidFill>
                            <a:srgbClr val="087F83"/>
                          </a:solidFill>
                          <a:latin typeface="Cambria Math"/>
                          <a:ea typeface="Cambria Math"/>
                          <a:cs typeface="Cambria Math"/>
                        </a:rPr>
                        <m:t>𝛟</m:t>
                      </m:r>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𝐱</m:t>
                      </m:r>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𝐱𝐖</m:t>
                      </m:r>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𝐛</m:t>
                      </m:r>
                    </m:oMath>
                  </m:oMathPara>
                </a14:m>
                <a:endParaRPr lang="en-GB" sz="2900" dirty="0"/>
              </a:p>
            </p:txBody>
          </p:sp>
        </mc:Choice>
        <mc:Fallback xmlns="">
          <p:sp>
            <p:nvSpPr>
              <p:cNvPr id="3" name="features" descr="\boldsymbol{\phi}(\mathbf{x})=\mathbf{x}\mathbf{W}+\mathbf{b}">
                <a:extLst>
                  <a:ext uri="{FF2B5EF4-FFF2-40B4-BE49-F238E27FC236}">
                    <a16:creationId xmlns:a16="http://schemas.microsoft.com/office/drawing/2014/main" id="{F6993B36-9546-4624-931A-82BBA9CD7D7C}"/>
                  </a:ext>
                </a:extLst>
              </p:cNvPr>
              <p:cNvSpPr>
                <a:spLocks noGrp="1" noRot="1" noChangeAspect="1" noMove="1" noResize="1" noEditPoints="1" noAdjustHandles="1" noChangeArrowheads="1" noChangeShapeType="1" noTextEdit="1"/>
              </p:cNvSpPr>
              <p:nvPr/>
            </p:nvSpPr>
            <p:spPr>
              <a:xfrm>
                <a:off x="595503" y="1237980"/>
                <a:ext cx="11144250" cy="619125"/>
              </a:xfrm>
              <a:prstGeom prst="rect">
                <a:avLst/>
              </a:prstGeom>
              <a:blipFill>
                <a:blip r:embed="rId3"/>
                <a:stretch>
                  <a:fillRect/>
                </a:stretch>
              </a:blipFill>
              <a:ln w="0">
                <a:noFill/>
              </a:ln>
            </p:spPr>
            <p:txBody>
              <a:bodyPr/>
              <a:lstStyle/>
              <a:p>
                <a:r>
                  <a:rPr lang="it-IT">
                    <a:noFill/>
                  </a:rPr>
                  <a:t> </a:t>
                </a:r>
              </a:p>
            </p:txBody>
          </p:sp>
        </mc:Fallback>
      </mc:AlternateContent>
      <p:sp>
        <p:nvSpPr>
          <p:cNvPr id="4" name="output_label">
            <a:extLst>
              <a:ext uri="{FF2B5EF4-FFF2-40B4-BE49-F238E27FC236}">
                <a16:creationId xmlns:a16="http://schemas.microsoft.com/office/drawing/2014/main" id="{297CF988-0A54-4F48-95E3-0F21A442135B}"/>
              </a:ext>
            </a:extLst>
          </p:cNvPr>
          <p:cNvSpPr>
            <a:spLocks noGrp="1"/>
          </p:cNvSpPr>
          <p:nvPr/>
        </p:nvSpPr>
        <p:spPr>
          <a:xfrm>
            <a:off x="1263015" y="1855115"/>
            <a:ext cx="4429125" cy="523875"/>
          </a:xfrm>
          <a:prstGeom prst="rect">
            <a:avLst/>
          </a:prstGeom>
          <a:noFill/>
          <a:ln w="0">
            <a:noFill/>
          </a:ln>
        </p:spPr>
        <p:txBody>
          <a:bodyPr anchor="ctr">
            <a:noAutofit/>
          </a:bodyPr>
          <a:lstStyle/>
          <a:p>
            <a:pPr algn="ctr">
              <a:defRPr sz="1950" b="0">
                <a:solidFill>
                  <a:srgbClr val="526276"/>
                </a:solidFill>
                <a:latin typeface="DejaVu Sans"/>
                <a:ea typeface="DejaVu Sans"/>
                <a:cs typeface="DejaVu Sans"/>
              </a:defRPr>
            </a:pPr>
            <a:r>
              <a:rPr sz="1950" b="0" dirty="0">
                <a:solidFill>
                  <a:srgbClr val="526276"/>
                </a:solidFill>
                <a:latin typeface="DejaVu Sans"/>
                <a:ea typeface="DejaVu Sans"/>
                <a:cs typeface="DejaVu Sans"/>
              </a:rPr>
              <a:t>Output weights and bias:</a:t>
            </a:r>
          </a:p>
        </p:txBody>
      </p:sp>
      <mc:AlternateContent xmlns:mc="http://schemas.openxmlformats.org/markup-compatibility/2006" xmlns:a14="http://schemas.microsoft.com/office/drawing/2010/main">
        <mc:Choice Requires="a14">
          <p:sp>
            <p:nvSpPr>
              <p:cNvPr id="5" name="output_parameters" descr="\mathbf{w}_{\mathrm{out}}\in\mathbb{R}^{m\times1},\quad b_{\mathrm{out}}\in\mathbb{R}">
                <a:extLst>
                  <a:ext uri="{FF2B5EF4-FFF2-40B4-BE49-F238E27FC236}">
                    <a16:creationId xmlns:a16="http://schemas.microsoft.com/office/drawing/2014/main" id="{3CE9550C-37DC-41EA-8135-1357722659F8}"/>
                  </a:ext>
                </a:extLst>
              </p:cNvPr>
              <p:cNvSpPr>
                <a:spLocks noGrp="1"/>
              </p:cNvSpPr>
              <p:nvPr/>
            </p:nvSpPr>
            <p:spPr>
              <a:xfrm>
                <a:off x="4296537" y="1855114"/>
                <a:ext cx="6429375" cy="523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𝐰</m:t>
                          </m:r>
                        </m:e>
                        <m:sub>
                          <m:r>
                            <m:rPr>
                              <m:sty m:val="p"/>
                            </m:rPr>
                            <a:rPr lang="en-GB" sz="2500">
                              <a:solidFill>
                                <a:srgbClr val="087F83"/>
                              </a:solidFill>
                              <a:latin typeface="Cambria Math"/>
                              <a:ea typeface="Cambria Math"/>
                              <a:cs typeface="Cambria Math"/>
                            </a:rPr>
                            <m:t>out</m:t>
                          </m:r>
                        </m:sub>
                      </m:sSub>
                      <m:r>
                        <a:rPr lang="en-GB" sz="2500">
                          <a:solidFill>
                            <a:srgbClr val="087F83"/>
                          </a:solidFill>
                          <a:latin typeface="Cambria Math"/>
                          <a:ea typeface="Cambria Math"/>
                          <a:cs typeface="Cambria Math"/>
                        </a:rPr>
                        <m:t>∈</m:t>
                      </m:r>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ℝ</m:t>
                          </m:r>
                        </m:e>
                        <m:sup>
                          <m:r>
                            <a:rPr lang="en-GB" sz="2500">
                              <a:solidFill>
                                <a:srgbClr val="087F83"/>
                              </a:solidFill>
                              <a:latin typeface="Cambria Math"/>
                              <a:ea typeface="Cambria Math"/>
                              <a:cs typeface="Cambria Math"/>
                            </a:rPr>
                            <m:t>𝑚</m:t>
                          </m:r>
                          <m:r>
                            <a:rPr lang="en-GB" sz="2500">
                              <a:solidFill>
                                <a:srgbClr val="087F83"/>
                              </a:solidFill>
                              <a:latin typeface="Cambria Math"/>
                              <a:ea typeface="Cambria Math"/>
                              <a:cs typeface="Cambria Math"/>
                            </a:rPr>
                            <m:t>×1</m:t>
                          </m:r>
                        </m:sup>
                      </m:sSup>
                      <m:r>
                        <a:rPr lang="en-GB" sz="2500">
                          <a:solidFill>
                            <a:srgbClr val="087F83"/>
                          </a:solidFill>
                          <a:latin typeface="Cambria Math"/>
                          <a:ea typeface="Cambria Math"/>
                          <a:cs typeface="Cambria Math"/>
                        </a:rPr>
                        <m:t>, </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𝑏</m:t>
                          </m:r>
                        </m:e>
                        <m:sub>
                          <m:r>
                            <m:rPr>
                              <m:sty m:val="p"/>
                            </m:rPr>
                            <a:rPr lang="en-GB" sz="2500">
                              <a:solidFill>
                                <a:srgbClr val="087F83"/>
                              </a:solidFill>
                              <a:latin typeface="Cambria Math"/>
                              <a:ea typeface="Cambria Math"/>
                              <a:cs typeface="Cambria Math"/>
                            </a:rPr>
                            <m:t>out</m:t>
                          </m:r>
                        </m:sub>
                      </m:sSub>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ℝ</m:t>
                      </m:r>
                    </m:oMath>
                  </m:oMathPara>
                </a14:m>
                <a:endParaRPr lang="en-GB" sz="2500" dirty="0"/>
              </a:p>
            </p:txBody>
          </p:sp>
        </mc:Choice>
        <mc:Fallback xmlns="">
          <p:sp>
            <p:nvSpPr>
              <p:cNvPr id="5" name="output_parameters" descr="\mathbf{w}_{\mathrm{out}}\in\mathbb{R}^{m\times1},\quad b_{\mathrm{out}}\in\mathbb{R}">
                <a:extLst>
                  <a:ext uri="{FF2B5EF4-FFF2-40B4-BE49-F238E27FC236}">
                    <a16:creationId xmlns:a16="http://schemas.microsoft.com/office/drawing/2014/main" id="{3CE9550C-37DC-41EA-8135-1357722659F8}"/>
                  </a:ext>
                </a:extLst>
              </p:cNvPr>
              <p:cNvSpPr>
                <a:spLocks noGrp="1" noRot="1" noChangeAspect="1" noMove="1" noResize="1" noEditPoints="1" noAdjustHandles="1" noChangeArrowheads="1" noChangeShapeType="1" noTextEdit="1"/>
              </p:cNvSpPr>
              <p:nvPr/>
            </p:nvSpPr>
            <p:spPr>
              <a:xfrm>
                <a:off x="4296537" y="1855114"/>
                <a:ext cx="6429375" cy="52387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omposition" descr="f(\mathbf{x})=\boldsymbol{\phi}(\mathbf{x})\mathbf{w}_{\mathrm{out}}+b_{\mathrm{out}}=\mathbf{x}\mathbf{W}\mathbf{w}_{\mathrm{out}}+\mathbf{b}\mathbf{w}_{\mathrm{out}}+b_{\mathrm{out}}">
                <a:extLst>
                  <a:ext uri="{FF2B5EF4-FFF2-40B4-BE49-F238E27FC236}">
                    <a16:creationId xmlns:a16="http://schemas.microsoft.com/office/drawing/2014/main" id="{DFB742E9-94E5-4CAF-B43B-54D34A1B0240}"/>
                  </a:ext>
                </a:extLst>
              </p:cNvPr>
              <p:cNvSpPr>
                <a:spLocks noGrp="1"/>
              </p:cNvSpPr>
              <p:nvPr/>
            </p:nvSpPr>
            <p:spPr>
              <a:xfrm>
                <a:off x="264033" y="3477162"/>
                <a:ext cx="1133475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800" smtClean="0">
                          <a:solidFill>
                            <a:srgbClr val="087F83"/>
                          </a:solidFill>
                          <a:latin typeface="Cambria Math"/>
                          <a:ea typeface="Cambria Math"/>
                          <a:cs typeface="Cambria Math"/>
                        </a:rPr>
                        <m:t>𝑓</m:t>
                      </m:r>
                      <m:d>
                        <m:dPr>
                          <m:ctrlPr>
                            <a:rPr lang="en-GB" sz="2800" smtClean="0">
                              <a:solidFill>
                                <a:srgbClr val="087F83"/>
                              </a:solidFill>
                              <a:latin typeface="Cambria Math"/>
                              <a:ea typeface="Cambria Math"/>
                              <a:cs typeface="Cambria Math"/>
                            </a:rPr>
                          </m:ctrlPr>
                        </m:dPr>
                        <m:e>
                          <m:r>
                            <a:rPr lang="en-GB" sz="2800" smtClean="0">
                              <a:solidFill>
                                <a:srgbClr val="087F83"/>
                              </a:solidFill>
                              <a:latin typeface="Cambria Math"/>
                              <a:ea typeface="Cambria Math"/>
                              <a:cs typeface="Cambria Math"/>
                            </a:rPr>
                            <m:t>𝐱</m:t>
                          </m:r>
                        </m:e>
                      </m:d>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𝐱</m:t>
                      </m:r>
                      <m:limLow>
                        <m:limLowPr>
                          <m:ctrlPr>
                            <a:rPr lang="en-GB" sz="2800" i="1">
                              <a:solidFill>
                                <a:srgbClr val="087F83"/>
                              </a:solidFill>
                              <a:latin typeface="Cambria Math" panose="02040503050406030204" pitchFamily="18" charset="0"/>
                              <a:ea typeface="Cambria Math"/>
                              <a:cs typeface="Cambria Math"/>
                            </a:rPr>
                          </m:ctrlPr>
                        </m:limLowPr>
                        <m:e>
                          <m:groupChr>
                            <m:groupChrPr>
                              <m:chr m:val="⏟"/>
                              <m:pos m:val="bot"/>
                              <m:vertJc m:val="top"/>
                              <m:ctrlPr>
                                <a:rPr lang="en-GB" sz="2800">
                                  <a:solidFill>
                                    <a:srgbClr val="087F83"/>
                                  </a:solidFill>
                                  <a:latin typeface="Cambria Math"/>
                                  <a:ea typeface="Cambria Math"/>
                                  <a:cs typeface="Cambria Math"/>
                                </a:rPr>
                              </m:ctrlPr>
                            </m:groupChrPr>
                            <m:e>
                              <m:r>
                                <a:rPr lang="en-GB" sz="2800">
                                  <a:solidFill>
                                    <a:srgbClr val="087F83"/>
                                  </a:solidFill>
                                  <a:latin typeface="Cambria Math"/>
                                  <a:ea typeface="Cambria Math"/>
                                  <a:cs typeface="Cambria Math"/>
                                </a:rPr>
                                <m:t>𝐖</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𝐰</m:t>
                                  </m:r>
                                </m:e>
                                <m:sub>
                                  <m:r>
                                    <m:rPr>
                                      <m:sty m:val="p"/>
                                    </m:rPr>
                                    <a:rPr lang="en-GB" sz="2800">
                                      <a:solidFill>
                                        <a:srgbClr val="087F83"/>
                                      </a:solidFill>
                                      <a:latin typeface="Cambria Math"/>
                                      <a:ea typeface="Cambria Math"/>
                                      <a:cs typeface="Cambria Math"/>
                                    </a:rPr>
                                    <m:t>out</m:t>
                                  </m:r>
                                </m:sub>
                              </m:sSub>
                            </m:e>
                          </m:groupChr>
                        </m:e>
                        <m:lim>
                          <m:r>
                            <a:rPr lang="it-IT" sz="2800" i="1">
                              <a:solidFill>
                                <a:srgbClr val="087F83"/>
                              </a:solidFill>
                              <a:latin typeface="Cambria Math" panose="02040503050406030204" pitchFamily="18" charset="0"/>
                            </a:rPr>
                            <m:t>≕</m:t>
                          </m:r>
                          <m:acc>
                            <m:accPr>
                              <m:chr m:val="̃"/>
                              <m:ctrlPr>
                                <a:rPr lang="en-GB" sz="2800">
                                  <a:solidFill>
                                    <a:srgbClr val="087F83"/>
                                  </a:solidFill>
                                  <a:latin typeface="Cambria Math"/>
                                  <a:ea typeface="Cambria Math"/>
                                  <a:cs typeface="Cambria Math"/>
                                </a:rPr>
                              </m:ctrlPr>
                            </m:accPr>
                            <m:e>
                              <m:r>
                                <a:rPr lang="en-GB" sz="2800">
                                  <a:solidFill>
                                    <a:srgbClr val="087F83"/>
                                  </a:solidFill>
                                  <a:latin typeface="Cambria Math"/>
                                  <a:ea typeface="Cambria Math"/>
                                  <a:cs typeface="Cambria Math"/>
                                </a:rPr>
                                <m:t>𝐰</m:t>
                              </m:r>
                            </m:e>
                          </m:acc>
                        </m:lim>
                      </m:limLow>
                      <m:r>
                        <a:rPr lang="en-GB" sz="2800">
                          <a:solidFill>
                            <a:srgbClr val="087F83"/>
                          </a:solidFill>
                          <a:latin typeface="Cambria Math"/>
                          <a:ea typeface="Cambria Math"/>
                          <a:cs typeface="Cambria Math"/>
                        </a:rPr>
                        <m:t>+</m:t>
                      </m:r>
                      <m:limLow>
                        <m:limLowPr>
                          <m:ctrlPr>
                            <a:rPr lang="en-GB" sz="2800" i="1">
                              <a:solidFill>
                                <a:srgbClr val="087F83"/>
                              </a:solidFill>
                              <a:latin typeface="Cambria Math" panose="02040503050406030204" pitchFamily="18" charset="0"/>
                              <a:ea typeface="Cambria Math"/>
                              <a:cs typeface="Cambria Math"/>
                            </a:rPr>
                          </m:ctrlPr>
                        </m:limLowPr>
                        <m:e>
                          <m:groupChr>
                            <m:groupChrPr>
                              <m:chr m:val="⏟"/>
                              <m:pos m:val="bot"/>
                              <m:vertJc m:val="top"/>
                              <m:ctrlPr>
                                <a:rPr lang="en-GB" sz="2800">
                                  <a:solidFill>
                                    <a:srgbClr val="087F83"/>
                                  </a:solidFill>
                                  <a:latin typeface="Cambria Math"/>
                                  <a:ea typeface="Cambria Math"/>
                                  <a:cs typeface="Cambria Math"/>
                                </a:rPr>
                              </m:ctrlPr>
                            </m:groupChrPr>
                            <m:e>
                              <m:r>
                                <a:rPr lang="en-GB" sz="2800">
                                  <a:solidFill>
                                    <a:srgbClr val="087F83"/>
                                  </a:solidFill>
                                  <a:latin typeface="Cambria Math"/>
                                  <a:ea typeface="Cambria Math"/>
                                  <a:cs typeface="Cambria Math"/>
                                </a:rPr>
                                <m:t>𝐛</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𝐰</m:t>
                                  </m:r>
                                </m:e>
                                <m:sub>
                                  <m:r>
                                    <m:rPr>
                                      <m:sty m:val="p"/>
                                    </m:rPr>
                                    <a:rPr lang="en-GB" sz="2800">
                                      <a:solidFill>
                                        <a:srgbClr val="087F83"/>
                                      </a:solidFill>
                                      <a:latin typeface="Cambria Math"/>
                                      <a:ea typeface="Cambria Math"/>
                                      <a:cs typeface="Cambria Math"/>
                                    </a:rPr>
                                    <m:t>out</m:t>
                                  </m:r>
                                </m:sub>
                              </m:sSub>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𝑏</m:t>
                                  </m:r>
                                </m:e>
                                <m:sub>
                                  <m:r>
                                    <m:rPr>
                                      <m:sty m:val="p"/>
                                    </m:rPr>
                                    <a:rPr lang="en-GB" sz="2800">
                                      <a:solidFill>
                                        <a:srgbClr val="087F83"/>
                                      </a:solidFill>
                                      <a:latin typeface="Cambria Math"/>
                                      <a:ea typeface="Cambria Math"/>
                                      <a:cs typeface="Cambria Math"/>
                                    </a:rPr>
                                    <m:t>out</m:t>
                                  </m:r>
                                </m:sub>
                              </m:sSub>
                            </m:e>
                          </m:groupChr>
                        </m:e>
                        <m:lim>
                          <m:r>
                            <a:rPr lang="it-IT" sz="2800" i="1">
                              <a:solidFill>
                                <a:srgbClr val="087F83"/>
                              </a:solidFill>
                              <a:latin typeface="Cambria Math" panose="02040503050406030204" pitchFamily="18" charset="0"/>
                            </a:rPr>
                            <m:t>≕</m:t>
                          </m:r>
                          <m:acc>
                            <m:accPr>
                              <m:chr m:val="̃"/>
                              <m:ctrlPr>
                                <a:rPr lang="en-GB" sz="2800">
                                  <a:solidFill>
                                    <a:srgbClr val="087F83"/>
                                  </a:solidFill>
                                  <a:latin typeface="Cambria Math"/>
                                  <a:ea typeface="Cambria Math"/>
                                  <a:cs typeface="Cambria Math"/>
                                </a:rPr>
                              </m:ctrlPr>
                            </m:accPr>
                            <m:e>
                              <m:r>
                                <a:rPr lang="en-GB" sz="2800">
                                  <a:solidFill>
                                    <a:srgbClr val="087F83"/>
                                  </a:solidFill>
                                  <a:latin typeface="Cambria Math"/>
                                  <a:ea typeface="Cambria Math"/>
                                  <a:cs typeface="Cambria Math"/>
                                </a:rPr>
                                <m:t>𝑏</m:t>
                              </m:r>
                            </m:e>
                          </m:acc>
                        </m:lim>
                      </m:limLow>
                      <m:r>
                        <a:rPr lang="it-IT" sz="2800" b="0" i="1" smtClean="0">
                          <a:solidFill>
                            <a:srgbClr val="087F83"/>
                          </a:solidFill>
                          <a:latin typeface="Cambria Math" panose="02040503050406030204" pitchFamily="18" charset="0"/>
                          <a:ea typeface="Cambria Math"/>
                          <a:cs typeface="Cambria Math"/>
                        </a:rPr>
                        <m:t>=</m:t>
                      </m:r>
                      <m:r>
                        <a:rPr lang="en-GB" sz="2800">
                          <a:solidFill>
                            <a:srgbClr val="087F83"/>
                          </a:solidFill>
                          <a:latin typeface="Cambria Math"/>
                          <a:ea typeface="Cambria Math"/>
                          <a:cs typeface="Cambria Math"/>
                        </a:rPr>
                        <m:t>𝐱</m:t>
                      </m:r>
                      <m:acc>
                        <m:accPr>
                          <m:chr m:val="̃"/>
                          <m:ctrlPr>
                            <a:rPr lang="en-GB" sz="2800">
                              <a:solidFill>
                                <a:srgbClr val="087F83"/>
                              </a:solidFill>
                              <a:latin typeface="Cambria Math"/>
                              <a:ea typeface="Cambria Math"/>
                              <a:cs typeface="Cambria Math"/>
                            </a:rPr>
                          </m:ctrlPr>
                        </m:accPr>
                        <m:e>
                          <m:r>
                            <a:rPr lang="en-GB" sz="2800">
                              <a:solidFill>
                                <a:srgbClr val="087F83"/>
                              </a:solidFill>
                              <a:latin typeface="Cambria Math"/>
                              <a:ea typeface="Cambria Math"/>
                              <a:cs typeface="Cambria Math"/>
                            </a:rPr>
                            <m:t>𝐰</m:t>
                          </m:r>
                        </m:e>
                      </m:acc>
                      <m:r>
                        <a:rPr lang="en-GB" sz="2800">
                          <a:solidFill>
                            <a:srgbClr val="087F83"/>
                          </a:solidFill>
                          <a:latin typeface="Cambria Math"/>
                          <a:ea typeface="Cambria Math"/>
                          <a:cs typeface="Cambria Math"/>
                        </a:rPr>
                        <m:t>+</m:t>
                      </m:r>
                      <m:acc>
                        <m:accPr>
                          <m:chr m:val="̃"/>
                          <m:ctrlPr>
                            <a:rPr lang="en-GB" sz="2800">
                              <a:solidFill>
                                <a:srgbClr val="087F83"/>
                              </a:solidFill>
                              <a:latin typeface="Cambria Math"/>
                              <a:ea typeface="Cambria Math"/>
                              <a:cs typeface="Cambria Math"/>
                            </a:rPr>
                          </m:ctrlPr>
                        </m:accPr>
                        <m:e>
                          <m:r>
                            <a:rPr lang="en-GB" sz="2800">
                              <a:solidFill>
                                <a:srgbClr val="087F83"/>
                              </a:solidFill>
                              <a:latin typeface="Cambria Math"/>
                              <a:ea typeface="Cambria Math"/>
                              <a:cs typeface="Cambria Math"/>
                            </a:rPr>
                            <m:t>𝑏</m:t>
                          </m:r>
                        </m:e>
                      </m:acc>
                    </m:oMath>
                  </m:oMathPara>
                </a14:m>
                <a:endParaRPr lang="en-GB" sz="2800" dirty="0">
                  <a:solidFill>
                    <a:srgbClr val="087F83"/>
                  </a:solidFill>
                </a:endParaRPr>
              </a:p>
            </p:txBody>
          </p:sp>
        </mc:Choice>
        <mc:Fallback xmlns="">
          <p:sp>
            <p:nvSpPr>
              <p:cNvPr id="6" name="composition" descr="f(\mathbf{x})=\boldsymbol{\phi}(\mathbf{x})\mathbf{w}_{\mathrm{out}}+b_{\mathrm{out}}=\mathbf{x}\mathbf{W}\mathbf{w}_{\mathrm{out}}+\mathbf{b}\mathbf{w}_{\mathrm{out}}+b_{\mathrm{out}}">
                <a:extLst>
                  <a:ext uri="{FF2B5EF4-FFF2-40B4-BE49-F238E27FC236}">
                    <a16:creationId xmlns:a16="http://schemas.microsoft.com/office/drawing/2014/main" id="{DFB742E9-94E5-4CAF-B43B-54D34A1B0240}"/>
                  </a:ext>
                </a:extLst>
              </p:cNvPr>
              <p:cNvSpPr>
                <a:spLocks noGrp="1" noRot="1" noChangeAspect="1" noMove="1" noResize="1" noEditPoints="1" noAdjustHandles="1" noChangeArrowheads="1" noChangeShapeType="1" noTextEdit="1"/>
              </p:cNvSpPr>
              <p:nvPr/>
            </p:nvSpPr>
            <p:spPr>
              <a:xfrm>
                <a:off x="264033" y="3477162"/>
                <a:ext cx="11334750" cy="714375"/>
              </a:xfrm>
              <a:prstGeom prst="rect">
                <a:avLst/>
              </a:prstGeom>
              <a:blipFill>
                <a:blip r:embed="rId5"/>
                <a:stretch>
                  <a:fillRect t="-847" b="-762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equivalent_label">
                <a:extLst>
                  <a:ext uri="{FF2B5EF4-FFF2-40B4-BE49-F238E27FC236}">
                    <a16:creationId xmlns:a16="http://schemas.microsoft.com/office/drawing/2014/main" id="{59E9C586-E5E2-4240-BB2B-60EC4D7A40B5}"/>
                  </a:ext>
                </a:extLst>
              </p:cNvPr>
              <p:cNvSpPr>
                <a:spLocks noGrp="1"/>
              </p:cNvSpPr>
              <p:nvPr/>
            </p:nvSpPr>
            <p:spPr>
              <a:xfrm>
                <a:off x="571500" y="4443681"/>
                <a:ext cx="11049000" cy="381000"/>
              </a:xfrm>
              <a:prstGeom prst="rect">
                <a:avLst/>
              </a:prstGeom>
              <a:noFill/>
              <a:ln w="0">
                <a:noFill/>
              </a:ln>
            </p:spPr>
            <p:txBody>
              <a:bodyPr anchor="ctr">
                <a:noAutofit/>
              </a:bodyPr>
              <a:lstStyle/>
              <a:p>
                <a:pPr algn="ctr">
                  <a:defRPr sz="1950" b="0">
                    <a:solidFill>
                      <a:srgbClr val="526276"/>
                    </a:solidFill>
                    <a:latin typeface="DejaVu Sans"/>
                    <a:ea typeface="DejaVu Sans"/>
                    <a:cs typeface="DejaVu Sans"/>
                  </a:defRPr>
                </a:pPr>
                <a14:m>
                  <m:oMath xmlns:m="http://schemas.openxmlformats.org/officeDocument/2006/math">
                    <m:r>
                      <a:rPr lang="en-GB" sz="1950" b="0" i="1" smtClean="0">
                        <a:solidFill>
                          <a:srgbClr val="FF0000"/>
                        </a:solidFill>
                        <a:latin typeface="Cambria Math" panose="02040503050406030204" pitchFamily="18" charset="0"/>
                        <a:ea typeface="DejaVu Sans"/>
                        <a:cs typeface="DejaVu Sans"/>
                      </a:rPr>
                      <m:t>𝑓</m:t>
                    </m:r>
                  </m:oMath>
                </a14:m>
                <a:r>
                  <a:rPr lang="en-GB" sz="1950" b="0" dirty="0">
                    <a:solidFill>
                      <a:srgbClr val="FF0000"/>
                    </a:solidFill>
                    <a:latin typeface="DejaVu Sans"/>
                    <a:ea typeface="DejaVu Sans"/>
                    <a:cs typeface="DejaVu Sans"/>
                  </a:rPr>
                  <a:t> is still an affine function </a:t>
                </a:r>
                <a:r>
                  <a:rPr lang="en-GB" sz="1950" b="0" dirty="0">
                    <a:solidFill>
                      <a:srgbClr val="526276"/>
                    </a:solidFill>
                    <a:latin typeface="DejaVu Sans"/>
                    <a:ea typeface="DejaVu Sans"/>
                    <a:cs typeface="DejaVu Sans"/>
                  </a:rPr>
                  <a:t>with equivalent weight column and bias:</a:t>
                </a:r>
                <a:endParaRPr sz="1950" b="0" dirty="0">
                  <a:solidFill>
                    <a:srgbClr val="526276"/>
                  </a:solidFill>
                  <a:latin typeface="DejaVu Sans"/>
                  <a:ea typeface="DejaVu Sans"/>
                  <a:cs typeface="DejaVu Sans"/>
                </a:endParaRPr>
              </a:p>
            </p:txBody>
          </p:sp>
        </mc:Choice>
        <mc:Fallback xmlns="">
          <p:sp>
            <p:nvSpPr>
              <p:cNvPr id="7" name="equivalent_label">
                <a:extLst>
                  <a:ext uri="{FF2B5EF4-FFF2-40B4-BE49-F238E27FC236}">
                    <a16:creationId xmlns:a16="http://schemas.microsoft.com/office/drawing/2014/main" id="{59E9C586-E5E2-4240-BB2B-60EC4D7A40B5}"/>
                  </a:ext>
                </a:extLst>
              </p:cNvPr>
              <p:cNvSpPr>
                <a:spLocks noGrp="1" noRot="1" noChangeAspect="1" noMove="1" noResize="1" noEditPoints="1" noAdjustHandles="1" noChangeArrowheads="1" noChangeShapeType="1" noTextEdit="1"/>
              </p:cNvSpPr>
              <p:nvPr/>
            </p:nvSpPr>
            <p:spPr>
              <a:xfrm>
                <a:off x="571500" y="4443681"/>
                <a:ext cx="11049000" cy="381000"/>
              </a:xfrm>
              <a:prstGeom prst="rect">
                <a:avLst/>
              </a:prstGeom>
              <a:blipFill>
                <a:blip r:embed="rId6"/>
                <a:stretch>
                  <a:fillRect t="-9677" b="-3064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equivalent_parameters" descr="\widetilde{\mathbf{w}}:=\mathbf{W}\mathbf{w}_{\mathrm{out}}\in\mathbb{R}^{d\times1},\qquad\widetilde{b}:=\mathbf{b}\mathbf{w}_{\mathrm{out}}+b_{\mathrm{out}}\in\mathbb{R}">
                <a:extLst>
                  <a:ext uri="{FF2B5EF4-FFF2-40B4-BE49-F238E27FC236}">
                    <a16:creationId xmlns:a16="http://schemas.microsoft.com/office/drawing/2014/main" id="{15AB1EBB-5E18-4E7C-8F85-573E70740E26}"/>
                  </a:ext>
                </a:extLst>
              </p:cNvPr>
              <p:cNvSpPr>
                <a:spLocks noGrp="1"/>
              </p:cNvSpPr>
              <p:nvPr/>
            </p:nvSpPr>
            <p:spPr>
              <a:xfrm>
                <a:off x="428625" y="4843731"/>
                <a:ext cx="11334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acc>
                        <m:accPr>
                          <m:chr m:val="̃"/>
                          <m:ctrlPr>
                            <a:rPr lang="en-GB" sz="2700">
                              <a:solidFill>
                                <a:srgbClr val="087F83"/>
                              </a:solidFill>
                              <a:latin typeface="Cambria Math"/>
                              <a:ea typeface="Cambria Math"/>
                              <a:cs typeface="Cambria Math"/>
                            </a:rPr>
                          </m:ctrlPr>
                        </m:accPr>
                        <m:e>
                          <m:r>
                            <a:rPr lang="en-GB" sz="2700">
                              <a:solidFill>
                                <a:srgbClr val="087F83"/>
                              </a:solidFill>
                              <a:latin typeface="Cambria Math"/>
                              <a:ea typeface="Cambria Math"/>
                              <a:cs typeface="Cambria Math"/>
                            </a:rPr>
                            <m:t>𝐰</m:t>
                          </m:r>
                        </m:e>
                      </m:acc>
                      <m:r>
                        <a:rPr lang="it-IT" sz="2700" i="1">
                          <a:solidFill>
                            <a:srgbClr val="087F83"/>
                          </a:solidFill>
                          <a:latin typeface="Cambria Math" panose="02040503050406030204" pitchFamily="18" charset="0"/>
                        </a:rPr>
                        <m:t>≔</m:t>
                      </m:r>
                      <m:r>
                        <a:rPr lang="en-GB" sz="2700">
                          <a:solidFill>
                            <a:srgbClr val="087F83"/>
                          </a:solidFill>
                          <a:latin typeface="Cambria Math"/>
                          <a:ea typeface="Cambria Math"/>
                          <a:cs typeface="Cambria Math"/>
                        </a:rPr>
                        <m:t>𝐖</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𝐰</m:t>
                          </m:r>
                        </m:e>
                        <m:sub>
                          <m:r>
                            <m:rPr>
                              <m:sty m:val="p"/>
                            </m:rPr>
                            <a:rPr lang="en-GB" sz="2700">
                              <a:solidFill>
                                <a:srgbClr val="087F83"/>
                              </a:solidFill>
                              <a:latin typeface="Cambria Math"/>
                              <a:ea typeface="Cambria Math"/>
                              <a:cs typeface="Cambria Math"/>
                            </a:rPr>
                            <m:t>out</m:t>
                          </m:r>
                        </m:sub>
                      </m:sSub>
                      <m:r>
                        <a:rPr lang="en-GB" sz="2700">
                          <a:solidFill>
                            <a:srgbClr val="087F83"/>
                          </a:solidFill>
                          <a:latin typeface="Cambria Math"/>
                          <a:ea typeface="Cambria Math"/>
                          <a:cs typeface="Cambria Math"/>
                        </a:rPr>
                        <m:t>∈</m:t>
                      </m:r>
                      <m:sSup>
                        <m:sSupPr>
                          <m:ctrlPr>
                            <a:rPr lang="en-GB" sz="2700">
                              <a:solidFill>
                                <a:srgbClr val="087F83"/>
                              </a:solidFill>
                              <a:latin typeface="Cambria Math"/>
                              <a:ea typeface="Cambria Math"/>
                              <a:cs typeface="Cambria Math"/>
                            </a:rPr>
                          </m:ctrlPr>
                        </m:sSupPr>
                        <m:e>
                          <m:r>
                            <a:rPr lang="en-GB" sz="2700">
                              <a:solidFill>
                                <a:srgbClr val="087F83"/>
                              </a:solidFill>
                              <a:latin typeface="Cambria Math"/>
                              <a:ea typeface="Cambria Math"/>
                              <a:cs typeface="Cambria Math"/>
                            </a:rPr>
                            <m:t>ℝ</m:t>
                          </m:r>
                        </m:e>
                        <m:sup>
                          <m:r>
                            <a:rPr lang="en-GB" sz="2700">
                              <a:solidFill>
                                <a:srgbClr val="087F83"/>
                              </a:solidFill>
                              <a:latin typeface="Cambria Math"/>
                              <a:ea typeface="Cambria Math"/>
                              <a:cs typeface="Cambria Math"/>
                            </a:rPr>
                            <m:t>𝑑</m:t>
                          </m:r>
                          <m:r>
                            <a:rPr lang="en-GB" sz="2700">
                              <a:solidFill>
                                <a:srgbClr val="087F83"/>
                              </a:solidFill>
                              <a:latin typeface="Cambria Math"/>
                              <a:ea typeface="Cambria Math"/>
                              <a:cs typeface="Cambria Math"/>
                            </a:rPr>
                            <m:t>×1</m:t>
                          </m:r>
                        </m:sup>
                      </m:sSup>
                      <m:r>
                        <a:rPr lang="en-GB" sz="2700">
                          <a:solidFill>
                            <a:srgbClr val="087F83"/>
                          </a:solidFill>
                          <a:latin typeface="Cambria Math"/>
                          <a:ea typeface="Cambria Math"/>
                          <a:cs typeface="Cambria Math"/>
                        </a:rPr>
                        <m:t>,  </m:t>
                      </m:r>
                      <m:acc>
                        <m:accPr>
                          <m:chr m:val="̃"/>
                          <m:ctrlPr>
                            <a:rPr lang="en-GB" sz="2700">
                              <a:solidFill>
                                <a:srgbClr val="087F83"/>
                              </a:solidFill>
                              <a:latin typeface="Cambria Math"/>
                              <a:ea typeface="Cambria Math"/>
                              <a:cs typeface="Cambria Math"/>
                            </a:rPr>
                          </m:ctrlPr>
                        </m:accPr>
                        <m:e>
                          <m:r>
                            <a:rPr lang="en-GB" sz="2700">
                              <a:solidFill>
                                <a:srgbClr val="087F83"/>
                              </a:solidFill>
                              <a:latin typeface="Cambria Math"/>
                              <a:ea typeface="Cambria Math"/>
                              <a:cs typeface="Cambria Math"/>
                            </a:rPr>
                            <m:t>𝑏</m:t>
                          </m:r>
                        </m:e>
                      </m:acc>
                      <m:r>
                        <a:rPr lang="it-IT" sz="2700" i="1">
                          <a:solidFill>
                            <a:srgbClr val="087F83"/>
                          </a:solidFill>
                          <a:latin typeface="Cambria Math" panose="02040503050406030204" pitchFamily="18" charset="0"/>
                        </a:rPr>
                        <m:t>≔</m:t>
                      </m:r>
                      <m:r>
                        <a:rPr lang="en-GB" sz="2700">
                          <a:solidFill>
                            <a:srgbClr val="087F83"/>
                          </a:solidFill>
                          <a:latin typeface="Cambria Math"/>
                          <a:ea typeface="Cambria Math"/>
                          <a:cs typeface="Cambria Math"/>
                        </a:rPr>
                        <m:t>𝐛</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𝐰</m:t>
                          </m:r>
                        </m:e>
                        <m:sub>
                          <m:r>
                            <m:rPr>
                              <m:sty m:val="p"/>
                            </m:rPr>
                            <a:rPr lang="en-GB" sz="2700">
                              <a:solidFill>
                                <a:srgbClr val="087F83"/>
                              </a:solidFill>
                              <a:latin typeface="Cambria Math"/>
                              <a:ea typeface="Cambria Math"/>
                              <a:cs typeface="Cambria Math"/>
                            </a:rPr>
                            <m:t>out</m:t>
                          </m:r>
                        </m:sub>
                      </m:sSub>
                      <m:r>
                        <a:rPr lang="en-GB" sz="2700">
                          <a:solidFill>
                            <a:srgbClr val="087F83"/>
                          </a:solidFill>
                          <a:latin typeface="Cambria Math"/>
                          <a:ea typeface="Cambria Math"/>
                          <a:cs typeface="Cambria Math"/>
                        </a:rPr>
                        <m:t>+</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𝑏</m:t>
                          </m:r>
                        </m:e>
                        <m:sub>
                          <m:r>
                            <m:rPr>
                              <m:sty m:val="p"/>
                            </m:rPr>
                            <a:rPr lang="en-GB" sz="2700">
                              <a:solidFill>
                                <a:srgbClr val="087F83"/>
                              </a:solidFill>
                              <a:latin typeface="Cambria Math"/>
                              <a:ea typeface="Cambria Math"/>
                              <a:cs typeface="Cambria Math"/>
                            </a:rPr>
                            <m:t>out</m:t>
                          </m:r>
                        </m:sub>
                      </m:sSub>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ℝ</m:t>
                      </m:r>
                    </m:oMath>
                  </m:oMathPara>
                </a14:m>
                <a:endParaRPr lang="en-GB" sz="2700" dirty="0"/>
              </a:p>
            </p:txBody>
          </p:sp>
        </mc:Choice>
        <mc:Fallback xmlns="">
          <p:sp>
            <p:nvSpPr>
              <p:cNvPr id="8" name="equivalent_parameters" descr="\widetilde{\mathbf{w}}:=\mathbf{W}\mathbf{w}_{\mathrm{out}}\in\mathbb{R}^{d\times1},\qquad\widetilde{b}:=\mathbf{b}\mathbf{w}_{\mathrm{out}}+b_{\mathrm{out}}\in\mathbb{R}">
                <a:extLst>
                  <a:ext uri="{FF2B5EF4-FFF2-40B4-BE49-F238E27FC236}">
                    <a16:creationId xmlns:a16="http://schemas.microsoft.com/office/drawing/2014/main" id="{15AB1EBB-5E18-4E7C-8F85-573E70740E26}"/>
                  </a:ext>
                </a:extLst>
              </p:cNvPr>
              <p:cNvSpPr>
                <a:spLocks noGrp="1" noRot="1" noChangeAspect="1" noMove="1" noResize="1" noEditPoints="1" noAdjustHandles="1" noChangeArrowheads="1" noChangeShapeType="1" noTextEdit="1"/>
              </p:cNvSpPr>
              <p:nvPr/>
            </p:nvSpPr>
            <p:spPr>
              <a:xfrm>
                <a:off x="428625" y="4843731"/>
                <a:ext cx="11334750" cy="619125"/>
              </a:xfrm>
              <a:prstGeom prst="rect">
                <a:avLst/>
              </a:prstGeom>
              <a:blipFill>
                <a:blip r:embed="rId7"/>
                <a:stretch>
                  <a:fillRect/>
                </a:stretch>
              </a:blipFill>
              <a:ln w="0">
                <a:noFill/>
              </a:ln>
            </p:spPr>
            <p:txBody>
              <a:bodyPr/>
              <a:lstStyle/>
              <a:p>
                <a:r>
                  <a:rPr lang="it-IT">
                    <a:noFill/>
                  </a:rPr>
                  <a:t> </a:t>
                </a:r>
              </a:p>
            </p:txBody>
          </p:sp>
        </mc:Fallback>
      </mc:AlternateContent>
      <p:sp>
        <p:nvSpPr>
          <p:cNvPr id="10" name="iteration">
            <a:extLst>
              <a:ext uri="{FF2B5EF4-FFF2-40B4-BE49-F238E27FC236}">
                <a16:creationId xmlns:a16="http://schemas.microsoft.com/office/drawing/2014/main" id="{2C03BEC4-67D8-4F8A-884A-6CB3567241F3}"/>
              </a:ext>
            </a:extLst>
          </p:cNvPr>
          <p:cNvSpPr>
            <a:spLocks noGrp="1"/>
          </p:cNvSpPr>
          <p:nvPr/>
        </p:nvSpPr>
        <p:spPr>
          <a:xfrm>
            <a:off x="523875" y="5545646"/>
            <a:ext cx="11144250" cy="409575"/>
          </a:xfrm>
          <a:prstGeom prst="rect">
            <a:avLst/>
          </a:prstGeom>
          <a:noFill/>
          <a:ln w="0">
            <a:noFill/>
          </a:ln>
        </p:spPr>
        <p:txBody>
          <a:bodyPr anchor="ctr" wrap="none" lIns="0" rIns="0" tIns="0" bIns="0">
            <a:noAutofit/>
          </a:bodyPr>
          <a:lstStyle/>
          <a:p>
            <a:pPr algn="ctr"/>
            <a:r>
              <a:rPr lang="en-GB" sz="1875" b="0">
                <a:solidFill>
                  <a:srgbClr val="526276"/>
                </a:solidFill>
                <a:latin typeface="DejaVu Sans"/>
              </a:rPr>
              <a:t>Repeating the argument: </a:t>
            </a:r>
            <a:r>
              <a:rPr lang="en-GB" sz="1875" b="0">
                <a:solidFill>
                  <a:srgbClr val="FF0000"/>
                </a:solidFill>
                <a:latin typeface="DejaVu Sans"/>
              </a:rPr>
              <a:t>the composition of any number of affine maps remains affine.</a:t>
            </a:r>
            <a:endParaRPr lang="en-GB" sz="1875"/>
          </a:p>
        </p:txBody>
      </p:sp>
      <p:sp>
        <p:nvSpPr>
          <p:cNvPr id="11" name="nonlinearity">
            <a:extLst>
              <a:ext uri="{FF2B5EF4-FFF2-40B4-BE49-F238E27FC236}">
                <a16:creationId xmlns:a16="http://schemas.microsoft.com/office/drawing/2014/main" id="{7D534D4B-B82E-4E82-9E36-2FACFDA9F055}"/>
              </a:ext>
            </a:extLst>
          </p:cNvPr>
          <p:cNvSpPr>
            <a:spLocks noGrp="1"/>
          </p:cNvSpPr>
          <p:nvPr/>
        </p:nvSpPr>
        <p:spPr>
          <a:xfrm>
            <a:off x="571500" y="5987225"/>
            <a:ext cx="11049000" cy="333375"/>
          </a:xfrm>
          <a:prstGeom prst="rect">
            <a:avLst/>
          </a:prstGeom>
          <a:noFill/>
          <a:ln w="0">
            <a:noFill/>
          </a:ln>
        </p:spPr>
        <p:txBody>
          <a:bodyPr anchor="ctr">
            <a:noAutofit/>
          </a:bodyPr>
          <a:lstStyle/>
          <a:p>
            <a:pPr algn="ctr">
              <a:defRPr sz="1950" b="1">
                <a:solidFill>
                  <a:srgbClr val="182D45"/>
                </a:solidFill>
                <a:latin typeface="DejaVu Sans"/>
                <a:ea typeface="DejaVu Sans"/>
                <a:cs typeface="DejaVu Sans"/>
              </a:defRPr>
            </a:pPr>
            <a:r>
              <a:rPr sz="1950" b="1" dirty="0">
                <a:solidFill>
                  <a:srgbClr val="182D45"/>
                </a:solidFill>
                <a:latin typeface="DejaVu Sans"/>
                <a:ea typeface="DejaVu Sans"/>
                <a:cs typeface="DejaVu Sans"/>
              </a:rPr>
              <a:t>We need a </a:t>
            </a:r>
            <a:r>
              <a:rPr sz="1950" b="1" dirty="0">
                <a:solidFill>
                  <a:srgbClr val="FF0000"/>
                </a:solidFill>
                <a:latin typeface="DejaVu Sans"/>
                <a:ea typeface="DejaVu Sans"/>
                <a:cs typeface="DejaVu Sans"/>
              </a:rPr>
              <a:t>nonlinear</a:t>
            </a:r>
            <a:r>
              <a:rPr sz="1950" b="1" dirty="0">
                <a:solidFill>
                  <a:srgbClr val="182D45"/>
                </a:solidFill>
                <a:latin typeface="DejaVu Sans"/>
                <a:ea typeface="DejaVu Sans"/>
                <a:cs typeface="DejaVu Sans"/>
              </a:rPr>
              <a:t> operation </a:t>
            </a:r>
            <a:r>
              <a:rPr sz="1950" b="1" dirty="0">
                <a:solidFill>
                  <a:srgbClr val="FF0000"/>
                </a:solidFill>
                <a:latin typeface="DejaVu Sans"/>
                <a:ea typeface="DejaVu Sans"/>
                <a:cs typeface="DejaVu Sans"/>
              </a:rPr>
              <a:t>between</a:t>
            </a:r>
            <a:r>
              <a:rPr sz="1950" b="1" dirty="0">
                <a:solidFill>
                  <a:srgbClr val="182D45"/>
                </a:solidFill>
                <a:latin typeface="DejaVu Sans"/>
                <a:ea typeface="DejaVu Sans"/>
                <a:cs typeface="DejaVu Sans"/>
              </a:rPr>
              <a:t> the affine </a:t>
            </a:r>
            <a:r>
              <a:rPr lang="it-IT" sz="1950" b="1" dirty="0" err="1">
                <a:solidFill>
                  <a:srgbClr val="182D45"/>
                </a:solidFill>
                <a:latin typeface="DejaVu Sans"/>
                <a:ea typeface="DejaVu Sans"/>
                <a:cs typeface="DejaVu Sans"/>
              </a:rPr>
              <a:t>maps</a:t>
            </a:r>
            <a:r>
              <a:rPr sz="1950" b="1" dirty="0">
                <a:solidFill>
                  <a:srgbClr val="182D45"/>
                </a:solidFill>
                <a:latin typeface="DejaVu Sans"/>
                <a:ea typeface="DejaVu Sans"/>
                <a:cs typeface="DejaVu Sans"/>
              </a:rPr>
              <a:t>.</a:t>
            </a:r>
          </a:p>
        </p:txBody>
      </p:sp>
      <p:sp>
        <p:nvSpPr>
          <p:cNvPr id="12" name="footer_course">
            <a:extLst>
              <a:ext uri="{FF2B5EF4-FFF2-40B4-BE49-F238E27FC236}">
                <a16:creationId xmlns:a16="http://schemas.microsoft.com/office/drawing/2014/main" id="{E1D5C1FF-6B4B-48F2-BE9B-20E14A3FC3FA}"/>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13" name="footer_number">
            <a:extLst>
              <a:ext uri="{FF2B5EF4-FFF2-40B4-BE49-F238E27FC236}">
                <a16:creationId xmlns:a16="http://schemas.microsoft.com/office/drawing/2014/main" id="{993E3ACF-6EA0-474C-9675-F60A4D3EC7B6}"/>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7</a:t>
            </a:r>
          </a:p>
        </p:txBody>
      </p:sp>
      <mc:AlternateContent xmlns:mc="http://schemas.openxmlformats.org/markup-compatibility/2006" xmlns:a14="http://schemas.microsoft.com/office/drawing/2010/main">
        <mc:Choice Requires="a14">
          <p:sp>
            <p:nvSpPr>
              <p:cNvPr id="16" name="CasellaDiTesto 15">
                <a:extLst>
                  <a:ext uri="{FF2B5EF4-FFF2-40B4-BE49-F238E27FC236}">
                    <a16:creationId xmlns:a16="http://schemas.microsoft.com/office/drawing/2014/main" id="{F89E6674-9B53-9202-384A-C404C826508F}"/>
                  </a:ext>
                </a:extLst>
              </p:cNvPr>
              <p:cNvSpPr txBox="1"/>
              <p:nvPr/>
            </p:nvSpPr>
            <p:spPr>
              <a:xfrm>
                <a:off x="2884170" y="2561907"/>
                <a:ext cx="6094476" cy="523220"/>
              </a:xfrm>
              <a:prstGeom prst="rect">
                <a:avLst/>
              </a:prstGeom>
              <a:noFill/>
            </p:spPr>
            <p:txBody>
              <a:bodyPr wrap="square">
                <a:spAutoFit/>
              </a:bodyPr>
              <a:lstStyle/>
              <a:p>
                <a:pPr/>
                <a14:m>
                  <m:oMathPara xmlns:m="http://schemas.openxmlformats.org/officeDocument/2006/math">
                    <m:oMath>
                      <m:r>
                        <a:rPr lang="en-GB" sz="2800" smtClean="0">
                          <a:solidFill>
                            <a:srgbClr val="087F83"/>
                          </a:solidFill>
                          <a:latin typeface="Cambria Math"/>
                          <a:ea typeface="Cambria Math"/>
                          <a:cs typeface="Cambria Math"/>
                        </a:rPr>
                        <m:t>𝑓</m:t>
                      </m:r>
                      <m:r>
                        <a:rPr lang="en-GB" sz="2800" smtClean="0">
                          <a:solidFill>
                            <a:srgbClr val="087F83"/>
                          </a:solidFill>
                          <a:latin typeface="Cambria Math"/>
                          <a:ea typeface="Cambria Math"/>
                          <a:cs typeface="Cambria Math"/>
                        </a:rPr>
                        <m:t>(</m:t>
                      </m:r>
                      <m:r>
                        <a:rPr lang="en-GB" sz="2800" smtClean="0">
                          <a:solidFill>
                            <a:srgbClr val="087F83"/>
                          </a:solidFill>
                          <a:latin typeface="Cambria Math"/>
                          <a:ea typeface="Cambria Math"/>
                          <a:cs typeface="Cambria Math"/>
                        </a:rPr>
                        <m:t>𝐱</m:t>
                      </m:r>
                      <m:r>
                        <a:rPr lang="en-GB" sz="2800" smtClean="0">
                          <a:solidFill>
                            <a:srgbClr val="087F83"/>
                          </a:solidFill>
                          <a:latin typeface="Cambria Math"/>
                          <a:ea typeface="Cambria Math"/>
                          <a:cs typeface="Cambria Math"/>
                        </a:rPr>
                        <m:t>)=</m:t>
                      </m:r>
                      <m:r>
                        <a:rPr lang="en-GB" sz="2800" smtClean="0">
                          <a:solidFill>
                            <a:srgbClr val="087F83"/>
                          </a:solidFill>
                          <a:latin typeface="Cambria Math"/>
                          <a:ea typeface="Cambria Math"/>
                          <a:cs typeface="Cambria Math"/>
                        </a:rPr>
                        <m:t>𝛟</m:t>
                      </m:r>
                      <m:r>
                        <a:rPr lang="en-GB" sz="2800" smtClean="0">
                          <a:solidFill>
                            <a:srgbClr val="087F83"/>
                          </a:solidFill>
                          <a:latin typeface="Cambria Math"/>
                          <a:ea typeface="Cambria Math"/>
                          <a:cs typeface="Cambria Math"/>
                        </a:rPr>
                        <m:t>(</m:t>
                      </m:r>
                      <m:r>
                        <a:rPr lang="en-GB" sz="2800" smtClean="0">
                          <a:solidFill>
                            <a:srgbClr val="087F83"/>
                          </a:solidFill>
                          <a:latin typeface="Cambria Math"/>
                          <a:ea typeface="Cambria Math"/>
                          <a:cs typeface="Cambria Math"/>
                        </a:rPr>
                        <m:t>𝐱</m:t>
                      </m:r>
                      <m:r>
                        <a:rPr lang="en-GB" sz="2800" smtClean="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𝐰</m:t>
                          </m:r>
                        </m:e>
                        <m:sub>
                          <m:r>
                            <m:rPr>
                              <m:sty m:val="p"/>
                            </m:rPr>
                            <a:rPr lang="en-GB" sz="2800">
                              <a:solidFill>
                                <a:srgbClr val="087F83"/>
                              </a:solidFill>
                              <a:latin typeface="Cambria Math"/>
                              <a:ea typeface="Cambria Math"/>
                              <a:cs typeface="Cambria Math"/>
                            </a:rPr>
                            <m:t>out</m:t>
                          </m:r>
                        </m:sub>
                      </m:sSub>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𝑏</m:t>
                          </m:r>
                        </m:e>
                        <m:sub>
                          <m:r>
                            <m:rPr>
                              <m:sty m:val="p"/>
                            </m:rPr>
                            <a:rPr lang="en-GB" sz="2800">
                              <a:solidFill>
                                <a:srgbClr val="087F83"/>
                              </a:solidFill>
                              <a:latin typeface="Cambria Math"/>
                              <a:ea typeface="Cambria Math"/>
                              <a:cs typeface="Cambria Math"/>
                            </a:rPr>
                            <m:t>out</m:t>
                          </m:r>
                        </m:sub>
                      </m:sSub>
                    </m:oMath>
                  </m:oMathPara>
                </a14:m>
                <a:endParaRPr lang="it-IT" dirty="0"/>
              </a:p>
            </p:txBody>
          </p:sp>
        </mc:Choice>
        <mc:Fallback xmlns="">
          <p:sp>
            <p:nvSpPr>
              <p:cNvPr id="16" name="CasellaDiTesto 15">
                <a:extLst>
                  <a:ext uri="{FF2B5EF4-FFF2-40B4-BE49-F238E27FC236}">
                    <a16:creationId xmlns:a16="http://schemas.microsoft.com/office/drawing/2014/main" id="{F89E6674-9B53-9202-384A-C404C826508F}"/>
                  </a:ext>
                </a:extLst>
              </p:cNvPr>
              <p:cNvSpPr txBox="1">
                <a:spLocks noRot="1" noChangeAspect="1" noMove="1" noResize="1" noEditPoints="1" noAdjustHandles="1" noChangeArrowheads="1" noChangeShapeType="1" noTextEdit="1"/>
              </p:cNvSpPr>
              <p:nvPr/>
            </p:nvSpPr>
            <p:spPr>
              <a:xfrm>
                <a:off x="2884170" y="2561907"/>
                <a:ext cx="6094476" cy="523220"/>
              </a:xfrm>
              <a:prstGeom prst="rect">
                <a:avLst/>
              </a:prstGeom>
              <a:blipFill>
                <a:blip r:embed="rId8"/>
                <a:stretch>
                  <a:fillRect/>
                </a:stretch>
              </a:blipFill>
            </p:spPr>
            <p:txBody>
              <a:bodyPr/>
              <a:lstStyle/>
              <a:p>
                <a:r>
                  <a:rPr lang="it-IT">
                    <a:noFill/>
                  </a:rPr>
                  <a:t> </a:t>
                </a:r>
              </a:p>
            </p:txBody>
          </p:sp>
        </mc:Fallback>
      </mc:AlternateContent>
    </p:spTree>
    <p:extLst>
      <p:ext uri="{BB962C8B-B14F-4D97-AF65-F5344CB8AC3E}">
        <p14:creationId xmlns:p14="http://schemas.microsoft.com/office/powerpoint/2010/main" val="108905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63992A9E-00F2-4C6F-BC77-E53D9B405666}"/>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The </a:t>
            </a:r>
            <a:r>
              <a:rPr sz="3300" b="1" dirty="0" err="1">
                <a:solidFill>
                  <a:srgbClr val="182D45"/>
                </a:solidFill>
                <a:latin typeface="DejaVu Sans"/>
                <a:ea typeface="DejaVu Sans"/>
                <a:cs typeface="DejaVu Sans"/>
              </a:rPr>
              <a:t>ReLU</a:t>
            </a:r>
            <a:r>
              <a:rPr sz="3300" b="1" dirty="0">
                <a:solidFill>
                  <a:srgbClr val="182D45"/>
                </a:solidFill>
                <a:latin typeface="DejaVu Sans"/>
                <a:ea typeface="DejaVu Sans"/>
                <a:cs typeface="DejaVu Sans"/>
              </a:rPr>
              <a:t> </a:t>
            </a:r>
            <a:r>
              <a:rPr lang="it-IT" sz="3300" b="1" dirty="0" err="1">
                <a:solidFill>
                  <a:srgbClr val="182D45"/>
                </a:solidFill>
                <a:latin typeface="DejaVu Sans"/>
                <a:ea typeface="DejaVu Sans"/>
                <a:cs typeface="DejaVu Sans"/>
              </a:rPr>
              <a:t>activation</a:t>
            </a:r>
            <a:r>
              <a:rPr lang="it-IT" sz="3300" b="1" dirty="0">
                <a:solidFill>
                  <a:srgbClr val="182D45"/>
                </a:solidFill>
                <a:latin typeface="DejaVu Sans"/>
                <a:ea typeface="DejaVu Sans"/>
                <a:cs typeface="DejaVu Sans"/>
              </a:rPr>
              <a:t> </a:t>
            </a:r>
            <a:r>
              <a:rPr sz="3300" b="1" dirty="0">
                <a:solidFill>
                  <a:srgbClr val="182D45"/>
                </a:solidFill>
                <a:latin typeface="DejaVu Sans"/>
                <a:ea typeface="DejaVu Sans"/>
                <a:cs typeface="DejaVu Sans"/>
              </a:rPr>
              <a:t>function</a:t>
            </a:r>
          </a:p>
        </p:txBody>
      </p:sp>
      <p:sp>
        <p:nvSpPr>
          <p:cNvPr id="2" name="lead">
            <a:extLst>
              <a:ext uri="{FF2B5EF4-FFF2-40B4-BE49-F238E27FC236}">
                <a16:creationId xmlns:a16="http://schemas.microsoft.com/office/drawing/2014/main" id="{50462555-B3BD-486A-887B-89E013202D0F}"/>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We now apply a </a:t>
            </a:r>
            <a:r>
              <a:rPr sz="2175" b="0" dirty="0">
                <a:solidFill>
                  <a:srgbClr val="FF0000"/>
                </a:solidFill>
                <a:latin typeface="DejaVu Sans"/>
                <a:ea typeface="DejaVu Sans"/>
                <a:cs typeface="DejaVu Sans"/>
              </a:rPr>
              <a:t>nonlinear</a:t>
            </a:r>
            <a:r>
              <a:rPr sz="2175" b="0" dirty="0">
                <a:solidFill>
                  <a:srgbClr val="526276"/>
                </a:solidFill>
                <a:latin typeface="DejaVu Sans"/>
                <a:ea typeface="DejaVu Sans"/>
                <a:cs typeface="DejaVu Sans"/>
              </a:rPr>
              <a:t> function to each affine value.</a:t>
            </a:r>
            <a:endParaRPr lang="it-IT" sz="2175" b="0" dirty="0">
              <a:solidFill>
                <a:srgbClr val="526276"/>
              </a:solidFill>
              <a:latin typeface="DejaVu Sans"/>
              <a:ea typeface="DejaVu Sans"/>
              <a:cs typeface="DejaVu Sans"/>
            </a:endParaRPr>
          </a:p>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We use </a:t>
            </a:r>
            <a:r>
              <a:rPr sz="2175" b="0" dirty="0" err="1">
                <a:solidFill>
                  <a:srgbClr val="FF0000"/>
                </a:solidFill>
                <a:latin typeface="DejaVu Sans"/>
                <a:ea typeface="DejaVu Sans"/>
                <a:cs typeface="DejaVu Sans"/>
              </a:rPr>
              <a:t>ReLU</a:t>
            </a:r>
            <a:r>
              <a:rPr lang="it-IT" sz="2175" b="0" dirty="0">
                <a:solidFill>
                  <a:srgbClr val="526276"/>
                </a:solidFill>
                <a:latin typeface="DejaVu Sans"/>
                <a:ea typeface="DejaVu Sans"/>
                <a:cs typeface="DejaVu Sans"/>
              </a:rPr>
              <a:t> (short for </a:t>
            </a:r>
            <a:r>
              <a:rPr lang="it-IT" sz="2175" dirty="0" err="1">
                <a:solidFill>
                  <a:srgbClr val="526276"/>
                </a:solidFill>
                <a:latin typeface="DejaVu Sans"/>
              </a:rPr>
              <a:t>Rectified</a:t>
            </a:r>
            <a:r>
              <a:rPr lang="it-IT" sz="2175" dirty="0">
                <a:solidFill>
                  <a:srgbClr val="526276"/>
                </a:solidFill>
                <a:latin typeface="DejaVu Sans"/>
              </a:rPr>
              <a:t> Linear Unit</a:t>
            </a:r>
            <a:r>
              <a:rPr lang="it-IT" sz="2175" b="0" dirty="0">
                <a:solidFill>
                  <a:srgbClr val="526276"/>
                </a:solidFill>
                <a:latin typeface="DejaVu Sans"/>
                <a:ea typeface="DejaVu Sans"/>
                <a:cs typeface="DejaVu Sans"/>
              </a:rPr>
              <a:t>)</a:t>
            </a:r>
            <a:r>
              <a:rPr sz="2175" b="0" dirty="0">
                <a:solidFill>
                  <a:srgbClr val="526276"/>
                </a:solidFill>
                <a:latin typeface="DejaVu Sans"/>
                <a:ea typeface="DejaVu Sans"/>
                <a:cs typeface="DejaVu Sans"/>
              </a:rPr>
              <a:t>.</a:t>
            </a:r>
          </a:p>
        </p:txBody>
      </p:sp>
      <p:sp>
        <p:nvSpPr>
          <p:cNvPr id="3" name="footer_course">
            <a:extLst>
              <a:ext uri="{FF2B5EF4-FFF2-40B4-BE49-F238E27FC236}">
                <a16:creationId xmlns:a16="http://schemas.microsoft.com/office/drawing/2014/main" id="{7FDBECB4-03BE-4B05-9BF2-6ABCC042F4D4}"/>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C9EFF6A7-3496-48B1-8828-7C4F065DDE01}"/>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8</a:t>
            </a:r>
          </a:p>
        </p:txBody>
      </p:sp>
      <p:graphicFrame>
        <p:nvGraphicFramePr>
          <p:cNvPr id="14" name="Chart"/>
          <p:cNvGraphicFramePr/>
          <p:nvPr/>
        </p:nvGraphicFramePr>
        <p:xfrm>
          <a:off x="6191250" y="1924050"/>
          <a:ext cx="5238750" cy="35052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_1">
            <a:extLst>
              <a:ext uri="{FF2B5EF4-FFF2-40B4-BE49-F238E27FC236}">
                <a16:creationId xmlns:a16="http://schemas.microsoft.com/office/drawing/2014/main" id="{9635BE8C-6454-4534-B8D2-E455D836947C}"/>
              </a:ext>
            </a:extLst>
          </p:cNvPr>
          <p:cNvSpPr>
            <a:spLocks noGrp="1"/>
          </p:cNvSpPr>
          <p:nvPr/>
        </p:nvSpPr>
        <p:spPr>
          <a:xfrm>
            <a:off x="8215313" y="5205222"/>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a</a:t>
            </a:r>
          </a:p>
        </p:txBody>
      </p:sp>
      <mc:AlternateContent xmlns:mc="http://schemas.openxmlformats.org/markup-compatibility/2006" xmlns:a14="http://schemas.microsoft.com/office/drawing/2010/main">
        <mc:Choice Requires="a14">
          <p:sp>
            <p:nvSpPr>
              <p:cNvPr id="7" name="equation_2" descr="\operatorname{ReLU}(a)=\max\{0,a\}">
                <a:extLst>
                  <a:ext uri="{FF2B5EF4-FFF2-40B4-BE49-F238E27FC236}">
                    <a16:creationId xmlns:a16="http://schemas.microsoft.com/office/drawing/2014/main" id="{3E04E679-9EC3-4209-B7A7-CE629F99103E}"/>
                  </a:ext>
                </a:extLst>
              </p:cNvPr>
              <p:cNvSpPr>
                <a:spLocks noGrp="1"/>
              </p:cNvSpPr>
              <p:nvPr/>
            </p:nvSpPr>
            <p:spPr>
              <a:xfrm>
                <a:off x="457200" y="2238375"/>
                <a:ext cx="5286375"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3000">
                          <a:solidFill>
                            <a:srgbClr val="087F83"/>
                          </a:solidFill>
                          <a:latin typeface="Cambria Math"/>
                          <a:ea typeface="Cambria Math"/>
                          <a:cs typeface="Cambria Math"/>
                        </a:rPr>
                        <m:t>ReLU</m:t>
                      </m:r>
                      <m:r>
                        <a:rPr lang="en-GB" sz="3000">
                          <a:solidFill>
                            <a:srgbClr val="087F83"/>
                          </a:solidFill>
                          <a:latin typeface="Cambria Math"/>
                          <a:ea typeface="Cambria Math"/>
                          <a:cs typeface="Cambria Math"/>
                        </a:rPr>
                        <m:t>(</m:t>
                      </m:r>
                      <m:r>
                        <a:rPr lang="en-GB" sz="3000">
                          <a:solidFill>
                            <a:srgbClr val="087F83"/>
                          </a:solidFill>
                          <a:latin typeface="Cambria Math"/>
                          <a:ea typeface="Cambria Math"/>
                          <a:cs typeface="Cambria Math"/>
                        </a:rPr>
                        <m:t>𝑎</m:t>
                      </m:r>
                      <m:r>
                        <a:rPr lang="en-GB" sz="3000">
                          <a:solidFill>
                            <a:srgbClr val="087F83"/>
                          </a:solidFill>
                          <a:latin typeface="Cambria Math"/>
                          <a:ea typeface="Cambria Math"/>
                          <a:cs typeface="Cambria Math"/>
                        </a:rPr>
                        <m:t>)=</m:t>
                      </m:r>
                      <m:r>
                        <m:rPr>
                          <m:sty m:val="p"/>
                        </m:rPr>
                        <a:rPr lang="en-GB" sz="3000">
                          <a:solidFill>
                            <a:srgbClr val="087F83"/>
                          </a:solidFill>
                          <a:latin typeface="Cambria Math"/>
                          <a:ea typeface="Cambria Math"/>
                          <a:cs typeface="Cambria Math"/>
                        </a:rPr>
                        <m:t>max</m:t>
                      </m:r>
                      <m:r>
                        <a:rPr lang="en-GB" sz="3000">
                          <a:solidFill>
                            <a:srgbClr val="087F83"/>
                          </a:solidFill>
                          <a:latin typeface="Cambria Math"/>
                          <a:ea typeface="Cambria Math"/>
                          <a:cs typeface="Cambria Math"/>
                        </a:rPr>
                        <m:t>{0,</m:t>
                      </m:r>
                      <m:r>
                        <a:rPr lang="en-GB" sz="3000">
                          <a:solidFill>
                            <a:srgbClr val="087F83"/>
                          </a:solidFill>
                          <a:latin typeface="Cambria Math"/>
                          <a:ea typeface="Cambria Math"/>
                          <a:cs typeface="Cambria Math"/>
                        </a:rPr>
                        <m:t>𝑎</m:t>
                      </m:r>
                      <m:r>
                        <a:rPr lang="en-GB" sz="3000">
                          <a:solidFill>
                            <a:srgbClr val="087F83"/>
                          </a:solidFill>
                          <a:latin typeface="Cambria Math"/>
                          <a:ea typeface="Cambria Math"/>
                          <a:cs typeface="Cambria Math"/>
                        </a:rPr>
                        <m:t>}</m:t>
                      </m:r>
                    </m:oMath>
                  </m:oMathPara>
                </a14:m>
                <a:endParaRPr lang="en-GB" sz="3000" dirty="0"/>
              </a:p>
            </p:txBody>
          </p:sp>
        </mc:Choice>
        <mc:Fallback xmlns="">
          <p:sp>
            <p:nvSpPr>
              <p:cNvPr id="7" name="equation_2" descr="\operatorname{ReLU}(a)=\max\{0,a\}">
                <a:extLst>
                  <a:ext uri="{FF2B5EF4-FFF2-40B4-BE49-F238E27FC236}">
                    <a16:creationId xmlns:a16="http://schemas.microsoft.com/office/drawing/2014/main" id="{3E04E679-9EC3-4209-B7A7-CE629F99103E}"/>
                  </a:ext>
                </a:extLst>
              </p:cNvPr>
              <p:cNvSpPr>
                <a:spLocks noGrp="1" noRot="1" noChangeAspect="1" noMove="1" noResize="1" noEditPoints="1" noAdjustHandles="1" noChangeArrowheads="1" noChangeShapeType="1" noTextEdit="1"/>
              </p:cNvSpPr>
              <p:nvPr/>
            </p:nvSpPr>
            <p:spPr>
              <a:xfrm>
                <a:off x="457200" y="2238375"/>
                <a:ext cx="5286375" cy="90487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equation_3" descr="=\begin{cases}0&amp;a\leq0\\a&amp;a&gt;0\end{cases}">
                <a:extLst>
                  <a:ext uri="{FF2B5EF4-FFF2-40B4-BE49-F238E27FC236}">
                    <a16:creationId xmlns:a16="http://schemas.microsoft.com/office/drawing/2014/main" id="{827CB886-D873-46C0-B657-F31FE45F09CE}"/>
                  </a:ext>
                </a:extLst>
              </p:cNvPr>
              <p:cNvSpPr>
                <a:spLocks noGrp="1"/>
              </p:cNvSpPr>
              <p:nvPr/>
            </p:nvSpPr>
            <p:spPr>
              <a:xfrm>
                <a:off x="457200" y="3305175"/>
                <a:ext cx="5286375" cy="1285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a:solidFill>
                            <a:srgbClr val="087F83"/>
                          </a:solidFill>
                          <a:latin typeface="Cambria Math"/>
                          <a:ea typeface="Cambria Math"/>
                          <a:cs typeface="Cambria Math"/>
                        </a:rPr>
                        <m:t>=</m:t>
                      </m:r>
                      <m:d>
                        <m:dPr>
                          <m:begChr m:val="{"/>
                          <m:endChr m:val=""/>
                          <m:ctrlPr>
                            <a:rPr lang="en-GB" sz="3000" i="1">
                              <a:solidFill>
                                <a:srgbClr val="087F83"/>
                              </a:solidFill>
                              <a:latin typeface="Cambria Math" panose="02040503050406030204" pitchFamily="18" charset="0"/>
                              <a:ea typeface="Cambria Math"/>
                              <a:cs typeface="Cambria Math"/>
                            </a:rPr>
                          </m:ctrlPr>
                        </m:dPr>
                        <m:e>
                          <m:m>
                            <m:mPr>
                              <m:mcs>
                                <m:mc>
                                  <m:mcPr>
                                    <m:count m:val="2"/>
                                    <m:mcJc m:val="center"/>
                                  </m:mcPr>
                                </m:mc>
                              </m:mcs>
                              <m:ctrlPr>
                                <a:rPr lang="en-GB" sz="3000" i="1">
                                  <a:solidFill>
                                    <a:srgbClr val="087F83"/>
                                  </a:solidFill>
                                  <a:latin typeface="Cambria Math" panose="02040503050406030204" pitchFamily="18" charset="0"/>
                                  <a:ea typeface="Cambria Math"/>
                                  <a:cs typeface="Cambria Math"/>
                                </a:rPr>
                              </m:ctrlPr>
                            </m:mPr>
                            <m:mr>
                              <m:e>
                                <m:r>
                                  <a:rPr lang="en-GB" sz="3000">
                                    <a:solidFill>
                                      <a:srgbClr val="087F83"/>
                                    </a:solidFill>
                                    <a:latin typeface="Cambria Math"/>
                                    <a:ea typeface="Cambria Math"/>
                                    <a:cs typeface="Cambria Math"/>
                                  </a:rPr>
                                  <m:t>0</m:t>
                                </m:r>
                              </m:e>
                              <m:e>
                                <m:r>
                                  <a:rPr lang="en-GB" sz="3000">
                                    <a:solidFill>
                                      <a:srgbClr val="087F83"/>
                                    </a:solidFill>
                                    <a:latin typeface="Cambria Math"/>
                                    <a:ea typeface="Cambria Math"/>
                                    <a:cs typeface="Cambria Math"/>
                                  </a:rPr>
                                  <m:t>𝑎</m:t>
                                </m:r>
                                <m:r>
                                  <a:rPr lang="en-GB" sz="3000">
                                    <a:solidFill>
                                      <a:srgbClr val="087F83"/>
                                    </a:solidFill>
                                    <a:latin typeface="Cambria Math"/>
                                    <a:ea typeface="Cambria Math"/>
                                    <a:cs typeface="Cambria Math"/>
                                  </a:rPr>
                                  <m:t>≤0</m:t>
                                </m:r>
                              </m:e>
                            </m:mr>
                            <m:mr>
                              <m:e>
                                <m:r>
                                  <a:rPr lang="en-GB" sz="3000">
                                    <a:solidFill>
                                      <a:srgbClr val="087F83"/>
                                    </a:solidFill>
                                    <a:latin typeface="Cambria Math"/>
                                    <a:ea typeface="Cambria Math"/>
                                    <a:cs typeface="Cambria Math"/>
                                  </a:rPr>
                                  <m:t>𝑎</m:t>
                                </m:r>
                              </m:e>
                              <m:e>
                                <m:r>
                                  <a:rPr lang="en-GB" sz="3000">
                                    <a:solidFill>
                                      <a:srgbClr val="087F83"/>
                                    </a:solidFill>
                                    <a:latin typeface="Cambria Math"/>
                                    <a:ea typeface="Cambria Math"/>
                                    <a:cs typeface="Cambria Math"/>
                                  </a:rPr>
                                  <m:t>𝑎</m:t>
                                </m:r>
                                <m:r>
                                  <a:rPr lang="en-GB" sz="3000">
                                    <a:solidFill>
                                      <a:srgbClr val="087F83"/>
                                    </a:solidFill>
                                    <a:latin typeface="Cambria Math"/>
                                    <a:ea typeface="Cambria Math"/>
                                    <a:cs typeface="Cambria Math"/>
                                  </a:rPr>
                                  <m:t>&gt;0</m:t>
                                </m:r>
                              </m:e>
                            </m:mr>
                          </m:m>
                        </m:e>
                      </m:d>
                    </m:oMath>
                  </m:oMathPara>
                </a14:m>
                <a:endParaRPr lang="en-GB" sz="3000" dirty="0"/>
              </a:p>
            </p:txBody>
          </p:sp>
        </mc:Choice>
        <mc:Fallback xmlns="">
          <p:sp>
            <p:nvSpPr>
              <p:cNvPr id="8" name="equation_3" descr="=\begin{cases}0&amp;a\leq0\\a&amp;a&gt;0\end{cases}">
                <a:extLst>
                  <a:ext uri="{FF2B5EF4-FFF2-40B4-BE49-F238E27FC236}">
                    <a16:creationId xmlns:a16="http://schemas.microsoft.com/office/drawing/2014/main" id="{827CB886-D873-46C0-B657-F31FE45F09CE}"/>
                  </a:ext>
                </a:extLst>
              </p:cNvPr>
              <p:cNvSpPr>
                <a:spLocks noGrp="1" noRot="1" noChangeAspect="1" noMove="1" noResize="1" noEditPoints="1" noAdjustHandles="1" noChangeArrowheads="1" noChangeShapeType="1" noTextEdit="1"/>
              </p:cNvSpPr>
              <p:nvPr/>
            </p:nvSpPr>
            <p:spPr>
              <a:xfrm>
                <a:off x="457200" y="3305175"/>
                <a:ext cx="5286375" cy="1285875"/>
              </a:xfrm>
              <a:prstGeom prst="rect">
                <a:avLst/>
              </a:prstGeom>
              <a:blipFill>
                <a:blip r:embed="rId5"/>
                <a:stretch>
                  <a:fillRect/>
                </a:stretch>
              </a:blipFill>
              <a:ln w="0">
                <a:noFill/>
              </a:ln>
            </p:spPr>
            <p:txBody>
              <a:bodyPr/>
              <a:lstStyle/>
              <a:p>
                <a:r>
                  <a:rPr lang="it-IT">
                    <a:noFill/>
                  </a:rPr>
                  <a:t> </a:t>
                </a:r>
              </a:p>
            </p:txBody>
          </p:sp>
        </mc:Fallback>
      </mc:AlternateContent>
      <p:sp>
        <p:nvSpPr>
          <p:cNvPr id="9" name="text_4">
            <a:extLst>
              <a:ext uri="{FF2B5EF4-FFF2-40B4-BE49-F238E27FC236}">
                <a16:creationId xmlns:a16="http://schemas.microsoft.com/office/drawing/2014/main" id="{8BD2D0C4-6D25-4E91-B14A-701000FC3D41}"/>
              </a:ext>
            </a:extLst>
          </p:cNvPr>
          <p:cNvSpPr>
            <a:spLocks noGrp="1"/>
          </p:cNvSpPr>
          <p:nvPr/>
        </p:nvSpPr>
        <p:spPr>
          <a:xfrm>
            <a:off x="571500" y="5634037"/>
            <a:ext cx="11049000" cy="5048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FF0000"/>
                </a:solidFill>
                <a:latin typeface="DejaVu Sans"/>
                <a:ea typeface="DejaVu Sans"/>
                <a:cs typeface="DejaVu Sans"/>
              </a:rPr>
              <a:t>Each feature combines an affine transformation with </a:t>
            </a:r>
            <a:r>
              <a:rPr sz="2100" b="1" dirty="0" err="1">
                <a:solidFill>
                  <a:srgbClr val="FF0000"/>
                </a:solidFill>
                <a:latin typeface="DejaVu Sans"/>
                <a:ea typeface="DejaVu Sans"/>
                <a:cs typeface="DejaVu Sans"/>
              </a:rPr>
              <a:t>ReLU</a:t>
            </a:r>
            <a:r>
              <a:rPr sz="2100" b="1" dirty="0">
                <a:solidFill>
                  <a:srgbClr val="FF0000"/>
                </a:solidFill>
                <a:latin typeface="DejaVu Sans"/>
                <a:ea typeface="DejaVu Sans"/>
                <a:cs typeface="DejaVu Sans"/>
              </a:rPr>
              <a:t>.</a:t>
            </a:r>
          </a:p>
        </p:txBody>
      </p:sp>
    </p:spTree>
    <p:extLst>
      <p:ext uri="{BB962C8B-B14F-4D97-AF65-F5344CB8AC3E}">
        <p14:creationId xmlns:p14="http://schemas.microsoft.com/office/powerpoint/2010/main" val="1462819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E8F1DEF7-C4D7-4F07-BFD7-048DF4D84127}"/>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err="1">
                <a:solidFill>
                  <a:srgbClr val="182D45"/>
                </a:solidFill>
                <a:latin typeface="DejaVu Sans"/>
                <a:ea typeface="DejaVu Sans"/>
                <a:cs typeface="DejaVu Sans"/>
              </a:rPr>
              <a:t>Today’s</a:t>
            </a:r>
            <a:r>
              <a:rPr lang="it-IT" sz="3300" b="1" dirty="0">
                <a:solidFill>
                  <a:srgbClr val="182D45"/>
                </a:solidFill>
                <a:latin typeface="DejaVu Sans"/>
                <a:ea typeface="DejaVu Sans"/>
                <a:cs typeface="DejaVu Sans"/>
              </a:rPr>
              <a:t> </a:t>
            </a:r>
            <a:r>
              <a:rPr lang="it-IT" sz="3300" b="1" dirty="0" err="1">
                <a:solidFill>
                  <a:srgbClr val="182D45"/>
                </a:solidFill>
                <a:latin typeface="DejaVu Sans"/>
                <a:ea typeface="DejaVu Sans"/>
                <a:cs typeface="DejaVu Sans"/>
              </a:rPr>
              <a:t>lecture</a:t>
            </a:r>
            <a:endParaRPr lang="it-IT" sz="3300" b="1" dirty="0">
              <a:solidFill>
                <a:srgbClr val="182D45"/>
              </a:solidFill>
              <a:latin typeface="DejaVu Sans"/>
              <a:ea typeface="DejaVu Sans"/>
              <a:cs typeface="DejaVu Sans"/>
            </a:endParaRPr>
          </a:p>
        </p:txBody>
      </p:sp>
      <p:sp>
        <p:nvSpPr>
          <p:cNvPr id="3" name="footer_course">
            <a:extLst>
              <a:ext uri="{FF2B5EF4-FFF2-40B4-BE49-F238E27FC236}">
                <a16:creationId xmlns:a16="http://schemas.microsoft.com/office/drawing/2014/main" id="{4968BECF-EA70-4A04-A578-77B64D8AB523}"/>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F4FD7241-0DD4-48BD-B263-6AB47DDB2057}"/>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9</a:t>
            </a:r>
          </a:p>
        </p:txBody>
      </p:sp>
      <p:sp>
        <p:nvSpPr>
          <p:cNvPr id="5" name="text_1">
            <a:extLst>
              <a:ext uri="{FF2B5EF4-FFF2-40B4-BE49-F238E27FC236}">
                <a16:creationId xmlns:a16="http://schemas.microsoft.com/office/drawing/2014/main" id="{46F971F3-4250-4D8F-A312-E24FC381FC58}"/>
              </a:ext>
            </a:extLst>
          </p:cNvPr>
          <p:cNvSpPr>
            <a:spLocks noGrp="1"/>
          </p:cNvSpPr>
          <p:nvPr/>
        </p:nvSpPr>
        <p:spPr>
          <a:xfrm>
            <a:off x="904875" y="2190750"/>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Affine layers and activation functions</a:t>
            </a:r>
          </a:p>
        </p:txBody>
      </p:sp>
      <p:sp>
        <p:nvSpPr>
          <p:cNvPr id="6" name="text_2">
            <a:extLst>
              <a:ext uri="{FF2B5EF4-FFF2-40B4-BE49-F238E27FC236}">
                <a16:creationId xmlns:a16="http://schemas.microsoft.com/office/drawing/2014/main" id="{2201A493-1576-42E0-B244-DCF11D790B26}"/>
              </a:ext>
            </a:extLst>
          </p:cNvPr>
          <p:cNvSpPr>
            <a:spLocks noGrp="1"/>
          </p:cNvSpPr>
          <p:nvPr/>
        </p:nvSpPr>
        <p:spPr>
          <a:xfrm>
            <a:off x="904875" y="3190875"/>
            <a:ext cx="10382250" cy="619125"/>
          </a:xfrm>
          <a:prstGeom prst="rect">
            <a:avLst/>
          </a:prstGeom>
          <a:noFill/>
          <a:ln w="0">
            <a:noFill/>
          </a:ln>
        </p:spPr>
        <p:txBody>
          <a:bodyPr anchor="ctr">
            <a:noAutofit/>
          </a:bodyPr>
          <a:lstStyle/>
          <a:p>
            <a:pPr algn="ctr">
              <a:defRPr sz="2475" b="1">
                <a:solidFill>
                  <a:srgbClr val="087F83"/>
                </a:solidFill>
                <a:latin typeface="DejaVu Sans"/>
                <a:ea typeface="DejaVu Sans"/>
                <a:cs typeface="DejaVu Sans"/>
              </a:defRPr>
            </a:pPr>
            <a:r>
              <a:rPr sz="2475" b="1">
                <a:solidFill>
                  <a:srgbClr val="087F83"/>
                </a:solidFill>
                <a:latin typeface="DejaVu Sans"/>
                <a:ea typeface="DejaVu Sans"/>
                <a:cs typeface="DejaVu Sans"/>
              </a:rPr>
              <a:t>Neural networks and the forward pass</a:t>
            </a:r>
          </a:p>
        </p:txBody>
      </p:sp>
      <p:sp>
        <p:nvSpPr>
          <p:cNvPr id="7" name="text_3">
            <a:extLst>
              <a:ext uri="{FF2B5EF4-FFF2-40B4-BE49-F238E27FC236}">
                <a16:creationId xmlns:a16="http://schemas.microsoft.com/office/drawing/2014/main" id="{05489A15-788C-4BBD-A2EA-8D327CBDB411}"/>
              </a:ext>
            </a:extLst>
          </p:cNvPr>
          <p:cNvSpPr>
            <a:spLocks noGrp="1"/>
          </p:cNvSpPr>
          <p:nvPr/>
        </p:nvSpPr>
        <p:spPr>
          <a:xfrm>
            <a:off x="904875" y="4191000"/>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What neural networks can represent</a:t>
            </a:r>
          </a:p>
        </p:txBody>
      </p:sp>
      <p:sp>
        <p:nvSpPr>
          <p:cNvPr id="8" name="text_4">
            <a:extLst>
              <a:ext uri="{FF2B5EF4-FFF2-40B4-BE49-F238E27FC236}">
                <a16:creationId xmlns:a16="http://schemas.microsoft.com/office/drawing/2014/main" id="{69683341-D507-4A8D-BBF1-6C5D96B3A982}"/>
              </a:ext>
            </a:extLst>
          </p:cNvPr>
          <p:cNvSpPr>
            <a:spLocks noGrp="1"/>
          </p:cNvSpPr>
          <p:nvPr/>
        </p:nvSpPr>
        <p:spPr>
          <a:xfrm>
            <a:off x="904875" y="5191125"/>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Fitting neural networks and local minima</a:t>
            </a:r>
          </a:p>
        </p:txBody>
      </p:sp>
    </p:spTree>
    <p:extLst>
      <p:ext uri="{BB962C8B-B14F-4D97-AF65-F5344CB8AC3E}">
        <p14:creationId xmlns:p14="http://schemas.microsoft.com/office/powerpoint/2010/main" val="1982000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D442400-27FC-4203-9A9C-07109F364FEB}"/>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a:solidFill>
                  <a:srgbClr val="182D45"/>
                </a:solidFill>
                <a:latin typeface="DejaVu Sans"/>
                <a:ea typeface="DejaVu Sans"/>
                <a:cs typeface="DejaVu Sans"/>
              </a:rPr>
              <a:t>A first </a:t>
            </a:r>
            <a:r>
              <a:rPr lang="it-IT" sz="3300" b="1" dirty="0" err="1">
                <a:solidFill>
                  <a:srgbClr val="182D45"/>
                </a:solidFill>
                <a:latin typeface="DejaVu Sans"/>
                <a:ea typeface="DejaVu Sans"/>
                <a:cs typeface="DejaVu Sans"/>
              </a:rPr>
              <a:t>example</a:t>
            </a:r>
            <a:endParaRPr sz="3300" b="1" dirty="0">
              <a:solidFill>
                <a:srgbClr val="182D45"/>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4" name="fixed_parameters" descr="\mathbf{x}=(1,2),\quad\mathbf{W}=\begin{pmatrix}1&amp;2&amp;-1\\-1&amp;0&amp;1\end{pmatrix},\quad\mathbf{b}=(0,1,0)">
                <a:extLst>
                  <a:ext uri="{FF2B5EF4-FFF2-40B4-BE49-F238E27FC236}">
                    <a16:creationId xmlns:a16="http://schemas.microsoft.com/office/drawing/2014/main" id="{B71D7CE7-3F7E-4FC4-8387-DF4370A4D2D1}"/>
                  </a:ext>
                </a:extLst>
              </p:cNvPr>
              <p:cNvSpPr>
                <a:spLocks noGrp="1"/>
              </p:cNvSpPr>
              <p:nvPr/>
            </p:nvSpPr>
            <p:spPr>
              <a:xfrm>
                <a:off x="714375" y="838200"/>
                <a:ext cx="10763250" cy="9810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smtClean="0">
                          <a:solidFill>
                            <a:srgbClr val="087F83"/>
                          </a:solidFill>
                          <a:latin typeface="Cambria Math"/>
                          <a:ea typeface="Cambria Math"/>
                          <a:cs typeface="Cambria Math"/>
                        </a:rPr>
                        <m:t>𝐱</m:t>
                      </m:r>
                      <m:r>
                        <a:rPr lang="en-GB" sz="3000" smtClean="0">
                          <a:solidFill>
                            <a:srgbClr val="087F83"/>
                          </a:solidFill>
                          <a:latin typeface="Cambria Math"/>
                          <a:ea typeface="Cambria Math"/>
                          <a:cs typeface="Cambria Math"/>
                        </a:rPr>
                        <m:t>=</m:t>
                      </m:r>
                      <m:d>
                        <m:dPr>
                          <m:ctrlPr>
                            <a:rPr lang="en-GB" sz="3000" smtClean="0">
                              <a:solidFill>
                                <a:srgbClr val="087F83"/>
                              </a:solidFill>
                              <a:latin typeface="Cambria Math"/>
                              <a:ea typeface="Cambria Math"/>
                              <a:cs typeface="Cambria Math"/>
                            </a:rPr>
                          </m:ctrlPr>
                        </m:dPr>
                        <m:e>
                          <m:r>
                            <a:rPr lang="en-GB" sz="3000" smtClean="0">
                              <a:solidFill>
                                <a:srgbClr val="087F83"/>
                              </a:solidFill>
                              <a:latin typeface="Cambria Math"/>
                              <a:ea typeface="Cambria Math"/>
                              <a:cs typeface="Cambria Math"/>
                            </a:rPr>
                            <m:t>1,2</m:t>
                          </m:r>
                        </m:e>
                      </m:d>
                      <m:r>
                        <a:rPr lang="en-GB" sz="3000" smtClean="0">
                          <a:solidFill>
                            <a:srgbClr val="087F83"/>
                          </a:solidFill>
                          <a:latin typeface="Cambria Math"/>
                          <a:ea typeface="Cambria Math"/>
                          <a:cs typeface="Cambria Math"/>
                        </a:rPr>
                        <m:t>, </m:t>
                      </m:r>
                      <m:r>
                        <a:rPr lang="en-GB" sz="3000" smtClean="0">
                          <a:solidFill>
                            <a:srgbClr val="087F83"/>
                          </a:solidFill>
                          <a:latin typeface="Cambria Math"/>
                          <a:ea typeface="Cambria Math"/>
                          <a:cs typeface="Cambria Math"/>
                        </a:rPr>
                        <m:t>𝐖</m:t>
                      </m:r>
                      <m:r>
                        <a:rPr lang="en-GB" sz="3000" smtClean="0">
                          <a:solidFill>
                            <a:srgbClr val="087F83"/>
                          </a:solidFill>
                          <a:latin typeface="Cambria Math"/>
                          <a:ea typeface="Cambria Math"/>
                          <a:cs typeface="Cambria Math"/>
                        </a:rPr>
                        <m:t>=</m:t>
                      </m:r>
                      <m:d>
                        <m:dPr>
                          <m:ctrlPr>
                            <a:rPr lang="en-GB" sz="3000" i="1">
                              <a:solidFill>
                                <a:srgbClr val="087F83"/>
                              </a:solidFill>
                              <a:latin typeface="Cambria Math" panose="02040503050406030204" pitchFamily="18" charset="0"/>
                              <a:ea typeface="Cambria Math"/>
                              <a:cs typeface="Cambria Math"/>
                            </a:rPr>
                          </m:ctrlPr>
                        </m:dPr>
                        <m:e>
                          <m:m>
                            <m:mPr>
                              <m:mcs>
                                <m:mc>
                                  <m:mcPr>
                                    <m:count m:val="3"/>
                                    <m:mcJc m:val="center"/>
                                  </m:mcPr>
                                </m:mc>
                              </m:mcs>
                              <m:ctrlPr>
                                <a:rPr lang="en-GB" sz="3000" i="1">
                                  <a:solidFill>
                                    <a:srgbClr val="087F83"/>
                                  </a:solidFill>
                                  <a:latin typeface="Cambria Math" panose="02040503050406030204" pitchFamily="18" charset="0"/>
                                  <a:ea typeface="Cambria Math"/>
                                  <a:cs typeface="Cambria Math"/>
                                </a:rPr>
                              </m:ctrlPr>
                            </m:mPr>
                            <m:mr>
                              <m:e>
                                <m:r>
                                  <a:rPr lang="en-GB" sz="3000">
                                    <a:solidFill>
                                      <a:srgbClr val="087F83"/>
                                    </a:solidFill>
                                    <a:latin typeface="Cambria Math"/>
                                    <a:ea typeface="Cambria Math"/>
                                    <a:cs typeface="Cambria Math"/>
                                  </a:rPr>
                                  <m:t>1</m:t>
                                </m:r>
                              </m:e>
                              <m:e>
                                <m:r>
                                  <a:rPr lang="en-GB" sz="3000">
                                    <a:solidFill>
                                      <a:srgbClr val="087F83"/>
                                    </a:solidFill>
                                    <a:latin typeface="Cambria Math"/>
                                    <a:ea typeface="Cambria Math"/>
                                    <a:cs typeface="Cambria Math"/>
                                  </a:rPr>
                                  <m:t>2</m:t>
                                </m:r>
                              </m:e>
                              <m:e>
                                <m:r>
                                  <a:rPr lang="en-GB" sz="3000">
                                    <a:solidFill>
                                      <a:srgbClr val="087F83"/>
                                    </a:solidFill>
                                    <a:latin typeface="Cambria Math"/>
                                    <a:ea typeface="Cambria Math"/>
                                    <a:cs typeface="Cambria Math"/>
                                  </a:rPr>
                                  <m:t>−1</m:t>
                                </m:r>
                              </m:e>
                            </m:mr>
                            <m:mr>
                              <m:e>
                                <m:r>
                                  <a:rPr lang="en-GB" sz="3000">
                                    <a:solidFill>
                                      <a:srgbClr val="087F83"/>
                                    </a:solidFill>
                                    <a:latin typeface="Cambria Math"/>
                                    <a:ea typeface="Cambria Math"/>
                                    <a:cs typeface="Cambria Math"/>
                                  </a:rPr>
                                  <m:t>−1</m:t>
                                </m:r>
                              </m:e>
                              <m:e>
                                <m:r>
                                  <a:rPr lang="en-GB" sz="3000">
                                    <a:solidFill>
                                      <a:srgbClr val="087F83"/>
                                    </a:solidFill>
                                    <a:latin typeface="Cambria Math"/>
                                    <a:ea typeface="Cambria Math"/>
                                    <a:cs typeface="Cambria Math"/>
                                  </a:rPr>
                                  <m:t>0</m:t>
                                </m:r>
                              </m:e>
                              <m:e>
                                <m:r>
                                  <a:rPr lang="en-GB" sz="3000">
                                    <a:solidFill>
                                      <a:srgbClr val="087F83"/>
                                    </a:solidFill>
                                    <a:latin typeface="Cambria Math"/>
                                    <a:ea typeface="Cambria Math"/>
                                    <a:cs typeface="Cambria Math"/>
                                  </a:rPr>
                                  <m:t>1</m:t>
                                </m:r>
                              </m:e>
                            </m:mr>
                          </m:m>
                        </m:e>
                      </m:d>
                      <m:r>
                        <a:rPr lang="en-GB" sz="3000">
                          <a:solidFill>
                            <a:srgbClr val="087F83"/>
                          </a:solidFill>
                          <a:latin typeface="Cambria Math"/>
                          <a:ea typeface="Cambria Math"/>
                          <a:cs typeface="Cambria Math"/>
                        </a:rPr>
                        <m:t>, </m:t>
                      </m:r>
                      <m:r>
                        <a:rPr lang="en-GB" sz="3000">
                          <a:solidFill>
                            <a:srgbClr val="087F83"/>
                          </a:solidFill>
                          <a:latin typeface="Cambria Math"/>
                          <a:ea typeface="Cambria Math"/>
                          <a:cs typeface="Cambria Math"/>
                        </a:rPr>
                        <m:t>𝐛</m:t>
                      </m:r>
                      <m:r>
                        <a:rPr lang="en-GB" sz="3000">
                          <a:solidFill>
                            <a:srgbClr val="087F83"/>
                          </a:solidFill>
                          <a:latin typeface="Cambria Math"/>
                          <a:ea typeface="Cambria Math"/>
                          <a:cs typeface="Cambria Math"/>
                        </a:rPr>
                        <m:t>=</m:t>
                      </m:r>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0,1,0</m:t>
                          </m:r>
                        </m:e>
                      </m:d>
                    </m:oMath>
                  </m:oMathPara>
                </a14:m>
                <a:endParaRPr lang="en-GB" sz="3000" dirty="0"/>
              </a:p>
            </p:txBody>
          </p:sp>
        </mc:Choice>
        <mc:Fallback xmlns="">
          <p:sp>
            <p:nvSpPr>
              <p:cNvPr id="4" name="fixed_parameters" descr="\mathbf{x}=(1,2),\quad\mathbf{W}=\begin{pmatrix}1&amp;2&amp;-1\\-1&amp;0&amp;1\end{pmatrix},\quad\mathbf{b}=(0,1,0)">
                <a:extLst>
                  <a:ext uri="{FF2B5EF4-FFF2-40B4-BE49-F238E27FC236}">
                    <a16:creationId xmlns:a16="http://schemas.microsoft.com/office/drawing/2014/main" id="{B71D7CE7-3F7E-4FC4-8387-DF4370A4D2D1}"/>
                  </a:ext>
                </a:extLst>
              </p:cNvPr>
              <p:cNvSpPr>
                <a:spLocks noGrp="1" noRot="1" noChangeAspect="1" noMove="1" noResize="1" noEditPoints="1" noAdjustHandles="1" noChangeArrowheads="1" noChangeShapeType="1" noTextEdit="1"/>
              </p:cNvSpPr>
              <p:nvPr/>
            </p:nvSpPr>
            <p:spPr>
              <a:xfrm>
                <a:off x="714375" y="838200"/>
                <a:ext cx="10763250" cy="981075"/>
              </a:xfrm>
              <a:prstGeom prst="rect">
                <a:avLst/>
              </a:prstGeom>
              <a:blipFill>
                <a:blip r:embed="rId3"/>
                <a:stretch>
                  <a:fillRect/>
                </a:stretch>
              </a:blipFill>
              <a:ln w="0">
                <a:noFill/>
              </a:ln>
            </p:spPr>
            <p:txBody>
              <a:bodyPr/>
              <a:lstStyle/>
              <a:p>
                <a:r>
                  <a:rPr lang="it-IT">
                    <a:noFill/>
                  </a:rPr>
                  <a:t> </a:t>
                </a:r>
              </a:p>
            </p:txBody>
          </p:sp>
        </mc:Fallback>
      </mc:AlternateContent>
      <p:sp>
        <p:nvSpPr>
          <p:cNvPr id="5" name="input_heading">
            <a:extLst>
              <a:ext uri="{FF2B5EF4-FFF2-40B4-BE49-F238E27FC236}">
                <a16:creationId xmlns:a16="http://schemas.microsoft.com/office/drawing/2014/main" id="{35D20C1D-A905-4EE2-9958-8AC70865BDA1}"/>
              </a:ext>
            </a:extLst>
          </p:cNvPr>
          <p:cNvSpPr>
            <a:spLocks noGrp="1"/>
          </p:cNvSpPr>
          <p:nvPr/>
        </p:nvSpPr>
        <p:spPr>
          <a:xfrm>
            <a:off x="76200" y="1943100"/>
            <a:ext cx="11430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Input</a:t>
            </a:r>
          </a:p>
        </p:txBody>
      </p:sp>
      <p:sp>
        <p:nvSpPr>
          <p:cNvPr id="6" name="weighted_heading">
            <a:extLst>
              <a:ext uri="{FF2B5EF4-FFF2-40B4-BE49-F238E27FC236}">
                <a16:creationId xmlns:a16="http://schemas.microsoft.com/office/drawing/2014/main" id="{19256590-E040-4945-B327-B8EC30621C7F}"/>
              </a:ext>
            </a:extLst>
          </p:cNvPr>
          <p:cNvSpPr>
            <a:spLocks noGrp="1"/>
          </p:cNvSpPr>
          <p:nvPr/>
        </p:nvSpPr>
        <p:spPr>
          <a:xfrm>
            <a:off x="3124200" y="1943100"/>
            <a:ext cx="2667000" cy="381000"/>
          </a:xfrm>
          <a:prstGeom prst="rect">
            <a:avLst/>
          </a:prstGeom>
          <a:noFill/>
          <a:ln w="0">
            <a:noFill/>
          </a:ln>
        </p:spPr>
        <p:txBody>
          <a:bodyPr anchor="ctr">
            <a:noAutofit/>
          </a:bodyPr>
          <a:lstStyle/>
          <a:p>
            <a:pPr algn="ctr">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Weighted sums</a:t>
            </a:r>
          </a:p>
        </p:txBody>
      </p:sp>
      <p:sp>
        <p:nvSpPr>
          <p:cNvPr id="7" name="pre_heading">
            <a:extLst>
              <a:ext uri="{FF2B5EF4-FFF2-40B4-BE49-F238E27FC236}">
                <a16:creationId xmlns:a16="http://schemas.microsoft.com/office/drawing/2014/main" id="{93FECA29-7AD4-4443-A452-343233E30276}"/>
              </a:ext>
            </a:extLst>
          </p:cNvPr>
          <p:cNvSpPr>
            <a:spLocks noGrp="1"/>
          </p:cNvSpPr>
          <p:nvPr/>
        </p:nvSpPr>
        <p:spPr>
          <a:xfrm>
            <a:off x="6324600" y="1943100"/>
            <a:ext cx="2571750" cy="381000"/>
          </a:xfrm>
          <a:prstGeom prst="rect">
            <a:avLst/>
          </a:prstGeom>
          <a:noFill/>
          <a:ln w="0">
            <a:noFill/>
          </a:ln>
        </p:spPr>
        <p:txBody>
          <a:bodyPr anchor="ctr">
            <a:noAutofit/>
          </a:bodyPr>
          <a:lstStyle/>
          <a:p>
            <a:pPr algn="ctr">
              <a:defRPr sz="1875" b="1">
                <a:solidFill>
                  <a:srgbClr val="B6C2CD"/>
                </a:solidFill>
                <a:latin typeface="DejaVu Sans"/>
                <a:ea typeface="DejaVu Sans"/>
                <a:cs typeface="DejaVu Sans"/>
              </a:defRPr>
            </a:pPr>
            <a:r>
              <a:rPr sz="1875" b="1">
                <a:solidFill>
                  <a:srgbClr val="B6C2CD"/>
                </a:solidFill>
                <a:latin typeface="DejaVu Sans"/>
                <a:ea typeface="DejaVu Sans"/>
                <a:cs typeface="DejaVu Sans"/>
              </a:rPr>
              <a:t>Preactivations</a:t>
            </a:r>
          </a:p>
        </p:txBody>
      </p:sp>
      <p:sp>
        <p:nvSpPr>
          <p:cNvPr id="8" name="activation_heading">
            <a:extLst>
              <a:ext uri="{FF2B5EF4-FFF2-40B4-BE49-F238E27FC236}">
                <a16:creationId xmlns:a16="http://schemas.microsoft.com/office/drawing/2014/main" id="{FFAA1A12-B2AF-4CD6-8CEE-82D01D1B5A5D}"/>
              </a:ext>
            </a:extLst>
          </p:cNvPr>
          <p:cNvSpPr>
            <a:spLocks noGrp="1"/>
          </p:cNvSpPr>
          <p:nvPr/>
        </p:nvSpPr>
        <p:spPr>
          <a:xfrm>
            <a:off x="9715500" y="1943100"/>
            <a:ext cx="2324100" cy="381000"/>
          </a:xfrm>
          <a:prstGeom prst="rect">
            <a:avLst/>
          </a:prstGeom>
          <a:noFill/>
          <a:ln w="0">
            <a:noFill/>
          </a:ln>
        </p:spPr>
        <p:txBody>
          <a:bodyPr anchor="ctr">
            <a:noAutofit/>
          </a:bodyPr>
          <a:lstStyle/>
          <a:p>
            <a:pPr algn="ctr">
              <a:defRPr sz="1875" b="1">
                <a:solidFill>
                  <a:srgbClr val="B6C2CD"/>
                </a:solidFill>
                <a:latin typeface="DejaVu Sans"/>
                <a:ea typeface="DejaVu Sans"/>
                <a:cs typeface="DejaVu Sans"/>
              </a:defRPr>
            </a:pPr>
            <a:r>
              <a:rPr sz="1875" b="1">
                <a:solidFill>
                  <a:srgbClr val="B6C2CD"/>
                </a:solidFill>
                <a:latin typeface="DejaVu Sans"/>
                <a:ea typeface="DejaVu Sans"/>
                <a:cs typeface="DejaVu Sans"/>
              </a:rPr>
              <a:t>Activations</a:t>
            </a:r>
          </a:p>
        </p:txBody>
      </p:sp>
      <p:sp>
        <p:nvSpPr>
          <p:cNvPr id="9" name="weight_edge_1_1">
            <a:extLst>
              <a:ext uri="{FF2B5EF4-FFF2-40B4-BE49-F238E27FC236}">
                <a16:creationId xmlns:a16="http://schemas.microsoft.com/office/drawing/2014/main" id="{B05E3AAC-79A8-44D8-AD73-F5EE36F077BC}"/>
              </a:ext>
            </a:extLst>
          </p:cNvPr>
          <p:cNvSpPr>
            <a:spLocks noGrp="1"/>
          </p:cNvSpPr>
          <p:nvPr/>
        </p:nvSpPr>
        <p:spPr>
          <a:xfrm flipV="1">
            <a:off x="914400" y="2838450"/>
            <a:ext cx="2400300" cy="495300"/>
          </a:xfrm>
          <a:prstGeom prst="line">
            <a:avLst/>
          </a:prstGeom>
          <a:noFill/>
          <a:ln w="15240">
            <a:solidFill>
              <a:srgbClr val="B6C2CD"/>
            </a:solidFill>
          </a:ln>
        </p:spPr>
        <p:txBody>
          <a:bodyPr/>
          <a:lstStyle/>
          <a:p>
            <a:endParaRPr lang="it-IT"/>
          </a:p>
        </p:txBody>
      </p:sp>
      <p:sp>
        <p:nvSpPr>
          <p:cNvPr id="10" name="weight_edge_2_1">
            <a:extLst>
              <a:ext uri="{FF2B5EF4-FFF2-40B4-BE49-F238E27FC236}">
                <a16:creationId xmlns:a16="http://schemas.microsoft.com/office/drawing/2014/main" id="{F61E5371-C784-4B9E-A000-071777A2CB8E}"/>
              </a:ext>
            </a:extLst>
          </p:cNvPr>
          <p:cNvSpPr>
            <a:spLocks noGrp="1"/>
          </p:cNvSpPr>
          <p:nvPr/>
        </p:nvSpPr>
        <p:spPr>
          <a:xfrm flipV="1">
            <a:off x="914400" y="2838450"/>
            <a:ext cx="2400300" cy="1924050"/>
          </a:xfrm>
          <a:prstGeom prst="line">
            <a:avLst/>
          </a:prstGeom>
          <a:noFill/>
          <a:ln w="15240">
            <a:solidFill>
              <a:srgbClr val="B6C2CD"/>
            </a:solidFill>
          </a:ln>
        </p:spPr>
        <p:txBody>
          <a:bodyPr/>
          <a:lstStyle/>
          <a:p>
            <a:endParaRPr lang="it-IT"/>
          </a:p>
        </p:txBody>
      </p:sp>
      <p:sp>
        <p:nvSpPr>
          <p:cNvPr id="11" name="bias_edge_1">
            <a:extLst>
              <a:ext uri="{FF2B5EF4-FFF2-40B4-BE49-F238E27FC236}">
                <a16:creationId xmlns:a16="http://schemas.microsoft.com/office/drawing/2014/main" id="{6B5B8A2E-A17A-476A-8B9C-54BEFD35D95F}"/>
              </a:ext>
            </a:extLst>
          </p:cNvPr>
          <p:cNvSpPr>
            <a:spLocks noGrp="1"/>
          </p:cNvSpPr>
          <p:nvPr/>
        </p:nvSpPr>
        <p:spPr>
          <a:xfrm>
            <a:off x="5600700" y="2838450"/>
            <a:ext cx="1533525" cy="953"/>
          </a:xfrm>
          <a:prstGeom prst="line">
            <a:avLst/>
          </a:prstGeom>
          <a:noFill/>
          <a:ln w="15240">
            <a:solidFill>
              <a:srgbClr val="B6C2CD"/>
            </a:solidFill>
            <a:tailEnd type="triangle" w="sm" len="sm"/>
          </a:ln>
        </p:spPr>
        <p:txBody>
          <a:bodyPr/>
          <a:lstStyle/>
          <a:p>
            <a:endParaRPr lang="it-IT"/>
          </a:p>
        </p:txBody>
      </p:sp>
      <p:sp>
        <p:nvSpPr>
          <p:cNvPr id="12" name="relu_edge_1">
            <a:extLst>
              <a:ext uri="{FF2B5EF4-FFF2-40B4-BE49-F238E27FC236}">
                <a16:creationId xmlns:a16="http://schemas.microsoft.com/office/drawing/2014/main" id="{BC557C55-9D9F-4749-B877-BA74BFC85FF8}"/>
              </a:ext>
            </a:extLst>
          </p:cNvPr>
          <p:cNvSpPr>
            <a:spLocks noGrp="1"/>
          </p:cNvSpPr>
          <p:nvPr/>
        </p:nvSpPr>
        <p:spPr>
          <a:xfrm>
            <a:off x="8086725" y="2838450"/>
            <a:ext cx="2352675" cy="953"/>
          </a:xfrm>
          <a:prstGeom prst="line">
            <a:avLst/>
          </a:prstGeom>
          <a:noFill/>
          <a:ln w="14288">
            <a:solidFill>
              <a:srgbClr val="B6C2CD"/>
            </a:solidFill>
            <a:tailEnd type="triangle" w="sm" len="sm"/>
          </a:ln>
        </p:spPr>
        <p:txBody>
          <a:bodyPr/>
          <a:lstStyle/>
          <a:p>
            <a:endParaRPr lang="it-IT"/>
          </a:p>
        </p:txBody>
      </p:sp>
      <p:sp>
        <p:nvSpPr>
          <p:cNvPr id="13" name="weight_edge_1_2">
            <a:extLst>
              <a:ext uri="{FF2B5EF4-FFF2-40B4-BE49-F238E27FC236}">
                <a16:creationId xmlns:a16="http://schemas.microsoft.com/office/drawing/2014/main" id="{0563CABC-688F-4FB5-BB22-CEC257B9E888}"/>
              </a:ext>
            </a:extLst>
          </p:cNvPr>
          <p:cNvSpPr>
            <a:spLocks noGrp="1"/>
          </p:cNvSpPr>
          <p:nvPr/>
        </p:nvSpPr>
        <p:spPr>
          <a:xfrm>
            <a:off x="914400" y="3333750"/>
            <a:ext cx="2400300" cy="800100"/>
          </a:xfrm>
          <a:prstGeom prst="line">
            <a:avLst/>
          </a:prstGeom>
          <a:noFill/>
          <a:ln w="15240">
            <a:solidFill>
              <a:srgbClr val="B6C2CD"/>
            </a:solidFill>
          </a:ln>
        </p:spPr>
        <p:txBody>
          <a:bodyPr/>
          <a:lstStyle/>
          <a:p>
            <a:endParaRPr lang="it-IT"/>
          </a:p>
        </p:txBody>
      </p:sp>
      <p:sp>
        <p:nvSpPr>
          <p:cNvPr id="14" name="weight_edge_2_2">
            <a:extLst>
              <a:ext uri="{FF2B5EF4-FFF2-40B4-BE49-F238E27FC236}">
                <a16:creationId xmlns:a16="http://schemas.microsoft.com/office/drawing/2014/main" id="{0F6B6CE7-48AC-42AC-B697-66C0D616CE3D}"/>
              </a:ext>
            </a:extLst>
          </p:cNvPr>
          <p:cNvSpPr>
            <a:spLocks noGrp="1"/>
          </p:cNvSpPr>
          <p:nvPr/>
        </p:nvSpPr>
        <p:spPr>
          <a:xfrm flipV="1">
            <a:off x="914400" y="4133850"/>
            <a:ext cx="2400300" cy="628650"/>
          </a:xfrm>
          <a:prstGeom prst="line">
            <a:avLst/>
          </a:prstGeom>
          <a:noFill/>
          <a:ln w="15240">
            <a:solidFill>
              <a:srgbClr val="B6C2CD"/>
            </a:solidFill>
          </a:ln>
        </p:spPr>
        <p:txBody>
          <a:bodyPr/>
          <a:lstStyle/>
          <a:p>
            <a:endParaRPr lang="it-IT"/>
          </a:p>
        </p:txBody>
      </p:sp>
      <p:sp>
        <p:nvSpPr>
          <p:cNvPr id="15" name="bias_edge_2">
            <a:extLst>
              <a:ext uri="{FF2B5EF4-FFF2-40B4-BE49-F238E27FC236}">
                <a16:creationId xmlns:a16="http://schemas.microsoft.com/office/drawing/2014/main" id="{A36907BC-0117-44F7-B45B-CEC71CF466EB}"/>
              </a:ext>
            </a:extLst>
          </p:cNvPr>
          <p:cNvSpPr>
            <a:spLocks noGrp="1"/>
          </p:cNvSpPr>
          <p:nvPr/>
        </p:nvSpPr>
        <p:spPr>
          <a:xfrm>
            <a:off x="5600700" y="4133850"/>
            <a:ext cx="1533525" cy="953"/>
          </a:xfrm>
          <a:prstGeom prst="line">
            <a:avLst/>
          </a:prstGeom>
          <a:noFill/>
          <a:ln w="15240">
            <a:solidFill>
              <a:srgbClr val="B6C2CD"/>
            </a:solidFill>
            <a:tailEnd type="triangle" w="sm" len="sm"/>
          </a:ln>
        </p:spPr>
        <p:txBody>
          <a:bodyPr/>
          <a:lstStyle/>
          <a:p>
            <a:endParaRPr lang="it-IT"/>
          </a:p>
        </p:txBody>
      </p:sp>
      <p:sp>
        <p:nvSpPr>
          <p:cNvPr id="16" name="relu_edge_2">
            <a:extLst>
              <a:ext uri="{FF2B5EF4-FFF2-40B4-BE49-F238E27FC236}">
                <a16:creationId xmlns:a16="http://schemas.microsoft.com/office/drawing/2014/main" id="{4C6E8ADC-2AAA-4735-8BA9-998697FB54F4}"/>
              </a:ext>
            </a:extLst>
          </p:cNvPr>
          <p:cNvSpPr>
            <a:spLocks noGrp="1"/>
          </p:cNvSpPr>
          <p:nvPr/>
        </p:nvSpPr>
        <p:spPr>
          <a:xfrm>
            <a:off x="8086725" y="4133850"/>
            <a:ext cx="2352675" cy="953"/>
          </a:xfrm>
          <a:prstGeom prst="line">
            <a:avLst/>
          </a:prstGeom>
          <a:noFill/>
          <a:ln w="14288">
            <a:solidFill>
              <a:srgbClr val="B6C2CD"/>
            </a:solidFill>
            <a:tailEnd type="triangle" w="sm" len="sm"/>
          </a:ln>
        </p:spPr>
        <p:txBody>
          <a:bodyPr/>
          <a:lstStyle/>
          <a:p>
            <a:endParaRPr lang="it-IT"/>
          </a:p>
        </p:txBody>
      </p:sp>
      <p:sp>
        <p:nvSpPr>
          <p:cNvPr id="17" name="weight_edge_1_3">
            <a:extLst>
              <a:ext uri="{FF2B5EF4-FFF2-40B4-BE49-F238E27FC236}">
                <a16:creationId xmlns:a16="http://schemas.microsoft.com/office/drawing/2014/main" id="{6C692783-8C82-4368-906B-6CBF591BA15E}"/>
              </a:ext>
            </a:extLst>
          </p:cNvPr>
          <p:cNvSpPr>
            <a:spLocks noGrp="1"/>
          </p:cNvSpPr>
          <p:nvPr/>
        </p:nvSpPr>
        <p:spPr>
          <a:xfrm>
            <a:off x="914400" y="3333750"/>
            <a:ext cx="2400300" cy="2095500"/>
          </a:xfrm>
          <a:prstGeom prst="line">
            <a:avLst/>
          </a:prstGeom>
          <a:noFill/>
          <a:ln w="15240">
            <a:solidFill>
              <a:srgbClr val="B6C2CD"/>
            </a:solidFill>
          </a:ln>
        </p:spPr>
        <p:txBody>
          <a:bodyPr/>
          <a:lstStyle/>
          <a:p>
            <a:endParaRPr lang="it-IT"/>
          </a:p>
        </p:txBody>
      </p:sp>
      <p:sp>
        <p:nvSpPr>
          <p:cNvPr id="18" name="weight_edge_2_3">
            <a:extLst>
              <a:ext uri="{FF2B5EF4-FFF2-40B4-BE49-F238E27FC236}">
                <a16:creationId xmlns:a16="http://schemas.microsoft.com/office/drawing/2014/main" id="{B4F9713D-6F45-4D14-8993-4E6E82BB31B6}"/>
              </a:ext>
            </a:extLst>
          </p:cNvPr>
          <p:cNvSpPr>
            <a:spLocks noGrp="1"/>
          </p:cNvSpPr>
          <p:nvPr/>
        </p:nvSpPr>
        <p:spPr>
          <a:xfrm>
            <a:off x="914400" y="4762500"/>
            <a:ext cx="2400300" cy="666750"/>
          </a:xfrm>
          <a:prstGeom prst="line">
            <a:avLst/>
          </a:prstGeom>
          <a:noFill/>
          <a:ln w="15240">
            <a:solidFill>
              <a:srgbClr val="B6C2CD"/>
            </a:solidFill>
          </a:ln>
        </p:spPr>
        <p:txBody>
          <a:bodyPr/>
          <a:lstStyle/>
          <a:p>
            <a:endParaRPr lang="it-IT"/>
          </a:p>
        </p:txBody>
      </p:sp>
      <p:sp>
        <p:nvSpPr>
          <p:cNvPr id="19" name="bias_edge_3">
            <a:extLst>
              <a:ext uri="{FF2B5EF4-FFF2-40B4-BE49-F238E27FC236}">
                <a16:creationId xmlns:a16="http://schemas.microsoft.com/office/drawing/2014/main" id="{9E8B89FA-8407-4EC5-94B9-EAFC1F9524D3}"/>
              </a:ext>
            </a:extLst>
          </p:cNvPr>
          <p:cNvSpPr>
            <a:spLocks noGrp="1"/>
          </p:cNvSpPr>
          <p:nvPr/>
        </p:nvSpPr>
        <p:spPr>
          <a:xfrm>
            <a:off x="5600700" y="5429250"/>
            <a:ext cx="1533525" cy="953"/>
          </a:xfrm>
          <a:prstGeom prst="line">
            <a:avLst/>
          </a:prstGeom>
          <a:noFill/>
          <a:ln w="15240">
            <a:solidFill>
              <a:srgbClr val="B6C2CD"/>
            </a:solidFill>
            <a:tailEnd type="triangle" w="sm" len="sm"/>
          </a:ln>
        </p:spPr>
        <p:txBody>
          <a:bodyPr/>
          <a:lstStyle/>
          <a:p>
            <a:endParaRPr lang="it-IT"/>
          </a:p>
        </p:txBody>
      </p:sp>
      <p:sp>
        <p:nvSpPr>
          <p:cNvPr id="20" name="relu_edge_3">
            <a:extLst>
              <a:ext uri="{FF2B5EF4-FFF2-40B4-BE49-F238E27FC236}">
                <a16:creationId xmlns:a16="http://schemas.microsoft.com/office/drawing/2014/main" id="{EEE76DAA-F66C-4579-97A8-6FAEE554139F}"/>
              </a:ext>
            </a:extLst>
          </p:cNvPr>
          <p:cNvSpPr>
            <a:spLocks noGrp="1"/>
          </p:cNvSpPr>
          <p:nvPr/>
        </p:nvSpPr>
        <p:spPr>
          <a:xfrm>
            <a:off x="8086725" y="5429250"/>
            <a:ext cx="2352675" cy="953"/>
          </a:xfrm>
          <a:prstGeom prst="line">
            <a:avLst/>
          </a:prstGeom>
          <a:noFill/>
          <a:ln w="14288">
            <a:solidFill>
              <a:srgbClr val="B6C2CD"/>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21" name="weight_label_1_1" descr="1">
                <a:extLst>
                  <a:ext uri="{FF2B5EF4-FFF2-40B4-BE49-F238E27FC236}">
                    <a16:creationId xmlns:a16="http://schemas.microsoft.com/office/drawing/2014/main" id="{F1070D46-A11C-40D0-8A6D-0EF5FCA85781}"/>
                  </a:ext>
                </a:extLst>
              </p:cNvPr>
              <p:cNvSpPr>
                <a:spLocks noGrp="1"/>
              </p:cNvSpPr>
              <p:nvPr/>
            </p:nvSpPr>
            <p:spPr>
              <a:xfrm>
                <a:off x="1781175" y="2930374"/>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dirty="0"/>
              </a:p>
            </p:txBody>
          </p:sp>
        </mc:Choice>
        <mc:Fallback xmlns="">
          <p:sp>
            <p:nvSpPr>
              <p:cNvPr id="21" name="weight_label_1_1" descr="1">
                <a:extLst>
                  <a:ext uri="{FF2B5EF4-FFF2-40B4-BE49-F238E27FC236}">
                    <a16:creationId xmlns:a16="http://schemas.microsoft.com/office/drawing/2014/main" id="{F1070D46-A11C-40D0-8A6D-0EF5FCA85781}"/>
                  </a:ext>
                </a:extLst>
              </p:cNvPr>
              <p:cNvSpPr>
                <a:spLocks noGrp="1" noRot="1" noChangeAspect="1" noMove="1" noResize="1" noEditPoints="1" noAdjustHandles="1" noChangeArrowheads="1" noChangeShapeType="1" noTextEdit="1"/>
              </p:cNvSpPr>
              <p:nvPr/>
            </p:nvSpPr>
            <p:spPr>
              <a:xfrm>
                <a:off x="1781175" y="2930374"/>
                <a:ext cx="514350" cy="342900"/>
              </a:xfrm>
              <a:prstGeom prst="rect">
                <a:avLst/>
              </a:prstGeom>
              <a:blipFill>
                <a:blip r:embed="rId4"/>
                <a:stretch>
                  <a:fillRect b="-35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 name="weight_label_2_1" descr="-1">
                <a:extLst>
                  <a:ext uri="{FF2B5EF4-FFF2-40B4-BE49-F238E27FC236}">
                    <a16:creationId xmlns:a16="http://schemas.microsoft.com/office/drawing/2014/main" id="{784688D8-36A8-4BDE-A284-E8319C23E18C}"/>
                  </a:ext>
                </a:extLst>
              </p:cNvPr>
              <p:cNvSpPr>
                <a:spLocks noGrp="1"/>
              </p:cNvSpPr>
              <p:nvPr/>
            </p:nvSpPr>
            <p:spPr>
              <a:xfrm>
                <a:off x="2543175" y="3079296"/>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2" name="weight_label_2_1" descr="-1">
                <a:extLst>
                  <a:ext uri="{FF2B5EF4-FFF2-40B4-BE49-F238E27FC236}">
                    <a16:creationId xmlns:a16="http://schemas.microsoft.com/office/drawing/2014/main" id="{784688D8-36A8-4BDE-A284-E8319C23E18C}"/>
                  </a:ext>
                </a:extLst>
              </p:cNvPr>
              <p:cNvSpPr>
                <a:spLocks noGrp="1" noRot="1" noChangeAspect="1" noMove="1" noResize="1" noEditPoints="1" noAdjustHandles="1" noChangeArrowheads="1" noChangeShapeType="1" noTextEdit="1"/>
              </p:cNvSpPr>
              <p:nvPr/>
            </p:nvSpPr>
            <p:spPr>
              <a:xfrm>
                <a:off x="2543175" y="3079296"/>
                <a:ext cx="514350" cy="342900"/>
              </a:xfrm>
              <a:prstGeom prst="rect">
                <a:avLst/>
              </a:prstGeom>
              <a:blipFill>
                <a:blip r:embed="rId5"/>
                <a:stretch>
                  <a:fillRect b="-535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 name="weight_label_1_2" descr="2">
                <a:extLst>
                  <a:ext uri="{FF2B5EF4-FFF2-40B4-BE49-F238E27FC236}">
                    <a16:creationId xmlns:a16="http://schemas.microsoft.com/office/drawing/2014/main" id="{F568938C-4401-4376-8096-95C1E2B159FD}"/>
                  </a:ext>
                </a:extLst>
              </p:cNvPr>
              <p:cNvSpPr>
                <a:spLocks noGrp="1"/>
              </p:cNvSpPr>
              <p:nvPr/>
            </p:nvSpPr>
            <p:spPr>
              <a:xfrm>
                <a:off x="2486025" y="3771900"/>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2</m:t>
                      </m:r>
                    </m:oMath>
                  </m:oMathPara>
                </a14:m>
                <a:endParaRPr lang="en-GB" sz="2100"/>
              </a:p>
            </p:txBody>
          </p:sp>
        </mc:Choice>
        <mc:Fallback xmlns="">
          <p:sp>
            <p:nvSpPr>
              <p:cNvPr id="23" name="weight_label_1_2" descr="2">
                <a:extLst>
                  <a:ext uri="{FF2B5EF4-FFF2-40B4-BE49-F238E27FC236}">
                    <a16:creationId xmlns:a16="http://schemas.microsoft.com/office/drawing/2014/main" id="{F568938C-4401-4376-8096-95C1E2B159FD}"/>
                  </a:ext>
                </a:extLst>
              </p:cNvPr>
              <p:cNvSpPr>
                <a:spLocks noGrp="1" noRot="1" noChangeAspect="1" noMove="1" noResize="1" noEditPoints="1" noAdjustHandles="1" noChangeArrowheads="1" noChangeShapeType="1" noTextEdit="1"/>
              </p:cNvSpPr>
              <p:nvPr/>
            </p:nvSpPr>
            <p:spPr>
              <a:xfrm>
                <a:off x="2486025" y="3771900"/>
                <a:ext cx="514350" cy="342900"/>
              </a:xfrm>
              <a:prstGeom prst="rect">
                <a:avLst/>
              </a:prstGeom>
              <a:blipFill>
                <a:blip r:embed="rId6"/>
                <a:stretch>
                  <a:fillRect b="-35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 name="weight_label_2_2" descr="0">
                <a:extLst>
                  <a:ext uri="{FF2B5EF4-FFF2-40B4-BE49-F238E27FC236}">
                    <a16:creationId xmlns:a16="http://schemas.microsoft.com/office/drawing/2014/main" id="{85F3E0DE-D518-4D7A-802E-0E23577E9AFC}"/>
                  </a:ext>
                </a:extLst>
              </p:cNvPr>
              <p:cNvSpPr>
                <a:spLocks noGrp="1"/>
              </p:cNvSpPr>
              <p:nvPr/>
            </p:nvSpPr>
            <p:spPr>
              <a:xfrm>
                <a:off x="2352675" y="4147004"/>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0</m:t>
                      </m:r>
                    </m:oMath>
                  </m:oMathPara>
                </a14:m>
                <a:endParaRPr lang="en-GB" sz="2100"/>
              </a:p>
            </p:txBody>
          </p:sp>
        </mc:Choice>
        <mc:Fallback xmlns="">
          <p:sp>
            <p:nvSpPr>
              <p:cNvPr id="24" name="weight_label_2_2" descr="0">
                <a:extLst>
                  <a:ext uri="{FF2B5EF4-FFF2-40B4-BE49-F238E27FC236}">
                    <a16:creationId xmlns:a16="http://schemas.microsoft.com/office/drawing/2014/main" id="{85F3E0DE-D518-4D7A-802E-0E23577E9AFC}"/>
                  </a:ext>
                </a:extLst>
              </p:cNvPr>
              <p:cNvSpPr>
                <a:spLocks noGrp="1" noRot="1" noChangeAspect="1" noMove="1" noResize="1" noEditPoints="1" noAdjustHandles="1" noChangeArrowheads="1" noChangeShapeType="1" noTextEdit="1"/>
              </p:cNvSpPr>
              <p:nvPr/>
            </p:nvSpPr>
            <p:spPr>
              <a:xfrm>
                <a:off x="2352675" y="4147004"/>
                <a:ext cx="514350" cy="342900"/>
              </a:xfrm>
              <a:prstGeom prst="rect">
                <a:avLst/>
              </a:prstGeom>
              <a:blipFill>
                <a:blip r:embed="rId7"/>
                <a:stretch>
                  <a:fillRect b="-350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 name="weight_label_1_3" descr="-1">
                <a:extLst>
                  <a:ext uri="{FF2B5EF4-FFF2-40B4-BE49-F238E27FC236}">
                    <a16:creationId xmlns:a16="http://schemas.microsoft.com/office/drawing/2014/main" id="{19D3A531-7661-40A7-9F2C-200B12AD63A0}"/>
                  </a:ext>
                </a:extLst>
              </p:cNvPr>
              <p:cNvSpPr>
                <a:spLocks noGrp="1"/>
              </p:cNvSpPr>
              <p:nvPr/>
            </p:nvSpPr>
            <p:spPr>
              <a:xfrm>
                <a:off x="2266950" y="4567615"/>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dirty="0"/>
              </a:p>
            </p:txBody>
          </p:sp>
        </mc:Choice>
        <mc:Fallback xmlns="">
          <p:sp>
            <p:nvSpPr>
              <p:cNvPr id="25" name="weight_label_1_3" descr="-1">
                <a:extLst>
                  <a:ext uri="{FF2B5EF4-FFF2-40B4-BE49-F238E27FC236}">
                    <a16:creationId xmlns:a16="http://schemas.microsoft.com/office/drawing/2014/main" id="{19D3A531-7661-40A7-9F2C-200B12AD63A0}"/>
                  </a:ext>
                </a:extLst>
              </p:cNvPr>
              <p:cNvSpPr>
                <a:spLocks noGrp="1" noRot="1" noChangeAspect="1" noMove="1" noResize="1" noEditPoints="1" noAdjustHandles="1" noChangeArrowheads="1" noChangeShapeType="1" noTextEdit="1"/>
              </p:cNvSpPr>
              <p:nvPr/>
            </p:nvSpPr>
            <p:spPr>
              <a:xfrm>
                <a:off x="2266950" y="4567615"/>
                <a:ext cx="514350" cy="342900"/>
              </a:xfrm>
              <a:prstGeom prst="rect">
                <a:avLst/>
              </a:prstGeom>
              <a:blipFill>
                <a:blip r:embed="rId8"/>
                <a:stretch>
                  <a:fillRect b="-350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weight_label_2_3" descr="1">
                <a:extLst>
                  <a:ext uri="{FF2B5EF4-FFF2-40B4-BE49-F238E27FC236}">
                    <a16:creationId xmlns:a16="http://schemas.microsoft.com/office/drawing/2014/main" id="{9B0FCB12-E51C-40B9-BDC7-49F22C41BBAF}"/>
                  </a:ext>
                </a:extLst>
              </p:cNvPr>
              <p:cNvSpPr>
                <a:spLocks noGrp="1"/>
              </p:cNvSpPr>
              <p:nvPr/>
            </p:nvSpPr>
            <p:spPr>
              <a:xfrm>
                <a:off x="1819275" y="4913842"/>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dirty="0"/>
              </a:p>
            </p:txBody>
          </p:sp>
        </mc:Choice>
        <mc:Fallback xmlns="">
          <p:sp>
            <p:nvSpPr>
              <p:cNvPr id="26" name="weight_label_2_3" descr="1">
                <a:extLst>
                  <a:ext uri="{FF2B5EF4-FFF2-40B4-BE49-F238E27FC236}">
                    <a16:creationId xmlns:a16="http://schemas.microsoft.com/office/drawing/2014/main" id="{9B0FCB12-E51C-40B9-BDC7-49F22C41BBAF}"/>
                  </a:ext>
                </a:extLst>
              </p:cNvPr>
              <p:cNvSpPr>
                <a:spLocks noGrp="1" noRot="1" noChangeAspect="1" noMove="1" noResize="1" noEditPoints="1" noAdjustHandles="1" noChangeArrowheads="1" noChangeShapeType="1" noTextEdit="1"/>
              </p:cNvSpPr>
              <p:nvPr/>
            </p:nvSpPr>
            <p:spPr>
              <a:xfrm>
                <a:off x="1819275" y="4913842"/>
                <a:ext cx="514350" cy="342900"/>
              </a:xfrm>
              <a:prstGeom prst="rect">
                <a:avLst/>
              </a:prstGeom>
              <a:blipFill>
                <a:blip r:embed="rId9"/>
                <a:stretch>
                  <a:fillRect b="-3571"/>
                </a:stretch>
              </a:blipFill>
              <a:ln w="0">
                <a:noFill/>
              </a:ln>
            </p:spPr>
            <p:txBody>
              <a:bodyPr/>
              <a:lstStyle/>
              <a:p>
                <a:r>
                  <a:rPr lang="it-IT">
                    <a:noFill/>
                  </a:rPr>
                  <a:t> </a:t>
                </a:r>
              </a:p>
            </p:txBody>
          </p:sp>
        </mc:Fallback>
      </mc:AlternateContent>
      <p:sp>
        <p:nvSpPr>
          <p:cNvPr id="27" name="input_1">
            <a:extLst>
              <a:ext uri="{FF2B5EF4-FFF2-40B4-BE49-F238E27FC236}">
                <a16:creationId xmlns:a16="http://schemas.microsoft.com/office/drawing/2014/main" id="{E02529F2-6FF0-4854-A387-5BAC726CCEB5}"/>
              </a:ext>
            </a:extLst>
          </p:cNvPr>
          <p:cNvSpPr>
            <a:spLocks noGrp="1"/>
          </p:cNvSpPr>
          <p:nvPr/>
        </p:nvSpPr>
        <p:spPr>
          <a:xfrm>
            <a:off x="381000" y="3067050"/>
            <a:ext cx="533400" cy="533400"/>
          </a:xfrm>
          <a:prstGeom prst="ellipse">
            <a:avLst/>
          </a:prstGeom>
          <a:solidFill>
            <a:srgbClr val="FFFFF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28" name="input_value_1" descr="1">
                <a:extLst>
                  <a:ext uri="{FF2B5EF4-FFF2-40B4-BE49-F238E27FC236}">
                    <a16:creationId xmlns:a16="http://schemas.microsoft.com/office/drawing/2014/main" id="{68ECF66F-9A98-4A30-99DA-1C929B3E7B85}"/>
                  </a:ext>
                </a:extLst>
              </p:cNvPr>
              <p:cNvSpPr>
                <a:spLocks noGrp="1"/>
              </p:cNvSpPr>
              <p:nvPr/>
            </p:nvSpPr>
            <p:spPr>
              <a:xfrm>
                <a:off x="381000" y="306705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500" b="0" i="0" smtClean="0">
                          <a:solidFill>
                            <a:srgbClr val="182D45"/>
                          </a:solidFill>
                          <a:latin typeface="Cambria Math" panose="02040503050406030204" pitchFamily="18" charset="0"/>
                          <a:ea typeface="Cambria Math"/>
                          <a:cs typeface="Cambria Math"/>
                        </a:rPr>
                        <m:t> </m:t>
                      </m:r>
                      <m:r>
                        <a:rPr lang="en-GB" sz="2500">
                          <a:solidFill>
                            <a:srgbClr val="182D45"/>
                          </a:solidFill>
                          <a:latin typeface="Cambria Math"/>
                          <a:ea typeface="Cambria Math"/>
                          <a:cs typeface="Cambria Math"/>
                        </a:rPr>
                        <m:t>1</m:t>
                      </m:r>
                    </m:oMath>
                  </m:oMathPara>
                </a14:m>
                <a:endParaRPr lang="en-GB" sz="2500" dirty="0"/>
              </a:p>
            </p:txBody>
          </p:sp>
        </mc:Choice>
        <mc:Fallback xmlns="">
          <p:sp>
            <p:nvSpPr>
              <p:cNvPr id="28" name="input_value_1" descr="1">
                <a:extLst>
                  <a:ext uri="{FF2B5EF4-FFF2-40B4-BE49-F238E27FC236}">
                    <a16:creationId xmlns:a16="http://schemas.microsoft.com/office/drawing/2014/main" id="{68ECF66F-9A98-4A30-99DA-1C929B3E7B85}"/>
                  </a:ext>
                </a:extLst>
              </p:cNvPr>
              <p:cNvSpPr>
                <a:spLocks noGrp="1" noRot="1" noChangeAspect="1" noMove="1" noResize="1" noEditPoints="1" noAdjustHandles="1" noChangeArrowheads="1" noChangeShapeType="1" noTextEdit="1"/>
              </p:cNvSpPr>
              <p:nvPr/>
            </p:nvSpPr>
            <p:spPr>
              <a:xfrm>
                <a:off x="381000" y="3067050"/>
                <a:ext cx="533400" cy="533400"/>
              </a:xfrm>
              <a:prstGeom prst="rect">
                <a:avLst/>
              </a:prstGeom>
              <a:blipFill>
                <a:blip r:embed="rId10"/>
                <a:stretch>
                  <a:fillRect/>
                </a:stretch>
              </a:blipFill>
              <a:ln w="0">
                <a:noFill/>
              </a:ln>
            </p:spPr>
            <p:txBody>
              <a:bodyPr/>
              <a:lstStyle/>
              <a:p>
                <a:r>
                  <a:rPr lang="it-IT">
                    <a:noFill/>
                  </a:rPr>
                  <a:t> </a:t>
                </a:r>
              </a:p>
            </p:txBody>
          </p:sp>
        </mc:Fallback>
      </mc:AlternateContent>
      <p:sp>
        <p:nvSpPr>
          <p:cNvPr id="29" name="input_2">
            <a:extLst>
              <a:ext uri="{FF2B5EF4-FFF2-40B4-BE49-F238E27FC236}">
                <a16:creationId xmlns:a16="http://schemas.microsoft.com/office/drawing/2014/main" id="{7FF9F28D-3157-4D3D-B338-E6ED83EB9439}"/>
              </a:ext>
            </a:extLst>
          </p:cNvPr>
          <p:cNvSpPr>
            <a:spLocks noGrp="1"/>
          </p:cNvSpPr>
          <p:nvPr/>
        </p:nvSpPr>
        <p:spPr>
          <a:xfrm>
            <a:off x="381000" y="4495800"/>
            <a:ext cx="533400" cy="533400"/>
          </a:xfrm>
          <a:prstGeom prst="ellipse">
            <a:avLst/>
          </a:prstGeom>
          <a:solidFill>
            <a:srgbClr val="FFFFF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0" name="input_value_2" descr="2">
                <a:extLst>
                  <a:ext uri="{FF2B5EF4-FFF2-40B4-BE49-F238E27FC236}">
                    <a16:creationId xmlns:a16="http://schemas.microsoft.com/office/drawing/2014/main" id="{80B42541-1823-4178-997C-25A9B6001A91}"/>
                  </a:ext>
                </a:extLst>
              </p:cNvPr>
              <p:cNvSpPr>
                <a:spLocks noGrp="1"/>
              </p:cNvSpPr>
              <p:nvPr/>
            </p:nvSpPr>
            <p:spPr>
              <a:xfrm>
                <a:off x="381000" y="449580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500" b="0" i="0" smtClean="0">
                          <a:solidFill>
                            <a:srgbClr val="182D45"/>
                          </a:solidFill>
                          <a:latin typeface="Cambria Math" panose="02040503050406030204" pitchFamily="18" charset="0"/>
                          <a:ea typeface="Cambria Math"/>
                          <a:cs typeface="Cambria Math"/>
                        </a:rPr>
                        <m:t> </m:t>
                      </m:r>
                      <m:r>
                        <a:rPr lang="en-GB" sz="2500">
                          <a:solidFill>
                            <a:srgbClr val="182D45"/>
                          </a:solidFill>
                          <a:latin typeface="Cambria Math"/>
                          <a:ea typeface="Cambria Math"/>
                          <a:cs typeface="Cambria Math"/>
                        </a:rPr>
                        <m:t>2</m:t>
                      </m:r>
                    </m:oMath>
                  </m:oMathPara>
                </a14:m>
                <a:endParaRPr lang="en-GB" sz="2500" dirty="0"/>
              </a:p>
            </p:txBody>
          </p:sp>
        </mc:Choice>
        <mc:Fallback xmlns="">
          <p:sp>
            <p:nvSpPr>
              <p:cNvPr id="30" name="input_value_2" descr="2">
                <a:extLst>
                  <a:ext uri="{FF2B5EF4-FFF2-40B4-BE49-F238E27FC236}">
                    <a16:creationId xmlns:a16="http://schemas.microsoft.com/office/drawing/2014/main" id="{80B42541-1823-4178-997C-25A9B6001A91}"/>
                  </a:ext>
                </a:extLst>
              </p:cNvPr>
              <p:cNvSpPr>
                <a:spLocks noGrp="1" noRot="1" noChangeAspect="1" noMove="1" noResize="1" noEditPoints="1" noAdjustHandles="1" noChangeArrowheads="1" noChangeShapeType="1" noTextEdit="1"/>
              </p:cNvSpPr>
              <p:nvPr/>
            </p:nvSpPr>
            <p:spPr>
              <a:xfrm>
                <a:off x="381000" y="4495800"/>
                <a:ext cx="533400" cy="533400"/>
              </a:xfrm>
              <a:prstGeom prst="rect">
                <a:avLst/>
              </a:prstGeom>
              <a:blipFill>
                <a:blip r:embed="rId11"/>
                <a:stretch>
                  <a:fillRect/>
                </a:stretch>
              </a:blipFill>
              <a:ln w="0">
                <a:noFill/>
              </a:ln>
            </p:spPr>
            <p:txBody>
              <a:bodyPr/>
              <a:lstStyle/>
              <a:p>
                <a:r>
                  <a:rPr lang="it-IT">
                    <a:noFill/>
                  </a:rPr>
                  <a:t> </a:t>
                </a:r>
              </a:p>
            </p:txBody>
          </p:sp>
        </mc:Fallback>
      </mc:AlternateContent>
      <p:sp>
        <p:nvSpPr>
          <p:cNvPr id="31" name="sum_1">
            <a:extLst>
              <a:ext uri="{FF2B5EF4-FFF2-40B4-BE49-F238E27FC236}">
                <a16:creationId xmlns:a16="http://schemas.microsoft.com/office/drawing/2014/main" id="{2205D3B6-72BF-4BC1-AE44-8FC331F1789E}"/>
              </a:ext>
            </a:extLst>
          </p:cNvPr>
          <p:cNvSpPr>
            <a:spLocks noGrp="1"/>
          </p:cNvSpPr>
          <p:nvPr/>
        </p:nvSpPr>
        <p:spPr>
          <a:xfrm>
            <a:off x="3314700" y="2390775"/>
            <a:ext cx="2286000" cy="89535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32" name="sum_expression_1" descr="1(1)+2(-1)">
                <a:extLst>
                  <a:ext uri="{FF2B5EF4-FFF2-40B4-BE49-F238E27FC236}">
                    <a16:creationId xmlns:a16="http://schemas.microsoft.com/office/drawing/2014/main" id="{26758C7F-E74B-48BB-8970-541D0F488020}"/>
                  </a:ext>
                </a:extLst>
              </p:cNvPr>
              <p:cNvSpPr>
                <a:spLocks noGrp="1"/>
              </p:cNvSpPr>
              <p:nvPr/>
            </p:nvSpPr>
            <p:spPr>
              <a:xfrm>
                <a:off x="3314700" y="24669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087F83"/>
                          </a:solidFill>
                          <a:latin typeface="Cambria Math"/>
                          <a:ea typeface="Cambria Math"/>
                          <a:cs typeface="Cambria Math"/>
                        </a:rPr>
                        <m:t>1(1)+2(−1)</m:t>
                      </m:r>
                    </m:oMath>
                  </m:oMathPara>
                </a14:m>
                <a:endParaRPr lang="en-GB" sz="2000"/>
              </a:p>
            </p:txBody>
          </p:sp>
        </mc:Choice>
        <mc:Fallback xmlns="">
          <p:sp>
            <p:nvSpPr>
              <p:cNvPr id="32" name="sum_expression_1" descr="1(1)+2(-1)">
                <a:extLst>
                  <a:ext uri="{FF2B5EF4-FFF2-40B4-BE49-F238E27FC236}">
                    <a16:creationId xmlns:a16="http://schemas.microsoft.com/office/drawing/2014/main" id="{26758C7F-E74B-48BB-8970-541D0F488020}"/>
                  </a:ext>
                </a:extLst>
              </p:cNvPr>
              <p:cNvSpPr>
                <a:spLocks noGrp="1" noRot="1" noChangeAspect="1" noMove="1" noResize="1" noEditPoints="1" noAdjustHandles="1" noChangeArrowheads="1" noChangeShapeType="1" noTextEdit="1"/>
              </p:cNvSpPr>
              <p:nvPr/>
            </p:nvSpPr>
            <p:spPr>
              <a:xfrm>
                <a:off x="3314700" y="2466975"/>
                <a:ext cx="2286000" cy="361950"/>
              </a:xfrm>
              <a:prstGeom prst="rect">
                <a:avLst/>
              </a:prstGeom>
              <a:blipFill>
                <a:blip r:embed="rId12"/>
                <a:stretch>
                  <a:fillRect b="-2203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 name="sum_result_1" descr="=-1">
                <a:extLst>
                  <a:ext uri="{FF2B5EF4-FFF2-40B4-BE49-F238E27FC236}">
                    <a16:creationId xmlns:a16="http://schemas.microsoft.com/office/drawing/2014/main" id="{9083BF09-41D3-40A6-B98A-6E748899BD7D}"/>
                  </a:ext>
                </a:extLst>
              </p:cNvPr>
              <p:cNvSpPr>
                <a:spLocks noGrp="1"/>
              </p:cNvSpPr>
              <p:nvPr/>
            </p:nvSpPr>
            <p:spPr>
              <a:xfrm>
                <a:off x="3314700" y="28575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087F83"/>
                          </a:solidFill>
                          <a:latin typeface="Cambria Math"/>
                          <a:ea typeface="Cambria Math"/>
                          <a:cs typeface="Cambria Math"/>
                        </a:rPr>
                        <m:t>=−1</m:t>
                      </m:r>
                    </m:oMath>
                  </m:oMathPara>
                </a14:m>
                <a:endParaRPr lang="en-GB" sz="2400"/>
              </a:p>
            </p:txBody>
          </p:sp>
        </mc:Choice>
        <mc:Fallback xmlns="">
          <p:sp>
            <p:nvSpPr>
              <p:cNvPr id="33" name="sum_result_1" descr="=-1">
                <a:extLst>
                  <a:ext uri="{FF2B5EF4-FFF2-40B4-BE49-F238E27FC236}">
                    <a16:creationId xmlns:a16="http://schemas.microsoft.com/office/drawing/2014/main" id="{9083BF09-41D3-40A6-B98A-6E748899BD7D}"/>
                  </a:ext>
                </a:extLst>
              </p:cNvPr>
              <p:cNvSpPr>
                <a:spLocks noGrp="1" noRot="1" noChangeAspect="1" noMove="1" noResize="1" noEditPoints="1" noAdjustHandles="1" noChangeArrowheads="1" noChangeShapeType="1" noTextEdit="1"/>
              </p:cNvSpPr>
              <p:nvPr/>
            </p:nvSpPr>
            <p:spPr>
              <a:xfrm>
                <a:off x="3314700" y="2857500"/>
                <a:ext cx="2286000" cy="371475"/>
              </a:xfrm>
              <a:prstGeom prst="rect">
                <a:avLst/>
              </a:prstGeom>
              <a:blipFill>
                <a:blip r:embed="rId13"/>
                <a:stretch>
                  <a:fillRect b="-6557"/>
                </a:stretch>
              </a:blipFill>
              <a:ln w="0">
                <a:noFill/>
              </a:ln>
            </p:spPr>
            <p:txBody>
              <a:bodyPr/>
              <a:lstStyle/>
              <a:p>
                <a:r>
                  <a:rPr lang="it-IT">
                    <a:noFill/>
                  </a:rPr>
                  <a:t> </a:t>
                </a:r>
              </a:p>
            </p:txBody>
          </p:sp>
        </mc:Fallback>
      </mc:AlternateContent>
      <p:sp>
        <p:nvSpPr>
          <p:cNvPr id="34" name="pre_1">
            <a:extLst>
              <a:ext uri="{FF2B5EF4-FFF2-40B4-BE49-F238E27FC236}">
                <a16:creationId xmlns:a16="http://schemas.microsoft.com/office/drawing/2014/main" id="{EAE517CE-0E3D-427A-B822-1AAFE56FA91B}"/>
              </a:ext>
            </a:extLst>
          </p:cNvPr>
          <p:cNvSpPr>
            <a:spLocks noGrp="1"/>
          </p:cNvSpPr>
          <p:nvPr/>
        </p:nvSpPr>
        <p:spPr>
          <a:xfrm>
            <a:off x="7134225" y="23622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35" name="pre_value_1" descr="?">
                <a:extLst>
                  <a:ext uri="{FF2B5EF4-FFF2-40B4-BE49-F238E27FC236}">
                    <a16:creationId xmlns:a16="http://schemas.microsoft.com/office/drawing/2014/main" id="{AF2BA880-7869-4CD9-A587-0EAE1FC0028B}"/>
                  </a:ext>
                </a:extLst>
              </p:cNvPr>
              <p:cNvSpPr>
                <a:spLocks noGrp="1"/>
              </p:cNvSpPr>
              <p:nvPr/>
            </p:nvSpPr>
            <p:spPr>
              <a:xfrm>
                <a:off x="7134225" y="23622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35" name="pre_value_1" descr="?">
                <a:extLst>
                  <a:ext uri="{FF2B5EF4-FFF2-40B4-BE49-F238E27FC236}">
                    <a16:creationId xmlns:a16="http://schemas.microsoft.com/office/drawing/2014/main" id="{AF2BA880-7869-4CD9-A587-0EAE1FC0028B}"/>
                  </a:ext>
                </a:extLst>
              </p:cNvPr>
              <p:cNvSpPr>
                <a:spLocks noGrp="1" noRot="1" noChangeAspect="1" noMove="1" noResize="1" noEditPoints="1" noAdjustHandles="1" noChangeArrowheads="1" noChangeShapeType="1" noTextEdit="1"/>
              </p:cNvSpPr>
              <p:nvPr/>
            </p:nvSpPr>
            <p:spPr>
              <a:xfrm>
                <a:off x="7134225" y="2362200"/>
                <a:ext cx="952500" cy="952500"/>
              </a:xfrm>
              <a:prstGeom prst="rect">
                <a:avLst/>
              </a:prstGeom>
              <a:blipFill>
                <a:blip r:embed="rId14"/>
                <a:stretch>
                  <a:fillRect/>
                </a:stretch>
              </a:blipFill>
              <a:ln w="0">
                <a:noFill/>
              </a:ln>
            </p:spPr>
            <p:txBody>
              <a:bodyPr/>
              <a:lstStyle/>
              <a:p>
                <a:r>
                  <a:rPr lang="it-IT">
                    <a:noFill/>
                  </a:rPr>
                  <a:t> </a:t>
                </a:r>
              </a:p>
            </p:txBody>
          </p:sp>
        </mc:Fallback>
      </mc:AlternateContent>
      <p:sp>
        <p:nvSpPr>
          <p:cNvPr id="36" name="activation_1">
            <a:extLst>
              <a:ext uri="{FF2B5EF4-FFF2-40B4-BE49-F238E27FC236}">
                <a16:creationId xmlns:a16="http://schemas.microsoft.com/office/drawing/2014/main" id="{9B1311FC-C371-4B8A-8525-559A69D4527D}"/>
              </a:ext>
            </a:extLst>
          </p:cNvPr>
          <p:cNvSpPr>
            <a:spLocks noGrp="1"/>
          </p:cNvSpPr>
          <p:nvPr/>
        </p:nvSpPr>
        <p:spPr>
          <a:xfrm>
            <a:off x="10439400" y="23622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37" name="activation_value_1" descr="?">
                <a:extLst>
                  <a:ext uri="{FF2B5EF4-FFF2-40B4-BE49-F238E27FC236}">
                    <a16:creationId xmlns:a16="http://schemas.microsoft.com/office/drawing/2014/main" id="{2DDB1E46-8B00-4E3F-873A-EFD7370BAC4A}"/>
                  </a:ext>
                </a:extLst>
              </p:cNvPr>
              <p:cNvSpPr>
                <a:spLocks noGrp="1"/>
              </p:cNvSpPr>
              <p:nvPr/>
            </p:nvSpPr>
            <p:spPr>
              <a:xfrm>
                <a:off x="10439400" y="23622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37" name="activation_value_1" descr="?">
                <a:extLst>
                  <a:ext uri="{FF2B5EF4-FFF2-40B4-BE49-F238E27FC236}">
                    <a16:creationId xmlns:a16="http://schemas.microsoft.com/office/drawing/2014/main" id="{2DDB1E46-8B00-4E3F-873A-EFD7370BAC4A}"/>
                  </a:ext>
                </a:extLst>
              </p:cNvPr>
              <p:cNvSpPr>
                <a:spLocks noGrp="1" noRot="1" noChangeAspect="1" noMove="1" noResize="1" noEditPoints="1" noAdjustHandles="1" noChangeArrowheads="1" noChangeShapeType="1" noTextEdit="1"/>
              </p:cNvSpPr>
              <p:nvPr/>
            </p:nvSpPr>
            <p:spPr>
              <a:xfrm>
                <a:off x="10439400" y="2362200"/>
                <a:ext cx="952500" cy="952500"/>
              </a:xfrm>
              <a:prstGeom prst="rect">
                <a:avLst/>
              </a:prstGeom>
              <a:blipFill>
                <a:blip r:embed="rId1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8" name="bias_value_1" descr="+0">
                <a:extLst>
                  <a:ext uri="{FF2B5EF4-FFF2-40B4-BE49-F238E27FC236}">
                    <a16:creationId xmlns:a16="http://schemas.microsoft.com/office/drawing/2014/main" id="{2370703B-CD97-4305-AA5A-AB6DBE6AE6BD}"/>
                  </a:ext>
                </a:extLst>
              </p:cNvPr>
              <p:cNvSpPr>
                <a:spLocks noGrp="1"/>
              </p:cNvSpPr>
              <p:nvPr/>
            </p:nvSpPr>
            <p:spPr>
              <a:xfrm>
                <a:off x="5810250" y="24288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B6C2CD"/>
                          </a:solidFill>
                          <a:latin typeface="Cambria Math"/>
                          <a:ea typeface="Cambria Math"/>
                          <a:cs typeface="Cambria Math"/>
                        </a:rPr>
                        <m:t>+0</m:t>
                      </m:r>
                    </m:oMath>
                  </m:oMathPara>
                </a14:m>
                <a:endParaRPr lang="en-GB" sz="2300"/>
              </a:p>
            </p:txBody>
          </p:sp>
        </mc:Choice>
        <mc:Fallback xmlns="">
          <p:sp>
            <p:nvSpPr>
              <p:cNvPr id="38" name="bias_value_1" descr="+0">
                <a:extLst>
                  <a:ext uri="{FF2B5EF4-FFF2-40B4-BE49-F238E27FC236}">
                    <a16:creationId xmlns:a16="http://schemas.microsoft.com/office/drawing/2014/main" id="{2370703B-CD97-4305-AA5A-AB6DBE6AE6BD}"/>
                  </a:ext>
                </a:extLst>
              </p:cNvPr>
              <p:cNvSpPr>
                <a:spLocks noGrp="1" noRot="1" noChangeAspect="1" noMove="1" noResize="1" noEditPoints="1" noAdjustHandles="1" noChangeArrowheads="1" noChangeShapeType="1" noTextEdit="1"/>
              </p:cNvSpPr>
              <p:nvPr/>
            </p:nvSpPr>
            <p:spPr>
              <a:xfrm>
                <a:off x="5810250" y="2428875"/>
                <a:ext cx="1000125" cy="352425"/>
              </a:xfrm>
              <a:prstGeom prst="rect">
                <a:avLst/>
              </a:prstGeom>
              <a:blipFill>
                <a:blip r:embed="rId16"/>
                <a:stretch>
                  <a:fillRect b="-10345"/>
                </a:stretch>
              </a:blipFill>
              <a:ln w="0">
                <a:noFill/>
              </a:ln>
            </p:spPr>
            <p:txBody>
              <a:bodyPr/>
              <a:lstStyle/>
              <a:p>
                <a:r>
                  <a:rPr lang="it-IT">
                    <a:noFill/>
                  </a:rPr>
                  <a:t> </a:t>
                </a:r>
              </a:p>
            </p:txBody>
          </p:sp>
        </mc:Fallback>
      </mc:AlternateContent>
      <p:sp>
        <p:nvSpPr>
          <p:cNvPr id="39" name="relu_label_1">
            <a:extLst>
              <a:ext uri="{FF2B5EF4-FFF2-40B4-BE49-F238E27FC236}">
                <a16:creationId xmlns:a16="http://schemas.microsoft.com/office/drawing/2014/main" id="{8302DAF3-6DA4-4BFF-8ED7-6A9B2E86B523}"/>
              </a:ext>
            </a:extLst>
          </p:cNvPr>
          <p:cNvSpPr>
            <a:spLocks noGrp="1"/>
          </p:cNvSpPr>
          <p:nvPr/>
        </p:nvSpPr>
        <p:spPr>
          <a:xfrm>
            <a:off x="8639175" y="2428875"/>
            <a:ext cx="1238250" cy="352425"/>
          </a:xfrm>
          <a:prstGeom prst="rect">
            <a:avLst/>
          </a:prstGeom>
          <a:noFill/>
          <a:ln w="0">
            <a:noFill/>
          </a:ln>
        </p:spPr>
        <p:txBody>
          <a:bodyPr anchor="ctr">
            <a:noAutofit/>
          </a:bodyPr>
          <a:lstStyle/>
          <a:p>
            <a:pPr algn="ctr">
              <a:defRPr sz="1875" b="0">
                <a:solidFill>
                  <a:srgbClr val="B6C2CD"/>
                </a:solidFill>
                <a:latin typeface="DejaVu Sans"/>
                <a:ea typeface="DejaVu Sans"/>
                <a:cs typeface="DejaVu Sans"/>
              </a:defRPr>
            </a:pPr>
            <a:r>
              <a:rPr sz="1875" b="0">
                <a:solidFill>
                  <a:srgbClr val="B6C2CD"/>
                </a:solidFill>
                <a:latin typeface="DejaVu Sans"/>
                <a:ea typeface="DejaVu Sans"/>
                <a:cs typeface="DejaVu Sans"/>
              </a:rPr>
              <a:t>ReLU</a:t>
            </a:r>
          </a:p>
        </p:txBody>
      </p:sp>
      <p:sp>
        <p:nvSpPr>
          <p:cNvPr id="40" name="sum_2">
            <a:extLst>
              <a:ext uri="{FF2B5EF4-FFF2-40B4-BE49-F238E27FC236}">
                <a16:creationId xmlns:a16="http://schemas.microsoft.com/office/drawing/2014/main" id="{9EE89B64-9AAC-462A-BF21-0C1D23D314F5}"/>
              </a:ext>
            </a:extLst>
          </p:cNvPr>
          <p:cNvSpPr>
            <a:spLocks noGrp="1"/>
          </p:cNvSpPr>
          <p:nvPr/>
        </p:nvSpPr>
        <p:spPr>
          <a:xfrm>
            <a:off x="3314700" y="3686175"/>
            <a:ext cx="2286000" cy="89535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41" name="sum_expression_2" descr="1(2)+2(0)">
                <a:extLst>
                  <a:ext uri="{FF2B5EF4-FFF2-40B4-BE49-F238E27FC236}">
                    <a16:creationId xmlns:a16="http://schemas.microsoft.com/office/drawing/2014/main" id="{DB4F0987-3090-4017-862F-682D5E3363A0}"/>
                  </a:ext>
                </a:extLst>
              </p:cNvPr>
              <p:cNvSpPr>
                <a:spLocks noGrp="1"/>
              </p:cNvSpPr>
              <p:nvPr/>
            </p:nvSpPr>
            <p:spPr>
              <a:xfrm>
                <a:off x="3314700" y="37623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087F83"/>
                          </a:solidFill>
                          <a:latin typeface="Cambria Math"/>
                          <a:ea typeface="Cambria Math"/>
                          <a:cs typeface="Cambria Math"/>
                        </a:rPr>
                        <m:t>1(2)+2(0)</m:t>
                      </m:r>
                    </m:oMath>
                  </m:oMathPara>
                </a14:m>
                <a:endParaRPr lang="en-GB" sz="2000"/>
              </a:p>
            </p:txBody>
          </p:sp>
        </mc:Choice>
        <mc:Fallback xmlns="">
          <p:sp>
            <p:nvSpPr>
              <p:cNvPr id="41" name="sum_expression_2" descr="1(2)+2(0)">
                <a:extLst>
                  <a:ext uri="{FF2B5EF4-FFF2-40B4-BE49-F238E27FC236}">
                    <a16:creationId xmlns:a16="http://schemas.microsoft.com/office/drawing/2014/main" id="{DB4F0987-3090-4017-862F-682D5E3363A0}"/>
                  </a:ext>
                </a:extLst>
              </p:cNvPr>
              <p:cNvSpPr>
                <a:spLocks noGrp="1" noRot="1" noChangeAspect="1" noMove="1" noResize="1" noEditPoints="1" noAdjustHandles="1" noChangeArrowheads="1" noChangeShapeType="1" noTextEdit="1"/>
              </p:cNvSpPr>
              <p:nvPr/>
            </p:nvSpPr>
            <p:spPr>
              <a:xfrm>
                <a:off x="3314700" y="3762375"/>
                <a:ext cx="2286000" cy="361950"/>
              </a:xfrm>
              <a:prstGeom prst="rect">
                <a:avLst/>
              </a:prstGeom>
              <a:blipFill>
                <a:blip r:embed="rId17"/>
                <a:stretch>
                  <a:fillRect b="-2166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2" name="sum_result_2" descr="=2">
                <a:extLst>
                  <a:ext uri="{FF2B5EF4-FFF2-40B4-BE49-F238E27FC236}">
                    <a16:creationId xmlns:a16="http://schemas.microsoft.com/office/drawing/2014/main" id="{E86ECED1-BFBC-484A-9B95-9A8DAE6BD40D}"/>
                  </a:ext>
                </a:extLst>
              </p:cNvPr>
              <p:cNvSpPr>
                <a:spLocks noGrp="1"/>
              </p:cNvSpPr>
              <p:nvPr/>
            </p:nvSpPr>
            <p:spPr>
              <a:xfrm>
                <a:off x="3314700" y="41529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087F83"/>
                          </a:solidFill>
                          <a:latin typeface="Cambria Math"/>
                          <a:ea typeface="Cambria Math"/>
                          <a:cs typeface="Cambria Math"/>
                        </a:rPr>
                        <m:t>=2</m:t>
                      </m:r>
                    </m:oMath>
                  </m:oMathPara>
                </a14:m>
                <a:endParaRPr lang="en-GB" sz="2400"/>
              </a:p>
            </p:txBody>
          </p:sp>
        </mc:Choice>
        <mc:Fallback xmlns="">
          <p:sp>
            <p:nvSpPr>
              <p:cNvPr id="42" name="sum_result_2" descr="=2">
                <a:extLst>
                  <a:ext uri="{FF2B5EF4-FFF2-40B4-BE49-F238E27FC236}">
                    <a16:creationId xmlns:a16="http://schemas.microsoft.com/office/drawing/2014/main" id="{E86ECED1-BFBC-484A-9B95-9A8DAE6BD40D}"/>
                  </a:ext>
                </a:extLst>
              </p:cNvPr>
              <p:cNvSpPr>
                <a:spLocks noGrp="1" noRot="1" noChangeAspect="1" noMove="1" noResize="1" noEditPoints="1" noAdjustHandles="1" noChangeArrowheads="1" noChangeShapeType="1" noTextEdit="1"/>
              </p:cNvSpPr>
              <p:nvPr/>
            </p:nvSpPr>
            <p:spPr>
              <a:xfrm>
                <a:off x="3314700" y="4152900"/>
                <a:ext cx="2286000" cy="371475"/>
              </a:xfrm>
              <a:prstGeom prst="rect">
                <a:avLst/>
              </a:prstGeom>
              <a:blipFill>
                <a:blip r:embed="rId18"/>
                <a:stretch>
                  <a:fillRect b="-6557"/>
                </a:stretch>
              </a:blipFill>
              <a:ln w="0">
                <a:noFill/>
              </a:ln>
            </p:spPr>
            <p:txBody>
              <a:bodyPr/>
              <a:lstStyle/>
              <a:p>
                <a:r>
                  <a:rPr lang="it-IT">
                    <a:noFill/>
                  </a:rPr>
                  <a:t> </a:t>
                </a:r>
              </a:p>
            </p:txBody>
          </p:sp>
        </mc:Fallback>
      </mc:AlternateContent>
      <p:sp>
        <p:nvSpPr>
          <p:cNvPr id="43" name="pre_2">
            <a:extLst>
              <a:ext uri="{FF2B5EF4-FFF2-40B4-BE49-F238E27FC236}">
                <a16:creationId xmlns:a16="http://schemas.microsoft.com/office/drawing/2014/main" id="{AD0699E9-9F31-412A-8EBD-3AF5B20CD138}"/>
              </a:ext>
            </a:extLst>
          </p:cNvPr>
          <p:cNvSpPr>
            <a:spLocks noGrp="1"/>
          </p:cNvSpPr>
          <p:nvPr/>
        </p:nvSpPr>
        <p:spPr>
          <a:xfrm>
            <a:off x="7134225" y="36576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44" name="pre_value_2" descr="?">
                <a:extLst>
                  <a:ext uri="{FF2B5EF4-FFF2-40B4-BE49-F238E27FC236}">
                    <a16:creationId xmlns:a16="http://schemas.microsoft.com/office/drawing/2014/main" id="{87A8F6F3-65C8-4FB9-8643-90685A5FD720}"/>
                  </a:ext>
                </a:extLst>
              </p:cNvPr>
              <p:cNvSpPr>
                <a:spLocks noGrp="1"/>
              </p:cNvSpPr>
              <p:nvPr/>
            </p:nvSpPr>
            <p:spPr>
              <a:xfrm>
                <a:off x="7134225" y="36576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44" name="pre_value_2" descr="?">
                <a:extLst>
                  <a:ext uri="{FF2B5EF4-FFF2-40B4-BE49-F238E27FC236}">
                    <a16:creationId xmlns:a16="http://schemas.microsoft.com/office/drawing/2014/main" id="{87A8F6F3-65C8-4FB9-8643-90685A5FD720}"/>
                  </a:ext>
                </a:extLst>
              </p:cNvPr>
              <p:cNvSpPr>
                <a:spLocks noGrp="1" noRot="1" noChangeAspect="1" noMove="1" noResize="1" noEditPoints="1" noAdjustHandles="1" noChangeArrowheads="1" noChangeShapeType="1" noTextEdit="1"/>
              </p:cNvSpPr>
              <p:nvPr/>
            </p:nvSpPr>
            <p:spPr>
              <a:xfrm>
                <a:off x="7134225" y="3657600"/>
                <a:ext cx="952500" cy="952500"/>
              </a:xfrm>
              <a:prstGeom prst="rect">
                <a:avLst/>
              </a:prstGeom>
              <a:blipFill>
                <a:blip r:embed="rId19"/>
                <a:stretch>
                  <a:fillRect/>
                </a:stretch>
              </a:blipFill>
              <a:ln w="0">
                <a:noFill/>
              </a:ln>
            </p:spPr>
            <p:txBody>
              <a:bodyPr/>
              <a:lstStyle/>
              <a:p>
                <a:r>
                  <a:rPr lang="it-IT">
                    <a:noFill/>
                  </a:rPr>
                  <a:t> </a:t>
                </a:r>
              </a:p>
            </p:txBody>
          </p:sp>
        </mc:Fallback>
      </mc:AlternateContent>
      <p:sp>
        <p:nvSpPr>
          <p:cNvPr id="45" name="activation_2">
            <a:extLst>
              <a:ext uri="{FF2B5EF4-FFF2-40B4-BE49-F238E27FC236}">
                <a16:creationId xmlns:a16="http://schemas.microsoft.com/office/drawing/2014/main" id="{FD08417B-64E7-428C-B891-3FDB7410000D}"/>
              </a:ext>
            </a:extLst>
          </p:cNvPr>
          <p:cNvSpPr>
            <a:spLocks noGrp="1"/>
          </p:cNvSpPr>
          <p:nvPr/>
        </p:nvSpPr>
        <p:spPr>
          <a:xfrm>
            <a:off x="10439400" y="36576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46" name="activation_value_2" descr="?">
                <a:extLst>
                  <a:ext uri="{FF2B5EF4-FFF2-40B4-BE49-F238E27FC236}">
                    <a16:creationId xmlns:a16="http://schemas.microsoft.com/office/drawing/2014/main" id="{1C4388CD-6F2C-4A52-91A0-57127DCE7735}"/>
                  </a:ext>
                </a:extLst>
              </p:cNvPr>
              <p:cNvSpPr>
                <a:spLocks noGrp="1"/>
              </p:cNvSpPr>
              <p:nvPr/>
            </p:nvSpPr>
            <p:spPr>
              <a:xfrm>
                <a:off x="10439400" y="36576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46" name="activation_value_2" descr="?">
                <a:extLst>
                  <a:ext uri="{FF2B5EF4-FFF2-40B4-BE49-F238E27FC236}">
                    <a16:creationId xmlns:a16="http://schemas.microsoft.com/office/drawing/2014/main" id="{1C4388CD-6F2C-4A52-91A0-57127DCE7735}"/>
                  </a:ext>
                </a:extLst>
              </p:cNvPr>
              <p:cNvSpPr>
                <a:spLocks noGrp="1" noRot="1" noChangeAspect="1" noMove="1" noResize="1" noEditPoints="1" noAdjustHandles="1" noChangeArrowheads="1" noChangeShapeType="1" noTextEdit="1"/>
              </p:cNvSpPr>
              <p:nvPr/>
            </p:nvSpPr>
            <p:spPr>
              <a:xfrm>
                <a:off x="10439400" y="3657600"/>
                <a:ext cx="952500" cy="952500"/>
              </a:xfrm>
              <a:prstGeom prst="rect">
                <a:avLst/>
              </a:prstGeom>
              <a:blipFill>
                <a:blip r:embed="rId20"/>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7" name="bias_value_2" descr="+1">
                <a:extLst>
                  <a:ext uri="{FF2B5EF4-FFF2-40B4-BE49-F238E27FC236}">
                    <a16:creationId xmlns:a16="http://schemas.microsoft.com/office/drawing/2014/main" id="{3E3C1C16-DD36-4594-AC1F-AB2F06F33984}"/>
                  </a:ext>
                </a:extLst>
              </p:cNvPr>
              <p:cNvSpPr>
                <a:spLocks noGrp="1"/>
              </p:cNvSpPr>
              <p:nvPr/>
            </p:nvSpPr>
            <p:spPr>
              <a:xfrm>
                <a:off x="5810250" y="37242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B6C2CD"/>
                          </a:solidFill>
                          <a:latin typeface="Cambria Math"/>
                          <a:ea typeface="Cambria Math"/>
                          <a:cs typeface="Cambria Math"/>
                        </a:rPr>
                        <m:t>+1</m:t>
                      </m:r>
                    </m:oMath>
                  </m:oMathPara>
                </a14:m>
                <a:endParaRPr lang="en-GB" sz="2300"/>
              </a:p>
            </p:txBody>
          </p:sp>
        </mc:Choice>
        <mc:Fallback xmlns="">
          <p:sp>
            <p:nvSpPr>
              <p:cNvPr id="47" name="bias_value_2" descr="+1">
                <a:extLst>
                  <a:ext uri="{FF2B5EF4-FFF2-40B4-BE49-F238E27FC236}">
                    <a16:creationId xmlns:a16="http://schemas.microsoft.com/office/drawing/2014/main" id="{3E3C1C16-DD36-4594-AC1F-AB2F06F33984}"/>
                  </a:ext>
                </a:extLst>
              </p:cNvPr>
              <p:cNvSpPr>
                <a:spLocks noGrp="1" noRot="1" noChangeAspect="1" noMove="1" noResize="1" noEditPoints="1" noAdjustHandles="1" noChangeArrowheads="1" noChangeShapeType="1" noTextEdit="1"/>
              </p:cNvSpPr>
              <p:nvPr/>
            </p:nvSpPr>
            <p:spPr>
              <a:xfrm>
                <a:off x="5810250" y="3724275"/>
                <a:ext cx="1000125" cy="352425"/>
              </a:xfrm>
              <a:prstGeom prst="rect">
                <a:avLst/>
              </a:prstGeom>
              <a:blipFill>
                <a:blip r:embed="rId21"/>
                <a:stretch>
                  <a:fillRect b="-8621"/>
                </a:stretch>
              </a:blipFill>
              <a:ln w="0">
                <a:noFill/>
              </a:ln>
            </p:spPr>
            <p:txBody>
              <a:bodyPr/>
              <a:lstStyle/>
              <a:p>
                <a:r>
                  <a:rPr lang="it-IT">
                    <a:noFill/>
                  </a:rPr>
                  <a:t> </a:t>
                </a:r>
              </a:p>
            </p:txBody>
          </p:sp>
        </mc:Fallback>
      </mc:AlternateContent>
      <p:sp>
        <p:nvSpPr>
          <p:cNvPr id="48" name="relu_label_2">
            <a:extLst>
              <a:ext uri="{FF2B5EF4-FFF2-40B4-BE49-F238E27FC236}">
                <a16:creationId xmlns:a16="http://schemas.microsoft.com/office/drawing/2014/main" id="{6A52D406-5398-4F5F-A4B0-C2043294E21F}"/>
              </a:ext>
            </a:extLst>
          </p:cNvPr>
          <p:cNvSpPr>
            <a:spLocks noGrp="1"/>
          </p:cNvSpPr>
          <p:nvPr/>
        </p:nvSpPr>
        <p:spPr>
          <a:xfrm>
            <a:off x="8639175" y="3724275"/>
            <a:ext cx="1238250" cy="352425"/>
          </a:xfrm>
          <a:prstGeom prst="rect">
            <a:avLst/>
          </a:prstGeom>
          <a:noFill/>
          <a:ln w="0">
            <a:noFill/>
          </a:ln>
        </p:spPr>
        <p:txBody>
          <a:bodyPr anchor="ctr">
            <a:noAutofit/>
          </a:bodyPr>
          <a:lstStyle/>
          <a:p>
            <a:pPr algn="ctr">
              <a:defRPr sz="1875" b="0">
                <a:solidFill>
                  <a:srgbClr val="B6C2CD"/>
                </a:solidFill>
                <a:latin typeface="DejaVu Sans"/>
                <a:ea typeface="DejaVu Sans"/>
                <a:cs typeface="DejaVu Sans"/>
              </a:defRPr>
            </a:pPr>
            <a:r>
              <a:rPr sz="1875" b="0">
                <a:solidFill>
                  <a:srgbClr val="B6C2CD"/>
                </a:solidFill>
                <a:latin typeface="DejaVu Sans"/>
                <a:ea typeface="DejaVu Sans"/>
                <a:cs typeface="DejaVu Sans"/>
              </a:rPr>
              <a:t>ReLU</a:t>
            </a:r>
          </a:p>
        </p:txBody>
      </p:sp>
      <p:sp>
        <p:nvSpPr>
          <p:cNvPr id="49" name="sum_3">
            <a:extLst>
              <a:ext uri="{FF2B5EF4-FFF2-40B4-BE49-F238E27FC236}">
                <a16:creationId xmlns:a16="http://schemas.microsoft.com/office/drawing/2014/main" id="{C577CA28-23AE-4446-AC04-EF32C6BFD6A6}"/>
              </a:ext>
            </a:extLst>
          </p:cNvPr>
          <p:cNvSpPr>
            <a:spLocks noGrp="1"/>
          </p:cNvSpPr>
          <p:nvPr/>
        </p:nvSpPr>
        <p:spPr>
          <a:xfrm>
            <a:off x="3314700" y="4981575"/>
            <a:ext cx="2286000" cy="89535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50" name="sum_expression_3" descr="1(-1)+2(1)">
                <a:extLst>
                  <a:ext uri="{FF2B5EF4-FFF2-40B4-BE49-F238E27FC236}">
                    <a16:creationId xmlns:a16="http://schemas.microsoft.com/office/drawing/2014/main" id="{F802895F-16F9-425C-927C-48D9EBE15247}"/>
                  </a:ext>
                </a:extLst>
              </p:cNvPr>
              <p:cNvSpPr>
                <a:spLocks noGrp="1"/>
              </p:cNvSpPr>
              <p:nvPr/>
            </p:nvSpPr>
            <p:spPr>
              <a:xfrm>
                <a:off x="3314700" y="50577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087F83"/>
                          </a:solidFill>
                          <a:latin typeface="Cambria Math"/>
                          <a:ea typeface="Cambria Math"/>
                          <a:cs typeface="Cambria Math"/>
                        </a:rPr>
                        <m:t>1(−1)+2(1)</m:t>
                      </m:r>
                    </m:oMath>
                  </m:oMathPara>
                </a14:m>
                <a:endParaRPr lang="en-GB" sz="2000"/>
              </a:p>
            </p:txBody>
          </p:sp>
        </mc:Choice>
        <mc:Fallback xmlns="">
          <p:sp>
            <p:nvSpPr>
              <p:cNvPr id="50" name="sum_expression_3" descr="1(-1)+2(1)">
                <a:extLst>
                  <a:ext uri="{FF2B5EF4-FFF2-40B4-BE49-F238E27FC236}">
                    <a16:creationId xmlns:a16="http://schemas.microsoft.com/office/drawing/2014/main" id="{F802895F-16F9-425C-927C-48D9EBE15247}"/>
                  </a:ext>
                </a:extLst>
              </p:cNvPr>
              <p:cNvSpPr>
                <a:spLocks noGrp="1" noRot="1" noChangeAspect="1" noMove="1" noResize="1" noEditPoints="1" noAdjustHandles="1" noChangeArrowheads="1" noChangeShapeType="1" noTextEdit="1"/>
              </p:cNvSpPr>
              <p:nvPr/>
            </p:nvSpPr>
            <p:spPr>
              <a:xfrm>
                <a:off x="3314700" y="5057775"/>
                <a:ext cx="2286000" cy="361950"/>
              </a:xfrm>
              <a:prstGeom prst="rect">
                <a:avLst/>
              </a:prstGeom>
              <a:blipFill>
                <a:blip r:embed="rId22"/>
                <a:stretch>
                  <a:fillRect b="-2203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1" name="sum_result_3" descr="=1">
                <a:extLst>
                  <a:ext uri="{FF2B5EF4-FFF2-40B4-BE49-F238E27FC236}">
                    <a16:creationId xmlns:a16="http://schemas.microsoft.com/office/drawing/2014/main" id="{EBDF40E6-5302-4110-99FB-D5E4EBE1A37D}"/>
                  </a:ext>
                </a:extLst>
              </p:cNvPr>
              <p:cNvSpPr>
                <a:spLocks noGrp="1"/>
              </p:cNvSpPr>
              <p:nvPr/>
            </p:nvSpPr>
            <p:spPr>
              <a:xfrm>
                <a:off x="3314700" y="54483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087F83"/>
                          </a:solidFill>
                          <a:latin typeface="Cambria Math"/>
                          <a:ea typeface="Cambria Math"/>
                          <a:cs typeface="Cambria Math"/>
                        </a:rPr>
                        <m:t>=1</m:t>
                      </m:r>
                    </m:oMath>
                  </m:oMathPara>
                </a14:m>
                <a:endParaRPr lang="en-GB" sz="2400"/>
              </a:p>
            </p:txBody>
          </p:sp>
        </mc:Choice>
        <mc:Fallback xmlns="">
          <p:sp>
            <p:nvSpPr>
              <p:cNvPr id="51" name="sum_result_3" descr="=1">
                <a:extLst>
                  <a:ext uri="{FF2B5EF4-FFF2-40B4-BE49-F238E27FC236}">
                    <a16:creationId xmlns:a16="http://schemas.microsoft.com/office/drawing/2014/main" id="{EBDF40E6-5302-4110-99FB-D5E4EBE1A37D}"/>
                  </a:ext>
                </a:extLst>
              </p:cNvPr>
              <p:cNvSpPr>
                <a:spLocks noGrp="1" noRot="1" noChangeAspect="1" noMove="1" noResize="1" noEditPoints="1" noAdjustHandles="1" noChangeArrowheads="1" noChangeShapeType="1" noTextEdit="1"/>
              </p:cNvSpPr>
              <p:nvPr/>
            </p:nvSpPr>
            <p:spPr>
              <a:xfrm>
                <a:off x="3314700" y="5448300"/>
                <a:ext cx="2286000" cy="371475"/>
              </a:xfrm>
              <a:prstGeom prst="rect">
                <a:avLst/>
              </a:prstGeom>
              <a:blipFill>
                <a:blip r:embed="rId23"/>
                <a:stretch>
                  <a:fillRect b="-6557"/>
                </a:stretch>
              </a:blipFill>
              <a:ln w="0">
                <a:noFill/>
              </a:ln>
            </p:spPr>
            <p:txBody>
              <a:bodyPr/>
              <a:lstStyle/>
              <a:p>
                <a:r>
                  <a:rPr lang="it-IT">
                    <a:noFill/>
                  </a:rPr>
                  <a:t> </a:t>
                </a:r>
              </a:p>
            </p:txBody>
          </p:sp>
        </mc:Fallback>
      </mc:AlternateContent>
      <p:sp>
        <p:nvSpPr>
          <p:cNvPr id="52" name="pre_3">
            <a:extLst>
              <a:ext uri="{FF2B5EF4-FFF2-40B4-BE49-F238E27FC236}">
                <a16:creationId xmlns:a16="http://schemas.microsoft.com/office/drawing/2014/main" id="{968677A1-46A5-4599-B041-0DF27F30BFEF}"/>
              </a:ext>
            </a:extLst>
          </p:cNvPr>
          <p:cNvSpPr>
            <a:spLocks noGrp="1"/>
          </p:cNvSpPr>
          <p:nvPr/>
        </p:nvSpPr>
        <p:spPr>
          <a:xfrm>
            <a:off x="7134225" y="49530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53" name="pre_value_3" descr="?">
                <a:extLst>
                  <a:ext uri="{FF2B5EF4-FFF2-40B4-BE49-F238E27FC236}">
                    <a16:creationId xmlns:a16="http://schemas.microsoft.com/office/drawing/2014/main" id="{76E075A1-35A7-46C8-B8C1-0A6CE63A53FF}"/>
                  </a:ext>
                </a:extLst>
              </p:cNvPr>
              <p:cNvSpPr>
                <a:spLocks noGrp="1"/>
              </p:cNvSpPr>
              <p:nvPr/>
            </p:nvSpPr>
            <p:spPr>
              <a:xfrm>
                <a:off x="7134225" y="49530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53" name="pre_value_3" descr="?">
                <a:extLst>
                  <a:ext uri="{FF2B5EF4-FFF2-40B4-BE49-F238E27FC236}">
                    <a16:creationId xmlns:a16="http://schemas.microsoft.com/office/drawing/2014/main" id="{76E075A1-35A7-46C8-B8C1-0A6CE63A53FF}"/>
                  </a:ext>
                </a:extLst>
              </p:cNvPr>
              <p:cNvSpPr>
                <a:spLocks noGrp="1" noRot="1" noChangeAspect="1" noMove="1" noResize="1" noEditPoints="1" noAdjustHandles="1" noChangeArrowheads="1" noChangeShapeType="1" noTextEdit="1"/>
              </p:cNvSpPr>
              <p:nvPr/>
            </p:nvSpPr>
            <p:spPr>
              <a:xfrm>
                <a:off x="7134225" y="4953000"/>
                <a:ext cx="952500" cy="952500"/>
              </a:xfrm>
              <a:prstGeom prst="rect">
                <a:avLst/>
              </a:prstGeom>
              <a:blipFill>
                <a:blip r:embed="rId14"/>
                <a:stretch>
                  <a:fillRect/>
                </a:stretch>
              </a:blipFill>
              <a:ln w="0">
                <a:noFill/>
              </a:ln>
            </p:spPr>
            <p:txBody>
              <a:bodyPr/>
              <a:lstStyle/>
              <a:p>
                <a:r>
                  <a:rPr lang="it-IT">
                    <a:noFill/>
                  </a:rPr>
                  <a:t> </a:t>
                </a:r>
              </a:p>
            </p:txBody>
          </p:sp>
        </mc:Fallback>
      </mc:AlternateContent>
      <p:sp>
        <p:nvSpPr>
          <p:cNvPr id="54" name="activation_3">
            <a:extLst>
              <a:ext uri="{FF2B5EF4-FFF2-40B4-BE49-F238E27FC236}">
                <a16:creationId xmlns:a16="http://schemas.microsoft.com/office/drawing/2014/main" id="{00313F32-F8E3-4C4F-B261-AE976F9D3931}"/>
              </a:ext>
            </a:extLst>
          </p:cNvPr>
          <p:cNvSpPr>
            <a:spLocks noGrp="1"/>
          </p:cNvSpPr>
          <p:nvPr/>
        </p:nvSpPr>
        <p:spPr>
          <a:xfrm>
            <a:off x="10439400" y="49530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55" name="activation_value_3" descr="?">
                <a:extLst>
                  <a:ext uri="{FF2B5EF4-FFF2-40B4-BE49-F238E27FC236}">
                    <a16:creationId xmlns:a16="http://schemas.microsoft.com/office/drawing/2014/main" id="{D6A4402F-9AC1-43A4-9294-EC46FA6B2178}"/>
                  </a:ext>
                </a:extLst>
              </p:cNvPr>
              <p:cNvSpPr>
                <a:spLocks noGrp="1"/>
              </p:cNvSpPr>
              <p:nvPr/>
            </p:nvSpPr>
            <p:spPr>
              <a:xfrm>
                <a:off x="10439400" y="49530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55" name="activation_value_3" descr="?">
                <a:extLst>
                  <a:ext uri="{FF2B5EF4-FFF2-40B4-BE49-F238E27FC236}">
                    <a16:creationId xmlns:a16="http://schemas.microsoft.com/office/drawing/2014/main" id="{D6A4402F-9AC1-43A4-9294-EC46FA6B2178}"/>
                  </a:ext>
                </a:extLst>
              </p:cNvPr>
              <p:cNvSpPr>
                <a:spLocks noGrp="1" noRot="1" noChangeAspect="1" noMove="1" noResize="1" noEditPoints="1" noAdjustHandles="1" noChangeArrowheads="1" noChangeShapeType="1" noTextEdit="1"/>
              </p:cNvSpPr>
              <p:nvPr/>
            </p:nvSpPr>
            <p:spPr>
              <a:xfrm>
                <a:off x="10439400" y="4953000"/>
                <a:ext cx="952500" cy="952500"/>
              </a:xfrm>
              <a:prstGeom prst="rect">
                <a:avLst/>
              </a:prstGeom>
              <a:blipFill>
                <a:blip r:embed="rId1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6" name="bias_value_3" descr="+0">
                <a:extLst>
                  <a:ext uri="{FF2B5EF4-FFF2-40B4-BE49-F238E27FC236}">
                    <a16:creationId xmlns:a16="http://schemas.microsoft.com/office/drawing/2014/main" id="{E2D09BE2-0E51-49B9-9819-7FBBFEFEDACF}"/>
                  </a:ext>
                </a:extLst>
              </p:cNvPr>
              <p:cNvSpPr>
                <a:spLocks noGrp="1"/>
              </p:cNvSpPr>
              <p:nvPr/>
            </p:nvSpPr>
            <p:spPr>
              <a:xfrm>
                <a:off x="5810250" y="50196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B6C2CD"/>
                          </a:solidFill>
                          <a:latin typeface="Cambria Math"/>
                          <a:ea typeface="Cambria Math"/>
                          <a:cs typeface="Cambria Math"/>
                        </a:rPr>
                        <m:t>+0</m:t>
                      </m:r>
                    </m:oMath>
                  </m:oMathPara>
                </a14:m>
                <a:endParaRPr lang="en-GB" sz="2300"/>
              </a:p>
            </p:txBody>
          </p:sp>
        </mc:Choice>
        <mc:Fallback xmlns="">
          <p:sp>
            <p:nvSpPr>
              <p:cNvPr id="56" name="bias_value_3" descr="+0">
                <a:extLst>
                  <a:ext uri="{FF2B5EF4-FFF2-40B4-BE49-F238E27FC236}">
                    <a16:creationId xmlns:a16="http://schemas.microsoft.com/office/drawing/2014/main" id="{E2D09BE2-0E51-49B9-9819-7FBBFEFEDACF}"/>
                  </a:ext>
                </a:extLst>
              </p:cNvPr>
              <p:cNvSpPr>
                <a:spLocks noGrp="1" noRot="1" noChangeAspect="1" noMove="1" noResize="1" noEditPoints="1" noAdjustHandles="1" noChangeArrowheads="1" noChangeShapeType="1" noTextEdit="1"/>
              </p:cNvSpPr>
              <p:nvPr/>
            </p:nvSpPr>
            <p:spPr>
              <a:xfrm>
                <a:off x="5810250" y="5019675"/>
                <a:ext cx="1000125" cy="352425"/>
              </a:xfrm>
              <a:prstGeom prst="rect">
                <a:avLst/>
              </a:prstGeom>
              <a:blipFill>
                <a:blip r:embed="rId16"/>
                <a:stretch>
                  <a:fillRect b="-10345"/>
                </a:stretch>
              </a:blipFill>
              <a:ln w="0">
                <a:noFill/>
              </a:ln>
            </p:spPr>
            <p:txBody>
              <a:bodyPr/>
              <a:lstStyle/>
              <a:p>
                <a:r>
                  <a:rPr lang="it-IT">
                    <a:noFill/>
                  </a:rPr>
                  <a:t> </a:t>
                </a:r>
              </a:p>
            </p:txBody>
          </p:sp>
        </mc:Fallback>
      </mc:AlternateContent>
      <p:sp>
        <p:nvSpPr>
          <p:cNvPr id="57" name="relu_label_3">
            <a:extLst>
              <a:ext uri="{FF2B5EF4-FFF2-40B4-BE49-F238E27FC236}">
                <a16:creationId xmlns:a16="http://schemas.microsoft.com/office/drawing/2014/main" id="{1B5CBD00-231E-481F-8126-69A86F3AA962}"/>
              </a:ext>
            </a:extLst>
          </p:cNvPr>
          <p:cNvSpPr>
            <a:spLocks noGrp="1"/>
          </p:cNvSpPr>
          <p:nvPr/>
        </p:nvSpPr>
        <p:spPr>
          <a:xfrm>
            <a:off x="8639175" y="5019675"/>
            <a:ext cx="1238250" cy="352425"/>
          </a:xfrm>
          <a:prstGeom prst="rect">
            <a:avLst/>
          </a:prstGeom>
          <a:noFill/>
          <a:ln w="0">
            <a:noFill/>
          </a:ln>
        </p:spPr>
        <p:txBody>
          <a:bodyPr anchor="ctr">
            <a:noAutofit/>
          </a:bodyPr>
          <a:lstStyle/>
          <a:p>
            <a:pPr algn="ctr">
              <a:defRPr sz="1875" b="0">
                <a:solidFill>
                  <a:srgbClr val="B6C2CD"/>
                </a:solidFill>
                <a:latin typeface="DejaVu Sans"/>
                <a:ea typeface="DejaVu Sans"/>
                <a:cs typeface="DejaVu Sans"/>
              </a:defRPr>
            </a:pPr>
            <a:r>
              <a:rPr sz="1875" b="0">
                <a:solidFill>
                  <a:srgbClr val="B6C2CD"/>
                </a:solidFill>
                <a:latin typeface="DejaVu Sans"/>
                <a:ea typeface="DejaVu Sans"/>
                <a:cs typeface="DejaVu Sans"/>
              </a:rPr>
              <a:t>ReLU</a:t>
            </a:r>
          </a:p>
        </p:txBody>
      </p:sp>
      <mc:AlternateContent xmlns:mc="http://schemas.openxmlformats.org/markup-compatibility/2006" xmlns:a14="http://schemas.microsoft.com/office/drawing/2010/main">
        <mc:Choice Requires="a14">
          <p:sp>
            <p:nvSpPr>
              <p:cNvPr id="58" name="result_row" descr="\mathbf{x}\mathbf{W}=(-1,2,1)">
                <a:extLst>
                  <a:ext uri="{FF2B5EF4-FFF2-40B4-BE49-F238E27FC236}">
                    <a16:creationId xmlns:a16="http://schemas.microsoft.com/office/drawing/2014/main" id="{FE592646-A934-453C-AFB5-0874F960B82F}"/>
                  </a:ext>
                </a:extLst>
              </p:cNvPr>
              <p:cNvSpPr>
                <a:spLocks noGrp="1"/>
              </p:cNvSpPr>
              <p:nvPr/>
            </p:nvSpPr>
            <p:spPr>
              <a:xfrm>
                <a:off x="476250" y="6019800"/>
                <a:ext cx="11239500" cy="4953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800" smtClean="0">
                          <a:solidFill>
                            <a:srgbClr val="087F83"/>
                          </a:solidFill>
                          <a:latin typeface="Cambria Math"/>
                          <a:ea typeface="Cambria Math"/>
                          <a:cs typeface="Cambria Math"/>
                        </a:rPr>
                        <m:t>𝐱𝐖</m:t>
                      </m:r>
                      <m:r>
                        <a:rPr lang="en-GB" sz="2800" smtClean="0">
                          <a:solidFill>
                            <a:srgbClr val="087F83"/>
                          </a:solidFill>
                          <a:latin typeface="Cambria Math"/>
                          <a:ea typeface="Cambria Math"/>
                          <a:cs typeface="Cambria Math"/>
                        </a:rPr>
                        <m:t>=</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−1,2,1</m:t>
                          </m:r>
                        </m:e>
                      </m:d>
                    </m:oMath>
                  </m:oMathPara>
                </a14:m>
                <a:endParaRPr lang="en-GB" sz="2800" dirty="0"/>
              </a:p>
            </p:txBody>
          </p:sp>
        </mc:Choice>
        <mc:Fallback xmlns="">
          <p:sp>
            <p:nvSpPr>
              <p:cNvPr id="58" name="result_row" descr="\mathbf{x}\mathbf{W}=(-1,2,1)">
                <a:extLst>
                  <a:ext uri="{FF2B5EF4-FFF2-40B4-BE49-F238E27FC236}">
                    <a16:creationId xmlns:a16="http://schemas.microsoft.com/office/drawing/2014/main" id="{FE592646-A934-453C-AFB5-0874F960B82F}"/>
                  </a:ext>
                </a:extLst>
              </p:cNvPr>
              <p:cNvSpPr>
                <a:spLocks noGrp="1" noRot="1" noChangeAspect="1" noMove="1" noResize="1" noEditPoints="1" noAdjustHandles="1" noChangeArrowheads="1" noChangeShapeType="1" noTextEdit="1"/>
              </p:cNvSpPr>
              <p:nvPr/>
            </p:nvSpPr>
            <p:spPr>
              <a:xfrm>
                <a:off x="476250" y="6019800"/>
                <a:ext cx="11239500" cy="495300"/>
              </a:xfrm>
              <a:prstGeom prst="rect">
                <a:avLst/>
              </a:prstGeom>
              <a:blipFill>
                <a:blip r:embed="rId24"/>
                <a:stretch>
                  <a:fillRect/>
                </a:stretch>
              </a:blipFill>
              <a:ln w="0">
                <a:noFill/>
              </a:ln>
            </p:spPr>
            <p:txBody>
              <a:bodyPr/>
              <a:lstStyle/>
              <a:p>
                <a:r>
                  <a:rPr lang="it-IT">
                    <a:noFill/>
                  </a:rPr>
                  <a:t> </a:t>
                </a:r>
              </a:p>
            </p:txBody>
          </p:sp>
        </mc:Fallback>
      </mc:AlternateContent>
      <p:sp>
        <p:nvSpPr>
          <p:cNvPr id="59" name="footer_course">
            <a:extLst>
              <a:ext uri="{FF2B5EF4-FFF2-40B4-BE49-F238E27FC236}">
                <a16:creationId xmlns:a16="http://schemas.microsoft.com/office/drawing/2014/main" id="{B005E4E4-12E4-43CD-A205-E1D07B02A774}"/>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60" name="footer_number">
            <a:extLst>
              <a:ext uri="{FF2B5EF4-FFF2-40B4-BE49-F238E27FC236}">
                <a16:creationId xmlns:a16="http://schemas.microsoft.com/office/drawing/2014/main" id="{B92D8713-4E26-4D23-B2F1-0D1CB216F5CC}"/>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10</a:t>
            </a:r>
          </a:p>
        </p:txBody>
      </p:sp>
    </p:spTree>
    <p:extLst>
      <p:ext uri="{BB962C8B-B14F-4D97-AF65-F5344CB8AC3E}">
        <p14:creationId xmlns:p14="http://schemas.microsoft.com/office/powerpoint/2010/main" val="2140271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E30C29A-FCA1-4127-9310-F61F0A271BD4}"/>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a:solidFill>
                  <a:srgbClr val="182D45"/>
                </a:solidFill>
                <a:latin typeface="DejaVu Sans"/>
                <a:ea typeface="DejaVu Sans"/>
                <a:cs typeface="DejaVu Sans"/>
              </a:rPr>
              <a:t>A first </a:t>
            </a:r>
            <a:r>
              <a:rPr lang="it-IT" sz="3300" b="1" dirty="0" err="1">
                <a:solidFill>
                  <a:srgbClr val="182D45"/>
                </a:solidFill>
                <a:latin typeface="DejaVu Sans"/>
                <a:ea typeface="DejaVu Sans"/>
                <a:cs typeface="DejaVu Sans"/>
              </a:rPr>
              <a:t>example</a:t>
            </a:r>
            <a:endParaRPr lang="it-IT" sz="3300" b="1" dirty="0">
              <a:solidFill>
                <a:srgbClr val="182D45"/>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4" name="fixed_parameters" descr="\mathbf{x}=(1,2),\quad\mathbf{W}=\begin{pmatrix}1&amp;2&amp;-1\\-1&amp;0&amp;1\end{pmatrix},\quad\mathbf{b}=(0,1,0)">
                <a:extLst>
                  <a:ext uri="{FF2B5EF4-FFF2-40B4-BE49-F238E27FC236}">
                    <a16:creationId xmlns:a16="http://schemas.microsoft.com/office/drawing/2014/main" id="{03C38A9A-56A1-440B-A0A6-7F59A2F42516}"/>
                  </a:ext>
                </a:extLst>
              </p:cNvPr>
              <p:cNvSpPr>
                <a:spLocks noGrp="1"/>
              </p:cNvSpPr>
              <p:nvPr/>
            </p:nvSpPr>
            <p:spPr>
              <a:xfrm>
                <a:off x="714375" y="838200"/>
                <a:ext cx="10763250" cy="9810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smtClean="0">
                          <a:solidFill>
                            <a:srgbClr val="087F83"/>
                          </a:solidFill>
                          <a:latin typeface="Cambria Math"/>
                          <a:ea typeface="Cambria Math"/>
                          <a:cs typeface="Cambria Math"/>
                        </a:rPr>
                        <m:t>𝐱</m:t>
                      </m:r>
                      <m:r>
                        <a:rPr lang="en-GB" sz="3000" smtClean="0">
                          <a:solidFill>
                            <a:srgbClr val="087F83"/>
                          </a:solidFill>
                          <a:latin typeface="Cambria Math"/>
                          <a:ea typeface="Cambria Math"/>
                          <a:cs typeface="Cambria Math"/>
                        </a:rPr>
                        <m:t>=</m:t>
                      </m:r>
                      <m:d>
                        <m:dPr>
                          <m:ctrlPr>
                            <a:rPr lang="en-GB" sz="3000" smtClean="0">
                              <a:solidFill>
                                <a:srgbClr val="087F83"/>
                              </a:solidFill>
                              <a:latin typeface="Cambria Math"/>
                              <a:ea typeface="Cambria Math"/>
                              <a:cs typeface="Cambria Math"/>
                            </a:rPr>
                          </m:ctrlPr>
                        </m:dPr>
                        <m:e>
                          <m:r>
                            <a:rPr lang="en-GB" sz="3000" smtClean="0">
                              <a:solidFill>
                                <a:srgbClr val="087F83"/>
                              </a:solidFill>
                              <a:latin typeface="Cambria Math"/>
                              <a:ea typeface="Cambria Math"/>
                              <a:cs typeface="Cambria Math"/>
                            </a:rPr>
                            <m:t>1,2</m:t>
                          </m:r>
                        </m:e>
                      </m:d>
                      <m:r>
                        <a:rPr lang="en-GB" sz="3000" smtClean="0">
                          <a:solidFill>
                            <a:srgbClr val="087F83"/>
                          </a:solidFill>
                          <a:latin typeface="Cambria Math"/>
                          <a:ea typeface="Cambria Math"/>
                          <a:cs typeface="Cambria Math"/>
                        </a:rPr>
                        <m:t>, </m:t>
                      </m:r>
                      <m:r>
                        <a:rPr lang="en-GB" sz="3000" smtClean="0">
                          <a:solidFill>
                            <a:srgbClr val="087F83"/>
                          </a:solidFill>
                          <a:latin typeface="Cambria Math"/>
                          <a:ea typeface="Cambria Math"/>
                          <a:cs typeface="Cambria Math"/>
                        </a:rPr>
                        <m:t>𝐖</m:t>
                      </m:r>
                      <m:r>
                        <a:rPr lang="en-GB" sz="3000" smtClean="0">
                          <a:solidFill>
                            <a:srgbClr val="087F83"/>
                          </a:solidFill>
                          <a:latin typeface="Cambria Math"/>
                          <a:ea typeface="Cambria Math"/>
                          <a:cs typeface="Cambria Math"/>
                        </a:rPr>
                        <m:t>=</m:t>
                      </m:r>
                      <m:d>
                        <m:dPr>
                          <m:ctrlPr>
                            <a:rPr lang="en-GB" sz="3000" i="1">
                              <a:solidFill>
                                <a:srgbClr val="087F83"/>
                              </a:solidFill>
                              <a:latin typeface="Cambria Math" panose="02040503050406030204" pitchFamily="18" charset="0"/>
                              <a:ea typeface="Cambria Math"/>
                              <a:cs typeface="Cambria Math"/>
                            </a:rPr>
                          </m:ctrlPr>
                        </m:dPr>
                        <m:e>
                          <m:m>
                            <m:mPr>
                              <m:mcs>
                                <m:mc>
                                  <m:mcPr>
                                    <m:count m:val="3"/>
                                    <m:mcJc m:val="center"/>
                                  </m:mcPr>
                                </m:mc>
                              </m:mcs>
                              <m:ctrlPr>
                                <a:rPr lang="en-GB" sz="3000" i="1">
                                  <a:solidFill>
                                    <a:srgbClr val="087F83"/>
                                  </a:solidFill>
                                  <a:latin typeface="Cambria Math" panose="02040503050406030204" pitchFamily="18" charset="0"/>
                                  <a:ea typeface="Cambria Math"/>
                                  <a:cs typeface="Cambria Math"/>
                                </a:rPr>
                              </m:ctrlPr>
                            </m:mPr>
                            <m:mr>
                              <m:e>
                                <m:r>
                                  <a:rPr lang="en-GB" sz="3000">
                                    <a:solidFill>
                                      <a:srgbClr val="087F83"/>
                                    </a:solidFill>
                                    <a:latin typeface="Cambria Math"/>
                                    <a:ea typeface="Cambria Math"/>
                                    <a:cs typeface="Cambria Math"/>
                                  </a:rPr>
                                  <m:t>1</m:t>
                                </m:r>
                              </m:e>
                              <m:e>
                                <m:r>
                                  <a:rPr lang="en-GB" sz="3000">
                                    <a:solidFill>
                                      <a:srgbClr val="087F83"/>
                                    </a:solidFill>
                                    <a:latin typeface="Cambria Math"/>
                                    <a:ea typeface="Cambria Math"/>
                                    <a:cs typeface="Cambria Math"/>
                                  </a:rPr>
                                  <m:t>2</m:t>
                                </m:r>
                              </m:e>
                              <m:e>
                                <m:r>
                                  <a:rPr lang="en-GB" sz="3000">
                                    <a:solidFill>
                                      <a:srgbClr val="087F83"/>
                                    </a:solidFill>
                                    <a:latin typeface="Cambria Math"/>
                                    <a:ea typeface="Cambria Math"/>
                                    <a:cs typeface="Cambria Math"/>
                                  </a:rPr>
                                  <m:t>−1</m:t>
                                </m:r>
                              </m:e>
                            </m:mr>
                            <m:mr>
                              <m:e>
                                <m:r>
                                  <a:rPr lang="en-GB" sz="3000">
                                    <a:solidFill>
                                      <a:srgbClr val="087F83"/>
                                    </a:solidFill>
                                    <a:latin typeface="Cambria Math"/>
                                    <a:ea typeface="Cambria Math"/>
                                    <a:cs typeface="Cambria Math"/>
                                  </a:rPr>
                                  <m:t>−1</m:t>
                                </m:r>
                              </m:e>
                              <m:e>
                                <m:r>
                                  <a:rPr lang="en-GB" sz="3000">
                                    <a:solidFill>
                                      <a:srgbClr val="087F83"/>
                                    </a:solidFill>
                                    <a:latin typeface="Cambria Math"/>
                                    <a:ea typeface="Cambria Math"/>
                                    <a:cs typeface="Cambria Math"/>
                                  </a:rPr>
                                  <m:t>0</m:t>
                                </m:r>
                              </m:e>
                              <m:e>
                                <m:r>
                                  <a:rPr lang="en-GB" sz="3000">
                                    <a:solidFill>
                                      <a:srgbClr val="087F83"/>
                                    </a:solidFill>
                                    <a:latin typeface="Cambria Math"/>
                                    <a:ea typeface="Cambria Math"/>
                                    <a:cs typeface="Cambria Math"/>
                                  </a:rPr>
                                  <m:t>1</m:t>
                                </m:r>
                              </m:e>
                            </m:mr>
                          </m:m>
                        </m:e>
                      </m:d>
                      <m:r>
                        <a:rPr lang="en-GB" sz="3000">
                          <a:solidFill>
                            <a:srgbClr val="087F83"/>
                          </a:solidFill>
                          <a:latin typeface="Cambria Math"/>
                          <a:ea typeface="Cambria Math"/>
                          <a:cs typeface="Cambria Math"/>
                        </a:rPr>
                        <m:t>, </m:t>
                      </m:r>
                      <m:r>
                        <a:rPr lang="en-GB" sz="3000">
                          <a:solidFill>
                            <a:srgbClr val="087F83"/>
                          </a:solidFill>
                          <a:latin typeface="Cambria Math"/>
                          <a:ea typeface="Cambria Math"/>
                          <a:cs typeface="Cambria Math"/>
                        </a:rPr>
                        <m:t>𝐛</m:t>
                      </m:r>
                      <m:r>
                        <a:rPr lang="en-GB" sz="3000">
                          <a:solidFill>
                            <a:srgbClr val="087F83"/>
                          </a:solidFill>
                          <a:latin typeface="Cambria Math"/>
                          <a:ea typeface="Cambria Math"/>
                          <a:cs typeface="Cambria Math"/>
                        </a:rPr>
                        <m:t>=</m:t>
                      </m:r>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0,1,0</m:t>
                          </m:r>
                        </m:e>
                      </m:d>
                    </m:oMath>
                  </m:oMathPara>
                </a14:m>
                <a:endParaRPr lang="en-GB" sz="3000" dirty="0"/>
              </a:p>
            </p:txBody>
          </p:sp>
        </mc:Choice>
        <mc:Fallback xmlns="">
          <p:sp>
            <p:nvSpPr>
              <p:cNvPr id="4" name="fixed_parameters" descr="\mathbf{x}=(1,2),\quad\mathbf{W}=\begin{pmatrix}1&amp;2&amp;-1\\-1&amp;0&amp;1\end{pmatrix},\quad\mathbf{b}=(0,1,0)">
                <a:extLst>
                  <a:ext uri="{FF2B5EF4-FFF2-40B4-BE49-F238E27FC236}">
                    <a16:creationId xmlns:a16="http://schemas.microsoft.com/office/drawing/2014/main" id="{03C38A9A-56A1-440B-A0A6-7F59A2F42516}"/>
                  </a:ext>
                </a:extLst>
              </p:cNvPr>
              <p:cNvSpPr>
                <a:spLocks noGrp="1" noRot="1" noChangeAspect="1" noMove="1" noResize="1" noEditPoints="1" noAdjustHandles="1" noChangeArrowheads="1" noChangeShapeType="1" noTextEdit="1"/>
              </p:cNvSpPr>
              <p:nvPr/>
            </p:nvSpPr>
            <p:spPr>
              <a:xfrm>
                <a:off x="714375" y="838200"/>
                <a:ext cx="10763250" cy="981075"/>
              </a:xfrm>
              <a:prstGeom prst="rect">
                <a:avLst/>
              </a:prstGeom>
              <a:blipFill>
                <a:blip r:embed="rId3"/>
                <a:stretch>
                  <a:fillRect/>
                </a:stretch>
              </a:blipFill>
              <a:ln w="0">
                <a:noFill/>
              </a:ln>
            </p:spPr>
            <p:txBody>
              <a:bodyPr/>
              <a:lstStyle/>
              <a:p>
                <a:r>
                  <a:rPr lang="it-IT">
                    <a:noFill/>
                  </a:rPr>
                  <a:t> </a:t>
                </a:r>
              </a:p>
            </p:txBody>
          </p:sp>
        </mc:Fallback>
      </mc:AlternateContent>
      <p:sp>
        <p:nvSpPr>
          <p:cNvPr id="5" name="input_heading">
            <a:extLst>
              <a:ext uri="{FF2B5EF4-FFF2-40B4-BE49-F238E27FC236}">
                <a16:creationId xmlns:a16="http://schemas.microsoft.com/office/drawing/2014/main" id="{E7369778-4331-40B5-967E-0C2F3C637130}"/>
              </a:ext>
            </a:extLst>
          </p:cNvPr>
          <p:cNvSpPr>
            <a:spLocks noGrp="1"/>
          </p:cNvSpPr>
          <p:nvPr/>
        </p:nvSpPr>
        <p:spPr>
          <a:xfrm>
            <a:off x="76200" y="1943100"/>
            <a:ext cx="11430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Input</a:t>
            </a:r>
          </a:p>
        </p:txBody>
      </p:sp>
      <p:sp>
        <p:nvSpPr>
          <p:cNvPr id="6" name="weighted_heading">
            <a:extLst>
              <a:ext uri="{FF2B5EF4-FFF2-40B4-BE49-F238E27FC236}">
                <a16:creationId xmlns:a16="http://schemas.microsoft.com/office/drawing/2014/main" id="{28C22478-79C6-4885-9D6D-2ACDA5819465}"/>
              </a:ext>
            </a:extLst>
          </p:cNvPr>
          <p:cNvSpPr>
            <a:spLocks noGrp="1"/>
          </p:cNvSpPr>
          <p:nvPr/>
        </p:nvSpPr>
        <p:spPr>
          <a:xfrm>
            <a:off x="3124200" y="1943100"/>
            <a:ext cx="26670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Weighted sums</a:t>
            </a:r>
          </a:p>
        </p:txBody>
      </p:sp>
      <p:sp>
        <p:nvSpPr>
          <p:cNvPr id="7" name="pre_heading">
            <a:extLst>
              <a:ext uri="{FF2B5EF4-FFF2-40B4-BE49-F238E27FC236}">
                <a16:creationId xmlns:a16="http://schemas.microsoft.com/office/drawing/2014/main" id="{5DD5E62E-875E-44A4-8990-7A4DB343836B}"/>
              </a:ext>
            </a:extLst>
          </p:cNvPr>
          <p:cNvSpPr>
            <a:spLocks noGrp="1"/>
          </p:cNvSpPr>
          <p:nvPr/>
        </p:nvSpPr>
        <p:spPr>
          <a:xfrm>
            <a:off x="6324600" y="1943100"/>
            <a:ext cx="2571750" cy="381000"/>
          </a:xfrm>
          <a:prstGeom prst="rect">
            <a:avLst/>
          </a:prstGeom>
          <a:noFill/>
          <a:ln w="0">
            <a:noFill/>
          </a:ln>
        </p:spPr>
        <p:txBody>
          <a:bodyPr anchor="ctr">
            <a:noAutofit/>
          </a:bodyPr>
          <a:lstStyle/>
          <a:p>
            <a:pPr algn="ctr">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Preactivations</a:t>
            </a:r>
          </a:p>
        </p:txBody>
      </p:sp>
      <p:sp>
        <p:nvSpPr>
          <p:cNvPr id="8" name="activation_heading">
            <a:extLst>
              <a:ext uri="{FF2B5EF4-FFF2-40B4-BE49-F238E27FC236}">
                <a16:creationId xmlns:a16="http://schemas.microsoft.com/office/drawing/2014/main" id="{A7EAE599-21D4-4975-AF44-39CB58C8C5CC}"/>
              </a:ext>
            </a:extLst>
          </p:cNvPr>
          <p:cNvSpPr>
            <a:spLocks noGrp="1"/>
          </p:cNvSpPr>
          <p:nvPr/>
        </p:nvSpPr>
        <p:spPr>
          <a:xfrm>
            <a:off x="9715500" y="1943100"/>
            <a:ext cx="2324100" cy="381000"/>
          </a:xfrm>
          <a:prstGeom prst="rect">
            <a:avLst/>
          </a:prstGeom>
          <a:noFill/>
          <a:ln w="0">
            <a:noFill/>
          </a:ln>
        </p:spPr>
        <p:txBody>
          <a:bodyPr anchor="ctr">
            <a:noAutofit/>
          </a:bodyPr>
          <a:lstStyle/>
          <a:p>
            <a:pPr algn="ctr">
              <a:defRPr sz="1875" b="1">
                <a:solidFill>
                  <a:srgbClr val="B6C2CD"/>
                </a:solidFill>
                <a:latin typeface="DejaVu Sans"/>
                <a:ea typeface="DejaVu Sans"/>
                <a:cs typeface="DejaVu Sans"/>
              </a:defRPr>
            </a:pPr>
            <a:r>
              <a:rPr sz="1875" b="1">
                <a:solidFill>
                  <a:srgbClr val="B6C2CD"/>
                </a:solidFill>
                <a:latin typeface="DejaVu Sans"/>
                <a:ea typeface="DejaVu Sans"/>
                <a:cs typeface="DejaVu Sans"/>
              </a:rPr>
              <a:t>Activations</a:t>
            </a:r>
          </a:p>
        </p:txBody>
      </p:sp>
      <p:sp>
        <p:nvSpPr>
          <p:cNvPr id="9" name="weight_edge_1_1">
            <a:extLst>
              <a:ext uri="{FF2B5EF4-FFF2-40B4-BE49-F238E27FC236}">
                <a16:creationId xmlns:a16="http://schemas.microsoft.com/office/drawing/2014/main" id="{5E05F2F4-6D6F-4479-A864-9195C1F2CBE9}"/>
              </a:ext>
            </a:extLst>
          </p:cNvPr>
          <p:cNvSpPr>
            <a:spLocks noGrp="1"/>
          </p:cNvSpPr>
          <p:nvPr/>
        </p:nvSpPr>
        <p:spPr>
          <a:xfrm flipV="1">
            <a:off x="914400" y="2838450"/>
            <a:ext cx="2400300" cy="495300"/>
          </a:xfrm>
          <a:prstGeom prst="line">
            <a:avLst/>
          </a:prstGeom>
          <a:noFill/>
          <a:ln w="15240">
            <a:solidFill>
              <a:srgbClr val="B6C2CD"/>
            </a:solidFill>
          </a:ln>
        </p:spPr>
        <p:txBody>
          <a:bodyPr/>
          <a:lstStyle/>
          <a:p>
            <a:endParaRPr lang="it-IT"/>
          </a:p>
        </p:txBody>
      </p:sp>
      <p:sp>
        <p:nvSpPr>
          <p:cNvPr id="10" name="weight_edge_2_1">
            <a:extLst>
              <a:ext uri="{FF2B5EF4-FFF2-40B4-BE49-F238E27FC236}">
                <a16:creationId xmlns:a16="http://schemas.microsoft.com/office/drawing/2014/main" id="{D982D12C-B345-4E53-A525-EC11AC218D23}"/>
              </a:ext>
            </a:extLst>
          </p:cNvPr>
          <p:cNvSpPr>
            <a:spLocks noGrp="1"/>
          </p:cNvSpPr>
          <p:nvPr/>
        </p:nvSpPr>
        <p:spPr>
          <a:xfrm flipV="1">
            <a:off x="914400" y="2838450"/>
            <a:ext cx="2400300" cy="1924050"/>
          </a:xfrm>
          <a:prstGeom prst="line">
            <a:avLst/>
          </a:prstGeom>
          <a:noFill/>
          <a:ln w="15240">
            <a:solidFill>
              <a:srgbClr val="B6C2CD"/>
            </a:solidFill>
          </a:ln>
        </p:spPr>
        <p:txBody>
          <a:bodyPr/>
          <a:lstStyle/>
          <a:p>
            <a:endParaRPr lang="it-IT"/>
          </a:p>
        </p:txBody>
      </p:sp>
      <p:sp>
        <p:nvSpPr>
          <p:cNvPr id="11" name="bias_edge_1">
            <a:extLst>
              <a:ext uri="{FF2B5EF4-FFF2-40B4-BE49-F238E27FC236}">
                <a16:creationId xmlns:a16="http://schemas.microsoft.com/office/drawing/2014/main" id="{64F0D62E-D61C-4580-A23B-ADA0E105B9CE}"/>
              </a:ext>
            </a:extLst>
          </p:cNvPr>
          <p:cNvSpPr>
            <a:spLocks noGrp="1"/>
          </p:cNvSpPr>
          <p:nvPr/>
        </p:nvSpPr>
        <p:spPr>
          <a:xfrm>
            <a:off x="5600700" y="2838450"/>
            <a:ext cx="1533525" cy="953"/>
          </a:xfrm>
          <a:prstGeom prst="line">
            <a:avLst/>
          </a:prstGeom>
          <a:noFill/>
          <a:ln w="20955">
            <a:solidFill>
              <a:srgbClr val="087F83"/>
            </a:solidFill>
            <a:tailEnd type="triangle" w="sm" len="sm"/>
          </a:ln>
        </p:spPr>
        <p:txBody>
          <a:bodyPr/>
          <a:lstStyle/>
          <a:p>
            <a:endParaRPr lang="it-IT"/>
          </a:p>
        </p:txBody>
      </p:sp>
      <p:sp>
        <p:nvSpPr>
          <p:cNvPr id="12" name="relu_edge_1">
            <a:extLst>
              <a:ext uri="{FF2B5EF4-FFF2-40B4-BE49-F238E27FC236}">
                <a16:creationId xmlns:a16="http://schemas.microsoft.com/office/drawing/2014/main" id="{499638E0-CBF7-486E-9035-CAFBCC177C8A}"/>
              </a:ext>
            </a:extLst>
          </p:cNvPr>
          <p:cNvSpPr>
            <a:spLocks noGrp="1"/>
          </p:cNvSpPr>
          <p:nvPr/>
        </p:nvSpPr>
        <p:spPr>
          <a:xfrm>
            <a:off x="8086725" y="2838450"/>
            <a:ext cx="2352675" cy="953"/>
          </a:xfrm>
          <a:prstGeom prst="line">
            <a:avLst/>
          </a:prstGeom>
          <a:noFill/>
          <a:ln w="14288">
            <a:solidFill>
              <a:srgbClr val="B6C2CD"/>
            </a:solidFill>
            <a:tailEnd type="triangle" w="sm" len="sm"/>
          </a:ln>
        </p:spPr>
        <p:txBody>
          <a:bodyPr/>
          <a:lstStyle/>
          <a:p>
            <a:endParaRPr lang="it-IT"/>
          </a:p>
        </p:txBody>
      </p:sp>
      <p:sp>
        <p:nvSpPr>
          <p:cNvPr id="13" name="weight_edge_1_2">
            <a:extLst>
              <a:ext uri="{FF2B5EF4-FFF2-40B4-BE49-F238E27FC236}">
                <a16:creationId xmlns:a16="http://schemas.microsoft.com/office/drawing/2014/main" id="{AEFB8F38-73D2-466C-83CF-20F4F4EDCC8F}"/>
              </a:ext>
            </a:extLst>
          </p:cNvPr>
          <p:cNvSpPr>
            <a:spLocks noGrp="1"/>
          </p:cNvSpPr>
          <p:nvPr/>
        </p:nvSpPr>
        <p:spPr>
          <a:xfrm>
            <a:off x="914400" y="3333750"/>
            <a:ext cx="2400300" cy="800100"/>
          </a:xfrm>
          <a:prstGeom prst="line">
            <a:avLst/>
          </a:prstGeom>
          <a:noFill/>
          <a:ln w="15240">
            <a:solidFill>
              <a:srgbClr val="B6C2CD"/>
            </a:solidFill>
          </a:ln>
        </p:spPr>
        <p:txBody>
          <a:bodyPr/>
          <a:lstStyle/>
          <a:p>
            <a:endParaRPr lang="it-IT"/>
          </a:p>
        </p:txBody>
      </p:sp>
      <p:sp>
        <p:nvSpPr>
          <p:cNvPr id="14" name="weight_edge_2_2">
            <a:extLst>
              <a:ext uri="{FF2B5EF4-FFF2-40B4-BE49-F238E27FC236}">
                <a16:creationId xmlns:a16="http://schemas.microsoft.com/office/drawing/2014/main" id="{45CF3ADB-80FC-4971-98EB-F195A615B158}"/>
              </a:ext>
            </a:extLst>
          </p:cNvPr>
          <p:cNvSpPr>
            <a:spLocks noGrp="1"/>
          </p:cNvSpPr>
          <p:nvPr/>
        </p:nvSpPr>
        <p:spPr>
          <a:xfrm flipV="1">
            <a:off x="914400" y="4133850"/>
            <a:ext cx="2400300" cy="628650"/>
          </a:xfrm>
          <a:prstGeom prst="line">
            <a:avLst/>
          </a:prstGeom>
          <a:noFill/>
          <a:ln w="15240">
            <a:solidFill>
              <a:srgbClr val="B6C2CD"/>
            </a:solidFill>
          </a:ln>
        </p:spPr>
        <p:txBody>
          <a:bodyPr/>
          <a:lstStyle/>
          <a:p>
            <a:endParaRPr lang="it-IT"/>
          </a:p>
        </p:txBody>
      </p:sp>
      <p:sp>
        <p:nvSpPr>
          <p:cNvPr id="15" name="bias_edge_2">
            <a:extLst>
              <a:ext uri="{FF2B5EF4-FFF2-40B4-BE49-F238E27FC236}">
                <a16:creationId xmlns:a16="http://schemas.microsoft.com/office/drawing/2014/main" id="{2EA53786-AF25-42D3-8CB7-125A7C99A8BD}"/>
              </a:ext>
            </a:extLst>
          </p:cNvPr>
          <p:cNvSpPr>
            <a:spLocks noGrp="1"/>
          </p:cNvSpPr>
          <p:nvPr/>
        </p:nvSpPr>
        <p:spPr>
          <a:xfrm>
            <a:off x="5600700" y="4133850"/>
            <a:ext cx="1533525" cy="953"/>
          </a:xfrm>
          <a:prstGeom prst="line">
            <a:avLst/>
          </a:prstGeom>
          <a:noFill/>
          <a:ln w="20955">
            <a:solidFill>
              <a:srgbClr val="087F83"/>
            </a:solidFill>
            <a:tailEnd type="triangle" w="sm" len="sm"/>
          </a:ln>
        </p:spPr>
        <p:txBody>
          <a:bodyPr/>
          <a:lstStyle/>
          <a:p>
            <a:endParaRPr lang="it-IT"/>
          </a:p>
        </p:txBody>
      </p:sp>
      <p:sp>
        <p:nvSpPr>
          <p:cNvPr id="16" name="relu_edge_2">
            <a:extLst>
              <a:ext uri="{FF2B5EF4-FFF2-40B4-BE49-F238E27FC236}">
                <a16:creationId xmlns:a16="http://schemas.microsoft.com/office/drawing/2014/main" id="{DA60F45D-3246-41C2-AE39-76B708640179}"/>
              </a:ext>
            </a:extLst>
          </p:cNvPr>
          <p:cNvSpPr>
            <a:spLocks noGrp="1"/>
          </p:cNvSpPr>
          <p:nvPr/>
        </p:nvSpPr>
        <p:spPr>
          <a:xfrm>
            <a:off x="8086725" y="4133850"/>
            <a:ext cx="2352675" cy="953"/>
          </a:xfrm>
          <a:prstGeom prst="line">
            <a:avLst/>
          </a:prstGeom>
          <a:noFill/>
          <a:ln w="14288">
            <a:solidFill>
              <a:srgbClr val="B6C2CD"/>
            </a:solidFill>
            <a:tailEnd type="triangle" w="sm" len="sm"/>
          </a:ln>
        </p:spPr>
        <p:txBody>
          <a:bodyPr/>
          <a:lstStyle/>
          <a:p>
            <a:endParaRPr lang="it-IT"/>
          </a:p>
        </p:txBody>
      </p:sp>
      <p:sp>
        <p:nvSpPr>
          <p:cNvPr id="17" name="weight_edge_1_3">
            <a:extLst>
              <a:ext uri="{FF2B5EF4-FFF2-40B4-BE49-F238E27FC236}">
                <a16:creationId xmlns:a16="http://schemas.microsoft.com/office/drawing/2014/main" id="{279C15F1-B4DF-4387-ABC8-58C489848D02}"/>
              </a:ext>
            </a:extLst>
          </p:cNvPr>
          <p:cNvSpPr>
            <a:spLocks noGrp="1"/>
          </p:cNvSpPr>
          <p:nvPr/>
        </p:nvSpPr>
        <p:spPr>
          <a:xfrm>
            <a:off x="914400" y="3333750"/>
            <a:ext cx="2400300" cy="2095500"/>
          </a:xfrm>
          <a:prstGeom prst="line">
            <a:avLst/>
          </a:prstGeom>
          <a:noFill/>
          <a:ln w="15240">
            <a:solidFill>
              <a:srgbClr val="B6C2CD"/>
            </a:solidFill>
          </a:ln>
        </p:spPr>
        <p:txBody>
          <a:bodyPr/>
          <a:lstStyle/>
          <a:p>
            <a:endParaRPr lang="it-IT"/>
          </a:p>
        </p:txBody>
      </p:sp>
      <p:sp>
        <p:nvSpPr>
          <p:cNvPr id="18" name="weight_edge_2_3">
            <a:extLst>
              <a:ext uri="{FF2B5EF4-FFF2-40B4-BE49-F238E27FC236}">
                <a16:creationId xmlns:a16="http://schemas.microsoft.com/office/drawing/2014/main" id="{DAFB299F-7673-40BA-87D5-5EE5ABB2ADB6}"/>
              </a:ext>
            </a:extLst>
          </p:cNvPr>
          <p:cNvSpPr>
            <a:spLocks noGrp="1"/>
          </p:cNvSpPr>
          <p:nvPr/>
        </p:nvSpPr>
        <p:spPr>
          <a:xfrm>
            <a:off x="914400" y="4762500"/>
            <a:ext cx="2400300" cy="666750"/>
          </a:xfrm>
          <a:prstGeom prst="line">
            <a:avLst/>
          </a:prstGeom>
          <a:noFill/>
          <a:ln w="15240">
            <a:solidFill>
              <a:srgbClr val="B6C2CD"/>
            </a:solidFill>
          </a:ln>
        </p:spPr>
        <p:txBody>
          <a:bodyPr/>
          <a:lstStyle/>
          <a:p>
            <a:endParaRPr lang="it-IT"/>
          </a:p>
        </p:txBody>
      </p:sp>
      <p:sp>
        <p:nvSpPr>
          <p:cNvPr id="19" name="bias_edge_3">
            <a:extLst>
              <a:ext uri="{FF2B5EF4-FFF2-40B4-BE49-F238E27FC236}">
                <a16:creationId xmlns:a16="http://schemas.microsoft.com/office/drawing/2014/main" id="{315F6E19-8212-45ED-9342-188AAA81EBC4}"/>
              </a:ext>
            </a:extLst>
          </p:cNvPr>
          <p:cNvSpPr>
            <a:spLocks noGrp="1"/>
          </p:cNvSpPr>
          <p:nvPr/>
        </p:nvSpPr>
        <p:spPr>
          <a:xfrm>
            <a:off x="5600700" y="5429250"/>
            <a:ext cx="1533525" cy="953"/>
          </a:xfrm>
          <a:prstGeom prst="line">
            <a:avLst/>
          </a:prstGeom>
          <a:noFill/>
          <a:ln w="20955">
            <a:solidFill>
              <a:srgbClr val="087F83"/>
            </a:solidFill>
            <a:tailEnd type="triangle" w="sm" len="sm"/>
          </a:ln>
        </p:spPr>
        <p:txBody>
          <a:bodyPr/>
          <a:lstStyle/>
          <a:p>
            <a:endParaRPr lang="it-IT"/>
          </a:p>
        </p:txBody>
      </p:sp>
      <p:sp>
        <p:nvSpPr>
          <p:cNvPr id="20" name="relu_edge_3">
            <a:extLst>
              <a:ext uri="{FF2B5EF4-FFF2-40B4-BE49-F238E27FC236}">
                <a16:creationId xmlns:a16="http://schemas.microsoft.com/office/drawing/2014/main" id="{23BF79FB-C612-4B2B-B3F7-4FD6C6DA1F70}"/>
              </a:ext>
            </a:extLst>
          </p:cNvPr>
          <p:cNvSpPr>
            <a:spLocks noGrp="1"/>
          </p:cNvSpPr>
          <p:nvPr/>
        </p:nvSpPr>
        <p:spPr>
          <a:xfrm>
            <a:off x="8086725" y="5429250"/>
            <a:ext cx="2352675" cy="953"/>
          </a:xfrm>
          <a:prstGeom prst="line">
            <a:avLst/>
          </a:prstGeom>
          <a:noFill/>
          <a:ln w="14288">
            <a:solidFill>
              <a:srgbClr val="B6C2CD"/>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21" name="weight_label_1_1" descr="1">
                <a:extLst>
                  <a:ext uri="{FF2B5EF4-FFF2-40B4-BE49-F238E27FC236}">
                    <a16:creationId xmlns:a16="http://schemas.microsoft.com/office/drawing/2014/main" id="{A7E5FC3B-7B15-4FE1-98C0-60EB45EFED29}"/>
                  </a:ext>
                </a:extLst>
              </p:cNvPr>
              <p:cNvSpPr>
                <a:spLocks noGrp="1"/>
              </p:cNvSpPr>
              <p:nvPr/>
            </p:nvSpPr>
            <p:spPr>
              <a:xfrm>
                <a:off x="1781175" y="2930374"/>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1" name="weight_label_1_1" descr="1">
                <a:extLst>
                  <a:ext uri="{FF2B5EF4-FFF2-40B4-BE49-F238E27FC236}">
                    <a16:creationId xmlns:a16="http://schemas.microsoft.com/office/drawing/2014/main" id="{A7E5FC3B-7B15-4FE1-98C0-60EB45EFED29}"/>
                  </a:ext>
                </a:extLst>
              </p:cNvPr>
              <p:cNvSpPr>
                <a:spLocks noGrp="1" noRot="1" noChangeAspect="1" noMove="1" noResize="1" noEditPoints="1" noAdjustHandles="1" noChangeArrowheads="1" noChangeShapeType="1" noTextEdit="1"/>
              </p:cNvSpPr>
              <p:nvPr/>
            </p:nvSpPr>
            <p:spPr>
              <a:xfrm>
                <a:off x="1781175" y="2930374"/>
                <a:ext cx="514350" cy="342900"/>
              </a:xfrm>
              <a:prstGeom prst="rect">
                <a:avLst/>
              </a:prstGeom>
              <a:blipFill>
                <a:blip r:embed="rId4"/>
                <a:stretch>
                  <a:fillRect b="-35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 name="weight_label_2_1" descr="-1">
                <a:extLst>
                  <a:ext uri="{FF2B5EF4-FFF2-40B4-BE49-F238E27FC236}">
                    <a16:creationId xmlns:a16="http://schemas.microsoft.com/office/drawing/2014/main" id="{664EBC0E-1A6D-4312-B357-29461497DCF1}"/>
                  </a:ext>
                </a:extLst>
              </p:cNvPr>
              <p:cNvSpPr>
                <a:spLocks noGrp="1"/>
              </p:cNvSpPr>
              <p:nvPr/>
            </p:nvSpPr>
            <p:spPr>
              <a:xfrm>
                <a:off x="2543175" y="3079296"/>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2" name="weight_label_2_1" descr="-1">
                <a:extLst>
                  <a:ext uri="{FF2B5EF4-FFF2-40B4-BE49-F238E27FC236}">
                    <a16:creationId xmlns:a16="http://schemas.microsoft.com/office/drawing/2014/main" id="{664EBC0E-1A6D-4312-B357-29461497DCF1}"/>
                  </a:ext>
                </a:extLst>
              </p:cNvPr>
              <p:cNvSpPr>
                <a:spLocks noGrp="1" noRot="1" noChangeAspect="1" noMove="1" noResize="1" noEditPoints="1" noAdjustHandles="1" noChangeArrowheads="1" noChangeShapeType="1" noTextEdit="1"/>
              </p:cNvSpPr>
              <p:nvPr/>
            </p:nvSpPr>
            <p:spPr>
              <a:xfrm>
                <a:off x="2543175" y="3079296"/>
                <a:ext cx="514350" cy="342900"/>
              </a:xfrm>
              <a:prstGeom prst="rect">
                <a:avLst/>
              </a:prstGeom>
              <a:blipFill>
                <a:blip r:embed="rId5"/>
                <a:stretch>
                  <a:fillRect b="-535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 name="weight_label_1_2" descr="2">
                <a:extLst>
                  <a:ext uri="{FF2B5EF4-FFF2-40B4-BE49-F238E27FC236}">
                    <a16:creationId xmlns:a16="http://schemas.microsoft.com/office/drawing/2014/main" id="{2B032222-CB85-4EBC-8C4E-398F23DD62F0}"/>
                  </a:ext>
                </a:extLst>
              </p:cNvPr>
              <p:cNvSpPr>
                <a:spLocks noGrp="1"/>
              </p:cNvSpPr>
              <p:nvPr/>
            </p:nvSpPr>
            <p:spPr>
              <a:xfrm>
                <a:off x="2486025" y="3771900"/>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2</m:t>
                      </m:r>
                    </m:oMath>
                  </m:oMathPara>
                </a14:m>
                <a:endParaRPr lang="en-GB" sz="2100"/>
              </a:p>
            </p:txBody>
          </p:sp>
        </mc:Choice>
        <mc:Fallback xmlns="">
          <p:sp>
            <p:nvSpPr>
              <p:cNvPr id="23" name="weight_label_1_2" descr="2">
                <a:extLst>
                  <a:ext uri="{FF2B5EF4-FFF2-40B4-BE49-F238E27FC236}">
                    <a16:creationId xmlns:a16="http://schemas.microsoft.com/office/drawing/2014/main" id="{2B032222-CB85-4EBC-8C4E-398F23DD62F0}"/>
                  </a:ext>
                </a:extLst>
              </p:cNvPr>
              <p:cNvSpPr>
                <a:spLocks noGrp="1" noRot="1" noChangeAspect="1" noMove="1" noResize="1" noEditPoints="1" noAdjustHandles="1" noChangeArrowheads="1" noChangeShapeType="1" noTextEdit="1"/>
              </p:cNvSpPr>
              <p:nvPr/>
            </p:nvSpPr>
            <p:spPr>
              <a:xfrm>
                <a:off x="2486025" y="3771900"/>
                <a:ext cx="514350" cy="342900"/>
              </a:xfrm>
              <a:prstGeom prst="rect">
                <a:avLst/>
              </a:prstGeom>
              <a:blipFill>
                <a:blip r:embed="rId6"/>
                <a:stretch>
                  <a:fillRect b="-35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 name="weight_label_2_2" descr="0">
                <a:extLst>
                  <a:ext uri="{FF2B5EF4-FFF2-40B4-BE49-F238E27FC236}">
                    <a16:creationId xmlns:a16="http://schemas.microsoft.com/office/drawing/2014/main" id="{1C29F320-B047-480B-906F-779AF2B1F296}"/>
                  </a:ext>
                </a:extLst>
              </p:cNvPr>
              <p:cNvSpPr>
                <a:spLocks noGrp="1"/>
              </p:cNvSpPr>
              <p:nvPr/>
            </p:nvSpPr>
            <p:spPr>
              <a:xfrm>
                <a:off x="2352675" y="4147004"/>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0</m:t>
                      </m:r>
                    </m:oMath>
                  </m:oMathPara>
                </a14:m>
                <a:endParaRPr lang="en-GB" sz="2100"/>
              </a:p>
            </p:txBody>
          </p:sp>
        </mc:Choice>
        <mc:Fallback xmlns="">
          <p:sp>
            <p:nvSpPr>
              <p:cNvPr id="24" name="weight_label_2_2" descr="0">
                <a:extLst>
                  <a:ext uri="{FF2B5EF4-FFF2-40B4-BE49-F238E27FC236}">
                    <a16:creationId xmlns:a16="http://schemas.microsoft.com/office/drawing/2014/main" id="{1C29F320-B047-480B-906F-779AF2B1F296}"/>
                  </a:ext>
                </a:extLst>
              </p:cNvPr>
              <p:cNvSpPr>
                <a:spLocks noGrp="1" noRot="1" noChangeAspect="1" noMove="1" noResize="1" noEditPoints="1" noAdjustHandles="1" noChangeArrowheads="1" noChangeShapeType="1" noTextEdit="1"/>
              </p:cNvSpPr>
              <p:nvPr/>
            </p:nvSpPr>
            <p:spPr>
              <a:xfrm>
                <a:off x="2352675" y="4147004"/>
                <a:ext cx="514350" cy="342900"/>
              </a:xfrm>
              <a:prstGeom prst="rect">
                <a:avLst/>
              </a:prstGeom>
              <a:blipFill>
                <a:blip r:embed="rId7"/>
                <a:stretch>
                  <a:fillRect b="-350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 name="weight_label_1_3" descr="-1">
                <a:extLst>
                  <a:ext uri="{FF2B5EF4-FFF2-40B4-BE49-F238E27FC236}">
                    <a16:creationId xmlns:a16="http://schemas.microsoft.com/office/drawing/2014/main" id="{73494826-75AD-404E-A19F-0F5D5E9A42A3}"/>
                  </a:ext>
                </a:extLst>
              </p:cNvPr>
              <p:cNvSpPr>
                <a:spLocks noGrp="1"/>
              </p:cNvSpPr>
              <p:nvPr/>
            </p:nvSpPr>
            <p:spPr>
              <a:xfrm>
                <a:off x="2266950" y="4567615"/>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5" name="weight_label_1_3" descr="-1">
                <a:extLst>
                  <a:ext uri="{FF2B5EF4-FFF2-40B4-BE49-F238E27FC236}">
                    <a16:creationId xmlns:a16="http://schemas.microsoft.com/office/drawing/2014/main" id="{73494826-75AD-404E-A19F-0F5D5E9A42A3}"/>
                  </a:ext>
                </a:extLst>
              </p:cNvPr>
              <p:cNvSpPr>
                <a:spLocks noGrp="1" noRot="1" noChangeAspect="1" noMove="1" noResize="1" noEditPoints="1" noAdjustHandles="1" noChangeArrowheads="1" noChangeShapeType="1" noTextEdit="1"/>
              </p:cNvSpPr>
              <p:nvPr/>
            </p:nvSpPr>
            <p:spPr>
              <a:xfrm>
                <a:off x="2266950" y="4567615"/>
                <a:ext cx="514350" cy="342900"/>
              </a:xfrm>
              <a:prstGeom prst="rect">
                <a:avLst/>
              </a:prstGeom>
              <a:blipFill>
                <a:blip r:embed="rId8"/>
                <a:stretch>
                  <a:fillRect b="-350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weight_label_2_3" descr="1">
                <a:extLst>
                  <a:ext uri="{FF2B5EF4-FFF2-40B4-BE49-F238E27FC236}">
                    <a16:creationId xmlns:a16="http://schemas.microsoft.com/office/drawing/2014/main" id="{A62D0923-B47C-48B8-ADAD-A65D7A5E72D4}"/>
                  </a:ext>
                </a:extLst>
              </p:cNvPr>
              <p:cNvSpPr>
                <a:spLocks noGrp="1"/>
              </p:cNvSpPr>
              <p:nvPr/>
            </p:nvSpPr>
            <p:spPr>
              <a:xfrm>
                <a:off x="1819275" y="4913842"/>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6" name="weight_label_2_3" descr="1">
                <a:extLst>
                  <a:ext uri="{FF2B5EF4-FFF2-40B4-BE49-F238E27FC236}">
                    <a16:creationId xmlns:a16="http://schemas.microsoft.com/office/drawing/2014/main" id="{A62D0923-B47C-48B8-ADAD-A65D7A5E72D4}"/>
                  </a:ext>
                </a:extLst>
              </p:cNvPr>
              <p:cNvSpPr>
                <a:spLocks noGrp="1" noRot="1" noChangeAspect="1" noMove="1" noResize="1" noEditPoints="1" noAdjustHandles="1" noChangeArrowheads="1" noChangeShapeType="1" noTextEdit="1"/>
              </p:cNvSpPr>
              <p:nvPr/>
            </p:nvSpPr>
            <p:spPr>
              <a:xfrm>
                <a:off x="1819275" y="4913842"/>
                <a:ext cx="514350" cy="342900"/>
              </a:xfrm>
              <a:prstGeom prst="rect">
                <a:avLst/>
              </a:prstGeom>
              <a:blipFill>
                <a:blip r:embed="rId9"/>
                <a:stretch>
                  <a:fillRect b="-3571"/>
                </a:stretch>
              </a:blipFill>
              <a:ln w="0">
                <a:noFill/>
              </a:ln>
            </p:spPr>
            <p:txBody>
              <a:bodyPr/>
              <a:lstStyle/>
              <a:p>
                <a:r>
                  <a:rPr lang="it-IT">
                    <a:noFill/>
                  </a:rPr>
                  <a:t> </a:t>
                </a:r>
              </a:p>
            </p:txBody>
          </p:sp>
        </mc:Fallback>
      </mc:AlternateContent>
      <p:sp>
        <p:nvSpPr>
          <p:cNvPr id="27" name="input_1">
            <a:extLst>
              <a:ext uri="{FF2B5EF4-FFF2-40B4-BE49-F238E27FC236}">
                <a16:creationId xmlns:a16="http://schemas.microsoft.com/office/drawing/2014/main" id="{D8BD3D51-C41D-42F2-BE99-81B85C5DAD13}"/>
              </a:ext>
            </a:extLst>
          </p:cNvPr>
          <p:cNvSpPr>
            <a:spLocks noGrp="1"/>
          </p:cNvSpPr>
          <p:nvPr/>
        </p:nvSpPr>
        <p:spPr>
          <a:xfrm>
            <a:off x="381000" y="3067050"/>
            <a:ext cx="533400" cy="533400"/>
          </a:xfrm>
          <a:prstGeom prst="ellipse">
            <a:avLst/>
          </a:prstGeom>
          <a:solidFill>
            <a:srgbClr val="FFFFF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28" name="input_value_1" descr="1">
                <a:extLst>
                  <a:ext uri="{FF2B5EF4-FFF2-40B4-BE49-F238E27FC236}">
                    <a16:creationId xmlns:a16="http://schemas.microsoft.com/office/drawing/2014/main" id="{37EA3450-1897-4DE6-87EC-CFFCEDDF51B0}"/>
                  </a:ext>
                </a:extLst>
              </p:cNvPr>
              <p:cNvSpPr>
                <a:spLocks noGrp="1"/>
              </p:cNvSpPr>
              <p:nvPr/>
            </p:nvSpPr>
            <p:spPr>
              <a:xfrm>
                <a:off x="381000" y="306705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500" b="0" i="0" smtClean="0">
                          <a:solidFill>
                            <a:srgbClr val="182D45"/>
                          </a:solidFill>
                          <a:latin typeface="Cambria Math" panose="02040503050406030204" pitchFamily="18" charset="0"/>
                          <a:ea typeface="Cambria Math"/>
                          <a:cs typeface="Cambria Math"/>
                        </a:rPr>
                        <m:t> </m:t>
                      </m:r>
                      <m:r>
                        <a:rPr lang="en-GB" sz="2500">
                          <a:solidFill>
                            <a:srgbClr val="182D45"/>
                          </a:solidFill>
                          <a:latin typeface="Cambria Math"/>
                          <a:ea typeface="Cambria Math"/>
                          <a:cs typeface="Cambria Math"/>
                        </a:rPr>
                        <m:t>1</m:t>
                      </m:r>
                    </m:oMath>
                  </m:oMathPara>
                </a14:m>
                <a:endParaRPr lang="en-GB" sz="2500" dirty="0"/>
              </a:p>
            </p:txBody>
          </p:sp>
        </mc:Choice>
        <mc:Fallback xmlns="">
          <p:sp>
            <p:nvSpPr>
              <p:cNvPr id="28" name="input_value_1" descr="1">
                <a:extLst>
                  <a:ext uri="{FF2B5EF4-FFF2-40B4-BE49-F238E27FC236}">
                    <a16:creationId xmlns:a16="http://schemas.microsoft.com/office/drawing/2014/main" id="{37EA3450-1897-4DE6-87EC-CFFCEDDF51B0}"/>
                  </a:ext>
                </a:extLst>
              </p:cNvPr>
              <p:cNvSpPr>
                <a:spLocks noGrp="1" noRot="1" noChangeAspect="1" noMove="1" noResize="1" noEditPoints="1" noAdjustHandles="1" noChangeArrowheads="1" noChangeShapeType="1" noTextEdit="1"/>
              </p:cNvSpPr>
              <p:nvPr/>
            </p:nvSpPr>
            <p:spPr>
              <a:xfrm>
                <a:off x="381000" y="3067050"/>
                <a:ext cx="533400" cy="533400"/>
              </a:xfrm>
              <a:prstGeom prst="rect">
                <a:avLst/>
              </a:prstGeom>
              <a:blipFill>
                <a:blip r:embed="rId10"/>
                <a:stretch>
                  <a:fillRect/>
                </a:stretch>
              </a:blipFill>
              <a:ln w="0">
                <a:noFill/>
              </a:ln>
            </p:spPr>
            <p:txBody>
              <a:bodyPr/>
              <a:lstStyle/>
              <a:p>
                <a:r>
                  <a:rPr lang="it-IT">
                    <a:noFill/>
                  </a:rPr>
                  <a:t> </a:t>
                </a:r>
              </a:p>
            </p:txBody>
          </p:sp>
        </mc:Fallback>
      </mc:AlternateContent>
      <p:sp>
        <p:nvSpPr>
          <p:cNvPr id="29" name="input_2">
            <a:extLst>
              <a:ext uri="{FF2B5EF4-FFF2-40B4-BE49-F238E27FC236}">
                <a16:creationId xmlns:a16="http://schemas.microsoft.com/office/drawing/2014/main" id="{51B78D67-AD29-4400-90DB-0AF53AA7023B}"/>
              </a:ext>
            </a:extLst>
          </p:cNvPr>
          <p:cNvSpPr>
            <a:spLocks noGrp="1"/>
          </p:cNvSpPr>
          <p:nvPr/>
        </p:nvSpPr>
        <p:spPr>
          <a:xfrm>
            <a:off x="381000" y="4495800"/>
            <a:ext cx="533400" cy="533400"/>
          </a:xfrm>
          <a:prstGeom prst="ellipse">
            <a:avLst/>
          </a:prstGeom>
          <a:solidFill>
            <a:srgbClr val="FFFFF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0" name="input_value_2" descr="2">
                <a:extLst>
                  <a:ext uri="{FF2B5EF4-FFF2-40B4-BE49-F238E27FC236}">
                    <a16:creationId xmlns:a16="http://schemas.microsoft.com/office/drawing/2014/main" id="{633DE705-DA98-4F19-B5DB-D904D36B0885}"/>
                  </a:ext>
                </a:extLst>
              </p:cNvPr>
              <p:cNvSpPr>
                <a:spLocks noGrp="1"/>
              </p:cNvSpPr>
              <p:nvPr/>
            </p:nvSpPr>
            <p:spPr>
              <a:xfrm>
                <a:off x="381000" y="449580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500" b="0" i="0" smtClean="0">
                          <a:solidFill>
                            <a:srgbClr val="182D45"/>
                          </a:solidFill>
                          <a:latin typeface="Cambria Math" panose="02040503050406030204" pitchFamily="18" charset="0"/>
                          <a:ea typeface="Cambria Math"/>
                          <a:cs typeface="Cambria Math"/>
                        </a:rPr>
                        <m:t> </m:t>
                      </m:r>
                      <m:r>
                        <a:rPr lang="en-GB" sz="2500">
                          <a:solidFill>
                            <a:srgbClr val="182D45"/>
                          </a:solidFill>
                          <a:latin typeface="Cambria Math"/>
                          <a:ea typeface="Cambria Math"/>
                          <a:cs typeface="Cambria Math"/>
                        </a:rPr>
                        <m:t>2</m:t>
                      </m:r>
                    </m:oMath>
                  </m:oMathPara>
                </a14:m>
                <a:endParaRPr lang="en-GB" sz="2500" dirty="0"/>
              </a:p>
            </p:txBody>
          </p:sp>
        </mc:Choice>
        <mc:Fallback xmlns="">
          <p:sp>
            <p:nvSpPr>
              <p:cNvPr id="30" name="input_value_2" descr="2">
                <a:extLst>
                  <a:ext uri="{FF2B5EF4-FFF2-40B4-BE49-F238E27FC236}">
                    <a16:creationId xmlns:a16="http://schemas.microsoft.com/office/drawing/2014/main" id="{633DE705-DA98-4F19-B5DB-D904D36B0885}"/>
                  </a:ext>
                </a:extLst>
              </p:cNvPr>
              <p:cNvSpPr>
                <a:spLocks noGrp="1" noRot="1" noChangeAspect="1" noMove="1" noResize="1" noEditPoints="1" noAdjustHandles="1" noChangeArrowheads="1" noChangeShapeType="1" noTextEdit="1"/>
              </p:cNvSpPr>
              <p:nvPr/>
            </p:nvSpPr>
            <p:spPr>
              <a:xfrm>
                <a:off x="381000" y="4495800"/>
                <a:ext cx="533400" cy="533400"/>
              </a:xfrm>
              <a:prstGeom prst="rect">
                <a:avLst/>
              </a:prstGeom>
              <a:blipFill>
                <a:blip r:embed="rId11"/>
                <a:stretch>
                  <a:fillRect/>
                </a:stretch>
              </a:blipFill>
              <a:ln w="0">
                <a:noFill/>
              </a:ln>
            </p:spPr>
            <p:txBody>
              <a:bodyPr/>
              <a:lstStyle/>
              <a:p>
                <a:r>
                  <a:rPr lang="it-IT">
                    <a:noFill/>
                  </a:rPr>
                  <a:t> </a:t>
                </a:r>
              </a:p>
            </p:txBody>
          </p:sp>
        </mc:Fallback>
      </mc:AlternateContent>
      <p:sp>
        <p:nvSpPr>
          <p:cNvPr id="31" name="sum_1">
            <a:extLst>
              <a:ext uri="{FF2B5EF4-FFF2-40B4-BE49-F238E27FC236}">
                <a16:creationId xmlns:a16="http://schemas.microsoft.com/office/drawing/2014/main" id="{7417B5FB-C15E-40E2-B684-9D6F0B3827C0}"/>
              </a:ext>
            </a:extLst>
          </p:cNvPr>
          <p:cNvSpPr>
            <a:spLocks noGrp="1"/>
          </p:cNvSpPr>
          <p:nvPr/>
        </p:nvSpPr>
        <p:spPr>
          <a:xfrm>
            <a:off x="3314700" y="2390775"/>
            <a:ext cx="2286000" cy="895350"/>
          </a:xfrm>
          <a:prstGeom prst="ellipse">
            <a:avLst/>
          </a:prstGeom>
          <a:solidFill>
            <a:srgbClr val="F1F4F7"/>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2" name="sum_expression_1" descr="1(1)+2(-1)">
                <a:extLst>
                  <a:ext uri="{FF2B5EF4-FFF2-40B4-BE49-F238E27FC236}">
                    <a16:creationId xmlns:a16="http://schemas.microsoft.com/office/drawing/2014/main" id="{AF39FE4A-4B31-4143-932B-24FD8B92A0A2}"/>
                  </a:ext>
                </a:extLst>
              </p:cNvPr>
              <p:cNvSpPr>
                <a:spLocks noGrp="1"/>
              </p:cNvSpPr>
              <p:nvPr/>
            </p:nvSpPr>
            <p:spPr>
              <a:xfrm>
                <a:off x="3314700" y="24669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182D45"/>
                          </a:solidFill>
                          <a:latin typeface="Cambria Math"/>
                          <a:ea typeface="Cambria Math"/>
                          <a:cs typeface="Cambria Math"/>
                        </a:rPr>
                        <m:t>1(1)+2(−1)</m:t>
                      </m:r>
                    </m:oMath>
                  </m:oMathPara>
                </a14:m>
                <a:endParaRPr lang="en-GB" sz="2000"/>
              </a:p>
            </p:txBody>
          </p:sp>
        </mc:Choice>
        <mc:Fallback xmlns="">
          <p:sp>
            <p:nvSpPr>
              <p:cNvPr id="32" name="sum_expression_1" descr="1(1)+2(-1)">
                <a:extLst>
                  <a:ext uri="{FF2B5EF4-FFF2-40B4-BE49-F238E27FC236}">
                    <a16:creationId xmlns:a16="http://schemas.microsoft.com/office/drawing/2014/main" id="{AF39FE4A-4B31-4143-932B-24FD8B92A0A2}"/>
                  </a:ext>
                </a:extLst>
              </p:cNvPr>
              <p:cNvSpPr>
                <a:spLocks noGrp="1" noRot="1" noChangeAspect="1" noMove="1" noResize="1" noEditPoints="1" noAdjustHandles="1" noChangeArrowheads="1" noChangeShapeType="1" noTextEdit="1"/>
              </p:cNvSpPr>
              <p:nvPr/>
            </p:nvSpPr>
            <p:spPr>
              <a:xfrm>
                <a:off x="3314700" y="2466975"/>
                <a:ext cx="2286000" cy="361950"/>
              </a:xfrm>
              <a:prstGeom prst="rect">
                <a:avLst/>
              </a:prstGeom>
              <a:blipFill>
                <a:blip r:embed="rId12"/>
                <a:stretch>
                  <a:fillRect b="-2203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 name="sum_result_1" descr="=-1">
                <a:extLst>
                  <a:ext uri="{FF2B5EF4-FFF2-40B4-BE49-F238E27FC236}">
                    <a16:creationId xmlns:a16="http://schemas.microsoft.com/office/drawing/2014/main" id="{6C8EF5EE-3787-4B91-9CC7-84CBCD336197}"/>
                  </a:ext>
                </a:extLst>
              </p:cNvPr>
              <p:cNvSpPr>
                <a:spLocks noGrp="1"/>
              </p:cNvSpPr>
              <p:nvPr/>
            </p:nvSpPr>
            <p:spPr>
              <a:xfrm>
                <a:off x="3314700" y="28575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182D45"/>
                          </a:solidFill>
                          <a:latin typeface="Cambria Math"/>
                          <a:ea typeface="Cambria Math"/>
                          <a:cs typeface="Cambria Math"/>
                        </a:rPr>
                        <m:t>=−1</m:t>
                      </m:r>
                    </m:oMath>
                  </m:oMathPara>
                </a14:m>
                <a:endParaRPr lang="en-GB" sz="2400"/>
              </a:p>
            </p:txBody>
          </p:sp>
        </mc:Choice>
        <mc:Fallback xmlns="">
          <p:sp>
            <p:nvSpPr>
              <p:cNvPr id="33" name="sum_result_1" descr="=-1">
                <a:extLst>
                  <a:ext uri="{FF2B5EF4-FFF2-40B4-BE49-F238E27FC236}">
                    <a16:creationId xmlns:a16="http://schemas.microsoft.com/office/drawing/2014/main" id="{6C8EF5EE-3787-4B91-9CC7-84CBCD336197}"/>
                  </a:ext>
                </a:extLst>
              </p:cNvPr>
              <p:cNvSpPr>
                <a:spLocks noGrp="1" noRot="1" noChangeAspect="1" noMove="1" noResize="1" noEditPoints="1" noAdjustHandles="1" noChangeArrowheads="1" noChangeShapeType="1" noTextEdit="1"/>
              </p:cNvSpPr>
              <p:nvPr/>
            </p:nvSpPr>
            <p:spPr>
              <a:xfrm>
                <a:off x="3314700" y="2857500"/>
                <a:ext cx="2286000" cy="371475"/>
              </a:xfrm>
              <a:prstGeom prst="rect">
                <a:avLst/>
              </a:prstGeom>
              <a:blipFill>
                <a:blip r:embed="rId13"/>
                <a:stretch>
                  <a:fillRect b="-6557"/>
                </a:stretch>
              </a:blipFill>
              <a:ln w="0">
                <a:noFill/>
              </a:ln>
            </p:spPr>
            <p:txBody>
              <a:bodyPr/>
              <a:lstStyle/>
              <a:p>
                <a:r>
                  <a:rPr lang="it-IT">
                    <a:noFill/>
                  </a:rPr>
                  <a:t> </a:t>
                </a:r>
              </a:p>
            </p:txBody>
          </p:sp>
        </mc:Fallback>
      </mc:AlternateContent>
      <p:sp>
        <p:nvSpPr>
          <p:cNvPr id="34" name="pre_1">
            <a:extLst>
              <a:ext uri="{FF2B5EF4-FFF2-40B4-BE49-F238E27FC236}">
                <a16:creationId xmlns:a16="http://schemas.microsoft.com/office/drawing/2014/main" id="{A356D51F-FCD4-4A36-84AE-E146A05E2D0B}"/>
              </a:ext>
            </a:extLst>
          </p:cNvPr>
          <p:cNvSpPr>
            <a:spLocks noGrp="1"/>
          </p:cNvSpPr>
          <p:nvPr/>
        </p:nvSpPr>
        <p:spPr>
          <a:xfrm>
            <a:off x="7134225" y="2362200"/>
            <a:ext cx="952500" cy="95250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35" name="pre_value_1" descr="-1">
                <a:extLst>
                  <a:ext uri="{FF2B5EF4-FFF2-40B4-BE49-F238E27FC236}">
                    <a16:creationId xmlns:a16="http://schemas.microsoft.com/office/drawing/2014/main" id="{DE104395-2A8B-4697-8A17-3E09A26351D2}"/>
                  </a:ext>
                </a:extLst>
              </p:cNvPr>
              <p:cNvSpPr>
                <a:spLocks noGrp="1"/>
              </p:cNvSpPr>
              <p:nvPr/>
            </p:nvSpPr>
            <p:spPr>
              <a:xfrm>
                <a:off x="7134225" y="23622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a:solidFill>
                            <a:srgbClr val="087F83"/>
                          </a:solidFill>
                          <a:latin typeface="Cambria Math"/>
                          <a:ea typeface="Cambria Math"/>
                          <a:cs typeface="Cambria Math"/>
                        </a:rPr>
                        <m:t>−1</m:t>
                      </m:r>
                    </m:oMath>
                  </m:oMathPara>
                </a14:m>
                <a:endParaRPr lang="en-GB" sz="3000"/>
              </a:p>
            </p:txBody>
          </p:sp>
        </mc:Choice>
        <mc:Fallback xmlns="">
          <p:sp>
            <p:nvSpPr>
              <p:cNvPr id="35" name="pre_value_1" descr="-1">
                <a:extLst>
                  <a:ext uri="{FF2B5EF4-FFF2-40B4-BE49-F238E27FC236}">
                    <a16:creationId xmlns:a16="http://schemas.microsoft.com/office/drawing/2014/main" id="{DE104395-2A8B-4697-8A17-3E09A26351D2}"/>
                  </a:ext>
                </a:extLst>
              </p:cNvPr>
              <p:cNvSpPr>
                <a:spLocks noGrp="1" noRot="1" noChangeAspect="1" noMove="1" noResize="1" noEditPoints="1" noAdjustHandles="1" noChangeArrowheads="1" noChangeShapeType="1" noTextEdit="1"/>
              </p:cNvSpPr>
              <p:nvPr/>
            </p:nvSpPr>
            <p:spPr>
              <a:xfrm>
                <a:off x="7134225" y="2362200"/>
                <a:ext cx="952500" cy="952500"/>
              </a:xfrm>
              <a:prstGeom prst="rect">
                <a:avLst/>
              </a:prstGeom>
              <a:blipFill>
                <a:blip r:embed="rId14"/>
                <a:stretch>
                  <a:fillRect/>
                </a:stretch>
              </a:blipFill>
              <a:ln w="0">
                <a:noFill/>
              </a:ln>
            </p:spPr>
            <p:txBody>
              <a:bodyPr/>
              <a:lstStyle/>
              <a:p>
                <a:r>
                  <a:rPr lang="it-IT">
                    <a:noFill/>
                  </a:rPr>
                  <a:t> </a:t>
                </a:r>
              </a:p>
            </p:txBody>
          </p:sp>
        </mc:Fallback>
      </mc:AlternateContent>
      <p:sp>
        <p:nvSpPr>
          <p:cNvPr id="36" name="activation_1">
            <a:extLst>
              <a:ext uri="{FF2B5EF4-FFF2-40B4-BE49-F238E27FC236}">
                <a16:creationId xmlns:a16="http://schemas.microsoft.com/office/drawing/2014/main" id="{4C0FF115-A641-4E6F-8DCB-5748B13F2F2F}"/>
              </a:ext>
            </a:extLst>
          </p:cNvPr>
          <p:cNvSpPr>
            <a:spLocks noGrp="1"/>
          </p:cNvSpPr>
          <p:nvPr/>
        </p:nvSpPr>
        <p:spPr>
          <a:xfrm>
            <a:off x="10439400" y="23622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37" name="activation_value_1" descr="?">
                <a:extLst>
                  <a:ext uri="{FF2B5EF4-FFF2-40B4-BE49-F238E27FC236}">
                    <a16:creationId xmlns:a16="http://schemas.microsoft.com/office/drawing/2014/main" id="{3546DED4-759F-4642-A1BD-F5F64424AC7C}"/>
                  </a:ext>
                </a:extLst>
              </p:cNvPr>
              <p:cNvSpPr>
                <a:spLocks noGrp="1"/>
              </p:cNvSpPr>
              <p:nvPr/>
            </p:nvSpPr>
            <p:spPr>
              <a:xfrm>
                <a:off x="10439400" y="23622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37" name="activation_value_1" descr="?">
                <a:extLst>
                  <a:ext uri="{FF2B5EF4-FFF2-40B4-BE49-F238E27FC236}">
                    <a16:creationId xmlns:a16="http://schemas.microsoft.com/office/drawing/2014/main" id="{3546DED4-759F-4642-A1BD-F5F64424AC7C}"/>
                  </a:ext>
                </a:extLst>
              </p:cNvPr>
              <p:cNvSpPr>
                <a:spLocks noGrp="1" noRot="1" noChangeAspect="1" noMove="1" noResize="1" noEditPoints="1" noAdjustHandles="1" noChangeArrowheads="1" noChangeShapeType="1" noTextEdit="1"/>
              </p:cNvSpPr>
              <p:nvPr/>
            </p:nvSpPr>
            <p:spPr>
              <a:xfrm>
                <a:off x="10439400" y="2362200"/>
                <a:ext cx="952500" cy="952500"/>
              </a:xfrm>
              <a:prstGeom prst="rect">
                <a:avLst/>
              </a:prstGeom>
              <a:blipFill>
                <a:blip r:embed="rId1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8" name="bias_value_1" descr="+0">
                <a:extLst>
                  <a:ext uri="{FF2B5EF4-FFF2-40B4-BE49-F238E27FC236}">
                    <a16:creationId xmlns:a16="http://schemas.microsoft.com/office/drawing/2014/main" id="{F2299449-27A9-4999-9A7F-C0BCA42EC074}"/>
                  </a:ext>
                </a:extLst>
              </p:cNvPr>
              <p:cNvSpPr>
                <a:spLocks noGrp="1"/>
              </p:cNvSpPr>
              <p:nvPr/>
            </p:nvSpPr>
            <p:spPr>
              <a:xfrm>
                <a:off x="5810250" y="24288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087F83"/>
                          </a:solidFill>
                          <a:latin typeface="Cambria Math"/>
                          <a:ea typeface="Cambria Math"/>
                          <a:cs typeface="Cambria Math"/>
                        </a:rPr>
                        <m:t>+0</m:t>
                      </m:r>
                    </m:oMath>
                  </m:oMathPara>
                </a14:m>
                <a:endParaRPr lang="en-GB" sz="2300"/>
              </a:p>
            </p:txBody>
          </p:sp>
        </mc:Choice>
        <mc:Fallback xmlns="">
          <p:sp>
            <p:nvSpPr>
              <p:cNvPr id="38" name="bias_value_1" descr="+0">
                <a:extLst>
                  <a:ext uri="{FF2B5EF4-FFF2-40B4-BE49-F238E27FC236}">
                    <a16:creationId xmlns:a16="http://schemas.microsoft.com/office/drawing/2014/main" id="{F2299449-27A9-4999-9A7F-C0BCA42EC074}"/>
                  </a:ext>
                </a:extLst>
              </p:cNvPr>
              <p:cNvSpPr>
                <a:spLocks noGrp="1" noRot="1" noChangeAspect="1" noMove="1" noResize="1" noEditPoints="1" noAdjustHandles="1" noChangeArrowheads="1" noChangeShapeType="1" noTextEdit="1"/>
              </p:cNvSpPr>
              <p:nvPr/>
            </p:nvSpPr>
            <p:spPr>
              <a:xfrm>
                <a:off x="5810250" y="2428875"/>
                <a:ext cx="1000125" cy="352425"/>
              </a:xfrm>
              <a:prstGeom prst="rect">
                <a:avLst/>
              </a:prstGeom>
              <a:blipFill>
                <a:blip r:embed="rId16"/>
                <a:stretch>
                  <a:fillRect b="-10345"/>
                </a:stretch>
              </a:blipFill>
              <a:ln w="0">
                <a:noFill/>
              </a:ln>
            </p:spPr>
            <p:txBody>
              <a:bodyPr/>
              <a:lstStyle/>
              <a:p>
                <a:r>
                  <a:rPr lang="it-IT">
                    <a:noFill/>
                  </a:rPr>
                  <a:t> </a:t>
                </a:r>
              </a:p>
            </p:txBody>
          </p:sp>
        </mc:Fallback>
      </mc:AlternateContent>
      <p:sp>
        <p:nvSpPr>
          <p:cNvPr id="39" name="relu_label_1">
            <a:extLst>
              <a:ext uri="{FF2B5EF4-FFF2-40B4-BE49-F238E27FC236}">
                <a16:creationId xmlns:a16="http://schemas.microsoft.com/office/drawing/2014/main" id="{B8FA66B4-C348-4166-B867-EDEE201B65D6}"/>
              </a:ext>
            </a:extLst>
          </p:cNvPr>
          <p:cNvSpPr>
            <a:spLocks noGrp="1"/>
          </p:cNvSpPr>
          <p:nvPr/>
        </p:nvSpPr>
        <p:spPr>
          <a:xfrm>
            <a:off x="8639175" y="2428875"/>
            <a:ext cx="1238250" cy="352425"/>
          </a:xfrm>
          <a:prstGeom prst="rect">
            <a:avLst/>
          </a:prstGeom>
          <a:noFill/>
          <a:ln w="0">
            <a:noFill/>
          </a:ln>
        </p:spPr>
        <p:txBody>
          <a:bodyPr anchor="ctr">
            <a:noAutofit/>
          </a:bodyPr>
          <a:lstStyle/>
          <a:p>
            <a:pPr algn="ctr">
              <a:defRPr sz="1875" b="0">
                <a:solidFill>
                  <a:srgbClr val="B6C2CD"/>
                </a:solidFill>
                <a:latin typeface="DejaVu Sans"/>
                <a:ea typeface="DejaVu Sans"/>
                <a:cs typeface="DejaVu Sans"/>
              </a:defRPr>
            </a:pPr>
            <a:r>
              <a:rPr sz="1875" b="0">
                <a:solidFill>
                  <a:srgbClr val="B6C2CD"/>
                </a:solidFill>
                <a:latin typeface="DejaVu Sans"/>
                <a:ea typeface="DejaVu Sans"/>
                <a:cs typeface="DejaVu Sans"/>
              </a:rPr>
              <a:t>ReLU</a:t>
            </a:r>
          </a:p>
        </p:txBody>
      </p:sp>
      <p:sp>
        <p:nvSpPr>
          <p:cNvPr id="40" name="sum_2">
            <a:extLst>
              <a:ext uri="{FF2B5EF4-FFF2-40B4-BE49-F238E27FC236}">
                <a16:creationId xmlns:a16="http://schemas.microsoft.com/office/drawing/2014/main" id="{94C44DBA-25DB-4351-B6F1-571129AB8DEF}"/>
              </a:ext>
            </a:extLst>
          </p:cNvPr>
          <p:cNvSpPr>
            <a:spLocks noGrp="1"/>
          </p:cNvSpPr>
          <p:nvPr/>
        </p:nvSpPr>
        <p:spPr>
          <a:xfrm>
            <a:off x="3314700" y="3686175"/>
            <a:ext cx="2286000" cy="895350"/>
          </a:xfrm>
          <a:prstGeom prst="ellipse">
            <a:avLst/>
          </a:prstGeom>
          <a:solidFill>
            <a:srgbClr val="F1F4F7"/>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41" name="sum_expression_2" descr="1(2)+2(0)">
                <a:extLst>
                  <a:ext uri="{FF2B5EF4-FFF2-40B4-BE49-F238E27FC236}">
                    <a16:creationId xmlns:a16="http://schemas.microsoft.com/office/drawing/2014/main" id="{4FE26D83-A01A-4163-8AFA-62EBC5CDAD93}"/>
                  </a:ext>
                </a:extLst>
              </p:cNvPr>
              <p:cNvSpPr>
                <a:spLocks noGrp="1"/>
              </p:cNvSpPr>
              <p:nvPr/>
            </p:nvSpPr>
            <p:spPr>
              <a:xfrm>
                <a:off x="3314700" y="37623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182D45"/>
                          </a:solidFill>
                          <a:latin typeface="Cambria Math"/>
                          <a:ea typeface="Cambria Math"/>
                          <a:cs typeface="Cambria Math"/>
                        </a:rPr>
                        <m:t>1(2)+2(0)</m:t>
                      </m:r>
                    </m:oMath>
                  </m:oMathPara>
                </a14:m>
                <a:endParaRPr lang="en-GB" sz="2000"/>
              </a:p>
            </p:txBody>
          </p:sp>
        </mc:Choice>
        <mc:Fallback xmlns="">
          <p:sp>
            <p:nvSpPr>
              <p:cNvPr id="41" name="sum_expression_2" descr="1(2)+2(0)">
                <a:extLst>
                  <a:ext uri="{FF2B5EF4-FFF2-40B4-BE49-F238E27FC236}">
                    <a16:creationId xmlns:a16="http://schemas.microsoft.com/office/drawing/2014/main" id="{4FE26D83-A01A-4163-8AFA-62EBC5CDAD93}"/>
                  </a:ext>
                </a:extLst>
              </p:cNvPr>
              <p:cNvSpPr>
                <a:spLocks noGrp="1" noRot="1" noChangeAspect="1" noMove="1" noResize="1" noEditPoints="1" noAdjustHandles="1" noChangeArrowheads="1" noChangeShapeType="1" noTextEdit="1"/>
              </p:cNvSpPr>
              <p:nvPr/>
            </p:nvSpPr>
            <p:spPr>
              <a:xfrm>
                <a:off x="3314700" y="3762375"/>
                <a:ext cx="2286000" cy="361950"/>
              </a:xfrm>
              <a:prstGeom prst="rect">
                <a:avLst/>
              </a:prstGeom>
              <a:blipFill>
                <a:blip r:embed="rId17"/>
                <a:stretch>
                  <a:fillRect b="-2166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2" name="sum_result_2" descr="=2">
                <a:extLst>
                  <a:ext uri="{FF2B5EF4-FFF2-40B4-BE49-F238E27FC236}">
                    <a16:creationId xmlns:a16="http://schemas.microsoft.com/office/drawing/2014/main" id="{3167B1B0-30DE-4500-8D0A-514D45CCFD1D}"/>
                  </a:ext>
                </a:extLst>
              </p:cNvPr>
              <p:cNvSpPr>
                <a:spLocks noGrp="1"/>
              </p:cNvSpPr>
              <p:nvPr/>
            </p:nvSpPr>
            <p:spPr>
              <a:xfrm>
                <a:off x="3314700" y="41529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182D45"/>
                          </a:solidFill>
                          <a:latin typeface="Cambria Math"/>
                          <a:ea typeface="Cambria Math"/>
                          <a:cs typeface="Cambria Math"/>
                        </a:rPr>
                        <m:t>=2</m:t>
                      </m:r>
                    </m:oMath>
                  </m:oMathPara>
                </a14:m>
                <a:endParaRPr lang="en-GB" sz="2400"/>
              </a:p>
            </p:txBody>
          </p:sp>
        </mc:Choice>
        <mc:Fallback xmlns="">
          <p:sp>
            <p:nvSpPr>
              <p:cNvPr id="42" name="sum_result_2" descr="=2">
                <a:extLst>
                  <a:ext uri="{FF2B5EF4-FFF2-40B4-BE49-F238E27FC236}">
                    <a16:creationId xmlns:a16="http://schemas.microsoft.com/office/drawing/2014/main" id="{3167B1B0-30DE-4500-8D0A-514D45CCFD1D}"/>
                  </a:ext>
                </a:extLst>
              </p:cNvPr>
              <p:cNvSpPr>
                <a:spLocks noGrp="1" noRot="1" noChangeAspect="1" noMove="1" noResize="1" noEditPoints="1" noAdjustHandles="1" noChangeArrowheads="1" noChangeShapeType="1" noTextEdit="1"/>
              </p:cNvSpPr>
              <p:nvPr/>
            </p:nvSpPr>
            <p:spPr>
              <a:xfrm>
                <a:off x="3314700" y="4152900"/>
                <a:ext cx="2286000" cy="371475"/>
              </a:xfrm>
              <a:prstGeom prst="rect">
                <a:avLst/>
              </a:prstGeom>
              <a:blipFill>
                <a:blip r:embed="rId18"/>
                <a:stretch>
                  <a:fillRect b="-6557"/>
                </a:stretch>
              </a:blipFill>
              <a:ln w="0">
                <a:noFill/>
              </a:ln>
            </p:spPr>
            <p:txBody>
              <a:bodyPr/>
              <a:lstStyle/>
              <a:p>
                <a:r>
                  <a:rPr lang="it-IT">
                    <a:noFill/>
                  </a:rPr>
                  <a:t> </a:t>
                </a:r>
              </a:p>
            </p:txBody>
          </p:sp>
        </mc:Fallback>
      </mc:AlternateContent>
      <p:sp>
        <p:nvSpPr>
          <p:cNvPr id="43" name="pre_2">
            <a:extLst>
              <a:ext uri="{FF2B5EF4-FFF2-40B4-BE49-F238E27FC236}">
                <a16:creationId xmlns:a16="http://schemas.microsoft.com/office/drawing/2014/main" id="{D5903DE7-E8AA-4A95-9F62-5DBB326127F4}"/>
              </a:ext>
            </a:extLst>
          </p:cNvPr>
          <p:cNvSpPr>
            <a:spLocks noGrp="1"/>
          </p:cNvSpPr>
          <p:nvPr/>
        </p:nvSpPr>
        <p:spPr>
          <a:xfrm>
            <a:off x="7134225" y="3657600"/>
            <a:ext cx="952500" cy="95250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44" name="pre_value_2" descr="3">
                <a:extLst>
                  <a:ext uri="{FF2B5EF4-FFF2-40B4-BE49-F238E27FC236}">
                    <a16:creationId xmlns:a16="http://schemas.microsoft.com/office/drawing/2014/main" id="{5E7AB545-1AA8-4700-B662-E2339CAA06E9}"/>
                  </a:ext>
                </a:extLst>
              </p:cNvPr>
              <p:cNvSpPr>
                <a:spLocks noGrp="1"/>
              </p:cNvSpPr>
              <p:nvPr/>
            </p:nvSpPr>
            <p:spPr>
              <a:xfrm>
                <a:off x="7134225" y="36576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3</m:t>
                      </m:r>
                    </m:oMath>
                  </m:oMathPara>
                </a14:m>
                <a:endParaRPr lang="en-GB" sz="3000" dirty="0"/>
              </a:p>
            </p:txBody>
          </p:sp>
        </mc:Choice>
        <mc:Fallback xmlns="">
          <p:sp>
            <p:nvSpPr>
              <p:cNvPr id="44" name="pre_value_2" descr="3">
                <a:extLst>
                  <a:ext uri="{FF2B5EF4-FFF2-40B4-BE49-F238E27FC236}">
                    <a16:creationId xmlns:a16="http://schemas.microsoft.com/office/drawing/2014/main" id="{5E7AB545-1AA8-4700-B662-E2339CAA06E9}"/>
                  </a:ext>
                </a:extLst>
              </p:cNvPr>
              <p:cNvSpPr>
                <a:spLocks noGrp="1" noRot="1" noChangeAspect="1" noMove="1" noResize="1" noEditPoints="1" noAdjustHandles="1" noChangeArrowheads="1" noChangeShapeType="1" noTextEdit="1"/>
              </p:cNvSpPr>
              <p:nvPr/>
            </p:nvSpPr>
            <p:spPr>
              <a:xfrm>
                <a:off x="7134225" y="3657600"/>
                <a:ext cx="952500" cy="952500"/>
              </a:xfrm>
              <a:prstGeom prst="rect">
                <a:avLst/>
              </a:prstGeom>
              <a:blipFill>
                <a:blip r:embed="rId19"/>
                <a:stretch>
                  <a:fillRect/>
                </a:stretch>
              </a:blipFill>
              <a:ln w="0">
                <a:noFill/>
              </a:ln>
            </p:spPr>
            <p:txBody>
              <a:bodyPr/>
              <a:lstStyle/>
              <a:p>
                <a:r>
                  <a:rPr lang="it-IT">
                    <a:noFill/>
                  </a:rPr>
                  <a:t> </a:t>
                </a:r>
              </a:p>
            </p:txBody>
          </p:sp>
        </mc:Fallback>
      </mc:AlternateContent>
      <p:sp>
        <p:nvSpPr>
          <p:cNvPr id="45" name="activation_2">
            <a:extLst>
              <a:ext uri="{FF2B5EF4-FFF2-40B4-BE49-F238E27FC236}">
                <a16:creationId xmlns:a16="http://schemas.microsoft.com/office/drawing/2014/main" id="{C6511E20-E662-4E25-A83B-1792C495E052}"/>
              </a:ext>
            </a:extLst>
          </p:cNvPr>
          <p:cNvSpPr>
            <a:spLocks noGrp="1"/>
          </p:cNvSpPr>
          <p:nvPr/>
        </p:nvSpPr>
        <p:spPr>
          <a:xfrm>
            <a:off x="10439400" y="36576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46" name="activation_value_2" descr="?">
                <a:extLst>
                  <a:ext uri="{FF2B5EF4-FFF2-40B4-BE49-F238E27FC236}">
                    <a16:creationId xmlns:a16="http://schemas.microsoft.com/office/drawing/2014/main" id="{DE44B86C-3683-4DE4-954B-5FD8CEFC9C36}"/>
                  </a:ext>
                </a:extLst>
              </p:cNvPr>
              <p:cNvSpPr>
                <a:spLocks noGrp="1"/>
              </p:cNvSpPr>
              <p:nvPr/>
            </p:nvSpPr>
            <p:spPr>
              <a:xfrm>
                <a:off x="10439400" y="36576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46" name="activation_value_2" descr="?">
                <a:extLst>
                  <a:ext uri="{FF2B5EF4-FFF2-40B4-BE49-F238E27FC236}">
                    <a16:creationId xmlns:a16="http://schemas.microsoft.com/office/drawing/2014/main" id="{DE44B86C-3683-4DE4-954B-5FD8CEFC9C36}"/>
                  </a:ext>
                </a:extLst>
              </p:cNvPr>
              <p:cNvSpPr>
                <a:spLocks noGrp="1" noRot="1" noChangeAspect="1" noMove="1" noResize="1" noEditPoints="1" noAdjustHandles="1" noChangeArrowheads="1" noChangeShapeType="1" noTextEdit="1"/>
              </p:cNvSpPr>
              <p:nvPr/>
            </p:nvSpPr>
            <p:spPr>
              <a:xfrm>
                <a:off x="10439400" y="3657600"/>
                <a:ext cx="952500" cy="952500"/>
              </a:xfrm>
              <a:prstGeom prst="rect">
                <a:avLst/>
              </a:prstGeom>
              <a:blipFill>
                <a:blip r:embed="rId20"/>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7" name="bias_value_2" descr="+1">
                <a:extLst>
                  <a:ext uri="{FF2B5EF4-FFF2-40B4-BE49-F238E27FC236}">
                    <a16:creationId xmlns:a16="http://schemas.microsoft.com/office/drawing/2014/main" id="{23F108D9-5CB7-4CBC-843A-DADDCCE265BC}"/>
                  </a:ext>
                </a:extLst>
              </p:cNvPr>
              <p:cNvSpPr>
                <a:spLocks noGrp="1"/>
              </p:cNvSpPr>
              <p:nvPr/>
            </p:nvSpPr>
            <p:spPr>
              <a:xfrm>
                <a:off x="5810250" y="37242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087F83"/>
                          </a:solidFill>
                          <a:latin typeface="Cambria Math"/>
                          <a:ea typeface="Cambria Math"/>
                          <a:cs typeface="Cambria Math"/>
                        </a:rPr>
                        <m:t>+1</m:t>
                      </m:r>
                    </m:oMath>
                  </m:oMathPara>
                </a14:m>
                <a:endParaRPr lang="en-GB" sz="2300"/>
              </a:p>
            </p:txBody>
          </p:sp>
        </mc:Choice>
        <mc:Fallback xmlns="">
          <p:sp>
            <p:nvSpPr>
              <p:cNvPr id="47" name="bias_value_2" descr="+1">
                <a:extLst>
                  <a:ext uri="{FF2B5EF4-FFF2-40B4-BE49-F238E27FC236}">
                    <a16:creationId xmlns:a16="http://schemas.microsoft.com/office/drawing/2014/main" id="{23F108D9-5CB7-4CBC-843A-DADDCCE265BC}"/>
                  </a:ext>
                </a:extLst>
              </p:cNvPr>
              <p:cNvSpPr>
                <a:spLocks noGrp="1" noRot="1" noChangeAspect="1" noMove="1" noResize="1" noEditPoints="1" noAdjustHandles="1" noChangeArrowheads="1" noChangeShapeType="1" noTextEdit="1"/>
              </p:cNvSpPr>
              <p:nvPr/>
            </p:nvSpPr>
            <p:spPr>
              <a:xfrm>
                <a:off x="5810250" y="3724275"/>
                <a:ext cx="1000125" cy="352425"/>
              </a:xfrm>
              <a:prstGeom prst="rect">
                <a:avLst/>
              </a:prstGeom>
              <a:blipFill>
                <a:blip r:embed="rId21"/>
                <a:stretch>
                  <a:fillRect b="-8621"/>
                </a:stretch>
              </a:blipFill>
              <a:ln w="0">
                <a:noFill/>
              </a:ln>
            </p:spPr>
            <p:txBody>
              <a:bodyPr/>
              <a:lstStyle/>
              <a:p>
                <a:r>
                  <a:rPr lang="it-IT">
                    <a:noFill/>
                  </a:rPr>
                  <a:t> </a:t>
                </a:r>
              </a:p>
            </p:txBody>
          </p:sp>
        </mc:Fallback>
      </mc:AlternateContent>
      <p:sp>
        <p:nvSpPr>
          <p:cNvPr id="48" name="relu_label_2">
            <a:extLst>
              <a:ext uri="{FF2B5EF4-FFF2-40B4-BE49-F238E27FC236}">
                <a16:creationId xmlns:a16="http://schemas.microsoft.com/office/drawing/2014/main" id="{4834DE19-3DDF-4DB1-8D82-DD9C3A9F1A26}"/>
              </a:ext>
            </a:extLst>
          </p:cNvPr>
          <p:cNvSpPr>
            <a:spLocks noGrp="1"/>
          </p:cNvSpPr>
          <p:nvPr/>
        </p:nvSpPr>
        <p:spPr>
          <a:xfrm>
            <a:off x="8639175" y="3724275"/>
            <a:ext cx="1238250" cy="352425"/>
          </a:xfrm>
          <a:prstGeom prst="rect">
            <a:avLst/>
          </a:prstGeom>
          <a:noFill/>
          <a:ln w="0">
            <a:noFill/>
          </a:ln>
        </p:spPr>
        <p:txBody>
          <a:bodyPr anchor="ctr">
            <a:noAutofit/>
          </a:bodyPr>
          <a:lstStyle/>
          <a:p>
            <a:pPr algn="ctr">
              <a:defRPr sz="1875" b="0">
                <a:solidFill>
                  <a:srgbClr val="B6C2CD"/>
                </a:solidFill>
                <a:latin typeface="DejaVu Sans"/>
                <a:ea typeface="DejaVu Sans"/>
                <a:cs typeface="DejaVu Sans"/>
              </a:defRPr>
            </a:pPr>
            <a:r>
              <a:rPr sz="1875" b="0">
                <a:solidFill>
                  <a:srgbClr val="B6C2CD"/>
                </a:solidFill>
                <a:latin typeface="DejaVu Sans"/>
                <a:ea typeface="DejaVu Sans"/>
                <a:cs typeface="DejaVu Sans"/>
              </a:rPr>
              <a:t>ReLU</a:t>
            </a:r>
          </a:p>
        </p:txBody>
      </p:sp>
      <p:sp>
        <p:nvSpPr>
          <p:cNvPr id="49" name="sum_3">
            <a:extLst>
              <a:ext uri="{FF2B5EF4-FFF2-40B4-BE49-F238E27FC236}">
                <a16:creationId xmlns:a16="http://schemas.microsoft.com/office/drawing/2014/main" id="{48757EA7-01D3-4733-975C-F351D94B39FD}"/>
              </a:ext>
            </a:extLst>
          </p:cNvPr>
          <p:cNvSpPr>
            <a:spLocks noGrp="1"/>
          </p:cNvSpPr>
          <p:nvPr/>
        </p:nvSpPr>
        <p:spPr>
          <a:xfrm>
            <a:off x="3314700" y="4981575"/>
            <a:ext cx="2286000" cy="895350"/>
          </a:xfrm>
          <a:prstGeom prst="ellipse">
            <a:avLst/>
          </a:prstGeom>
          <a:solidFill>
            <a:srgbClr val="F1F4F7"/>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50" name="sum_expression_3" descr="1(-1)+2(1)">
                <a:extLst>
                  <a:ext uri="{FF2B5EF4-FFF2-40B4-BE49-F238E27FC236}">
                    <a16:creationId xmlns:a16="http://schemas.microsoft.com/office/drawing/2014/main" id="{46B102D0-E4E6-40B8-9523-EA8B19D127DB}"/>
                  </a:ext>
                </a:extLst>
              </p:cNvPr>
              <p:cNvSpPr>
                <a:spLocks noGrp="1"/>
              </p:cNvSpPr>
              <p:nvPr/>
            </p:nvSpPr>
            <p:spPr>
              <a:xfrm>
                <a:off x="3314700" y="50577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182D45"/>
                          </a:solidFill>
                          <a:latin typeface="Cambria Math"/>
                          <a:ea typeface="Cambria Math"/>
                          <a:cs typeface="Cambria Math"/>
                        </a:rPr>
                        <m:t>1(−1)+2(1)</m:t>
                      </m:r>
                    </m:oMath>
                  </m:oMathPara>
                </a14:m>
                <a:endParaRPr lang="en-GB" sz="2000"/>
              </a:p>
            </p:txBody>
          </p:sp>
        </mc:Choice>
        <mc:Fallback xmlns="">
          <p:sp>
            <p:nvSpPr>
              <p:cNvPr id="50" name="sum_expression_3" descr="1(-1)+2(1)">
                <a:extLst>
                  <a:ext uri="{FF2B5EF4-FFF2-40B4-BE49-F238E27FC236}">
                    <a16:creationId xmlns:a16="http://schemas.microsoft.com/office/drawing/2014/main" id="{46B102D0-E4E6-40B8-9523-EA8B19D127DB}"/>
                  </a:ext>
                </a:extLst>
              </p:cNvPr>
              <p:cNvSpPr>
                <a:spLocks noGrp="1" noRot="1" noChangeAspect="1" noMove="1" noResize="1" noEditPoints="1" noAdjustHandles="1" noChangeArrowheads="1" noChangeShapeType="1" noTextEdit="1"/>
              </p:cNvSpPr>
              <p:nvPr/>
            </p:nvSpPr>
            <p:spPr>
              <a:xfrm>
                <a:off x="3314700" y="5057775"/>
                <a:ext cx="2286000" cy="361950"/>
              </a:xfrm>
              <a:prstGeom prst="rect">
                <a:avLst/>
              </a:prstGeom>
              <a:blipFill>
                <a:blip r:embed="rId22"/>
                <a:stretch>
                  <a:fillRect b="-2203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1" name="sum_result_3" descr="=1">
                <a:extLst>
                  <a:ext uri="{FF2B5EF4-FFF2-40B4-BE49-F238E27FC236}">
                    <a16:creationId xmlns:a16="http://schemas.microsoft.com/office/drawing/2014/main" id="{67782B3C-899A-4C72-8DCF-88C84340DE73}"/>
                  </a:ext>
                </a:extLst>
              </p:cNvPr>
              <p:cNvSpPr>
                <a:spLocks noGrp="1"/>
              </p:cNvSpPr>
              <p:nvPr/>
            </p:nvSpPr>
            <p:spPr>
              <a:xfrm>
                <a:off x="3314700" y="54483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182D45"/>
                          </a:solidFill>
                          <a:latin typeface="Cambria Math"/>
                          <a:ea typeface="Cambria Math"/>
                          <a:cs typeface="Cambria Math"/>
                        </a:rPr>
                        <m:t>=1</m:t>
                      </m:r>
                    </m:oMath>
                  </m:oMathPara>
                </a14:m>
                <a:endParaRPr lang="en-GB" sz="2400"/>
              </a:p>
            </p:txBody>
          </p:sp>
        </mc:Choice>
        <mc:Fallback xmlns="">
          <p:sp>
            <p:nvSpPr>
              <p:cNvPr id="51" name="sum_result_3" descr="=1">
                <a:extLst>
                  <a:ext uri="{FF2B5EF4-FFF2-40B4-BE49-F238E27FC236}">
                    <a16:creationId xmlns:a16="http://schemas.microsoft.com/office/drawing/2014/main" id="{67782B3C-899A-4C72-8DCF-88C84340DE73}"/>
                  </a:ext>
                </a:extLst>
              </p:cNvPr>
              <p:cNvSpPr>
                <a:spLocks noGrp="1" noRot="1" noChangeAspect="1" noMove="1" noResize="1" noEditPoints="1" noAdjustHandles="1" noChangeArrowheads="1" noChangeShapeType="1" noTextEdit="1"/>
              </p:cNvSpPr>
              <p:nvPr/>
            </p:nvSpPr>
            <p:spPr>
              <a:xfrm>
                <a:off x="3314700" y="5448300"/>
                <a:ext cx="2286000" cy="371475"/>
              </a:xfrm>
              <a:prstGeom prst="rect">
                <a:avLst/>
              </a:prstGeom>
              <a:blipFill>
                <a:blip r:embed="rId23"/>
                <a:stretch>
                  <a:fillRect b="-6557"/>
                </a:stretch>
              </a:blipFill>
              <a:ln w="0">
                <a:noFill/>
              </a:ln>
            </p:spPr>
            <p:txBody>
              <a:bodyPr/>
              <a:lstStyle/>
              <a:p>
                <a:r>
                  <a:rPr lang="it-IT">
                    <a:noFill/>
                  </a:rPr>
                  <a:t> </a:t>
                </a:r>
              </a:p>
            </p:txBody>
          </p:sp>
        </mc:Fallback>
      </mc:AlternateContent>
      <p:sp>
        <p:nvSpPr>
          <p:cNvPr id="52" name="pre_3">
            <a:extLst>
              <a:ext uri="{FF2B5EF4-FFF2-40B4-BE49-F238E27FC236}">
                <a16:creationId xmlns:a16="http://schemas.microsoft.com/office/drawing/2014/main" id="{E8C90902-CE52-4B3A-8074-45616C87D091}"/>
              </a:ext>
            </a:extLst>
          </p:cNvPr>
          <p:cNvSpPr>
            <a:spLocks noGrp="1"/>
          </p:cNvSpPr>
          <p:nvPr/>
        </p:nvSpPr>
        <p:spPr>
          <a:xfrm>
            <a:off x="7134225" y="4953000"/>
            <a:ext cx="952500" cy="95250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53" name="pre_value_3" descr="1">
                <a:extLst>
                  <a:ext uri="{FF2B5EF4-FFF2-40B4-BE49-F238E27FC236}">
                    <a16:creationId xmlns:a16="http://schemas.microsoft.com/office/drawing/2014/main" id="{1FCDA0E5-37C0-4015-8FBB-2BFEE1117C82}"/>
                  </a:ext>
                </a:extLst>
              </p:cNvPr>
              <p:cNvSpPr>
                <a:spLocks noGrp="1"/>
              </p:cNvSpPr>
              <p:nvPr/>
            </p:nvSpPr>
            <p:spPr>
              <a:xfrm>
                <a:off x="7134225" y="49530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1</m:t>
                      </m:r>
                    </m:oMath>
                  </m:oMathPara>
                </a14:m>
                <a:endParaRPr lang="en-GB" sz="3000" dirty="0"/>
              </a:p>
            </p:txBody>
          </p:sp>
        </mc:Choice>
        <mc:Fallback xmlns="">
          <p:sp>
            <p:nvSpPr>
              <p:cNvPr id="53" name="pre_value_3" descr="1">
                <a:extLst>
                  <a:ext uri="{FF2B5EF4-FFF2-40B4-BE49-F238E27FC236}">
                    <a16:creationId xmlns:a16="http://schemas.microsoft.com/office/drawing/2014/main" id="{1FCDA0E5-37C0-4015-8FBB-2BFEE1117C82}"/>
                  </a:ext>
                </a:extLst>
              </p:cNvPr>
              <p:cNvSpPr>
                <a:spLocks noGrp="1" noRot="1" noChangeAspect="1" noMove="1" noResize="1" noEditPoints="1" noAdjustHandles="1" noChangeArrowheads="1" noChangeShapeType="1" noTextEdit="1"/>
              </p:cNvSpPr>
              <p:nvPr/>
            </p:nvSpPr>
            <p:spPr>
              <a:xfrm>
                <a:off x="7134225" y="4953000"/>
                <a:ext cx="952500" cy="952500"/>
              </a:xfrm>
              <a:prstGeom prst="rect">
                <a:avLst/>
              </a:prstGeom>
              <a:blipFill>
                <a:blip r:embed="rId24"/>
                <a:stretch>
                  <a:fillRect/>
                </a:stretch>
              </a:blipFill>
              <a:ln w="0">
                <a:noFill/>
              </a:ln>
            </p:spPr>
            <p:txBody>
              <a:bodyPr/>
              <a:lstStyle/>
              <a:p>
                <a:r>
                  <a:rPr lang="it-IT">
                    <a:noFill/>
                  </a:rPr>
                  <a:t> </a:t>
                </a:r>
              </a:p>
            </p:txBody>
          </p:sp>
        </mc:Fallback>
      </mc:AlternateContent>
      <p:sp>
        <p:nvSpPr>
          <p:cNvPr id="54" name="activation_3">
            <a:extLst>
              <a:ext uri="{FF2B5EF4-FFF2-40B4-BE49-F238E27FC236}">
                <a16:creationId xmlns:a16="http://schemas.microsoft.com/office/drawing/2014/main" id="{00565CC9-5860-4C2F-B882-AECAB9C187AE}"/>
              </a:ext>
            </a:extLst>
          </p:cNvPr>
          <p:cNvSpPr>
            <a:spLocks noGrp="1"/>
          </p:cNvSpPr>
          <p:nvPr/>
        </p:nvSpPr>
        <p:spPr>
          <a:xfrm>
            <a:off x="10439400" y="4953000"/>
            <a:ext cx="952500" cy="952500"/>
          </a:xfrm>
          <a:prstGeom prst="ellipse">
            <a:avLst/>
          </a:prstGeom>
          <a:solidFill>
            <a:srgbClr val="FFFFFF"/>
          </a:solidFill>
          <a:ln w="1905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55" name="activation_value_3" descr="?">
                <a:extLst>
                  <a:ext uri="{FF2B5EF4-FFF2-40B4-BE49-F238E27FC236}">
                    <a16:creationId xmlns:a16="http://schemas.microsoft.com/office/drawing/2014/main" id="{915D6459-36EC-442C-A392-2E4B9D4F0B41}"/>
                  </a:ext>
                </a:extLst>
              </p:cNvPr>
              <p:cNvSpPr>
                <a:spLocks noGrp="1"/>
              </p:cNvSpPr>
              <p:nvPr/>
            </p:nvSpPr>
            <p:spPr>
              <a:xfrm>
                <a:off x="10439400" y="49530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B6C2CD"/>
                          </a:solidFill>
                          <a:latin typeface="Cambria Math" panose="02040503050406030204" pitchFamily="18" charset="0"/>
                          <a:ea typeface="Cambria Math"/>
                          <a:cs typeface="Cambria Math"/>
                        </a:rPr>
                        <m:t> </m:t>
                      </m:r>
                      <m:r>
                        <a:rPr lang="en-GB" sz="3000">
                          <a:solidFill>
                            <a:srgbClr val="B6C2CD"/>
                          </a:solidFill>
                          <a:latin typeface="Cambria Math"/>
                          <a:ea typeface="Cambria Math"/>
                          <a:cs typeface="Cambria Math"/>
                        </a:rPr>
                        <m:t>?</m:t>
                      </m:r>
                    </m:oMath>
                  </m:oMathPara>
                </a14:m>
                <a:endParaRPr lang="en-GB" sz="3000" dirty="0"/>
              </a:p>
            </p:txBody>
          </p:sp>
        </mc:Choice>
        <mc:Fallback xmlns="">
          <p:sp>
            <p:nvSpPr>
              <p:cNvPr id="55" name="activation_value_3" descr="?">
                <a:extLst>
                  <a:ext uri="{FF2B5EF4-FFF2-40B4-BE49-F238E27FC236}">
                    <a16:creationId xmlns:a16="http://schemas.microsoft.com/office/drawing/2014/main" id="{915D6459-36EC-442C-A392-2E4B9D4F0B41}"/>
                  </a:ext>
                </a:extLst>
              </p:cNvPr>
              <p:cNvSpPr>
                <a:spLocks noGrp="1" noRot="1" noChangeAspect="1" noMove="1" noResize="1" noEditPoints="1" noAdjustHandles="1" noChangeArrowheads="1" noChangeShapeType="1" noTextEdit="1"/>
              </p:cNvSpPr>
              <p:nvPr/>
            </p:nvSpPr>
            <p:spPr>
              <a:xfrm>
                <a:off x="10439400" y="4953000"/>
                <a:ext cx="952500" cy="952500"/>
              </a:xfrm>
              <a:prstGeom prst="rect">
                <a:avLst/>
              </a:prstGeom>
              <a:blipFill>
                <a:blip r:embed="rId1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6" name="bias_value_3" descr="+0">
                <a:extLst>
                  <a:ext uri="{FF2B5EF4-FFF2-40B4-BE49-F238E27FC236}">
                    <a16:creationId xmlns:a16="http://schemas.microsoft.com/office/drawing/2014/main" id="{8EBC9618-663B-4923-80C1-CB75444B084D}"/>
                  </a:ext>
                </a:extLst>
              </p:cNvPr>
              <p:cNvSpPr>
                <a:spLocks noGrp="1"/>
              </p:cNvSpPr>
              <p:nvPr/>
            </p:nvSpPr>
            <p:spPr>
              <a:xfrm>
                <a:off x="5810250" y="50196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087F83"/>
                          </a:solidFill>
                          <a:latin typeface="Cambria Math"/>
                          <a:ea typeface="Cambria Math"/>
                          <a:cs typeface="Cambria Math"/>
                        </a:rPr>
                        <m:t>+0</m:t>
                      </m:r>
                    </m:oMath>
                  </m:oMathPara>
                </a14:m>
                <a:endParaRPr lang="en-GB" sz="2300"/>
              </a:p>
            </p:txBody>
          </p:sp>
        </mc:Choice>
        <mc:Fallback xmlns="">
          <p:sp>
            <p:nvSpPr>
              <p:cNvPr id="56" name="bias_value_3" descr="+0">
                <a:extLst>
                  <a:ext uri="{FF2B5EF4-FFF2-40B4-BE49-F238E27FC236}">
                    <a16:creationId xmlns:a16="http://schemas.microsoft.com/office/drawing/2014/main" id="{8EBC9618-663B-4923-80C1-CB75444B084D}"/>
                  </a:ext>
                </a:extLst>
              </p:cNvPr>
              <p:cNvSpPr>
                <a:spLocks noGrp="1" noRot="1" noChangeAspect="1" noMove="1" noResize="1" noEditPoints="1" noAdjustHandles="1" noChangeArrowheads="1" noChangeShapeType="1" noTextEdit="1"/>
              </p:cNvSpPr>
              <p:nvPr/>
            </p:nvSpPr>
            <p:spPr>
              <a:xfrm>
                <a:off x="5810250" y="5019675"/>
                <a:ext cx="1000125" cy="352425"/>
              </a:xfrm>
              <a:prstGeom prst="rect">
                <a:avLst/>
              </a:prstGeom>
              <a:blipFill>
                <a:blip r:embed="rId16"/>
                <a:stretch>
                  <a:fillRect b="-10345"/>
                </a:stretch>
              </a:blipFill>
              <a:ln w="0">
                <a:noFill/>
              </a:ln>
            </p:spPr>
            <p:txBody>
              <a:bodyPr/>
              <a:lstStyle/>
              <a:p>
                <a:r>
                  <a:rPr lang="it-IT">
                    <a:noFill/>
                  </a:rPr>
                  <a:t> </a:t>
                </a:r>
              </a:p>
            </p:txBody>
          </p:sp>
        </mc:Fallback>
      </mc:AlternateContent>
      <p:sp>
        <p:nvSpPr>
          <p:cNvPr id="57" name="relu_label_3">
            <a:extLst>
              <a:ext uri="{FF2B5EF4-FFF2-40B4-BE49-F238E27FC236}">
                <a16:creationId xmlns:a16="http://schemas.microsoft.com/office/drawing/2014/main" id="{6F629762-9CC1-4D43-8D76-6CA1E32E3900}"/>
              </a:ext>
            </a:extLst>
          </p:cNvPr>
          <p:cNvSpPr>
            <a:spLocks noGrp="1"/>
          </p:cNvSpPr>
          <p:nvPr/>
        </p:nvSpPr>
        <p:spPr>
          <a:xfrm>
            <a:off x="8639175" y="5019675"/>
            <a:ext cx="1238250" cy="352425"/>
          </a:xfrm>
          <a:prstGeom prst="rect">
            <a:avLst/>
          </a:prstGeom>
          <a:noFill/>
          <a:ln w="0">
            <a:noFill/>
          </a:ln>
        </p:spPr>
        <p:txBody>
          <a:bodyPr anchor="ctr">
            <a:noAutofit/>
          </a:bodyPr>
          <a:lstStyle/>
          <a:p>
            <a:pPr algn="ctr">
              <a:defRPr sz="1875" b="0">
                <a:solidFill>
                  <a:srgbClr val="B6C2CD"/>
                </a:solidFill>
                <a:latin typeface="DejaVu Sans"/>
                <a:ea typeface="DejaVu Sans"/>
                <a:cs typeface="DejaVu Sans"/>
              </a:defRPr>
            </a:pPr>
            <a:r>
              <a:rPr sz="1875" b="0">
                <a:solidFill>
                  <a:srgbClr val="B6C2CD"/>
                </a:solidFill>
                <a:latin typeface="DejaVu Sans"/>
                <a:ea typeface="DejaVu Sans"/>
                <a:cs typeface="DejaVu Sans"/>
              </a:rPr>
              <a:t>ReLU</a:t>
            </a:r>
          </a:p>
        </p:txBody>
      </p:sp>
      <mc:AlternateContent xmlns:mc="http://schemas.openxmlformats.org/markup-compatibility/2006" xmlns:a14="http://schemas.microsoft.com/office/drawing/2010/main">
        <mc:Choice Requires="a14">
          <p:sp>
            <p:nvSpPr>
              <p:cNvPr id="58" name="result_row" descr="(a_1((1,2)),a_2((1,2)),a_3((1,2)))=(-1,3,1)">
                <a:extLst>
                  <a:ext uri="{FF2B5EF4-FFF2-40B4-BE49-F238E27FC236}">
                    <a16:creationId xmlns:a16="http://schemas.microsoft.com/office/drawing/2014/main" id="{6B93748A-A9EA-4210-BA26-F6D812F4D98F}"/>
                  </a:ext>
                </a:extLst>
              </p:cNvPr>
              <p:cNvSpPr>
                <a:spLocks noGrp="1"/>
              </p:cNvSpPr>
              <p:nvPr/>
            </p:nvSpPr>
            <p:spPr>
              <a:xfrm>
                <a:off x="476250" y="6019800"/>
                <a:ext cx="11239500" cy="4953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800" smtClean="0">
                          <a:solidFill>
                            <a:srgbClr val="087F83"/>
                          </a:solidFill>
                          <a:latin typeface="Cambria Math"/>
                          <a:ea typeface="Cambria Math"/>
                          <a:cs typeface="Cambria Math"/>
                        </a:rPr>
                        <m:t>𝐱𝐖</m:t>
                      </m:r>
                      <m:r>
                        <a:rPr lang="it-IT" sz="2800" b="0" i="0" smtClean="0">
                          <a:solidFill>
                            <a:srgbClr val="087F83"/>
                          </a:solidFill>
                          <a:latin typeface="Cambria Math" panose="02040503050406030204" pitchFamily="18" charset="0"/>
                          <a:ea typeface="Cambria Math"/>
                          <a:cs typeface="Cambria Math"/>
                        </a:rPr>
                        <m:t>+</m:t>
                      </m:r>
                      <m:r>
                        <a:rPr lang="en-GB" sz="2800">
                          <a:solidFill>
                            <a:srgbClr val="087F83"/>
                          </a:solidFill>
                          <a:latin typeface="Cambria Math"/>
                          <a:ea typeface="Cambria Math"/>
                          <a:cs typeface="Cambria Math"/>
                        </a:rPr>
                        <m:t>𝐛</m:t>
                      </m:r>
                      <m:r>
                        <a:rPr lang="en-GB" sz="2800">
                          <a:solidFill>
                            <a:srgbClr val="087F83"/>
                          </a:solidFill>
                          <a:latin typeface="Cambria Math"/>
                          <a:ea typeface="Cambria Math"/>
                          <a:cs typeface="Cambria Math"/>
                        </a:rPr>
                        <m:t>=</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−1,3,1</m:t>
                          </m:r>
                        </m:e>
                      </m:d>
                    </m:oMath>
                  </m:oMathPara>
                </a14:m>
                <a:endParaRPr lang="en-GB" sz="2800" dirty="0"/>
              </a:p>
            </p:txBody>
          </p:sp>
        </mc:Choice>
        <mc:Fallback xmlns="">
          <p:sp>
            <p:nvSpPr>
              <p:cNvPr id="58" name="result_row" descr="(a_1((1,2)),a_2((1,2)),a_3((1,2)))=(-1,3,1)">
                <a:extLst>
                  <a:ext uri="{FF2B5EF4-FFF2-40B4-BE49-F238E27FC236}">
                    <a16:creationId xmlns:a16="http://schemas.microsoft.com/office/drawing/2014/main" id="{6B93748A-A9EA-4210-BA26-F6D812F4D98F}"/>
                  </a:ext>
                </a:extLst>
              </p:cNvPr>
              <p:cNvSpPr>
                <a:spLocks noGrp="1" noRot="1" noChangeAspect="1" noMove="1" noResize="1" noEditPoints="1" noAdjustHandles="1" noChangeArrowheads="1" noChangeShapeType="1" noTextEdit="1"/>
              </p:cNvSpPr>
              <p:nvPr/>
            </p:nvSpPr>
            <p:spPr>
              <a:xfrm>
                <a:off x="476250" y="6019800"/>
                <a:ext cx="11239500" cy="495300"/>
              </a:xfrm>
              <a:prstGeom prst="rect">
                <a:avLst/>
              </a:prstGeom>
              <a:blipFill>
                <a:blip r:embed="rId25"/>
                <a:stretch>
                  <a:fillRect/>
                </a:stretch>
              </a:blipFill>
              <a:ln w="0">
                <a:noFill/>
              </a:ln>
            </p:spPr>
            <p:txBody>
              <a:bodyPr/>
              <a:lstStyle/>
              <a:p>
                <a:r>
                  <a:rPr lang="it-IT">
                    <a:noFill/>
                  </a:rPr>
                  <a:t> </a:t>
                </a:r>
              </a:p>
            </p:txBody>
          </p:sp>
        </mc:Fallback>
      </mc:AlternateContent>
      <p:sp>
        <p:nvSpPr>
          <p:cNvPr id="59" name="footer_course">
            <a:extLst>
              <a:ext uri="{FF2B5EF4-FFF2-40B4-BE49-F238E27FC236}">
                <a16:creationId xmlns:a16="http://schemas.microsoft.com/office/drawing/2014/main" id="{6D1F3A7F-C450-4430-935D-467199B545BD}"/>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60" name="footer_number">
            <a:extLst>
              <a:ext uri="{FF2B5EF4-FFF2-40B4-BE49-F238E27FC236}">
                <a16:creationId xmlns:a16="http://schemas.microsoft.com/office/drawing/2014/main" id="{065329E1-6984-4C59-A0BE-2836334F52A5}"/>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11</a:t>
            </a:r>
          </a:p>
        </p:txBody>
      </p:sp>
    </p:spTree>
    <p:extLst>
      <p:ext uri="{BB962C8B-B14F-4D97-AF65-F5344CB8AC3E}">
        <p14:creationId xmlns:p14="http://schemas.microsoft.com/office/powerpoint/2010/main" val="1964230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C65ED4B-10E5-4F10-9645-CB8C12ABF050}"/>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a:solidFill>
                  <a:srgbClr val="182D45"/>
                </a:solidFill>
                <a:latin typeface="DejaVu Sans"/>
                <a:ea typeface="DejaVu Sans"/>
                <a:cs typeface="DejaVu Sans"/>
              </a:rPr>
              <a:t>A first </a:t>
            </a:r>
            <a:r>
              <a:rPr lang="it-IT" sz="3300" b="1" dirty="0" err="1">
                <a:solidFill>
                  <a:srgbClr val="182D45"/>
                </a:solidFill>
                <a:latin typeface="DejaVu Sans"/>
                <a:ea typeface="DejaVu Sans"/>
                <a:cs typeface="DejaVu Sans"/>
              </a:rPr>
              <a:t>example</a:t>
            </a:r>
            <a:r>
              <a:rPr lang="it-IT" sz="3300" b="1" dirty="0">
                <a:solidFill>
                  <a:srgbClr val="182D45"/>
                </a:solidFill>
                <a:latin typeface="DejaVu Sans"/>
                <a:ea typeface="DejaVu Sans"/>
                <a:cs typeface="DejaVu Sans"/>
              </a:rPr>
              <a:t> – the features</a:t>
            </a:r>
          </a:p>
        </p:txBody>
      </p:sp>
      <mc:AlternateContent xmlns:mc="http://schemas.openxmlformats.org/markup-compatibility/2006" xmlns:a14="http://schemas.microsoft.com/office/drawing/2010/main">
        <mc:Choice Requires="a14">
          <p:sp>
            <p:nvSpPr>
              <p:cNvPr id="4" name="fixed_parameters" descr="\mathbf{x}=(1,2),\quad\mathbf{W}=\begin{pmatrix}1&amp;2&amp;-1\\-1&amp;0&amp;1\end{pmatrix},\quad\mathbf{b}=(0,1,0)">
                <a:extLst>
                  <a:ext uri="{FF2B5EF4-FFF2-40B4-BE49-F238E27FC236}">
                    <a16:creationId xmlns:a16="http://schemas.microsoft.com/office/drawing/2014/main" id="{9C63FC39-C8F1-4882-A3A9-F3B6105B3CFB}"/>
                  </a:ext>
                </a:extLst>
              </p:cNvPr>
              <p:cNvSpPr>
                <a:spLocks noGrp="1"/>
              </p:cNvSpPr>
              <p:nvPr/>
            </p:nvSpPr>
            <p:spPr>
              <a:xfrm>
                <a:off x="714375" y="838200"/>
                <a:ext cx="10763250" cy="9810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smtClean="0">
                          <a:solidFill>
                            <a:srgbClr val="087F83"/>
                          </a:solidFill>
                          <a:latin typeface="Cambria Math"/>
                          <a:ea typeface="Cambria Math"/>
                          <a:cs typeface="Cambria Math"/>
                        </a:rPr>
                        <m:t>𝐱</m:t>
                      </m:r>
                      <m:r>
                        <a:rPr lang="en-GB" sz="3000" smtClean="0">
                          <a:solidFill>
                            <a:srgbClr val="087F83"/>
                          </a:solidFill>
                          <a:latin typeface="Cambria Math"/>
                          <a:ea typeface="Cambria Math"/>
                          <a:cs typeface="Cambria Math"/>
                        </a:rPr>
                        <m:t>=</m:t>
                      </m:r>
                      <m:d>
                        <m:dPr>
                          <m:ctrlPr>
                            <a:rPr lang="en-GB" sz="3000" smtClean="0">
                              <a:solidFill>
                                <a:srgbClr val="087F83"/>
                              </a:solidFill>
                              <a:latin typeface="Cambria Math"/>
                              <a:ea typeface="Cambria Math"/>
                              <a:cs typeface="Cambria Math"/>
                            </a:rPr>
                          </m:ctrlPr>
                        </m:dPr>
                        <m:e>
                          <m:r>
                            <a:rPr lang="en-GB" sz="3000" smtClean="0">
                              <a:solidFill>
                                <a:srgbClr val="087F83"/>
                              </a:solidFill>
                              <a:latin typeface="Cambria Math"/>
                              <a:ea typeface="Cambria Math"/>
                              <a:cs typeface="Cambria Math"/>
                            </a:rPr>
                            <m:t>1,2</m:t>
                          </m:r>
                        </m:e>
                      </m:d>
                      <m:r>
                        <a:rPr lang="en-GB" sz="3000" smtClean="0">
                          <a:solidFill>
                            <a:srgbClr val="087F83"/>
                          </a:solidFill>
                          <a:latin typeface="Cambria Math"/>
                          <a:ea typeface="Cambria Math"/>
                          <a:cs typeface="Cambria Math"/>
                        </a:rPr>
                        <m:t>, </m:t>
                      </m:r>
                      <m:r>
                        <a:rPr lang="en-GB" sz="3000" smtClean="0">
                          <a:solidFill>
                            <a:srgbClr val="087F83"/>
                          </a:solidFill>
                          <a:latin typeface="Cambria Math"/>
                          <a:ea typeface="Cambria Math"/>
                          <a:cs typeface="Cambria Math"/>
                        </a:rPr>
                        <m:t>𝐖</m:t>
                      </m:r>
                      <m:r>
                        <a:rPr lang="en-GB" sz="3000" smtClean="0">
                          <a:solidFill>
                            <a:srgbClr val="087F83"/>
                          </a:solidFill>
                          <a:latin typeface="Cambria Math"/>
                          <a:ea typeface="Cambria Math"/>
                          <a:cs typeface="Cambria Math"/>
                        </a:rPr>
                        <m:t>=</m:t>
                      </m:r>
                      <m:d>
                        <m:dPr>
                          <m:ctrlPr>
                            <a:rPr lang="en-GB" sz="3000" i="1">
                              <a:solidFill>
                                <a:srgbClr val="087F83"/>
                              </a:solidFill>
                              <a:latin typeface="Cambria Math" panose="02040503050406030204" pitchFamily="18" charset="0"/>
                              <a:ea typeface="Cambria Math"/>
                              <a:cs typeface="Cambria Math"/>
                            </a:rPr>
                          </m:ctrlPr>
                        </m:dPr>
                        <m:e>
                          <m:m>
                            <m:mPr>
                              <m:mcs>
                                <m:mc>
                                  <m:mcPr>
                                    <m:count m:val="3"/>
                                    <m:mcJc m:val="center"/>
                                  </m:mcPr>
                                </m:mc>
                              </m:mcs>
                              <m:ctrlPr>
                                <a:rPr lang="en-GB" sz="3000" i="1">
                                  <a:solidFill>
                                    <a:srgbClr val="087F83"/>
                                  </a:solidFill>
                                  <a:latin typeface="Cambria Math" panose="02040503050406030204" pitchFamily="18" charset="0"/>
                                  <a:ea typeface="Cambria Math"/>
                                  <a:cs typeface="Cambria Math"/>
                                </a:rPr>
                              </m:ctrlPr>
                            </m:mPr>
                            <m:mr>
                              <m:e>
                                <m:r>
                                  <a:rPr lang="en-GB" sz="3000">
                                    <a:solidFill>
                                      <a:srgbClr val="087F83"/>
                                    </a:solidFill>
                                    <a:latin typeface="Cambria Math"/>
                                    <a:ea typeface="Cambria Math"/>
                                    <a:cs typeface="Cambria Math"/>
                                  </a:rPr>
                                  <m:t>1</m:t>
                                </m:r>
                              </m:e>
                              <m:e>
                                <m:r>
                                  <a:rPr lang="en-GB" sz="3000">
                                    <a:solidFill>
                                      <a:srgbClr val="087F83"/>
                                    </a:solidFill>
                                    <a:latin typeface="Cambria Math"/>
                                    <a:ea typeface="Cambria Math"/>
                                    <a:cs typeface="Cambria Math"/>
                                  </a:rPr>
                                  <m:t>2</m:t>
                                </m:r>
                              </m:e>
                              <m:e>
                                <m:r>
                                  <a:rPr lang="en-GB" sz="3000">
                                    <a:solidFill>
                                      <a:srgbClr val="087F83"/>
                                    </a:solidFill>
                                    <a:latin typeface="Cambria Math"/>
                                    <a:ea typeface="Cambria Math"/>
                                    <a:cs typeface="Cambria Math"/>
                                  </a:rPr>
                                  <m:t>−1</m:t>
                                </m:r>
                              </m:e>
                            </m:mr>
                            <m:mr>
                              <m:e>
                                <m:r>
                                  <a:rPr lang="en-GB" sz="3000">
                                    <a:solidFill>
                                      <a:srgbClr val="087F83"/>
                                    </a:solidFill>
                                    <a:latin typeface="Cambria Math"/>
                                    <a:ea typeface="Cambria Math"/>
                                    <a:cs typeface="Cambria Math"/>
                                  </a:rPr>
                                  <m:t>−1</m:t>
                                </m:r>
                              </m:e>
                              <m:e>
                                <m:r>
                                  <a:rPr lang="en-GB" sz="3000">
                                    <a:solidFill>
                                      <a:srgbClr val="087F83"/>
                                    </a:solidFill>
                                    <a:latin typeface="Cambria Math"/>
                                    <a:ea typeface="Cambria Math"/>
                                    <a:cs typeface="Cambria Math"/>
                                  </a:rPr>
                                  <m:t>0</m:t>
                                </m:r>
                              </m:e>
                              <m:e>
                                <m:r>
                                  <a:rPr lang="en-GB" sz="3000">
                                    <a:solidFill>
                                      <a:srgbClr val="087F83"/>
                                    </a:solidFill>
                                    <a:latin typeface="Cambria Math"/>
                                    <a:ea typeface="Cambria Math"/>
                                    <a:cs typeface="Cambria Math"/>
                                  </a:rPr>
                                  <m:t>1</m:t>
                                </m:r>
                              </m:e>
                            </m:mr>
                          </m:m>
                        </m:e>
                      </m:d>
                      <m:r>
                        <a:rPr lang="en-GB" sz="3000">
                          <a:solidFill>
                            <a:srgbClr val="087F83"/>
                          </a:solidFill>
                          <a:latin typeface="Cambria Math"/>
                          <a:ea typeface="Cambria Math"/>
                          <a:cs typeface="Cambria Math"/>
                        </a:rPr>
                        <m:t>, </m:t>
                      </m:r>
                      <m:r>
                        <a:rPr lang="en-GB" sz="3000">
                          <a:solidFill>
                            <a:srgbClr val="087F83"/>
                          </a:solidFill>
                          <a:latin typeface="Cambria Math"/>
                          <a:ea typeface="Cambria Math"/>
                          <a:cs typeface="Cambria Math"/>
                        </a:rPr>
                        <m:t>𝐛</m:t>
                      </m:r>
                      <m:r>
                        <a:rPr lang="en-GB" sz="3000">
                          <a:solidFill>
                            <a:srgbClr val="087F83"/>
                          </a:solidFill>
                          <a:latin typeface="Cambria Math"/>
                          <a:ea typeface="Cambria Math"/>
                          <a:cs typeface="Cambria Math"/>
                        </a:rPr>
                        <m:t>=</m:t>
                      </m:r>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0,1,0</m:t>
                          </m:r>
                        </m:e>
                      </m:d>
                    </m:oMath>
                  </m:oMathPara>
                </a14:m>
                <a:endParaRPr lang="en-GB" sz="3000" dirty="0"/>
              </a:p>
            </p:txBody>
          </p:sp>
        </mc:Choice>
        <mc:Fallback xmlns="">
          <p:sp>
            <p:nvSpPr>
              <p:cNvPr id="4" name="fixed_parameters" descr="\mathbf{x}=(1,2),\quad\mathbf{W}=\begin{pmatrix}1&amp;2&amp;-1\\-1&amp;0&amp;1\end{pmatrix},\quad\mathbf{b}=(0,1,0)">
                <a:extLst>
                  <a:ext uri="{FF2B5EF4-FFF2-40B4-BE49-F238E27FC236}">
                    <a16:creationId xmlns:a16="http://schemas.microsoft.com/office/drawing/2014/main" id="{9C63FC39-C8F1-4882-A3A9-F3B6105B3CFB}"/>
                  </a:ext>
                </a:extLst>
              </p:cNvPr>
              <p:cNvSpPr>
                <a:spLocks noGrp="1" noRot="1" noChangeAspect="1" noMove="1" noResize="1" noEditPoints="1" noAdjustHandles="1" noChangeArrowheads="1" noChangeShapeType="1" noTextEdit="1"/>
              </p:cNvSpPr>
              <p:nvPr/>
            </p:nvSpPr>
            <p:spPr>
              <a:xfrm>
                <a:off x="714375" y="838200"/>
                <a:ext cx="10763250" cy="981075"/>
              </a:xfrm>
              <a:prstGeom prst="rect">
                <a:avLst/>
              </a:prstGeom>
              <a:blipFill>
                <a:blip r:embed="rId3"/>
                <a:stretch>
                  <a:fillRect/>
                </a:stretch>
              </a:blipFill>
              <a:ln w="0">
                <a:noFill/>
              </a:ln>
            </p:spPr>
            <p:txBody>
              <a:bodyPr/>
              <a:lstStyle/>
              <a:p>
                <a:r>
                  <a:rPr lang="it-IT">
                    <a:noFill/>
                  </a:rPr>
                  <a:t> </a:t>
                </a:r>
              </a:p>
            </p:txBody>
          </p:sp>
        </mc:Fallback>
      </mc:AlternateContent>
      <p:sp>
        <p:nvSpPr>
          <p:cNvPr id="5" name="input_heading">
            <a:extLst>
              <a:ext uri="{FF2B5EF4-FFF2-40B4-BE49-F238E27FC236}">
                <a16:creationId xmlns:a16="http://schemas.microsoft.com/office/drawing/2014/main" id="{48847B7B-DD07-4369-B759-B531011EAD92}"/>
              </a:ext>
            </a:extLst>
          </p:cNvPr>
          <p:cNvSpPr>
            <a:spLocks noGrp="1"/>
          </p:cNvSpPr>
          <p:nvPr/>
        </p:nvSpPr>
        <p:spPr>
          <a:xfrm>
            <a:off x="76200" y="1943100"/>
            <a:ext cx="1143000" cy="381000"/>
          </a:xfrm>
          <a:prstGeom prst="rect">
            <a:avLst/>
          </a:prstGeom>
          <a:noFill/>
          <a:ln w="0">
            <a:noFill/>
          </a:ln>
        </p:spPr>
        <p:txBody>
          <a:bodyPr anchor="ctr">
            <a:noAutofit/>
          </a:bodyPr>
          <a:lstStyle/>
          <a:p>
            <a:pPr algn="ctr">
              <a:defRPr sz="1875" b="1">
                <a:solidFill>
                  <a:srgbClr val="526276"/>
                </a:solidFill>
                <a:latin typeface="DejaVu Sans"/>
                <a:ea typeface="DejaVu Sans"/>
                <a:cs typeface="DejaVu Sans"/>
              </a:defRPr>
            </a:pPr>
            <a:r>
              <a:rPr sz="1875" b="1">
                <a:solidFill>
                  <a:srgbClr val="526276"/>
                </a:solidFill>
                <a:latin typeface="DejaVu Sans"/>
                <a:ea typeface="DejaVu Sans"/>
                <a:cs typeface="DejaVu Sans"/>
              </a:rPr>
              <a:t>Input</a:t>
            </a:r>
          </a:p>
        </p:txBody>
      </p:sp>
      <p:sp>
        <p:nvSpPr>
          <p:cNvPr id="6" name="weighted_heading">
            <a:extLst>
              <a:ext uri="{FF2B5EF4-FFF2-40B4-BE49-F238E27FC236}">
                <a16:creationId xmlns:a16="http://schemas.microsoft.com/office/drawing/2014/main" id="{C6E2E72B-0E4F-45DB-A003-7C46C135758F}"/>
              </a:ext>
            </a:extLst>
          </p:cNvPr>
          <p:cNvSpPr>
            <a:spLocks noGrp="1"/>
          </p:cNvSpPr>
          <p:nvPr/>
        </p:nvSpPr>
        <p:spPr>
          <a:xfrm>
            <a:off x="3124200" y="1943100"/>
            <a:ext cx="2667000" cy="381000"/>
          </a:xfrm>
          <a:prstGeom prst="rect">
            <a:avLst/>
          </a:prstGeom>
          <a:noFill/>
          <a:ln w="0">
            <a:noFill/>
          </a:ln>
        </p:spPr>
        <p:txBody>
          <a:bodyPr anchor="ctr">
            <a:noAutofit/>
          </a:bodyPr>
          <a:lstStyle/>
          <a:p>
            <a:pPr algn="ctr">
              <a:defRPr sz="1875" b="1">
                <a:solidFill>
                  <a:srgbClr val="526276"/>
                </a:solidFill>
                <a:latin typeface="DejaVu Sans"/>
                <a:ea typeface="DejaVu Sans"/>
                <a:cs typeface="DejaVu Sans"/>
              </a:defRPr>
            </a:pPr>
            <a:r>
              <a:rPr sz="1875" b="1">
                <a:solidFill>
                  <a:srgbClr val="526276"/>
                </a:solidFill>
                <a:latin typeface="DejaVu Sans"/>
                <a:ea typeface="DejaVu Sans"/>
                <a:cs typeface="DejaVu Sans"/>
              </a:rPr>
              <a:t>Weighted sums</a:t>
            </a:r>
          </a:p>
        </p:txBody>
      </p:sp>
      <p:sp>
        <p:nvSpPr>
          <p:cNvPr id="7" name="pre_heading">
            <a:extLst>
              <a:ext uri="{FF2B5EF4-FFF2-40B4-BE49-F238E27FC236}">
                <a16:creationId xmlns:a16="http://schemas.microsoft.com/office/drawing/2014/main" id="{83CEACA2-96A5-4E01-B9EF-D666DF5A8E7A}"/>
              </a:ext>
            </a:extLst>
          </p:cNvPr>
          <p:cNvSpPr>
            <a:spLocks noGrp="1"/>
          </p:cNvSpPr>
          <p:nvPr/>
        </p:nvSpPr>
        <p:spPr>
          <a:xfrm>
            <a:off x="6324600" y="1943100"/>
            <a:ext cx="2571750" cy="381000"/>
          </a:xfrm>
          <a:prstGeom prst="rect">
            <a:avLst/>
          </a:prstGeom>
          <a:noFill/>
          <a:ln w="0">
            <a:noFill/>
          </a:ln>
        </p:spPr>
        <p:txBody>
          <a:bodyPr anchor="ctr">
            <a:noAutofit/>
          </a:bodyPr>
          <a:lstStyle/>
          <a:p>
            <a:pPr algn="ctr">
              <a:defRPr sz="1875" b="1">
                <a:solidFill>
                  <a:srgbClr val="526276"/>
                </a:solidFill>
                <a:latin typeface="DejaVu Sans"/>
                <a:ea typeface="DejaVu Sans"/>
                <a:cs typeface="DejaVu Sans"/>
              </a:defRPr>
            </a:pPr>
            <a:r>
              <a:rPr sz="1875" b="1" dirty="0" err="1">
                <a:solidFill>
                  <a:srgbClr val="526276"/>
                </a:solidFill>
                <a:latin typeface="DejaVu Sans"/>
                <a:ea typeface="DejaVu Sans"/>
                <a:cs typeface="DejaVu Sans"/>
              </a:rPr>
              <a:t>Preactivations</a:t>
            </a:r>
            <a:endParaRPr sz="1875" b="1" dirty="0">
              <a:solidFill>
                <a:srgbClr val="526276"/>
              </a:solidFill>
              <a:latin typeface="DejaVu Sans"/>
              <a:ea typeface="DejaVu Sans"/>
              <a:cs typeface="DejaVu Sans"/>
            </a:endParaRPr>
          </a:p>
        </p:txBody>
      </p:sp>
      <p:sp>
        <p:nvSpPr>
          <p:cNvPr id="8" name="activation_heading">
            <a:extLst>
              <a:ext uri="{FF2B5EF4-FFF2-40B4-BE49-F238E27FC236}">
                <a16:creationId xmlns:a16="http://schemas.microsoft.com/office/drawing/2014/main" id="{3A3D7F12-3314-4F2C-8C1D-3566A45A2BBF}"/>
              </a:ext>
            </a:extLst>
          </p:cNvPr>
          <p:cNvSpPr>
            <a:spLocks noGrp="1"/>
          </p:cNvSpPr>
          <p:nvPr/>
        </p:nvSpPr>
        <p:spPr>
          <a:xfrm>
            <a:off x="9715500" y="1943100"/>
            <a:ext cx="2324100" cy="381000"/>
          </a:xfrm>
          <a:prstGeom prst="rect">
            <a:avLst/>
          </a:prstGeom>
          <a:noFill/>
          <a:ln w="0">
            <a:noFill/>
          </a:ln>
        </p:spPr>
        <p:txBody>
          <a:bodyPr anchor="ctr">
            <a:noAutofit/>
          </a:bodyPr>
          <a:lstStyle/>
          <a:p>
            <a:pPr algn="ctr">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Activations</a:t>
            </a:r>
          </a:p>
        </p:txBody>
      </p:sp>
      <p:sp>
        <p:nvSpPr>
          <p:cNvPr id="9" name="weight_edge_1_1">
            <a:extLst>
              <a:ext uri="{FF2B5EF4-FFF2-40B4-BE49-F238E27FC236}">
                <a16:creationId xmlns:a16="http://schemas.microsoft.com/office/drawing/2014/main" id="{3260A2A5-F4D7-4B2D-8BDA-5269803CE17D}"/>
              </a:ext>
            </a:extLst>
          </p:cNvPr>
          <p:cNvSpPr>
            <a:spLocks noGrp="1"/>
          </p:cNvSpPr>
          <p:nvPr/>
        </p:nvSpPr>
        <p:spPr>
          <a:xfrm flipV="1">
            <a:off x="914400" y="2838450"/>
            <a:ext cx="2400300" cy="495300"/>
          </a:xfrm>
          <a:prstGeom prst="line">
            <a:avLst/>
          </a:prstGeom>
          <a:noFill/>
          <a:ln w="15240">
            <a:solidFill>
              <a:srgbClr val="B6C2CD"/>
            </a:solidFill>
          </a:ln>
        </p:spPr>
        <p:txBody>
          <a:bodyPr/>
          <a:lstStyle/>
          <a:p>
            <a:endParaRPr lang="it-IT"/>
          </a:p>
        </p:txBody>
      </p:sp>
      <p:sp>
        <p:nvSpPr>
          <p:cNvPr id="10" name="weight_edge_2_1">
            <a:extLst>
              <a:ext uri="{FF2B5EF4-FFF2-40B4-BE49-F238E27FC236}">
                <a16:creationId xmlns:a16="http://schemas.microsoft.com/office/drawing/2014/main" id="{DB27E77B-83AE-4AA1-AC44-792E72111C3B}"/>
              </a:ext>
            </a:extLst>
          </p:cNvPr>
          <p:cNvSpPr>
            <a:spLocks noGrp="1"/>
          </p:cNvSpPr>
          <p:nvPr/>
        </p:nvSpPr>
        <p:spPr>
          <a:xfrm flipV="1">
            <a:off x="914400" y="2838450"/>
            <a:ext cx="2400300" cy="1924050"/>
          </a:xfrm>
          <a:prstGeom prst="line">
            <a:avLst/>
          </a:prstGeom>
          <a:noFill/>
          <a:ln w="15240">
            <a:solidFill>
              <a:srgbClr val="B6C2CD"/>
            </a:solidFill>
          </a:ln>
        </p:spPr>
        <p:txBody>
          <a:bodyPr/>
          <a:lstStyle/>
          <a:p>
            <a:endParaRPr lang="it-IT"/>
          </a:p>
        </p:txBody>
      </p:sp>
      <p:sp>
        <p:nvSpPr>
          <p:cNvPr id="11" name="bias_edge_1">
            <a:extLst>
              <a:ext uri="{FF2B5EF4-FFF2-40B4-BE49-F238E27FC236}">
                <a16:creationId xmlns:a16="http://schemas.microsoft.com/office/drawing/2014/main" id="{95FA95EE-9995-4CCB-AEA9-B3B4A4F4D405}"/>
              </a:ext>
            </a:extLst>
          </p:cNvPr>
          <p:cNvSpPr>
            <a:spLocks noGrp="1"/>
          </p:cNvSpPr>
          <p:nvPr/>
        </p:nvSpPr>
        <p:spPr>
          <a:xfrm>
            <a:off x="5600700" y="2838450"/>
            <a:ext cx="1533525" cy="953"/>
          </a:xfrm>
          <a:prstGeom prst="line">
            <a:avLst/>
          </a:prstGeom>
          <a:noFill/>
          <a:ln w="15240">
            <a:solidFill>
              <a:srgbClr val="526276"/>
            </a:solidFill>
            <a:tailEnd type="triangle" w="sm" len="sm"/>
          </a:ln>
        </p:spPr>
        <p:txBody>
          <a:bodyPr/>
          <a:lstStyle/>
          <a:p>
            <a:endParaRPr lang="it-IT"/>
          </a:p>
        </p:txBody>
      </p:sp>
      <p:sp>
        <p:nvSpPr>
          <p:cNvPr id="12" name="relu_edge_1">
            <a:extLst>
              <a:ext uri="{FF2B5EF4-FFF2-40B4-BE49-F238E27FC236}">
                <a16:creationId xmlns:a16="http://schemas.microsoft.com/office/drawing/2014/main" id="{23BAA848-943D-451E-A605-88C662810BCB}"/>
              </a:ext>
            </a:extLst>
          </p:cNvPr>
          <p:cNvSpPr>
            <a:spLocks noGrp="1"/>
          </p:cNvSpPr>
          <p:nvPr/>
        </p:nvSpPr>
        <p:spPr>
          <a:xfrm>
            <a:off x="8086725" y="2838450"/>
            <a:ext cx="2352675" cy="953"/>
          </a:xfrm>
          <a:prstGeom prst="line">
            <a:avLst/>
          </a:prstGeom>
          <a:noFill/>
          <a:ln w="21908">
            <a:solidFill>
              <a:srgbClr val="087F83"/>
            </a:solidFill>
            <a:tailEnd type="triangle" w="sm" len="sm"/>
          </a:ln>
        </p:spPr>
        <p:txBody>
          <a:bodyPr/>
          <a:lstStyle/>
          <a:p>
            <a:endParaRPr lang="it-IT"/>
          </a:p>
        </p:txBody>
      </p:sp>
      <p:sp>
        <p:nvSpPr>
          <p:cNvPr id="13" name="weight_edge_1_2">
            <a:extLst>
              <a:ext uri="{FF2B5EF4-FFF2-40B4-BE49-F238E27FC236}">
                <a16:creationId xmlns:a16="http://schemas.microsoft.com/office/drawing/2014/main" id="{3D626A44-F923-40BE-BC9D-5C154AAD48A1}"/>
              </a:ext>
            </a:extLst>
          </p:cNvPr>
          <p:cNvSpPr>
            <a:spLocks noGrp="1"/>
          </p:cNvSpPr>
          <p:nvPr/>
        </p:nvSpPr>
        <p:spPr>
          <a:xfrm>
            <a:off x="914400" y="3333750"/>
            <a:ext cx="2400300" cy="800100"/>
          </a:xfrm>
          <a:prstGeom prst="line">
            <a:avLst/>
          </a:prstGeom>
          <a:noFill/>
          <a:ln w="15240">
            <a:solidFill>
              <a:srgbClr val="B6C2CD"/>
            </a:solidFill>
          </a:ln>
        </p:spPr>
        <p:txBody>
          <a:bodyPr/>
          <a:lstStyle/>
          <a:p>
            <a:endParaRPr lang="it-IT"/>
          </a:p>
        </p:txBody>
      </p:sp>
      <p:sp>
        <p:nvSpPr>
          <p:cNvPr id="14" name="weight_edge_2_2">
            <a:extLst>
              <a:ext uri="{FF2B5EF4-FFF2-40B4-BE49-F238E27FC236}">
                <a16:creationId xmlns:a16="http://schemas.microsoft.com/office/drawing/2014/main" id="{0921AB77-1397-4CC7-AF07-893BE4E5BA05}"/>
              </a:ext>
            </a:extLst>
          </p:cNvPr>
          <p:cNvSpPr>
            <a:spLocks noGrp="1"/>
          </p:cNvSpPr>
          <p:nvPr/>
        </p:nvSpPr>
        <p:spPr>
          <a:xfrm flipV="1">
            <a:off x="914400" y="4133850"/>
            <a:ext cx="2400300" cy="628650"/>
          </a:xfrm>
          <a:prstGeom prst="line">
            <a:avLst/>
          </a:prstGeom>
          <a:noFill/>
          <a:ln w="15240">
            <a:solidFill>
              <a:srgbClr val="B6C2CD"/>
            </a:solidFill>
          </a:ln>
        </p:spPr>
        <p:txBody>
          <a:bodyPr/>
          <a:lstStyle/>
          <a:p>
            <a:endParaRPr lang="it-IT"/>
          </a:p>
        </p:txBody>
      </p:sp>
      <p:sp>
        <p:nvSpPr>
          <p:cNvPr id="15" name="bias_edge_2">
            <a:extLst>
              <a:ext uri="{FF2B5EF4-FFF2-40B4-BE49-F238E27FC236}">
                <a16:creationId xmlns:a16="http://schemas.microsoft.com/office/drawing/2014/main" id="{66FF5127-F8E8-4BF5-A165-874A718CC078}"/>
              </a:ext>
            </a:extLst>
          </p:cNvPr>
          <p:cNvSpPr>
            <a:spLocks noGrp="1"/>
          </p:cNvSpPr>
          <p:nvPr/>
        </p:nvSpPr>
        <p:spPr>
          <a:xfrm>
            <a:off x="5600700" y="4133850"/>
            <a:ext cx="1533525" cy="953"/>
          </a:xfrm>
          <a:prstGeom prst="line">
            <a:avLst/>
          </a:prstGeom>
          <a:noFill/>
          <a:ln w="15240">
            <a:solidFill>
              <a:srgbClr val="526276"/>
            </a:solidFill>
            <a:tailEnd type="triangle" w="sm" len="sm"/>
          </a:ln>
        </p:spPr>
        <p:txBody>
          <a:bodyPr/>
          <a:lstStyle/>
          <a:p>
            <a:endParaRPr lang="it-IT"/>
          </a:p>
        </p:txBody>
      </p:sp>
      <p:sp>
        <p:nvSpPr>
          <p:cNvPr id="16" name="relu_edge_2">
            <a:extLst>
              <a:ext uri="{FF2B5EF4-FFF2-40B4-BE49-F238E27FC236}">
                <a16:creationId xmlns:a16="http://schemas.microsoft.com/office/drawing/2014/main" id="{EC261601-464E-4B29-AFBF-6F1FFE09C382}"/>
              </a:ext>
            </a:extLst>
          </p:cNvPr>
          <p:cNvSpPr>
            <a:spLocks noGrp="1"/>
          </p:cNvSpPr>
          <p:nvPr/>
        </p:nvSpPr>
        <p:spPr>
          <a:xfrm>
            <a:off x="8086725" y="4133850"/>
            <a:ext cx="2352675" cy="953"/>
          </a:xfrm>
          <a:prstGeom prst="line">
            <a:avLst/>
          </a:prstGeom>
          <a:noFill/>
          <a:ln w="21908">
            <a:solidFill>
              <a:srgbClr val="087F83"/>
            </a:solidFill>
            <a:tailEnd type="triangle" w="sm" len="sm"/>
          </a:ln>
        </p:spPr>
        <p:txBody>
          <a:bodyPr/>
          <a:lstStyle/>
          <a:p>
            <a:endParaRPr lang="it-IT"/>
          </a:p>
        </p:txBody>
      </p:sp>
      <p:sp>
        <p:nvSpPr>
          <p:cNvPr id="17" name="weight_edge_1_3">
            <a:extLst>
              <a:ext uri="{FF2B5EF4-FFF2-40B4-BE49-F238E27FC236}">
                <a16:creationId xmlns:a16="http://schemas.microsoft.com/office/drawing/2014/main" id="{756E3DC5-0E9F-47DE-82BA-479A776B00FC}"/>
              </a:ext>
            </a:extLst>
          </p:cNvPr>
          <p:cNvSpPr>
            <a:spLocks noGrp="1"/>
          </p:cNvSpPr>
          <p:nvPr/>
        </p:nvSpPr>
        <p:spPr>
          <a:xfrm>
            <a:off x="914400" y="3333750"/>
            <a:ext cx="2400300" cy="2095500"/>
          </a:xfrm>
          <a:prstGeom prst="line">
            <a:avLst/>
          </a:prstGeom>
          <a:noFill/>
          <a:ln w="15240">
            <a:solidFill>
              <a:srgbClr val="B6C2CD"/>
            </a:solidFill>
          </a:ln>
        </p:spPr>
        <p:txBody>
          <a:bodyPr/>
          <a:lstStyle/>
          <a:p>
            <a:endParaRPr lang="it-IT"/>
          </a:p>
        </p:txBody>
      </p:sp>
      <p:sp>
        <p:nvSpPr>
          <p:cNvPr id="18" name="weight_edge_2_3">
            <a:extLst>
              <a:ext uri="{FF2B5EF4-FFF2-40B4-BE49-F238E27FC236}">
                <a16:creationId xmlns:a16="http://schemas.microsoft.com/office/drawing/2014/main" id="{0DCD0A2C-7721-4E93-83FA-5D89AA422D7B}"/>
              </a:ext>
            </a:extLst>
          </p:cNvPr>
          <p:cNvSpPr>
            <a:spLocks noGrp="1"/>
          </p:cNvSpPr>
          <p:nvPr/>
        </p:nvSpPr>
        <p:spPr>
          <a:xfrm>
            <a:off x="914400" y="4762500"/>
            <a:ext cx="2400300" cy="666750"/>
          </a:xfrm>
          <a:prstGeom prst="line">
            <a:avLst/>
          </a:prstGeom>
          <a:noFill/>
          <a:ln w="15240">
            <a:solidFill>
              <a:srgbClr val="B6C2CD"/>
            </a:solidFill>
          </a:ln>
        </p:spPr>
        <p:txBody>
          <a:bodyPr/>
          <a:lstStyle/>
          <a:p>
            <a:endParaRPr lang="it-IT"/>
          </a:p>
        </p:txBody>
      </p:sp>
      <p:sp>
        <p:nvSpPr>
          <p:cNvPr id="19" name="bias_edge_3">
            <a:extLst>
              <a:ext uri="{FF2B5EF4-FFF2-40B4-BE49-F238E27FC236}">
                <a16:creationId xmlns:a16="http://schemas.microsoft.com/office/drawing/2014/main" id="{E879D10F-CA64-46D2-8EE1-92C29B62018C}"/>
              </a:ext>
            </a:extLst>
          </p:cNvPr>
          <p:cNvSpPr>
            <a:spLocks noGrp="1"/>
          </p:cNvSpPr>
          <p:nvPr/>
        </p:nvSpPr>
        <p:spPr>
          <a:xfrm>
            <a:off x="5600700" y="5429250"/>
            <a:ext cx="1533525" cy="953"/>
          </a:xfrm>
          <a:prstGeom prst="line">
            <a:avLst/>
          </a:prstGeom>
          <a:noFill/>
          <a:ln w="15240">
            <a:solidFill>
              <a:srgbClr val="526276"/>
            </a:solidFill>
            <a:tailEnd type="triangle" w="sm" len="sm"/>
          </a:ln>
        </p:spPr>
        <p:txBody>
          <a:bodyPr/>
          <a:lstStyle/>
          <a:p>
            <a:endParaRPr lang="it-IT"/>
          </a:p>
        </p:txBody>
      </p:sp>
      <p:sp>
        <p:nvSpPr>
          <p:cNvPr id="20" name="relu_edge_3">
            <a:extLst>
              <a:ext uri="{FF2B5EF4-FFF2-40B4-BE49-F238E27FC236}">
                <a16:creationId xmlns:a16="http://schemas.microsoft.com/office/drawing/2014/main" id="{97D566D9-F133-4322-9B5B-61D502DD029E}"/>
              </a:ext>
            </a:extLst>
          </p:cNvPr>
          <p:cNvSpPr>
            <a:spLocks noGrp="1"/>
          </p:cNvSpPr>
          <p:nvPr/>
        </p:nvSpPr>
        <p:spPr>
          <a:xfrm>
            <a:off x="8086725" y="5429250"/>
            <a:ext cx="2352675" cy="953"/>
          </a:xfrm>
          <a:prstGeom prst="line">
            <a:avLst/>
          </a:prstGeom>
          <a:noFill/>
          <a:ln w="21908">
            <a:solidFill>
              <a:srgbClr val="087F83"/>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21" name="weight_label_1_1" descr="1">
                <a:extLst>
                  <a:ext uri="{FF2B5EF4-FFF2-40B4-BE49-F238E27FC236}">
                    <a16:creationId xmlns:a16="http://schemas.microsoft.com/office/drawing/2014/main" id="{7686FC50-1ED5-4AF0-968A-E9189F07D603}"/>
                  </a:ext>
                </a:extLst>
              </p:cNvPr>
              <p:cNvSpPr>
                <a:spLocks noGrp="1"/>
              </p:cNvSpPr>
              <p:nvPr/>
            </p:nvSpPr>
            <p:spPr>
              <a:xfrm>
                <a:off x="1781175" y="2930374"/>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1" name="weight_label_1_1" descr="1">
                <a:extLst>
                  <a:ext uri="{FF2B5EF4-FFF2-40B4-BE49-F238E27FC236}">
                    <a16:creationId xmlns:a16="http://schemas.microsoft.com/office/drawing/2014/main" id="{7686FC50-1ED5-4AF0-968A-E9189F07D603}"/>
                  </a:ext>
                </a:extLst>
              </p:cNvPr>
              <p:cNvSpPr>
                <a:spLocks noGrp="1" noRot="1" noChangeAspect="1" noMove="1" noResize="1" noEditPoints="1" noAdjustHandles="1" noChangeArrowheads="1" noChangeShapeType="1" noTextEdit="1"/>
              </p:cNvSpPr>
              <p:nvPr/>
            </p:nvSpPr>
            <p:spPr>
              <a:xfrm>
                <a:off x="1781175" y="2930374"/>
                <a:ext cx="514350" cy="342900"/>
              </a:xfrm>
              <a:prstGeom prst="rect">
                <a:avLst/>
              </a:prstGeom>
              <a:blipFill>
                <a:blip r:embed="rId4"/>
                <a:stretch>
                  <a:fillRect b="-35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 name="weight_label_2_1" descr="-1">
                <a:extLst>
                  <a:ext uri="{FF2B5EF4-FFF2-40B4-BE49-F238E27FC236}">
                    <a16:creationId xmlns:a16="http://schemas.microsoft.com/office/drawing/2014/main" id="{72CB0528-2238-44B3-BF95-5CE339EAB6BF}"/>
                  </a:ext>
                </a:extLst>
              </p:cNvPr>
              <p:cNvSpPr>
                <a:spLocks noGrp="1"/>
              </p:cNvSpPr>
              <p:nvPr/>
            </p:nvSpPr>
            <p:spPr>
              <a:xfrm>
                <a:off x="2543175" y="3079296"/>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2" name="weight_label_2_1" descr="-1">
                <a:extLst>
                  <a:ext uri="{FF2B5EF4-FFF2-40B4-BE49-F238E27FC236}">
                    <a16:creationId xmlns:a16="http://schemas.microsoft.com/office/drawing/2014/main" id="{72CB0528-2238-44B3-BF95-5CE339EAB6BF}"/>
                  </a:ext>
                </a:extLst>
              </p:cNvPr>
              <p:cNvSpPr>
                <a:spLocks noGrp="1" noRot="1" noChangeAspect="1" noMove="1" noResize="1" noEditPoints="1" noAdjustHandles="1" noChangeArrowheads="1" noChangeShapeType="1" noTextEdit="1"/>
              </p:cNvSpPr>
              <p:nvPr/>
            </p:nvSpPr>
            <p:spPr>
              <a:xfrm>
                <a:off x="2543175" y="3079296"/>
                <a:ext cx="514350" cy="342900"/>
              </a:xfrm>
              <a:prstGeom prst="rect">
                <a:avLst/>
              </a:prstGeom>
              <a:blipFill>
                <a:blip r:embed="rId5"/>
                <a:stretch>
                  <a:fillRect b="-535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 name="weight_label_1_2" descr="2">
                <a:extLst>
                  <a:ext uri="{FF2B5EF4-FFF2-40B4-BE49-F238E27FC236}">
                    <a16:creationId xmlns:a16="http://schemas.microsoft.com/office/drawing/2014/main" id="{1C3B018C-F549-445B-A133-F70F3F979F51}"/>
                  </a:ext>
                </a:extLst>
              </p:cNvPr>
              <p:cNvSpPr>
                <a:spLocks noGrp="1"/>
              </p:cNvSpPr>
              <p:nvPr/>
            </p:nvSpPr>
            <p:spPr>
              <a:xfrm>
                <a:off x="2486025" y="3771900"/>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2</m:t>
                      </m:r>
                    </m:oMath>
                  </m:oMathPara>
                </a14:m>
                <a:endParaRPr lang="en-GB" sz="2100"/>
              </a:p>
            </p:txBody>
          </p:sp>
        </mc:Choice>
        <mc:Fallback xmlns="">
          <p:sp>
            <p:nvSpPr>
              <p:cNvPr id="23" name="weight_label_1_2" descr="2">
                <a:extLst>
                  <a:ext uri="{FF2B5EF4-FFF2-40B4-BE49-F238E27FC236}">
                    <a16:creationId xmlns:a16="http://schemas.microsoft.com/office/drawing/2014/main" id="{1C3B018C-F549-445B-A133-F70F3F979F51}"/>
                  </a:ext>
                </a:extLst>
              </p:cNvPr>
              <p:cNvSpPr>
                <a:spLocks noGrp="1" noRot="1" noChangeAspect="1" noMove="1" noResize="1" noEditPoints="1" noAdjustHandles="1" noChangeArrowheads="1" noChangeShapeType="1" noTextEdit="1"/>
              </p:cNvSpPr>
              <p:nvPr/>
            </p:nvSpPr>
            <p:spPr>
              <a:xfrm>
                <a:off x="2486025" y="3771900"/>
                <a:ext cx="514350" cy="342900"/>
              </a:xfrm>
              <a:prstGeom prst="rect">
                <a:avLst/>
              </a:prstGeom>
              <a:blipFill>
                <a:blip r:embed="rId6"/>
                <a:stretch>
                  <a:fillRect b="-357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 name="weight_label_2_2" descr="0">
                <a:extLst>
                  <a:ext uri="{FF2B5EF4-FFF2-40B4-BE49-F238E27FC236}">
                    <a16:creationId xmlns:a16="http://schemas.microsoft.com/office/drawing/2014/main" id="{1585B68E-448B-411E-AAD3-4BF2928E4642}"/>
                  </a:ext>
                </a:extLst>
              </p:cNvPr>
              <p:cNvSpPr>
                <a:spLocks noGrp="1"/>
              </p:cNvSpPr>
              <p:nvPr/>
            </p:nvSpPr>
            <p:spPr>
              <a:xfrm>
                <a:off x="2352675" y="4147004"/>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0</m:t>
                      </m:r>
                    </m:oMath>
                  </m:oMathPara>
                </a14:m>
                <a:endParaRPr lang="en-GB" sz="2100"/>
              </a:p>
            </p:txBody>
          </p:sp>
        </mc:Choice>
        <mc:Fallback xmlns="">
          <p:sp>
            <p:nvSpPr>
              <p:cNvPr id="24" name="weight_label_2_2" descr="0">
                <a:extLst>
                  <a:ext uri="{FF2B5EF4-FFF2-40B4-BE49-F238E27FC236}">
                    <a16:creationId xmlns:a16="http://schemas.microsoft.com/office/drawing/2014/main" id="{1585B68E-448B-411E-AAD3-4BF2928E4642}"/>
                  </a:ext>
                </a:extLst>
              </p:cNvPr>
              <p:cNvSpPr>
                <a:spLocks noGrp="1" noRot="1" noChangeAspect="1" noMove="1" noResize="1" noEditPoints="1" noAdjustHandles="1" noChangeArrowheads="1" noChangeShapeType="1" noTextEdit="1"/>
              </p:cNvSpPr>
              <p:nvPr/>
            </p:nvSpPr>
            <p:spPr>
              <a:xfrm>
                <a:off x="2352675" y="4147004"/>
                <a:ext cx="514350" cy="342900"/>
              </a:xfrm>
              <a:prstGeom prst="rect">
                <a:avLst/>
              </a:prstGeom>
              <a:blipFill>
                <a:blip r:embed="rId7"/>
                <a:stretch>
                  <a:fillRect b="-350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 name="weight_label_1_3" descr="-1">
                <a:extLst>
                  <a:ext uri="{FF2B5EF4-FFF2-40B4-BE49-F238E27FC236}">
                    <a16:creationId xmlns:a16="http://schemas.microsoft.com/office/drawing/2014/main" id="{079F5C95-50EB-422D-99D6-0781E5FDE424}"/>
                  </a:ext>
                </a:extLst>
              </p:cNvPr>
              <p:cNvSpPr>
                <a:spLocks noGrp="1"/>
              </p:cNvSpPr>
              <p:nvPr/>
            </p:nvSpPr>
            <p:spPr>
              <a:xfrm>
                <a:off x="2266950" y="4567615"/>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5" name="weight_label_1_3" descr="-1">
                <a:extLst>
                  <a:ext uri="{FF2B5EF4-FFF2-40B4-BE49-F238E27FC236}">
                    <a16:creationId xmlns:a16="http://schemas.microsoft.com/office/drawing/2014/main" id="{079F5C95-50EB-422D-99D6-0781E5FDE424}"/>
                  </a:ext>
                </a:extLst>
              </p:cNvPr>
              <p:cNvSpPr>
                <a:spLocks noGrp="1" noRot="1" noChangeAspect="1" noMove="1" noResize="1" noEditPoints="1" noAdjustHandles="1" noChangeArrowheads="1" noChangeShapeType="1" noTextEdit="1"/>
              </p:cNvSpPr>
              <p:nvPr/>
            </p:nvSpPr>
            <p:spPr>
              <a:xfrm>
                <a:off x="2266950" y="4567615"/>
                <a:ext cx="514350" cy="342900"/>
              </a:xfrm>
              <a:prstGeom prst="rect">
                <a:avLst/>
              </a:prstGeom>
              <a:blipFill>
                <a:blip r:embed="rId8"/>
                <a:stretch>
                  <a:fillRect b="-350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weight_label_2_3" descr="1">
                <a:extLst>
                  <a:ext uri="{FF2B5EF4-FFF2-40B4-BE49-F238E27FC236}">
                    <a16:creationId xmlns:a16="http://schemas.microsoft.com/office/drawing/2014/main" id="{EE7D03E9-654E-40D6-B07F-2592BB58BC89}"/>
                  </a:ext>
                </a:extLst>
              </p:cNvPr>
              <p:cNvSpPr>
                <a:spLocks noGrp="1"/>
              </p:cNvSpPr>
              <p:nvPr/>
            </p:nvSpPr>
            <p:spPr>
              <a:xfrm>
                <a:off x="1819275" y="4913842"/>
                <a:ext cx="514350" cy="3429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182D45"/>
                          </a:solidFill>
                          <a:latin typeface="Cambria Math"/>
                          <a:ea typeface="Cambria Math"/>
                          <a:cs typeface="Cambria Math"/>
                        </a:rPr>
                        <m:t>1</m:t>
                      </m:r>
                    </m:oMath>
                  </m:oMathPara>
                </a14:m>
                <a:endParaRPr lang="en-GB" sz="2100"/>
              </a:p>
            </p:txBody>
          </p:sp>
        </mc:Choice>
        <mc:Fallback xmlns="">
          <p:sp>
            <p:nvSpPr>
              <p:cNvPr id="26" name="weight_label_2_3" descr="1">
                <a:extLst>
                  <a:ext uri="{FF2B5EF4-FFF2-40B4-BE49-F238E27FC236}">
                    <a16:creationId xmlns:a16="http://schemas.microsoft.com/office/drawing/2014/main" id="{EE7D03E9-654E-40D6-B07F-2592BB58BC89}"/>
                  </a:ext>
                </a:extLst>
              </p:cNvPr>
              <p:cNvSpPr>
                <a:spLocks noGrp="1" noRot="1" noChangeAspect="1" noMove="1" noResize="1" noEditPoints="1" noAdjustHandles="1" noChangeArrowheads="1" noChangeShapeType="1" noTextEdit="1"/>
              </p:cNvSpPr>
              <p:nvPr/>
            </p:nvSpPr>
            <p:spPr>
              <a:xfrm>
                <a:off x="1819275" y="4913842"/>
                <a:ext cx="514350" cy="342900"/>
              </a:xfrm>
              <a:prstGeom prst="rect">
                <a:avLst/>
              </a:prstGeom>
              <a:blipFill>
                <a:blip r:embed="rId9"/>
                <a:stretch>
                  <a:fillRect b="-3571"/>
                </a:stretch>
              </a:blipFill>
              <a:ln w="0">
                <a:noFill/>
              </a:ln>
            </p:spPr>
            <p:txBody>
              <a:bodyPr/>
              <a:lstStyle/>
              <a:p>
                <a:r>
                  <a:rPr lang="it-IT">
                    <a:noFill/>
                  </a:rPr>
                  <a:t> </a:t>
                </a:r>
              </a:p>
            </p:txBody>
          </p:sp>
        </mc:Fallback>
      </mc:AlternateContent>
      <p:sp>
        <p:nvSpPr>
          <p:cNvPr id="27" name="input_1">
            <a:extLst>
              <a:ext uri="{FF2B5EF4-FFF2-40B4-BE49-F238E27FC236}">
                <a16:creationId xmlns:a16="http://schemas.microsoft.com/office/drawing/2014/main" id="{16354130-BD0E-4C54-A7CF-DFF6DDF44D3A}"/>
              </a:ext>
            </a:extLst>
          </p:cNvPr>
          <p:cNvSpPr>
            <a:spLocks noGrp="1"/>
          </p:cNvSpPr>
          <p:nvPr/>
        </p:nvSpPr>
        <p:spPr>
          <a:xfrm>
            <a:off x="381000" y="3067050"/>
            <a:ext cx="533400" cy="533400"/>
          </a:xfrm>
          <a:prstGeom prst="ellipse">
            <a:avLst/>
          </a:prstGeom>
          <a:solidFill>
            <a:srgbClr val="FFFFFF"/>
          </a:solidFill>
          <a:ln w="19050">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28" name="input_value_1" descr="1">
                <a:extLst>
                  <a:ext uri="{FF2B5EF4-FFF2-40B4-BE49-F238E27FC236}">
                    <a16:creationId xmlns:a16="http://schemas.microsoft.com/office/drawing/2014/main" id="{1C0D5F79-51AE-4DE5-9155-833450F7EBC0}"/>
                  </a:ext>
                </a:extLst>
              </p:cNvPr>
              <p:cNvSpPr>
                <a:spLocks noGrp="1"/>
              </p:cNvSpPr>
              <p:nvPr/>
            </p:nvSpPr>
            <p:spPr>
              <a:xfrm>
                <a:off x="381000" y="306705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500" b="0" i="0" smtClean="0">
                          <a:solidFill>
                            <a:srgbClr val="526276"/>
                          </a:solidFill>
                          <a:latin typeface="Cambria Math" panose="02040503050406030204" pitchFamily="18" charset="0"/>
                          <a:ea typeface="Cambria Math"/>
                          <a:cs typeface="Cambria Math"/>
                        </a:rPr>
                        <m:t> </m:t>
                      </m:r>
                      <m:r>
                        <a:rPr lang="en-GB" sz="2500">
                          <a:solidFill>
                            <a:srgbClr val="526276"/>
                          </a:solidFill>
                          <a:latin typeface="Cambria Math"/>
                          <a:ea typeface="Cambria Math"/>
                          <a:cs typeface="Cambria Math"/>
                        </a:rPr>
                        <m:t>1</m:t>
                      </m:r>
                    </m:oMath>
                  </m:oMathPara>
                </a14:m>
                <a:endParaRPr lang="en-GB" sz="2500" dirty="0"/>
              </a:p>
            </p:txBody>
          </p:sp>
        </mc:Choice>
        <mc:Fallback xmlns="">
          <p:sp>
            <p:nvSpPr>
              <p:cNvPr id="28" name="input_value_1" descr="1">
                <a:extLst>
                  <a:ext uri="{FF2B5EF4-FFF2-40B4-BE49-F238E27FC236}">
                    <a16:creationId xmlns:a16="http://schemas.microsoft.com/office/drawing/2014/main" id="{1C0D5F79-51AE-4DE5-9155-833450F7EBC0}"/>
                  </a:ext>
                </a:extLst>
              </p:cNvPr>
              <p:cNvSpPr>
                <a:spLocks noGrp="1" noRot="1" noChangeAspect="1" noMove="1" noResize="1" noEditPoints="1" noAdjustHandles="1" noChangeArrowheads="1" noChangeShapeType="1" noTextEdit="1"/>
              </p:cNvSpPr>
              <p:nvPr/>
            </p:nvSpPr>
            <p:spPr>
              <a:xfrm>
                <a:off x="381000" y="3067050"/>
                <a:ext cx="533400" cy="533400"/>
              </a:xfrm>
              <a:prstGeom prst="rect">
                <a:avLst/>
              </a:prstGeom>
              <a:blipFill>
                <a:blip r:embed="rId10"/>
                <a:stretch>
                  <a:fillRect/>
                </a:stretch>
              </a:blipFill>
              <a:ln w="0">
                <a:noFill/>
              </a:ln>
            </p:spPr>
            <p:txBody>
              <a:bodyPr/>
              <a:lstStyle/>
              <a:p>
                <a:r>
                  <a:rPr lang="it-IT">
                    <a:noFill/>
                  </a:rPr>
                  <a:t> </a:t>
                </a:r>
              </a:p>
            </p:txBody>
          </p:sp>
        </mc:Fallback>
      </mc:AlternateContent>
      <p:sp>
        <p:nvSpPr>
          <p:cNvPr id="29" name="input_2">
            <a:extLst>
              <a:ext uri="{FF2B5EF4-FFF2-40B4-BE49-F238E27FC236}">
                <a16:creationId xmlns:a16="http://schemas.microsoft.com/office/drawing/2014/main" id="{B8591171-5ED2-49CD-9F49-9896A2B67D25}"/>
              </a:ext>
            </a:extLst>
          </p:cNvPr>
          <p:cNvSpPr>
            <a:spLocks noGrp="1"/>
          </p:cNvSpPr>
          <p:nvPr/>
        </p:nvSpPr>
        <p:spPr>
          <a:xfrm>
            <a:off x="381000" y="4495800"/>
            <a:ext cx="533400" cy="533400"/>
          </a:xfrm>
          <a:prstGeom prst="ellipse">
            <a:avLst/>
          </a:prstGeom>
          <a:solidFill>
            <a:srgbClr val="FFFFFF"/>
          </a:solidFill>
          <a:ln w="19050">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30" name="input_value_2" descr="2">
                <a:extLst>
                  <a:ext uri="{FF2B5EF4-FFF2-40B4-BE49-F238E27FC236}">
                    <a16:creationId xmlns:a16="http://schemas.microsoft.com/office/drawing/2014/main" id="{E45A1500-B9F7-42A0-9750-44B13E056936}"/>
                  </a:ext>
                </a:extLst>
              </p:cNvPr>
              <p:cNvSpPr>
                <a:spLocks noGrp="1"/>
              </p:cNvSpPr>
              <p:nvPr/>
            </p:nvSpPr>
            <p:spPr>
              <a:xfrm>
                <a:off x="381000" y="449580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500" b="0" i="0" smtClean="0">
                          <a:solidFill>
                            <a:srgbClr val="526276"/>
                          </a:solidFill>
                          <a:latin typeface="Cambria Math" panose="02040503050406030204" pitchFamily="18" charset="0"/>
                          <a:ea typeface="Cambria Math"/>
                          <a:cs typeface="Cambria Math"/>
                        </a:rPr>
                        <m:t> </m:t>
                      </m:r>
                      <m:r>
                        <a:rPr lang="en-GB" sz="2500">
                          <a:solidFill>
                            <a:srgbClr val="526276"/>
                          </a:solidFill>
                          <a:latin typeface="Cambria Math"/>
                          <a:ea typeface="Cambria Math"/>
                          <a:cs typeface="Cambria Math"/>
                        </a:rPr>
                        <m:t>2</m:t>
                      </m:r>
                    </m:oMath>
                  </m:oMathPara>
                </a14:m>
                <a:endParaRPr lang="en-GB" sz="2500" dirty="0"/>
              </a:p>
            </p:txBody>
          </p:sp>
        </mc:Choice>
        <mc:Fallback xmlns="">
          <p:sp>
            <p:nvSpPr>
              <p:cNvPr id="30" name="input_value_2" descr="2">
                <a:extLst>
                  <a:ext uri="{FF2B5EF4-FFF2-40B4-BE49-F238E27FC236}">
                    <a16:creationId xmlns:a16="http://schemas.microsoft.com/office/drawing/2014/main" id="{E45A1500-B9F7-42A0-9750-44B13E056936}"/>
                  </a:ext>
                </a:extLst>
              </p:cNvPr>
              <p:cNvSpPr>
                <a:spLocks noGrp="1" noRot="1" noChangeAspect="1" noMove="1" noResize="1" noEditPoints="1" noAdjustHandles="1" noChangeArrowheads="1" noChangeShapeType="1" noTextEdit="1"/>
              </p:cNvSpPr>
              <p:nvPr/>
            </p:nvSpPr>
            <p:spPr>
              <a:xfrm>
                <a:off x="381000" y="4495800"/>
                <a:ext cx="533400" cy="533400"/>
              </a:xfrm>
              <a:prstGeom prst="rect">
                <a:avLst/>
              </a:prstGeom>
              <a:blipFill>
                <a:blip r:embed="rId11"/>
                <a:stretch>
                  <a:fillRect/>
                </a:stretch>
              </a:blipFill>
              <a:ln w="0">
                <a:noFill/>
              </a:ln>
            </p:spPr>
            <p:txBody>
              <a:bodyPr/>
              <a:lstStyle/>
              <a:p>
                <a:r>
                  <a:rPr lang="it-IT">
                    <a:noFill/>
                  </a:rPr>
                  <a:t> </a:t>
                </a:r>
              </a:p>
            </p:txBody>
          </p:sp>
        </mc:Fallback>
      </mc:AlternateContent>
      <p:sp>
        <p:nvSpPr>
          <p:cNvPr id="31" name="sum_1">
            <a:extLst>
              <a:ext uri="{FF2B5EF4-FFF2-40B4-BE49-F238E27FC236}">
                <a16:creationId xmlns:a16="http://schemas.microsoft.com/office/drawing/2014/main" id="{E994AA78-079D-411D-A656-5F16FACF044A}"/>
              </a:ext>
            </a:extLst>
          </p:cNvPr>
          <p:cNvSpPr>
            <a:spLocks noGrp="1"/>
          </p:cNvSpPr>
          <p:nvPr/>
        </p:nvSpPr>
        <p:spPr>
          <a:xfrm>
            <a:off x="3314700" y="2390775"/>
            <a:ext cx="2286000" cy="895350"/>
          </a:xfrm>
          <a:prstGeom prst="ellipse">
            <a:avLst/>
          </a:prstGeom>
          <a:solidFill>
            <a:srgbClr val="F1F4F7"/>
          </a:solidFill>
          <a:ln w="19050">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32" name="sum_expression_1" descr="1(1)+2(-1)">
                <a:extLst>
                  <a:ext uri="{FF2B5EF4-FFF2-40B4-BE49-F238E27FC236}">
                    <a16:creationId xmlns:a16="http://schemas.microsoft.com/office/drawing/2014/main" id="{D7F9D01D-4F35-4841-901D-A8585C194F5C}"/>
                  </a:ext>
                </a:extLst>
              </p:cNvPr>
              <p:cNvSpPr>
                <a:spLocks noGrp="1"/>
              </p:cNvSpPr>
              <p:nvPr/>
            </p:nvSpPr>
            <p:spPr>
              <a:xfrm>
                <a:off x="3314700" y="24669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526276"/>
                          </a:solidFill>
                          <a:latin typeface="Cambria Math"/>
                          <a:ea typeface="Cambria Math"/>
                          <a:cs typeface="Cambria Math"/>
                        </a:rPr>
                        <m:t>1(1)+2(−1)</m:t>
                      </m:r>
                    </m:oMath>
                  </m:oMathPara>
                </a14:m>
                <a:endParaRPr lang="en-GB" sz="2000"/>
              </a:p>
            </p:txBody>
          </p:sp>
        </mc:Choice>
        <mc:Fallback xmlns="">
          <p:sp>
            <p:nvSpPr>
              <p:cNvPr id="32" name="sum_expression_1" descr="1(1)+2(-1)">
                <a:extLst>
                  <a:ext uri="{FF2B5EF4-FFF2-40B4-BE49-F238E27FC236}">
                    <a16:creationId xmlns:a16="http://schemas.microsoft.com/office/drawing/2014/main" id="{D7F9D01D-4F35-4841-901D-A8585C194F5C}"/>
                  </a:ext>
                </a:extLst>
              </p:cNvPr>
              <p:cNvSpPr>
                <a:spLocks noGrp="1" noRot="1" noChangeAspect="1" noMove="1" noResize="1" noEditPoints="1" noAdjustHandles="1" noChangeArrowheads="1" noChangeShapeType="1" noTextEdit="1"/>
              </p:cNvSpPr>
              <p:nvPr/>
            </p:nvSpPr>
            <p:spPr>
              <a:xfrm>
                <a:off x="3314700" y="2466975"/>
                <a:ext cx="2286000" cy="361950"/>
              </a:xfrm>
              <a:prstGeom prst="rect">
                <a:avLst/>
              </a:prstGeom>
              <a:blipFill>
                <a:blip r:embed="rId12"/>
                <a:stretch>
                  <a:fillRect b="-2203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 name="sum_result_1" descr="=-1">
                <a:extLst>
                  <a:ext uri="{FF2B5EF4-FFF2-40B4-BE49-F238E27FC236}">
                    <a16:creationId xmlns:a16="http://schemas.microsoft.com/office/drawing/2014/main" id="{F6C71B06-559C-4491-ACC3-FF941644A59A}"/>
                  </a:ext>
                </a:extLst>
              </p:cNvPr>
              <p:cNvSpPr>
                <a:spLocks noGrp="1"/>
              </p:cNvSpPr>
              <p:nvPr/>
            </p:nvSpPr>
            <p:spPr>
              <a:xfrm>
                <a:off x="3314700" y="28575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526276"/>
                          </a:solidFill>
                          <a:latin typeface="Cambria Math"/>
                          <a:ea typeface="Cambria Math"/>
                          <a:cs typeface="Cambria Math"/>
                        </a:rPr>
                        <m:t>=−1</m:t>
                      </m:r>
                    </m:oMath>
                  </m:oMathPara>
                </a14:m>
                <a:endParaRPr lang="en-GB" sz="2400"/>
              </a:p>
            </p:txBody>
          </p:sp>
        </mc:Choice>
        <mc:Fallback xmlns="">
          <p:sp>
            <p:nvSpPr>
              <p:cNvPr id="33" name="sum_result_1" descr="=-1">
                <a:extLst>
                  <a:ext uri="{FF2B5EF4-FFF2-40B4-BE49-F238E27FC236}">
                    <a16:creationId xmlns:a16="http://schemas.microsoft.com/office/drawing/2014/main" id="{F6C71B06-559C-4491-ACC3-FF941644A59A}"/>
                  </a:ext>
                </a:extLst>
              </p:cNvPr>
              <p:cNvSpPr>
                <a:spLocks noGrp="1" noRot="1" noChangeAspect="1" noMove="1" noResize="1" noEditPoints="1" noAdjustHandles="1" noChangeArrowheads="1" noChangeShapeType="1" noTextEdit="1"/>
              </p:cNvSpPr>
              <p:nvPr/>
            </p:nvSpPr>
            <p:spPr>
              <a:xfrm>
                <a:off x="3314700" y="2857500"/>
                <a:ext cx="2286000" cy="371475"/>
              </a:xfrm>
              <a:prstGeom prst="rect">
                <a:avLst/>
              </a:prstGeom>
              <a:blipFill>
                <a:blip r:embed="rId13"/>
                <a:stretch>
                  <a:fillRect b="-6557"/>
                </a:stretch>
              </a:blipFill>
              <a:ln w="0">
                <a:noFill/>
              </a:ln>
            </p:spPr>
            <p:txBody>
              <a:bodyPr/>
              <a:lstStyle/>
              <a:p>
                <a:r>
                  <a:rPr lang="it-IT">
                    <a:noFill/>
                  </a:rPr>
                  <a:t> </a:t>
                </a:r>
              </a:p>
            </p:txBody>
          </p:sp>
        </mc:Fallback>
      </mc:AlternateContent>
      <p:sp>
        <p:nvSpPr>
          <p:cNvPr id="34" name="pre_1">
            <a:extLst>
              <a:ext uri="{FF2B5EF4-FFF2-40B4-BE49-F238E27FC236}">
                <a16:creationId xmlns:a16="http://schemas.microsoft.com/office/drawing/2014/main" id="{4E3118BF-2AB5-4A31-BC23-0589B7155EED}"/>
              </a:ext>
            </a:extLst>
          </p:cNvPr>
          <p:cNvSpPr>
            <a:spLocks noGrp="1"/>
          </p:cNvSpPr>
          <p:nvPr/>
        </p:nvSpPr>
        <p:spPr>
          <a:xfrm>
            <a:off x="7134225" y="2362200"/>
            <a:ext cx="952500" cy="952500"/>
          </a:xfrm>
          <a:prstGeom prst="ellipse">
            <a:avLst/>
          </a:prstGeom>
          <a:solidFill>
            <a:srgbClr val="FFFBEF"/>
          </a:solidFill>
          <a:ln w="19050">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35" name="pre_value_1" descr="-1">
                <a:extLst>
                  <a:ext uri="{FF2B5EF4-FFF2-40B4-BE49-F238E27FC236}">
                    <a16:creationId xmlns:a16="http://schemas.microsoft.com/office/drawing/2014/main" id="{522F2D7D-2F4B-4AB0-B528-763FD00470F9}"/>
                  </a:ext>
                </a:extLst>
              </p:cNvPr>
              <p:cNvSpPr>
                <a:spLocks noGrp="1"/>
              </p:cNvSpPr>
              <p:nvPr/>
            </p:nvSpPr>
            <p:spPr>
              <a:xfrm>
                <a:off x="7134225" y="23622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000">
                          <a:solidFill>
                            <a:srgbClr val="526276"/>
                          </a:solidFill>
                          <a:latin typeface="Cambria Math"/>
                          <a:ea typeface="Cambria Math"/>
                          <a:cs typeface="Cambria Math"/>
                        </a:rPr>
                        <m:t>−1</m:t>
                      </m:r>
                    </m:oMath>
                  </m:oMathPara>
                </a14:m>
                <a:endParaRPr lang="en-GB" sz="3000"/>
              </a:p>
            </p:txBody>
          </p:sp>
        </mc:Choice>
        <mc:Fallback xmlns="">
          <p:sp>
            <p:nvSpPr>
              <p:cNvPr id="35" name="pre_value_1" descr="-1">
                <a:extLst>
                  <a:ext uri="{FF2B5EF4-FFF2-40B4-BE49-F238E27FC236}">
                    <a16:creationId xmlns:a16="http://schemas.microsoft.com/office/drawing/2014/main" id="{522F2D7D-2F4B-4AB0-B528-763FD00470F9}"/>
                  </a:ext>
                </a:extLst>
              </p:cNvPr>
              <p:cNvSpPr>
                <a:spLocks noGrp="1" noRot="1" noChangeAspect="1" noMove="1" noResize="1" noEditPoints="1" noAdjustHandles="1" noChangeArrowheads="1" noChangeShapeType="1" noTextEdit="1"/>
              </p:cNvSpPr>
              <p:nvPr/>
            </p:nvSpPr>
            <p:spPr>
              <a:xfrm>
                <a:off x="7134225" y="2362200"/>
                <a:ext cx="952500" cy="952500"/>
              </a:xfrm>
              <a:prstGeom prst="rect">
                <a:avLst/>
              </a:prstGeom>
              <a:blipFill>
                <a:blip r:embed="rId14"/>
                <a:stretch>
                  <a:fillRect/>
                </a:stretch>
              </a:blipFill>
              <a:ln w="0">
                <a:noFill/>
              </a:ln>
            </p:spPr>
            <p:txBody>
              <a:bodyPr/>
              <a:lstStyle/>
              <a:p>
                <a:r>
                  <a:rPr lang="it-IT">
                    <a:noFill/>
                  </a:rPr>
                  <a:t> </a:t>
                </a:r>
              </a:p>
            </p:txBody>
          </p:sp>
        </mc:Fallback>
      </mc:AlternateContent>
      <p:sp>
        <p:nvSpPr>
          <p:cNvPr id="36" name="activation_1">
            <a:extLst>
              <a:ext uri="{FF2B5EF4-FFF2-40B4-BE49-F238E27FC236}">
                <a16:creationId xmlns:a16="http://schemas.microsoft.com/office/drawing/2014/main" id="{483891E0-5E96-45EC-897B-4136FFBB14E3}"/>
              </a:ext>
            </a:extLst>
          </p:cNvPr>
          <p:cNvSpPr>
            <a:spLocks noGrp="1"/>
          </p:cNvSpPr>
          <p:nvPr/>
        </p:nvSpPr>
        <p:spPr>
          <a:xfrm>
            <a:off x="10439400" y="2362200"/>
            <a:ext cx="952500" cy="95250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37" name="activation_value_1" descr="0">
                <a:extLst>
                  <a:ext uri="{FF2B5EF4-FFF2-40B4-BE49-F238E27FC236}">
                    <a16:creationId xmlns:a16="http://schemas.microsoft.com/office/drawing/2014/main" id="{38554B25-E19C-4B6E-873C-2A1353427CBA}"/>
                  </a:ext>
                </a:extLst>
              </p:cNvPr>
              <p:cNvSpPr>
                <a:spLocks noGrp="1"/>
              </p:cNvSpPr>
              <p:nvPr/>
            </p:nvSpPr>
            <p:spPr>
              <a:xfrm>
                <a:off x="10439400" y="23622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0</m:t>
                      </m:r>
                    </m:oMath>
                  </m:oMathPara>
                </a14:m>
                <a:endParaRPr lang="en-GB" sz="3000" dirty="0"/>
              </a:p>
            </p:txBody>
          </p:sp>
        </mc:Choice>
        <mc:Fallback xmlns="">
          <p:sp>
            <p:nvSpPr>
              <p:cNvPr id="37" name="activation_value_1" descr="0">
                <a:extLst>
                  <a:ext uri="{FF2B5EF4-FFF2-40B4-BE49-F238E27FC236}">
                    <a16:creationId xmlns:a16="http://schemas.microsoft.com/office/drawing/2014/main" id="{38554B25-E19C-4B6E-873C-2A1353427CBA}"/>
                  </a:ext>
                </a:extLst>
              </p:cNvPr>
              <p:cNvSpPr>
                <a:spLocks noGrp="1" noRot="1" noChangeAspect="1" noMove="1" noResize="1" noEditPoints="1" noAdjustHandles="1" noChangeArrowheads="1" noChangeShapeType="1" noTextEdit="1"/>
              </p:cNvSpPr>
              <p:nvPr/>
            </p:nvSpPr>
            <p:spPr>
              <a:xfrm>
                <a:off x="10439400" y="2362200"/>
                <a:ext cx="952500" cy="952500"/>
              </a:xfrm>
              <a:prstGeom prst="rect">
                <a:avLst/>
              </a:prstGeom>
              <a:blipFill>
                <a:blip r:embed="rId1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8" name="bias_value_1" descr="+0">
                <a:extLst>
                  <a:ext uri="{FF2B5EF4-FFF2-40B4-BE49-F238E27FC236}">
                    <a16:creationId xmlns:a16="http://schemas.microsoft.com/office/drawing/2014/main" id="{D001473F-807A-47A4-A4FD-880E3A9D843A}"/>
                  </a:ext>
                </a:extLst>
              </p:cNvPr>
              <p:cNvSpPr>
                <a:spLocks noGrp="1"/>
              </p:cNvSpPr>
              <p:nvPr/>
            </p:nvSpPr>
            <p:spPr>
              <a:xfrm>
                <a:off x="5810250" y="24288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526276"/>
                          </a:solidFill>
                          <a:latin typeface="Cambria Math"/>
                          <a:ea typeface="Cambria Math"/>
                          <a:cs typeface="Cambria Math"/>
                        </a:rPr>
                        <m:t>+0</m:t>
                      </m:r>
                    </m:oMath>
                  </m:oMathPara>
                </a14:m>
                <a:endParaRPr lang="en-GB" sz="2300"/>
              </a:p>
            </p:txBody>
          </p:sp>
        </mc:Choice>
        <mc:Fallback xmlns="">
          <p:sp>
            <p:nvSpPr>
              <p:cNvPr id="38" name="bias_value_1" descr="+0">
                <a:extLst>
                  <a:ext uri="{FF2B5EF4-FFF2-40B4-BE49-F238E27FC236}">
                    <a16:creationId xmlns:a16="http://schemas.microsoft.com/office/drawing/2014/main" id="{D001473F-807A-47A4-A4FD-880E3A9D843A}"/>
                  </a:ext>
                </a:extLst>
              </p:cNvPr>
              <p:cNvSpPr>
                <a:spLocks noGrp="1" noRot="1" noChangeAspect="1" noMove="1" noResize="1" noEditPoints="1" noAdjustHandles="1" noChangeArrowheads="1" noChangeShapeType="1" noTextEdit="1"/>
              </p:cNvSpPr>
              <p:nvPr/>
            </p:nvSpPr>
            <p:spPr>
              <a:xfrm>
                <a:off x="5810250" y="2428875"/>
                <a:ext cx="1000125" cy="352425"/>
              </a:xfrm>
              <a:prstGeom prst="rect">
                <a:avLst/>
              </a:prstGeom>
              <a:blipFill>
                <a:blip r:embed="rId16"/>
                <a:stretch>
                  <a:fillRect b="-10345"/>
                </a:stretch>
              </a:blipFill>
              <a:ln w="0">
                <a:noFill/>
              </a:ln>
            </p:spPr>
            <p:txBody>
              <a:bodyPr/>
              <a:lstStyle/>
              <a:p>
                <a:r>
                  <a:rPr lang="it-IT">
                    <a:noFill/>
                  </a:rPr>
                  <a:t> </a:t>
                </a:r>
              </a:p>
            </p:txBody>
          </p:sp>
        </mc:Fallback>
      </mc:AlternateContent>
      <p:sp>
        <p:nvSpPr>
          <p:cNvPr id="39" name="relu_label_1">
            <a:extLst>
              <a:ext uri="{FF2B5EF4-FFF2-40B4-BE49-F238E27FC236}">
                <a16:creationId xmlns:a16="http://schemas.microsoft.com/office/drawing/2014/main" id="{4505A1C2-8F13-4C2A-9827-5EBCA2FB0370}"/>
              </a:ext>
            </a:extLst>
          </p:cNvPr>
          <p:cNvSpPr>
            <a:spLocks noGrp="1"/>
          </p:cNvSpPr>
          <p:nvPr/>
        </p:nvSpPr>
        <p:spPr>
          <a:xfrm>
            <a:off x="8639175" y="2428875"/>
            <a:ext cx="1238250" cy="352425"/>
          </a:xfrm>
          <a:prstGeom prst="rect">
            <a:avLst/>
          </a:prstGeom>
          <a:noFill/>
          <a:ln w="0">
            <a:noFill/>
          </a:ln>
        </p:spPr>
        <p:txBody>
          <a:bodyPr anchor="ctr">
            <a:noAutofit/>
          </a:bodyPr>
          <a:lstStyle/>
          <a:p>
            <a:pPr algn="ctr">
              <a:defRPr sz="1875" b="0">
                <a:solidFill>
                  <a:srgbClr val="087F83"/>
                </a:solidFill>
                <a:latin typeface="DejaVu Sans"/>
                <a:ea typeface="DejaVu Sans"/>
                <a:cs typeface="DejaVu Sans"/>
              </a:defRPr>
            </a:pPr>
            <a:r>
              <a:rPr sz="1875" b="0">
                <a:solidFill>
                  <a:srgbClr val="087F83"/>
                </a:solidFill>
                <a:latin typeface="DejaVu Sans"/>
                <a:ea typeface="DejaVu Sans"/>
                <a:cs typeface="DejaVu Sans"/>
              </a:rPr>
              <a:t>ReLU</a:t>
            </a:r>
          </a:p>
        </p:txBody>
      </p:sp>
      <p:sp>
        <p:nvSpPr>
          <p:cNvPr id="40" name="sum_2">
            <a:extLst>
              <a:ext uri="{FF2B5EF4-FFF2-40B4-BE49-F238E27FC236}">
                <a16:creationId xmlns:a16="http://schemas.microsoft.com/office/drawing/2014/main" id="{90997F7B-B9A4-4CB5-AA62-67FC484D3B63}"/>
              </a:ext>
            </a:extLst>
          </p:cNvPr>
          <p:cNvSpPr>
            <a:spLocks noGrp="1"/>
          </p:cNvSpPr>
          <p:nvPr/>
        </p:nvSpPr>
        <p:spPr>
          <a:xfrm>
            <a:off x="3314700" y="3686175"/>
            <a:ext cx="2286000" cy="895350"/>
          </a:xfrm>
          <a:prstGeom prst="ellipse">
            <a:avLst/>
          </a:prstGeom>
          <a:solidFill>
            <a:srgbClr val="F1F4F7"/>
          </a:solidFill>
          <a:ln w="19050">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41" name="sum_expression_2" descr="1(2)+2(0)">
                <a:extLst>
                  <a:ext uri="{FF2B5EF4-FFF2-40B4-BE49-F238E27FC236}">
                    <a16:creationId xmlns:a16="http://schemas.microsoft.com/office/drawing/2014/main" id="{F4DF0927-9CAA-41F3-B9DC-46C1054BB4DF}"/>
                  </a:ext>
                </a:extLst>
              </p:cNvPr>
              <p:cNvSpPr>
                <a:spLocks noGrp="1"/>
              </p:cNvSpPr>
              <p:nvPr/>
            </p:nvSpPr>
            <p:spPr>
              <a:xfrm>
                <a:off x="3314700" y="37623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526276"/>
                          </a:solidFill>
                          <a:latin typeface="Cambria Math"/>
                          <a:ea typeface="Cambria Math"/>
                          <a:cs typeface="Cambria Math"/>
                        </a:rPr>
                        <m:t>1(2)+2(0)</m:t>
                      </m:r>
                    </m:oMath>
                  </m:oMathPara>
                </a14:m>
                <a:endParaRPr lang="en-GB" sz="2000"/>
              </a:p>
            </p:txBody>
          </p:sp>
        </mc:Choice>
        <mc:Fallback xmlns="">
          <p:sp>
            <p:nvSpPr>
              <p:cNvPr id="41" name="sum_expression_2" descr="1(2)+2(0)">
                <a:extLst>
                  <a:ext uri="{FF2B5EF4-FFF2-40B4-BE49-F238E27FC236}">
                    <a16:creationId xmlns:a16="http://schemas.microsoft.com/office/drawing/2014/main" id="{F4DF0927-9CAA-41F3-B9DC-46C1054BB4DF}"/>
                  </a:ext>
                </a:extLst>
              </p:cNvPr>
              <p:cNvSpPr>
                <a:spLocks noGrp="1" noRot="1" noChangeAspect="1" noMove="1" noResize="1" noEditPoints="1" noAdjustHandles="1" noChangeArrowheads="1" noChangeShapeType="1" noTextEdit="1"/>
              </p:cNvSpPr>
              <p:nvPr/>
            </p:nvSpPr>
            <p:spPr>
              <a:xfrm>
                <a:off x="3314700" y="3762375"/>
                <a:ext cx="2286000" cy="361950"/>
              </a:xfrm>
              <a:prstGeom prst="rect">
                <a:avLst/>
              </a:prstGeom>
              <a:blipFill>
                <a:blip r:embed="rId17"/>
                <a:stretch>
                  <a:fillRect b="-2166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2" name="sum_result_2" descr="=2">
                <a:extLst>
                  <a:ext uri="{FF2B5EF4-FFF2-40B4-BE49-F238E27FC236}">
                    <a16:creationId xmlns:a16="http://schemas.microsoft.com/office/drawing/2014/main" id="{6428D48B-EB64-4F06-A2BF-EC40EB90334F}"/>
                  </a:ext>
                </a:extLst>
              </p:cNvPr>
              <p:cNvSpPr>
                <a:spLocks noGrp="1"/>
              </p:cNvSpPr>
              <p:nvPr/>
            </p:nvSpPr>
            <p:spPr>
              <a:xfrm>
                <a:off x="3314700" y="41529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526276"/>
                          </a:solidFill>
                          <a:latin typeface="Cambria Math"/>
                          <a:ea typeface="Cambria Math"/>
                          <a:cs typeface="Cambria Math"/>
                        </a:rPr>
                        <m:t>=2</m:t>
                      </m:r>
                    </m:oMath>
                  </m:oMathPara>
                </a14:m>
                <a:endParaRPr lang="en-GB" sz="2400"/>
              </a:p>
            </p:txBody>
          </p:sp>
        </mc:Choice>
        <mc:Fallback xmlns="">
          <p:sp>
            <p:nvSpPr>
              <p:cNvPr id="42" name="sum_result_2" descr="=2">
                <a:extLst>
                  <a:ext uri="{FF2B5EF4-FFF2-40B4-BE49-F238E27FC236}">
                    <a16:creationId xmlns:a16="http://schemas.microsoft.com/office/drawing/2014/main" id="{6428D48B-EB64-4F06-A2BF-EC40EB90334F}"/>
                  </a:ext>
                </a:extLst>
              </p:cNvPr>
              <p:cNvSpPr>
                <a:spLocks noGrp="1" noRot="1" noChangeAspect="1" noMove="1" noResize="1" noEditPoints="1" noAdjustHandles="1" noChangeArrowheads="1" noChangeShapeType="1" noTextEdit="1"/>
              </p:cNvSpPr>
              <p:nvPr/>
            </p:nvSpPr>
            <p:spPr>
              <a:xfrm>
                <a:off x="3314700" y="4152900"/>
                <a:ext cx="2286000" cy="371475"/>
              </a:xfrm>
              <a:prstGeom prst="rect">
                <a:avLst/>
              </a:prstGeom>
              <a:blipFill>
                <a:blip r:embed="rId18"/>
                <a:stretch>
                  <a:fillRect b="-6557"/>
                </a:stretch>
              </a:blipFill>
              <a:ln w="0">
                <a:noFill/>
              </a:ln>
            </p:spPr>
            <p:txBody>
              <a:bodyPr/>
              <a:lstStyle/>
              <a:p>
                <a:r>
                  <a:rPr lang="it-IT">
                    <a:noFill/>
                  </a:rPr>
                  <a:t> </a:t>
                </a:r>
              </a:p>
            </p:txBody>
          </p:sp>
        </mc:Fallback>
      </mc:AlternateContent>
      <p:sp>
        <p:nvSpPr>
          <p:cNvPr id="43" name="pre_2">
            <a:extLst>
              <a:ext uri="{FF2B5EF4-FFF2-40B4-BE49-F238E27FC236}">
                <a16:creationId xmlns:a16="http://schemas.microsoft.com/office/drawing/2014/main" id="{3835145F-AC91-40FA-AA75-0B5A8DD37EDC}"/>
              </a:ext>
            </a:extLst>
          </p:cNvPr>
          <p:cNvSpPr>
            <a:spLocks noGrp="1"/>
          </p:cNvSpPr>
          <p:nvPr/>
        </p:nvSpPr>
        <p:spPr>
          <a:xfrm>
            <a:off x="7134225" y="3657600"/>
            <a:ext cx="952500" cy="952500"/>
          </a:xfrm>
          <a:prstGeom prst="ellipse">
            <a:avLst/>
          </a:prstGeom>
          <a:solidFill>
            <a:srgbClr val="FFFBEF"/>
          </a:solidFill>
          <a:ln w="19050">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44" name="pre_value_2" descr="3">
                <a:extLst>
                  <a:ext uri="{FF2B5EF4-FFF2-40B4-BE49-F238E27FC236}">
                    <a16:creationId xmlns:a16="http://schemas.microsoft.com/office/drawing/2014/main" id="{4CEFBEBB-1548-456F-B90A-992FAD74C430}"/>
                  </a:ext>
                </a:extLst>
              </p:cNvPr>
              <p:cNvSpPr>
                <a:spLocks noGrp="1"/>
              </p:cNvSpPr>
              <p:nvPr/>
            </p:nvSpPr>
            <p:spPr>
              <a:xfrm>
                <a:off x="7134225" y="36576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526276"/>
                          </a:solidFill>
                          <a:latin typeface="Cambria Math" panose="02040503050406030204" pitchFamily="18" charset="0"/>
                          <a:ea typeface="Cambria Math"/>
                          <a:cs typeface="Cambria Math"/>
                        </a:rPr>
                        <m:t> </m:t>
                      </m:r>
                      <m:r>
                        <a:rPr lang="en-GB" sz="3000">
                          <a:solidFill>
                            <a:srgbClr val="526276"/>
                          </a:solidFill>
                          <a:latin typeface="Cambria Math"/>
                          <a:ea typeface="Cambria Math"/>
                          <a:cs typeface="Cambria Math"/>
                        </a:rPr>
                        <m:t>3</m:t>
                      </m:r>
                    </m:oMath>
                  </m:oMathPara>
                </a14:m>
                <a:endParaRPr lang="en-GB" sz="3000" dirty="0"/>
              </a:p>
            </p:txBody>
          </p:sp>
        </mc:Choice>
        <mc:Fallback xmlns="">
          <p:sp>
            <p:nvSpPr>
              <p:cNvPr id="44" name="pre_value_2" descr="3">
                <a:extLst>
                  <a:ext uri="{FF2B5EF4-FFF2-40B4-BE49-F238E27FC236}">
                    <a16:creationId xmlns:a16="http://schemas.microsoft.com/office/drawing/2014/main" id="{4CEFBEBB-1548-456F-B90A-992FAD74C430}"/>
                  </a:ext>
                </a:extLst>
              </p:cNvPr>
              <p:cNvSpPr>
                <a:spLocks noGrp="1" noRot="1" noChangeAspect="1" noMove="1" noResize="1" noEditPoints="1" noAdjustHandles="1" noChangeArrowheads="1" noChangeShapeType="1" noTextEdit="1"/>
              </p:cNvSpPr>
              <p:nvPr/>
            </p:nvSpPr>
            <p:spPr>
              <a:xfrm>
                <a:off x="7134225" y="3657600"/>
                <a:ext cx="952500" cy="952500"/>
              </a:xfrm>
              <a:prstGeom prst="rect">
                <a:avLst/>
              </a:prstGeom>
              <a:blipFill>
                <a:blip r:embed="rId19"/>
                <a:stretch>
                  <a:fillRect/>
                </a:stretch>
              </a:blipFill>
              <a:ln w="0">
                <a:noFill/>
              </a:ln>
            </p:spPr>
            <p:txBody>
              <a:bodyPr/>
              <a:lstStyle/>
              <a:p>
                <a:r>
                  <a:rPr lang="it-IT">
                    <a:noFill/>
                  </a:rPr>
                  <a:t> </a:t>
                </a:r>
              </a:p>
            </p:txBody>
          </p:sp>
        </mc:Fallback>
      </mc:AlternateContent>
      <p:sp>
        <p:nvSpPr>
          <p:cNvPr id="45" name="activation_2">
            <a:extLst>
              <a:ext uri="{FF2B5EF4-FFF2-40B4-BE49-F238E27FC236}">
                <a16:creationId xmlns:a16="http://schemas.microsoft.com/office/drawing/2014/main" id="{22F79CD6-82D9-458D-B26F-2FC80273080D}"/>
              </a:ext>
            </a:extLst>
          </p:cNvPr>
          <p:cNvSpPr>
            <a:spLocks noGrp="1"/>
          </p:cNvSpPr>
          <p:nvPr/>
        </p:nvSpPr>
        <p:spPr>
          <a:xfrm>
            <a:off x="10439400" y="3657600"/>
            <a:ext cx="952500" cy="95250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46" name="activation_value_2" descr="3">
                <a:extLst>
                  <a:ext uri="{FF2B5EF4-FFF2-40B4-BE49-F238E27FC236}">
                    <a16:creationId xmlns:a16="http://schemas.microsoft.com/office/drawing/2014/main" id="{3562AE83-4FA7-44F5-B24C-322E0432B66A}"/>
                  </a:ext>
                </a:extLst>
              </p:cNvPr>
              <p:cNvSpPr>
                <a:spLocks noGrp="1"/>
              </p:cNvSpPr>
              <p:nvPr/>
            </p:nvSpPr>
            <p:spPr>
              <a:xfrm>
                <a:off x="10439400" y="36576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3</m:t>
                      </m:r>
                    </m:oMath>
                  </m:oMathPara>
                </a14:m>
                <a:endParaRPr lang="en-GB" sz="3000" dirty="0"/>
              </a:p>
            </p:txBody>
          </p:sp>
        </mc:Choice>
        <mc:Fallback xmlns="">
          <p:sp>
            <p:nvSpPr>
              <p:cNvPr id="46" name="activation_value_2" descr="3">
                <a:extLst>
                  <a:ext uri="{FF2B5EF4-FFF2-40B4-BE49-F238E27FC236}">
                    <a16:creationId xmlns:a16="http://schemas.microsoft.com/office/drawing/2014/main" id="{3562AE83-4FA7-44F5-B24C-322E0432B66A}"/>
                  </a:ext>
                </a:extLst>
              </p:cNvPr>
              <p:cNvSpPr>
                <a:spLocks noGrp="1" noRot="1" noChangeAspect="1" noMove="1" noResize="1" noEditPoints="1" noAdjustHandles="1" noChangeArrowheads="1" noChangeShapeType="1" noTextEdit="1"/>
              </p:cNvSpPr>
              <p:nvPr/>
            </p:nvSpPr>
            <p:spPr>
              <a:xfrm>
                <a:off x="10439400" y="3657600"/>
                <a:ext cx="952500" cy="952500"/>
              </a:xfrm>
              <a:prstGeom prst="rect">
                <a:avLst/>
              </a:prstGeom>
              <a:blipFill>
                <a:blip r:embed="rId20"/>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7" name="bias_value_2" descr="+1">
                <a:extLst>
                  <a:ext uri="{FF2B5EF4-FFF2-40B4-BE49-F238E27FC236}">
                    <a16:creationId xmlns:a16="http://schemas.microsoft.com/office/drawing/2014/main" id="{483ABF47-F333-47E9-B7C9-F281E3F9C4A0}"/>
                  </a:ext>
                </a:extLst>
              </p:cNvPr>
              <p:cNvSpPr>
                <a:spLocks noGrp="1"/>
              </p:cNvSpPr>
              <p:nvPr/>
            </p:nvSpPr>
            <p:spPr>
              <a:xfrm>
                <a:off x="5810250" y="37242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526276"/>
                          </a:solidFill>
                          <a:latin typeface="Cambria Math"/>
                          <a:ea typeface="Cambria Math"/>
                          <a:cs typeface="Cambria Math"/>
                        </a:rPr>
                        <m:t>+1</m:t>
                      </m:r>
                    </m:oMath>
                  </m:oMathPara>
                </a14:m>
                <a:endParaRPr lang="en-GB" sz="2300"/>
              </a:p>
            </p:txBody>
          </p:sp>
        </mc:Choice>
        <mc:Fallback xmlns="">
          <p:sp>
            <p:nvSpPr>
              <p:cNvPr id="47" name="bias_value_2" descr="+1">
                <a:extLst>
                  <a:ext uri="{FF2B5EF4-FFF2-40B4-BE49-F238E27FC236}">
                    <a16:creationId xmlns:a16="http://schemas.microsoft.com/office/drawing/2014/main" id="{483ABF47-F333-47E9-B7C9-F281E3F9C4A0}"/>
                  </a:ext>
                </a:extLst>
              </p:cNvPr>
              <p:cNvSpPr>
                <a:spLocks noGrp="1" noRot="1" noChangeAspect="1" noMove="1" noResize="1" noEditPoints="1" noAdjustHandles="1" noChangeArrowheads="1" noChangeShapeType="1" noTextEdit="1"/>
              </p:cNvSpPr>
              <p:nvPr/>
            </p:nvSpPr>
            <p:spPr>
              <a:xfrm>
                <a:off x="5810250" y="3724275"/>
                <a:ext cx="1000125" cy="352425"/>
              </a:xfrm>
              <a:prstGeom prst="rect">
                <a:avLst/>
              </a:prstGeom>
              <a:blipFill>
                <a:blip r:embed="rId21"/>
                <a:stretch>
                  <a:fillRect b="-8621"/>
                </a:stretch>
              </a:blipFill>
              <a:ln w="0">
                <a:noFill/>
              </a:ln>
            </p:spPr>
            <p:txBody>
              <a:bodyPr/>
              <a:lstStyle/>
              <a:p>
                <a:r>
                  <a:rPr lang="it-IT">
                    <a:noFill/>
                  </a:rPr>
                  <a:t> </a:t>
                </a:r>
              </a:p>
            </p:txBody>
          </p:sp>
        </mc:Fallback>
      </mc:AlternateContent>
      <p:sp>
        <p:nvSpPr>
          <p:cNvPr id="48" name="relu_label_2">
            <a:extLst>
              <a:ext uri="{FF2B5EF4-FFF2-40B4-BE49-F238E27FC236}">
                <a16:creationId xmlns:a16="http://schemas.microsoft.com/office/drawing/2014/main" id="{BBE6BBE7-B5D0-496D-BD46-82C5CE50C95F}"/>
              </a:ext>
            </a:extLst>
          </p:cNvPr>
          <p:cNvSpPr>
            <a:spLocks noGrp="1"/>
          </p:cNvSpPr>
          <p:nvPr/>
        </p:nvSpPr>
        <p:spPr>
          <a:xfrm>
            <a:off x="8639175" y="3724275"/>
            <a:ext cx="1238250" cy="352425"/>
          </a:xfrm>
          <a:prstGeom prst="rect">
            <a:avLst/>
          </a:prstGeom>
          <a:noFill/>
          <a:ln w="0">
            <a:noFill/>
          </a:ln>
        </p:spPr>
        <p:txBody>
          <a:bodyPr anchor="ctr">
            <a:noAutofit/>
          </a:bodyPr>
          <a:lstStyle/>
          <a:p>
            <a:pPr algn="ctr">
              <a:defRPr sz="1875" b="0">
                <a:solidFill>
                  <a:srgbClr val="087F83"/>
                </a:solidFill>
                <a:latin typeface="DejaVu Sans"/>
                <a:ea typeface="DejaVu Sans"/>
                <a:cs typeface="DejaVu Sans"/>
              </a:defRPr>
            </a:pPr>
            <a:r>
              <a:rPr sz="1875" b="0">
                <a:solidFill>
                  <a:srgbClr val="087F83"/>
                </a:solidFill>
                <a:latin typeface="DejaVu Sans"/>
                <a:ea typeface="DejaVu Sans"/>
                <a:cs typeface="DejaVu Sans"/>
              </a:rPr>
              <a:t>ReLU</a:t>
            </a:r>
          </a:p>
        </p:txBody>
      </p:sp>
      <p:sp>
        <p:nvSpPr>
          <p:cNvPr id="49" name="sum_3">
            <a:extLst>
              <a:ext uri="{FF2B5EF4-FFF2-40B4-BE49-F238E27FC236}">
                <a16:creationId xmlns:a16="http://schemas.microsoft.com/office/drawing/2014/main" id="{F6D650F2-FBCE-43F5-A43F-5D219CB61AD3}"/>
              </a:ext>
            </a:extLst>
          </p:cNvPr>
          <p:cNvSpPr>
            <a:spLocks noGrp="1"/>
          </p:cNvSpPr>
          <p:nvPr/>
        </p:nvSpPr>
        <p:spPr>
          <a:xfrm>
            <a:off x="3314700" y="4981575"/>
            <a:ext cx="2286000" cy="895350"/>
          </a:xfrm>
          <a:prstGeom prst="ellipse">
            <a:avLst/>
          </a:prstGeom>
          <a:solidFill>
            <a:srgbClr val="F1F4F7"/>
          </a:solidFill>
          <a:ln w="19050">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50" name="sum_expression_3" descr="1(-1)+2(1)">
                <a:extLst>
                  <a:ext uri="{FF2B5EF4-FFF2-40B4-BE49-F238E27FC236}">
                    <a16:creationId xmlns:a16="http://schemas.microsoft.com/office/drawing/2014/main" id="{395427E1-9FF0-4155-B6C4-23266EA5A24C}"/>
                  </a:ext>
                </a:extLst>
              </p:cNvPr>
              <p:cNvSpPr>
                <a:spLocks noGrp="1"/>
              </p:cNvSpPr>
              <p:nvPr/>
            </p:nvSpPr>
            <p:spPr>
              <a:xfrm>
                <a:off x="3314700" y="5057775"/>
                <a:ext cx="22860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526276"/>
                          </a:solidFill>
                          <a:latin typeface="Cambria Math"/>
                          <a:ea typeface="Cambria Math"/>
                          <a:cs typeface="Cambria Math"/>
                        </a:rPr>
                        <m:t>1(−1)+2(1)</m:t>
                      </m:r>
                    </m:oMath>
                  </m:oMathPara>
                </a14:m>
                <a:endParaRPr lang="en-GB" sz="2000"/>
              </a:p>
            </p:txBody>
          </p:sp>
        </mc:Choice>
        <mc:Fallback xmlns="">
          <p:sp>
            <p:nvSpPr>
              <p:cNvPr id="50" name="sum_expression_3" descr="1(-1)+2(1)">
                <a:extLst>
                  <a:ext uri="{FF2B5EF4-FFF2-40B4-BE49-F238E27FC236}">
                    <a16:creationId xmlns:a16="http://schemas.microsoft.com/office/drawing/2014/main" id="{395427E1-9FF0-4155-B6C4-23266EA5A24C}"/>
                  </a:ext>
                </a:extLst>
              </p:cNvPr>
              <p:cNvSpPr>
                <a:spLocks noGrp="1" noRot="1" noChangeAspect="1" noMove="1" noResize="1" noEditPoints="1" noAdjustHandles="1" noChangeArrowheads="1" noChangeShapeType="1" noTextEdit="1"/>
              </p:cNvSpPr>
              <p:nvPr/>
            </p:nvSpPr>
            <p:spPr>
              <a:xfrm>
                <a:off x="3314700" y="5057775"/>
                <a:ext cx="2286000" cy="361950"/>
              </a:xfrm>
              <a:prstGeom prst="rect">
                <a:avLst/>
              </a:prstGeom>
              <a:blipFill>
                <a:blip r:embed="rId22"/>
                <a:stretch>
                  <a:fillRect b="-2203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1" name="sum_result_3" descr="=1">
                <a:extLst>
                  <a:ext uri="{FF2B5EF4-FFF2-40B4-BE49-F238E27FC236}">
                    <a16:creationId xmlns:a16="http://schemas.microsoft.com/office/drawing/2014/main" id="{F9446F2F-1BF9-44CB-8455-E22EEAC24068}"/>
                  </a:ext>
                </a:extLst>
              </p:cNvPr>
              <p:cNvSpPr>
                <a:spLocks noGrp="1"/>
              </p:cNvSpPr>
              <p:nvPr/>
            </p:nvSpPr>
            <p:spPr>
              <a:xfrm>
                <a:off x="3314700" y="5448300"/>
                <a:ext cx="228600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526276"/>
                          </a:solidFill>
                          <a:latin typeface="Cambria Math"/>
                          <a:ea typeface="Cambria Math"/>
                          <a:cs typeface="Cambria Math"/>
                        </a:rPr>
                        <m:t>=1</m:t>
                      </m:r>
                    </m:oMath>
                  </m:oMathPara>
                </a14:m>
                <a:endParaRPr lang="en-GB" sz="2400"/>
              </a:p>
            </p:txBody>
          </p:sp>
        </mc:Choice>
        <mc:Fallback xmlns="">
          <p:sp>
            <p:nvSpPr>
              <p:cNvPr id="51" name="sum_result_3" descr="=1">
                <a:extLst>
                  <a:ext uri="{FF2B5EF4-FFF2-40B4-BE49-F238E27FC236}">
                    <a16:creationId xmlns:a16="http://schemas.microsoft.com/office/drawing/2014/main" id="{F9446F2F-1BF9-44CB-8455-E22EEAC24068}"/>
                  </a:ext>
                </a:extLst>
              </p:cNvPr>
              <p:cNvSpPr>
                <a:spLocks noGrp="1" noRot="1" noChangeAspect="1" noMove="1" noResize="1" noEditPoints="1" noAdjustHandles="1" noChangeArrowheads="1" noChangeShapeType="1" noTextEdit="1"/>
              </p:cNvSpPr>
              <p:nvPr/>
            </p:nvSpPr>
            <p:spPr>
              <a:xfrm>
                <a:off x="3314700" y="5448300"/>
                <a:ext cx="2286000" cy="371475"/>
              </a:xfrm>
              <a:prstGeom prst="rect">
                <a:avLst/>
              </a:prstGeom>
              <a:blipFill>
                <a:blip r:embed="rId23"/>
                <a:stretch>
                  <a:fillRect b="-6557"/>
                </a:stretch>
              </a:blipFill>
              <a:ln w="0">
                <a:noFill/>
              </a:ln>
            </p:spPr>
            <p:txBody>
              <a:bodyPr/>
              <a:lstStyle/>
              <a:p>
                <a:r>
                  <a:rPr lang="it-IT">
                    <a:noFill/>
                  </a:rPr>
                  <a:t> </a:t>
                </a:r>
              </a:p>
            </p:txBody>
          </p:sp>
        </mc:Fallback>
      </mc:AlternateContent>
      <p:sp>
        <p:nvSpPr>
          <p:cNvPr id="52" name="pre_3">
            <a:extLst>
              <a:ext uri="{FF2B5EF4-FFF2-40B4-BE49-F238E27FC236}">
                <a16:creationId xmlns:a16="http://schemas.microsoft.com/office/drawing/2014/main" id="{D5DD73B7-E737-49D1-BFAE-7779016E6BB5}"/>
              </a:ext>
            </a:extLst>
          </p:cNvPr>
          <p:cNvSpPr>
            <a:spLocks noGrp="1"/>
          </p:cNvSpPr>
          <p:nvPr/>
        </p:nvSpPr>
        <p:spPr>
          <a:xfrm>
            <a:off x="7134225" y="4953000"/>
            <a:ext cx="952500" cy="952500"/>
          </a:xfrm>
          <a:prstGeom prst="ellipse">
            <a:avLst/>
          </a:prstGeom>
          <a:solidFill>
            <a:srgbClr val="FFFBEF"/>
          </a:solidFill>
          <a:ln w="19050">
            <a:solidFill>
              <a:srgbClr val="526276"/>
            </a:solidFill>
          </a:ln>
        </p:spPr>
        <p:txBody>
          <a:bodyPr/>
          <a:lstStyle/>
          <a:p>
            <a:endParaRPr lang="it-IT" dirty="0"/>
          </a:p>
        </p:txBody>
      </p:sp>
      <mc:AlternateContent xmlns:mc="http://schemas.openxmlformats.org/markup-compatibility/2006" xmlns:a14="http://schemas.microsoft.com/office/drawing/2010/main">
        <mc:Choice Requires="a14">
          <p:sp>
            <p:nvSpPr>
              <p:cNvPr id="53" name="pre_value_3" descr="1">
                <a:extLst>
                  <a:ext uri="{FF2B5EF4-FFF2-40B4-BE49-F238E27FC236}">
                    <a16:creationId xmlns:a16="http://schemas.microsoft.com/office/drawing/2014/main" id="{788E407E-35A5-4D4D-A64F-F5857822A8D3}"/>
                  </a:ext>
                </a:extLst>
              </p:cNvPr>
              <p:cNvSpPr>
                <a:spLocks noGrp="1"/>
              </p:cNvSpPr>
              <p:nvPr/>
            </p:nvSpPr>
            <p:spPr>
              <a:xfrm>
                <a:off x="7134225" y="49530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526276"/>
                          </a:solidFill>
                          <a:latin typeface="Cambria Math" panose="02040503050406030204" pitchFamily="18" charset="0"/>
                          <a:ea typeface="Cambria Math"/>
                          <a:cs typeface="Cambria Math"/>
                        </a:rPr>
                        <m:t> </m:t>
                      </m:r>
                      <m:r>
                        <a:rPr lang="en-GB" sz="3000">
                          <a:solidFill>
                            <a:srgbClr val="526276"/>
                          </a:solidFill>
                          <a:latin typeface="Cambria Math"/>
                          <a:ea typeface="Cambria Math"/>
                          <a:cs typeface="Cambria Math"/>
                        </a:rPr>
                        <m:t>1</m:t>
                      </m:r>
                    </m:oMath>
                  </m:oMathPara>
                </a14:m>
                <a:endParaRPr lang="en-GB" sz="3000" dirty="0"/>
              </a:p>
            </p:txBody>
          </p:sp>
        </mc:Choice>
        <mc:Fallback xmlns="">
          <p:sp>
            <p:nvSpPr>
              <p:cNvPr id="53" name="pre_value_3" descr="1">
                <a:extLst>
                  <a:ext uri="{FF2B5EF4-FFF2-40B4-BE49-F238E27FC236}">
                    <a16:creationId xmlns:a16="http://schemas.microsoft.com/office/drawing/2014/main" id="{788E407E-35A5-4D4D-A64F-F5857822A8D3}"/>
                  </a:ext>
                </a:extLst>
              </p:cNvPr>
              <p:cNvSpPr>
                <a:spLocks noGrp="1" noRot="1" noChangeAspect="1" noMove="1" noResize="1" noEditPoints="1" noAdjustHandles="1" noChangeArrowheads="1" noChangeShapeType="1" noTextEdit="1"/>
              </p:cNvSpPr>
              <p:nvPr/>
            </p:nvSpPr>
            <p:spPr>
              <a:xfrm>
                <a:off x="7134225" y="4953000"/>
                <a:ext cx="952500" cy="952500"/>
              </a:xfrm>
              <a:prstGeom prst="rect">
                <a:avLst/>
              </a:prstGeom>
              <a:blipFill>
                <a:blip r:embed="rId24"/>
                <a:stretch>
                  <a:fillRect/>
                </a:stretch>
              </a:blipFill>
              <a:ln w="0">
                <a:noFill/>
              </a:ln>
            </p:spPr>
            <p:txBody>
              <a:bodyPr/>
              <a:lstStyle/>
              <a:p>
                <a:r>
                  <a:rPr lang="it-IT">
                    <a:noFill/>
                  </a:rPr>
                  <a:t> </a:t>
                </a:r>
              </a:p>
            </p:txBody>
          </p:sp>
        </mc:Fallback>
      </mc:AlternateContent>
      <p:sp>
        <p:nvSpPr>
          <p:cNvPr id="54" name="activation_3">
            <a:extLst>
              <a:ext uri="{FF2B5EF4-FFF2-40B4-BE49-F238E27FC236}">
                <a16:creationId xmlns:a16="http://schemas.microsoft.com/office/drawing/2014/main" id="{E843C245-3F77-4869-8F30-9CE1B4E4E959}"/>
              </a:ext>
            </a:extLst>
          </p:cNvPr>
          <p:cNvSpPr>
            <a:spLocks noGrp="1"/>
          </p:cNvSpPr>
          <p:nvPr/>
        </p:nvSpPr>
        <p:spPr>
          <a:xfrm>
            <a:off x="10439400" y="4953000"/>
            <a:ext cx="952500" cy="952500"/>
          </a:xfrm>
          <a:prstGeom prst="ellipse">
            <a:avLst/>
          </a:prstGeom>
          <a:solidFill>
            <a:srgbClr val="EFF8F4"/>
          </a:solidFill>
          <a:ln w="23813">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55" name="activation_value_3" descr="1">
                <a:extLst>
                  <a:ext uri="{FF2B5EF4-FFF2-40B4-BE49-F238E27FC236}">
                    <a16:creationId xmlns:a16="http://schemas.microsoft.com/office/drawing/2014/main" id="{1CBA7D12-B4F2-46C2-A640-7B69129BB4E2}"/>
                  </a:ext>
                </a:extLst>
              </p:cNvPr>
              <p:cNvSpPr>
                <a:spLocks noGrp="1"/>
              </p:cNvSpPr>
              <p:nvPr/>
            </p:nvSpPr>
            <p:spPr>
              <a:xfrm>
                <a:off x="10439400" y="4953000"/>
                <a:ext cx="95250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1</m:t>
                      </m:r>
                    </m:oMath>
                  </m:oMathPara>
                </a14:m>
                <a:endParaRPr lang="en-GB" sz="3000" dirty="0"/>
              </a:p>
            </p:txBody>
          </p:sp>
        </mc:Choice>
        <mc:Fallback xmlns="">
          <p:sp>
            <p:nvSpPr>
              <p:cNvPr id="55" name="activation_value_3" descr="1">
                <a:extLst>
                  <a:ext uri="{FF2B5EF4-FFF2-40B4-BE49-F238E27FC236}">
                    <a16:creationId xmlns:a16="http://schemas.microsoft.com/office/drawing/2014/main" id="{1CBA7D12-B4F2-46C2-A640-7B69129BB4E2}"/>
                  </a:ext>
                </a:extLst>
              </p:cNvPr>
              <p:cNvSpPr>
                <a:spLocks noGrp="1" noRot="1" noChangeAspect="1" noMove="1" noResize="1" noEditPoints="1" noAdjustHandles="1" noChangeArrowheads="1" noChangeShapeType="1" noTextEdit="1"/>
              </p:cNvSpPr>
              <p:nvPr/>
            </p:nvSpPr>
            <p:spPr>
              <a:xfrm>
                <a:off x="10439400" y="4953000"/>
                <a:ext cx="952500" cy="952500"/>
              </a:xfrm>
              <a:prstGeom prst="rect">
                <a:avLst/>
              </a:prstGeom>
              <a:blipFill>
                <a:blip r:embed="rId2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6" name="bias_value_3" descr="+0">
                <a:extLst>
                  <a:ext uri="{FF2B5EF4-FFF2-40B4-BE49-F238E27FC236}">
                    <a16:creationId xmlns:a16="http://schemas.microsoft.com/office/drawing/2014/main" id="{92AD54D3-3586-4336-9EF0-AA7EBF4D1191}"/>
                  </a:ext>
                </a:extLst>
              </p:cNvPr>
              <p:cNvSpPr>
                <a:spLocks noGrp="1"/>
              </p:cNvSpPr>
              <p:nvPr/>
            </p:nvSpPr>
            <p:spPr>
              <a:xfrm>
                <a:off x="5810250" y="50196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526276"/>
                          </a:solidFill>
                          <a:latin typeface="Cambria Math"/>
                          <a:ea typeface="Cambria Math"/>
                          <a:cs typeface="Cambria Math"/>
                        </a:rPr>
                        <m:t>+0</m:t>
                      </m:r>
                    </m:oMath>
                  </m:oMathPara>
                </a14:m>
                <a:endParaRPr lang="en-GB" sz="2300"/>
              </a:p>
            </p:txBody>
          </p:sp>
        </mc:Choice>
        <mc:Fallback xmlns="">
          <p:sp>
            <p:nvSpPr>
              <p:cNvPr id="56" name="bias_value_3" descr="+0">
                <a:extLst>
                  <a:ext uri="{FF2B5EF4-FFF2-40B4-BE49-F238E27FC236}">
                    <a16:creationId xmlns:a16="http://schemas.microsoft.com/office/drawing/2014/main" id="{92AD54D3-3586-4336-9EF0-AA7EBF4D1191}"/>
                  </a:ext>
                </a:extLst>
              </p:cNvPr>
              <p:cNvSpPr>
                <a:spLocks noGrp="1" noRot="1" noChangeAspect="1" noMove="1" noResize="1" noEditPoints="1" noAdjustHandles="1" noChangeArrowheads="1" noChangeShapeType="1" noTextEdit="1"/>
              </p:cNvSpPr>
              <p:nvPr/>
            </p:nvSpPr>
            <p:spPr>
              <a:xfrm>
                <a:off x="5810250" y="5019675"/>
                <a:ext cx="1000125" cy="352425"/>
              </a:xfrm>
              <a:prstGeom prst="rect">
                <a:avLst/>
              </a:prstGeom>
              <a:blipFill>
                <a:blip r:embed="rId16"/>
                <a:stretch>
                  <a:fillRect b="-10345"/>
                </a:stretch>
              </a:blipFill>
              <a:ln w="0">
                <a:noFill/>
              </a:ln>
            </p:spPr>
            <p:txBody>
              <a:bodyPr/>
              <a:lstStyle/>
              <a:p>
                <a:r>
                  <a:rPr lang="it-IT">
                    <a:noFill/>
                  </a:rPr>
                  <a:t> </a:t>
                </a:r>
              </a:p>
            </p:txBody>
          </p:sp>
        </mc:Fallback>
      </mc:AlternateContent>
      <p:sp>
        <p:nvSpPr>
          <p:cNvPr id="57" name="relu_label_3">
            <a:extLst>
              <a:ext uri="{FF2B5EF4-FFF2-40B4-BE49-F238E27FC236}">
                <a16:creationId xmlns:a16="http://schemas.microsoft.com/office/drawing/2014/main" id="{CEEF6CA7-4A55-4F9E-8199-B379A3BBB7AE}"/>
              </a:ext>
            </a:extLst>
          </p:cNvPr>
          <p:cNvSpPr>
            <a:spLocks noGrp="1"/>
          </p:cNvSpPr>
          <p:nvPr/>
        </p:nvSpPr>
        <p:spPr>
          <a:xfrm>
            <a:off x="8639175" y="5019675"/>
            <a:ext cx="1238250" cy="352425"/>
          </a:xfrm>
          <a:prstGeom prst="rect">
            <a:avLst/>
          </a:prstGeom>
          <a:noFill/>
          <a:ln w="0">
            <a:noFill/>
          </a:ln>
        </p:spPr>
        <p:txBody>
          <a:bodyPr anchor="ctr">
            <a:noAutofit/>
          </a:bodyPr>
          <a:lstStyle/>
          <a:p>
            <a:pPr algn="ctr">
              <a:defRPr sz="1875" b="0">
                <a:solidFill>
                  <a:srgbClr val="087F83"/>
                </a:solidFill>
                <a:latin typeface="DejaVu Sans"/>
                <a:ea typeface="DejaVu Sans"/>
                <a:cs typeface="DejaVu Sans"/>
              </a:defRPr>
            </a:pPr>
            <a:r>
              <a:rPr sz="1875" b="0">
                <a:solidFill>
                  <a:srgbClr val="087F83"/>
                </a:solidFill>
                <a:latin typeface="DejaVu Sans"/>
                <a:ea typeface="DejaVu Sans"/>
                <a:cs typeface="DejaVu Sans"/>
              </a:rPr>
              <a:t>ReLU</a:t>
            </a:r>
          </a:p>
        </p:txBody>
      </p:sp>
      <p:sp xmlns:a14="http://schemas.microsoft.com/office/drawing/2010/main">
        <p:nvSpPr>
          <p:cNvPr id="58" name="result_row" descr="(\phi_1((1,2)),\phi_2((1,2)),\phi_3((1,2)))=(0,3,1)">
            <a:extLst>
              <a:ext uri="{FF2B5EF4-FFF2-40B4-BE49-F238E27FC236}">
                <a16:creationId xmlns:a16="http://schemas.microsoft.com/office/drawing/2014/main" id="{383503D8-A6C4-4F72-BDBB-FEF09031A8C3}"/>
              </a:ext>
            </a:extLst>
          </p:cNvPr>
          <p:cNvSpPr>
            <a:spLocks noGrp="1"/>
          </p:cNvSpPr>
          <p:nvPr/>
        </p:nvSpPr>
        <p:spPr>
          <a:xfrm>
            <a:off x="476250" y="6029325"/>
            <a:ext cx="11239500" cy="4953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it-IT" sz="2800" b="0" i="0" smtClean="0">
                          <a:solidFill>
                            <a:srgbClr val="087F83"/>
                          </a:solidFill>
                          <a:latin typeface="Cambria Math" panose="02040503050406030204" pitchFamily="18" charset="0"/>
                          <a:ea typeface="Cambria Math"/>
                          <a:cs typeface="Cambria Math"/>
                        </a:rPr>
                      </m:ctrlPr>
                    </m:dPr>
                    <m:e>
                      <m:r>
                        <m:rPr>
                          <m:sty m:val="p"/>
                        </m:rPr>
                        <a:rPr lang="it-IT" sz="2800" b="0" i="0" smtClean="0">
                          <a:solidFill>
                            <a:srgbClr val="087F83"/>
                          </a:solidFill>
                          <a:latin typeface="Cambria Math" panose="02040503050406030204" pitchFamily="18" charset="0"/>
                          <a:ea typeface="Cambria Math"/>
                          <a:cs typeface="Cambria Math"/>
                        </a:rPr>
                        <m:t>ReLU</m:t>
                      </m:r>
                      <m:d>
                        <m:dPr>
                          <m:ctrlPr>
                            <a:rPr lang="en-GB" sz="2800" i="1">
                              <a:solidFill>
                                <a:srgbClr val="087F83"/>
                              </a:solidFill>
                              <a:latin typeface="Cambria Math" panose="02040503050406030204" pitchFamily="18" charset="0"/>
                              <a:ea typeface="Cambria Math"/>
                              <a:cs typeface="Cambria Math"/>
                            </a:rPr>
                          </m:ctrlPr>
                        </m:dPr>
                        <m:e>
                          <m:sSub>
                            <m:sSubPr>
                              <m:ctrlPr>
                                <a:rPr lang="en-GB" sz="2800" i="1">
                                  <a:solidFill>
                                    <a:srgbClr val="087F83"/>
                                  </a:solidFill>
                                  <a:latin typeface="Cambria Math" panose="02040503050406030204" pitchFamily="18" charset="0"/>
                                  <a:ea typeface="Cambria Math"/>
                                  <a:cs typeface="Cambria Math"/>
                                </a:rPr>
                              </m:ctrlPr>
                            </m:sSubPr>
                            <m:e>
                              <m:d>
                                <m:dPr>
                                  <m:begChr m:val="["/>
                                  <m:endChr m:val="]"/>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𝐱𝐖</m:t>
                                  </m:r>
                                  <m:r>
                                    <a:rPr lang="it-IT" sz="2800">
                                      <a:solidFill>
                                        <a:srgbClr val="087F83"/>
                                      </a:solidFill>
                                      <a:latin typeface="Cambria Math" panose="02040503050406030204" pitchFamily="18" charset="0"/>
                                      <a:ea typeface="Cambria Math"/>
                                      <a:cs typeface="Cambria Math"/>
                                    </a:rPr>
                                    <m:t>+</m:t>
                                  </m:r>
                                  <m:r>
                                    <a:rPr lang="en-GB" sz="2800">
                                      <a:solidFill>
                                        <a:srgbClr val="087F83"/>
                                      </a:solidFill>
                                      <a:latin typeface="Cambria Math"/>
                                      <a:ea typeface="Cambria Math"/>
                                      <a:cs typeface="Cambria Math"/>
                                    </a:rPr>
                                    <m:t>𝐛</m:t>
                                  </m:r>
                                </m:e>
                              </m:d>
                            </m:e>
                            <m:sub>
                              <m:r>
                                <a:rPr lang="it-IT" sz="2800" b="0" i="1" smtClean="0">
                                  <a:solidFill>
                                    <a:srgbClr val="087F83"/>
                                  </a:solidFill>
                                  <a:latin typeface="Cambria Math" panose="02040503050406030204" pitchFamily="18" charset="0"/>
                                  <a:ea typeface="Cambria Math"/>
                                </a:rPr>
                                <m:t>1</m:t>
                              </m:r>
                            </m:sub>
                          </m:sSub>
                        </m:e>
                      </m:d>
                      <m:r>
                        <a:rPr lang="en-GB" sz="2800">
                          <a:solidFill>
                            <a:srgbClr val="087F83"/>
                          </a:solidFill>
                          <a:latin typeface="Cambria Math"/>
                          <a:ea typeface="Cambria Math"/>
                          <a:cs typeface="Cambria Math"/>
                        </a:rPr>
                        <m:t>,</m:t>
                      </m:r>
                      <m:r>
                        <m:rPr>
                          <m:sty m:val="p"/>
                        </m:rPr>
                        <a:rPr lang="it-IT" sz="2800">
                          <a:solidFill>
                            <a:srgbClr val="087F83"/>
                          </a:solidFill>
                          <a:latin typeface="Cambria Math" panose="02040503050406030204" pitchFamily="18" charset="0"/>
                          <a:ea typeface="Cambria Math"/>
                          <a:cs typeface="Cambria Math"/>
                        </a:rPr>
                        <m:t>ReLU</m:t>
                      </m:r>
                      <m:d>
                        <m:dPr>
                          <m:ctrlPr>
                            <a:rPr lang="en-GB" sz="2800" i="1">
                              <a:solidFill>
                                <a:srgbClr val="087F83"/>
                              </a:solidFill>
                              <a:latin typeface="Cambria Math" panose="02040503050406030204" pitchFamily="18" charset="0"/>
                              <a:ea typeface="Cambria Math"/>
                              <a:cs typeface="Cambria Math"/>
                            </a:rPr>
                          </m:ctrlPr>
                        </m:dPr>
                        <m:e>
                          <m:sSub>
                            <m:sSubPr>
                              <m:ctrlPr>
                                <a:rPr lang="en-GB" sz="2800" i="1">
                                  <a:solidFill>
                                    <a:srgbClr val="087F83"/>
                                  </a:solidFill>
                                  <a:latin typeface="Cambria Math" panose="02040503050406030204" pitchFamily="18" charset="0"/>
                                  <a:ea typeface="Cambria Math"/>
                                  <a:cs typeface="Cambria Math"/>
                                </a:rPr>
                              </m:ctrlPr>
                            </m:sSubPr>
                            <m:e>
                              <m:d>
                                <m:dPr>
                                  <m:begChr m:val="["/>
                                  <m:endChr m:val="]"/>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𝐱𝐖</m:t>
                                  </m:r>
                                  <m:r>
                                    <a:rPr lang="it-IT" sz="2800">
                                      <a:solidFill>
                                        <a:srgbClr val="087F83"/>
                                      </a:solidFill>
                                      <a:latin typeface="Cambria Math" panose="02040503050406030204" pitchFamily="18" charset="0"/>
                                      <a:ea typeface="Cambria Math"/>
                                      <a:cs typeface="Cambria Math"/>
                                    </a:rPr>
                                    <m:t>+</m:t>
                                  </m:r>
                                  <m:r>
                                    <a:rPr lang="en-GB" sz="2800">
                                      <a:solidFill>
                                        <a:srgbClr val="087F83"/>
                                      </a:solidFill>
                                      <a:latin typeface="Cambria Math"/>
                                      <a:ea typeface="Cambria Math"/>
                                      <a:cs typeface="Cambria Math"/>
                                    </a:rPr>
                                    <m:t>𝐛</m:t>
                                  </m:r>
                                </m:e>
                              </m:d>
                            </m:e>
                            <m:sub>
                              <m:r>
                                <a:rPr lang="it-IT" sz="2800" b="0" i="1" smtClean="0">
                                  <a:solidFill>
                                    <a:srgbClr val="087F83"/>
                                  </a:solidFill>
                                  <a:latin typeface="Cambria Math" panose="02040503050406030204" pitchFamily="18" charset="0"/>
                                  <a:ea typeface="Cambria Math"/>
                                </a:rPr>
                                <m:t>2</m:t>
                              </m:r>
                            </m:sub>
                          </m:sSub>
                        </m:e>
                      </m:d>
                      <m:r>
                        <a:rPr lang="en-GB" sz="2800">
                          <a:solidFill>
                            <a:srgbClr val="087F83"/>
                          </a:solidFill>
                          <a:latin typeface="Cambria Math"/>
                          <a:ea typeface="Cambria Math"/>
                          <a:cs typeface="Cambria Math"/>
                        </a:rPr>
                        <m:t>,</m:t>
                      </m:r>
                      <m:r>
                        <m:rPr>
                          <m:sty m:val="p"/>
                        </m:rPr>
                        <a:rPr lang="it-IT" sz="2800">
                          <a:solidFill>
                            <a:srgbClr val="087F83"/>
                          </a:solidFill>
                          <a:latin typeface="Cambria Math" panose="02040503050406030204" pitchFamily="18" charset="0"/>
                          <a:ea typeface="Cambria Math"/>
                          <a:cs typeface="Cambria Math"/>
                        </a:rPr>
                        <m:t>ReLU</m:t>
                      </m:r>
                      <m:d>
                        <m:dPr>
                          <m:ctrlPr>
                            <a:rPr lang="en-GB" sz="2800" i="1">
                              <a:solidFill>
                                <a:srgbClr val="087F83"/>
                              </a:solidFill>
                              <a:latin typeface="Cambria Math" panose="02040503050406030204" pitchFamily="18" charset="0"/>
                              <a:ea typeface="Cambria Math"/>
                              <a:cs typeface="Cambria Math"/>
                            </a:rPr>
                          </m:ctrlPr>
                        </m:dPr>
                        <m:e>
                          <m:sSub>
                            <m:sSubPr>
                              <m:ctrlPr>
                                <a:rPr lang="en-GB" sz="2800" i="1">
                                  <a:solidFill>
                                    <a:srgbClr val="087F83"/>
                                  </a:solidFill>
                                  <a:latin typeface="Cambria Math" panose="02040503050406030204" pitchFamily="18" charset="0"/>
                                  <a:ea typeface="Cambria Math"/>
                                  <a:cs typeface="Cambria Math"/>
                                </a:rPr>
                              </m:ctrlPr>
                            </m:sSubPr>
                            <m:e>
                              <m:d>
                                <m:dPr>
                                  <m:begChr m:val="["/>
                                  <m:endChr m:val="]"/>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𝐱𝐖</m:t>
                                  </m:r>
                                  <m:r>
                                    <a:rPr lang="it-IT" sz="2800">
                                      <a:solidFill>
                                        <a:srgbClr val="087F83"/>
                                      </a:solidFill>
                                      <a:latin typeface="Cambria Math" panose="02040503050406030204" pitchFamily="18" charset="0"/>
                                      <a:ea typeface="Cambria Math"/>
                                      <a:cs typeface="Cambria Math"/>
                                    </a:rPr>
                                    <m:t>+</m:t>
                                  </m:r>
                                  <m:r>
                                    <a:rPr lang="en-GB" sz="2800">
                                      <a:solidFill>
                                        <a:srgbClr val="087F83"/>
                                      </a:solidFill>
                                      <a:latin typeface="Cambria Math"/>
                                      <a:ea typeface="Cambria Math"/>
                                      <a:cs typeface="Cambria Math"/>
                                    </a:rPr>
                                    <m:t>𝐛</m:t>
                                  </m:r>
                                </m:e>
                              </m:d>
                            </m:e>
                            <m:sub>
                              <m:r>
                                <a:rPr lang="it-IT" sz="2800" i="1">
                                  <a:solidFill>
                                    <a:srgbClr val="087F83"/>
                                  </a:solidFill>
                                  <a:latin typeface="Cambria Math" panose="02040503050406030204" pitchFamily="18" charset="0"/>
                                  <a:ea typeface="Cambria Math"/>
                                </a:rPr>
                                <m:t>3</m:t>
                              </m:r>
                            </m:sub>
                          </m:sSub>
                        </m:e>
                      </m:d>
                    </m:e>
                  </m:d>
                  <m:r>
                    <a:rPr lang="en-GB" sz="2800">
                      <a:solidFill>
                        <a:srgbClr val="087F83"/>
                      </a:solidFill>
                      <a:latin typeface="Cambria Math"/>
                      <a:ea typeface="Cambria Math"/>
                      <a:cs typeface="Cambria Math"/>
                    </a:rPr>
                    <m:t>=</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0,3,1</m:t>
                      </m:r>
                    </m:e>
                  </m:d>
                </m:oMath>
              </m:oMathPara>
            </a14:m>
            <a:endParaRPr lang="en-GB" sz="2800" dirty="0"/>
          </a:p>
        </p:txBody>
      </p:sp>
      <p:sp>
        <p:nvSpPr>
          <p:cNvPr id="59" name="footer_course">
            <a:extLst>
              <a:ext uri="{FF2B5EF4-FFF2-40B4-BE49-F238E27FC236}">
                <a16:creationId xmlns:a16="http://schemas.microsoft.com/office/drawing/2014/main" id="{986316D5-CCFA-4358-9828-831934A45439}"/>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60" name="footer_number">
            <a:extLst>
              <a:ext uri="{FF2B5EF4-FFF2-40B4-BE49-F238E27FC236}">
                <a16:creationId xmlns:a16="http://schemas.microsoft.com/office/drawing/2014/main" id="{0C178C20-FDF0-48D5-8EC9-E9DED1346B22}"/>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12</a:t>
            </a:r>
          </a:p>
        </p:txBody>
      </p:sp>
    </p:spTree>
    <p:extLst>
      <p:ext uri="{BB962C8B-B14F-4D97-AF65-F5344CB8AC3E}">
        <p14:creationId xmlns:p14="http://schemas.microsoft.com/office/powerpoint/2010/main" val="978868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CB15FB8-A3DC-49E9-B95F-7746989EA3C9}"/>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a:solidFill>
                  <a:srgbClr val="182D45"/>
                </a:solidFill>
                <a:latin typeface="DejaVu Sans"/>
                <a:ea typeface="DejaVu Sans"/>
                <a:cs typeface="DejaVu Sans"/>
              </a:rPr>
              <a:t>A first </a:t>
            </a:r>
            <a:r>
              <a:rPr lang="it-IT" sz="3300" b="1" dirty="0" err="1">
                <a:solidFill>
                  <a:srgbClr val="182D45"/>
                </a:solidFill>
                <a:latin typeface="DejaVu Sans"/>
                <a:ea typeface="DejaVu Sans"/>
                <a:cs typeface="DejaVu Sans"/>
              </a:rPr>
              <a:t>example</a:t>
            </a:r>
            <a:r>
              <a:rPr lang="it-IT" sz="3300" b="1" dirty="0">
                <a:solidFill>
                  <a:srgbClr val="182D45"/>
                </a:solidFill>
                <a:latin typeface="DejaVu Sans"/>
                <a:ea typeface="DejaVu Sans"/>
                <a:cs typeface="DejaVu Sans"/>
              </a:rPr>
              <a:t> – the output</a:t>
            </a:r>
          </a:p>
        </p:txBody>
      </p:sp>
      <p:sp>
        <p:nvSpPr>
          <p:cNvPr id="5" name="activation_heading">
            <a:extLst>
              <a:ext uri="{FF2B5EF4-FFF2-40B4-BE49-F238E27FC236}">
                <a16:creationId xmlns:a16="http://schemas.microsoft.com/office/drawing/2014/main" id="{EA67880A-55BD-454D-82A3-C3A3D3E2A002}"/>
              </a:ext>
            </a:extLst>
          </p:cNvPr>
          <p:cNvSpPr>
            <a:spLocks noGrp="1"/>
          </p:cNvSpPr>
          <p:nvPr/>
        </p:nvSpPr>
        <p:spPr>
          <a:xfrm>
            <a:off x="571500" y="1943100"/>
            <a:ext cx="3238500" cy="381000"/>
          </a:xfrm>
          <a:prstGeom prst="rect">
            <a:avLst/>
          </a:prstGeom>
          <a:noFill/>
          <a:ln w="0">
            <a:noFill/>
          </a:ln>
        </p:spPr>
        <p:txBody>
          <a:bodyPr anchor="ctr">
            <a:noAutofit/>
          </a:bodyPr>
          <a:lstStyle/>
          <a:p>
            <a:pPr algn="ctr">
              <a:defRPr sz="1875" b="1">
                <a:solidFill>
                  <a:srgbClr val="087F83"/>
                </a:solidFill>
                <a:latin typeface="DejaVu Sans"/>
                <a:ea typeface="DejaVu Sans"/>
                <a:cs typeface="DejaVu Sans"/>
              </a:defRPr>
            </a:pPr>
            <a:r>
              <a:rPr lang="it-IT" sz="1875" b="1" dirty="0" err="1">
                <a:solidFill>
                  <a:srgbClr val="087F83"/>
                </a:solidFill>
                <a:latin typeface="DejaVu Sans"/>
                <a:ea typeface="DejaVu Sans"/>
                <a:cs typeface="DejaVu Sans"/>
              </a:rPr>
              <a:t>Activations</a:t>
            </a:r>
            <a:endParaRPr sz="1875" b="1" dirty="0">
              <a:solidFill>
                <a:srgbClr val="087F83"/>
              </a:solidFill>
              <a:latin typeface="DejaVu Sans"/>
              <a:ea typeface="DejaVu Sans"/>
              <a:cs typeface="DejaVu Sans"/>
            </a:endParaRPr>
          </a:p>
        </p:txBody>
      </p:sp>
      <p:sp>
        <p:nvSpPr>
          <p:cNvPr id="6" name="sum_heading">
            <a:extLst>
              <a:ext uri="{FF2B5EF4-FFF2-40B4-BE49-F238E27FC236}">
                <a16:creationId xmlns:a16="http://schemas.microsoft.com/office/drawing/2014/main" id="{E4D88998-F393-411B-BBDD-CB731F7F43AB}"/>
              </a:ext>
            </a:extLst>
          </p:cNvPr>
          <p:cNvSpPr>
            <a:spLocks noGrp="1"/>
          </p:cNvSpPr>
          <p:nvPr/>
        </p:nvSpPr>
        <p:spPr>
          <a:xfrm>
            <a:off x="5715000" y="1943100"/>
            <a:ext cx="26670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dirty="0">
                <a:solidFill>
                  <a:srgbClr val="182D45"/>
                </a:solidFill>
                <a:latin typeface="DejaVu Sans"/>
                <a:ea typeface="DejaVu Sans"/>
                <a:cs typeface="DejaVu Sans"/>
              </a:rPr>
              <a:t>Weighted sum</a:t>
            </a:r>
          </a:p>
        </p:txBody>
      </p:sp>
      <p:sp>
        <p:nvSpPr>
          <p:cNvPr id="7" name="output_heading">
            <a:extLst>
              <a:ext uri="{FF2B5EF4-FFF2-40B4-BE49-F238E27FC236}">
                <a16:creationId xmlns:a16="http://schemas.microsoft.com/office/drawing/2014/main" id="{B20C2B9D-9F55-426C-8B56-1CF97BC5DEEF}"/>
              </a:ext>
            </a:extLst>
          </p:cNvPr>
          <p:cNvSpPr>
            <a:spLocks noGrp="1"/>
          </p:cNvSpPr>
          <p:nvPr/>
        </p:nvSpPr>
        <p:spPr>
          <a:xfrm>
            <a:off x="9334500" y="1943100"/>
            <a:ext cx="2286000" cy="381000"/>
          </a:xfrm>
          <a:prstGeom prst="rect">
            <a:avLst/>
          </a:prstGeom>
          <a:noFill/>
          <a:ln w="0">
            <a:noFill/>
          </a:ln>
        </p:spPr>
        <p:txBody>
          <a:bodyPr anchor="ctr">
            <a:noAutofit/>
          </a:bodyPr>
          <a:lstStyle/>
          <a:p>
            <a:pPr algn="ctr">
              <a:defRPr sz="1875" b="1">
                <a:solidFill>
                  <a:srgbClr val="C45C28"/>
                </a:solidFill>
                <a:latin typeface="DejaVu Sans"/>
                <a:ea typeface="DejaVu Sans"/>
                <a:cs typeface="DejaVu Sans"/>
              </a:defRPr>
            </a:pPr>
            <a:r>
              <a:rPr sz="1875" b="1">
                <a:solidFill>
                  <a:srgbClr val="C45C28"/>
                </a:solidFill>
                <a:latin typeface="DejaVu Sans"/>
                <a:ea typeface="DejaVu Sans"/>
                <a:cs typeface="DejaVu Sans"/>
              </a:rPr>
              <a:t>Output</a:t>
            </a:r>
          </a:p>
        </p:txBody>
      </p:sp>
      <p:sp>
        <p:nvSpPr>
          <p:cNvPr id="8" name="output_weight_edge_1">
            <a:extLst>
              <a:ext uri="{FF2B5EF4-FFF2-40B4-BE49-F238E27FC236}">
                <a16:creationId xmlns:a16="http://schemas.microsoft.com/office/drawing/2014/main" id="{C9ABD7B6-31B2-4839-B516-74D38CCED4C3}"/>
              </a:ext>
            </a:extLst>
          </p:cNvPr>
          <p:cNvSpPr>
            <a:spLocks noGrp="1"/>
          </p:cNvSpPr>
          <p:nvPr/>
        </p:nvSpPr>
        <p:spPr>
          <a:xfrm>
            <a:off x="2647950" y="2857500"/>
            <a:ext cx="3400425" cy="1238250"/>
          </a:xfrm>
          <a:prstGeom prst="line">
            <a:avLst/>
          </a:prstGeom>
          <a:noFill/>
          <a:ln w="17145">
            <a:solidFill>
              <a:srgbClr val="B6C2CD"/>
            </a:solidFill>
          </a:ln>
        </p:spPr>
        <p:txBody>
          <a:bodyPr/>
          <a:lstStyle/>
          <a:p>
            <a:endParaRPr lang="it-IT"/>
          </a:p>
        </p:txBody>
      </p:sp>
      <p:sp>
        <p:nvSpPr>
          <p:cNvPr id="9" name="output_weight_edge_2">
            <a:extLst>
              <a:ext uri="{FF2B5EF4-FFF2-40B4-BE49-F238E27FC236}">
                <a16:creationId xmlns:a16="http://schemas.microsoft.com/office/drawing/2014/main" id="{A854ECB1-7B18-4223-87D9-F4E8C412C900}"/>
              </a:ext>
            </a:extLst>
          </p:cNvPr>
          <p:cNvSpPr>
            <a:spLocks noGrp="1"/>
          </p:cNvSpPr>
          <p:nvPr/>
        </p:nvSpPr>
        <p:spPr>
          <a:xfrm>
            <a:off x="2647950" y="4095750"/>
            <a:ext cx="3400425" cy="953"/>
          </a:xfrm>
          <a:prstGeom prst="line">
            <a:avLst/>
          </a:prstGeom>
          <a:noFill/>
          <a:ln w="17145">
            <a:solidFill>
              <a:srgbClr val="B6C2CD"/>
            </a:solidFill>
          </a:ln>
        </p:spPr>
        <p:txBody>
          <a:bodyPr/>
          <a:lstStyle/>
          <a:p>
            <a:endParaRPr lang="it-IT"/>
          </a:p>
        </p:txBody>
      </p:sp>
      <p:sp>
        <p:nvSpPr>
          <p:cNvPr id="10" name="output_weight_edge_3">
            <a:extLst>
              <a:ext uri="{FF2B5EF4-FFF2-40B4-BE49-F238E27FC236}">
                <a16:creationId xmlns:a16="http://schemas.microsoft.com/office/drawing/2014/main" id="{CEA5086B-DEE1-4D3B-882E-444E6B7FE293}"/>
              </a:ext>
            </a:extLst>
          </p:cNvPr>
          <p:cNvSpPr>
            <a:spLocks noGrp="1"/>
          </p:cNvSpPr>
          <p:nvPr/>
        </p:nvSpPr>
        <p:spPr>
          <a:xfrm flipV="1">
            <a:off x="2647950" y="4095750"/>
            <a:ext cx="3400425" cy="1238250"/>
          </a:xfrm>
          <a:prstGeom prst="line">
            <a:avLst/>
          </a:prstGeom>
          <a:noFill/>
          <a:ln w="17145">
            <a:solidFill>
              <a:srgbClr val="B6C2CD"/>
            </a:solidFill>
          </a:ln>
        </p:spPr>
        <p:txBody>
          <a:bodyPr/>
          <a:lstStyle/>
          <a:p>
            <a:endParaRPr lang="it-IT"/>
          </a:p>
        </p:txBody>
      </p:sp>
      <p:sp>
        <p:nvSpPr>
          <p:cNvPr id="11" name="output_bias_edge">
            <a:extLst>
              <a:ext uri="{FF2B5EF4-FFF2-40B4-BE49-F238E27FC236}">
                <a16:creationId xmlns:a16="http://schemas.microsoft.com/office/drawing/2014/main" id="{47676BDE-EF09-4ACF-8C63-E076614F0498}"/>
              </a:ext>
            </a:extLst>
          </p:cNvPr>
          <p:cNvSpPr>
            <a:spLocks noGrp="1"/>
          </p:cNvSpPr>
          <p:nvPr/>
        </p:nvSpPr>
        <p:spPr>
          <a:xfrm>
            <a:off x="8048625" y="4095750"/>
            <a:ext cx="1895475" cy="953"/>
          </a:xfrm>
          <a:prstGeom prst="line">
            <a:avLst/>
          </a:prstGeom>
          <a:noFill/>
          <a:ln w="21908">
            <a:solidFill>
              <a:srgbClr val="C45C28"/>
            </a:solidFill>
            <a:tailEnd type="triangle" w="sm" len="sm"/>
          </a:ln>
        </p:spPr>
        <p:txBody>
          <a:bodyPr/>
          <a:lstStyle/>
          <a:p>
            <a:endParaRPr lang="it-IT"/>
          </a:p>
        </p:txBody>
      </p:sp>
      <p:sp>
        <p:nvSpPr>
          <p:cNvPr id="12" name="activation_1">
            <a:extLst>
              <a:ext uri="{FF2B5EF4-FFF2-40B4-BE49-F238E27FC236}">
                <a16:creationId xmlns:a16="http://schemas.microsoft.com/office/drawing/2014/main" id="{075A76ED-3166-41C9-AF91-DEF531474340}"/>
              </a:ext>
            </a:extLst>
          </p:cNvPr>
          <p:cNvSpPr>
            <a:spLocks noGrp="1"/>
          </p:cNvSpPr>
          <p:nvPr/>
        </p:nvSpPr>
        <p:spPr>
          <a:xfrm>
            <a:off x="1733550" y="2400300"/>
            <a:ext cx="914400" cy="914400"/>
          </a:xfrm>
          <a:prstGeom prst="ellipse">
            <a:avLst/>
          </a:prstGeom>
          <a:solidFill>
            <a:srgbClr val="EFF8F4"/>
          </a:solidFill>
          <a:ln w="19050">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13" name="activation_math_1" descr="0">
                <a:extLst>
                  <a:ext uri="{FF2B5EF4-FFF2-40B4-BE49-F238E27FC236}">
                    <a16:creationId xmlns:a16="http://schemas.microsoft.com/office/drawing/2014/main" id="{E74E18CE-EB3D-49BD-B7C1-4DF3E6DD799B}"/>
                  </a:ext>
                </a:extLst>
              </p:cNvPr>
              <p:cNvSpPr>
                <a:spLocks noGrp="1"/>
              </p:cNvSpPr>
              <p:nvPr/>
            </p:nvSpPr>
            <p:spPr>
              <a:xfrm>
                <a:off x="1733550" y="24003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0</m:t>
                      </m:r>
                    </m:oMath>
                  </m:oMathPara>
                </a14:m>
                <a:endParaRPr lang="en-GB" sz="3000" dirty="0"/>
              </a:p>
            </p:txBody>
          </p:sp>
        </mc:Choice>
        <mc:Fallback xmlns="">
          <p:sp>
            <p:nvSpPr>
              <p:cNvPr id="13" name="activation_math_1" descr="0">
                <a:extLst>
                  <a:ext uri="{FF2B5EF4-FFF2-40B4-BE49-F238E27FC236}">
                    <a16:creationId xmlns:a16="http://schemas.microsoft.com/office/drawing/2014/main" id="{E74E18CE-EB3D-49BD-B7C1-4DF3E6DD799B}"/>
                  </a:ext>
                </a:extLst>
              </p:cNvPr>
              <p:cNvSpPr>
                <a:spLocks noGrp="1" noRot="1" noChangeAspect="1" noMove="1" noResize="1" noEditPoints="1" noAdjustHandles="1" noChangeArrowheads="1" noChangeShapeType="1" noTextEdit="1"/>
              </p:cNvSpPr>
              <p:nvPr/>
            </p:nvSpPr>
            <p:spPr>
              <a:xfrm>
                <a:off x="1733550" y="2400300"/>
                <a:ext cx="914400" cy="91440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 name="output_weight_label_1" descr="2">
                <a:extLst>
                  <a:ext uri="{FF2B5EF4-FFF2-40B4-BE49-F238E27FC236}">
                    <a16:creationId xmlns:a16="http://schemas.microsoft.com/office/drawing/2014/main" id="{BC9127B3-13AB-4F84-AF86-F22664F16F0E}"/>
                  </a:ext>
                </a:extLst>
              </p:cNvPr>
              <p:cNvSpPr>
                <a:spLocks noGrp="1"/>
              </p:cNvSpPr>
              <p:nvPr/>
            </p:nvSpPr>
            <p:spPr>
              <a:xfrm>
                <a:off x="3695700" y="3088006"/>
                <a:ext cx="990600" cy="4191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182D45"/>
                          </a:solidFill>
                          <a:latin typeface="Cambria Math"/>
                          <a:ea typeface="Cambria Math"/>
                          <a:cs typeface="Cambria Math"/>
                        </a:rPr>
                        <m:t>2</m:t>
                      </m:r>
                    </m:oMath>
                  </m:oMathPara>
                </a14:m>
                <a:endParaRPr lang="en-GB" sz="2500" dirty="0"/>
              </a:p>
            </p:txBody>
          </p:sp>
        </mc:Choice>
        <mc:Fallback xmlns="">
          <p:sp>
            <p:nvSpPr>
              <p:cNvPr id="14" name="output_weight_label_1" descr="2">
                <a:extLst>
                  <a:ext uri="{FF2B5EF4-FFF2-40B4-BE49-F238E27FC236}">
                    <a16:creationId xmlns:a16="http://schemas.microsoft.com/office/drawing/2014/main" id="{BC9127B3-13AB-4F84-AF86-F22664F16F0E}"/>
                  </a:ext>
                </a:extLst>
              </p:cNvPr>
              <p:cNvSpPr>
                <a:spLocks noGrp="1" noRot="1" noChangeAspect="1" noMove="1" noResize="1" noEditPoints="1" noAdjustHandles="1" noChangeArrowheads="1" noChangeShapeType="1" noTextEdit="1"/>
              </p:cNvSpPr>
              <p:nvPr/>
            </p:nvSpPr>
            <p:spPr>
              <a:xfrm>
                <a:off x="3695700" y="3088006"/>
                <a:ext cx="990600" cy="419100"/>
              </a:xfrm>
              <a:prstGeom prst="rect">
                <a:avLst/>
              </a:prstGeom>
              <a:blipFill>
                <a:blip r:embed="rId4"/>
                <a:stretch>
                  <a:fillRect b="-2941"/>
                </a:stretch>
              </a:blipFill>
              <a:ln w="0">
                <a:noFill/>
              </a:ln>
            </p:spPr>
            <p:txBody>
              <a:bodyPr/>
              <a:lstStyle/>
              <a:p>
                <a:r>
                  <a:rPr lang="it-IT">
                    <a:noFill/>
                  </a:rPr>
                  <a:t> </a:t>
                </a:r>
              </a:p>
            </p:txBody>
          </p:sp>
        </mc:Fallback>
      </mc:AlternateContent>
      <p:sp>
        <p:nvSpPr>
          <p:cNvPr id="15" name="activation_2">
            <a:extLst>
              <a:ext uri="{FF2B5EF4-FFF2-40B4-BE49-F238E27FC236}">
                <a16:creationId xmlns:a16="http://schemas.microsoft.com/office/drawing/2014/main" id="{9275E4B8-D4CD-4545-9FF5-6E7BA464CB16}"/>
              </a:ext>
            </a:extLst>
          </p:cNvPr>
          <p:cNvSpPr>
            <a:spLocks noGrp="1"/>
          </p:cNvSpPr>
          <p:nvPr/>
        </p:nvSpPr>
        <p:spPr>
          <a:xfrm>
            <a:off x="1733550" y="3638550"/>
            <a:ext cx="914400" cy="914400"/>
          </a:xfrm>
          <a:prstGeom prst="ellipse">
            <a:avLst/>
          </a:prstGeom>
          <a:solidFill>
            <a:srgbClr val="EFF8F4"/>
          </a:solidFill>
          <a:ln w="19050">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16" name="activation_math_2" descr="3">
                <a:extLst>
                  <a:ext uri="{FF2B5EF4-FFF2-40B4-BE49-F238E27FC236}">
                    <a16:creationId xmlns:a16="http://schemas.microsoft.com/office/drawing/2014/main" id="{17F46BF1-DC0A-4661-94A4-8E4FA23BD668}"/>
                  </a:ext>
                </a:extLst>
              </p:cNvPr>
              <p:cNvSpPr>
                <a:spLocks noGrp="1"/>
              </p:cNvSpPr>
              <p:nvPr/>
            </p:nvSpPr>
            <p:spPr>
              <a:xfrm>
                <a:off x="1733550" y="363855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3</m:t>
                      </m:r>
                    </m:oMath>
                  </m:oMathPara>
                </a14:m>
                <a:endParaRPr lang="en-GB" sz="3000" dirty="0"/>
              </a:p>
            </p:txBody>
          </p:sp>
        </mc:Choice>
        <mc:Fallback xmlns="">
          <p:sp>
            <p:nvSpPr>
              <p:cNvPr id="16" name="activation_math_2" descr="3">
                <a:extLst>
                  <a:ext uri="{FF2B5EF4-FFF2-40B4-BE49-F238E27FC236}">
                    <a16:creationId xmlns:a16="http://schemas.microsoft.com/office/drawing/2014/main" id="{17F46BF1-DC0A-4661-94A4-8E4FA23BD668}"/>
                  </a:ext>
                </a:extLst>
              </p:cNvPr>
              <p:cNvSpPr>
                <a:spLocks noGrp="1" noRot="1" noChangeAspect="1" noMove="1" noResize="1" noEditPoints="1" noAdjustHandles="1" noChangeArrowheads="1" noChangeShapeType="1" noTextEdit="1"/>
              </p:cNvSpPr>
              <p:nvPr/>
            </p:nvSpPr>
            <p:spPr>
              <a:xfrm>
                <a:off x="1733550" y="3638550"/>
                <a:ext cx="914400" cy="9144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 name="output_weight_label_2" descr="-1">
                <a:extLst>
                  <a:ext uri="{FF2B5EF4-FFF2-40B4-BE49-F238E27FC236}">
                    <a16:creationId xmlns:a16="http://schemas.microsoft.com/office/drawing/2014/main" id="{02918B61-E7DE-4D3B-9A2C-EEA9629F095A}"/>
                  </a:ext>
                </a:extLst>
              </p:cNvPr>
              <p:cNvSpPr>
                <a:spLocks noGrp="1"/>
              </p:cNvSpPr>
              <p:nvPr/>
            </p:nvSpPr>
            <p:spPr>
              <a:xfrm>
                <a:off x="3581400" y="3835718"/>
                <a:ext cx="990600" cy="4191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182D45"/>
                          </a:solidFill>
                          <a:latin typeface="Cambria Math"/>
                          <a:ea typeface="Cambria Math"/>
                          <a:cs typeface="Cambria Math"/>
                        </a:rPr>
                        <m:t>−1</m:t>
                      </m:r>
                    </m:oMath>
                  </m:oMathPara>
                </a14:m>
                <a:endParaRPr lang="en-GB" sz="2500" dirty="0"/>
              </a:p>
            </p:txBody>
          </p:sp>
        </mc:Choice>
        <mc:Fallback xmlns="">
          <p:sp>
            <p:nvSpPr>
              <p:cNvPr id="17" name="output_weight_label_2" descr="-1">
                <a:extLst>
                  <a:ext uri="{FF2B5EF4-FFF2-40B4-BE49-F238E27FC236}">
                    <a16:creationId xmlns:a16="http://schemas.microsoft.com/office/drawing/2014/main" id="{02918B61-E7DE-4D3B-9A2C-EEA9629F095A}"/>
                  </a:ext>
                </a:extLst>
              </p:cNvPr>
              <p:cNvSpPr>
                <a:spLocks noGrp="1" noRot="1" noChangeAspect="1" noMove="1" noResize="1" noEditPoints="1" noAdjustHandles="1" noChangeArrowheads="1" noChangeShapeType="1" noTextEdit="1"/>
              </p:cNvSpPr>
              <p:nvPr/>
            </p:nvSpPr>
            <p:spPr>
              <a:xfrm>
                <a:off x="3581400" y="3835718"/>
                <a:ext cx="990600" cy="419100"/>
              </a:xfrm>
              <a:prstGeom prst="rect">
                <a:avLst/>
              </a:prstGeom>
              <a:blipFill>
                <a:blip r:embed="rId6"/>
                <a:stretch>
                  <a:fillRect b="-1449"/>
                </a:stretch>
              </a:blipFill>
              <a:ln w="0">
                <a:noFill/>
              </a:ln>
            </p:spPr>
            <p:txBody>
              <a:bodyPr/>
              <a:lstStyle/>
              <a:p>
                <a:r>
                  <a:rPr lang="it-IT">
                    <a:noFill/>
                  </a:rPr>
                  <a:t> </a:t>
                </a:r>
              </a:p>
            </p:txBody>
          </p:sp>
        </mc:Fallback>
      </mc:AlternateContent>
      <p:sp>
        <p:nvSpPr>
          <p:cNvPr id="18" name="activation_3">
            <a:extLst>
              <a:ext uri="{FF2B5EF4-FFF2-40B4-BE49-F238E27FC236}">
                <a16:creationId xmlns:a16="http://schemas.microsoft.com/office/drawing/2014/main" id="{76602D22-BE4A-4EA0-B57C-FEE992B49880}"/>
              </a:ext>
            </a:extLst>
          </p:cNvPr>
          <p:cNvSpPr>
            <a:spLocks noGrp="1"/>
          </p:cNvSpPr>
          <p:nvPr/>
        </p:nvSpPr>
        <p:spPr>
          <a:xfrm>
            <a:off x="1733550" y="4876800"/>
            <a:ext cx="914400" cy="914400"/>
          </a:xfrm>
          <a:prstGeom prst="ellipse">
            <a:avLst/>
          </a:prstGeom>
          <a:solidFill>
            <a:srgbClr val="EFF8F4"/>
          </a:solidFill>
          <a:ln w="19050">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19" name="activation_math_3" descr="1">
                <a:extLst>
                  <a:ext uri="{FF2B5EF4-FFF2-40B4-BE49-F238E27FC236}">
                    <a16:creationId xmlns:a16="http://schemas.microsoft.com/office/drawing/2014/main" id="{D842BEDE-3001-4577-9577-A18D3FC92FD6}"/>
                  </a:ext>
                </a:extLst>
              </p:cNvPr>
              <p:cNvSpPr>
                <a:spLocks noGrp="1"/>
              </p:cNvSpPr>
              <p:nvPr/>
            </p:nvSpPr>
            <p:spPr>
              <a:xfrm>
                <a:off x="1733550" y="48768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1</m:t>
                      </m:r>
                    </m:oMath>
                  </m:oMathPara>
                </a14:m>
                <a:endParaRPr lang="en-GB" sz="3000" dirty="0"/>
              </a:p>
            </p:txBody>
          </p:sp>
        </mc:Choice>
        <mc:Fallback xmlns="">
          <p:sp>
            <p:nvSpPr>
              <p:cNvPr id="19" name="activation_math_3" descr="1">
                <a:extLst>
                  <a:ext uri="{FF2B5EF4-FFF2-40B4-BE49-F238E27FC236}">
                    <a16:creationId xmlns:a16="http://schemas.microsoft.com/office/drawing/2014/main" id="{D842BEDE-3001-4577-9577-A18D3FC92FD6}"/>
                  </a:ext>
                </a:extLst>
              </p:cNvPr>
              <p:cNvSpPr>
                <a:spLocks noGrp="1" noRot="1" noChangeAspect="1" noMove="1" noResize="1" noEditPoints="1" noAdjustHandles="1" noChangeArrowheads="1" noChangeShapeType="1" noTextEdit="1"/>
              </p:cNvSpPr>
              <p:nvPr/>
            </p:nvSpPr>
            <p:spPr>
              <a:xfrm>
                <a:off x="1733550" y="4876800"/>
                <a:ext cx="914400" cy="91440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 name="output_weight_label_3" descr="\frac12">
                <a:extLst>
                  <a:ext uri="{FF2B5EF4-FFF2-40B4-BE49-F238E27FC236}">
                    <a16:creationId xmlns:a16="http://schemas.microsoft.com/office/drawing/2014/main" id="{3322B156-988A-45C9-A59D-D6FFBBE309EC}"/>
                  </a:ext>
                </a:extLst>
              </p:cNvPr>
              <p:cNvSpPr>
                <a:spLocks noGrp="1"/>
              </p:cNvSpPr>
              <p:nvPr/>
            </p:nvSpPr>
            <p:spPr>
              <a:xfrm>
                <a:off x="3695700" y="4596765"/>
                <a:ext cx="990600" cy="41910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500">
                              <a:solidFill>
                                <a:srgbClr val="182D45"/>
                              </a:solidFill>
                              <a:latin typeface="Cambria Math"/>
                              <a:ea typeface="Cambria Math"/>
                              <a:cs typeface="Cambria Math"/>
                            </a:rPr>
                          </m:ctrlPr>
                        </m:fPr>
                        <m:num>
                          <m:r>
                            <a:rPr lang="en-GB" sz="2500">
                              <a:solidFill>
                                <a:srgbClr val="182D45"/>
                              </a:solidFill>
                              <a:latin typeface="Cambria Math"/>
                              <a:ea typeface="Cambria Math"/>
                              <a:cs typeface="Cambria Math"/>
                            </a:rPr>
                            <m:t>1</m:t>
                          </m:r>
                        </m:num>
                        <m:den>
                          <m:r>
                            <a:rPr lang="en-GB" sz="2500">
                              <a:solidFill>
                                <a:srgbClr val="182D45"/>
                              </a:solidFill>
                              <a:latin typeface="Cambria Math"/>
                              <a:ea typeface="Cambria Math"/>
                              <a:cs typeface="Cambria Math"/>
                            </a:rPr>
                            <m:t>2</m:t>
                          </m:r>
                        </m:den>
                      </m:f>
                    </m:oMath>
                  </m:oMathPara>
                </a14:m>
                <a:endParaRPr lang="en-GB" sz="2500" dirty="0"/>
              </a:p>
            </p:txBody>
          </p:sp>
        </mc:Choice>
        <mc:Fallback xmlns="">
          <p:sp>
            <p:nvSpPr>
              <p:cNvPr id="20" name="output_weight_label_3" descr="\frac12">
                <a:extLst>
                  <a:ext uri="{FF2B5EF4-FFF2-40B4-BE49-F238E27FC236}">
                    <a16:creationId xmlns:a16="http://schemas.microsoft.com/office/drawing/2014/main" id="{3322B156-988A-45C9-A59D-D6FFBBE309EC}"/>
                  </a:ext>
                </a:extLst>
              </p:cNvPr>
              <p:cNvSpPr>
                <a:spLocks noGrp="1" noRot="1" noChangeAspect="1" noMove="1" noResize="1" noEditPoints="1" noAdjustHandles="1" noChangeArrowheads="1" noChangeShapeType="1" noTextEdit="1"/>
              </p:cNvSpPr>
              <p:nvPr/>
            </p:nvSpPr>
            <p:spPr>
              <a:xfrm>
                <a:off x="3695700" y="4596765"/>
                <a:ext cx="990600" cy="419100"/>
              </a:xfrm>
              <a:prstGeom prst="rect">
                <a:avLst/>
              </a:prstGeom>
              <a:blipFill>
                <a:blip r:embed="rId8"/>
                <a:stretch>
                  <a:fillRect t="-24638" b="-34783"/>
                </a:stretch>
              </a:blipFill>
              <a:ln w="0">
                <a:noFill/>
              </a:ln>
            </p:spPr>
            <p:txBody>
              <a:bodyPr/>
              <a:lstStyle/>
              <a:p>
                <a:r>
                  <a:rPr lang="it-IT">
                    <a:noFill/>
                  </a:rPr>
                  <a:t> </a:t>
                </a:r>
              </a:p>
            </p:txBody>
          </p:sp>
        </mc:Fallback>
      </mc:AlternateContent>
      <p:sp>
        <p:nvSpPr>
          <p:cNvPr id="21" name="weighted_output">
            <a:extLst>
              <a:ext uri="{FF2B5EF4-FFF2-40B4-BE49-F238E27FC236}">
                <a16:creationId xmlns:a16="http://schemas.microsoft.com/office/drawing/2014/main" id="{5FD1198F-1EA5-4999-9751-FE6A8C3743C9}"/>
              </a:ext>
            </a:extLst>
          </p:cNvPr>
          <p:cNvSpPr>
            <a:spLocks noGrp="1"/>
          </p:cNvSpPr>
          <p:nvPr/>
        </p:nvSpPr>
        <p:spPr>
          <a:xfrm>
            <a:off x="6048375" y="3562350"/>
            <a:ext cx="2000250" cy="1066800"/>
          </a:xfrm>
          <a:prstGeom prst="ellipse">
            <a:avLst/>
          </a:prstGeom>
          <a:solidFill>
            <a:srgbClr val="F1F4F7"/>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22" name="weighted_output_math" descr="-\frac52">
                <a:extLst>
                  <a:ext uri="{FF2B5EF4-FFF2-40B4-BE49-F238E27FC236}">
                    <a16:creationId xmlns:a16="http://schemas.microsoft.com/office/drawing/2014/main" id="{32A93C47-065E-453C-BE8F-49675C95F7CB}"/>
                  </a:ext>
                </a:extLst>
              </p:cNvPr>
              <p:cNvSpPr>
                <a:spLocks noGrp="1"/>
              </p:cNvSpPr>
              <p:nvPr/>
            </p:nvSpPr>
            <p:spPr>
              <a:xfrm>
                <a:off x="6048375" y="3562350"/>
                <a:ext cx="2000250" cy="1066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200" smtClean="0">
                          <a:solidFill>
                            <a:srgbClr val="182D45"/>
                          </a:solidFill>
                          <a:latin typeface="Cambria Math"/>
                          <a:ea typeface="Cambria Math"/>
                          <a:cs typeface="Cambria Math"/>
                        </a:rPr>
                        <m:t>−</m:t>
                      </m:r>
                      <m:f>
                        <m:fPr>
                          <m:ctrlPr>
                            <a:rPr lang="en-GB" sz="3200">
                              <a:solidFill>
                                <a:srgbClr val="182D45"/>
                              </a:solidFill>
                              <a:latin typeface="Cambria Math"/>
                              <a:ea typeface="Cambria Math"/>
                              <a:cs typeface="Cambria Math"/>
                            </a:rPr>
                          </m:ctrlPr>
                        </m:fPr>
                        <m:num>
                          <m:r>
                            <a:rPr lang="en-GB" sz="3200">
                              <a:solidFill>
                                <a:srgbClr val="182D45"/>
                              </a:solidFill>
                              <a:latin typeface="Cambria Math"/>
                              <a:ea typeface="Cambria Math"/>
                              <a:cs typeface="Cambria Math"/>
                            </a:rPr>
                            <m:t>5</m:t>
                          </m:r>
                        </m:num>
                        <m:den>
                          <m:r>
                            <a:rPr lang="en-GB" sz="3200">
                              <a:solidFill>
                                <a:srgbClr val="182D45"/>
                              </a:solidFill>
                              <a:latin typeface="Cambria Math"/>
                              <a:ea typeface="Cambria Math"/>
                              <a:cs typeface="Cambria Math"/>
                            </a:rPr>
                            <m:t>2</m:t>
                          </m:r>
                        </m:den>
                      </m:f>
                      <m:r>
                        <a:rPr lang="it-IT" sz="3200" b="0" i="1" smtClean="0">
                          <a:solidFill>
                            <a:srgbClr val="182D45"/>
                          </a:solidFill>
                          <a:latin typeface="Cambria Math" panose="02040503050406030204" pitchFamily="18" charset="0"/>
                          <a:ea typeface="Cambria Math"/>
                          <a:cs typeface="Cambria Math"/>
                        </a:rPr>
                        <m:t>  </m:t>
                      </m:r>
                    </m:oMath>
                  </m:oMathPara>
                </a14:m>
                <a:endParaRPr lang="en-GB" sz="3200" dirty="0"/>
              </a:p>
            </p:txBody>
          </p:sp>
        </mc:Choice>
        <mc:Fallback xmlns="">
          <p:sp>
            <p:nvSpPr>
              <p:cNvPr id="22" name="weighted_output_math" descr="-\frac52">
                <a:extLst>
                  <a:ext uri="{FF2B5EF4-FFF2-40B4-BE49-F238E27FC236}">
                    <a16:creationId xmlns:a16="http://schemas.microsoft.com/office/drawing/2014/main" id="{32A93C47-065E-453C-BE8F-49675C95F7CB}"/>
                  </a:ext>
                </a:extLst>
              </p:cNvPr>
              <p:cNvSpPr>
                <a:spLocks noGrp="1" noRot="1" noChangeAspect="1" noMove="1" noResize="1" noEditPoints="1" noAdjustHandles="1" noChangeArrowheads="1" noChangeShapeType="1" noTextEdit="1"/>
              </p:cNvSpPr>
              <p:nvPr/>
            </p:nvSpPr>
            <p:spPr>
              <a:xfrm>
                <a:off x="6048375" y="3562350"/>
                <a:ext cx="2000250" cy="1066800"/>
              </a:xfrm>
              <a:prstGeom prst="rect">
                <a:avLst/>
              </a:prstGeom>
              <a:blipFill>
                <a:blip r:embed="rId9"/>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 name="output_bias" descr="b_{\mathrm{out}}=-1">
                <a:extLst>
                  <a:ext uri="{FF2B5EF4-FFF2-40B4-BE49-F238E27FC236}">
                    <a16:creationId xmlns:a16="http://schemas.microsoft.com/office/drawing/2014/main" id="{61216745-071F-4EAC-916C-BE18FD3366DC}"/>
                  </a:ext>
                </a:extLst>
              </p:cNvPr>
              <p:cNvSpPr>
                <a:spLocks noGrp="1"/>
              </p:cNvSpPr>
              <p:nvPr/>
            </p:nvSpPr>
            <p:spPr>
              <a:xfrm>
                <a:off x="8143875" y="3533775"/>
                <a:ext cx="1724025" cy="4095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200">
                          <a:solidFill>
                            <a:srgbClr val="C45C28"/>
                          </a:solidFill>
                          <a:latin typeface="Cambria Math"/>
                          <a:ea typeface="Cambria Math"/>
                          <a:cs typeface="Cambria Math"/>
                        </a:rPr>
                        <m:t>−1</m:t>
                      </m:r>
                    </m:oMath>
                  </m:oMathPara>
                </a14:m>
                <a:endParaRPr lang="en-GB" sz="2200" dirty="0"/>
              </a:p>
            </p:txBody>
          </p:sp>
        </mc:Choice>
        <mc:Fallback xmlns="">
          <p:sp>
            <p:nvSpPr>
              <p:cNvPr id="23" name="output_bias" descr="b_{\mathrm{out}}=-1">
                <a:extLst>
                  <a:ext uri="{FF2B5EF4-FFF2-40B4-BE49-F238E27FC236}">
                    <a16:creationId xmlns:a16="http://schemas.microsoft.com/office/drawing/2014/main" id="{61216745-071F-4EAC-916C-BE18FD3366DC}"/>
                  </a:ext>
                </a:extLst>
              </p:cNvPr>
              <p:cNvSpPr>
                <a:spLocks noGrp="1" noRot="1" noChangeAspect="1" noMove="1" noResize="1" noEditPoints="1" noAdjustHandles="1" noChangeArrowheads="1" noChangeShapeType="1" noTextEdit="1"/>
              </p:cNvSpPr>
              <p:nvPr/>
            </p:nvSpPr>
            <p:spPr>
              <a:xfrm>
                <a:off x="8143875" y="3533775"/>
                <a:ext cx="1724025" cy="409575"/>
              </a:xfrm>
              <a:prstGeom prst="rect">
                <a:avLst/>
              </a:prstGeom>
              <a:blipFill>
                <a:blip r:embed="rId10"/>
                <a:stretch>
                  <a:fillRect/>
                </a:stretch>
              </a:blipFill>
              <a:ln w="0">
                <a:noFill/>
              </a:ln>
            </p:spPr>
            <p:txBody>
              <a:bodyPr/>
              <a:lstStyle/>
              <a:p>
                <a:r>
                  <a:rPr lang="it-IT">
                    <a:noFill/>
                  </a:rPr>
                  <a:t> </a:t>
                </a:r>
              </a:p>
            </p:txBody>
          </p:sp>
        </mc:Fallback>
      </mc:AlternateContent>
      <p:sp>
        <p:nvSpPr>
          <p:cNvPr id="24" name="output">
            <a:extLst>
              <a:ext uri="{FF2B5EF4-FFF2-40B4-BE49-F238E27FC236}">
                <a16:creationId xmlns:a16="http://schemas.microsoft.com/office/drawing/2014/main" id="{0FAE5F17-0996-40C2-BFDA-C4F24B3D442B}"/>
              </a:ext>
            </a:extLst>
          </p:cNvPr>
          <p:cNvSpPr>
            <a:spLocks noGrp="1"/>
          </p:cNvSpPr>
          <p:nvPr/>
        </p:nvSpPr>
        <p:spPr>
          <a:xfrm>
            <a:off x="9944100" y="3562350"/>
            <a:ext cx="1066800" cy="1066800"/>
          </a:xfrm>
          <a:prstGeom prst="ellipse">
            <a:avLst/>
          </a:prstGeom>
          <a:solidFill>
            <a:srgbClr val="FFF6EF"/>
          </a:solidFill>
          <a:ln w="24765">
            <a:solidFill>
              <a:srgbClr val="C45C28"/>
            </a:solidFill>
          </a:ln>
        </p:spPr>
        <p:txBody>
          <a:bodyPr/>
          <a:lstStyle/>
          <a:p>
            <a:endParaRPr lang="it-IT"/>
          </a:p>
        </p:txBody>
      </p:sp>
      <mc:AlternateContent xmlns:mc="http://schemas.openxmlformats.org/markup-compatibility/2006" xmlns:a14="http://schemas.microsoft.com/office/drawing/2010/main">
        <mc:Choice Requires="a14">
          <p:sp>
            <p:nvSpPr>
              <p:cNvPr id="25" name="output_math" descr="-3.5">
                <a:extLst>
                  <a:ext uri="{FF2B5EF4-FFF2-40B4-BE49-F238E27FC236}">
                    <a16:creationId xmlns:a16="http://schemas.microsoft.com/office/drawing/2014/main" id="{D8400947-63C2-438D-A8EF-5BAD53D4D218}"/>
                  </a:ext>
                </a:extLst>
              </p:cNvPr>
              <p:cNvSpPr>
                <a:spLocks noGrp="1"/>
              </p:cNvSpPr>
              <p:nvPr/>
            </p:nvSpPr>
            <p:spPr>
              <a:xfrm>
                <a:off x="9944100" y="3562350"/>
                <a:ext cx="1066800" cy="1066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100" smtClean="0">
                          <a:solidFill>
                            <a:srgbClr val="C45C28"/>
                          </a:solidFill>
                          <a:latin typeface="Cambria Math"/>
                          <a:ea typeface="Cambria Math"/>
                          <a:cs typeface="Cambria Math"/>
                        </a:rPr>
                        <m:t>−</m:t>
                      </m:r>
                      <m:f>
                        <m:fPr>
                          <m:ctrlPr>
                            <a:rPr lang="it-IT" sz="3100" b="0" i="0" smtClean="0">
                              <a:solidFill>
                                <a:srgbClr val="C45C28"/>
                              </a:solidFill>
                              <a:latin typeface="Cambria Math" panose="02040503050406030204" pitchFamily="18" charset="0"/>
                              <a:ea typeface="Cambria Math"/>
                              <a:cs typeface="Cambria Math"/>
                            </a:rPr>
                          </m:ctrlPr>
                        </m:fPr>
                        <m:num>
                          <m:r>
                            <a:rPr lang="it-IT" sz="3100" b="0" i="0" smtClean="0">
                              <a:solidFill>
                                <a:srgbClr val="C45C28"/>
                              </a:solidFill>
                              <a:latin typeface="Cambria Math" panose="02040503050406030204" pitchFamily="18" charset="0"/>
                              <a:ea typeface="Cambria Math"/>
                              <a:cs typeface="Cambria Math"/>
                            </a:rPr>
                            <m:t>7</m:t>
                          </m:r>
                        </m:num>
                        <m:den>
                          <m:r>
                            <a:rPr lang="it-IT" sz="3100" b="0" i="0" smtClean="0">
                              <a:solidFill>
                                <a:srgbClr val="C45C28"/>
                              </a:solidFill>
                              <a:latin typeface="Cambria Math" panose="02040503050406030204" pitchFamily="18" charset="0"/>
                              <a:ea typeface="Cambria Math"/>
                              <a:cs typeface="Cambria Math"/>
                            </a:rPr>
                            <m:t>2</m:t>
                          </m:r>
                        </m:den>
                      </m:f>
                      <m:r>
                        <a:rPr lang="it-IT" sz="3100" b="0" i="0" smtClean="0">
                          <a:solidFill>
                            <a:srgbClr val="C45C28"/>
                          </a:solidFill>
                          <a:latin typeface="Cambria Math" panose="02040503050406030204" pitchFamily="18" charset="0"/>
                          <a:ea typeface="Cambria Math"/>
                          <a:cs typeface="Cambria Math"/>
                        </a:rPr>
                        <m:t>  </m:t>
                      </m:r>
                    </m:oMath>
                  </m:oMathPara>
                </a14:m>
                <a:endParaRPr lang="en-GB" sz="3100" dirty="0"/>
              </a:p>
            </p:txBody>
          </p:sp>
        </mc:Choice>
        <mc:Fallback xmlns="">
          <p:sp>
            <p:nvSpPr>
              <p:cNvPr id="25" name="output_math" descr="-3.5">
                <a:extLst>
                  <a:ext uri="{FF2B5EF4-FFF2-40B4-BE49-F238E27FC236}">
                    <a16:creationId xmlns:a16="http://schemas.microsoft.com/office/drawing/2014/main" id="{D8400947-63C2-438D-A8EF-5BAD53D4D218}"/>
                  </a:ext>
                </a:extLst>
              </p:cNvPr>
              <p:cNvSpPr>
                <a:spLocks noGrp="1" noRot="1" noChangeAspect="1" noMove="1" noResize="1" noEditPoints="1" noAdjustHandles="1" noChangeArrowheads="1" noChangeShapeType="1" noTextEdit="1"/>
              </p:cNvSpPr>
              <p:nvPr/>
            </p:nvSpPr>
            <p:spPr>
              <a:xfrm>
                <a:off x="9944100" y="3562350"/>
                <a:ext cx="1066800" cy="1066800"/>
              </a:xfrm>
              <a:prstGeom prst="rect">
                <a:avLst/>
              </a:prstGeom>
              <a:blipFill>
                <a:blip r:embed="rId11"/>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output_calculation" descr="f((1,2))=0(2)+3(-1)+1\left(\frac12\right)-1=-\frac72">
                <a:extLst>
                  <a:ext uri="{FF2B5EF4-FFF2-40B4-BE49-F238E27FC236}">
                    <a16:creationId xmlns:a16="http://schemas.microsoft.com/office/drawing/2014/main" id="{8F98491F-D21A-4EF9-B2D0-5CA2C3829386}"/>
                  </a:ext>
                </a:extLst>
              </p:cNvPr>
              <p:cNvSpPr>
                <a:spLocks noGrp="1"/>
              </p:cNvSpPr>
              <p:nvPr/>
            </p:nvSpPr>
            <p:spPr>
              <a:xfrm>
                <a:off x="381000" y="5962650"/>
                <a:ext cx="11430000" cy="5524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smtClean="0">
                          <a:solidFill>
                            <a:srgbClr val="087F83"/>
                          </a:solidFill>
                          <a:latin typeface="Cambria Math"/>
                          <a:ea typeface="Cambria Math"/>
                          <a:cs typeface="Cambria Math"/>
                        </a:rPr>
                        <m:t>𝑓</m:t>
                      </m:r>
                      <m:d>
                        <m:dPr>
                          <m:ctrlPr>
                            <a:rPr lang="en-GB" sz="2400" i="1" smtClean="0">
                              <a:solidFill>
                                <a:srgbClr val="087F83"/>
                              </a:solidFill>
                              <a:latin typeface="Cambria Math" panose="02040503050406030204" pitchFamily="18" charset="0"/>
                              <a:ea typeface="Cambria Math"/>
                              <a:cs typeface="Cambria Math"/>
                            </a:rPr>
                          </m:ctrlPr>
                        </m:dPr>
                        <m:e>
                          <m:d>
                            <m:dPr>
                              <m:ctrlPr>
                                <a:rPr lang="en-GB" sz="2400" smtClean="0">
                                  <a:solidFill>
                                    <a:srgbClr val="087F83"/>
                                  </a:solidFill>
                                  <a:latin typeface="Cambria Math"/>
                                  <a:ea typeface="Cambria Math"/>
                                  <a:cs typeface="Cambria Math"/>
                                </a:rPr>
                              </m:ctrlPr>
                            </m:dPr>
                            <m:e>
                              <m:r>
                                <a:rPr lang="en-GB" sz="2400" smtClean="0">
                                  <a:solidFill>
                                    <a:srgbClr val="087F83"/>
                                  </a:solidFill>
                                  <a:latin typeface="Cambria Math"/>
                                  <a:ea typeface="Cambria Math"/>
                                  <a:cs typeface="Cambria Math"/>
                                </a:rPr>
                                <m:t>1,2</m:t>
                              </m:r>
                            </m:e>
                          </m:d>
                        </m:e>
                      </m:d>
                      <m:r>
                        <a:rPr lang="en-GB" sz="2400" smtClean="0">
                          <a:solidFill>
                            <a:srgbClr val="087F83"/>
                          </a:solidFill>
                          <a:latin typeface="Cambria Math"/>
                          <a:ea typeface="Cambria Math"/>
                          <a:cs typeface="Cambria Math"/>
                        </a:rPr>
                        <m:t>=0</m:t>
                      </m:r>
                      <m:r>
                        <a:rPr lang="it-IT" sz="2400" b="0" i="1" smtClean="0">
                          <a:solidFill>
                            <a:srgbClr val="087F83"/>
                          </a:solidFill>
                          <a:latin typeface="Cambria Math" panose="02040503050406030204" pitchFamily="18" charset="0"/>
                          <a:ea typeface="Cambria Math"/>
                          <a:cs typeface="Cambria Math"/>
                        </a:rPr>
                        <m:t>⋅</m:t>
                      </m:r>
                      <m:r>
                        <a:rPr lang="en-GB" sz="2400">
                          <a:solidFill>
                            <a:srgbClr val="087F83"/>
                          </a:solidFill>
                          <a:latin typeface="Cambria Math"/>
                          <a:ea typeface="Cambria Math"/>
                          <a:cs typeface="Cambria Math"/>
                        </a:rPr>
                        <m:t>(2)+3</m:t>
                      </m:r>
                      <m:r>
                        <a:rPr lang="it-IT" sz="2400" i="1">
                          <a:solidFill>
                            <a:srgbClr val="087F83"/>
                          </a:solidFill>
                          <a:latin typeface="Cambria Math" panose="02040503050406030204" pitchFamily="18" charset="0"/>
                          <a:ea typeface="Cambria Math"/>
                          <a:cs typeface="Cambria Math"/>
                        </a:rPr>
                        <m:t>⋅</m:t>
                      </m:r>
                      <m:r>
                        <a:rPr lang="en-GB" sz="2400">
                          <a:solidFill>
                            <a:srgbClr val="087F83"/>
                          </a:solidFill>
                          <a:latin typeface="Cambria Math"/>
                          <a:ea typeface="Cambria Math"/>
                          <a:cs typeface="Cambria Math"/>
                        </a:rPr>
                        <m:t>(−1)+1</m:t>
                      </m:r>
                      <m:r>
                        <a:rPr lang="it-IT" sz="2400" i="1">
                          <a:solidFill>
                            <a:srgbClr val="087F83"/>
                          </a:solidFill>
                          <a:latin typeface="Cambria Math" panose="02040503050406030204" pitchFamily="18" charset="0"/>
                          <a:ea typeface="Cambria Math"/>
                          <a:cs typeface="Cambria Math"/>
                        </a:rPr>
                        <m:t>⋅</m:t>
                      </m:r>
                      <m:d>
                        <m:dPr>
                          <m:ctrlPr>
                            <a:rPr lang="en-GB" sz="2400" i="1">
                              <a:solidFill>
                                <a:srgbClr val="087F83"/>
                              </a:solidFill>
                              <a:latin typeface="Cambria Math" panose="02040503050406030204" pitchFamily="18" charset="0"/>
                              <a:ea typeface="Cambria Math"/>
                              <a:cs typeface="Cambria Math"/>
                            </a:rPr>
                          </m:ctrlPr>
                        </m:dPr>
                        <m:e>
                          <m:f>
                            <m:fPr>
                              <m:ctrlPr>
                                <a:rPr lang="en-GB" sz="2400">
                                  <a:solidFill>
                                    <a:srgbClr val="087F83"/>
                                  </a:solidFill>
                                  <a:latin typeface="Cambria Math"/>
                                  <a:ea typeface="Cambria Math"/>
                                  <a:cs typeface="Cambria Math"/>
                                </a:rPr>
                              </m:ctrlPr>
                            </m:fPr>
                            <m:num>
                              <m:r>
                                <a:rPr lang="en-GB" sz="2400">
                                  <a:solidFill>
                                    <a:srgbClr val="087F83"/>
                                  </a:solidFill>
                                  <a:latin typeface="Cambria Math"/>
                                  <a:ea typeface="Cambria Math"/>
                                  <a:cs typeface="Cambria Math"/>
                                </a:rPr>
                                <m:t>1</m:t>
                              </m:r>
                            </m:num>
                            <m:den>
                              <m:r>
                                <a:rPr lang="en-GB" sz="2400">
                                  <a:solidFill>
                                    <a:srgbClr val="087F83"/>
                                  </a:solidFill>
                                  <a:latin typeface="Cambria Math"/>
                                  <a:ea typeface="Cambria Math"/>
                                  <a:cs typeface="Cambria Math"/>
                                </a:rPr>
                                <m:t>2</m:t>
                              </m:r>
                            </m:den>
                          </m:f>
                        </m:e>
                      </m:d>
                      <m:r>
                        <a:rPr lang="en-GB" sz="2400">
                          <a:solidFill>
                            <a:srgbClr val="087F83"/>
                          </a:solidFill>
                          <a:latin typeface="Cambria Math"/>
                          <a:ea typeface="Cambria Math"/>
                          <a:cs typeface="Cambria Math"/>
                        </a:rPr>
                        <m:t>−1=−</m:t>
                      </m:r>
                      <m:f>
                        <m:fPr>
                          <m:ctrlPr>
                            <a:rPr lang="en-GB" sz="2400">
                              <a:solidFill>
                                <a:srgbClr val="087F83"/>
                              </a:solidFill>
                              <a:latin typeface="Cambria Math"/>
                              <a:ea typeface="Cambria Math"/>
                              <a:cs typeface="Cambria Math"/>
                            </a:rPr>
                          </m:ctrlPr>
                        </m:fPr>
                        <m:num>
                          <m:r>
                            <a:rPr lang="en-GB" sz="2400">
                              <a:solidFill>
                                <a:srgbClr val="087F83"/>
                              </a:solidFill>
                              <a:latin typeface="Cambria Math"/>
                              <a:ea typeface="Cambria Math"/>
                              <a:cs typeface="Cambria Math"/>
                            </a:rPr>
                            <m:t>7</m:t>
                          </m:r>
                        </m:num>
                        <m:den>
                          <m:r>
                            <a:rPr lang="en-GB" sz="2400">
                              <a:solidFill>
                                <a:srgbClr val="087F83"/>
                              </a:solidFill>
                              <a:latin typeface="Cambria Math"/>
                              <a:ea typeface="Cambria Math"/>
                              <a:cs typeface="Cambria Math"/>
                            </a:rPr>
                            <m:t>2</m:t>
                          </m:r>
                        </m:den>
                      </m:f>
                    </m:oMath>
                  </m:oMathPara>
                </a14:m>
                <a:endParaRPr lang="en-GB" sz="2400" dirty="0"/>
              </a:p>
            </p:txBody>
          </p:sp>
        </mc:Choice>
        <mc:Fallback xmlns="">
          <p:sp>
            <p:nvSpPr>
              <p:cNvPr id="26" name="output_calculation" descr="f((1,2))=0(2)+3(-1)+1\left(\frac12\right)-1=-\frac72">
                <a:extLst>
                  <a:ext uri="{FF2B5EF4-FFF2-40B4-BE49-F238E27FC236}">
                    <a16:creationId xmlns:a16="http://schemas.microsoft.com/office/drawing/2014/main" id="{8F98491F-D21A-4EF9-B2D0-5CA2C3829386}"/>
                  </a:ext>
                </a:extLst>
              </p:cNvPr>
              <p:cNvSpPr>
                <a:spLocks noGrp="1" noRot="1" noChangeAspect="1" noMove="1" noResize="1" noEditPoints="1" noAdjustHandles="1" noChangeArrowheads="1" noChangeShapeType="1" noTextEdit="1"/>
              </p:cNvSpPr>
              <p:nvPr/>
            </p:nvSpPr>
            <p:spPr>
              <a:xfrm>
                <a:off x="381000" y="5962650"/>
                <a:ext cx="11430000" cy="552450"/>
              </a:xfrm>
              <a:prstGeom prst="rect">
                <a:avLst/>
              </a:prstGeom>
              <a:blipFill>
                <a:blip r:embed="rId12"/>
                <a:stretch>
                  <a:fillRect t="-17582" b="-24176"/>
                </a:stretch>
              </a:blipFill>
              <a:ln w="0">
                <a:noFill/>
              </a:ln>
            </p:spPr>
            <p:txBody>
              <a:bodyPr/>
              <a:lstStyle/>
              <a:p>
                <a:r>
                  <a:rPr lang="it-IT">
                    <a:noFill/>
                  </a:rPr>
                  <a:t> </a:t>
                </a:r>
              </a:p>
            </p:txBody>
          </p:sp>
        </mc:Fallback>
      </mc:AlternateContent>
      <p:sp>
        <p:nvSpPr>
          <p:cNvPr id="27" name="footer_course">
            <a:extLst>
              <a:ext uri="{FF2B5EF4-FFF2-40B4-BE49-F238E27FC236}">
                <a16:creationId xmlns:a16="http://schemas.microsoft.com/office/drawing/2014/main" id="{3C933E96-7C0E-48B3-B5FF-F5A3AB76C771}"/>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28" name="footer_number">
            <a:extLst>
              <a:ext uri="{FF2B5EF4-FFF2-40B4-BE49-F238E27FC236}">
                <a16:creationId xmlns:a16="http://schemas.microsoft.com/office/drawing/2014/main" id="{27C0174D-5656-4C25-8D22-EF9090860DAD}"/>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13</a:t>
            </a:r>
          </a:p>
        </p:txBody>
      </p:sp>
      <mc:AlternateContent xmlns:mc="http://schemas.openxmlformats.org/markup-compatibility/2006" xmlns:a14="http://schemas.microsoft.com/office/drawing/2010/main">
        <mc:Choice Requires="a14">
          <p:sp>
            <p:nvSpPr>
              <p:cNvPr id="31" name="equation_2" descr="\mathbf{W}_{\mathrm{out}}=\begin{pmatrix}2\\-1\\1/2\end{pmatrix},\qquad b_{\mathrm{out}}=-1">
                <a:extLst>
                  <a:ext uri="{FF2B5EF4-FFF2-40B4-BE49-F238E27FC236}">
                    <a16:creationId xmlns:a16="http://schemas.microsoft.com/office/drawing/2014/main" id="{3FBD7DB9-4586-478E-65C4-96FF43DB1324}"/>
                  </a:ext>
                </a:extLst>
              </p:cNvPr>
              <p:cNvSpPr>
                <a:spLocks noGrp="1"/>
              </p:cNvSpPr>
              <p:nvPr/>
            </p:nvSpPr>
            <p:spPr>
              <a:xfrm>
                <a:off x="2029968" y="561975"/>
                <a:ext cx="7914132" cy="1619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𝐖</m:t>
                          </m:r>
                        </m:e>
                        <m:sub>
                          <m:r>
                            <m:rPr>
                              <m:sty m:val="p"/>
                            </m:rPr>
                            <a:rPr lang="en-GB" sz="2900">
                              <a:solidFill>
                                <a:srgbClr val="087F83"/>
                              </a:solidFill>
                              <a:latin typeface="Cambria Math"/>
                              <a:ea typeface="Cambria Math"/>
                              <a:cs typeface="Cambria Math"/>
                            </a:rPr>
                            <m:t>out</m:t>
                          </m:r>
                        </m:sub>
                      </m:sSub>
                      <m:r>
                        <a:rPr lang="en-GB" sz="2900">
                          <a:solidFill>
                            <a:srgbClr val="087F83"/>
                          </a:solidFill>
                          <a:latin typeface="Cambria Math"/>
                          <a:ea typeface="Cambria Math"/>
                          <a:cs typeface="Cambria Math"/>
                        </a:rPr>
                        <m:t>=</m:t>
                      </m:r>
                      <m:sSup>
                        <m:sSupPr>
                          <m:ctrlPr>
                            <a:rPr lang="it-IT" sz="2900" b="0" i="1" smtClean="0">
                              <a:solidFill>
                                <a:srgbClr val="087F83"/>
                              </a:solidFill>
                              <a:latin typeface="Cambria Math" panose="02040503050406030204" pitchFamily="18" charset="0"/>
                              <a:ea typeface="Cambria Math"/>
                            </a:rPr>
                          </m:ctrlPr>
                        </m:sSupPr>
                        <m:e>
                          <m:d>
                            <m:dPr>
                              <m:ctrlPr>
                                <a:rPr lang="it-IT" sz="2900" b="0" i="1" smtClean="0">
                                  <a:solidFill>
                                    <a:srgbClr val="087F83"/>
                                  </a:solidFill>
                                  <a:latin typeface="Cambria Math" panose="02040503050406030204" pitchFamily="18" charset="0"/>
                                  <a:ea typeface="Cambria Math"/>
                                </a:rPr>
                              </m:ctrlPr>
                            </m:dPr>
                            <m:e>
                              <m:r>
                                <a:rPr lang="it-IT" sz="2900" b="0" i="1" smtClean="0">
                                  <a:solidFill>
                                    <a:srgbClr val="087F83"/>
                                  </a:solidFill>
                                  <a:latin typeface="Cambria Math" panose="02040503050406030204" pitchFamily="18" charset="0"/>
                                  <a:ea typeface="Cambria Math"/>
                                </a:rPr>
                                <m:t>2,−1,</m:t>
                              </m:r>
                              <m:f>
                                <m:fPr>
                                  <m:ctrlPr>
                                    <a:rPr lang="it-IT" sz="2900" b="0" i="1" smtClean="0">
                                      <a:solidFill>
                                        <a:srgbClr val="087F83"/>
                                      </a:solidFill>
                                      <a:latin typeface="Cambria Math" panose="02040503050406030204" pitchFamily="18" charset="0"/>
                                      <a:ea typeface="Cambria Math"/>
                                    </a:rPr>
                                  </m:ctrlPr>
                                </m:fPr>
                                <m:num>
                                  <m:r>
                                    <a:rPr lang="it-IT" sz="2900" b="0" i="1" smtClean="0">
                                      <a:solidFill>
                                        <a:srgbClr val="087F83"/>
                                      </a:solidFill>
                                      <a:latin typeface="Cambria Math" panose="02040503050406030204" pitchFamily="18" charset="0"/>
                                      <a:ea typeface="Cambria Math"/>
                                    </a:rPr>
                                    <m:t>1</m:t>
                                  </m:r>
                                </m:num>
                                <m:den>
                                  <m:r>
                                    <a:rPr lang="it-IT" sz="2900" b="0" i="1" smtClean="0">
                                      <a:solidFill>
                                        <a:srgbClr val="087F83"/>
                                      </a:solidFill>
                                      <a:latin typeface="Cambria Math" panose="02040503050406030204" pitchFamily="18" charset="0"/>
                                      <a:ea typeface="Cambria Math"/>
                                    </a:rPr>
                                    <m:t>2</m:t>
                                  </m:r>
                                </m:den>
                              </m:f>
                            </m:e>
                          </m:d>
                        </m:e>
                        <m:sup>
                          <m:r>
                            <a:rPr lang="it-IT" sz="2900" b="0" i="1" smtClean="0">
                              <a:solidFill>
                                <a:srgbClr val="087F83"/>
                              </a:solidFill>
                              <a:latin typeface="Cambria Math" panose="02040503050406030204" pitchFamily="18" charset="0"/>
                              <a:ea typeface="Cambria Math"/>
                            </a:rPr>
                            <m:t>⊤</m:t>
                          </m:r>
                        </m:sup>
                      </m:sSup>
                      <m:r>
                        <a:rPr lang="en-GB" sz="2900">
                          <a:solidFill>
                            <a:srgbClr val="087F83"/>
                          </a:solidFill>
                          <a:latin typeface="Cambria Math"/>
                          <a:ea typeface="Cambria Math"/>
                          <a:cs typeface="Cambria Math"/>
                        </a:rPr>
                        <m:t>,  </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𝑏</m:t>
                          </m:r>
                        </m:e>
                        <m:sub>
                          <m:r>
                            <m:rPr>
                              <m:sty m:val="p"/>
                            </m:rPr>
                            <a:rPr lang="en-GB" sz="2900">
                              <a:solidFill>
                                <a:srgbClr val="087F83"/>
                              </a:solidFill>
                              <a:latin typeface="Cambria Math"/>
                              <a:ea typeface="Cambria Math"/>
                              <a:cs typeface="Cambria Math"/>
                            </a:rPr>
                            <m:t>out</m:t>
                          </m:r>
                        </m:sub>
                      </m:sSub>
                      <m:r>
                        <a:rPr lang="en-GB" sz="2900">
                          <a:solidFill>
                            <a:srgbClr val="087F83"/>
                          </a:solidFill>
                          <a:latin typeface="Cambria Math"/>
                          <a:ea typeface="Cambria Math"/>
                          <a:cs typeface="Cambria Math"/>
                        </a:rPr>
                        <m:t>=−1</m:t>
                      </m:r>
                    </m:oMath>
                  </m:oMathPara>
                </a14:m>
                <a:endParaRPr lang="en-GB" sz="2900" dirty="0"/>
              </a:p>
            </p:txBody>
          </p:sp>
        </mc:Choice>
        <mc:Fallback xmlns="">
          <p:sp>
            <p:nvSpPr>
              <p:cNvPr id="31" name="equation_2" descr="\mathbf{W}_{\mathrm{out}}=\begin{pmatrix}2\\-1\\1/2\end{pmatrix},\qquad b_{\mathrm{out}}=-1">
                <a:extLst>
                  <a:ext uri="{FF2B5EF4-FFF2-40B4-BE49-F238E27FC236}">
                    <a16:creationId xmlns:a16="http://schemas.microsoft.com/office/drawing/2014/main" id="{3FBD7DB9-4586-478E-65C4-96FF43DB1324}"/>
                  </a:ext>
                </a:extLst>
              </p:cNvPr>
              <p:cNvSpPr>
                <a:spLocks noGrp="1" noRot="1" noChangeAspect="1" noMove="1" noResize="1" noEditPoints="1" noAdjustHandles="1" noChangeArrowheads="1" noChangeShapeType="1" noTextEdit="1"/>
              </p:cNvSpPr>
              <p:nvPr/>
            </p:nvSpPr>
            <p:spPr>
              <a:xfrm>
                <a:off x="2029968" y="561975"/>
                <a:ext cx="7914132" cy="1619250"/>
              </a:xfrm>
              <a:prstGeom prst="rect">
                <a:avLst/>
              </a:prstGeom>
              <a:blipFill>
                <a:blip r:embed="rId13"/>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46949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C68D98D-E25E-43DA-839A-1D07F6258B56}"/>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err="1">
                <a:solidFill>
                  <a:srgbClr val="182D45"/>
                </a:solidFill>
                <a:latin typeface="DejaVu Sans"/>
                <a:ea typeface="DejaVu Sans"/>
                <a:cs typeface="DejaVu Sans"/>
              </a:rPr>
              <a:t>Neurons</a:t>
            </a:r>
            <a:endParaRPr sz="3300" b="1" dirty="0">
              <a:solidFill>
                <a:srgbClr val="182D45"/>
              </a:solidFill>
              <a:latin typeface="DejaVu Sans"/>
              <a:ea typeface="DejaVu Sans"/>
              <a:cs typeface="DejaVu Sans"/>
            </a:endParaRPr>
          </a:p>
        </p:txBody>
      </p:sp>
      <p:sp>
        <p:nvSpPr>
          <p:cNvPr id="4" name="lead">
            <a:extLst>
              <a:ext uri="{FF2B5EF4-FFF2-40B4-BE49-F238E27FC236}">
                <a16:creationId xmlns:a16="http://schemas.microsoft.com/office/drawing/2014/main" id="{D7F7CB05-0396-4AB4-BE53-537BF6175174}"/>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00">
                <a:solidFill>
                  <a:srgbClr val="526276"/>
                </a:solidFill>
                <a:latin typeface="DejaVu Sans"/>
                <a:ea typeface="DejaVu Sans"/>
                <a:cs typeface="DejaVu Sans"/>
              </a:defRPr>
            </a:pPr>
            <a:r>
              <a:rPr sz="2100" dirty="0">
                <a:solidFill>
                  <a:srgbClr val="526276"/>
                </a:solidFill>
                <a:latin typeface="DejaVu Sans"/>
                <a:ea typeface="DejaVu Sans"/>
                <a:cs typeface="DejaVu Sans"/>
              </a:rPr>
              <a:t>A </a:t>
            </a:r>
            <a:r>
              <a:rPr lang="it-IT" sz="2100" dirty="0" err="1">
                <a:solidFill>
                  <a:srgbClr val="FF0000"/>
                </a:solidFill>
                <a:latin typeface="DejaVu Sans"/>
                <a:ea typeface="DejaVu Sans"/>
                <a:cs typeface="DejaVu Sans"/>
              </a:rPr>
              <a:t>neuron</a:t>
            </a:r>
            <a:r>
              <a:rPr lang="it-IT" sz="2100" dirty="0">
                <a:solidFill>
                  <a:srgbClr val="526276"/>
                </a:solidFill>
                <a:latin typeface="DejaVu Sans"/>
                <a:ea typeface="DejaVu Sans"/>
                <a:cs typeface="DejaVu Sans"/>
              </a:rPr>
              <a:t> </a:t>
            </a:r>
            <a:r>
              <a:rPr sz="2100" dirty="0">
                <a:solidFill>
                  <a:srgbClr val="526276"/>
                </a:solidFill>
                <a:latin typeface="DejaVu Sans"/>
                <a:ea typeface="DejaVu Sans"/>
                <a:cs typeface="DejaVu Sans"/>
              </a:rPr>
              <a:t>computes </a:t>
            </a:r>
            <a:r>
              <a:rPr sz="2100" dirty="0">
                <a:solidFill>
                  <a:srgbClr val="FF0000"/>
                </a:solidFill>
                <a:latin typeface="DejaVu Sans"/>
                <a:ea typeface="DejaVu Sans"/>
                <a:cs typeface="DejaVu Sans"/>
              </a:rPr>
              <a:t>one feature value</a:t>
            </a:r>
            <a:r>
              <a:rPr sz="2100" dirty="0">
                <a:solidFill>
                  <a:srgbClr val="526276"/>
                </a:solidFill>
                <a:latin typeface="DejaVu Sans"/>
                <a:ea typeface="DejaVu Sans"/>
                <a:cs typeface="DejaVu Sans"/>
              </a:rPr>
              <a:t>. It forms a </a:t>
            </a:r>
            <a:r>
              <a:rPr sz="2100" dirty="0">
                <a:solidFill>
                  <a:srgbClr val="FF0000"/>
                </a:solidFill>
                <a:latin typeface="DejaVu Sans"/>
                <a:ea typeface="DejaVu Sans"/>
                <a:cs typeface="DejaVu Sans"/>
              </a:rPr>
              <a:t>weighted sum</a:t>
            </a:r>
            <a:r>
              <a:rPr sz="2100" dirty="0">
                <a:solidFill>
                  <a:srgbClr val="526276"/>
                </a:solidFill>
                <a:latin typeface="DejaVu Sans"/>
                <a:ea typeface="DejaVu Sans"/>
                <a:cs typeface="DejaVu Sans"/>
              </a:rPr>
              <a:t>,</a:t>
            </a:r>
          </a:p>
          <a:p>
            <a:pPr algn="ctr">
              <a:defRPr sz="2100">
                <a:solidFill>
                  <a:srgbClr val="526276"/>
                </a:solidFill>
                <a:latin typeface="DejaVu Sans"/>
                <a:ea typeface="DejaVu Sans"/>
                <a:cs typeface="DejaVu Sans"/>
              </a:defRPr>
            </a:pPr>
            <a:r>
              <a:rPr sz="2100" dirty="0">
                <a:solidFill>
                  <a:srgbClr val="526276"/>
                </a:solidFill>
                <a:latin typeface="DejaVu Sans"/>
                <a:ea typeface="DejaVu Sans"/>
                <a:cs typeface="DejaVu Sans"/>
              </a:rPr>
              <a:t>adds a </a:t>
            </a:r>
            <a:r>
              <a:rPr sz="2100" dirty="0">
                <a:solidFill>
                  <a:srgbClr val="FF0000"/>
                </a:solidFill>
                <a:latin typeface="DejaVu Sans"/>
                <a:ea typeface="DejaVu Sans"/>
                <a:cs typeface="DejaVu Sans"/>
              </a:rPr>
              <a:t>bias</a:t>
            </a:r>
            <a:r>
              <a:rPr sz="2100" dirty="0">
                <a:solidFill>
                  <a:srgbClr val="526276"/>
                </a:solidFill>
                <a:latin typeface="DejaVu Sans"/>
                <a:ea typeface="DejaVu Sans"/>
                <a:cs typeface="DejaVu Sans"/>
              </a:rPr>
              <a:t> and applies an </a:t>
            </a:r>
            <a:r>
              <a:rPr sz="2100" dirty="0">
                <a:solidFill>
                  <a:srgbClr val="FF0000"/>
                </a:solidFill>
                <a:latin typeface="DejaVu Sans"/>
                <a:ea typeface="DejaVu Sans"/>
                <a:cs typeface="DejaVu Sans"/>
              </a:rPr>
              <a:t>activation function</a:t>
            </a:r>
            <a:r>
              <a:rPr sz="2100" dirty="0">
                <a:solidFill>
                  <a:srgbClr val="526276"/>
                </a:solidFill>
                <a:latin typeface="DejaVu Sans"/>
                <a:ea typeface="DejaVu Sans"/>
                <a:cs typeface="DejaVu Sans"/>
              </a:rPr>
              <a:t>. Here we use </a:t>
            </a:r>
            <a:r>
              <a:rPr sz="2100" dirty="0" err="1">
                <a:solidFill>
                  <a:srgbClr val="526276"/>
                </a:solidFill>
                <a:latin typeface="DejaVu Sans"/>
                <a:ea typeface="DejaVu Sans"/>
                <a:cs typeface="DejaVu Sans"/>
              </a:rPr>
              <a:t>ReLU</a:t>
            </a:r>
            <a:r>
              <a:rPr sz="2100" dirty="0">
                <a:solidFill>
                  <a:srgbClr val="526276"/>
                </a:solidFill>
                <a:latin typeface="DejaVu Sans"/>
                <a:ea typeface="DejaVu Sans"/>
                <a:cs typeface="DejaVu Sans"/>
              </a:rPr>
              <a:t>.</a:t>
            </a:r>
          </a:p>
        </p:txBody>
      </p:sp>
      <p:sp>
        <p:nvSpPr>
          <p:cNvPr id="5" name="input_heading">
            <a:extLst>
              <a:ext uri="{FF2B5EF4-FFF2-40B4-BE49-F238E27FC236}">
                <a16:creationId xmlns:a16="http://schemas.microsoft.com/office/drawing/2014/main" id="{B952CD5A-F500-4736-A211-B89B47807F79}"/>
              </a:ext>
            </a:extLst>
          </p:cNvPr>
          <p:cNvSpPr>
            <a:spLocks noGrp="1"/>
          </p:cNvSpPr>
          <p:nvPr/>
        </p:nvSpPr>
        <p:spPr>
          <a:xfrm>
            <a:off x="285750" y="1943100"/>
            <a:ext cx="11430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Input</a:t>
            </a:r>
          </a:p>
        </p:txBody>
      </p:sp>
      <p:sp>
        <p:nvSpPr>
          <p:cNvPr id="6" name="weighted_heading">
            <a:extLst>
              <a:ext uri="{FF2B5EF4-FFF2-40B4-BE49-F238E27FC236}">
                <a16:creationId xmlns:a16="http://schemas.microsoft.com/office/drawing/2014/main" id="{45DD9918-FEDB-42EC-B7F4-EFF270B45F6C}"/>
              </a:ext>
            </a:extLst>
          </p:cNvPr>
          <p:cNvSpPr>
            <a:spLocks noGrp="1"/>
          </p:cNvSpPr>
          <p:nvPr/>
        </p:nvSpPr>
        <p:spPr>
          <a:xfrm>
            <a:off x="3143250" y="1943100"/>
            <a:ext cx="26670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Weighted sums</a:t>
            </a:r>
          </a:p>
        </p:txBody>
      </p:sp>
      <p:sp>
        <p:nvSpPr>
          <p:cNvPr id="7" name="pre_heading">
            <a:extLst>
              <a:ext uri="{FF2B5EF4-FFF2-40B4-BE49-F238E27FC236}">
                <a16:creationId xmlns:a16="http://schemas.microsoft.com/office/drawing/2014/main" id="{6753C000-939D-4EC2-8200-585FAFF82CB5}"/>
              </a:ext>
            </a:extLst>
          </p:cNvPr>
          <p:cNvSpPr>
            <a:spLocks noGrp="1"/>
          </p:cNvSpPr>
          <p:nvPr/>
        </p:nvSpPr>
        <p:spPr>
          <a:xfrm>
            <a:off x="6200775" y="1943100"/>
            <a:ext cx="25527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Preactivations</a:t>
            </a:r>
          </a:p>
        </p:txBody>
      </p:sp>
      <p:sp>
        <p:nvSpPr>
          <p:cNvPr id="8" name="activation_heading">
            <a:extLst>
              <a:ext uri="{FF2B5EF4-FFF2-40B4-BE49-F238E27FC236}">
                <a16:creationId xmlns:a16="http://schemas.microsoft.com/office/drawing/2014/main" id="{F920E98E-035B-4401-9EA8-FA25469FBF96}"/>
              </a:ext>
            </a:extLst>
          </p:cNvPr>
          <p:cNvSpPr>
            <a:spLocks noGrp="1"/>
          </p:cNvSpPr>
          <p:nvPr/>
        </p:nvSpPr>
        <p:spPr>
          <a:xfrm>
            <a:off x="9505950" y="1943100"/>
            <a:ext cx="2324100" cy="381000"/>
          </a:xfrm>
          <a:prstGeom prst="rect">
            <a:avLst/>
          </a:prstGeom>
          <a:noFill/>
          <a:ln w="0">
            <a:noFill/>
          </a:ln>
        </p:spPr>
        <p:txBody>
          <a:bodyPr anchor="ctr">
            <a:noAutofit/>
          </a:bodyPr>
          <a:lstStyle/>
          <a:p>
            <a:pPr algn="ctr">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Activations</a:t>
            </a:r>
          </a:p>
        </p:txBody>
      </p:sp>
      <p:sp>
        <p:nvSpPr>
          <p:cNvPr id="9" name="weight_edge_1_1">
            <a:extLst>
              <a:ext uri="{FF2B5EF4-FFF2-40B4-BE49-F238E27FC236}">
                <a16:creationId xmlns:a16="http://schemas.microsoft.com/office/drawing/2014/main" id="{853D1DFB-B542-4DF7-BAE3-09594B4F5DFA}"/>
              </a:ext>
            </a:extLst>
          </p:cNvPr>
          <p:cNvSpPr>
            <a:spLocks noGrp="1"/>
          </p:cNvSpPr>
          <p:nvPr/>
        </p:nvSpPr>
        <p:spPr>
          <a:xfrm flipV="1">
            <a:off x="1123950" y="2857500"/>
            <a:ext cx="2257425" cy="476250"/>
          </a:xfrm>
          <a:prstGeom prst="line">
            <a:avLst/>
          </a:prstGeom>
          <a:noFill/>
          <a:ln w="1524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10" name="weight_label_1_1" descr="W_{11}">
                <a:extLst>
                  <a:ext uri="{FF2B5EF4-FFF2-40B4-BE49-F238E27FC236}">
                    <a16:creationId xmlns:a16="http://schemas.microsoft.com/office/drawing/2014/main" id="{B6255CA1-AC32-4735-993E-7F3A9246723B}"/>
                  </a:ext>
                </a:extLst>
              </p:cNvPr>
              <p:cNvSpPr>
                <a:spLocks noGrp="1"/>
              </p:cNvSpPr>
              <p:nvPr/>
            </p:nvSpPr>
            <p:spPr>
              <a:xfrm>
                <a:off x="1781175" y="2941320"/>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𝑊</m:t>
                          </m:r>
                        </m:e>
                        <m:sub>
                          <m:r>
                            <a:rPr lang="en-GB" sz="1800">
                              <a:solidFill>
                                <a:srgbClr val="182D45"/>
                              </a:solidFill>
                              <a:latin typeface="Cambria Math"/>
                              <a:ea typeface="Cambria Math"/>
                              <a:cs typeface="Cambria Math"/>
                            </a:rPr>
                            <m:t>11</m:t>
                          </m:r>
                        </m:sub>
                      </m:sSub>
                    </m:oMath>
                  </m:oMathPara>
                </a14:m>
                <a:endParaRPr lang="en-GB" sz="1800" dirty="0"/>
              </a:p>
            </p:txBody>
          </p:sp>
        </mc:Choice>
        <mc:Fallback xmlns="">
          <p:sp>
            <p:nvSpPr>
              <p:cNvPr id="10" name="weight_label_1_1" descr="W_{11}">
                <a:extLst>
                  <a:ext uri="{FF2B5EF4-FFF2-40B4-BE49-F238E27FC236}">
                    <a16:creationId xmlns:a16="http://schemas.microsoft.com/office/drawing/2014/main" id="{B6255CA1-AC32-4735-993E-7F3A9246723B}"/>
                  </a:ext>
                </a:extLst>
              </p:cNvPr>
              <p:cNvSpPr>
                <a:spLocks noGrp="1" noRot="1" noChangeAspect="1" noMove="1" noResize="1" noEditPoints="1" noAdjustHandles="1" noChangeArrowheads="1" noChangeShapeType="1" noTextEdit="1"/>
              </p:cNvSpPr>
              <p:nvPr/>
            </p:nvSpPr>
            <p:spPr>
              <a:xfrm>
                <a:off x="1781175" y="2941320"/>
                <a:ext cx="685800" cy="285750"/>
              </a:xfrm>
              <a:prstGeom prst="rect">
                <a:avLst/>
              </a:prstGeom>
              <a:blipFill>
                <a:blip r:embed="rId3"/>
                <a:stretch>
                  <a:fillRect b="-13043"/>
                </a:stretch>
              </a:blipFill>
              <a:ln w="0">
                <a:noFill/>
              </a:ln>
            </p:spPr>
            <p:txBody>
              <a:bodyPr/>
              <a:lstStyle/>
              <a:p>
                <a:r>
                  <a:rPr lang="it-IT">
                    <a:noFill/>
                  </a:rPr>
                  <a:t> </a:t>
                </a:r>
              </a:p>
            </p:txBody>
          </p:sp>
        </mc:Fallback>
      </mc:AlternateContent>
      <p:sp>
        <p:nvSpPr>
          <p:cNvPr id="11" name="weight_edge_2_1">
            <a:extLst>
              <a:ext uri="{FF2B5EF4-FFF2-40B4-BE49-F238E27FC236}">
                <a16:creationId xmlns:a16="http://schemas.microsoft.com/office/drawing/2014/main" id="{5C307BAB-3515-4BF2-B4C0-9041554FF88A}"/>
              </a:ext>
            </a:extLst>
          </p:cNvPr>
          <p:cNvSpPr>
            <a:spLocks noGrp="1"/>
          </p:cNvSpPr>
          <p:nvPr/>
        </p:nvSpPr>
        <p:spPr>
          <a:xfrm flipV="1">
            <a:off x="1123950" y="2857500"/>
            <a:ext cx="2257425" cy="1809750"/>
          </a:xfrm>
          <a:prstGeom prst="line">
            <a:avLst/>
          </a:prstGeom>
          <a:noFill/>
          <a:ln w="1524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12" name="weight_label_2_1" descr="W_{21}">
                <a:extLst>
                  <a:ext uri="{FF2B5EF4-FFF2-40B4-BE49-F238E27FC236}">
                    <a16:creationId xmlns:a16="http://schemas.microsoft.com/office/drawing/2014/main" id="{1D22AA6B-00E4-4EEF-8716-1F0226F47B07}"/>
                  </a:ext>
                </a:extLst>
              </p:cNvPr>
              <p:cNvSpPr>
                <a:spLocks noGrp="1"/>
              </p:cNvSpPr>
              <p:nvPr/>
            </p:nvSpPr>
            <p:spPr>
              <a:xfrm>
                <a:off x="2571750" y="3121533"/>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𝑊</m:t>
                          </m:r>
                        </m:e>
                        <m:sub>
                          <m:r>
                            <a:rPr lang="en-GB" sz="1800">
                              <a:solidFill>
                                <a:srgbClr val="182D45"/>
                              </a:solidFill>
                              <a:latin typeface="Cambria Math"/>
                              <a:ea typeface="Cambria Math"/>
                              <a:cs typeface="Cambria Math"/>
                            </a:rPr>
                            <m:t>21</m:t>
                          </m:r>
                        </m:sub>
                      </m:sSub>
                    </m:oMath>
                  </m:oMathPara>
                </a14:m>
                <a:endParaRPr lang="en-GB" sz="1800" dirty="0"/>
              </a:p>
            </p:txBody>
          </p:sp>
        </mc:Choice>
        <mc:Fallback xmlns="">
          <p:sp>
            <p:nvSpPr>
              <p:cNvPr id="12" name="weight_label_2_1" descr="W_{21}">
                <a:extLst>
                  <a:ext uri="{FF2B5EF4-FFF2-40B4-BE49-F238E27FC236}">
                    <a16:creationId xmlns:a16="http://schemas.microsoft.com/office/drawing/2014/main" id="{1D22AA6B-00E4-4EEF-8716-1F0226F47B07}"/>
                  </a:ext>
                </a:extLst>
              </p:cNvPr>
              <p:cNvSpPr>
                <a:spLocks noGrp="1" noRot="1" noChangeAspect="1" noMove="1" noResize="1" noEditPoints="1" noAdjustHandles="1" noChangeArrowheads="1" noChangeShapeType="1" noTextEdit="1"/>
              </p:cNvSpPr>
              <p:nvPr/>
            </p:nvSpPr>
            <p:spPr>
              <a:xfrm>
                <a:off x="2571750" y="3121533"/>
                <a:ext cx="685800" cy="285750"/>
              </a:xfrm>
              <a:prstGeom prst="rect">
                <a:avLst/>
              </a:prstGeom>
              <a:blipFill>
                <a:blip r:embed="rId4"/>
                <a:stretch>
                  <a:fillRect b="-12766"/>
                </a:stretch>
              </a:blipFill>
              <a:ln w="0">
                <a:noFill/>
              </a:ln>
            </p:spPr>
            <p:txBody>
              <a:bodyPr/>
              <a:lstStyle/>
              <a:p>
                <a:r>
                  <a:rPr lang="it-IT">
                    <a:noFill/>
                  </a:rPr>
                  <a:t> </a:t>
                </a:r>
              </a:p>
            </p:txBody>
          </p:sp>
        </mc:Fallback>
      </mc:AlternateContent>
      <p:sp>
        <p:nvSpPr>
          <p:cNvPr id="13" name="bias_edge_1">
            <a:extLst>
              <a:ext uri="{FF2B5EF4-FFF2-40B4-BE49-F238E27FC236}">
                <a16:creationId xmlns:a16="http://schemas.microsoft.com/office/drawing/2014/main" id="{3A26AD9E-5688-41D4-94FC-84804D6DAC2A}"/>
              </a:ext>
            </a:extLst>
          </p:cNvPr>
          <p:cNvSpPr>
            <a:spLocks noGrp="1"/>
          </p:cNvSpPr>
          <p:nvPr/>
        </p:nvSpPr>
        <p:spPr>
          <a:xfrm>
            <a:off x="5572125" y="2857500"/>
            <a:ext cx="1447800" cy="953"/>
          </a:xfrm>
          <a:prstGeom prst="line">
            <a:avLst/>
          </a:prstGeom>
          <a:noFill/>
          <a:ln w="17145">
            <a:solidFill>
              <a:srgbClr val="182D45"/>
            </a:solidFill>
            <a:tailEnd type="triangle" w="sm" len="sm"/>
          </a:ln>
        </p:spPr>
        <p:txBody>
          <a:bodyPr/>
          <a:lstStyle/>
          <a:p>
            <a:endParaRPr lang="it-IT"/>
          </a:p>
        </p:txBody>
      </p:sp>
      <p:sp>
        <p:nvSpPr>
          <p:cNvPr id="14" name="relu_edge_1">
            <a:extLst>
              <a:ext uri="{FF2B5EF4-FFF2-40B4-BE49-F238E27FC236}">
                <a16:creationId xmlns:a16="http://schemas.microsoft.com/office/drawing/2014/main" id="{52318B90-CFA5-473D-9B49-9DFEA34B721B}"/>
              </a:ext>
            </a:extLst>
          </p:cNvPr>
          <p:cNvSpPr>
            <a:spLocks noGrp="1"/>
          </p:cNvSpPr>
          <p:nvPr/>
        </p:nvSpPr>
        <p:spPr>
          <a:xfrm>
            <a:off x="7934325" y="2857500"/>
            <a:ext cx="2276475" cy="953"/>
          </a:xfrm>
          <a:prstGeom prst="line">
            <a:avLst/>
          </a:prstGeom>
          <a:noFill/>
          <a:ln w="17145">
            <a:solidFill>
              <a:srgbClr val="182D45"/>
            </a:solidFill>
            <a:tailEnd type="triangle" w="sm" len="sm"/>
          </a:ln>
        </p:spPr>
        <p:txBody>
          <a:bodyPr/>
          <a:lstStyle/>
          <a:p>
            <a:endParaRPr lang="it-IT"/>
          </a:p>
        </p:txBody>
      </p:sp>
      <p:sp>
        <p:nvSpPr>
          <p:cNvPr id="15" name="weight_edge_1_2">
            <a:extLst>
              <a:ext uri="{FF2B5EF4-FFF2-40B4-BE49-F238E27FC236}">
                <a16:creationId xmlns:a16="http://schemas.microsoft.com/office/drawing/2014/main" id="{2B5E8FFD-836E-4238-8FDD-2C1BFBD727AF}"/>
              </a:ext>
            </a:extLst>
          </p:cNvPr>
          <p:cNvSpPr>
            <a:spLocks noGrp="1"/>
          </p:cNvSpPr>
          <p:nvPr/>
        </p:nvSpPr>
        <p:spPr>
          <a:xfrm>
            <a:off x="1123950" y="3333750"/>
            <a:ext cx="2257425" cy="762000"/>
          </a:xfrm>
          <a:prstGeom prst="line">
            <a:avLst/>
          </a:prstGeom>
          <a:noFill/>
          <a:ln w="1524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16" name="weight_label_1_2" descr="W_{12}">
                <a:extLst>
                  <a:ext uri="{FF2B5EF4-FFF2-40B4-BE49-F238E27FC236}">
                    <a16:creationId xmlns:a16="http://schemas.microsoft.com/office/drawing/2014/main" id="{7BE86CC4-D13F-469B-8DFD-771ED375FEB7}"/>
                  </a:ext>
                </a:extLst>
              </p:cNvPr>
              <p:cNvSpPr>
                <a:spLocks noGrp="1"/>
              </p:cNvSpPr>
              <p:nvPr/>
            </p:nvSpPr>
            <p:spPr>
              <a:xfrm>
                <a:off x="2447925" y="3675507"/>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𝑊</m:t>
                          </m:r>
                        </m:e>
                        <m:sub>
                          <m:r>
                            <a:rPr lang="en-GB" sz="1800">
                              <a:solidFill>
                                <a:srgbClr val="182D45"/>
                              </a:solidFill>
                              <a:latin typeface="Cambria Math"/>
                              <a:ea typeface="Cambria Math"/>
                              <a:cs typeface="Cambria Math"/>
                            </a:rPr>
                            <m:t>12</m:t>
                          </m:r>
                        </m:sub>
                      </m:sSub>
                    </m:oMath>
                  </m:oMathPara>
                </a14:m>
                <a:endParaRPr lang="en-GB" sz="1800" dirty="0"/>
              </a:p>
            </p:txBody>
          </p:sp>
        </mc:Choice>
        <mc:Fallback xmlns="">
          <p:sp>
            <p:nvSpPr>
              <p:cNvPr id="16" name="weight_label_1_2" descr="W_{12}">
                <a:extLst>
                  <a:ext uri="{FF2B5EF4-FFF2-40B4-BE49-F238E27FC236}">
                    <a16:creationId xmlns:a16="http://schemas.microsoft.com/office/drawing/2014/main" id="{7BE86CC4-D13F-469B-8DFD-771ED375FEB7}"/>
                  </a:ext>
                </a:extLst>
              </p:cNvPr>
              <p:cNvSpPr>
                <a:spLocks noGrp="1" noRot="1" noChangeAspect="1" noMove="1" noResize="1" noEditPoints="1" noAdjustHandles="1" noChangeArrowheads="1" noChangeShapeType="1" noTextEdit="1"/>
              </p:cNvSpPr>
              <p:nvPr/>
            </p:nvSpPr>
            <p:spPr>
              <a:xfrm>
                <a:off x="2447925" y="3675507"/>
                <a:ext cx="685800" cy="285750"/>
              </a:xfrm>
              <a:prstGeom prst="rect">
                <a:avLst/>
              </a:prstGeom>
              <a:blipFill>
                <a:blip r:embed="rId5"/>
                <a:stretch>
                  <a:fillRect b="-12766"/>
                </a:stretch>
              </a:blipFill>
              <a:ln w="0">
                <a:noFill/>
              </a:ln>
            </p:spPr>
            <p:txBody>
              <a:bodyPr/>
              <a:lstStyle/>
              <a:p>
                <a:r>
                  <a:rPr lang="it-IT">
                    <a:noFill/>
                  </a:rPr>
                  <a:t> </a:t>
                </a:r>
              </a:p>
            </p:txBody>
          </p:sp>
        </mc:Fallback>
      </mc:AlternateContent>
      <p:sp>
        <p:nvSpPr>
          <p:cNvPr id="17" name="weight_edge_2_2">
            <a:extLst>
              <a:ext uri="{FF2B5EF4-FFF2-40B4-BE49-F238E27FC236}">
                <a16:creationId xmlns:a16="http://schemas.microsoft.com/office/drawing/2014/main" id="{24A40FA1-4B11-4D97-BC4B-B7ACA49E5807}"/>
              </a:ext>
            </a:extLst>
          </p:cNvPr>
          <p:cNvSpPr>
            <a:spLocks noGrp="1"/>
          </p:cNvSpPr>
          <p:nvPr/>
        </p:nvSpPr>
        <p:spPr>
          <a:xfrm flipV="1">
            <a:off x="1123950" y="4095750"/>
            <a:ext cx="2257425" cy="571500"/>
          </a:xfrm>
          <a:prstGeom prst="line">
            <a:avLst/>
          </a:prstGeom>
          <a:noFill/>
          <a:ln w="1524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18" name="weight_label_2_2" descr="W_{22}">
                <a:extLst>
                  <a:ext uri="{FF2B5EF4-FFF2-40B4-BE49-F238E27FC236}">
                    <a16:creationId xmlns:a16="http://schemas.microsoft.com/office/drawing/2014/main" id="{D0920D33-61EB-459C-8F3F-DEC1804CCD3E}"/>
                  </a:ext>
                </a:extLst>
              </p:cNvPr>
              <p:cNvSpPr>
                <a:spLocks noGrp="1"/>
              </p:cNvSpPr>
              <p:nvPr/>
            </p:nvSpPr>
            <p:spPr>
              <a:xfrm>
                <a:off x="2447925" y="4113657"/>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𝑊</m:t>
                          </m:r>
                        </m:e>
                        <m:sub>
                          <m:r>
                            <a:rPr lang="en-GB" sz="1800">
                              <a:solidFill>
                                <a:srgbClr val="182D45"/>
                              </a:solidFill>
                              <a:latin typeface="Cambria Math"/>
                              <a:ea typeface="Cambria Math"/>
                              <a:cs typeface="Cambria Math"/>
                            </a:rPr>
                            <m:t>22</m:t>
                          </m:r>
                        </m:sub>
                      </m:sSub>
                    </m:oMath>
                  </m:oMathPara>
                </a14:m>
                <a:endParaRPr lang="en-GB" sz="1800" dirty="0"/>
              </a:p>
            </p:txBody>
          </p:sp>
        </mc:Choice>
        <mc:Fallback xmlns="">
          <p:sp>
            <p:nvSpPr>
              <p:cNvPr id="18" name="weight_label_2_2" descr="W_{22}">
                <a:extLst>
                  <a:ext uri="{FF2B5EF4-FFF2-40B4-BE49-F238E27FC236}">
                    <a16:creationId xmlns:a16="http://schemas.microsoft.com/office/drawing/2014/main" id="{D0920D33-61EB-459C-8F3F-DEC1804CCD3E}"/>
                  </a:ext>
                </a:extLst>
              </p:cNvPr>
              <p:cNvSpPr>
                <a:spLocks noGrp="1" noRot="1" noChangeAspect="1" noMove="1" noResize="1" noEditPoints="1" noAdjustHandles="1" noChangeArrowheads="1" noChangeShapeType="1" noTextEdit="1"/>
              </p:cNvSpPr>
              <p:nvPr/>
            </p:nvSpPr>
            <p:spPr>
              <a:xfrm>
                <a:off x="2447925" y="4113657"/>
                <a:ext cx="685800" cy="285750"/>
              </a:xfrm>
              <a:prstGeom prst="rect">
                <a:avLst/>
              </a:prstGeom>
              <a:blipFill>
                <a:blip r:embed="rId6"/>
                <a:stretch>
                  <a:fillRect b="-12766"/>
                </a:stretch>
              </a:blipFill>
              <a:ln w="0">
                <a:noFill/>
              </a:ln>
            </p:spPr>
            <p:txBody>
              <a:bodyPr/>
              <a:lstStyle/>
              <a:p>
                <a:r>
                  <a:rPr lang="it-IT">
                    <a:noFill/>
                  </a:rPr>
                  <a:t> </a:t>
                </a:r>
              </a:p>
            </p:txBody>
          </p:sp>
        </mc:Fallback>
      </mc:AlternateContent>
      <p:sp>
        <p:nvSpPr>
          <p:cNvPr id="19" name="bias_edge_2">
            <a:extLst>
              <a:ext uri="{FF2B5EF4-FFF2-40B4-BE49-F238E27FC236}">
                <a16:creationId xmlns:a16="http://schemas.microsoft.com/office/drawing/2014/main" id="{95A65CC9-0FB4-4660-BFC8-504D777A7AE3}"/>
              </a:ext>
            </a:extLst>
          </p:cNvPr>
          <p:cNvSpPr>
            <a:spLocks noGrp="1"/>
          </p:cNvSpPr>
          <p:nvPr/>
        </p:nvSpPr>
        <p:spPr>
          <a:xfrm>
            <a:off x="5572125" y="4095750"/>
            <a:ext cx="1447800" cy="953"/>
          </a:xfrm>
          <a:prstGeom prst="line">
            <a:avLst/>
          </a:prstGeom>
          <a:noFill/>
          <a:ln w="17145">
            <a:solidFill>
              <a:srgbClr val="182D45"/>
            </a:solidFill>
            <a:tailEnd type="triangle" w="sm" len="sm"/>
          </a:ln>
        </p:spPr>
        <p:txBody>
          <a:bodyPr/>
          <a:lstStyle/>
          <a:p>
            <a:endParaRPr lang="it-IT"/>
          </a:p>
        </p:txBody>
      </p:sp>
      <p:sp>
        <p:nvSpPr>
          <p:cNvPr id="20" name="relu_edge_2">
            <a:extLst>
              <a:ext uri="{FF2B5EF4-FFF2-40B4-BE49-F238E27FC236}">
                <a16:creationId xmlns:a16="http://schemas.microsoft.com/office/drawing/2014/main" id="{AB0CAE07-A0C9-4F0F-8CEF-AFAAF3A836E4}"/>
              </a:ext>
            </a:extLst>
          </p:cNvPr>
          <p:cNvSpPr>
            <a:spLocks noGrp="1"/>
          </p:cNvSpPr>
          <p:nvPr/>
        </p:nvSpPr>
        <p:spPr>
          <a:xfrm>
            <a:off x="7934325" y="4095750"/>
            <a:ext cx="2276475" cy="953"/>
          </a:xfrm>
          <a:prstGeom prst="line">
            <a:avLst/>
          </a:prstGeom>
          <a:noFill/>
          <a:ln w="17145">
            <a:solidFill>
              <a:srgbClr val="182D45"/>
            </a:solidFill>
            <a:tailEnd type="triangle" w="sm" len="sm"/>
          </a:ln>
        </p:spPr>
        <p:txBody>
          <a:bodyPr/>
          <a:lstStyle/>
          <a:p>
            <a:endParaRPr lang="it-IT"/>
          </a:p>
        </p:txBody>
      </p:sp>
      <p:sp>
        <p:nvSpPr>
          <p:cNvPr id="21" name="weight_edge_1_3">
            <a:extLst>
              <a:ext uri="{FF2B5EF4-FFF2-40B4-BE49-F238E27FC236}">
                <a16:creationId xmlns:a16="http://schemas.microsoft.com/office/drawing/2014/main" id="{C11303CE-55BB-4E7B-8913-89F24BC6A61B}"/>
              </a:ext>
            </a:extLst>
          </p:cNvPr>
          <p:cNvSpPr>
            <a:spLocks noGrp="1"/>
          </p:cNvSpPr>
          <p:nvPr/>
        </p:nvSpPr>
        <p:spPr>
          <a:xfrm>
            <a:off x="1123950" y="3333750"/>
            <a:ext cx="2257425" cy="2000250"/>
          </a:xfrm>
          <a:prstGeom prst="line">
            <a:avLst/>
          </a:prstGeom>
          <a:noFill/>
          <a:ln w="1524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22" name="weight_label_1_3" descr="W_{13}">
                <a:extLst>
                  <a:ext uri="{FF2B5EF4-FFF2-40B4-BE49-F238E27FC236}">
                    <a16:creationId xmlns:a16="http://schemas.microsoft.com/office/drawing/2014/main" id="{8E2F60C8-B002-453B-8BF5-CC5D72E9ED0F}"/>
                  </a:ext>
                </a:extLst>
              </p:cNvPr>
              <p:cNvSpPr>
                <a:spLocks noGrp="1"/>
              </p:cNvSpPr>
              <p:nvPr/>
            </p:nvSpPr>
            <p:spPr>
              <a:xfrm>
                <a:off x="2571750" y="4610100"/>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𝑊</m:t>
                          </m:r>
                        </m:e>
                        <m:sub>
                          <m:r>
                            <a:rPr lang="en-GB" sz="1800">
                              <a:solidFill>
                                <a:srgbClr val="182D45"/>
                              </a:solidFill>
                              <a:latin typeface="Cambria Math"/>
                              <a:ea typeface="Cambria Math"/>
                              <a:cs typeface="Cambria Math"/>
                            </a:rPr>
                            <m:t>13</m:t>
                          </m:r>
                        </m:sub>
                      </m:sSub>
                    </m:oMath>
                  </m:oMathPara>
                </a14:m>
                <a:endParaRPr lang="en-GB" sz="1800" dirty="0"/>
              </a:p>
            </p:txBody>
          </p:sp>
        </mc:Choice>
        <mc:Fallback xmlns="">
          <p:sp>
            <p:nvSpPr>
              <p:cNvPr id="22" name="weight_label_1_3" descr="W_{13}">
                <a:extLst>
                  <a:ext uri="{FF2B5EF4-FFF2-40B4-BE49-F238E27FC236}">
                    <a16:creationId xmlns:a16="http://schemas.microsoft.com/office/drawing/2014/main" id="{8E2F60C8-B002-453B-8BF5-CC5D72E9ED0F}"/>
                  </a:ext>
                </a:extLst>
              </p:cNvPr>
              <p:cNvSpPr>
                <a:spLocks noGrp="1" noRot="1" noChangeAspect="1" noMove="1" noResize="1" noEditPoints="1" noAdjustHandles="1" noChangeArrowheads="1" noChangeShapeType="1" noTextEdit="1"/>
              </p:cNvSpPr>
              <p:nvPr/>
            </p:nvSpPr>
            <p:spPr>
              <a:xfrm>
                <a:off x="2571750" y="4610100"/>
                <a:ext cx="685800" cy="285750"/>
              </a:xfrm>
              <a:prstGeom prst="rect">
                <a:avLst/>
              </a:prstGeom>
              <a:blipFill>
                <a:blip r:embed="rId7"/>
                <a:stretch>
                  <a:fillRect b="-12766"/>
                </a:stretch>
              </a:blipFill>
              <a:ln w="0">
                <a:noFill/>
              </a:ln>
            </p:spPr>
            <p:txBody>
              <a:bodyPr/>
              <a:lstStyle/>
              <a:p>
                <a:r>
                  <a:rPr lang="it-IT">
                    <a:noFill/>
                  </a:rPr>
                  <a:t> </a:t>
                </a:r>
              </a:p>
            </p:txBody>
          </p:sp>
        </mc:Fallback>
      </mc:AlternateContent>
      <p:sp>
        <p:nvSpPr>
          <p:cNvPr id="23" name="weight_edge_2_3">
            <a:extLst>
              <a:ext uri="{FF2B5EF4-FFF2-40B4-BE49-F238E27FC236}">
                <a16:creationId xmlns:a16="http://schemas.microsoft.com/office/drawing/2014/main" id="{F415AA21-9195-4A3E-A7B6-38CDA885A89F}"/>
              </a:ext>
            </a:extLst>
          </p:cNvPr>
          <p:cNvSpPr>
            <a:spLocks noGrp="1"/>
          </p:cNvSpPr>
          <p:nvPr/>
        </p:nvSpPr>
        <p:spPr>
          <a:xfrm>
            <a:off x="1123950" y="4667250"/>
            <a:ext cx="2257425" cy="666750"/>
          </a:xfrm>
          <a:prstGeom prst="line">
            <a:avLst/>
          </a:prstGeom>
          <a:noFill/>
          <a:ln w="1524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24" name="weight_label_2_3" descr="W_{23}">
                <a:extLst>
                  <a:ext uri="{FF2B5EF4-FFF2-40B4-BE49-F238E27FC236}">
                    <a16:creationId xmlns:a16="http://schemas.microsoft.com/office/drawing/2014/main" id="{FDA11320-4833-42A1-B508-D49C8BEE4EEE}"/>
                  </a:ext>
                </a:extLst>
              </p:cNvPr>
              <p:cNvSpPr>
                <a:spLocks noGrp="1"/>
              </p:cNvSpPr>
              <p:nvPr/>
            </p:nvSpPr>
            <p:spPr>
              <a:xfrm>
                <a:off x="1781175" y="4781930"/>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𝑊</m:t>
                          </m:r>
                        </m:e>
                        <m:sub>
                          <m:r>
                            <a:rPr lang="en-GB" sz="1800">
                              <a:solidFill>
                                <a:srgbClr val="182D45"/>
                              </a:solidFill>
                              <a:latin typeface="Cambria Math"/>
                              <a:ea typeface="Cambria Math"/>
                              <a:cs typeface="Cambria Math"/>
                            </a:rPr>
                            <m:t>23</m:t>
                          </m:r>
                        </m:sub>
                      </m:sSub>
                    </m:oMath>
                  </m:oMathPara>
                </a14:m>
                <a:endParaRPr lang="en-GB" sz="1800" dirty="0"/>
              </a:p>
            </p:txBody>
          </p:sp>
        </mc:Choice>
        <mc:Fallback xmlns="">
          <p:sp>
            <p:nvSpPr>
              <p:cNvPr id="24" name="weight_label_2_3" descr="W_{23}">
                <a:extLst>
                  <a:ext uri="{FF2B5EF4-FFF2-40B4-BE49-F238E27FC236}">
                    <a16:creationId xmlns:a16="http://schemas.microsoft.com/office/drawing/2014/main" id="{FDA11320-4833-42A1-B508-D49C8BEE4EEE}"/>
                  </a:ext>
                </a:extLst>
              </p:cNvPr>
              <p:cNvSpPr>
                <a:spLocks noGrp="1" noRot="1" noChangeAspect="1" noMove="1" noResize="1" noEditPoints="1" noAdjustHandles="1" noChangeArrowheads="1" noChangeShapeType="1" noTextEdit="1"/>
              </p:cNvSpPr>
              <p:nvPr/>
            </p:nvSpPr>
            <p:spPr>
              <a:xfrm>
                <a:off x="1781175" y="4781930"/>
                <a:ext cx="685800" cy="285750"/>
              </a:xfrm>
              <a:prstGeom prst="rect">
                <a:avLst/>
              </a:prstGeom>
              <a:blipFill>
                <a:blip r:embed="rId8"/>
                <a:stretch>
                  <a:fillRect b="-12766"/>
                </a:stretch>
              </a:blipFill>
              <a:ln w="0">
                <a:noFill/>
              </a:ln>
            </p:spPr>
            <p:txBody>
              <a:bodyPr/>
              <a:lstStyle/>
              <a:p>
                <a:r>
                  <a:rPr lang="it-IT">
                    <a:noFill/>
                  </a:rPr>
                  <a:t> </a:t>
                </a:r>
              </a:p>
            </p:txBody>
          </p:sp>
        </mc:Fallback>
      </mc:AlternateContent>
      <p:sp>
        <p:nvSpPr>
          <p:cNvPr id="25" name="bias_edge_3">
            <a:extLst>
              <a:ext uri="{FF2B5EF4-FFF2-40B4-BE49-F238E27FC236}">
                <a16:creationId xmlns:a16="http://schemas.microsoft.com/office/drawing/2014/main" id="{F2ED4932-87E8-40F5-A3E7-DFEDD53EA14F}"/>
              </a:ext>
            </a:extLst>
          </p:cNvPr>
          <p:cNvSpPr>
            <a:spLocks noGrp="1"/>
          </p:cNvSpPr>
          <p:nvPr/>
        </p:nvSpPr>
        <p:spPr>
          <a:xfrm>
            <a:off x="5572125" y="5334000"/>
            <a:ext cx="1447800" cy="953"/>
          </a:xfrm>
          <a:prstGeom prst="line">
            <a:avLst/>
          </a:prstGeom>
          <a:noFill/>
          <a:ln w="17145">
            <a:solidFill>
              <a:srgbClr val="182D45"/>
            </a:solidFill>
            <a:tailEnd type="triangle" w="sm" len="sm"/>
          </a:ln>
        </p:spPr>
        <p:txBody>
          <a:bodyPr/>
          <a:lstStyle/>
          <a:p>
            <a:endParaRPr lang="it-IT"/>
          </a:p>
        </p:txBody>
      </p:sp>
      <p:sp>
        <p:nvSpPr>
          <p:cNvPr id="26" name="relu_edge_3">
            <a:extLst>
              <a:ext uri="{FF2B5EF4-FFF2-40B4-BE49-F238E27FC236}">
                <a16:creationId xmlns:a16="http://schemas.microsoft.com/office/drawing/2014/main" id="{DC2D2BEC-B67A-4EE1-AB42-A7EE5D48F740}"/>
              </a:ext>
            </a:extLst>
          </p:cNvPr>
          <p:cNvSpPr>
            <a:spLocks noGrp="1"/>
          </p:cNvSpPr>
          <p:nvPr/>
        </p:nvSpPr>
        <p:spPr>
          <a:xfrm>
            <a:off x="7934325" y="5334000"/>
            <a:ext cx="2276475" cy="953"/>
          </a:xfrm>
          <a:prstGeom prst="line">
            <a:avLst/>
          </a:prstGeom>
          <a:noFill/>
          <a:ln w="17145">
            <a:solidFill>
              <a:srgbClr val="182D45"/>
            </a:solidFill>
            <a:tailEnd type="triangle" w="sm" len="sm"/>
          </a:ln>
        </p:spPr>
        <p:txBody>
          <a:bodyPr/>
          <a:lstStyle/>
          <a:p>
            <a:endParaRPr lang="it-IT"/>
          </a:p>
        </p:txBody>
      </p:sp>
      <p:sp>
        <p:nvSpPr>
          <p:cNvPr id="27" name="input_1">
            <a:extLst>
              <a:ext uri="{FF2B5EF4-FFF2-40B4-BE49-F238E27FC236}">
                <a16:creationId xmlns:a16="http://schemas.microsoft.com/office/drawing/2014/main" id="{A00E8907-EAB4-4A0E-9B12-85BF446833F5}"/>
              </a:ext>
            </a:extLst>
          </p:cNvPr>
          <p:cNvSpPr>
            <a:spLocks noGrp="1"/>
          </p:cNvSpPr>
          <p:nvPr/>
        </p:nvSpPr>
        <p:spPr>
          <a:xfrm>
            <a:off x="590550" y="3067050"/>
            <a:ext cx="533400" cy="533400"/>
          </a:xfrm>
          <a:prstGeom prst="ellipse">
            <a:avLst/>
          </a:prstGeom>
          <a:solidFill>
            <a:srgbClr val="FFFFF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28" name="input_math_1" descr="x_1">
                <a:extLst>
                  <a:ext uri="{FF2B5EF4-FFF2-40B4-BE49-F238E27FC236}">
                    <a16:creationId xmlns:a16="http://schemas.microsoft.com/office/drawing/2014/main" id="{2ED512AF-78A3-4317-A825-FEAAA5AEA2C9}"/>
                  </a:ext>
                </a:extLst>
              </p:cNvPr>
              <p:cNvSpPr>
                <a:spLocks noGrp="1"/>
              </p:cNvSpPr>
              <p:nvPr/>
            </p:nvSpPr>
            <p:spPr>
              <a:xfrm>
                <a:off x="590550" y="306705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300" b="0" i="1" smtClean="0">
                          <a:solidFill>
                            <a:srgbClr val="182D45"/>
                          </a:solidFill>
                          <a:latin typeface="Cambria Math" panose="02040503050406030204" pitchFamily="18" charset="0"/>
                          <a:ea typeface="Cambria Math"/>
                          <a:cs typeface="Cambria Math"/>
                        </a:rPr>
                        <m:t>  </m:t>
                      </m:r>
                      <m:sSub>
                        <m:sSubPr>
                          <m:ctrlPr>
                            <a:rPr lang="en-GB" sz="2300">
                              <a:solidFill>
                                <a:srgbClr val="182D45"/>
                              </a:solidFill>
                              <a:latin typeface="Cambria Math"/>
                              <a:ea typeface="Cambria Math"/>
                              <a:cs typeface="Cambria Math"/>
                            </a:rPr>
                          </m:ctrlPr>
                        </m:sSubPr>
                        <m:e>
                          <m:r>
                            <a:rPr lang="en-GB" sz="2300">
                              <a:solidFill>
                                <a:srgbClr val="182D45"/>
                              </a:solidFill>
                              <a:latin typeface="Cambria Math"/>
                              <a:ea typeface="Cambria Math"/>
                              <a:cs typeface="Cambria Math"/>
                            </a:rPr>
                            <m:t>𝑥</m:t>
                          </m:r>
                        </m:e>
                        <m:sub>
                          <m:r>
                            <a:rPr lang="en-GB" sz="2300">
                              <a:solidFill>
                                <a:srgbClr val="182D45"/>
                              </a:solidFill>
                              <a:latin typeface="Cambria Math"/>
                              <a:ea typeface="Cambria Math"/>
                              <a:cs typeface="Cambria Math"/>
                            </a:rPr>
                            <m:t>1</m:t>
                          </m:r>
                        </m:sub>
                      </m:sSub>
                    </m:oMath>
                  </m:oMathPara>
                </a14:m>
                <a:endParaRPr lang="en-GB" sz="2300" dirty="0"/>
              </a:p>
            </p:txBody>
          </p:sp>
        </mc:Choice>
        <mc:Fallback xmlns="">
          <p:sp>
            <p:nvSpPr>
              <p:cNvPr id="28" name="input_math_1" descr="x_1">
                <a:extLst>
                  <a:ext uri="{FF2B5EF4-FFF2-40B4-BE49-F238E27FC236}">
                    <a16:creationId xmlns:a16="http://schemas.microsoft.com/office/drawing/2014/main" id="{2ED512AF-78A3-4317-A825-FEAAA5AEA2C9}"/>
                  </a:ext>
                </a:extLst>
              </p:cNvPr>
              <p:cNvSpPr>
                <a:spLocks noGrp="1" noRot="1" noChangeAspect="1" noMove="1" noResize="1" noEditPoints="1" noAdjustHandles="1" noChangeArrowheads="1" noChangeShapeType="1" noTextEdit="1"/>
              </p:cNvSpPr>
              <p:nvPr/>
            </p:nvSpPr>
            <p:spPr>
              <a:xfrm>
                <a:off x="590550" y="3067050"/>
                <a:ext cx="533400" cy="533400"/>
              </a:xfrm>
              <a:prstGeom prst="rect">
                <a:avLst/>
              </a:prstGeom>
              <a:blipFill>
                <a:blip r:embed="rId9"/>
                <a:stretch>
                  <a:fillRect/>
                </a:stretch>
              </a:blipFill>
              <a:ln w="0">
                <a:noFill/>
              </a:ln>
            </p:spPr>
            <p:txBody>
              <a:bodyPr/>
              <a:lstStyle/>
              <a:p>
                <a:r>
                  <a:rPr lang="it-IT">
                    <a:noFill/>
                  </a:rPr>
                  <a:t> </a:t>
                </a:r>
              </a:p>
            </p:txBody>
          </p:sp>
        </mc:Fallback>
      </mc:AlternateContent>
      <p:sp>
        <p:nvSpPr>
          <p:cNvPr id="29" name="input_2">
            <a:extLst>
              <a:ext uri="{FF2B5EF4-FFF2-40B4-BE49-F238E27FC236}">
                <a16:creationId xmlns:a16="http://schemas.microsoft.com/office/drawing/2014/main" id="{114B9CB1-FF41-48B5-AC76-AB0395AB3696}"/>
              </a:ext>
            </a:extLst>
          </p:cNvPr>
          <p:cNvSpPr>
            <a:spLocks noGrp="1"/>
          </p:cNvSpPr>
          <p:nvPr/>
        </p:nvSpPr>
        <p:spPr>
          <a:xfrm>
            <a:off x="590550" y="4400550"/>
            <a:ext cx="533400" cy="533400"/>
          </a:xfrm>
          <a:prstGeom prst="ellipse">
            <a:avLst/>
          </a:prstGeom>
          <a:solidFill>
            <a:srgbClr val="FFFFF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0" name="input_math_2" descr="x_2">
                <a:extLst>
                  <a:ext uri="{FF2B5EF4-FFF2-40B4-BE49-F238E27FC236}">
                    <a16:creationId xmlns:a16="http://schemas.microsoft.com/office/drawing/2014/main" id="{4CE0DE2E-7C35-413D-9553-5D412234F2AC}"/>
                  </a:ext>
                </a:extLst>
              </p:cNvPr>
              <p:cNvSpPr>
                <a:spLocks noGrp="1"/>
              </p:cNvSpPr>
              <p:nvPr/>
            </p:nvSpPr>
            <p:spPr>
              <a:xfrm>
                <a:off x="590550" y="440055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300" b="0" i="1" smtClean="0">
                          <a:solidFill>
                            <a:srgbClr val="182D45"/>
                          </a:solidFill>
                          <a:latin typeface="Cambria Math" panose="02040503050406030204" pitchFamily="18" charset="0"/>
                          <a:ea typeface="Cambria Math"/>
                          <a:cs typeface="Cambria Math"/>
                        </a:rPr>
                        <m:t>  </m:t>
                      </m:r>
                      <m:sSub>
                        <m:sSubPr>
                          <m:ctrlPr>
                            <a:rPr lang="en-GB" sz="2300">
                              <a:solidFill>
                                <a:srgbClr val="182D45"/>
                              </a:solidFill>
                              <a:latin typeface="Cambria Math"/>
                              <a:ea typeface="Cambria Math"/>
                              <a:cs typeface="Cambria Math"/>
                            </a:rPr>
                          </m:ctrlPr>
                        </m:sSubPr>
                        <m:e>
                          <m:r>
                            <a:rPr lang="en-GB" sz="2300">
                              <a:solidFill>
                                <a:srgbClr val="182D45"/>
                              </a:solidFill>
                              <a:latin typeface="Cambria Math"/>
                              <a:ea typeface="Cambria Math"/>
                              <a:cs typeface="Cambria Math"/>
                            </a:rPr>
                            <m:t>𝑥</m:t>
                          </m:r>
                        </m:e>
                        <m:sub>
                          <m:r>
                            <a:rPr lang="en-GB" sz="2300">
                              <a:solidFill>
                                <a:srgbClr val="182D45"/>
                              </a:solidFill>
                              <a:latin typeface="Cambria Math"/>
                              <a:ea typeface="Cambria Math"/>
                              <a:cs typeface="Cambria Math"/>
                            </a:rPr>
                            <m:t>2</m:t>
                          </m:r>
                        </m:sub>
                      </m:sSub>
                    </m:oMath>
                  </m:oMathPara>
                </a14:m>
                <a:endParaRPr lang="en-GB" sz="2300" dirty="0"/>
              </a:p>
            </p:txBody>
          </p:sp>
        </mc:Choice>
        <mc:Fallback xmlns="">
          <p:sp>
            <p:nvSpPr>
              <p:cNvPr id="30" name="input_math_2" descr="x_2">
                <a:extLst>
                  <a:ext uri="{FF2B5EF4-FFF2-40B4-BE49-F238E27FC236}">
                    <a16:creationId xmlns:a16="http://schemas.microsoft.com/office/drawing/2014/main" id="{4CE0DE2E-7C35-413D-9553-5D412234F2AC}"/>
                  </a:ext>
                </a:extLst>
              </p:cNvPr>
              <p:cNvSpPr>
                <a:spLocks noGrp="1" noRot="1" noChangeAspect="1" noMove="1" noResize="1" noEditPoints="1" noAdjustHandles="1" noChangeArrowheads="1" noChangeShapeType="1" noTextEdit="1"/>
              </p:cNvSpPr>
              <p:nvPr/>
            </p:nvSpPr>
            <p:spPr>
              <a:xfrm>
                <a:off x="590550" y="4400550"/>
                <a:ext cx="533400" cy="533400"/>
              </a:xfrm>
              <a:prstGeom prst="rect">
                <a:avLst/>
              </a:prstGeom>
              <a:blipFill>
                <a:blip r:embed="rId10"/>
                <a:stretch>
                  <a:fillRect/>
                </a:stretch>
              </a:blipFill>
              <a:ln w="0">
                <a:noFill/>
              </a:ln>
            </p:spPr>
            <p:txBody>
              <a:bodyPr/>
              <a:lstStyle/>
              <a:p>
                <a:r>
                  <a:rPr lang="it-IT">
                    <a:noFill/>
                  </a:rPr>
                  <a:t> </a:t>
                </a:r>
              </a:p>
            </p:txBody>
          </p:sp>
        </mc:Fallback>
      </mc:AlternateContent>
      <p:sp>
        <p:nvSpPr>
          <p:cNvPr id="31" name="sum_1">
            <a:extLst>
              <a:ext uri="{FF2B5EF4-FFF2-40B4-BE49-F238E27FC236}">
                <a16:creationId xmlns:a16="http://schemas.microsoft.com/office/drawing/2014/main" id="{E8105C97-C002-42E9-BECC-AA32B8EB00F6}"/>
              </a:ext>
            </a:extLst>
          </p:cNvPr>
          <p:cNvSpPr>
            <a:spLocks noGrp="1"/>
          </p:cNvSpPr>
          <p:nvPr/>
        </p:nvSpPr>
        <p:spPr>
          <a:xfrm>
            <a:off x="3381375" y="2428875"/>
            <a:ext cx="2190750" cy="857250"/>
          </a:xfrm>
          <a:prstGeom prst="ellipse">
            <a:avLst/>
          </a:prstGeom>
          <a:solidFill>
            <a:srgbClr val="F1F4F7"/>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2" name="sum_math_1" descr="x_1W_{11}+x_2W_{21}">
                <a:extLst>
                  <a:ext uri="{FF2B5EF4-FFF2-40B4-BE49-F238E27FC236}">
                    <a16:creationId xmlns:a16="http://schemas.microsoft.com/office/drawing/2014/main" id="{014BAD58-C52A-4ABE-BA07-74A4E3DE3DC9}"/>
                  </a:ext>
                </a:extLst>
              </p:cNvPr>
              <p:cNvSpPr>
                <a:spLocks noGrp="1"/>
              </p:cNvSpPr>
              <p:nvPr/>
            </p:nvSpPr>
            <p:spPr>
              <a:xfrm>
                <a:off x="3381375" y="2476500"/>
                <a:ext cx="219075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𝑥</m:t>
                          </m:r>
                        </m:e>
                        <m:sub>
                          <m:r>
                            <a:rPr lang="en-GB" sz="2100">
                              <a:solidFill>
                                <a:srgbClr val="182D45"/>
                              </a:solidFill>
                              <a:latin typeface="Cambria Math"/>
                              <a:ea typeface="Cambria Math"/>
                              <a:cs typeface="Cambria Math"/>
                            </a:rPr>
                            <m:t>1</m:t>
                          </m:r>
                        </m:sub>
                      </m:sSub>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𝑊</m:t>
                          </m:r>
                        </m:e>
                        <m:sub>
                          <m:r>
                            <a:rPr lang="en-GB" sz="2100">
                              <a:solidFill>
                                <a:srgbClr val="182D45"/>
                              </a:solidFill>
                              <a:latin typeface="Cambria Math"/>
                              <a:ea typeface="Cambria Math"/>
                              <a:cs typeface="Cambria Math"/>
                            </a:rPr>
                            <m:t>11</m:t>
                          </m:r>
                        </m:sub>
                      </m:sSub>
                      <m:r>
                        <a:rPr lang="en-GB" sz="2100">
                          <a:solidFill>
                            <a:srgbClr val="182D45"/>
                          </a:solidFill>
                          <a:latin typeface="Cambria Math"/>
                          <a:ea typeface="Cambria Math"/>
                          <a:cs typeface="Cambria Math"/>
                        </a:rPr>
                        <m:t>+</m:t>
                      </m:r>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𝑥</m:t>
                          </m:r>
                        </m:e>
                        <m:sub>
                          <m:r>
                            <a:rPr lang="en-GB" sz="2100">
                              <a:solidFill>
                                <a:srgbClr val="182D45"/>
                              </a:solidFill>
                              <a:latin typeface="Cambria Math"/>
                              <a:ea typeface="Cambria Math"/>
                              <a:cs typeface="Cambria Math"/>
                            </a:rPr>
                            <m:t>2</m:t>
                          </m:r>
                        </m:sub>
                      </m:sSub>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𝑊</m:t>
                          </m:r>
                        </m:e>
                        <m:sub>
                          <m:r>
                            <a:rPr lang="en-GB" sz="2100">
                              <a:solidFill>
                                <a:srgbClr val="182D45"/>
                              </a:solidFill>
                              <a:latin typeface="Cambria Math"/>
                              <a:ea typeface="Cambria Math"/>
                              <a:cs typeface="Cambria Math"/>
                            </a:rPr>
                            <m:t>21</m:t>
                          </m:r>
                        </m:sub>
                      </m:sSub>
                    </m:oMath>
                  </m:oMathPara>
                </a14:m>
                <a:endParaRPr lang="en-GB" sz="2100"/>
              </a:p>
            </p:txBody>
          </p:sp>
        </mc:Choice>
        <mc:Fallback xmlns="">
          <p:sp>
            <p:nvSpPr>
              <p:cNvPr id="32" name="sum_math_1" descr="x_1W_{11}+x_2W_{21}">
                <a:extLst>
                  <a:ext uri="{FF2B5EF4-FFF2-40B4-BE49-F238E27FC236}">
                    <a16:creationId xmlns:a16="http://schemas.microsoft.com/office/drawing/2014/main" id="{014BAD58-C52A-4ABE-BA07-74A4E3DE3DC9}"/>
                  </a:ext>
                </a:extLst>
              </p:cNvPr>
              <p:cNvSpPr>
                <a:spLocks noGrp="1" noRot="1" noChangeAspect="1" noMove="1" noResize="1" noEditPoints="1" noAdjustHandles="1" noChangeArrowheads="1" noChangeShapeType="1" noTextEdit="1"/>
              </p:cNvSpPr>
              <p:nvPr/>
            </p:nvSpPr>
            <p:spPr>
              <a:xfrm>
                <a:off x="3381375" y="2476500"/>
                <a:ext cx="2190750" cy="762000"/>
              </a:xfrm>
              <a:prstGeom prst="rect">
                <a:avLst/>
              </a:prstGeom>
              <a:blipFill>
                <a:blip r:embed="rId11"/>
                <a:stretch>
                  <a:fillRect/>
                </a:stretch>
              </a:blipFill>
              <a:ln w="0">
                <a:noFill/>
              </a:ln>
            </p:spPr>
            <p:txBody>
              <a:bodyPr/>
              <a:lstStyle/>
              <a:p>
                <a:r>
                  <a:rPr lang="it-IT">
                    <a:noFill/>
                  </a:rPr>
                  <a:t> </a:t>
                </a:r>
              </a:p>
            </p:txBody>
          </p:sp>
        </mc:Fallback>
      </mc:AlternateContent>
      <p:sp>
        <p:nvSpPr>
          <p:cNvPr id="33" name="pre_1">
            <a:extLst>
              <a:ext uri="{FF2B5EF4-FFF2-40B4-BE49-F238E27FC236}">
                <a16:creationId xmlns:a16="http://schemas.microsoft.com/office/drawing/2014/main" id="{8B972135-212C-49DE-B2B1-2D00032446C2}"/>
              </a:ext>
            </a:extLst>
          </p:cNvPr>
          <p:cNvSpPr>
            <a:spLocks noGrp="1"/>
          </p:cNvSpPr>
          <p:nvPr/>
        </p:nvSpPr>
        <p:spPr>
          <a:xfrm>
            <a:off x="7019925" y="2400300"/>
            <a:ext cx="914400" cy="914400"/>
          </a:xfrm>
          <a:prstGeom prst="ellipse">
            <a:avLst/>
          </a:prstGeom>
          <a:solidFill>
            <a:srgbClr val="FFFBE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4" name="pre_math_1" descr="a_1(\mathbf{x})">
                <a:extLst>
                  <a:ext uri="{FF2B5EF4-FFF2-40B4-BE49-F238E27FC236}">
                    <a16:creationId xmlns:a16="http://schemas.microsoft.com/office/drawing/2014/main" id="{B043DBFB-900E-4BEA-B6CE-28E7581DC7E4}"/>
                  </a:ext>
                </a:extLst>
              </p:cNvPr>
              <p:cNvSpPr>
                <a:spLocks noGrp="1"/>
              </p:cNvSpPr>
              <p:nvPr/>
            </p:nvSpPr>
            <p:spPr>
              <a:xfrm>
                <a:off x="7019925" y="24003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182D45"/>
                          </a:solidFill>
                          <a:latin typeface="Cambria Math" panose="02040503050406030204" pitchFamily="18" charset="0"/>
                          <a:ea typeface="Cambria Math"/>
                          <a:cs typeface="Cambria Math"/>
                        </a:rPr>
                        <m:t> </m:t>
                      </m:r>
                      <m:sSub>
                        <m:sSubPr>
                          <m:ctrlPr>
                            <a:rPr lang="en-GB" sz="2200">
                              <a:solidFill>
                                <a:srgbClr val="182D45"/>
                              </a:solidFill>
                              <a:latin typeface="Cambria Math"/>
                              <a:ea typeface="Cambria Math"/>
                              <a:cs typeface="Cambria Math"/>
                            </a:rPr>
                          </m:ctrlPr>
                        </m:sSubPr>
                        <m:e>
                          <m:r>
                            <a:rPr lang="en-GB" sz="2200">
                              <a:solidFill>
                                <a:srgbClr val="182D45"/>
                              </a:solidFill>
                              <a:latin typeface="Cambria Math"/>
                              <a:ea typeface="Cambria Math"/>
                              <a:cs typeface="Cambria Math"/>
                            </a:rPr>
                            <m:t>𝑎</m:t>
                          </m:r>
                        </m:e>
                        <m:sub>
                          <m:r>
                            <a:rPr lang="en-GB" sz="2200">
                              <a:solidFill>
                                <a:srgbClr val="182D45"/>
                              </a:solidFill>
                              <a:latin typeface="Cambria Math"/>
                              <a:ea typeface="Cambria Math"/>
                              <a:cs typeface="Cambria Math"/>
                            </a:rPr>
                            <m:t>1</m:t>
                          </m:r>
                        </m:sub>
                      </m:sSub>
                      <m:d>
                        <m:dPr>
                          <m:ctrlPr>
                            <a:rPr lang="en-GB" sz="2200">
                              <a:solidFill>
                                <a:srgbClr val="182D45"/>
                              </a:solidFill>
                              <a:latin typeface="Cambria Math"/>
                              <a:ea typeface="Cambria Math"/>
                              <a:cs typeface="Cambria Math"/>
                            </a:rPr>
                          </m:ctrlPr>
                        </m:dPr>
                        <m:e>
                          <m:r>
                            <a:rPr lang="en-GB" sz="2200">
                              <a:solidFill>
                                <a:srgbClr val="182D45"/>
                              </a:solidFill>
                              <a:latin typeface="Cambria Math"/>
                              <a:ea typeface="Cambria Math"/>
                              <a:cs typeface="Cambria Math"/>
                            </a:rPr>
                            <m:t>𝐱</m:t>
                          </m:r>
                        </m:e>
                      </m:d>
                    </m:oMath>
                  </m:oMathPara>
                </a14:m>
                <a:endParaRPr lang="en-GB" sz="2200" dirty="0"/>
              </a:p>
            </p:txBody>
          </p:sp>
        </mc:Choice>
        <mc:Fallback xmlns="">
          <p:sp>
            <p:nvSpPr>
              <p:cNvPr id="34" name="pre_math_1" descr="a_1(\mathbf{x})">
                <a:extLst>
                  <a:ext uri="{FF2B5EF4-FFF2-40B4-BE49-F238E27FC236}">
                    <a16:creationId xmlns:a16="http://schemas.microsoft.com/office/drawing/2014/main" id="{B043DBFB-900E-4BEA-B6CE-28E7581DC7E4}"/>
                  </a:ext>
                </a:extLst>
              </p:cNvPr>
              <p:cNvSpPr>
                <a:spLocks noGrp="1" noRot="1" noChangeAspect="1" noMove="1" noResize="1" noEditPoints="1" noAdjustHandles="1" noChangeArrowheads="1" noChangeShapeType="1" noTextEdit="1"/>
              </p:cNvSpPr>
              <p:nvPr/>
            </p:nvSpPr>
            <p:spPr>
              <a:xfrm>
                <a:off x="7019925" y="2400300"/>
                <a:ext cx="914400" cy="914400"/>
              </a:xfrm>
              <a:prstGeom prst="rect">
                <a:avLst/>
              </a:prstGeom>
              <a:blipFill>
                <a:blip r:embed="rId12"/>
                <a:stretch>
                  <a:fillRect/>
                </a:stretch>
              </a:blipFill>
              <a:ln w="0">
                <a:noFill/>
              </a:ln>
            </p:spPr>
            <p:txBody>
              <a:bodyPr/>
              <a:lstStyle/>
              <a:p>
                <a:r>
                  <a:rPr lang="it-IT">
                    <a:noFill/>
                  </a:rPr>
                  <a:t> </a:t>
                </a:r>
              </a:p>
            </p:txBody>
          </p:sp>
        </mc:Fallback>
      </mc:AlternateContent>
      <p:sp>
        <p:nvSpPr>
          <p:cNvPr id="35" name="activation_1">
            <a:extLst>
              <a:ext uri="{FF2B5EF4-FFF2-40B4-BE49-F238E27FC236}">
                <a16:creationId xmlns:a16="http://schemas.microsoft.com/office/drawing/2014/main" id="{19AFBD44-FFE0-4409-919E-2DD6E464C9EF}"/>
              </a:ext>
            </a:extLst>
          </p:cNvPr>
          <p:cNvSpPr>
            <a:spLocks noGrp="1"/>
          </p:cNvSpPr>
          <p:nvPr/>
        </p:nvSpPr>
        <p:spPr>
          <a:xfrm>
            <a:off x="10210800" y="2400300"/>
            <a:ext cx="914400" cy="914400"/>
          </a:xfrm>
          <a:prstGeom prst="ellipse">
            <a:avLst/>
          </a:prstGeom>
          <a:solidFill>
            <a:srgbClr val="EFF8F4"/>
          </a:solidFill>
          <a:ln w="19050">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36" name="activation_math_1" descr="\phi_1(\mathbf{x})">
                <a:extLst>
                  <a:ext uri="{FF2B5EF4-FFF2-40B4-BE49-F238E27FC236}">
                    <a16:creationId xmlns:a16="http://schemas.microsoft.com/office/drawing/2014/main" id="{A7075F15-D717-4D44-9A07-48D1A0406179}"/>
                  </a:ext>
                </a:extLst>
              </p:cNvPr>
              <p:cNvSpPr>
                <a:spLocks noGrp="1"/>
              </p:cNvSpPr>
              <p:nvPr/>
            </p:nvSpPr>
            <p:spPr>
              <a:xfrm>
                <a:off x="10210800" y="24003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087F83"/>
                          </a:solidFill>
                          <a:latin typeface="Cambria Math" panose="02040503050406030204" pitchFamily="18" charset="0"/>
                          <a:ea typeface="Cambria Math"/>
                          <a:cs typeface="Cambria Math"/>
                        </a:rPr>
                        <m:t> </m:t>
                      </m:r>
                      <m:sSub>
                        <m:sSubPr>
                          <m:ctrlPr>
                            <a:rPr lang="en-GB" sz="2200">
                              <a:solidFill>
                                <a:srgbClr val="087F83"/>
                              </a:solidFill>
                              <a:latin typeface="Cambria Math"/>
                              <a:ea typeface="Cambria Math"/>
                              <a:cs typeface="Cambria Math"/>
                            </a:rPr>
                          </m:ctrlPr>
                        </m:sSubPr>
                        <m:e>
                          <m:r>
                            <a:rPr lang="en-GB" sz="2200">
                              <a:solidFill>
                                <a:srgbClr val="087F83"/>
                              </a:solidFill>
                              <a:latin typeface="Cambria Math"/>
                              <a:ea typeface="Cambria Math"/>
                              <a:cs typeface="Cambria Math"/>
                            </a:rPr>
                            <m:t>𝜙</m:t>
                          </m:r>
                        </m:e>
                        <m:sub>
                          <m:r>
                            <a:rPr lang="en-GB" sz="2200">
                              <a:solidFill>
                                <a:srgbClr val="087F83"/>
                              </a:solidFill>
                              <a:latin typeface="Cambria Math"/>
                              <a:ea typeface="Cambria Math"/>
                              <a:cs typeface="Cambria Math"/>
                            </a:rPr>
                            <m:t>1</m:t>
                          </m:r>
                        </m:sub>
                      </m:sSub>
                      <m:d>
                        <m:dPr>
                          <m:ctrlPr>
                            <a:rPr lang="en-GB" sz="2200">
                              <a:solidFill>
                                <a:srgbClr val="087F83"/>
                              </a:solidFill>
                              <a:latin typeface="Cambria Math"/>
                              <a:ea typeface="Cambria Math"/>
                              <a:cs typeface="Cambria Math"/>
                            </a:rPr>
                          </m:ctrlPr>
                        </m:dPr>
                        <m:e>
                          <m:r>
                            <a:rPr lang="en-GB" sz="2200">
                              <a:solidFill>
                                <a:srgbClr val="087F83"/>
                              </a:solidFill>
                              <a:latin typeface="Cambria Math"/>
                              <a:ea typeface="Cambria Math"/>
                              <a:cs typeface="Cambria Math"/>
                            </a:rPr>
                            <m:t>𝐱</m:t>
                          </m:r>
                        </m:e>
                      </m:d>
                    </m:oMath>
                  </m:oMathPara>
                </a14:m>
                <a:endParaRPr lang="en-GB" sz="2200" dirty="0"/>
              </a:p>
            </p:txBody>
          </p:sp>
        </mc:Choice>
        <mc:Fallback xmlns="">
          <p:sp>
            <p:nvSpPr>
              <p:cNvPr id="36" name="activation_math_1" descr="\phi_1(\mathbf{x})">
                <a:extLst>
                  <a:ext uri="{FF2B5EF4-FFF2-40B4-BE49-F238E27FC236}">
                    <a16:creationId xmlns:a16="http://schemas.microsoft.com/office/drawing/2014/main" id="{A7075F15-D717-4D44-9A07-48D1A0406179}"/>
                  </a:ext>
                </a:extLst>
              </p:cNvPr>
              <p:cNvSpPr>
                <a:spLocks noGrp="1" noRot="1" noChangeAspect="1" noMove="1" noResize="1" noEditPoints="1" noAdjustHandles="1" noChangeArrowheads="1" noChangeShapeType="1" noTextEdit="1"/>
              </p:cNvSpPr>
              <p:nvPr/>
            </p:nvSpPr>
            <p:spPr>
              <a:xfrm>
                <a:off x="10210800" y="2400300"/>
                <a:ext cx="914400" cy="914400"/>
              </a:xfrm>
              <a:prstGeom prst="rect">
                <a:avLst/>
              </a:prstGeom>
              <a:blipFill>
                <a:blip r:embed="rId13"/>
                <a:stretch>
                  <a:fillRect l="-2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 name="bias_math_1" descr="+b_1">
                <a:extLst>
                  <a:ext uri="{FF2B5EF4-FFF2-40B4-BE49-F238E27FC236}">
                    <a16:creationId xmlns:a16="http://schemas.microsoft.com/office/drawing/2014/main" id="{8AB0B6E1-FB31-4ED0-8443-DA78F1CAE238}"/>
                  </a:ext>
                </a:extLst>
              </p:cNvPr>
              <p:cNvSpPr>
                <a:spLocks noGrp="1"/>
              </p:cNvSpPr>
              <p:nvPr/>
            </p:nvSpPr>
            <p:spPr>
              <a:xfrm>
                <a:off x="5791200" y="244792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182D45"/>
                          </a:solidFill>
                          <a:latin typeface="Cambria Math"/>
                          <a:ea typeface="Cambria Math"/>
                          <a:cs typeface="Cambria Math"/>
                        </a:rPr>
                        <m:t>+</m:t>
                      </m:r>
                      <m:sSub>
                        <m:sSubPr>
                          <m:ctrlPr>
                            <a:rPr lang="en-GB" sz="2300">
                              <a:solidFill>
                                <a:srgbClr val="182D45"/>
                              </a:solidFill>
                              <a:latin typeface="Cambria Math"/>
                              <a:ea typeface="Cambria Math"/>
                              <a:cs typeface="Cambria Math"/>
                            </a:rPr>
                          </m:ctrlPr>
                        </m:sSubPr>
                        <m:e>
                          <m:r>
                            <a:rPr lang="en-GB" sz="2300">
                              <a:solidFill>
                                <a:srgbClr val="182D45"/>
                              </a:solidFill>
                              <a:latin typeface="Cambria Math"/>
                              <a:ea typeface="Cambria Math"/>
                              <a:cs typeface="Cambria Math"/>
                            </a:rPr>
                            <m:t>𝑏</m:t>
                          </m:r>
                        </m:e>
                        <m:sub>
                          <m:r>
                            <a:rPr lang="en-GB" sz="2300">
                              <a:solidFill>
                                <a:srgbClr val="182D45"/>
                              </a:solidFill>
                              <a:latin typeface="Cambria Math"/>
                              <a:ea typeface="Cambria Math"/>
                              <a:cs typeface="Cambria Math"/>
                            </a:rPr>
                            <m:t>1</m:t>
                          </m:r>
                        </m:sub>
                      </m:sSub>
                    </m:oMath>
                  </m:oMathPara>
                </a14:m>
                <a:endParaRPr lang="en-GB" sz="2300"/>
              </a:p>
            </p:txBody>
          </p:sp>
        </mc:Choice>
        <mc:Fallback xmlns="">
          <p:sp>
            <p:nvSpPr>
              <p:cNvPr id="37" name="bias_math_1" descr="+b_1">
                <a:extLst>
                  <a:ext uri="{FF2B5EF4-FFF2-40B4-BE49-F238E27FC236}">
                    <a16:creationId xmlns:a16="http://schemas.microsoft.com/office/drawing/2014/main" id="{8AB0B6E1-FB31-4ED0-8443-DA78F1CAE238}"/>
                  </a:ext>
                </a:extLst>
              </p:cNvPr>
              <p:cNvSpPr>
                <a:spLocks noGrp="1" noRot="1" noChangeAspect="1" noMove="1" noResize="1" noEditPoints="1" noAdjustHandles="1" noChangeArrowheads="1" noChangeShapeType="1" noTextEdit="1"/>
              </p:cNvSpPr>
              <p:nvPr/>
            </p:nvSpPr>
            <p:spPr>
              <a:xfrm>
                <a:off x="5791200" y="2447925"/>
                <a:ext cx="1000125" cy="352425"/>
              </a:xfrm>
              <a:prstGeom prst="rect">
                <a:avLst/>
              </a:prstGeom>
              <a:blipFill>
                <a:blip r:embed="rId14"/>
                <a:stretch>
                  <a:fillRect b="-15789"/>
                </a:stretch>
              </a:blipFill>
              <a:ln w="0">
                <a:noFill/>
              </a:ln>
            </p:spPr>
            <p:txBody>
              <a:bodyPr/>
              <a:lstStyle/>
              <a:p>
                <a:r>
                  <a:rPr lang="it-IT">
                    <a:noFill/>
                  </a:rPr>
                  <a:t> </a:t>
                </a:r>
              </a:p>
            </p:txBody>
          </p:sp>
        </mc:Fallback>
      </mc:AlternateContent>
      <p:sp>
        <p:nvSpPr>
          <p:cNvPr id="38" name="relu_label_1">
            <a:extLst>
              <a:ext uri="{FF2B5EF4-FFF2-40B4-BE49-F238E27FC236}">
                <a16:creationId xmlns:a16="http://schemas.microsoft.com/office/drawing/2014/main" id="{6BB0C1A4-A5CB-4F7F-9C59-93FBD3C85ACA}"/>
              </a:ext>
            </a:extLst>
          </p:cNvPr>
          <p:cNvSpPr>
            <a:spLocks noGrp="1"/>
          </p:cNvSpPr>
          <p:nvPr/>
        </p:nvSpPr>
        <p:spPr>
          <a:xfrm>
            <a:off x="8477250" y="2447925"/>
            <a:ext cx="1238250" cy="352425"/>
          </a:xfrm>
          <a:prstGeom prst="rect">
            <a:avLst/>
          </a:prstGeom>
          <a:noFill/>
          <a:ln w="0">
            <a:noFill/>
          </a:ln>
        </p:spPr>
        <p:txBody>
          <a:bodyPr anchor="ctr">
            <a:noAutofit/>
          </a:bodyPr>
          <a:lstStyle/>
          <a:p>
            <a:pPr algn="ctr">
              <a:defRPr sz="1875" b="0">
                <a:solidFill>
                  <a:srgbClr val="182D45"/>
                </a:solidFill>
                <a:latin typeface="DejaVu Sans"/>
                <a:ea typeface="DejaVu Sans"/>
                <a:cs typeface="DejaVu Sans"/>
              </a:defRPr>
            </a:pPr>
            <a:r>
              <a:rPr sz="1875" b="0">
                <a:solidFill>
                  <a:srgbClr val="182D45"/>
                </a:solidFill>
                <a:latin typeface="DejaVu Sans"/>
                <a:ea typeface="DejaVu Sans"/>
                <a:cs typeface="DejaVu Sans"/>
              </a:rPr>
              <a:t>ReLU</a:t>
            </a:r>
          </a:p>
        </p:txBody>
      </p:sp>
      <p:sp>
        <p:nvSpPr>
          <p:cNvPr id="39" name="sum_2">
            <a:extLst>
              <a:ext uri="{FF2B5EF4-FFF2-40B4-BE49-F238E27FC236}">
                <a16:creationId xmlns:a16="http://schemas.microsoft.com/office/drawing/2014/main" id="{001BE4BC-09A6-4A4C-81E8-C6D938986575}"/>
              </a:ext>
            </a:extLst>
          </p:cNvPr>
          <p:cNvSpPr>
            <a:spLocks noGrp="1"/>
          </p:cNvSpPr>
          <p:nvPr/>
        </p:nvSpPr>
        <p:spPr>
          <a:xfrm>
            <a:off x="3381375" y="3667125"/>
            <a:ext cx="2190750" cy="857250"/>
          </a:xfrm>
          <a:prstGeom prst="ellipse">
            <a:avLst/>
          </a:prstGeom>
          <a:solidFill>
            <a:srgbClr val="F1F4F7"/>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40" name="sum_math_2" descr="x_1W_{12}+x_2W_{22}">
                <a:extLst>
                  <a:ext uri="{FF2B5EF4-FFF2-40B4-BE49-F238E27FC236}">
                    <a16:creationId xmlns:a16="http://schemas.microsoft.com/office/drawing/2014/main" id="{DFD362A0-E1FC-4199-BC8F-D35001C54A3A}"/>
                  </a:ext>
                </a:extLst>
              </p:cNvPr>
              <p:cNvSpPr>
                <a:spLocks noGrp="1"/>
              </p:cNvSpPr>
              <p:nvPr/>
            </p:nvSpPr>
            <p:spPr>
              <a:xfrm>
                <a:off x="3381375" y="3714750"/>
                <a:ext cx="219075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𝑥</m:t>
                          </m:r>
                        </m:e>
                        <m:sub>
                          <m:r>
                            <a:rPr lang="en-GB" sz="2100">
                              <a:solidFill>
                                <a:srgbClr val="182D45"/>
                              </a:solidFill>
                              <a:latin typeface="Cambria Math"/>
                              <a:ea typeface="Cambria Math"/>
                              <a:cs typeface="Cambria Math"/>
                            </a:rPr>
                            <m:t>1</m:t>
                          </m:r>
                        </m:sub>
                      </m:sSub>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𝑊</m:t>
                          </m:r>
                        </m:e>
                        <m:sub>
                          <m:r>
                            <a:rPr lang="en-GB" sz="2100">
                              <a:solidFill>
                                <a:srgbClr val="182D45"/>
                              </a:solidFill>
                              <a:latin typeface="Cambria Math"/>
                              <a:ea typeface="Cambria Math"/>
                              <a:cs typeface="Cambria Math"/>
                            </a:rPr>
                            <m:t>12</m:t>
                          </m:r>
                        </m:sub>
                      </m:sSub>
                      <m:r>
                        <a:rPr lang="en-GB" sz="2100">
                          <a:solidFill>
                            <a:srgbClr val="182D45"/>
                          </a:solidFill>
                          <a:latin typeface="Cambria Math"/>
                          <a:ea typeface="Cambria Math"/>
                          <a:cs typeface="Cambria Math"/>
                        </a:rPr>
                        <m:t>+</m:t>
                      </m:r>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𝑥</m:t>
                          </m:r>
                        </m:e>
                        <m:sub>
                          <m:r>
                            <a:rPr lang="en-GB" sz="2100">
                              <a:solidFill>
                                <a:srgbClr val="182D45"/>
                              </a:solidFill>
                              <a:latin typeface="Cambria Math"/>
                              <a:ea typeface="Cambria Math"/>
                              <a:cs typeface="Cambria Math"/>
                            </a:rPr>
                            <m:t>2</m:t>
                          </m:r>
                        </m:sub>
                      </m:sSub>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𝑊</m:t>
                          </m:r>
                        </m:e>
                        <m:sub>
                          <m:r>
                            <a:rPr lang="en-GB" sz="2100">
                              <a:solidFill>
                                <a:srgbClr val="182D45"/>
                              </a:solidFill>
                              <a:latin typeface="Cambria Math"/>
                              <a:ea typeface="Cambria Math"/>
                              <a:cs typeface="Cambria Math"/>
                            </a:rPr>
                            <m:t>22</m:t>
                          </m:r>
                        </m:sub>
                      </m:sSub>
                    </m:oMath>
                  </m:oMathPara>
                </a14:m>
                <a:endParaRPr lang="en-GB" sz="2100"/>
              </a:p>
            </p:txBody>
          </p:sp>
        </mc:Choice>
        <mc:Fallback xmlns="">
          <p:sp>
            <p:nvSpPr>
              <p:cNvPr id="40" name="sum_math_2" descr="x_1W_{12}+x_2W_{22}">
                <a:extLst>
                  <a:ext uri="{FF2B5EF4-FFF2-40B4-BE49-F238E27FC236}">
                    <a16:creationId xmlns:a16="http://schemas.microsoft.com/office/drawing/2014/main" id="{DFD362A0-E1FC-4199-BC8F-D35001C54A3A}"/>
                  </a:ext>
                </a:extLst>
              </p:cNvPr>
              <p:cNvSpPr>
                <a:spLocks noGrp="1" noRot="1" noChangeAspect="1" noMove="1" noResize="1" noEditPoints="1" noAdjustHandles="1" noChangeArrowheads="1" noChangeShapeType="1" noTextEdit="1"/>
              </p:cNvSpPr>
              <p:nvPr/>
            </p:nvSpPr>
            <p:spPr>
              <a:xfrm>
                <a:off x="3381375" y="3714750"/>
                <a:ext cx="2190750" cy="762000"/>
              </a:xfrm>
              <a:prstGeom prst="rect">
                <a:avLst/>
              </a:prstGeom>
              <a:blipFill>
                <a:blip r:embed="rId15"/>
                <a:stretch>
                  <a:fillRect/>
                </a:stretch>
              </a:blipFill>
              <a:ln w="0">
                <a:noFill/>
              </a:ln>
            </p:spPr>
            <p:txBody>
              <a:bodyPr/>
              <a:lstStyle/>
              <a:p>
                <a:r>
                  <a:rPr lang="it-IT">
                    <a:noFill/>
                  </a:rPr>
                  <a:t> </a:t>
                </a:r>
              </a:p>
            </p:txBody>
          </p:sp>
        </mc:Fallback>
      </mc:AlternateContent>
      <p:sp>
        <p:nvSpPr>
          <p:cNvPr id="41" name="pre_2">
            <a:extLst>
              <a:ext uri="{FF2B5EF4-FFF2-40B4-BE49-F238E27FC236}">
                <a16:creationId xmlns:a16="http://schemas.microsoft.com/office/drawing/2014/main" id="{8080B5D7-50FA-4A3B-BFD3-353D810592A5}"/>
              </a:ext>
            </a:extLst>
          </p:cNvPr>
          <p:cNvSpPr>
            <a:spLocks noGrp="1"/>
          </p:cNvSpPr>
          <p:nvPr/>
        </p:nvSpPr>
        <p:spPr>
          <a:xfrm>
            <a:off x="7019925" y="3638550"/>
            <a:ext cx="914400" cy="914400"/>
          </a:xfrm>
          <a:prstGeom prst="ellipse">
            <a:avLst/>
          </a:prstGeom>
          <a:solidFill>
            <a:srgbClr val="FFFBE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42" name="pre_math_2" descr="a_2(\mathbf{x})">
                <a:extLst>
                  <a:ext uri="{FF2B5EF4-FFF2-40B4-BE49-F238E27FC236}">
                    <a16:creationId xmlns:a16="http://schemas.microsoft.com/office/drawing/2014/main" id="{336D1271-0F7A-4FD9-B5E8-D1631C65891B}"/>
                  </a:ext>
                </a:extLst>
              </p:cNvPr>
              <p:cNvSpPr>
                <a:spLocks noGrp="1"/>
              </p:cNvSpPr>
              <p:nvPr/>
            </p:nvSpPr>
            <p:spPr>
              <a:xfrm>
                <a:off x="7019925" y="363855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182D45"/>
                          </a:solidFill>
                          <a:latin typeface="Cambria Math" panose="02040503050406030204" pitchFamily="18" charset="0"/>
                          <a:ea typeface="Cambria Math"/>
                          <a:cs typeface="Cambria Math"/>
                        </a:rPr>
                        <m:t> </m:t>
                      </m:r>
                      <m:sSub>
                        <m:sSubPr>
                          <m:ctrlPr>
                            <a:rPr lang="en-GB" sz="2200">
                              <a:solidFill>
                                <a:srgbClr val="182D45"/>
                              </a:solidFill>
                              <a:latin typeface="Cambria Math"/>
                              <a:ea typeface="Cambria Math"/>
                              <a:cs typeface="Cambria Math"/>
                            </a:rPr>
                          </m:ctrlPr>
                        </m:sSubPr>
                        <m:e>
                          <m:r>
                            <a:rPr lang="en-GB" sz="2200">
                              <a:solidFill>
                                <a:srgbClr val="182D45"/>
                              </a:solidFill>
                              <a:latin typeface="Cambria Math"/>
                              <a:ea typeface="Cambria Math"/>
                              <a:cs typeface="Cambria Math"/>
                            </a:rPr>
                            <m:t>𝑎</m:t>
                          </m:r>
                        </m:e>
                        <m:sub>
                          <m:r>
                            <a:rPr lang="en-GB" sz="2200">
                              <a:solidFill>
                                <a:srgbClr val="182D45"/>
                              </a:solidFill>
                              <a:latin typeface="Cambria Math"/>
                              <a:ea typeface="Cambria Math"/>
                              <a:cs typeface="Cambria Math"/>
                            </a:rPr>
                            <m:t>2</m:t>
                          </m:r>
                        </m:sub>
                      </m:sSub>
                      <m:d>
                        <m:dPr>
                          <m:ctrlPr>
                            <a:rPr lang="en-GB" sz="2200">
                              <a:solidFill>
                                <a:srgbClr val="182D45"/>
                              </a:solidFill>
                              <a:latin typeface="Cambria Math"/>
                              <a:ea typeface="Cambria Math"/>
                              <a:cs typeface="Cambria Math"/>
                            </a:rPr>
                          </m:ctrlPr>
                        </m:dPr>
                        <m:e>
                          <m:r>
                            <a:rPr lang="en-GB" sz="2200">
                              <a:solidFill>
                                <a:srgbClr val="182D45"/>
                              </a:solidFill>
                              <a:latin typeface="Cambria Math"/>
                              <a:ea typeface="Cambria Math"/>
                              <a:cs typeface="Cambria Math"/>
                            </a:rPr>
                            <m:t>𝐱</m:t>
                          </m:r>
                        </m:e>
                      </m:d>
                    </m:oMath>
                  </m:oMathPara>
                </a14:m>
                <a:endParaRPr lang="en-GB" sz="2200" dirty="0"/>
              </a:p>
            </p:txBody>
          </p:sp>
        </mc:Choice>
        <mc:Fallback xmlns="">
          <p:sp>
            <p:nvSpPr>
              <p:cNvPr id="42" name="pre_math_2" descr="a_2(\mathbf{x})">
                <a:extLst>
                  <a:ext uri="{FF2B5EF4-FFF2-40B4-BE49-F238E27FC236}">
                    <a16:creationId xmlns:a16="http://schemas.microsoft.com/office/drawing/2014/main" id="{336D1271-0F7A-4FD9-B5E8-D1631C65891B}"/>
                  </a:ext>
                </a:extLst>
              </p:cNvPr>
              <p:cNvSpPr>
                <a:spLocks noGrp="1" noRot="1" noChangeAspect="1" noMove="1" noResize="1" noEditPoints="1" noAdjustHandles="1" noChangeArrowheads="1" noChangeShapeType="1" noTextEdit="1"/>
              </p:cNvSpPr>
              <p:nvPr/>
            </p:nvSpPr>
            <p:spPr>
              <a:xfrm>
                <a:off x="7019925" y="3638550"/>
                <a:ext cx="914400" cy="914400"/>
              </a:xfrm>
              <a:prstGeom prst="rect">
                <a:avLst/>
              </a:prstGeom>
              <a:blipFill>
                <a:blip r:embed="rId16"/>
                <a:stretch>
                  <a:fillRect/>
                </a:stretch>
              </a:blipFill>
              <a:ln w="0">
                <a:noFill/>
              </a:ln>
            </p:spPr>
            <p:txBody>
              <a:bodyPr/>
              <a:lstStyle/>
              <a:p>
                <a:r>
                  <a:rPr lang="it-IT">
                    <a:noFill/>
                  </a:rPr>
                  <a:t> </a:t>
                </a:r>
              </a:p>
            </p:txBody>
          </p:sp>
        </mc:Fallback>
      </mc:AlternateContent>
      <p:sp>
        <p:nvSpPr>
          <p:cNvPr id="43" name="activation_2">
            <a:extLst>
              <a:ext uri="{FF2B5EF4-FFF2-40B4-BE49-F238E27FC236}">
                <a16:creationId xmlns:a16="http://schemas.microsoft.com/office/drawing/2014/main" id="{3E1480BD-E858-4F4E-AD87-4B2B1E20B8BC}"/>
              </a:ext>
            </a:extLst>
          </p:cNvPr>
          <p:cNvSpPr>
            <a:spLocks noGrp="1"/>
          </p:cNvSpPr>
          <p:nvPr/>
        </p:nvSpPr>
        <p:spPr>
          <a:xfrm>
            <a:off x="10210800" y="3638550"/>
            <a:ext cx="914400" cy="914400"/>
          </a:xfrm>
          <a:prstGeom prst="ellipse">
            <a:avLst/>
          </a:prstGeom>
          <a:solidFill>
            <a:srgbClr val="EFF8F4"/>
          </a:solidFill>
          <a:ln w="19050">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44" name="activation_math_2" descr="\phi_2(\mathbf{x})">
                <a:extLst>
                  <a:ext uri="{FF2B5EF4-FFF2-40B4-BE49-F238E27FC236}">
                    <a16:creationId xmlns:a16="http://schemas.microsoft.com/office/drawing/2014/main" id="{8C811C57-6B2F-442C-BFD5-A0E29DD981BD}"/>
                  </a:ext>
                </a:extLst>
              </p:cNvPr>
              <p:cNvSpPr>
                <a:spLocks noGrp="1"/>
              </p:cNvSpPr>
              <p:nvPr/>
            </p:nvSpPr>
            <p:spPr>
              <a:xfrm>
                <a:off x="10210800" y="363855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087F83"/>
                          </a:solidFill>
                          <a:latin typeface="Cambria Math" panose="02040503050406030204" pitchFamily="18" charset="0"/>
                          <a:ea typeface="Cambria Math"/>
                          <a:cs typeface="Cambria Math"/>
                        </a:rPr>
                        <m:t> </m:t>
                      </m:r>
                      <m:sSub>
                        <m:sSubPr>
                          <m:ctrlPr>
                            <a:rPr lang="en-GB" sz="2200">
                              <a:solidFill>
                                <a:srgbClr val="087F83"/>
                              </a:solidFill>
                              <a:latin typeface="Cambria Math"/>
                              <a:ea typeface="Cambria Math"/>
                              <a:cs typeface="Cambria Math"/>
                            </a:rPr>
                          </m:ctrlPr>
                        </m:sSubPr>
                        <m:e>
                          <m:r>
                            <a:rPr lang="en-GB" sz="2200">
                              <a:solidFill>
                                <a:srgbClr val="087F83"/>
                              </a:solidFill>
                              <a:latin typeface="Cambria Math"/>
                              <a:ea typeface="Cambria Math"/>
                              <a:cs typeface="Cambria Math"/>
                            </a:rPr>
                            <m:t>𝜙</m:t>
                          </m:r>
                        </m:e>
                        <m:sub>
                          <m:r>
                            <a:rPr lang="en-GB" sz="2200">
                              <a:solidFill>
                                <a:srgbClr val="087F83"/>
                              </a:solidFill>
                              <a:latin typeface="Cambria Math"/>
                              <a:ea typeface="Cambria Math"/>
                              <a:cs typeface="Cambria Math"/>
                            </a:rPr>
                            <m:t>2</m:t>
                          </m:r>
                        </m:sub>
                      </m:sSub>
                      <m:d>
                        <m:dPr>
                          <m:ctrlPr>
                            <a:rPr lang="en-GB" sz="2200">
                              <a:solidFill>
                                <a:srgbClr val="087F83"/>
                              </a:solidFill>
                              <a:latin typeface="Cambria Math"/>
                              <a:ea typeface="Cambria Math"/>
                              <a:cs typeface="Cambria Math"/>
                            </a:rPr>
                          </m:ctrlPr>
                        </m:dPr>
                        <m:e>
                          <m:r>
                            <a:rPr lang="en-GB" sz="2200">
                              <a:solidFill>
                                <a:srgbClr val="087F83"/>
                              </a:solidFill>
                              <a:latin typeface="Cambria Math"/>
                              <a:ea typeface="Cambria Math"/>
                              <a:cs typeface="Cambria Math"/>
                            </a:rPr>
                            <m:t>𝐱</m:t>
                          </m:r>
                        </m:e>
                      </m:d>
                    </m:oMath>
                  </m:oMathPara>
                </a14:m>
                <a:endParaRPr lang="en-GB" sz="2200" dirty="0"/>
              </a:p>
            </p:txBody>
          </p:sp>
        </mc:Choice>
        <mc:Fallback xmlns="">
          <p:sp>
            <p:nvSpPr>
              <p:cNvPr id="44" name="activation_math_2" descr="\phi_2(\mathbf{x})">
                <a:extLst>
                  <a:ext uri="{FF2B5EF4-FFF2-40B4-BE49-F238E27FC236}">
                    <a16:creationId xmlns:a16="http://schemas.microsoft.com/office/drawing/2014/main" id="{8C811C57-6B2F-442C-BFD5-A0E29DD981BD}"/>
                  </a:ext>
                </a:extLst>
              </p:cNvPr>
              <p:cNvSpPr>
                <a:spLocks noGrp="1" noRot="1" noChangeAspect="1" noMove="1" noResize="1" noEditPoints="1" noAdjustHandles="1" noChangeArrowheads="1" noChangeShapeType="1" noTextEdit="1"/>
              </p:cNvSpPr>
              <p:nvPr/>
            </p:nvSpPr>
            <p:spPr>
              <a:xfrm>
                <a:off x="10210800" y="3638550"/>
                <a:ext cx="914400" cy="914400"/>
              </a:xfrm>
              <a:prstGeom prst="rect">
                <a:avLst/>
              </a:prstGeom>
              <a:blipFill>
                <a:blip r:embed="rId17"/>
                <a:stretch>
                  <a:fillRect l="-2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5" name="bias_math_2" descr="+b_2">
                <a:extLst>
                  <a:ext uri="{FF2B5EF4-FFF2-40B4-BE49-F238E27FC236}">
                    <a16:creationId xmlns:a16="http://schemas.microsoft.com/office/drawing/2014/main" id="{15EAFEE7-002F-4B13-B48A-B9B497096A51}"/>
                  </a:ext>
                </a:extLst>
              </p:cNvPr>
              <p:cNvSpPr>
                <a:spLocks noGrp="1"/>
              </p:cNvSpPr>
              <p:nvPr/>
            </p:nvSpPr>
            <p:spPr>
              <a:xfrm>
                <a:off x="5791200" y="36861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182D45"/>
                          </a:solidFill>
                          <a:latin typeface="Cambria Math"/>
                          <a:ea typeface="Cambria Math"/>
                          <a:cs typeface="Cambria Math"/>
                        </a:rPr>
                        <m:t>+</m:t>
                      </m:r>
                      <m:sSub>
                        <m:sSubPr>
                          <m:ctrlPr>
                            <a:rPr lang="en-GB" sz="2300">
                              <a:solidFill>
                                <a:srgbClr val="182D45"/>
                              </a:solidFill>
                              <a:latin typeface="Cambria Math"/>
                              <a:ea typeface="Cambria Math"/>
                              <a:cs typeface="Cambria Math"/>
                            </a:rPr>
                          </m:ctrlPr>
                        </m:sSubPr>
                        <m:e>
                          <m:r>
                            <a:rPr lang="en-GB" sz="2300">
                              <a:solidFill>
                                <a:srgbClr val="182D45"/>
                              </a:solidFill>
                              <a:latin typeface="Cambria Math"/>
                              <a:ea typeface="Cambria Math"/>
                              <a:cs typeface="Cambria Math"/>
                            </a:rPr>
                            <m:t>𝑏</m:t>
                          </m:r>
                        </m:e>
                        <m:sub>
                          <m:r>
                            <a:rPr lang="en-GB" sz="2300">
                              <a:solidFill>
                                <a:srgbClr val="182D45"/>
                              </a:solidFill>
                              <a:latin typeface="Cambria Math"/>
                              <a:ea typeface="Cambria Math"/>
                              <a:cs typeface="Cambria Math"/>
                            </a:rPr>
                            <m:t>2</m:t>
                          </m:r>
                        </m:sub>
                      </m:sSub>
                    </m:oMath>
                  </m:oMathPara>
                </a14:m>
                <a:endParaRPr lang="en-GB" sz="2300"/>
              </a:p>
            </p:txBody>
          </p:sp>
        </mc:Choice>
        <mc:Fallback xmlns="">
          <p:sp>
            <p:nvSpPr>
              <p:cNvPr id="45" name="bias_math_2" descr="+b_2">
                <a:extLst>
                  <a:ext uri="{FF2B5EF4-FFF2-40B4-BE49-F238E27FC236}">
                    <a16:creationId xmlns:a16="http://schemas.microsoft.com/office/drawing/2014/main" id="{15EAFEE7-002F-4B13-B48A-B9B497096A51}"/>
                  </a:ext>
                </a:extLst>
              </p:cNvPr>
              <p:cNvSpPr>
                <a:spLocks noGrp="1" noRot="1" noChangeAspect="1" noMove="1" noResize="1" noEditPoints="1" noAdjustHandles="1" noChangeArrowheads="1" noChangeShapeType="1" noTextEdit="1"/>
              </p:cNvSpPr>
              <p:nvPr/>
            </p:nvSpPr>
            <p:spPr>
              <a:xfrm>
                <a:off x="5791200" y="3686175"/>
                <a:ext cx="1000125" cy="352425"/>
              </a:xfrm>
              <a:prstGeom prst="rect">
                <a:avLst/>
              </a:prstGeom>
              <a:blipFill>
                <a:blip r:embed="rId18"/>
                <a:stretch>
                  <a:fillRect b="-13793"/>
                </a:stretch>
              </a:blipFill>
              <a:ln w="0">
                <a:noFill/>
              </a:ln>
            </p:spPr>
            <p:txBody>
              <a:bodyPr/>
              <a:lstStyle/>
              <a:p>
                <a:r>
                  <a:rPr lang="it-IT">
                    <a:noFill/>
                  </a:rPr>
                  <a:t> </a:t>
                </a:r>
              </a:p>
            </p:txBody>
          </p:sp>
        </mc:Fallback>
      </mc:AlternateContent>
      <p:sp>
        <p:nvSpPr>
          <p:cNvPr id="46" name="relu_label_2">
            <a:extLst>
              <a:ext uri="{FF2B5EF4-FFF2-40B4-BE49-F238E27FC236}">
                <a16:creationId xmlns:a16="http://schemas.microsoft.com/office/drawing/2014/main" id="{96E41A49-E680-4F59-B14B-1C1B98C7ECFF}"/>
              </a:ext>
            </a:extLst>
          </p:cNvPr>
          <p:cNvSpPr>
            <a:spLocks noGrp="1"/>
          </p:cNvSpPr>
          <p:nvPr/>
        </p:nvSpPr>
        <p:spPr>
          <a:xfrm>
            <a:off x="8477250" y="3686175"/>
            <a:ext cx="1238250" cy="352425"/>
          </a:xfrm>
          <a:prstGeom prst="rect">
            <a:avLst/>
          </a:prstGeom>
          <a:noFill/>
          <a:ln w="0">
            <a:noFill/>
          </a:ln>
        </p:spPr>
        <p:txBody>
          <a:bodyPr anchor="ctr">
            <a:noAutofit/>
          </a:bodyPr>
          <a:lstStyle/>
          <a:p>
            <a:pPr algn="ctr">
              <a:defRPr sz="1875" b="0">
                <a:solidFill>
                  <a:srgbClr val="182D45"/>
                </a:solidFill>
                <a:latin typeface="DejaVu Sans"/>
                <a:ea typeface="DejaVu Sans"/>
                <a:cs typeface="DejaVu Sans"/>
              </a:defRPr>
            </a:pPr>
            <a:r>
              <a:rPr sz="1875" b="0">
                <a:solidFill>
                  <a:srgbClr val="182D45"/>
                </a:solidFill>
                <a:latin typeface="DejaVu Sans"/>
                <a:ea typeface="DejaVu Sans"/>
                <a:cs typeface="DejaVu Sans"/>
              </a:rPr>
              <a:t>ReLU</a:t>
            </a:r>
          </a:p>
        </p:txBody>
      </p:sp>
      <p:sp>
        <p:nvSpPr>
          <p:cNvPr id="47" name="sum_3">
            <a:extLst>
              <a:ext uri="{FF2B5EF4-FFF2-40B4-BE49-F238E27FC236}">
                <a16:creationId xmlns:a16="http://schemas.microsoft.com/office/drawing/2014/main" id="{C0C93215-C6FF-4308-8DF5-40FA8002D28A}"/>
              </a:ext>
            </a:extLst>
          </p:cNvPr>
          <p:cNvSpPr>
            <a:spLocks noGrp="1"/>
          </p:cNvSpPr>
          <p:nvPr/>
        </p:nvSpPr>
        <p:spPr>
          <a:xfrm>
            <a:off x="3381375" y="4905375"/>
            <a:ext cx="2190750" cy="857250"/>
          </a:xfrm>
          <a:prstGeom prst="ellipse">
            <a:avLst/>
          </a:prstGeom>
          <a:solidFill>
            <a:srgbClr val="F1F4F7"/>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48" name="sum_math_3" descr="x_1W_{13}+x_2W_{23}">
                <a:extLst>
                  <a:ext uri="{FF2B5EF4-FFF2-40B4-BE49-F238E27FC236}">
                    <a16:creationId xmlns:a16="http://schemas.microsoft.com/office/drawing/2014/main" id="{26E0578D-061C-48F7-8B36-F9EE0BC2E078}"/>
                  </a:ext>
                </a:extLst>
              </p:cNvPr>
              <p:cNvSpPr>
                <a:spLocks noGrp="1"/>
              </p:cNvSpPr>
              <p:nvPr/>
            </p:nvSpPr>
            <p:spPr>
              <a:xfrm>
                <a:off x="3381375" y="4953000"/>
                <a:ext cx="219075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𝑥</m:t>
                          </m:r>
                        </m:e>
                        <m:sub>
                          <m:r>
                            <a:rPr lang="en-GB" sz="2100">
                              <a:solidFill>
                                <a:srgbClr val="182D45"/>
                              </a:solidFill>
                              <a:latin typeface="Cambria Math"/>
                              <a:ea typeface="Cambria Math"/>
                              <a:cs typeface="Cambria Math"/>
                            </a:rPr>
                            <m:t>1</m:t>
                          </m:r>
                        </m:sub>
                      </m:sSub>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𝑊</m:t>
                          </m:r>
                        </m:e>
                        <m:sub>
                          <m:r>
                            <a:rPr lang="en-GB" sz="2100">
                              <a:solidFill>
                                <a:srgbClr val="182D45"/>
                              </a:solidFill>
                              <a:latin typeface="Cambria Math"/>
                              <a:ea typeface="Cambria Math"/>
                              <a:cs typeface="Cambria Math"/>
                            </a:rPr>
                            <m:t>13</m:t>
                          </m:r>
                        </m:sub>
                      </m:sSub>
                      <m:r>
                        <a:rPr lang="en-GB" sz="2100">
                          <a:solidFill>
                            <a:srgbClr val="182D45"/>
                          </a:solidFill>
                          <a:latin typeface="Cambria Math"/>
                          <a:ea typeface="Cambria Math"/>
                          <a:cs typeface="Cambria Math"/>
                        </a:rPr>
                        <m:t>+</m:t>
                      </m:r>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𝑥</m:t>
                          </m:r>
                        </m:e>
                        <m:sub>
                          <m:r>
                            <a:rPr lang="en-GB" sz="2100">
                              <a:solidFill>
                                <a:srgbClr val="182D45"/>
                              </a:solidFill>
                              <a:latin typeface="Cambria Math"/>
                              <a:ea typeface="Cambria Math"/>
                              <a:cs typeface="Cambria Math"/>
                            </a:rPr>
                            <m:t>2</m:t>
                          </m:r>
                        </m:sub>
                      </m:sSub>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𝑊</m:t>
                          </m:r>
                        </m:e>
                        <m:sub>
                          <m:r>
                            <a:rPr lang="en-GB" sz="2100">
                              <a:solidFill>
                                <a:srgbClr val="182D45"/>
                              </a:solidFill>
                              <a:latin typeface="Cambria Math"/>
                              <a:ea typeface="Cambria Math"/>
                              <a:cs typeface="Cambria Math"/>
                            </a:rPr>
                            <m:t>23</m:t>
                          </m:r>
                        </m:sub>
                      </m:sSub>
                    </m:oMath>
                  </m:oMathPara>
                </a14:m>
                <a:endParaRPr lang="en-GB" sz="2100"/>
              </a:p>
            </p:txBody>
          </p:sp>
        </mc:Choice>
        <mc:Fallback xmlns="">
          <p:sp>
            <p:nvSpPr>
              <p:cNvPr id="48" name="sum_math_3" descr="x_1W_{13}+x_2W_{23}">
                <a:extLst>
                  <a:ext uri="{FF2B5EF4-FFF2-40B4-BE49-F238E27FC236}">
                    <a16:creationId xmlns:a16="http://schemas.microsoft.com/office/drawing/2014/main" id="{26E0578D-061C-48F7-8B36-F9EE0BC2E078}"/>
                  </a:ext>
                </a:extLst>
              </p:cNvPr>
              <p:cNvSpPr>
                <a:spLocks noGrp="1" noRot="1" noChangeAspect="1" noMove="1" noResize="1" noEditPoints="1" noAdjustHandles="1" noChangeArrowheads="1" noChangeShapeType="1" noTextEdit="1"/>
              </p:cNvSpPr>
              <p:nvPr/>
            </p:nvSpPr>
            <p:spPr>
              <a:xfrm>
                <a:off x="3381375" y="4953000"/>
                <a:ext cx="2190750" cy="762000"/>
              </a:xfrm>
              <a:prstGeom prst="rect">
                <a:avLst/>
              </a:prstGeom>
              <a:blipFill>
                <a:blip r:embed="rId19"/>
                <a:stretch>
                  <a:fillRect/>
                </a:stretch>
              </a:blipFill>
              <a:ln w="0">
                <a:noFill/>
              </a:ln>
            </p:spPr>
            <p:txBody>
              <a:bodyPr/>
              <a:lstStyle/>
              <a:p>
                <a:r>
                  <a:rPr lang="it-IT">
                    <a:noFill/>
                  </a:rPr>
                  <a:t> </a:t>
                </a:r>
              </a:p>
            </p:txBody>
          </p:sp>
        </mc:Fallback>
      </mc:AlternateContent>
      <p:sp>
        <p:nvSpPr>
          <p:cNvPr id="49" name="pre_3">
            <a:extLst>
              <a:ext uri="{FF2B5EF4-FFF2-40B4-BE49-F238E27FC236}">
                <a16:creationId xmlns:a16="http://schemas.microsoft.com/office/drawing/2014/main" id="{31DDA576-AD05-4FC3-806E-FEC8E3C4861E}"/>
              </a:ext>
            </a:extLst>
          </p:cNvPr>
          <p:cNvSpPr>
            <a:spLocks noGrp="1"/>
          </p:cNvSpPr>
          <p:nvPr/>
        </p:nvSpPr>
        <p:spPr>
          <a:xfrm>
            <a:off x="7019925" y="4876800"/>
            <a:ext cx="914400" cy="914400"/>
          </a:xfrm>
          <a:prstGeom prst="ellipse">
            <a:avLst/>
          </a:prstGeom>
          <a:solidFill>
            <a:srgbClr val="FFFBE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50" name="pre_math_3" descr="a_3(\mathbf{x})">
                <a:extLst>
                  <a:ext uri="{FF2B5EF4-FFF2-40B4-BE49-F238E27FC236}">
                    <a16:creationId xmlns:a16="http://schemas.microsoft.com/office/drawing/2014/main" id="{A23040AA-9D02-4417-B4A6-24B93BAD8D99}"/>
                  </a:ext>
                </a:extLst>
              </p:cNvPr>
              <p:cNvSpPr>
                <a:spLocks noGrp="1"/>
              </p:cNvSpPr>
              <p:nvPr/>
            </p:nvSpPr>
            <p:spPr>
              <a:xfrm>
                <a:off x="7019925" y="48768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182D45"/>
                          </a:solidFill>
                          <a:latin typeface="Cambria Math" panose="02040503050406030204" pitchFamily="18" charset="0"/>
                          <a:ea typeface="Cambria Math"/>
                          <a:cs typeface="Cambria Math"/>
                        </a:rPr>
                        <m:t> </m:t>
                      </m:r>
                      <m:sSub>
                        <m:sSubPr>
                          <m:ctrlPr>
                            <a:rPr lang="en-GB" sz="2200">
                              <a:solidFill>
                                <a:srgbClr val="182D45"/>
                              </a:solidFill>
                              <a:latin typeface="Cambria Math"/>
                              <a:ea typeface="Cambria Math"/>
                              <a:cs typeface="Cambria Math"/>
                            </a:rPr>
                          </m:ctrlPr>
                        </m:sSubPr>
                        <m:e>
                          <m:r>
                            <a:rPr lang="en-GB" sz="2200">
                              <a:solidFill>
                                <a:srgbClr val="182D45"/>
                              </a:solidFill>
                              <a:latin typeface="Cambria Math"/>
                              <a:ea typeface="Cambria Math"/>
                              <a:cs typeface="Cambria Math"/>
                            </a:rPr>
                            <m:t>𝑎</m:t>
                          </m:r>
                        </m:e>
                        <m:sub>
                          <m:r>
                            <a:rPr lang="en-GB" sz="2200">
                              <a:solidFill>
                                <a:srgbClr val="182D45"/>
                              </a:solidFill>
                              <a:latin typeface="Cambria Math"/>
                              <a:ea typeface="Cambria Math"/>
                              <a:cs typeface="Cambria Math"/>
                            </a:rPr>
                            <m:t>3</m:t>
                          </m:r>
                        </m:sub>
                      </m:sSub>
                      <m:d>
                        <m:dPr>
                          <m:ctrlPr>
                            <a:rPr lang="en-GB" sz="2200">
                              <a:solidFill>
                                <a:srgbClr val="182D45"/>
                              </a:solidFill>
                              <a:latin typeface="Cambria Math"/>
                              <a:ea typeface="Cambria Math"/>
                              <a:cs typeface="Cambria Math"/>
                            </a:rPr>
                          </m:ctrlPr>
                        </m:dPr>
                        <m:e>
                          <m:r>
                            <a:rPr lang="en-GB" sz="2200">
                              <a:solidFill>
                                <a:srgbClr val="182D45"/>
                              </a:solidFill>
                              <a:latin typeface="Cambria Math"/>
                              <a:ea typeface="Cambria Math"/>
                              <a:cs typeface="Cambria Math"/>
                            </a:rPr>
                            <m:t>𝐱</m:t>
                          </m:r>
                        </m:e>
                      </m:d>
                    </m:oMath>
                  </m:oMathPara>
                </a14:m>
                <a:endParaRPr lang="en-GB" sz="2200" dirty="0"/>
              </a:p>
            </p:txBody>
          </p:sp>
        </mc:Choice>
        <mc:Fallback xmlns="">
          <p:sp>
            <p:nvSpPr>
              <p:cNvPr id="50" name="pre_math_3" descr="a_3(\mathbf{x})">
                <a:extLst>
                  <a:ext uri="{FF2B5EF4-FFF2-40B4-BE49-F238E27FC236}">
                    <a16:creationId xmlns:a16="http://schemas.microsoft.com/office/drawing/2014/main" id="{A23040AA-9D02-4417-B4A6-24B93BAD8D99}"/>
                  </a:ext>
                </a:extLst>
              </p:cNvPr>
              <p:cNvSpPr>
                <a:spLocks noGrp="1" noRot="1" noChangeAspect="1" noMove="1" noResize="1" noEditPoints="1" noAdjustHandles="1" noChangeArrowheads="1" noChangeShapeType="1" noTextEdit="1"/>
              </p:cNvSpPr>
              <p:nvPr/>
            </p:nvSpPr>
            <p:spPr>
              <a:xfrm>
                <a:off x="7019925" y="4876800"/>
                <a:ext cx="914400" cy="914400"/>
              </a:xfrm>
              <a:prstGeom prst="rect">
                <a:avLst/>
              </a:prstGeom>
              <a:blipFill>
                <a:blip r:embed="rId20"/>
                <a:stretch>
                  <a:fillRect/>
                </a:stretch>
              </a:blipFill>
              <a:ln w="0">
                <a:noFill/>
              </a:ln>
            </p:spPr>
            <p:txBody>
              <a:bodyPr/>
              <a:lstStyle/>
              <a:p>
                <a:r>
                  <a:rPr lang="it-IT">
                    <a:noFill/>
                  </a:rPr>
                  <a:t> </a:t>
                </a:r>
              </a:p>
            </p:txBody>
          </p:sp>
        </mc:Fallback>
      </mc:AlternateContent>
      <p:sp>
        <p:nvSpPr>
          <p:cNvPr id="51" name="activation_3">
            <a:extLst>
              <a:ext uri="{FF2B5EF4-FFF2-40B4-BE49-F238E27FC236}">
                <a16:creationId xmlns:a16="http://schemas.microsoft.com/office/drawing/2014/main" id="{DB53AF4D-3290-4340-932E-A24D9DA57EC0}"/>
              </a:ext>
            </a:extLst>
          </p:cNvPr>
          <p:cNvSpPr>
            <a:spLocks noGrp="1"/>
          </p:cNvSpPr>
          <p:nvPr/>
        </p:nvSpPr>
        <p:spPr>
          <a:xfrm>
            <a:off x="10210800" y="4876800"/>
            <a:ext cx="914400" cy="914400"/>
          </a:xfrm>
          <a:prstGeom prst="ellipse">
            <a:avLst/>
          </a:prstGeom>
          <a:solidFill>
            <a:srgbClr val="EFF8F4"/>
          </a:solidFill>
          <a:ln w="19050">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52" name="activation_math_3" descr="\phi_3(\mathbf{x})">
                <a:extLst>
                  <a:ext uri="{FF2B5EF4-FFF2-40B4-BE49-F238E27FC236}">
                    <a16:creationId xmlns:a16="http://schemas.microsoft.com/office/drawing/2014/main" id="{3DA1A7AE-6237-486C-B167-DCFFAD2E39E5}"/>
                  </a:ext>
                </a:extLst>
              </p:cNvPr>
              <p:cNvSpPr>
                <a:spLocks noGrp="1"/>
              </p:cNvSpPr>
              <p:nvPr/>
            </p:nvSpPr>
            <p:spPr>
              <a:xfrm>
                <a:off x="10210800" y="48768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087F83"/>
                          </a:solidFill>
                          <a:latin typeface="Cambria Math" panose="02040503050406030204" pitchFamily="18" charset="0"/>
                          <a:ea typeface="Cambria Math"/>
                          <a:cs typeface="Cambria Math"/>
                        </a:rPr>
                        <m:t> </m:t>
                      </m:r>
                      <m:sSub>
                        <m:sSubPr>
                          <m:ctrlPr>
                            <a:rPr lang="en-GB" sz="2200">
                              <a:solidFill>
                                <a:srgbClr val="087F83"/>
                              </a:solidFill>
                              <a:latin typeface="Cambria Math"/>
                              <a:ea typeface="Cambria Math"/>
                              <a:cs typeface="Cambria Math"/>
                            </a:rPr>
                          </m:ctrlPr>
                        </m:sSubPr>
                        <m:e>
                          <m:r>
                            <a:rPr lang="en-GB" sz="2200">
                              <a:solidFill>
                                <a:srgbClr val="087F83"/>
                              </a:solidFill>
                              <a:latin typeface="Cambria Math"/>
                              <a:ea typeface="Cambria Math"/>
                              <a:cs typeface="Cambria Math"/>
                            </a:rPr>
                            <m:t>𝜙</m:t>
                          </m:r>
                        </m:e>
                        <m:sub>
                          <m:r>
                            <a:rPr lang="en-GB" sz="2200">
                              <a:solidFill>
                                <a:srgbClr val="087F83"/>
                              </a:solidFill>
                              <a:latin typeface="Cambria Math"/>
                              <a:ea typeface="Cambria Math"/>
                              <a:cs typeface="Cambria Math"/>
                            </a:rPr>
                            <m:t>3</m:t>
                          </m:r>
                        </m:sub>
                      </m:sSub>
                      <m:d>
                        <m:dPr>
                          <m:ctrlPr>
                            <a:rPr lang="en-GB" sz="2200">
                              <a:solidFill>
                                <a:srgbClr val="087F83"/>
                              </a:solidFill>
                              <a:latin typeface="Cambria Math"/>
                              <a:ea typeface="Cambria Math"/>
                              <a:cs typeface="Cambria Math"/>
                            </a:rPr>
                          </m:ctrlPr>
                        </m:dPr>
                        <m:e>
                          <m:r>
                            <a:rPr lang="en-GB" sz="2200">
                              <a:solidFill>
                                <a:srgbClr val="087F83"/>
                              </a:solidFill>
                              <a:latin typeface="Cambria Math"/>
                              <a:ea typeface="Cambria Math"/>
                              <a:cs typeface="Cambria Math"/>
                            </a:rPr>
                            <m:t>𝐱</m:t>
                          </m:r>
                        </m:e>
                      </m:d>
                    </m:oMath>
                  </m:oMathPara>
                </a14:m>
                <a:endParaRPr lang="en-GB" sz="2200" dirty="0"/>
              </a:p>
            </p:txBody>
          </p:sp>
        </mc:Choice>
        <mc:Fallback xmlns="">
          <p:sp>
            <p:nvSpPr>
              <p:cNvPr id="52" name="activation_math_3" descr="\phi_3(\mathbf{x})">
                <a:extLst>
                  <a:ext uri="{FF2B5EF4-FFF2-40B4-BE49-F238E27FC236}">
                    <a16:creationId xmlns:a16="http://schemas.microsoft.com/office/drawing/2014/main" id="{3DA1A7AE-6237-486C-B167-DCFFAD2E39E5}"/>
                  </a:ext>
                </a:extLst>
              </p:cNvPr>
              <p:cNvSpPr>
                <a:spLocks noGrp="1" noRot="1" noChangeAspect="1" noMove="1" noResize="1" noEditPoints="1" noAdjustHandles="1" noChangeArrowheads="1" noChangeShapeType="1" noTextEdit="1"/>
              </p:cNvSpPr>
              <p:nvPr/>
            </p:nvSpPr>
            <p:spPr>
              <a:xfrm>
                <a:off x="10210800" y="4876800"/>
                <a:ext cx="914400" cy="914400"/>
              </a:xfrm>
              <a:prstGeom prst="rect">
                <a:avLst/>
              </a:prstGeom>
              <a:blipFill>
                <a:blip r:embed="rId21"/>
                <a:stretch>
                  <a:fillRect l="-2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3" name="bias_math_3" descr="+b_3">
                <a:extLst>
                  <a:ext uri="{FF2B5EF4-FFF2-40B4-BE49-F238E27FC236}">
                    <a16:creationId xmlns:a16="http://schemas.microsoft.com/office/drawing/2014/main" id="{0EEF9ADF-2314-417E-9222-13B9CD4E4B2F}"/>
                  </a:ext>
                </a:extLst>
              </p:cNvPr>
              <p:cNvSpPr>
                <a:spLocks noGrp="1"/>
              </p:cNvSpPr>
              <p:nvPr/>
            </p:nvSpPr>
            <p:spPr>
              <a:xfrm>
                <a:off x="5791200" y="492442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182D45"/>
                          </a:solidFill>
                          <a:latin typeface="Cambria Math"/>
                          <a:ea typeface="Cambria Math"/>
                          <a:cs typeface="Cambria Math"/>
                        </a:rPr>
                        <m:t>+</m:t>
                      </m:r>
                      <m:sSub>
                        <m:sSubPr>
                          <m:ctrlPr>
                            <a:rPr lang="en-GB" sz="2300">
                              <a:solidFill>
                                <a:srgbClr val="182D45"/>
                              </a:solidFill>
                              <a:latin typeface="Cambria Math"/>
                              <a:ea typeface="Cambria Math"/>
                              <a:cs typeface="Cambria Math"/>
                            </a:rPr>
                          </m:ctrlPr>
                        </m:sSubPr>
                        <m:e>
                          <m:r>
                            <a:rPr lang="en-GB" sz="2300">
                              <a:solidFill>
                                <a:srgbClr val="182D45"/>
                              </a:solidFill>
                              <a:latin typeface="Cambria Math"/>
                              <a:ea typeface="Cambria Math"/>
                              <a:cs typeface="Cambria Math"/>
                            </a:rPr>
                            <m:t>𝑏</m:t>
                          </m:r>
                        </m:e>
                        <m:sub>
                          <m:r>
                            <a:rPr lang="en-GB" sz="2300">
                              <a:solidFill>
                                <a:srgbClr val="182D45"/>
                              </a:solidFill>
                              <a:latin typeface="Cambria Math"/>
                              <a:ea typeface="Cambria Math"/>
                              <a:cs typeface="Cambria Math"/>
                            </a:rPr>
                            <m:t>3</m:t>
                          </m:r>
                        </m:sub>
                      </m:sSub>
                    </m:oMath>
                  </m:oMathPara>
                </a14:m>
                <a:endParaRPr lang="en-GB" sz="2300"/>
              </a:p>
            </p:txBody>
          </p:sp>
        </mc:Choice>
        <mc:Fallback xmlns="">
          <p:sp>
            <p:nvSpPr>
              <p:cNvPr id="53" name="bias_math_3" descr="+b_3">
                <a:extLst>
                  <a:ext uri="{FF2B5EF4-FFF2-40B4-BE49-F238E27FC236}">
                    <a16:creationId xmlns:a16="http://schemas.microsoft.com/office/drawing/2014/main" id="{0EEF9ADF-2314-417E-9222-13B9CD4E4B2F}"/>
                  </a:ext>
                </a:extLst>
              </p:cNvPr>
              <p:cNvSpPr>
                <a:spLocks noGrp="1" noRot="1" noChangeAspect="1" noMove="1" noResize="1" noEditPoints="1" noAdjustHandles="1" noChangeArrowheads="1" noChangeShapeType="1" noTextEdit="1"/>
              </p:cNvSpPr>
              <p:nvPr/>
            </p:nvSpPr>
            <p:spPr>
              <a:xfrm>
                <a:off x="5791200" y="4924425"/>
                <a:ext cx="1000125" cy="352425"/>
              </a:xfrm>
              <a:prstGeom prst="rect">
                <a:avLst/>
              </a:prstGeom>
              <a:blipFill>
                <a:blip r:embed="rId22"/>
                <a:stretch>
                  <a:fillRect b="-13793"/>
                </a:stretch>
              </a:blipFill>
              <a:ln w="0">
                <a:noFill/>
              </a:ln>
            </p:spPr>
            <p:txBody>
              <a:bodyPr/>
              <a:lstStyle/>
              <a:p>
                <a:r>
                  <a:rPr lang="it-IT">
                    <a:noFill/>
                  </a:rPr>
                  <a:t> </a:t>
                </a:r>
              </a:p>
            </p:txBody>
          </p:sp>
        </mc:Fallback>
      </mc:AlternateContent>
      <p:sp>
        <p:nvSpPr>
          <p:cNvPr id="54" name="relu_label_3">
            <a:extLst>
              <a:ext uri="{FF2B5EF4-FFF2-40B4-BE49-F238E27FC236}">
                <a16:creationId xmlns:a16="http://schemas.microsoft.com/office/drawing/2014/main" id="{B0241C26-1DDF-498A-8C85-54694FB598F9}"/>
              </a:ext>
            </a:extLst>
          </p:cNvPr>
          <p:cNvSpPr>
            <a:spLocks noGrp="1"/>
          </p:cNvSpPr>
          <p:nvPr/>
        </p:nvSpPr>
        <p:spPr>
          <a:xfrm>
            <a:off x="8477250" y="4924425"/>
            <a:ext cx="1238250" cy="352425"/>
          </a:xfrm>
          <a:prstGeom prst="rect">
            <a:avLst/>
          </a:prstGeom>
          <a:noFill/>
          <a:ln w="0">
            <a:noFill/>
          </a:ln>
        </p:spPr>
        <p:txBody>
          <a:bodyPr anchor="ctr">
            <a:noAutofit/>
          </a:bodyPr>
          <a:lstStyle/>
          <a:p>
            <a:pPr algn="ctr">
              <a:defRPr sz="1875" b="0">
                <a:solidFill>
                  <a:srgbClr val="182D45"/>
                </a:solidFill>
                <a:latin typeface="DejaVu Sans"/>
                <a:ea typeface="DejaVu Sans"/>
                <a:cs typeface="DejaVu Sans"/>
              </a:defRPr>
            </a:pPr>
            <a:r>
              <a:rPr sz="1875" b="0">
                <a:solidFill>
                  <a:srgbClr val="182D45"/>
                </a:solidFill>
                <a:latin typeface="DejaVu Sans"/>
                <a:ea typeface="DejaVu Sans"/>
                <a:cs typeface="DejaVu Sans"/>
              </a:rPr>
              <a:t>ReLU</a:t>
            </a:r>
          </a:p>
        </p:txBody>
      </p:sp>
      <p:sp>
        <p:nvSpPr>
          <p:cNvPr id="55" name="takeaway">
            <a:extLst>
              <a:ext uri="{FF2B5EF4-FFF2-40B4-BE49-F238E27FC236}">
                <a16:creationId xmlns:a16="http://schemas.microsoft.com/office/drawing/2014/main" id="{20EBE0C1-9737-4B94-85C7-F7AF56B9A187}"/>
              </a:ext>
            </a:extLst>
          </p:cNvPr>
          <p:cNvSpPr>
            <a:spLocks noGrp="1"/>
          </p:cNvSpPr>
          <p:nvPr/>
        </p:nvSpPr>
        <p:spPr>
          <a:xfrm>
            <a:off x="666750" y="6019800"/>
            <a:ext cx="10858500" cy="419100"/>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Each horizontal row </a:t>
            </a:r>
            <a:r>
              <a:rPr lang="it-IT" sz="2100" b="1" dirty="0" err="1">
                <a:solidFill>
                  <a:srgbClr val="182D45"/>
                </a:solidFill>
                <a:latin typeface="DejaVu Sans"/>
                <a:ea typeface="DejaVu Sans"/>
                <a:cs typeface="DejaVu Sans"/>
              </a:rPr>
              <a:t>represents</a:t>
            </a:r>
            <a:r>
              <a:rPr lang="it-IT" sz="2100" b="1" dirty="0">
                <a:solidFill>
                  <a:srgbClr val="182D45"/>
                </a:solidFill>
                <a:latin typeface="DejaVu Sans"/>
                <a:ea typeface="DejaVu Sans"/>
                <a:cs typeface="DejaVu Sans"/>
              </a:rPr>
              <a:t> a </a:t>
            </a:r>
            <a:r>
              <a:rPr lang="it-IT" sz="2100" b="1" dirty="0" err="1">
                <a:solidFill>
                  <a:srgbClr val="FF0000"/>
                </a:solidFill>
                <a:latin typeface="DejaVu Sans"/>
                <a:ea typeface="DejaVu Sans"/>
                <a:cs typeface="DejaVu Sans"/>
              </a:rPr>
              <a:t>neuron</a:t>
            </a:r>
            <a:r>
              <a:rPr sz="2100" b="1" dirty="0">
                <a:solidFill>
                  <a:srgbClr val="182D45"/>
                </a:solidFill>
                <a:latin typeface="DejaVu Sans"/>
                <a:ea typeface="DejaVu Sans"/>
                <a:cs typeface="DejaVu Sans"/>
              </a:rPr>
              <a:t>.</a:t>
            </a:r>
          </a:p>
        </p:txBody>
      </p:sp>
      <p:sp>
        <p:nvSpPr>
          <p:cNvPr id="56" name="footer_course">
            <a:extLst>
              <a:ext uri="{FF2B5EF4-FFF2-40B4-BE49-F238E27FC236}">
                <a16:creationId xmlns:a16="http://schemas.microsoft.com/office/drawing/2014/main" id="{A129C1C8-21DE-4E6E-9C4F-DA54CEEF59FD}"/>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57" name="footer_number">
            <a:extLst>
              <a:ext uri="{FF2B5EF4-FFF2-40B4-BE49-F238E27FC236}">
                <a16:creationId xmlns:a16="http://schemas.microsoft.com/office/drawing/2014/main" id="{DB86616F-8090-4469-BEA7-6D346D1186DF}"/>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14</a:t>
            </a:r>
          </a:p>
        </p:txBody>
      </p:sp>
    </p:spTree>
    <p:extLst>
      <p:ext uri="{BB962C8B-B14F-4D97-AF65-F5344CB8AC3E}">
        <p14:creationId xmlns:p14="http://schemas.microsoft.com/office/powerpoint/2010/main" val="446273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 name="neuron_boundary">
            <a:extLst>
              <a:ext uri="{FF2B5EF4-FFF2-40B4-BE49-F238E27FC236}">
                <a16:creationId xmlns:a16="http://schemas.microsoft.com/office/drawing/2014/main" id="{034B06DC-3973-44C6-8DD6-FE5ACAF3B791}"/>
              </a:ext>
            </a:extLst>
          </p:cNvPr>
          <p:cNvSpPr>
            <a:spLocks noGrp="1"/>
          </p:cNvSpPr>
          <p:nvPr/>
        </p:nvSpPr>
        <p:spPr>
          <a:xfrm>
            <a:off x="3295650" y="1847850"/>
            <a:ext cx="8153400" cy="1638300"/>
          </a:xfrm>
          <a:prstGeom prst="rect">
            <a:avLst/>
          </a:prstGeom>
          <a:solidFill>
            <a:srgbClr val="F4FAF8"/>
          </a:solidFill>
          <a:ln w="14288">
            <a:solidFill>
              <a:srgbClr val="087F83"/>
            </a:solidFill>
          </a:ln>
        </p:spPr>
        <p:txBody>
          <a:bodyPr/>
          <a:lstStyle/>
          <a:p>
            <a:endParaRPr lang="it-IT"/>
          </a:p>
        </p:txBody>
      </p:sp>
      <p:sp>
        <p:nvSpPr>
          <p:cNvPr id="3" name="title">
            <a:extLst>
              <a:ext uri="{FF2B5EF4-FFF2-40B4-BE49-F238E27FC236}">
                <a16:creationId xmlns:a16="http://schemas.microsoft.com/office/drawing/2014/main" id="{BE8C43BA-C099-4A65-BCB4-09CDC2C73964}"/>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a:solidFill>
                  <a:srgbClr val="182D45"/>
                </a:solidFill>
                <a:latin typeface="DejaVu Sans"/>
                <a:ea typeface="DejaVu Sans"/>
                <a:cs typeface="DejaVu Sans"/>
              </a:rPr>
              <a:t>A </a:t>
            </a:r>
            <a:r>
              <a:rPr sz="3300" b="1" dirty="0">
                <a:solidFill>
                  <a:srgbClr val="182D45"/>
                </a:solidFill>
                <a:latin typeface="DejaVu Sans"/>
                <a:ea typeface="DejaVu Sans"/>
                <a:cs typeface="DejaVu Sans"/>
              </a:rPr>
              <a:t>neuron</a:t>
            </a:r>
          </a:p>
        </p:txBody>
      </p:sp>
      <p:sp>
        <p:nvSpPr>
          <p:cNvPr id="4" name="lead">
            <a:extLst>
              <a:ext uri="{FF2B5EF4-FFF2-40B4-BE49-F238E27FC236}">
                <a16:creationId xmlns:a16="http://schemas.microsoft.com/office/drawing/2014/main" id="{719ECC39-3E59-4F7D-B222-3CEC974A06BF}"/>
              </a:ext>
            </a:extLst>
          </p:cNvPr>
          <p:cNvSpPr>
            <a:spLocks noGrp="1"/>
          </p:cNvSpPr>
          <p:nvPr/>
        </p:nvSpPr>
        <p:spPr>
          <a:xfrm>
            <a:off x="523875" y="1009650"/>
            <a:ext cx="11144250" cy="447675"/>
          </a:xfrm>
          <a:prstGeom prst="rect">
            <a:avLst/>
          </a:prstGeom>
          <a:noFill/>
          <a:ln w="0">
            <a:noFill/>
          </a:ln>
        </p:spPr>
        <p:txBody>
          <a:bodyPr anchor="ctr">
            <a:noAutofit/>
          </a:bodyPr>
          <a:lstStyle/>
          <a:p>
            <a:pPr algn="ctr">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The highlighted row shows the complete calculation of </a:t>
            </a:r>
            <a:r>
              <a:rPr lang="it-IT" sz="2100" dirty="0">
                <a:solidFill>
                  <a:srgbClr val="526276"/>
                </a:solidFill>
                <a:latin typeface="DejaVu Sans"/>
                <a:ea typeface="DejaVu Sans"/>
                <a:cs typeface="DejaVu Sans"/>
              </a:rPr>
              <a:t>the </a:t>
            </a:r>
            <a:r>
              <a:rPr lang="it-IT" sz="2100" dirty="0">
                <a:solidFill>
                  <a:srgbClr val="FF0000"/>
                </a:solidFill>
                <a:latin typeface="DejaVu Sans"/>
                <a:ea typeface="DejaVu Sans"/>
                <a:cs typeface="DejaVu Sans"/>
              </a:rPr>
              <a:t>first </a:t>
            </a:r>
            <a:r>
              <a:rPr sz="2100" b="0" dirty="0">
                <a:solidFill>
                  <a:srgbClr val="FF0000"/>
                </a:solidFill>
                <a:latin typeface="DejaVu Sans"/>
                <a:ea typeface="DejaVu Sans"/>
                <a:cs typeface="DejaVu Sans"/>
              </a:rPr>
              <a:t>neuron</a:t>
            </a:r>
            <a:r>
              <a:rPr sz="2100" b="0" dirty="0">
                <a:solidFill>
                  <a:srgbClr val="526276"/>
                </a:solidFill>
                <a:latin typeface="DejaVu Sans"/>
                <a:ea typeface="DejaVu Sans"/>
                <a:cs typeface="DejaVu Sans"/>
              </a:rPr>
              <a:t>.</a:t>
            </a:r>
          </a:p>
        </p:txBody>
      </p:sp>
      <p:sp>
        <p:nvSpPr>
          <p:cNvPr id="5" name="input_heading">
            <a:extLst>
              <a:ext uri="{FF2B5EF4-FFF2-40B4-BE49-F238E27FC236}">
                <a16:creationId xmlns:a16="http://schemas.microsoft.com/office/drawing/2014/main" id="{E2ED0F2A-E930-4CF9-932E-CF85AA411A9A}"/>
              </a:ext>
            </a:extLst>
          </p:cNvPr>
          <p:cNvSpPr>
            <a:spLocks noGrp="1"/>
          </p:cNvSpPr>
          <p:nvPr/>
        </p:nvSpPr>
        <p:spPr>
          <a:xfrm>
            <a:off x="285750" y="1943100"/>
            <a:ext cx="11430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Input</a:t>
            </a:r>
          </a:p>
        </p:txBody>
      </p:sp>
      <p:sp>
        <p:nvSpPr>
          <p:cNvPr id="6" name="weighted_heading">
            <a:extLst>
              <a:ext uri="{FF2B5EF4-FFF2-40B4-BE49-F238E27FC236}">
                <a16:creationId xmlns:a16="http://schemas.microsoft.com/office/drawing/2014/main" id="{F99E1ECB-3D84-4493-BC12-019E23E70EFE}"/>
              </a:ext>
            </a:extLst>
          </p:cNvPr>
          <p:cNvSpPr>
            <a:spLocks noGrp="1"/>
          </p:cNvSpPr>
          <p:nvPr/>
        </p:nvSpPr>
        <p:spPr>
          <a:xfrm>
            <a:off x="3143250" y="1943100"/>
            <a:ext cx="26670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Weighted sums</a:t>
            </a:r>
          </a:p>
        </p:txBody>
      </p:sp>
      <p:sp>
        <p:nvSpPr>
          <p:cNvPr id="7" name="pre_heading">
            <a:extLst>
              <a:ext uri="{FF2B5EF4-FFF2-40B4-BE49-F238E27FC236}">
                <a16:creationId xmlns:a16="http://schemas.microsoft.com/office/drawing/2014/main" id="{BA35EA90-8D7F-41D5-AEB4-46CBAE04F81E}"/>
              </a:ext>
            </a:extLst>
          </p:cNvPr>
          <p:cNvSpPr>
            <a:spLocks noGrp="1"/>
          </p:cNvSpPr>
          <p:nvPr/>
        </p:nvSpPr>
        <p:spPr>
          <a:xfrm>
            <a:off x="6200775" y="1943100"/>
            <a:ext cx="2552700" cy="3810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Preactivations</a:t>
            </a:r>
          </a:p>
        </p:txBody>
      </p:sp>
      <p:sp>
        <p:nvSpPr>
          <p:cNvPr id="8" name="activation_heading">
            <a:extLst>
              <a:ext uri="{FF2B5EF4-FFF2-40B4-BE49-F238E27FC236}">
                <a16:creationId xmlns:a16="http://schemas.microsoft.com/office/drawing/2014/main" id="{7C419963-E84A-40EE-A88E-3E8AF19D29CC}"/>
              </a:ext>
            </a:extLst>
          </p:cNvPr>
          <p:cNvSpPr>
            <a:spLocks noGrp="1"/>
          </p:cNvSpPr>
          <p:nvPr/>
        </p:nvSpPr>
        <p:spPr>
          <a:xfrm>
            <a:off x="9505950" y="1943100"/>
            <a:ext cx="2324100" cy="381000"/>
          </a:xfrm>
          <a:prstGeom prst="rect">
            <a:avLst/>
          </a:prstGeom>
          <a:noFill/>
          <a:ln w="0">
            <a:noFill/>
          </a:ln>
        </p:spPr>
        <p:txBody>
          <a:bodyPr anchor="ctr">
            <a:noAutofit/>
          </a:bodyPr>
          <a:lstStyle/>
          <a:p>
            <a:pPr algn="ctr">
              <a:defRPr sz="1875" b="1">
                <a:solidFill>
                  <a:srgbClr val="087F83"/>
                </a:solidFill>
                <a:latin typeface="DejaVu Sans"/>
                <a:ea typeface="DejaVu Sans"/>
                <a:cs typeface="DejaVu Sans"/>
              </a:defRPr>
            </a:pPr>
            <a:r>
              <a:rPr sz="1875" b="1">
                <a:solidFill>
                  <a:srgbClr val="087F83"/>
                </a:solidFill>
                <a:latin typeface="DejaVu Sans"/>
                <a:ea typeface="DejaVu Sans"/>
                <a:cs typeface="DejaVu Sans"/>
              </a:rPr>
              <a:t>Activations</a:t>
            </a:r>
          </a:p>
        </p:txBody>
      </p:sp>
      <p:sp>
        <p:nvSpPr>
          <p:cNvPr id="9" name="weight_edge_1_1">
            <a:extLst>
              <a:ext uri="{FF2B5EF4-FFF2-40B4-BE49-F238E27FC236}">
                <a16:creationId xmlns:a16="http://schemas.microsoft.com/office/drawing/2014/main" id="{70A2D7D3-882F-4292-A838-134F8D64F2A9}"/>
              </a:ext>
            </a:extLst>
          </p:cNvPr>
          <p:cNvSpPr>
            <a:spLocks noGrp="1"/>
          </p:cNvSpPr>
          <p:nvPr/>
        </p:nvSpPr>
        <p:spPr>
          <a:xfrm flipV="1">
            <a:off x="1123950" y="2857500"/>
            <a:ext cx="2257425" cy="476250"/>
          </a:xfrm>
          <a:prstGeom prst="line">
            <a:avLst/>
          </a:prstGeom>
          <a:noFill/>
          <a:ln w="1524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10" name="weight_label_1_1" descr="W_{11}">
                <a:extLst>
                  <a:ext uri="{FF2B5EF4-FFF2-40B4-BE49-F238E27FC236}">
                    <a16:creationId xmlns:a16="http://schemas.microsoft.com/office/drawing/2014/main" id="{7CB3076A-539F-48C5-92B0-C49A54538835}"/>
                  </a:ext>
                </a:extLst>
              </p:cNvPr>
              <p:cNvSpPr>
                <a:spLocks noGrp="1"/>
              </p:cNvSpPr>
              <p:nvPr/>
            </p:nvSpPr>
            <p:spPr>
              <a:xfrm>
                <a:off x="1781175" y="2941320"/>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𝑊</m:t>
                          </m:r>
                        </m:e>
                        <m:sub>
                          <m:r>
                            <a:rPr lang="en-GB" sz="1800">
                              <a:solidFill>
                                <a:srgbClr val="182D45"/>
                              </a:solidFill>
                              <a:latin typeface="Cambria Math"/>
                              <a:ea typeface="Cambria Math"/>
                              <a:cs typeface="Cambria Math"/>
                            </a:rPr>
                            <m:t>11</m:t>
                          </m:r>
                        </m:sub>
                      </m:sSub>
                    </m:oMath>
                  </m:oMathPara>
                </a14:m>
                <a:endParaRPr lang="en-GB" sz="1800" dirty="0"/>
              </a:p>
            </p:txBody>
          </p:sp>
        </mc:Choice>
        <mc:Fallback xmlns="">
          <p:sp>
            <p:nvSpPr>
              <p:cNvPr id="10" name="weight_label_1_1" descr="W_{11}">
                <a:extLst>
                  <a:ext uri="{FF2B5EF4-FFF2-40B4-BE49-F238E27FC236}">
                    <a16:creationId xmlns:a16="http://schemas.microsoft.com/office/drawing/2014/main" id="{7CB3076A-539F-48C5-92B0-C49A54538835}"/>
                  </a:ext>
                </a:extLst>
              </p:cNvPr>
              <p:cNvSpPr>
                <a:spLocks noGrp="1" noRot="1" noChangeAspect="1" noMove="1" noResize="1" noEditPoints="1" noAdjustHandles="1" noChangeArrowheads="1" noChangeShapeType="1" noTextEdit="1"/>
              </p:cNvSpPr>
              <p:nvPr/>
            </p:nvSpPr>
            <p:spPr>
              <a:xfrm>
                <a:off x="1781175" y="2941320"/>
                <a:ext cx="685800" cy="285750"/>
              </a:xfrm>
              <a:prstGeom prst="rect">
                <a:avLst/>
              </a:prstGeom>
              <a:blipFill>
                <a:blip r:embed="rId3"/>
                <a:stretch>
                  <a:fillRect b="-13043"/>
                </a:stretch>
              </a:blipFill>
              <a:ln w="0">
                <a:noFill/>
              </a:ln>
            </p:spPr>
            <p:txBody>
              <a:bodyPr/>
              <a:lstStyle/>
              <a:p>
                <a:r>
                  <a:rPr lang="it-IT">
                    <a:noFill/>
                  </a:rPr>
                  <a:t> </a:t>
                </a:r>
              </a:p>
            </p:txBody>
          </p:sp>
        </mc:Fallback>
      </mc:AlternateContent>
      <p:sp>
        <p:nvSpPr>
          <p:cNvPr id="11" name="weight_edge_2_1">
            <a:extLst>
              <a:ext uri="{FF2B5EF4-FFF2-40B4-BE49-F238E27FC236}">
                <a16:creationId xmlns:a16="http://schemas.microsoft.com/office/drawing/2014/main" id="{5F025D34-4F39-44CD-8836-1A251DC8BD4B}"/>
              </a:ext>
            </a:extLst>
          </p:cNvPr>
          <p:cNvSpPr>
            <a:spLocks noGrp="1"/>
          </p:cNvSpPr>
          <p:nvPr/>
        </p:nvSpPr>
        <p:spPr>
          <a:xfrm flipV="1">
            <a:off x="1123950" y="2857500"/>
            <a:ext cx="2257425" cy="1809750"/>
          </a:xfrm>
          <a:prstGeom prst="line">
            <a:avLst/>
          </a:prstGeom>
          <a:noFill/>
          <a:ln w="15240">
            <a:solidFill>
              <a:srgbClr val="B6C2CD"/>
            </a:solidFill>
          </a:ln>
        </p:spPr>
        <p:txBody>
          <a:bodyPr/>
          <a:lstStyle/>
          <a:p>
            <a:endParaRPr lang="it-IT"/>
          </a:p>
        </p:txBody>
      </p:sp>
      <mc:AlternateContent xmlns:mc="http://schemas.openxmlformats.org/markup-compatibility/2006" xmlns:a14="http://schemas.microsoft.com/office/drawing/2010/main">
        <mc:Choice Requires="a14">
          <p:sp>
            <p:nvSpPr>
              <p:cNvPr id="12" name="weight_label_2_1" descr="W_{21}">
                <a:extLst>
                  <a:ext uri="{FF2B5EF4-FFF2-40B4-BE49-F238E27FC236}">
                    <a16:creationId xmlns:a16="http://schemas.microsoft.com/office/drawing/2014/main" id="{91747531-66E1-4BEB-8B55-9102D2251A81}"/>
                  </a:ext>
                </a:extLst>
              </p:cNvPr>
              <p:cNvSpPr>
                <a:spLocks noGrp="1"/>
              </p:cNvSpPr>
              <p:nvPr/>
            </p:nvSpPr>
            <p:spPr>
              <a:xfrm>
                <a:off x="2571750" y="3121533"/>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𝑊</m:t>
                          </m:r>
                        </m:e>
                        <m:sub>
                          <m:r>
                            <a:rPr lang="en-GB" sz="1800">
                              <a:solidFill>
                                <a:srgbClr val="182D45"/>
                              </a:solidFill>
                              <a:latin typeface="Cambria Math"/>
                              <a:ea typeface="Cambria Math"/>
                              <a:cs typeface="Cambria Math"/>
                            </a:rPr>
                            <m:t>21</m:t>
                          </m:r>
                        </m:sub>
                      </m:sSub>
                    </m:oMath>
                  </m:oMathPara>
                </a14:m>
                <a:endParaRPr lang="en-GB" sz="1800" dirty="0"/>
              </a:p>
            </p:txBody>
          </p:sp>
        </mc:Choice>
        <mc:Fallback xmlns="">
          <p:sp>
            <p:nvSpPr>
              <p:cNvPr id="12" name="weight_label_2_1" descr="W_{21}">
                <a:extLst>
                  <a:ext uri="{FF2B5EF4-FFF2-40B4-BE49-F238E27FC236}">
                    <a16:creationId xmlns:a16="http://schemas.microsoft.com/office/drawing/2014/main" id="{91747531-66E1-4BEB-8B55-9102D2251A81}"/>
                  </a:ext>
                </a:extLst>
              </p:cNvPr>
              <p:cNvSpPr>
                <a:spLocks noGrp="1" noRot="1" noChangeAspect="1" noMove="1" noResize="1" noEditPoints="1" noAdjustHandles="1" noChangeArrowheads="1" noChangeShapeType="1" noTextEdit="1"/>
              </p:cNvSpPr>
              <p:nvPr/>
            </p:nvSpPr>
            <p:spPr>
              <a:xfrm>
                <a:off x="2571750" y="3121533"/>
                <a:ext cx="685800" cy="285750"/>
              </a:xfrm>
              <a:prstGeom prst="rect">
                <a:avLst/>
              </a:prstGeom>
              <a:blipFill>
                <a:blip r:embed="rId4"/>
                <a:stretch>
                  <a:fillRect b="-12766"/>
                </a:stretch>
              </a:blipFill>
              <a:ln w="0">
                <a:noFill/>
              </a:ln>
            </p:spPr>
            <p:txBody>
              <a:bodyPr/>
              <a:lstStyle/>
              <a:p>
                <a:r>
                  <a:rPr lang="it-IT">
                    <a:noFill/>
                  </a:rPr>
                  <a:t> </a:t>
                </a:r>
              </a:p>
            </p:txBody>
          </p:sp>
        </mc:Fallback>
      </mc:AlternateContent>
      <p:sp>
        <p:nvSpPr>
          <p:cNvPr id="13" name="bias_edge_1">
            <a:extLst>
              <a:ext uri="{FF2B5EF4-FFF2-40B4-BE49-F238E27FC236}">
                <a16:creationId xmlns:a16="http://schemas.microsoft.com/office/drawing/2014/main" id="{C01D7AD5-890B-40C8-8E8C-DE4B95A8EC5C}"/>
              </a:ext>
            </a:extLst>
          </p:cNvPr>
          <p:cNvSpPr>
            <a:spLocks noGrp="1"/>
          </p:cNvSpPr>
          <p:nvPr/>
        </p:nvSpPr>
        <p:spPr>
          <a:xfrm>
            <a:off x="5572125" y="2857500"/>
            <a:ext cx="1447800" cy="953"/>
          </a:xfrm>
          <a:prstGeom prst="line">
            <a:avLst/>
          </a:prstGeom>
          <a:noFill/>
          <a:ln w="17145">
            <a:solidFill>
              <a:srgbClr val="182D45"/>
            </a:solidFill>
            <a:tailEnd type="triangle" w="sm" len="sm"/>
          </a:ln>
        </p:spPr>
        <p:txBody>
          <a:bodyPr/>
          <a:lstStyle/>
          <a:p>
            <a:endParaRPr lang="it-IT"/>
          </a:p>
        </p:txBody>
      </p:sp>
      <p:sp>
        <p:nvSpPr>
          <p:cNvPr id="14" name="relu_edge_1">
            <a:extLst>
              <a:ext uri="{FF2B5EF4-FFF2-40B4-BE49-F238E27FC236}">
                <a16:creationId xmlns:a16="http://schemas.microsoft.com/office/drawing/2014/main" id="{1D771256-19A5-42B7-AE74-54D52E682B6E}"/>
              </a:ext>
            </a:extLst>
          </p:cNvPr>
          <p:cNvSpPr>
            <a:spLocks noGrp="1"/>
          </p:cNvSpPr>
          <p:nvPr/>
        </p:nvSpPr>
        <p:spPr>
          <a:xfrm>
            <a:off x="7934325" y="2857500"/>
            <a:ext cx="2276475" cy="953"/>
          </a:xfrm>
          <a:prstGeom prst="line">
            <a:avLst/>
          </a:prstGeom>
          <a:noFill/>
          <a:ln w="17145">
            <a:solidFill>
              <a:srgbClr val="182D45"/>
            </a:solidFill>
            <a:tailEnd type="triangle" w="sm" len="sm"/>
          </a:ln>
        </p:spPr>
        <p:txBody>
          <a:bodyPr/>
          <a:lstStyle/>
          <a:p>
            <a:endParaRPr lang="it-IT"/>
          </a:p>
        </p:txBody>
      </p:sp>
      <p:sp>
        <p:nvSpPr>
          <p:cNvPr id="15" name="weight_edge_1_2">
            <a:extLst>
              <a:ext uri="{FF2B5EF4-FFF2-40B4-BE49-F238E27FC236}">
                <a16:creationId xmlns:a16="http://schemas.microsoft.com/office/drawing/2014/main" id="{F5B03F52-D251-498D-9532-FF0039DDBA60}"/>
              </a:ext>
            </a:extLst>
          </p:cNvPr>
          <p:cNvSpPr>
            <a:spLocks noGrp="1"/>
          </p:cNvSpPr>
          <p:nvPr/>
        </p:nvSpPr>
        <p:spPr>
          <a:xfrm>
            <a:off x="1123950" y="3333750"/>
            <a:ext cx="2257425" cy="762000"/>
          </a:xfrm>
          <a:prstGeom prst="line">
            <a:avLst/>
          </a:prstGeom>
          <a:noFill/>
          <a:ln w="1524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16" name="weight_label_1_2" descr="W_{12}">
                <a:extLst>
                  <a:ext uri="{FF2B5EF4-FFF2-40B4-BE49-F238E27FC236}">
                    <a16:creationId xmlns:a16="http://schemas.microsoft.com/office/drawing/2014/main" id="{C462791C-E0E3-4DEC-A05E-FA8EF131F23F}"/>
                  </a:ext>
                </a:extLst>
              </p:cNvPr>
              <p:cNvSpPr>
                <a:spLocks noGrp="1"/>
              </p:cNvSpPr>
              <p:nvPr/>
            </p:nvSpPr>
            <p:spPr>
              <a:xfrm>
                <a:off x="2447925" y="3675507"/>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BAC4CE"/>
                              </a:solidFill>
                              <a:latin typeface="Cambria Math"/>
                              <a:ea typeface="Cambria Math"/>
                              <a:cs typeface="Cambria Math"/>
                            </a:rPr>
                          </m:ctrlPr>
                        </m:sSubPr>
                        <m:e>
                          <m:r>
                            <a:rPr lang="en-GB" sz="1800">
                              <a:solidFill>
                                <a:srgbClr val="BAC4CE"/>
                              </a:solidFill>
                              <a:latin typeface="Cambria Math"/>
                              <a:ea typeface="Cambria Math"/>
                              <a:cs typeface="Cambria Math"/>
                            </a:rPr>
                            <m:t>𝑊</m:t>
                          </m:r>
                        </m:e>
                        <m:sub>
                          <m:r>
                            <a:rPr lang="en-GB" sz="1800">
                              <a:solidFill>
                                <a:srgbClr val="BAC4CE"/>
                              </a:solidFill>
                              <a:latin typeface="Cambria Math"/>
                              <a:ea typeface="Cambria Math"/>
                              <a:cs typeface="Cambria Math"/>
                            </a:rPr>
                            <m:t>12</m:t>
                          </m:r>
                        </m:sub>
                      </m:sSub>
                    </m:oMath>
                  </m:oMathPara>
                </a14:m>
                <a:endParaRPr lang="en-GB" sz="1800" dirty="0"/>
              </a:p>
            </p:txBody>
          </p:sp>
        </mc:Choice>
        <mc:Fallback xmlns="">
          <p:sp>
            <p:nvSpPr>
              <p:cNvPr id="16" name="weight_label_1_2" descr="W_{12}">
                <a:extLst>
                  <a:ext uri="{FF2B5EF4-FFF2-40B4-BE49-F238E27FC236}">
                    <a16:creationId xmlns:a16="http://schemas.microsoft.com/office/drawing/2014/main" id="{C462791C-E0E3-4DEC-A05E-FA8EF131F23F}"/>
                  </a:ext>
                </a:extLst>
              </p:cNvPr>
              <p:cNvSpPr>
                <a:spLocks noGrp="1" noRot="1" noChangeAspect="1" noMove="1" noResize="1" noEditPoints="1" noAdjustHandles="1" noChangeArrowheads="1" noChangeShapeType="1" noTextEdit="1"/>
              </p:cNvSpPr>
              <p:nvPr/>
            </p:nvSpPr>
            <p:spPr>
              <a:xfrm>
                <a:off x="2447925" y="3675507"/>
                <a:ext cx="685800" cy="285750"/>
              </a:xfrm>
              <a:prstGeom prst="rect">
                <a:avLst/>
              </a:prstGeom>
              <a:blipFill>
                <a:blip r:embed="rId5"/>
                <a:stretch>
                  <a:fillRect b="-12766"/>
                </a:stretch>
              </a:blipFill>
              <a:ln w="0">
                <a:noFill/>
              </a:ln>
            </p:spPr>
            <p:txBody>
              <a:bodyPr/>
              <a:lstStyle/>
              <a:p>
                <a:r>
                  <a:rPr lang="it-IT">
                    <a:noFill/>
                  </a:rPr>
                  <a:t> </a:t>
                </a:r>
              </a:p>
            </p:txBody>
          </p:sp>
        </mc:Fallback>
      </mc:AlternateContent>
      <p:sp>
        <p:nvSpPr>
          <p:cNvPr id="17" name="weight_edge_2_2">
            <a:extLst>
              <a:ext uri="{FF2B5EF4-FFF2-40B4-BE49-F238E27FC236}">
                <a16:creationId xmlns:a16="http://schemas.microsoft.com/office/drawing/2014/main" id="{61157930-3F53-4616-A19F-FD3B7420C2E5}"/>
              </a:ext>
            </a:extLst>
          </p:cNvPr>
          <p:cNvSpPr>
            <a:spLocks noGrp="1"/>
          </p:cNvSpPr>
          <p:nvPr/>
        </p:nvSpPr>
        <p:spPr>
          <a:xfrm flipV="1">
            <a:off x="1123950" y="4095750"/>
            <a:ext cx="2257425" cy="571500"/>
          </a:xfrm>
          <a:prstGeom prst="line">
            <a:avLst/>
          </a:prstGeom>
          <a:noFill/>
          <a:ln w="1524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18" name="weight_label_2_2" descr="W_{22}">
                <a:extLst>
                  <a:ext uri="{FF2B5EF4-FFF2-40B4-BE49-F238E27FC236}">
                    <a16:creationId xmlns:a16="http://schemas.microsoft.com/office/drawing/2014/main" id="{D41BF6F0-67B6-49C0-AD57-ED1CE0587D71}"/>
                  </a:ext>
                </a:extLst>
              </p:cNvPr>
              <p:cNvSpPr>
                <a:spLocks noGrp="1"/>
              </p:cNvSpPr>
              <p:nvPr/>
            </p:nvSpPr>
            <p:spPr>
              <a:xfrm>
                <a:off x="2447925" y="4113657"/>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BAC4CE"/>
                              </a:solidFill>
                              <a:latin typeface="Cambria Math"/>
                              <a:ea typeface="Cambria Math"/>
                              <a:cs typeface="Cambria Math"/>
                            </a:rPr>
                          </m:ctrlPr>
                        </m:sSubPr>
                        <m:e>
                          <m:r>
                            <a:rPr lang="en-GB" sz="1800">
                              <a:solidFill>
                                <a:srgbClr val="BAC4CE"/>
                              </a:solidFill>
                              <a:latin typeface="Cambria Math"/>
                              <a:ea typeface="Cambria Math"/>
                              <a:cs typeface="Cambria Math"/>
                            </a:rPr>
                            <m:t>𝑊</m:t>
                          </m:r>
                        </m:e>
                        <m:sub>
                          <m:r>
                            <a:rPr lang="en-GB" sz="1800">
                              <a:solidFill>
                                <a:srgbClr val="BAC4CE"/>
                              </a:solidFill>
                              <a:latin typeface="Cambria Math"/>
                              <a:ea typeface="Cambria Math"/>
                              <a:cs typeface="Cambria Math"/>
                            </a:rPr>
                            <m:t>22</m:t>
                          </m:r>
                        </m:sub>
                      </m:sSub>
                    </m:oMath>
                  </m:oMathPara>
                </a14:m>
                <a:endParaRPr lang="en-GB" sz="1800" dirty="0"/>
              </a:p>
            </p:txBody>
          </p:sp>
        </mc:Choice>
        <mc:Fallback xmlns="">
          <p:sp>
            <p:nvSpPr>
              <p:cNvPr id="18" name="weight_label_2_2" descr="W_{22}">
                <a:extLst>
                  <a:ext uri="{FF2B5EF4-FFF2-40B4-BE49-F238E27FC236}">
                    <a16:creationId xmlns:a16="http://schemas.microsoft.com/office/drawing/2014/main" id="{D41BF6F0-67B6-49C0-AD57-ED1CE0587D71}"/>
                  </a:ext>
                </a:extLst>
              </p:cNvPr>
              <p:cNvSpPr>
                <a:spLocks noGrp="1" noRot="1" noChangeAspect="1" noMove="1" noResize="1" noEditPoints="1" noAdjustHandles="1" noChangeArrowheads="1" noChangeShapeType="1" noTextEdit="1"/>
              </p:cNvSpPr>
              <p:nvPr/>
            </p:nvSpPr>
            <p:spPr>
              <a:xfrm>
                <a:off x="2447925" y="4113657"/>
                <a:ext cx="685800" cy="285750"/>
              </a:xfrm>
              <a:prstGeom prst="rect">
                <a:avLst/>
              </a:prstGeom>
              <a:blipFill>
                <a:blip r:embed="rId6"/>
                <a:stretch>
                  <a:fillRect b="-12766"/>
                </a:stretch>
              </a:blipFill>
              <a:ln w="0">
                <a:noFill/>
              </a:ln>
            </p:spPr>
            <p:txBody>
              <a:bodyPr/>
              <a:lstStyle/>
              <a:p>
                <a:r>
                  <a:rPr lang="it-IT">
                    <a:noFill/>
                  </a:rPr>
                  <a:t> </a:t>
                </a:r>
              </a:p>
            </p:txBody>
          </p:sp>
        </mc:Fallback>
      </mc:AlternateContent>
      <p:sp>
        <p:nvSpPr>
          <p:cNvPr id="19" name="bias_edge_2">
            <a:extLst>
              <a:ext uri="{FF2B5EF4-FFF2-40B4-BE49-F238E27FC236}">
                <a16:creationId xmlns:a16="http://schemas.microsoft.com/office/drawing/2014/main" id="{E2A0D20E-7ED0-4422-8B6F-64861D37040B}"/>
              </a:ext>
            </a:extLst>
          </p:cNvPr>
          <p:cNvSpPr>
            <a:spLocks noGrp="1"/>
          </p:cNvSpPr>
          <p:nvPr/>
        </p:nvSpPr>
        <p:spPr>
          <a:xfrm>
            <a:off x="5572125" y="4095750"/>
            <a:ext cx="1447800" cy="953"/>
          </a:xfrm>
          <a:prstGeom prst="line">
            <a:avLst/>
          </a:prstGeom>
          <a:noFill/>
          <a:ln w="17145">
            <a:solidFill>
              <a:srgbClr val="BAC4CE"/>
            </a:solidFill>
            <a:tailEnd type="triangle" w="sm" len="sm"/>
          </a:ln>
        </p:spPr>
        <p:txBody>
          <a:bodyPr/>
          <a:lstStyle/>
          <a:p>
            <a:endParaRPr lang="it-IT"/>
          </a:p>
        </p:txBody>
      </p:sp>
      <p:sp>
        <p:nvSpPr>
          <p:cNvPr id="20" name="relu_edge_2">
            <a:extLst>
              <a:ext uri="{FF2B5EF4-FFF2-40B4-BE49-F238E27FC236}">
                <a16:creationId xmlns:a16="http://schemas.microsoft.com/office/drawing/2014/main" id="{DE6F1DF7-8426-4DEF-B8A5-AE72D34A1E21}"/>
              </a:ext>
            </a:extLst>
          </p:cNvPr>
          <p:cNvSpPr>
            <a:spLocks noGrp="1"/>
          </p:cNvSpPr>
          <p:nvPr/>
        </p:nvSpPr>
        <p:spPr>
          <a:xfrm>
            <a:off x="7934325" y="4095750"/>
            <a:ext cx="2276475" cy="953"/>
          </a:xfrm>
          <a:prstGeom prst="line">
            <a:avLst/>
          </a:prstGeom>
          <a:noFill/>
          <a:ln w="17145">
            <a:solidFill>
              <a:srgbClr val="BAC4CE"/>
            </a:solidFill>
            <a:tailEnd type="triangle" w="sm" len="sm"/>
          </a:ln>
        </p:spPr>
        <p:txBody>
          <a:bodyPr/>
          <a:lstStyle/>
          <a:p>
            <a:endParaRPr lang="it-IT"/>
          </a:p>
        </p:txBody>
      </p:sp>
      <p:sp>
        <p:nvSpPr>
          <p:cNvPr id="21" name="weight_edge_1_3">
            <a:extLst>
              <a:ext uri="{FF2B5EF4-FFF2-40B4-BE49-F238E27FC236}">
                <a16:creationId xmlns:a16="http://schemas.microsoft.com/office/drawing/2014/main" id="{75104B2D-72A4-4C3D-A683-7DFF8C332C44}"/>
              </a:ext>
            </a:extLst>
          </p:cNvPr>
          <p:cNvSpPr>
            <a:spLocks noGrp="1"/>
          </p:cNvSpPr>
          <p:nvPr/>
        </p:nvSpPr>
        <p:spPr>
          <a:xfrm>
            <a:off x="1123950" y="3333750"/>
            <a:ext cx="2257425" cy="2000250"/>
          </a:xfrm>
          <a:prstGeom prst="line">
            <a:avLst/>
          </a:prstGeom>
          <a:noFill/>
          <a:ln w="1524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22" name="weight_label_1_3" descr="W_{13}">
                <a:extLst>
                  <a:ext uri="{FF2B5EF4-FFF2-40B4-BE49-F238E27FC236}">
                    <a16:creationId xmlns:a16="http://schemas.microsoft.com/office/drawing/2014/main" id="{33D1AFAC-6255-4125-A19D-1D8FBFEF417F}"/>
                  </a:ext>
                </a:extLst>
              </p:cNvPr>
              <p:cNvSpPr>
                <a:spLocks noGrp="1"/>
              </p:cNvSpPr>
              <p:nvPr/>
            </p:nvSpPr>
            <p:spPr>
              <a:xfrm>
                <a:off x="2571750" y="4610100"/>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BAC4CE"/>
                              </a:solidFill>
                              <a:latin typeface="Cambria Math"/>
                              <a:ea typeface="Cambria Math"/>
                              <a:cs typeface="Cambria Math"/>
                            </a:rPr>
                          </m:ctrlPr>
                        </m:sSubPr>
                        <m:e>
                          <m:r>
                            <a:rPr lang="en-GB" sz="1800">
                              <a:solidFill>
                                <a:srgbClr val="BAC4CE"/>
                              </a:solidFill>
                              <a:latin typeface="Cambria Math"/>
                              <a:ea typeface="Cambria Math"/>
                              <a:cs typeface="Cambria Math"/>
                            </a:rPr>
                            <m:t>𝑊</m:t>
                          </m:r>
                        </m:e>
                        <m:sub>
                          <m:r>
                            <a:rPr lang="en-GB" sz="1800">
                              <a:solidFill>
                                <a:srgbClr val="BAC4CE"/>
                              </a:solidFill>
                              <a:latin typeface="Cambria Math"/>
                              <a:ea typeface="Cambria Math"/>
                              <a:cs typeface="Cambria Math"/>
                            </a:rPr>
                            <m:t>13</m:t>
                          </m:r>
                        </m:sub>
                      </m:sSub>
                    </m:oMath>
                  </m:oMathPara>
                </a14:m>
                <a:endParaRPr lang="en-GB" sz="1800" dirty="0"/>
              </a:p>
            </p:txBody>
          </p:sp>
        </mc:Choice>
        <mc:Fallback xmlns="">
          <p:sp>
            <p:nvSpPr>
              <p:cNvPr id="22" name="weight_label_1_3" descr="W_{13}">
                <a:extLst>
                  <a:ext uri="{FF2B5EF4-FFF2-40B4-BE49-F238E27FC236}">
                    <a16:creationId xmlns:a16="http://schemas.microsoft.com/office/drawing/2014/main" id="{33D1AFAC-6255-4125-A19D-1D8FBFEF417F}"/>
                  </a:ext>
                </a:extLst>
              </p:cNvPr>
              <p:cNvSpPr>
                <a:spLocks noGrp="1" noRot="1" noChangeAspect="1" noMove="1" noResize="1" noEditPoints="1" noAdjustHandles="1" noChangeArrowheads="1" noChangeShapeType="1" noTextEdit="1"/>
              </p:cNvSpPr>
              <p:nvPr/>
            </p:nvSpPr>
            <p:spPr>
              <a:xfrm>
                <a:off x="2571750" y="4610100"/>
                <a:ext cx="685800" cy="285750"/>
              </a:xfrm>
              <a:prstGeom prst="rect">
                <a:avLst/>
              </a:prstGeom>
              <a:blipFill>
                <a:blip r:embed="rId7"/>
                <a:stretch>
                  <a:fillRect b="-12766"/>
                </a:stretch>
              </a:blipFill>
              <a:ln w="0">
                <a:noFill/>
              </a:ln>
            </p:spPr>
            <p:txBody>
              <a:bodyPr/>
              <a:lstStyle/>
              <a:p>
                <a:r>
                  <a:rPr lang="it-IT">
                    <a:noFill/>
                  </a:rPr>
                  <a:t> </a:t>
                </a:r>
              </a:p>
            </p:txBody>
          </p:sp>
        </mc:Fallback>
      </mc:AlternateContent>
      <p:sp>
        <p:nvSpPr>
          <p:cNvPr id="23" name="weight_edge_2_3">
            <a:extLst>
              <a:ext uri="{FF2B5EF4-FFF2-40B4-BE49-F238E27FC236}">
                <a16:creationId xmlns:a16="http://schemas.microsoft.com/office/drawing/2014/main" id="{D84486FF-0761-4652-8E48-BA1C7FB49712}"/>
              </a:ext>
            </a:extLst>
          </p:cNvPr>
          <p:cNvSpPr>
            <a:spLocks noGrp="1"/>
          </p:cNvSpPr>
          <p:nvPr/>
        </p:nvSpPr>
        <p:spPr>
          <a:xfrm>
            <a:off x="1123950" y="4667250"/>
            <a:ext cx="2257425" cy="666750"/>
          </a:xfrm>
          <a:prstGeom prst="line">
            <a:avLst/>
          </a:prstGeom>
          <a:noFill/>
          <a:ln w="1524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24" name="weight_label_2_3" descr="W_{23}">
                <a:extLst>
                  <a:ext uri="{FF2B5EF4-FFF2-40B4-BE49-F238E27FC236}">
                    <a16:creationId xmlns:a16="http://schemas.microsoft.com/office/drawing/2014/main" id="{B20C7066-1033-4917-B40A-6036F6096E2C}"/>
                  </a:ext>
                </a:extLst>
              </p:cNvPr>
              <p:cNvSpPr>
                <a:spLocks noGrp="1"/>
              </p:cNvSpPr>
              <p:nvPr/>
            </p:nvSpPr>
            <p:spPr>
              <a:xfrm>
                <a:off x="1781175" y="4781930"/>
                <a:ext cx="685800" cy="285750"/>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800">
                              <a:solidFill>
                                <a:srgbClr val="BAC4CE"/>
                              </a:solidFill>
                              <a:latin typeface="Cambria Math"/>
                              <a:ea typeface="Cambria Math"/>
                              <a:cs typeface="Cambria Math"/>
                            </a:rPr>
                          </m:ctrlPr>
                        </m:sSubPr>
                        <m:e>
                          <m:r>
                            <a:rPr lang="en-GB" sz="1800">
                              <a:solidFill>
                                <a:srgbClr val="BAC4CE"/>
                              </a:solidFill>
                              <a:latin typeface="Cambria Math"/>
                              <a:ea typeface="Cambria Math"/>
                              <a:cs typeface="Cambria Math"/>
                            </a:rPr>
                            <m:t>𝑊</m:t>
                          </m:r>
                        </m:e>
                        <m:sub>
                          <m:r>
                            <a:rPr lang="en-GB" sz="1800">
                              <a:solidFill>
                                <a:srgbClr val="BAC4CE"/>
                              </a:solidFill>
                              <a:latin typeface="Cambria Math"/>
                              <a:ea typeface="Cambria Math"/>
                              <a:cs typeface="Cambria Math"/>
                            </a:rPr>
                            <m:t>23</m:t>
                          </m:r>
                        </m:sub>
                      </m:sSub>
                    </m:oMath>
                  </m:oMathPara>
                </a14:m>
                <a:endParaRPr lang="en-GB" sz="1800" dirty="0"/>
              </a:p>
            </p:txBody>
          </p:sp>
        </mc:Choice>
        <mc:Fallback xmlns="">
          <p:sp>
            <p:nvSpPr>
              <p:cNvPr id="24" name="weight_label_2_3" descr="W_{23}">
                <a:extLst>
                  <a:ext uri="{FF2B5EF4-FFF2-40B4-BE49-F238E27FC236}">
                    <a16:creationId xmlns:a16="http://schemas.microsoft.com/office/drawing/2014/main" id="{B20C7066-1033-4917-B40A-6036F6096E2C}"/>
                  </a:ext>
                </a:extLst>
              </p:cNvPr>
              <p:cNvSpPr>
                <a:spLocks noGrp="1" noRot="1" noChangeAspect="1" noMove="1" noResize="1" noEditPoints="1" noAdjustHandles="1" noChangeArrowheads="1" noChangeShapeType="1" noTextEdit="1"/>
              </p:cNvSpPr>
              <p:nvPr/>
            </p:nvSpPr>
            <p:spPr>
              <a:xfrm>
                <a:off x="1781175" y="4781930"/>
                <a:ext cx="685800" cy="285750"/>
              </a:xfrm>
              <a:prstGeom prst="rect">
                <a:avLst/>
              </a:prstGeom>
              <a:blipFill>
                <a:blip r:embed="rId8"/>
                <a:stretch>
                  <a:fillRect b="-12766"/>
                </a:stretch>
              </a:blipFill>
              <a:ln w="0">
                <a:noFill/>
              </a:ln>
            </p:spPr>
            <p:txBody>
              <a:bodyPr/>
              <a:lstStyle/>
              <a:p>
                <a:r>
                  <a:rPr lang="it-IT">
                    <a:noFill/>
                  </a:rPr>
                  <a:t> </a:t>
                </a:r>
              </a:p>
            </p:txBody>
          </p:sp>
        </mc:Fallback>
      </mc:AlternateContent>
      <p:sp>
        <p:nvSpPr>
          <p:cNvPr id="25" name="bias_edge_3">
            <a:extLst>
              <a:ext uri="{FF2B5EF4-FFF2-40B4-BE49-F238E27FC236}">
                <a16:creationId xmlns:a16="http://schemas.microsoft.com/office/drawing/2014/main" id="{F2F2144E-5D35-4463-A579-2C5CBD499A4A}"/>
              </a:ext>
            </a:extLst>
          </p:cNvPr>
          <p:cNvSpPr>
            <a:spLocks noGrp="1"/>
          </p:cNvSpPr>
          <p:nvPr/>
        </p:nvSpPr>
        <p:spPr>
          <a:xfrm>
            <a:off x="5572125" y="5334000"/>
            <a:ext cx="1447800" cy="953"/>
          </a:xfrm>
          <a:prstGeom prst="line">
            <a:avLst/>
          </a:prstGeom>
          <a:noFill/>
          <a:ln w="17145">
            <a:solidFill>
              <a:srgbClr val="BAC4CE"/>
            </a:solidFill>
            <a:tailEnd type="triangle" w="sm" len="sm"/>
          </a:ln>
        </p:spPr>
        <p:txBody>
          <a:bodyPr/>
          <a:lstStyle/>
          <a:p>
            <a:endParaRPr lang="it-IT"/>
          </a:p>
        </p:txBody>
      </p:sp>
      <p:sp>
        <p:nvSpPr>
          <p:cNvPr id="26" name="relu_edge_3">
            <a:extLst>
              <a:ext uri="{FF2B5EF4-FFF2-40B4-BE49-F238E27FC236}">
                <a16:creationId xmlns:a16="http://schemas.microsoft.com/office/drawing/2014/main" id="{51943173-D7E2-4F95-89AE-0F97EB5D14E9}"/>
              </a:ext>
            </a:extLst>
          </p:cNvPr>
          <p:cNvSpPr>
            <a:spLocks noGrp="1"/>
          </p:cNvSpPr>
          <p:nvPr/>
        </p:nvSpPr>
        <p:spPr>
          <a:xfrm>
            <a:off x="7934325" y="5334000"/>
            <a:ext cx="2276475" cy="953"/>
          </a:xfrm>
          <a:prstGeom prst="line">
            <a:avLst/>
          </a:prstGeom>
          <a:noFill/>
          <a:ln w="17145">
            <a:solidFill>
              <a:srgbClr val="BAC4CE"/>
            </a:solidFill>
            <a:tailEnd type="triangle" w="sm" len="sm"/>
          </a:ln>
        </p:spPr>
        <p:txBody>
          <a:bodyPr/>
          <a:lstStyle/>
          <a:p>
            <a:endParaRPr lang="it-IT"/>
          </a:p>
        </p:txBody>
      </p:sp>
      <p:sp>
        <p:nvSpPr>
          <p:cNvPr id="27" name="input_1">
            <a:extLst>
              <a:ext uri="{FF2B5EF4-FFF2-40B4-BE49-F238E27FC236}">
                <a16:creationId xmlns:a16="http://schemas.microsoft.com/office/drawing/2014/main" id="{46A8A150-0599-4905-93D7-223148D38206}"/>
              </a:ext>
            </a:extLst>
          </p:cNvPr>
          <p:cNvSpPr>
            <a:spLocks noGrp="1"/>
          </p:cNvSpPr>
          <p:nvPr/>
        </p:nvSpPr>
        <p:spPr>
          <a:xfrm>
            <a:off x="590550" y="3067050"/>
            <a:ext cx="533400" cy="533400"/>
          </a:xfrm>
          <a:prstGeom prst="ellipse">
            <a:avLst/>
          </a:prstGeom>
          <a:solidFill>
            <a:srgbClr val="FFFFF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28" name="input_math_1" descr="x_1">
                <a:extLst>
                  <a:ext uri="{FF2B5EF4-FFF2-40B4-BE49-F238E27FC236}">
                    <a16:creationId xmlns:a16="http://schemas.microsoft.com/office/drawing/2014/main" id="{4E5F1401-FCD9-4BEC-9BD8-727AB67A1969}"/>
                  </a:ext>
                </a:extLst>
              </p:cNvPr>
              <p:cNvSpPr>
                <a:spLocks noGrp="1"/>
              </p:cNvSpPr>
              <p:nvPr/>
            </p:nvSpPr>
            <p:spPr>
              <a:xfrm>
                <a:off x="590550" y="306705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300" b="0" i="1" smtClean="0">
                          <a:solidFill>
                            <a:srgbClr val="182D45"/>
                          </a:solidFill>
                          <a:latin typeface="Cambria Math" panose="02040503050406030204" pitchFamily="18" charset="0"/>
                          <a:ea typeface="Cambria Math"/>
                          <a:cs typeface="Cambria Math"/>
                        </a:rPr>
                        <m:t>  </m:t>
                      </m:r>
                      <m:sSub>
                        <m:sSubPr>
                          <m:ctrlPr>
                            <a:rPr lang="en-GB" sz="2300">
                              <a:solidFill>
                                <a:srgbClr val="182D45"/>
                              </a:solidFill>
                              <a:latin typeface="Cambria Math"/>
                              <a:ea typeface="Cambria Math"/>
                              <a:cs typeface="Cambria Math"/>
                            </a:rPr>
                          </m:ctrlPr>
                        </m:sSubPr>
                        <m:e>
                          <m:r>
                            <a:rPr lang="en-GB" sz="2300">
                              <a:solidFill>
                                <a:srgbClr val="182D45"/>
                              </a:solidFill>
                              <a:latin typeface="Cambria Math"/>
                              <a:ea typeface="Cambria Math"/>
                              <a:cs typeface="Cambria Math"/>
                            </a:rPr>
                            <m:t>𝑥</m:t>
                          </m:r>
                        </m:e>
                        <m:sub>
                          <m:r>
                            <a:rPr lang="en-GB" sz="2300">
                              <a:solidFill>
                                <a:srgbClr val="182D45"/>
                              </a:solidFill>
                              <a:latin typeface="Cambria Math"/>
                              <a:ea typeface="Cambria Math"/>
                              <a:cs typeface="Cambria Math"/>
                            </a:rPr>
                            <m:t>1</m:t>
                          </m:r>
                        </m:sub>
                      </m:sSub>
                    </m:oMath>
                  </m:oMathPara>
                </a14:m>
                <a:endParaRPr lang="en-GB" sz="2300" dirty="0"/>
              </a:p>
            </p:txBody>
          </p:sp>
        </mc:Choice>
        <mc:Fallback xmlns="">
          <p:sp>
            <p:nvSpPr>
              <p:cNvPr id="28" name="input_math_1" descr="x_1">
                <a:extLst>
                  <a:ext uri="{FF2B5EF4-FFF2-40B4-BE49-F238E27FC236}">
                    <a16:creationId xmlns:a16="http://schemas.microsoft.com/office/drawing/2014/main" id="{4E5F1401-FCD9-4BEC-9BD8-727AB67A1969}"/>
                  </a:ext>
                </a:extLst>
              </p:cNvPr>
              <p:cNvSpPr>
                <a:spLocks noGrp="1" noRot="1" noChangeAspect="1" noMove="1" noResize="1" noEditPoints="1" noAdjustHandles="1" noChangeArrowheads="1" noChangeShapeType="1" noTextEdit="1"/>
              </p:cNvSpPr>
              <p:nvPr/>
            </p:nvSpPr>
            <p:spPr>
              <a:xfrm>
                <a:off x="590550" y="3067050"/>
                <a:ext cx="533400" cy="533400"/>
              </a:xfrm>
              <a:prstGeom prst="rect">
                <a:avLst/>
              </a:prstGeom>
              <a:blipFill>
                <a:blip r:embed="rId9"/>
                <a:stretch>
                  <a:fillRect/>
                </a:stretch>
              </a:blipFill>
              <a:ln w="0">
                <a:noFill/>
              </a:ln>
            </p:spPr>
            <p:txBody>
              <a:bodyPr/>
              <a:lstStyle/>
              <a:p>
                <a:r>
                  <a:rPr lang="it-IT">
                    <a:noFill/>
                  </a:rPr>
                  <a:t> </a:t>
                </a:r>
              </a:p>
            </p:txBody>
          </p:sp>
        </mc:Fallback>
      </mc:AlternateContent>
      <p:sp>
        <p:nvSpPr>
          <p:cNvPr id="29" name="input_2">
            <a:extLst>
              <a:ext uri="{FF2B5EF4-FFF2-40B4-BE49-F238E27FC236}">
                <a16:creationId xmlns:a16="http://schemas.microsoft.com/office/drawing/2014/main" id="{2E2C07C4-4D15-497D-8013-1D2D993EE60E}"/>
              </a:ext>
            </a:extLst>
          </p:cNvPr>
          <p:cNvSpPr>
            <a:spLocks noGrp="1"/>
          </p:cNvSpPr>
          <p:nvPr/>
        </p:nvSpPr>
        <p:spPr>
          <a:xfrm>
            <a:off x="590550" y="4400550"/>
            <a:ext cx="533400" cy="533400"/>
          </a:xfrm>
          <a:prstGeom prst="ellipse">
            <a:avLst/>
          </a:prstGeom>
          <a:solidFill>
            <a:srgbClr val="FFFFF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0" name="input_math_2" descr="x_2">
                <a:extLst>
                  <a:ext uri="{FF2B5EF4-FFF2-40B4-BE49-F238E27FC236}">
                    <a16:creationId xmlns:a16="http://schemas.microsoft.com/office/drawing/2014/main" id="{7BC8776D-C39E-4F11-8027-0198D6A5A6F6}"/>
                  </a:ext>
                </a:extLst>
              </p:cNvPr>
              <p:cNvSpPr>
                <a:spLocks noGrp="1"/>
              </p:cNvSpPr>
              <p:nvPr/>
            </p:nvSpPr>
            <p:spPr>
              <a:xfrm>
                <a:off x="590550" y="4400550"/>
                <a:ext cx="5334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300" b="0" i="1" smtClean="0">
                          <a:solidFill>
                            <a:srgbClr val="182D45"/>
                          </a:solidFill>
                          <a:latin typeface="Cambria Math" panose="02040503050406030204" pitchFamily="18" charset="0"/>
                          <a:ea typeface="Cambria Math"/>
                          <a:cs typeface="Cambria Math"/>
                        </a:rPr>
                        <m:t>  </m:t>
                      </m:r>
                      <m:sSub>
                        <m:sSubPr>
                          <m:ctrlPr>
                            <a:rPr lang="en-GB" sz="2300">
                              <a:solidFill>
                                <a:srgbClr val="182D45"/>
                              </a:solidFill>
                              <a:latin typeface="Cambria Math"/>
                              <a:ea typeface="Cambria Math"/>
                              <a:cs typeface="Cambria Math"/>
                            </a:rPr>
                          </m:ctrlPr>
                        </m:sSubPr>
                        <m:e>
                          <m:r>
                            <a:rPr lang="en-GB" sz="2300">
                              <a:solidFill>
                                <a:srgbClr val="182D45"/>
                              </a:solidFill>
                              <a:latin typeface="Cambria Math"/>
                              <a:ea typeface="Cambria Math"/>
                              <a:cs typeface="Cambria Math"/>
                            </a:rPr>
                            <m:t>𝑥</m:t>
                          </m:r>
                        </m:e>
                        <m:sub>
                          <m:r>
                            <a:rPr lang="en-GB" sz="2300">
                              <a:solidFill>
                                <a:srgbClr val="182D45"/>
                              </a:solidFill>
                              <a:latin typeface="Cambria Math"/>
                              <a:ea typeface="Cambria Math"/>
                              <a:cs typeface="Cambria Math"/>
                            </a:rPr>
                            <m:t>2</m:t>
                          </m:r>
                        </m:sub>
                      </m:sSub>
                    </m:oMath>
                  </m:oMathPara>
                </a14:m>
                <a:endParaRPr lang="en-GB" sz="2300" dirty="0"/>
              </a:p>
            </p:txBody>
          </p:sp>
        </mc:Choice>
        <mc:Fallback xmlns="">
          <p:sp>
            <p:nvSpPr>
              <p:cNvPr id="30" name="input_math_2" descr="x_2">
                <a:extLst>
                  <a:ext uri="{FF2B5EF4-FFF2-40B4-BE49-F238E27FC236}">
                    <a16:creationId xmlns:a16="http://schemas.microsoft.com/office/drawing/2014/main" id="{7BC8776D-C39E-4F11-8027-0198D6A5A6F6}"/>
                  </a:ext>
                </a:extLst>
              </p:cNvPr>
              <p:cNvSpPr>
                <a:spLocks noGrp="1" noRot="1" noChangeAspect="1" noMove="1" noResize="1" noEditPoints="1" noAdjustHandles="1" noChangeArrowheads="1" noChangeShapeType="1" noTextEdit="1"/>
              </p:cNvSpPr>
              <p:nvPr/>
            </p:nvSpPr>
            <p:spPr>
              <a:xfrm>
                <a:off x="590550" y="4400550"/>
                <a:ext cx="533400" cy="533400"/>
              </a:xfrm>
              <a:prstGeom prst="rect">
                <a:avLst/>
              </a:prstGeom>
              <a:blipFill>
                <a:blip r:embed="rId10"/>
                <a:stretch>
                  <a:fillRect/>
                </a:stretch>
              </a:blipFill>
              <a:ln w="0">
                <a:noFill/>
              </a:ln>
            </p:spPr>
            <p:txBody>
              <a:bodyPr/>
              <a:lstStyle/>
              <a:p>
                <a:r>
                  <a:rPr lang="it-IT">
                    <a:noFill/>
                  </a:rPr>
                  <a:t> </a:t>
                </a:r>
              </a:p>
            </p:txBody>
          </p:sp>
        </mc:Fallback>
      </mc:AlternateContent>
      <p:sp>
        <p:nvSpPr>
          <p:cNvPr id="31" name="sum_1">
            <a:extLst>
              <a:ext uri="{FF2B5EF4-FFF2-40B4-BE49-F238E27FC236}">
                <a16:creationId xmlns:a16="http://schemas.microsoft.com/office/drawing/2014/main" id="{BF124D20-C90A-44CC-8537-0E95AA2B9FAD}"/>
              </a:ext>
            </a:extLst>
          </p:cNvPr>
          <p:cNvSpPr>
            <a:spLocks noGrp="1"/>
          </p:cNvSpPr>
          <p:nvPr/>
        </p:nvSpPr>
        <p:spPr>
          <a:xfrm>
            <a:off x="3381375" y="2428875"/>
            <a:ext cx="2190750" cy="857250"/>
          </a:xfrm>
          <a:prstGeom prst="ellipse">
            <a:avLst/>
          </a:prstGeom>
          <a:solidFill>
            <a:srgbClr val="F1F4F7"/>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2" name="sum_math_1" descr="x_1W_{11}+x_2W_{21}">
                <a:extLst>
                  <a:ext uri="{FF2B5EF4-FFF2-40B4-BE49-F238E27FC236}">
                    <a16:creationId xmlns:a16="http://schemas.microsoft.com/office/drawing/2014/main" id="{0CD61843-CD74-4ADE-8846-F5681ED81B47}"/>
                  </a:ext>
                </a:extLst>
              </p:cNvPr>
              <p:cNvSpPr>
                <a:spLocks noGrp="1"/>
              </p:cNvSpPr>
              <p:nvPr/>
            </p:nvSpPr>
            <p:spPr>
              <a:xfrm>
                <a:off x="3381375" y="2476500"/>
                <a:ext cx="219075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𝑥</m:t>
                          </m:r>
                        </m:e>
                        <m:sub>
                          <m:r>
                            <a:rPr lang="en-GB" sz="2100">
                              <a:solidFill>
                                <a:srgbClr val="182D45"/>
                              </a:solidFill>
                              <a:latin typeface="Cambria Math"/>
                              <a:ea typeface="Cambria Math"/>
                              <a:cs typeface="Cambria Math"/>
                            </a:rPr>
                            <m:t>1</m:t>
                          </m:r>
                        </m:sub>
                      </m:sSub>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𝑊</m:t>
                          </m:r>
                        </m:e>
                        <m:sub>
                          <m:r>
                            <a:rPr lang="en-GB" sz="2100">
                              <a:solidFill>
                                <a:srgbClr val="182D45"/>
                              </a:solidFill>
                              <a:latin typeface="Cambria Math"/>
                              <a:ea typeface="Cambria Math"/>
                              <a:cs typeface="Cambria Math"/>
                            </a:rPr>
                            <m:t>11</m:t>
                          </m:r>
                        </m:sub>
                      </m:sSub>
                      <m:r>
                        <a:rPr lang="en-GB" sz="2100">
                          <a:solidFill>
                            <a:srgbClr val="182D45"/>
                          </a:solidFill>
                          <a:latin typeface="Cambria Math"/>
                          <a:ea typeface="Cambria Math"/>
                          <a:cs typeface="Cambria Math"/>
                        </a:rPr>
                        <m:t>+</m:t>
                      </m:r>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𝑥</m:t>
                          </m:r>
                        </m:e>
                        <m:sub>
                          <m:r>
                            <a:rPr lang="en-GB" sz="2100">
                              <a:solidFill>
                                <a:srgbClr val="182D45"/>
                              </a:solidFill>
                              <a:latin typeface="Cambria Math"/>
                              <a:ea typeface="Cambria Math"/>
                              <a:cs typeface="Cambria Math"/>
                            </a:rPr>
                            <m:t>2</m:t>
                          </m:r>
                        </m:sub>
                      </m:sSub>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𝑊</m:t>
                          </m:r>
                        </m:e>
                        <m:sub>
                          <m:r>
                            <a:rPr lang="en-GB" sz="2100">
                              <a:solidFill>
                                <a:srgbClr val="182D45"/>
                              </a:solidFill>
                              <a:latin typeface="Cambria Math"/>
                              <a:ea typeface="Cambria Math"/>
                              <a:cs typeface="Cambria Math"/>
                            </a:rPr>
                            <m:t>21</m:t>
                          </m:r>
                        </m:sub>
                      </m:sSub>
                    </m:oMath>
                  </m:oMathPara>
                </a14:m>
                <a:endParaRPr lang="en-GB" sz="2100"/>
              </a:p>
            </p:txBody>
          </p:sp>
        </mc:Choice>
        <mc:Fallback xmlns="">
          <p:sp>
            <p:nvSpPr>
              <p:cNvPr id="32" name="sum_math_1" descr="x_1W_{11}+x_2W_{21}">
                <a:extLst>
                  <a:ext uri="{FF2B5EF4-FFF2-40B4-BE49-F238E27FC236}">
                    <a16:creationId xmlns:a16="http://schemas.microsoft.com/office/drawing/2014/main" id="{0CD61843-CD74-4ADE-8846-F5681ED81B47}"/>
                  </a:ext>
                </a:extLst>
              </p:cNvPr>
              <p:cNvSpPr>
                <a:spLocks noGrp="1" noRot="1" noChangeAspect="1" noMove="1" noResize="1" noEditPoints="1" noAdjustHandles="1" noChangeArrowheads="1" noChangeShapeType="1" noTextEdit="1"/>
              </p:cNvSpPr>
              <p:nvPr/>
            </p:nvSpPr>
            <p:spPr>
              <a:xfrm>
                <a:off x="3381375" y="2476500"/>
                <a:ext cx="2190750" cy="762000"/>
              </a:xfrm>
              <a:prstGeom prst="rect">
                <a:avLst/>
              </a:prstGeom>
              <a:blipFill>
                <a:blip r:embed="rId11"/>
                <a:stretch>
                  <a:fillRect/>
                </a:stretch>
              </a:blipFill>
              <a:ln w="0">
                <a:noFill/>
              </a:ln>
            </p:spPr>
            <p:txBody>
              <a:bodyPr/>
              <a:lstStyle/>
              <a:p>
                <a:r>
                  <a:rPr lang="it-IT">
                    <a:noFill/>
                  </a:rPr>
                  <a:t> </a:t>
                </a:r>
              </a:p>
            </p:txBody>
          </p:sp>
        </mc:Fallback>
      </mc:AlternateContent>
      <p:sp>
        <p:nvSpPr>
          <p:cNvPr id="33" name="pre_1">
            <a:extLst>
              <a:ext uri="{FF2B5EF4-FFF2-40B4-BE49-F238E27FC236}">
                <a16:creationId xmlns:a16="http://schemas.microsoft.com/office/drawing/2014/main" id="{B0EB52C1-B6B3-473B-BC14-113908DE6E80}"/>
              </a:ext>
            </a:extLst>
          </p:cNvPr>
          <p:cNvSpPr>
            <a:spLocks noGrp="1"/>
          </p:cNvSpPr>
          <p:nvPr/>
        </p:nvSpPr>
        <p:spPr>
          <a:xfrm>
            <a:off x="7019925" y="2400300"/>
            <a:ext cx="914400" cy="914400"/>
          </a:xfrm>
          <a:prstGeom prst="ellipse">
            <a:avLst/>
          </a:prstGeom>
          <a:solidFill>
            <a:srgbClr val="FFFBEF"/>
          </a:solidFill>
          <a:ln w="19050">
            <a:solidFill>
              <a:srgbClr val="182D45"/>
            </a:solidFill>
          </a:ln>
        </p:spPr>
        <p:txBody>
          <a:bodyPr/>
          <a:lstStyle/>
          <a:p>
            <a:endParaRPr lang="it-IT"/>
          </a:p>
        </p:txBody>
      </p:sp>
      <mc:AlternateContent xmlns:mc="http://schemas.openxmlformats.org/markup-compatibility/2006" xmlns:a14="http://schemas.microsoft.com/office/drawing/2010/main">
        <mc:Choice Requires="a14">
          <p:sp>
            <p:nvSpPr>
              <p:cNvPr id="34" name="pre_math_1" descr="a_1(\mathbf{x})">
                <a:extLst>
                  <a:ext uri="{FF2B5EF4-FFF2-40B4-BE49-F238E27FC236}">
                    <a16:creationId xmlns:a16="http://schemas.microsoft.com/office/drawing/2014/main" id="{64FA5829-C630-45C2-9E51-8E8B996BCA56}"/>
                  </a:ext>
                </a:extLst>
              </p:cNvPr>
              <p:cNvSpPr>
                <a:spLocks noGrp="1"/>
              </p:cNvSpPr>
              <p:nvPr/>
            </p:nvSpPr>
            <p:spPr>
              <a:xfrm>
                <a:off x="7019925" y="24003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182D45"/>
                          </a:solidFill>
                          <a:latin typeface="Cambria Math" panose="02040503050406030204" pitchFamily="18" charset="0"/>
                          <a:ea typeface="Cambria Math"/>
                          <a:cs typeface="Cambria Math"/>
                        </a:rPr>
                        <m:t> </m:t>
                      </m:r>
                      <m:sSub>
                        <m:sSubPr>
                          <m:ctrlPr>
                            <a:rPr lang="en-GB" sz="2200">
                              <a:solidFill>
                                <a:srgbClr val="182D45"/>
                              </a:solidFill>
                              <a:latin typeface="Cambria Math"/>
                              <a:ea typeface="Cambria Math"/>
                              <a:cs typeface="Cambria Math"/>
                            </a:rPr>
                          </m:ctrlPr>
                        </m:sSubPr>
                        <m:e>
                          <m:r>
                            <a:rPr lang="en-GB" sz="2200">
                              <a:solidFill>
                                <a:srgbClr val="182D45"/>
                              </a:solidFill>
                              <a:latin typeface="Cambria Math"/>
                              <a:ea typeface="Cambria Math"/>
                              <a:cs typeface="Cambria Math"/>
                            </a:rPr>
                            <m:t>𝑎</m:t>
                          </m:r>
                        </m:e>
                        <m:sub>
                          <m:r>
                            <a:rPr lang="en-GB" sz="2200">
                              <a:solidFill>
                                <a:srgbClr val="182D45"/>
                              </a:solidFill>
                              <a:latin typeface="Cambria Math"/>
                              <a:ea typeface="Cambria Math"/>
                              <a:cs typeface="Cambria Math"/>
                            </a:rPr>
                            <m:t>1</m:t>
                          </m:r>
                        </m:sub>
                      </m:sSub>
                      <m:d>
                        <m:dPr>
                          <m:ctrlPr>
                            <a:rPr lang="en-GB" sz="2200">
                              <a:solidFill>
                                <a:srgbClr val="182D45"/>
                              </a:solidFill>
                              <a:latin typeface="Cambria Math"/>
                              <a:ea typeface="Cambria Math"/>
                              <a:cs typeface="Cambria Math"/>
                            </a:rPr>
                          </m:ctrlPr>
                        </m:dPr>
                        <m:e>
                          <m:r>
                            <a:rPr lang="en-GB" sz="2200">
                              <a:solidFill>
                                <a:srgbClr val="182D45"/>
                              </a:solidFill>
                              <a:latin typeface="Cambria Math"/>
                              <a:ea typeface="Cambria Math"/>
                              <a:cs typeface="Cambria Math"/>
                            </a:rPr>
                            <m:t>𝐱</m:t>
                          </m:r>
                        </m:e>
                      </m:d>
                    </m:oMath>
                  </m:oMathPara>
                </a14:m>
                <a:endParaRPr lang="en-GB" sz="2200" dirty="0"/>
              </a:p>
            </p:txBody>
          </p:sp>
        </mc:Choice>
        <mc:Fallback xmlns="">
          <p:sp>
            <p:nvSpPr>
              <p:cNvPr id="34" name="pre_math_1" descr="a_1(\mathbf{x})">
                <a:extLst>
                  <a:ext uri="{FF2B5EF4-FFF2-40B4-BE49-F238E27FC236}">
                    <a16:creationId xmlns:a16="http://schemas.microsoft.com/office/drawing/2014/main" id="{64FA5829-C630-45C2-9E51-8E8B996BCA56}"/>
                  </a:ext>
                </a:extLst>
              </p:cNvPr>
              <p:cNvSpPr>
                <a:spLocks noGrp="1" noRot="1" noChangeAspect="1" noMove="1" noResize="1" noEditPoints="1" noAdjustHandles="1" noChangeArrowheads="1" noChangeShapeType="1" noTextEdit="1"/>
              </p:cNvSpPr>
              <p:nvPr/>
            </p:nvSpPr>
            <p:spPr>
              <a:xfrm>
                <a:off x="7019925" y="2400300"/>
                <a:ext cx="914400" cy="914400"/>
              </a:xfrm>
              <a:prstGeom prst="rect">
                <a:avLst/>
              </a:prstGeom>
              <a:blipFill>
                <a:blip r:embed="rId12"/>
                <a:stretch>
                  <a:fillRect/>
                </a:stretch>
              </a:blipFill>
              <a:ln w="0">
                <a:noFill/>
              </a:ln>
            </p:spPr>
            <p:txBody>
              <a:bodyPr/>
              <a:lstStyle/>
              <a:p>
                <a:r>
                  <a:rPr lang="it-IT">
                    <a:noFill/>
                  </a:rPr>
                  <a:t> </a:t>
                </a:r>
              </a:p>
            </p:txBody>
          </p:sp>
        </mc:Fallback>
      </mc:AlternateContent>
      <p:sp>
        <p:nvSpPr>
          <p:cNvPr id="35" name="activation_1">
            <a:extLst>
              <a:ext uri="{FF2B5EF4-FFF2-40B4-BE49-F238E27FC236}">
                <a16:creationId xmlns:a16="http://schemas.microsoft.com/office/drawing/2014/main" id="{C860546E-0521-4CD0-A12D-ED9A34BD062A}"/>
              </a:ext>
            </a:extLst>
          </p:cNvPr>
          <p:cNvSpPr>
            <a:spLocks noGrp="1"/>
          </p:cNvSpPr>
          <p:nvPr/>
        </p:nvSpPr>
        <p:spPr>
          <a:xfrm>
            <a:off x="10210800" y="2400300"/>
            <a:ext cx="914400" cy="914400"/>
          </a:xfrm>
          <a:prstGeom prst="ellipse">
            <a:avLst/>
          </a:prstGeom>
          <a:solidFill>
            <a:srgbClr val="EFF8F4"/>
          </a:solidFill>
          <a:ln w="19050">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36" name="activation_math_1" descr="\phi_1(\mathbf{x})">
                <a:extLst>
                  <a:ext uri="{FF2B5EF4-FFF2-40B4-BE49-F238E27FC236}">
                    <a16:creationId xmlns:a16="http://schemas.microsoft.com/office/drawing/2014/main" id="{A0D456E6-F629-4CB9-AD23-FA9D33A6C253}"/>
                  </a:ext>
                </a:extLst>
              </p:cNvPr>
              <p:cNvSpPr>
                <a:spLocks noGrp="1"/>
              </p:cNvSpPr>
              <p:nvPr/>
            </p:nvSpPr>
            <p:spPr>
              <a:xfrm>
                <a:off x="10210800" y="24003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087F83"/>
                          </a:solidFill>
                          <a:latin typeface="Cambria Math" panose="02040503050406030204" pitchFamily="18" charset="0"/>
                          <a:ea typeface="Cambria Math"/>
                          <a:cs typeface="Cambria Math"/>
                        </a:rPr>
                        <m:t> </m:t>
                      </m:r>
                      <m:sSub>
                        <m:sSubPr>
                          <m:ctrlPr>
                            <a:rPr lang="en-GB" sz="2200">
                              <a:solidFill>
                                <a:srgbClr val="087F83"/>
                              </a:solidFill>
                              <a:latin typeface="Cambria Math"/>
                              <a:ea typeface="Cambria Math"/>
                              <a:cs typeface="Cambria Math"/>
                            </a:rPr>
                          </m:ctrlPr>
                        </m:sSubPr>
                        <m:e>
                          <m:r>
                            <a:rPr lang="en-GB" sz="2200">
                              <a:solidFill>
                                <a:srgbClr val="087F83"/>
                              </a:solidFill>
                              <a:latin typeface="Cambria Math"/>
                              <a:ea typeface="Cambria Math"/>
                              <a:cs typeface="Cambria Math"/>
                            </a:rPr>
                            <m:t>𝜙</m:t>
                          </m:r>
                        </m:e>
                        <m:sub>
                          <m:r>
                            <a:rPr lang="en-GB" sz="2200">
                              <a:solidFill>
                                <a:srgbClr val="087F83"/>
                              </a:solidFill>
                              <a:latin typeface="Cambria Math"/>
                              <a:ea typeface="Cambria Math"/>
                              <a:cs typeface="Cambria Math"/>
                            </a:rPr>
                            <m:t>1</m:t>
                          </m:r>
                        </m:sub>
                      </m:sSub>
                      <m:d>
                        <m:dPr>
                          <m:ctrlPr>
                            <a:rPr lang="en-GB" sz="2200">
                              <a:solidFill>
                                <a:srgbClr val="087F83"/>
                              </a:solidFill>
                              <a:latin typeface="Cambria Math"/>
                              <a:ea typeface="Cambria Math"/>
                              <a:cs typeface="Cambria Math"/>
                            </a:rPr>
                          </m:ctrlPr>
                        </m:dPr>
                        <m:e>
                          <m:r>
                            <a:rPr lang="en-GB" sz="2200">
                              <a:solidFill>
                                <a:srgbClr val="087F83"/>
                              </a:solidFill>
                              <a:latin typeface="Cambria Math"/>
                              <a:ea typeface="Cambria Math"/>
                              <a:cs typeface="Cambria Math"/>
                            </a:rPr>
                            <m:t>𝐱</m:t>
                          </m:r>
                        </m:e>
                      </m:d>
                    </m:oMath>
                  </m:oMathPara>
                </a14:m>
                <a:endParaRPr lang="en-GB" sz="2200" dirty="0"/>
              </a:p>
            </p:txBody>
          </p:sp>
        </mc:Choice>
        <mc:Fallback xmlns="">
          <p:sp>
            <p:nvSpPr>
              <p:cNvPr id="36" name="activation_math_1" descr="\phi_1(\mathbf{x})">
                <a:extLst>
                  <a:ext uri="{FF2B5EF4-FFF2-40B4-BE49-F238E27FC236}">
                    <a16:creationId xmlns:a16="http://schemas.microsoft.com/office/drawing/2014/main" id="{A0D456E6-F629-4CB9-AD23-FA9D33A6C253}"/>
                  </a:ext>
                </a:extLst>
              </p:cNvPr>
              <p:cNvSpPr>
                <a:spLocks noGrp="1" noRot="1" noChangeAspect="1" noMove="1" noResize="1" noEditPoints="1" noAdjustHandles="1" noChangeArrowheads="1" noChangeShapeType="1" noTextEdit="1"/>
              </p:cNvSpPr>
              <p:nvPr/>
            </p:nvSpPr>
            <p:spPr>
              <a:xfrm>
                <a:off x="10210800" y="2400300"/>
                <a:ext cx="914400" cy="914400"/>
              </a:xfrm>
              <a:prstGeom prst="rect">
                <a:avLst/>
              </a:prstGeom>
              <a:blipFill>
                <a:blip r:embed="rId13"/>
                <a:stretch>
                  <a:fillRect l="-2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 name="bias_math_1" descr="+b_1">
                <a:extLst>
                  <a:ext uri="{FF2B5EF4-FFF2-40B4-BE49-F238E27FC236}">
                    <a16:creationId xmlns:a16="http://schemas.microsoft.com/office/drawing/2014/main" id="{A761615F-035E-48FA-8345-89C00A84848C}"/>
                  </a:ext>
                </a:extLst>
              </p:cNvPr>
              <p:cNvSpPr>
                <a:spLocks noGrp="1"/>
              </p:cNvSpPr>
              <p:nvPr/>
            </p:nvSpPr>
            <p:spPr>
              <a:xfrm>
                <a:off x="5791200" y="244792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182D45"/>
                          </a:solidFill>
                          <a:latin typeface="Cambria Math"/>
                          <a:ea typeface="Cambria Math"/>
                          <a:cs typeface="Cambria Math"/>
                        </a:rPr>
                        <m:t>+</m:t>
                      </m:r>
                      <m:sSub>
                        <m:sSubPr>
                          <m:ctrlPr>
                            <a:rPr lang="en-GB" sz="2300">
                              <a:solidFill>
                                <a:srgbClr val="182D45"/>
                              </a:solidFill>
                              <a:latin typeface="Cambria Math"/>
                              <a:ea typeface="Cambria Math"/>
                              <a:cs typeface="Cambria Math"/>
                            </a:rPr>
                          </m:ctrlPr>
                        </m:sSubPr>
                        <m:e>
                          <m:r>
                            <a:rPr lang="en-GB" sz="2300">
                              <a:solidFill>
                                <a:srgbClr val="182D45"/>
                              </a:solidFill>
                              <a:latin typeface="Cambria Math"/>
                              <a:ea typeface="Cambria Math"/>
                              <a:cs typeface="Cambria Math"/>
                            </a:rPr>
                            <m:t>𝑏</m:t>
                          </m:r>
                        </m:e>
                        <m:sub>
                          <m:r>
                            <a:rPr lang="en-GB" sz="2300">
                              <a:solidFill>
                                <a:srgbClr val="182D45"/>
                              </a:solidFill>
                              <a:latin typeface="Cambria Math"/>
                              <a:ea typeface="Cambria Math"/>
                              <a:cs typeface="Cambria Math"/>
                            </a:rPr>
                            <m:t>1</m:t>
                          </m:r>
                        </m:sub>
                      </m:sSub>
                    </m:oMath>
                  </m:oMathPara>
                </a14:m>
                <a:endParaRPr lang="en-GB" sz="2300"/>
              </a:p>
            </p:txBody>
          </p:sp>
        </mc:Choice>
        <mc:Fallback xmlns="">
          <p:sp>
            <p:nvSpPr>
              <p:cNvPr id="37" name="bias_math_1" descr="+b_1">
                <a:extLst>
                  <a:ext uri="{FF2B5EF4-FFF2-40B4-BE49-F238E27FC236}">
                    <a16:creationId xmlns:a16="http://schemas.microsoft.com/office/drawing/2014/main" id="{A761615F-035E-48FA-8345-89C00A84848C}"/>
                  </a:ext>
                </a:extLst>
              </p:cNvPr>
              <p:cNvSpPr>
                <a:spLocks noGrp="1" noRot="1" noChangeAspect="1" noMove="1" noResize="1" noEditPoints="1" noAdjustHandles="1" noChangeArrowheads="1" noChangeShapeType="1" noTextEdit="1"/>
              </p:cNvSpPr>
              <p:nvPr/>
            </p:nvSpPr>
            <p:spPr>
              <a:xfrm>
                <a:off x="5791200" y="2447925"/>
                <a:ext cx="1000125" cy="352425"/>
              </a:xfrm>
              <a:prstGeom prst="rect">
                <a:avLst/>
              </a:prstGeom>
              <a:blipFill>
                <a:blip r:embed="rId14"/>
                <a:stretch>
                  <a:fillRect b="-15789"/>
                </a:stretch>
              </a:blipFill>
              <a:ln w="0">
                <a:noFill/>
              </a:ln>
            </p:spPr>
            <p:txBody>
              <a:bodyPr/>
              <a:lstStyle/>
              <a:p>
                <a:r>
                  <a:rPr lang="it-IT">
                    <a:noFill/>
                  </a:rPr>
                  <a:t> </a:t>
                </a:r>
              </a:p>
            </p:txBody>
          </p:sp>
        </mc:Fallback>
      </mc:AlternateContent>
      <p:sp>
        <p:nvSpPr>
          <p:cNvPr id="38" name="relu_label_1">
            <a:extLst>
              <a:ext uri="{FF2B5EF4-FFF2-40B4-BE49-F238E27FC236}">
                <a16:creationId xmlns:a16="http://schemas.microsoft.com/office/drawing/2014/main" id="{218D8EFC-CB6C-4140-933F-5CFD566BBB55}"/>
              </a:ext>
            </a:extLst>
          </p:cNvPr>
          <p:cNvSpPr>
            <a:spLocks noGrp="1"/>
          </p:cNvSpPr>
          <p:nvPr/>
        </p:nvSpPr>
        <p:spPr>
          <a:xfrm>
            <a:off x="8477250" y="2447925"/>
            <a:ext cx="1238250" cy="352425"/>
          </a:xfrm>
          <a:prstGeom prst="rect">
            <a:avLst/>
          </a:prstGeom>
          <a:noFill/>
          <a:ln w="0">
            <a:noFill/>
          </a:ln>
        </p:spPr>
        <p:txBody>
          <a:bodyPr anchor="ctr">
            <a:noAutofit/>
          </a:bodyPr>
          <a:lstStyle/>
          <a:p>
            <a:pPr algn="ctr">
              <a:defRPr sz="1875" b="0">
                <a:solidFill>
                  <a:srgbClr val="182D45"/>
                </a:solidFill>
                <a:latin typeface="DejaVu Sans"/>
                <a:ea typeface="DejaVu Sans"/>
                <a:cs typeface="DejaVu Sans"/>
              </a:defRPr>
            </a:pPr>
            <a:r>
              <a:rPr sz="1875" b="0">
                <a:solidFill>
                  <a:srgbClr val="182D45"/>
                </a:solidFill>
                <a:latin typeface="DejaVu Sans"/>
                <a:ea typeface="DejaVu Sans"/>
                <a:cs typeface="DejaVu Sans"/>
              </a:rPr>
              <a:t>ReLU</a:t>
            </a:r>
          </a:p>
        </p:txBody>
      </p:sp>
      <p:sp>
        <p:nvSpPr>
          <p:cNvPr id="39" name="sum_2">
            <a:extLst>
              <a:ext uri="{FF2B5EF4-FFF2-40B4-BE49-F238E27FC236}">
                <a16:creationId xmlns:a16="http://schemas.microsoft.com/office/drawing/2014/main" id="{0D105AEF-1D76-44EA-8FBE-23274A3BB348}"/>
              </a:ext>
            </a:extLst>
          </p:cNvPr>
          <p:cNvSpPr>
            <a:spLocks noGrp="1"/>
          </p:cNvSpPr>
          <p:nvPr/>
        </p:nvSpPr>
        <p:spPr>
          <a:xfrm>
            <a:off x="3381375" y="3667125"/>
            <a:ext cx="2190750" cy="857250"/>
          </a:xfrm>
          <a:prstGeom prst="ellipse">
            <a:avLst/>
          </a:prstGeom>
          <a:solidFill>
            <a:srgbClr val="FAFBFC"/>
          </a:solidFill>
          <a:ln w="1905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40" name="sum_math_2" descr="x_1W_{12}+x_2W_{22}">
                <a:extLst>
                  <a:ext uri="{FF2B5EF4-FFF2-40B4-BE49-F238E27FC236}">
                    <a16:creationId xmlns:a16="http://schemas.microsoft.com/office/drawing/2014/main" id="{9CFC7FBE-778F-46FE-B75B-3F26E0AFF778}"/>
                  </a:ext>
                </a:extLst>
              </p:cNvPr>
              <p:cNvSpPr>
                <a:spLocks noGrp="1"/>
              </p:cNvSpPr>
              <p:nvPr/>
            </p:nvSpPr>
            <p:spPr>
              <a:xfrm>
                <a:off x="3381375" y="3714750"/>
                <a:ext cx="219075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100">
                              <a:solidFill>
                                <a:srgbClr val="BAC4CE"/>
                              </a:solidFill>
                              <a:latin typeface="Cambria Math"/>
                              <a:ea typeface="Cambria Math"/>
                              <a:cs typeface="Cambria Math"/>
                            </a:rPr>
                          </m:ctrlPr>
                        </m:sSubPr>
                        <m:e>
                          <m:r>
                            <a:rPr lang="en-GB" sz="2100">
                              <a:solidFill>
                                <a:srgbClr val="BAC4CE"/>
                              </a:solidFill>
                              <a:latin typeface="Cambria Math"/>
                              <a:ea typeface="Cambria Math"/>
                              <a:cs typeface="Cambria Math"/>
                            </a:rPr>
                            <m:t>𝑥</m:t>
                          </m:r>
                        </m:e>
                        <m:sub>
                          <m:r>
                            <a:rPr lang="en-GB" sz="2100">
                              <a:solidFill>
                                <a:srgbClr val="BAC4CE"/>
                              </a:solidFill>
                              <a:latin typeface="Cambria Math"/>
                              <a:ea typeface="Cambria Math"/>
                              <a:cs typeface="Cambria Math"/>
                            </a:rPr>
                            <m:t>1</m:t>
                          </m:r>
                        </m:sub>
                      </m:sSub>
                      <m:sSub>
                        <m:sSubPr>
                          <m:ctrlPr>
                            <a:rPr lang="en-GB" sz="2100">
                              <a:solidFill>
                                <a:srgbClr val="BAC4CE"/>
                              </a:solidFill>
                              <a:latin typeface="Cambria Math"/>
                              <a:ea typeface="Cambria Math"/>
                              <a:cs typeface="Cambria Math"/>
                            </a:rPr>
                          </m:ctrlPr>
                        </m:sSubPr>
                        <m:e>
                          <m:r>
                            <a:rPr lang="en-GB" sz="2100">
                              <a:solidFill>
                                <a:srgbClr val="BAC4CE"/>
                              </a:solidFill>
                              <a:latin typeface="Cambria Math"/>
                              <a:ea typeface="Cambria Math"/>
                              <a:cs typeface="Cambria Math"/>
                            </a:rPr>
                            <m:t>𝑊</m:t>
                          </m:r>
                        </m:e>
                        <m:sub>
                          <m:r>
                            <a:rPr lang="en-GB" sz="2100">
                              <a:solidFill>
                                <a:srgbClr val="BAC4CE"/>
                              </a:solidFill>
                              <a:latin typeface="Cambria Math"/>
                              <a:ea typeface="Cambria Math"/>
                              <a:cs typeface="Cambria Math"/>
                            </a:rPr>
                            <m:t>12</m:t>
                          </m:r>
                        </m:sub>
                      </m:sSub>
                      <m:r>
                        <a:rPr lang="en-GB" sz="2100">
                          <a:solidFill>
                            <a:srgbClr val="BAC4CE"/>
                          </a:solidFill>
                          <a:latin typeface="Cambria Math"/>
                          <a:ea typeface="Cambria Math"/>
                          <a:cs typeface="Cambria Math"/>
                        </a:rPr>
                        <m:t>+</m:t>
                      </m:r>
                      <m:sSub>
                        <m:sSubPr>
                          <m:ctrlPr>
                            <a:rPr lang="en-GB" sz="2100">
                              <a:solidFill>
                                <a:srgbClr val="BAC4CE"/>
                              </a:solidFill>
                              <a:latin typeface="Cambria Math"/>
                              <a:ea typeface="Cambria Math"/>
                              <a:cs typeface="Cambria Math"/>
                            </a:rPr>
                          </m:ctrlPr>
                        </m:sSubPr>
                        <m:e>
                          <m:r>
                            <a:rPr lang="en-GB" sz="2100">
                              <a:solidFill>
                                <a:srgbClr val="BAC4CE"/>
                              </a:solidFill>
                              <a:latin typeface="Cambria Math"/>
                              <a:ea typeface="Cambria Math"/>
                              <a:cs typeface="Cambria Math"/>
                            </a:rPr>
                            <m:t>𝑥</m:t>
                          </m:r>
                        </m:e>
                        <m:sub>
                          <m:r>
                            <a:rPr lang="en-GB" sz="2100">
                              <a:solidFill>
                                <a:srgbClr val="BAC4CE"/>
                              </a:solidFill>
                              <a:latin typeface="Cambria Math"/>
                              <a:ea typeface="Cambria Math"/>
                              <a:cs typeface="Cambria Math"/>
                            </a:rPr>
                            <m:t>2</m:t>
                          </m:r>
                        </m:sub>
                      </m:sSub>
                      <m:sSub>
                        <m:sSubPr>
                          <m:ctrlPr>
                            <a:rPr lang="en-GB" sz="2100">
                              <a:solidFill>
                                <a:srgbClr val="BAC4CE"/>
                              </a:solidFill>
                              <a:latin typeface="Cambria Math"/>
                              <a:ea typeface="Cambria Math"/>
                              <a:cs typeface="Cambria Math"/>
                            </a:rPr>
                          </m:ctrlPr>
                        </m:sSubPr>
                        <m:e>
                          <m:r>
                            <a:rPr lang="en-GB" sz="2100">
                              <a:solidFill>
                                <a:srgbClr val="BAC4CE"/>
                              </a:solidFill>
                              <a:latin typeface="Cambria Math"/>
                              <a:ea typeface="Cambria Math"/>
                              <a:cs typeface="Cambria Math"/>
                            </a:rPr>
                            <m:t>𝑊</m:t>
                          </m:r>
                        </m:e>
                        <m:sub>
                          <m:r>
                            <a:rPr lang="en-GB" sz="2100">
                              <a:solidFill>
                                <a:srgbClr val="BAC4CE"/>
                              </a:solidFill>
                              <a:latin typeface="Cambria Math"/>
                              <a:ea typeface="Cambria Math"/>
                              <a:cs typeface="Cambria Math"/>
                            </a:rPr>
                            <m:t>22</m:t>
                          </m:r>
                        </m:sub>
                      </m:sSub>
                    </m:oMath>
                  </m:oMathPara>
                </a14:m>
                <a:endParaRPr lang="en-GB" sz="2100"/>
              </a:p>
            </p:txBody>
          </p:sp>
        </mc:Choice>
        <mc:Fallback xmlns="">
          <p:sp>
            <p:nvSpPr>
              <p:cNvPr id="40" name="sum_math_2" descr="x_1W_{12}+x_2W_{22}">
                <a:extLst>
                  <a:ext uri="{FF2B5EF4-FFF2-40B4-BE49-F238E27FC236}">
                    <a16:creationId xmlns:a16="http://schemas.microsoft.com/office/drawing/2014/main" id="{9CFC7FBE-778F-46FE-B75B-3F26E0AFF778}"/>
                  </a:ext>
                </a:extLst>
              </p:cNvPr>
              <p:cNvSpPr>
                <a:spLocks noGrp="1" noRot="1" noChangeAspect="1" noMove="1" noResize="1" noEditPoints="1" noAdjustHandles="1" noChangeArrowheads="1" noChangeShapeType="1" noTextEdit="1"/>
              </p:cNvSpPr>
              <p:nvPr/>
            </p:nvSpPr>
            <p:spPr>
              <a:xfrm>
                <a:off x="3381375" y="3714750"/>
                <a:ext cx="2190750" cy="762000"/>
              </a:xfrm>
              <a:prstGeom prst="rect">
                <a:avLst/>
              </a:prstGeom>
              <a:blipFill>
                <a:blip r:embed="rId15"/>
                <a:stretch>
                  <a:fillRect/>
                </a:stretch>
              </a:blipFill>
              <a:ln w="0">
                <a:noFill/>
              </a:ln>
            </p:spPr>
            <p:txBody>
              <a:bodyPr/>
              <a:lstStyle/>
              <a:p>
                <a:r>
                  <a:rPr lang="it-IT">
                    <a:noFill/>
                  </a:rPr>
                  <a:t> </a:t>
                </a:r>
              </a:p>
            </p:txBody>
          </p:sp>
        </mc:Fallback>
      </mc:AlternateContent>
      <p:sp>
        <p:nvSpPr>
          <p:cNvPr id="41" name="pre_2">
            <a:extLst>
              <a:ext uri="{FF2B5EF4-FFF2-40B4-BE49-F238E27FC236}">
                <a16:creationId xmlns:a16="http://schemas.microsoft.com/office/drawing/2014/main" id="{EECB84FE-71FE-4914-A7CE-D858B9FDD7F9}"/>
              </a:ext>
            </a:extLst>
          </p:cNvPr>
          <p:cNvSpPr>
            <a:spLocks noGrp="1"/>
          </p:cNvSpPr>
          <p:nvPr/>
        </p:nvSpPr>
        <p:spPr>
          <a:xfrm>
            <a:off x="7019925" y="3638550"/>
            <a:ext cx="914400" cy="914400"/>
          </a:xfrm>
          <a:prstGeom prst="ellipse">
            <a:avLst/>
          </a:prstGeom>
          <a:solidFill>
            <a:srgbClr val="FAFBFC"/>
          </a:solidFill>
          <a:ln w="1905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42" name="pre_math_2" descr="a_2(\mathbf{x})">
                <a:extLst>
                  <a:ext uri="{FF2B5EF4-FFF2-40B4-BE49-F238E27FC236}">
                    <a16:creationId xmlns:a16="http://schemas.microsoft.com/office/drawing/2014/main" id="{D23077AD-67A8-45D1-B3A9-3EB0460F3643}"/>
                  </a:ext>
                </a:extLst>
              </p:cNvPr>
              <p:cNvSpPr>
                <a:spLocks noGrp="1"/>
              </p:cNvSpPr>
              <p:nvPr/>
            </p:nvSpPr>
            <p:spPr>
              <a:xfrm>
                <a:off x="7019925" y="363855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BAC4CE"/>
                          </a:solidFill>
                          <a:latin typeface="Cambria Math" panose="02040503050406030204" pitchFamily="18" charset="0"/>
                          <a:ea typeface="Cambria Math"/>
                          <a:cs typeface="Cambria Math"/>
                        </a:rPr>
                        <m:t> </m:t>
                      </m:r>
                      <m:sSub>
                        <m:sSubPr>
                          <m:ctrlPr>
                            <a:rPr lang="en-GB" sz="2200">
                              <a:solidFill>
                                <a:srgbClr val="BAC4CE"/>
                              </a:solidFill>
                              <a:latin typeface="Cambria Math"/>
                              <a:ea typeface="Cambria Math"/>
                              <a:cs typeface="Cambria Math"/>
                            </a:rPr>
                          </m:ctrlPr>
                        </m:sSubPr>
                        <m:e>
                          <m:r>
                            <a:rPr lang="en-GB" sz="2200">
                              <a:solidFill>
                                <a:srgbClr val="BAC4CE"/>
                              </a:solidFill>
                              <a:latin typeface="Cambria Math"/>
                              <a:ea typeface="Cambria Math"/>
                              <a:cs typeface="Cambria Math"/>
                            </a:rPr>
                            <m:t>𝑎</m:t>
                          </m:r>
                        </m:e>
                        <m:sub>
                          <m:r>
                            <a:rPr lang="en-GB" sz="2200">
                              <a:solidFill>
                                <a:srgbClr val="BAC4CE"/>
                              </a:solidFill>
                              <a:latin typeface="Cambria Math"/>
                              <a:ea typeface="Cambria Math"/>
                              <a:cs typeface="Cambria Math"/>
                            </a:rPr>
                            <m:t>2</m:t>
                          </m:r>
                        </m:sub>
                      </m:sSub>
                      <m:d>
                        <m:dPr>
                          <m:ctrlPr>
                            <a:rPr lang="en-GB" sz="2200">
                              <a:solidFill>
                                <a:srgbClr val="BAC4CE"/>
                              </a:solidFill>
                              <a:latin typeface="Cambria Math"/>
                              <a:ea typeface="Cambria Math"/>
                              <a:cs typeface="Cambria Math"/>
                            </a:rPr>
                          </m:ctrlPr>
                        </m:dPr>
                        <m:e>
                          <m:r>
                            <a:rPr lang="en-GB" sz="2200">
                              <a:solidFill>
                                <a:srgbClr val="BAC4CE"/>
                              </a:solidFill>
                              <a:latin typeface="Cambria Math"/>
                              <a:ea typeface="Cambria Math"/>
                              <a:cs typeface="Cambria Math"/>
                            </a:rPr>
                            <m:t>𝐱</m:t>
                          </m:r>
                        </m:e>
                      </m:d>
                    </m:oMath>
                  </m:oMathPara>
                </a14:m>
                <a:endParaRPr lang="en-GB" sz="2200" dirty="0"/>
              </a:p>
            </p:txBody>
          </p:sp>
        </mc:Choice>
        <mc:Fallback xmlns="">
          <p:sp>
            <p:nvSpPr>
              <p:cNvPr id="42" name="pre_math_2" descr="a_2(\mathbf{x})">
                <a:extLst>
                  <a:ext uri="{FF2B5EF4-FFF2-40B4-BE49-F238E27FC236}">
                    <a16:creationId xmlns:a16="http://schemas.microsoft.com/office/drawing/2014/main" id="{D23077AD-67A8-45D1-B3A9-3EB0460F3643}"/>
                  </a:ext>
                </a:extLst>
              </p:cNvPr>
              <p:cNvSpPr>
                <a:spLocks noGrp="1" noRot="1" noChangeAspect="1" noMove="1" noResize="1" noEditPoints="1" noAdjustHandles="1" noChangeArrowheads="1" noChangeShapeType="1" noTextEdit="1"/>
              </p:cNvSpPr>
              <p:nvPr/>
            </p:nvSpPr>
            <p:spPr>
              <a:xfrm>
                <a:off x="7019925" y="3638550"/>
                <a:ext cx="914400" cy="914400"/>
              </a:xfrm>
              <a:prstGeom prst="rect">
                <a:avLst/>
              </a:prstGeom>
              <a:blipFill>
                <a:blip r:embed="rId16"/>
                <a:stretch>
                  <a:fillRect/>
                </a:stretch>
              </a:blipFill>
              <a:ln w="0">
                <a:noFill/>
              </a:ln>
            </p:spPr>
            <p:txBody>
              <a:bodyPr/>
              <a:lstStyle/>
              <a:p>
                <a:r>
                  <a:rPr lang="it-IT">
                    <a:noFill/>
                  </a:rPr>
                  <a:t> </a:t>
                </a:r>
              </a:p>
            </p:txBody>
          </p:sp>
        </mc:Fallback>
      </mc:AlternateContent>
      <p:sp>
        <p:nvSpPr>
          <p:cNvPr id="43" name="activation_2">
            <a:extLst>
              <a:ext uri="{FF2B5EF4-FFF2-40B4-BE49-F238E27FC236}">
                <a16:creationId xmlns:a16="http://schemas.microsoft.com/office/drawing/2014/main" id="{C9750EC0-3171-4330-9FC8-1CEFD2A3ED93}"/>
              </a:ext>
            </a:extLst>
          </p:cNvPr>
          <p:cNvSpPr>
            <a:spLocks noGrp="1"/>
          </p:cNvSpPr>
          <p:nvPr/>
        </p:nvSpPr>
        <p:spPr>
          <a:xfrm>
            <a:off x="10210800" y="3638550"/>
            <a:ext cx="914400" cy="914400"/>
          </a:xfrm>
          <a:prstGeom prst="ellipse">
            <a:avLst/>
          </a:prstGeom>
          <a:solidFill>
            <a:srgbClr val="FAFBFC"/>
          </a:solidFill>
          <a:ln w="1905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44" name="activation_math_2" descr="\phi_2(\mathbf{x})">
                <a:extLst>
                  <a:ext uri="{FF2B5EF4-FFF2-40B4-BE49-F238E27FC236}">
                    <a16:creationId xmlns:a16="http://schemas.microsoft.com/office/drawing/2014/main" id="{563CE571-E2F1-4A9E-B6D9-E1D100FAB58F}"/>
                  </a:ext>
                </a:extLst>
              </p:cNvPr>
              <p:cNvSpPr>
                <a:spLocks noGrp="1"/>
              </p:cNvSpPr>
              <p:nvPr/>
            </p:nvSpPr>
            <p:spPr>
              <a:xfrm>
                <a:off x="10210800" y="363855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BAC4CE"/>
                          </a:solidFill>
                          <a:latin typeface="Cambria Math" panose="02040503050406030204" pitchFamily="18" charset="0"/>
                          <a:ea typeface="Cambria Math"/>
                          <a:cs typeface="Cambria Math"/>
                        </a:rPr>
                        <m:t> </m:t>
                      </m:r>
                      <m:sSub>
                        <m:sSubPr>
                          <m:ctrlPr>
                            <a:rPr lang="en-GB" sz="2200">
                              <a:solidFill>
                                <a:srgbClr val="BAC4CE"/>
                              </a:solidFill>
                              <a:latin typeface="Cambria Math"/>
                              <a:ea typeface="Cambria Math"/>
                              <a:cs typeface="Cambria Math"/>
                            </a:rPr>
                          </m:ctrlPr>
                        </m:sSubPr>
                        <m:e>
                          <m:r>
                            <a:rPr lang="en-GB" sz="2200">
                              <a:solidFill>
                                <a:srgbClr val="BAC4CE"/>
                              </a:solidFill>
                              <a:latin typeface="Cambria Math"/>
                              <a:ea typeface="Cambria Math"/>
                              <a:cs typeface="Cambria Math"/>
                            </a:rPr>
                            <m:t>𝜙</m:t>
                          </m:r>
                        </m:e>
                        <m:sub>
                          <m:r>
                            <a:rPr lang="en-GB" sz="2200">
                              <a:solidFill>
                                <a:srgbClr val="BAC4CE"/>
                              </a:solidFill>
                              <a:latin typeface="Cambria Math"/>
                              <a:ea typeface="Cambria Math"/>
                              <a:cs typeface="Cambria Math"/>
                            </a:rPr>
                            <m:t>2</m:t>
                          </m:r>
                        </m:sub>
                      </m:sSub>
                      <m:d>
                        <m:dPr>
                          <m:ctrlPr>
                            <a:rPr lang="en-GB" sz="2200">
                              <a:solidFill>
                                <a:srgbClr val="BAC4CE"/>
                              </a:solidFill>
                              <a:latin typeface="Cambria Math"/>
                              <a:ea typeface="Cambria Math"/>
                              <a:cs typeface="Cambria Math"/>
                            </a:rPr>
                          </m:ctrlPr>
                        </m:dPr>
                        <m:e>
                          <m:r>
                            <a:rPr lang="en-GB" sz="2200">
                              <a:solidFill>
                                <a:srgbClr val="BAC4CE"/>
                              </a:solidFill>
                              <a:latin typeface="Cambria Math"/>
                              <a:ea typeface="Cambria Math"/>
                              <a:cs typeface="Cambria Math"/>
                            </a:rPr>
                            <m:t>𝐱</m:t>
                          </m:r>
                        </m:e>
                      </m:d>
                    </m:oMath>
                  </m:oMathPara>
                </a14:m>
                <a:endParaRPr lang="en-GB" sz="2200" dirty="0"/>
              </a:p>
            </p:txBody>
          </p:sp>
        </mc:Choice>
        <mc:Fallback xmlns="">
          <p:sp>
            <p:nvSpPr>
              <p:cNvPr id="44" name="activation_math_2" descr="\phi_2(\mathbf{x})">
                <a:extLst>
                  <a:ext uri="{FF2B5EF4-FFF2-40B4-BE49-F238E27FC236}">
                    <a16:creationId xmlns:a16="http://schemas.microsoft.com/office/drawing/2014/main" id="{563CE571-E2F1-4A9E-B6D9-E1D100FAB58F}"/>
                  </a:ext>
                </a:extLst>
              </p:cNvPr>
              <p:cNvSpPr>
                <a:spLocks noGrp="1" noRot="1" noChangeAspect="1" noMove="1" noResize="1" noEditPoints="1" noAdjustHandles="1" noChangeArrowheads="1" noChangeShapeType="1" noTextEdit="1"/>
              </p:cNvSpPr>
              <p:nvPr/>
            </p:nvSpPr>
            <p:spPr>
              <a:xfrm>
                <a:off x="10210800" y="3638550"/>
                <a:ext cx="914400" cy="914400"/>
              </a:xfrm>
              <a:prstGeom prst="rect">
                <a:avLst/>
              </a:prstGeom>
              <a:blipFill>
                <a:blip r:embed="rId17"/>
                <a:stretch>
                  <a:fillRect l="-2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5" name="bias_math_2" descr="+b_2">
                <a:extLst>
                  <a:ext uri="{FF2B5EF4-FFF2-40B4-BE49-F238E27FC236}">
                    <a16:creationId xmlns:a16="http://schemas.microsoft.com/office/drawing/2014/main" id="{321287FD-829D-4B85-A432-445003A96831}"/>
                  </a:ext>
                </a:extLst>
              </p:cNvPr>
              <p:cNvSpPr>
                <a:spLocks noGrp="1"/>
              </p:cNvSpPr>
              <p:nvPr/>
            </p:nvSpPr>
            <p:spPr>
              <a:xfrm>
                <a:off x="5791200" y="368617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BAC4CE"/>
                          </a:solidFill>
                          <a:latin typeface="Cambria Math"/>
                          <a:ea typeface="Cambria Math"/>
                          <a:cs typeface="Cambria Math"/>
                        </a:rPr>
                        <m:t>+</m:t>
                      </m:r>
                      <m:sSub>
                        <m:sSubPr>
                          <m:ctrlPr>
                            <a:rPr lang="en-GB" sz="2300">
                              <a:solidFill>
                                <a:srgbClr val="BAC4CE"/>
                              </a:solidFill>
                              <a:latin typeface="Cambria Math"/>
                              <a:ea typeface="Cambria Math"/>
                              <a:cs typeface="Cambria Math"/>
                            </a:rPr>
                          </m:ctrlPr>
                        </m:sSubPr>
                        <m:e>
                          <m:r>
                            <a:rPr lang="en-GB" sz="2300">
                              <a:solidFill>
                                <a:srgbClr val="BAC4CE"/>
                              </a:solidFill>
                              <a:latin typeface="Cambria Math"/>
                              <a:ea typeface="Cambria Math"/>
                              <a:cs typeface="Cambria Math"/>
                            </a:rPr>
                            <m:t>𝑏</m:t>
                          </m:r>
                        </m:e>
                        <m:sub>
                          <m:r>
                            <a:rPr lang="en-GB" sz="2300">
                              <a:solidFill>
                                <a:srgbClr val="BAC4CE"/>
                              </a:solidFill>
                              <a:latin typeface="Cambria Math"/>
                              <a:ea typeface="Cambria Math"/>
                              <a:cs typeface="Cambria Math"/>
                            </a:rPr>
                            <m:t>2</m:t>
                          </m:r>
                        </m:sub>
                      </m:sSub>
                    </m:oMath>
                  </m:oMathPara>
                </a14:m>
                <a:endParaRPr lang="en-GB" sz="2300"/>
              </a:p>
            </p:txBody>
          </p:sp>
        </mc:Choice>
        <mc:Fallback xmlns="">
          <p:sp>
            <p:nvSpPr>
              <p:cNvPr id="45" name="bias_math_2" descr="+b_2">
                <a:extLst>
                  <a:ext uri="{FF2B5EF4-FFF2-40B4-BE49-F238E27FC236}">
                    <a16:creationId xmlns:a16="http://schemas.microsoft.com/office/drawing/2014/main" id="{321287FD-829D-4B85-A432-445003A96831}"/>
                  </a:ext>
                </a:extLst>
              </p:cNvPr>
              <p:cNvSpPr>
                <a:spLocks noGrp="1" noRot="1" noChangeAspect="1" noMove="1" noResize="1" noEditPoints="1" noAdjustHandles="1" noChangeArrowheads="1" noChangeShapeType="1" noTextEdit="1"/>
              </p:cNvSpPr>
              <p:nvPr/>
            </p:nvSpPr>
            <p:spPr>
              <a:xfrm>
                <a:off x="5791200" y="3686175"/>
                <a:ext cx="1000125" cy="352425"/>
              </a:xfrm>
              <a:prstGeom prst="rect">
                <a:avLst/>
              </a:prstGeom>
              <a:blipFill>
                <a:blip r:embed="rId18"/>
                <a:stretch>
                  <a:fillRect b="-13793"/>
                </a:stretch>
              </a:blipFill>
              <a:ln w="0">
                <a:noFill/>
              </a:ln>
            </p:spPr>
            <p:txBody>
              <a:bodyPr/>
              <a:lstStyle/>
              <a:p>
                <a:r>
                  <a:rPr lang="it-IT">
                    <a:noFill/>
                  </a:rPr>
                  <a:t> </a:t>
                </a:r>
              </a:p>
            </p:txBody>
          </p:sp>
        </mc:Fallback>
      </mc:AlternateContent>
      <p:sp>
        <p:nvSpPr>
          <p:cNvPr id="46" name="relu_label_2">
            <a:extLst>
              <a:ext uri="{FF2B5EF4-FFF2-40B4-BE49-F238E27FC236}">
                <a16:creationId xmlns:a16="http://schemas.microsoft.com/office/drawing/2014/main" id="{F93D3623-D71D-4766-8921-37AD4D67DC22}"/>
              </a:ext>
            </a:extLst>
          </p:cNvPr>
          <p:cNvSpPr>
            <a:spLocks noGrp="1"/>
          </p:cNvSpPr>
          <p:nvPr/>
        </p:nvSpPr>
        <p:spPr>
          <a:xfrm>
            <a:off x="8477250" y="3686175"/>
            <a:ext cx="1238250" cy="352425"/>
          </a:xfrm>
          <a:prstGeom prst="rect">
            <a:avLst/>
          </a:prstGeom>
          <a:noFill/>
          <a:ln w="0">
            <a:noFill/>
          </a:ln>
        </p:spPr>
        <p:txBody>
          <a:bodyPr anchor="ctr">
            <a:noAutofit/>
          </a:bodyPr>
          <a:lstStyle/>
          <a:p>
            <a:pPr algn="ctr">
              <a:defRPr sz="1875" b="0">
                <a:solidFill>
                  <a:srgbClr val="BAC4CE"/>
                </a:solidFill>
                <a:latin typeface="DejaVu Sans"/>
                <a:ea typeface="DejaVu Sans"/>
                <a:cs typeface="DejaVu Sans"/>
              </a:defRPr>
            </a:pPr>
            <a:r>
              <a:rPr sz="1875" b="0">
                <a:solidFill>
                  <a:srgbClr val="BAC4CE"/>
                </a:solidFill>
                <a:latin typeface="DejaVu Sans"/>
                <a:ea typeface="DejaVu Sans"/>
                <a:cs typeface="DejaVu Sans"/>
              </a:rPr>
              <a:t>ReLU</a:t>
            </a:r>
          </a:p>
        </p:txBody>
      </p:sp>
      <p:sp>
        <p:nvSpPr>
          <p:cNvPr id="47" name="sum_3">
            <a:extLst>
              <a:ext uri="{FF2B5EF4-FFF2-40B4-BE49-F238E27FC236}">
                <a16:creationId xmlns:a16="http://schemas.microsoft.com/office/drawing/2014/main" id="{F0AC3F03-8B3F-40E5-9127-4CC9CD10006B}"/>
              </a:ext>
            </a:extLst>
          </p:cNvPr>
          <p:cNvSpPr>
            <a:spLocks noGrp="1"/>
          </p:cNvSpPr>
          <p:nvPr/>
        </p:nvSpPr>
        <p:spPr>
          <a:xfrm>
            <a:off x="3381375" y="4905375"/>
            <a:ext cx="2190750" cy="857250"/>
          </a:xfrm>
          <a:prstGeom prst="ellipse">
            <a:avLst/>
          </a:prstGeom>
          <a:solidFill>
            <a:srgbClr val="FAFBFC"/>
          </a:solidFill>
          <a:ln w="1905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48" name="sum_math_3" descr="x_1W_{13}+x_2W_{23}">
                <a:extLst>
                  <a:ext uri="{FF2B5EF4-FFF2-40B4-BE49-F238E27FC236}">
                    <a16:creationId xmlns:a16="http://schemas.microsoft.com/office/drawing/2014/main" id="{A9E82DC6-D91D-49C2-B2BD-757DDCE2E7C3}"/>
                  </a:ext>
                </a:extLst>
              </p:cNvPr>
              <p:cNvSpPr>
                <a:spLocks noGrp="1"/>
              </p:cNvSpPr>
              <p:nvPr/>
            </p:nvSpPr>
            <p:spPr>
              <a:xfrm>
                <a:off x="3381375" y="4953000"/>
                <a:ext cx="219075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100">
                              <a:solidFill>
                                <a:srgbClr val="BAC4CE"/>
                              </a:solidFill>
                              <a:latin typeface="Cambria Math"/>
                              <a:ea typeface="Cambria Math"/>
                              <a:cs typeface="Cambria Math"/>
                            </a:rPr>
                          </m:ctrlPr>
                        </m:sSubPr>
                        <m:e>
                          <m:r>
                            <a:rPr lang="en-GB" sz="2100">
                              <a:solidFill>
                                <a:srgbClr val="BAC4CE"/>
                              </a:solidFill>
                              <a:latin typeface="Cambria Math"/>
                              <a:ea typeface="Cambria Math"/>
                              <a:cs typeface="Cambria Math"/>
                            </a:rPr>
                            <m:t>𝑥</m:t>
                          </m:r>
                        </m:e>
                        <m:sub>
                          <m:r>
                            <a:rPr lang="en-GB" sz="2100">
                              <a:solidFill>
                                <a:srgbClr val="BAC4CE"/>
                              </a:solidFill>
                              <a:latin typeface="Cambria Math"/>
                              <a:ea typeface="Cambria Math"/>
                              <a:cs typeface="Cambria Math"/>
                            </a:rPr>
                            <m:t>1</m:t>
                          </m:r>
                        </m:sub>
                      </m:sSub>
                      <m:sSub>
                        <m:sSubPr>
                          <m:ctrlPr>
                            <a:rPr lang="en-GB" sz="2100">
                              <a:solidFill>
                                <a:srgbClr val="BAC4CE"/>
                              </a:solidFill>
                              <a:latin typeface="Cambria Math"/>
                              <a:ea typeface="Cambria Math"/>
                              <a:cs typeface="Cambria Math"/>
                            </a:rPr>
                          </m:ctrlPr>
                        </m:sSubPr>
                        <m:e>
                          <m:r>
                            <a:rPr lang="en-GB" sz="2100">
                              <a:solidFill>
                                <a:srgbClr val="BAC4CE"/>
                              </a:solidFill>
                              <a:latin typeface="Cambria Math"/>
                              <a:ea typeface="Cambria Math"/>
                              <a:cs typeface="Cambria Math"/>
                            </a:rPr>
                            <m:t>𝑊</m:t>
                          </m:r>
                        </m:e>
                        <m:sub>
                          <m:r>
                            <a:rPr lang="en-GB" sz="2100">
                              <a:solidFill>
                                <a:srgbClr val="BAC4CE"/>
                              </a:solidFill>
                              <a:latin typeface="Cambria Math"/>
                              <a:ea typeface="Cambria Math"/>
                              <a:cs typeface="Cambria Math"/>
                            </a:rPr>
                            <m:t>13</m:t>
                          </m:r>
                        </m:sub>
                      </m:sSub>
                      <m:r>
                        <a:rPr lang="en-GB" sz="2100">
                          <a:solidFill>
                            <a:srgbClr val="BAC4CE"/>
                          </a:solidFill>
                          <a:latin typeface="Cambria Math"/>
                          <a:ea typeface="Cambria Math"/>
                          <a:cs typeface="Cambria Math"/>
                        </a:rPr>
                        <m:t>+</m:t>
                      </m:r>
                      <m:sSub>
                        <m:sSubPr>
                          <m:ctrlPr>
                            <a:rPr lang="en-GB" sz="2100">
                              <a:solidFill>
                                <a:srgbClr val="BAC4CE"/>
                              </a:solidFill>
                              <a:latin typeface="Cambria Math"/>
                              <a:ea typeface="Cambria Math"/>
                              <a:cs typeface="Cambria Math"/>
                            </a:rPr>
                          </m:ctrlPr>
                        </m:sSubPr>
                        <m:e>
                          <m:r>
                            <a:rPr lang="en-GB" sz="2100">
                              <a:solidFill>
                                <a:srgbClr val="BAC4CE"/>
                              </a:solidFill>
                              <a:latin typeface="Cambria Math"/>
                              <a:ea typeface="Cambria Math"/>
                              <a:cs typeface="Cambria Math"/>
                            </a:rPr>
                            <m:t>𝑥</m:t>
                          </m:r>
                        </m:e>
                        <m:sub>
                          <m:r>
                            <a:rPr lang="en-GB" sz="2100">
                              <a:solidFill>
                                <a:srgbClr val="BAC4CE"/>
                              </a:solidFill>
                              <a:latin typeface="Cambria Math"/>
                              <a:ea typeface="Cambria Math"/>
                              <a:cs typeface="Cambria Math"/>
                            </a:rPr>
                            <m:t>2</m:t>
                          </m:r>
                        </m:sub>
                      </m:sSub>
                      <m:sSub>
                        <m:sSubPr>
                          <m:ctrlPr>
                            <a:rPr lang="en-GB" sz="2100">
                              <a:solidFill>
                                <a:srgbClr val="BAC4CE"/>
                              </a:solidFill>
                              <a:latin typeface="Cambria Math"/>
                              <a:ea typeface="Cambria Math"/>
                              <a:cs typeface="Cambria Math"/>
                            </a:rPr>
                          </m:ctrlPr>
                        </m:sSubPr>
                        <m:e>
                          <m:r>
                            <a:rPr lang="en-GB" sz="2100">
                              <a:solidFill>
                                <a:srgbClr val="BAC4CE"/>
                              </a:solidFill>
                              <a:latin typeface="Cambria Math"/>
                              <a:ea typeface="Cambria Math"/>
                              <a:cs typeface="Cambria Math"/>
                            </a:rPr>
                            <m:t>𝑊</m:t>
                          </m:r>
                        </m:e>
                        <m:sub>
                          <m:r>
                            <a:rPr lang="en-GB" sz="2100">
                              <a:solidFill>
                                <a:srgbClr val="BAC4CE"/>
                              </a:solidFill>
                              <a:latin typeface="Cambria Math"/>
                              <a:ea typeface="Cambria Math"/>
                              <a:cs typeface="Cambria Math"/>
                            </a:rPr>
                            <m:t>23</m:t>
                          </m:r>
                        </m:sub>
                      </m:sSub>
                    </m:oMath>
                  </m:oMathPara>
                </a14:m>
                <a:endParaRPr lang="en-GB" sz="2100"/>
              </a:p>
            </p:txBody>
          </p:sp>
        </mc:Choice>
        <mc:Fallback xmlns="">
          <p:sp>
            <p:nvSpPr>
              <p:cNvPr id="48" name="sum_math_3" descr="x_1W_{13}+x_2W_{23}">
                <a:extLst>
                  <a:ext uri="{FF2B5EF4-FFF2-40B4-BE49-F238E27FC236}">
                    <a16:creationId xmlns:a16="http://schemas.microsoft.com/office/drawing/2014/main" id="{A9E82DC6-D91D-49C2-B2BD-757DDCE2E7C3}"/>
                  </a:ext>
                </a:extLst>
              </p:cNvPr>
              <p:cNvSpPr>
                <a:spLocks noGrp="1" noRot="1" noChangeAspect="1" noMove="1" noResize="1" noEditPoints="1" noAdjustHandles="1" noChangeArrowheads="1" noChangeShapeType="1" noTextEdit="1"/>
              </p:cNvSpPr>
              <p:nvPr/>
            </p:nvSpPr>
            <p:spPr>
              <a:xfrm>
                <a:off x="3381375" y="4953000"/>
                <a:ext cx="2190750" cy="762000"/>
              </a:xfrm>
              <a:prstGeom prst="rect">
                <a:avLst/>
              </a:prstGeom>
              <a:blipFill>
                <a:blip r:embed="rId19"/>
                <a:stretch>
                  <a:fillRect/>
                </a:stretch>
              </a:blipFill>
              <a:ln w="0">
                <a:noFill/>
              </a:ln>
            </p:spPr>
            <p:txBody>
              <a:bodyPr/>
              <a:lstStyle/>
              <a:p>
                <a:r>
                  <a:rPr lang="it-IT">
                    <a:noFill/>
                  </a:rPr>
                  <a:t> </a:t>
                </a:r>
              </a:p>
            </p:txBody>
          </p:sp>
        </mc:Fallback>
      </mc:AlternateContent>
      <p:sp>
        <p:nvSpPr>
          <p:cNvPr id="49" name="pre_3">
            <a:extLst>
              <a:ext uri="{FF2B5EF4-FFF2-40B4-BE49-F238E27FC236}">
                <a16:creationId xmlns:a16="http://schemas.microsoft.com/office/drawing/2014/main" id="{3298BD9D-3237-4D76-90D1-54B755F675AA}"/>
              </a:ext>
            </a:extLst>
          </p:cNvPr>
          <p:cNvSpPr>
            <a:spLocks noGrp="1"/>
          </p:cNvSpPr>
          <p:nvPr/>
        </p:nvSpPr>
        <p:spPr>
          <a:xfrm>
            <a:off x="7019925" y="4876800"/>
            <a:ext cx="914400" cy="914400"/>
          </a:xfrm>
          <a:prstGeom prst="ellipse">
            <a:avLst/>
          </a:prstGeom>
          <a:solidFill>
            <a:srgbClr val="FAFBFC"/>
          </a:solidFill>
          <a:ln w="1905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50" name="pre_math_3" descr="a_3(\mathbf{x})">
                <a:extLst>
                  <a:ext uri="{FF2B5EF4-FFF2-40B4-BE49-F238E27FC236}">
                    <a16:creationId xmlns:a16="http://schemas.microsoft.com/office/drawing/2014/main" id="{00F73493-E305-4791-8AA9-4AFE4629D2EE}"/>
                  </a:ext>
                </a:extLst>
              </p:cNvPr>
              <p:cNvSpPr>
                <a:spLocks noGrp="1"/>
              </p:cNvSpPr>
              <p:nvPr/>
            </p:nvSpPr>
            <p:spPr>
              <a:xfrm>
                <a:off x="7019925" y="48768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BAC4CE"/>
                          </a:solidFill>
                          <a:latin typeface="Cambria Math" panose="02040503050406030204" pitchFamily="18" charset="0"/>
                          <a:ea typeface="Cambria Math"/>
                          <a:cs typeface="Cambria Math"/>
                        </a:rPr>
                        <m:t> </m:t>
                      </m:r>
                      <m:sSub>
                        <m:sSubPr>
                          <m:ctrlPr>
                            <a:rPr lang="en-GB" sz="2200">
                              <a:solidFill>
                                <a:srgbClr val="BAC4CE"/>
                              </a:solidFill>
                              <a:latin typeface="Cambria Math"/>
                              <a:ea typeface="Cambria Math"/>
                              <a:cs typeface="Cambria Math"/>
                            </a:rPr>
                          </m:ctrlPr>
                        </m:sSubPr>
                        <m:e>
                          <m:r>
                            <a:rPr lang="en-GB" sz="2200">
                              <a:solidFill>
                                <a:srgbClr val="BAC4CE"/>
                              </a:solidFill>
                              <a:latin typeface="Cambria Math"/>
                              <a:ea typeface="Cambria Math"/>
                              <a:cs typeface="Cambria Math"/>
                            </a:rPr>
                            <m:t>𝑎</m:t>
                          </m:r>
                        </m:e>
                        <m:sub>
                          <m:r>
                            <a:rPr lang="en-GB" sz="2200">
                              <a:solidFill>
                                <a:srgbClr val="BAC4CE"/>
                              </a:solidFill>
                              <a:latin typeface="Cambria Math"/>
                              <a:ea typeface="Cambria Math"/>
                              <a:cs typeface="Cambria Math"/>
                            </a:rPr>
                            <m:t>3</m:t>
                          </m:r>
                        </m:sub>
                      </m:sSub>
                      <m:d>
                        <m:dPr>
                          <m:ctrlPr>
                            <a:rPr lang="en-GB" sz="2200">
                              <a:solidFill>
                                <a:srgbClr val="BAC4CE"/>
                              </a:solidFill>
                              <a:latin typeface="Cambria Math"/>
                              <a:ea typeface="Cambria Math"/>
                              <a:cs typeface="Cambria Math"/>
                            </a:rPr>
                          </m:ctrlPr>
                        </m:dPr>
                        <m:e>
                          <m:r>
                            <a:rPr lang="en-GB" sz="2200">
                              <a:solidFill>
                                <a:srgbClr val="BAC4CE"/>
                              </a:solidFill>
                              <a:latin typeface="Cambria Math"/>
                              <a:ea typeface="Cambria Math"/>
                              <a:cs typeface="Cambria Math"/>
                            </a:rPr>
                            <m:t>𝐱</m:t>
                          </m:r>
                        </m:e>
                      </m:d>
                    </m:oMath>
                  </m:oMathPara>
                </a14:m>
                <a:endParaRPr lang="en-GB" sz="2200" dirty="0"/>
              </a:p>
            </p:txBody>
          </p:sp>
        </mc:Choice>
        <mc:Fallback xmlns="">
          <p:sp>
            <p:nvSpPr>
              <p:cNvPr id="50" name="pre_math_3" descr="a_3(\mathbf{x})">
                <a:extLst>
                  <a:ext uri="{FF2B5EF4-FFF2-40B4-BE49-F238E27FC236}">
                    <a16:creationId xmlns:a16="http://schemas.microsoft.com/office/drawing/2014/main" id="{00F73493-E305-4791-8AA9-4AFE4629D2EE}"/>
                  </a:ext>
                </a:extLst>
              </p:cNvPr>
              <p:cNvSpPr>
                <a:spLocks noGrp="1" noRot="1" noChangeAspect="1" noMove="1" noResize="1" noEditPoints="1" noAdjustHandles="1" noChangeArrowheads="1" noChangeShapeType="1" noTextEdit="1"/>
              </p:cNvSpPr>
              <p:nvPr/>
            </p:nvSpPr>
            <p:spPr>
              <a:xfrm>
                <a:off x="7019925" y="4876800"/>
                <a:ext cx="914400" cy="914400"/>
              </a:xfrm>
              <a:prstGeom prst="rect">
                <a:avLst/>
              </a:prstGeom>
              <a:blipFill>
                <a:blip r:embed="rId20"/>
                <a:stretch>
                  <a:fillRect/>
                </a:stretch>
              </a:blipFill>
              <a:ln w="0">
                <a:noFill/>
              </a:ln>
            </p:spPr>
            <p:txBody>
              <a:bodyPr/>
              <a:lstStyle/>
              <a:p>
                <a:r>
                  <a:rPr lang="it-IT">
                    <a:noFill/>
                  </a:rPr>
                  <a:t> </a:t>
                </a:r>
              </a:p>
            </p:txBody>
          </p:sp>
        </mc:Fallback>
      </mc:AlternateContent>
      <p:sp>
        <p:nvSpPr>
          <p:cNvPr id="51" name="activation_3">
            <a:extLst>
              <a:ext uri="{FF2B5EF4-FFF2-40B4-BE49-F238E27FC236}">
                <a16:creationId xmlns:a16="http://schemas.microsoft.com/office/drawing/2014/main" id="{A92F9408-BBF3-4F11-8F1C-22339F2FE432}"/>
              </a:ext>
            </a:extLst>
          </p:cNvPr>
          <p:cNvSpPr>
            <a:spLocks noGrp="1"/>
          </p:cNvSpPr>
          <p:nvPr/>
        </p:nvSpPr>
        <p:spPr>
          <a:xfrm>
            <a:off x="10210800" y="4876800"/>
            <a:ext cx="914400" cy="914400"/>
          </a:xfrm>
          <a:prstGeom prst="ellipse">
            <a:avLst/>
          </a:prstGeom>
          <a:solidFill>
            <a:srgbClr val="FAFBFC"/>
          </a:solidFill>
          <a:ln w="19050">
            <a:solidFill>
              <a:srgbClr val="BAC4CE"/>
            </a:solidFill>
          </a:ln>
        </p:spPr>
        <p:txBody>
          <a:bodyPr/>
          <a:lstStyle/>
          <a:p>
            <a:endParaRPr lang="it-IT"/>
          </a:p>
        </p:txBody>
      </p:sp>
      <mc:AlternateContent xmlns:mc="http://schemas.openxmlformats.org/markup-compatibility/2006" xmlns:a14="http://schemas.microsoft.com/office/drawing/2010/main">
        <mc:Choice Requires="a14">
          <p:sp>
            <p:nvSpPr>
              <p:cNvPr id="52" name="activation_math_3" descr="\phi_3(\mathbf{x})">
                <a:extLst>
                  <a:ext uri="{FF2B5EF4-FFF2-40B4-BE49-F238E27FC236}">
                    <a16:creationId xmlns:a16="http://schemas.microsoft.com/office/drawing/2014/main" id="{B7E70444-3EE2-4AF1-BA21-27B6F04A8A81}"/>
                  </a:ext>
                </a:extLst>
              </p:cNvPr>
              <p:cNvSpPr>
                <a:spLocks noGrp="1"/>
              </p:cNvSpPr>
              <p:nvPr/>
            </p:nvSpPr>
            <p:spPr>
              <a:xfrm>
                <a:off x="10210800" y="4876800"/>
                <a:ext cx="914400" cy="914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200" b="0" i="1" smtClean="0">
                          <a:solidFill>
                            <a:srgbClr val="BAC4CE"/>
                          </a:solidFill>
                          <a:latin typeface="Cambria Math" panose="02040503050406030204" pitchFamily="18" charset="0"/>
                          <a:ea typeface="Cambria Math"/>
                          <a:cs typeface="Cambria Math"/>
                        </a:rPr>
                        <m:t> </m:t>
                      </m:r>
                      <m:sSub>
                        <m:sSubPr>
                          <m:ctrlPr>
                            <a:rPr lang="en-GB" sz="2200">
                              <a:solidFill>
                                <a:srgbClr val="BAC4CE"/>
                              </a:solidFill>
                              <a:latin typeface="Cambria Math"/>
                              <a:ea typeface="Cambria Math"/>
                              <a:cs typeface="Cambria Math"/>
                            </a:rPr>
                          </m:ctrlPr>
                        </m:sSubPr>
                        <m:e>
                          <m:r>
                            <a:rPr lang="en-GB" sz="2200">
                              <a:solidFill>
                                <a:srgbClr val="BAC4CE"/>
                              </a:solidFill>
                              <a:latin typeface="Cambria Math"/>
                              <a:ea typeface="Cambria Math"/>
                              <a:cs typeface="Cambria Math"/>
                            </a:rPr>
                            <m:t>𝜙</m:t>
                          </m:r>
                        </m:e>
                        <m:sub>
                          <m:r>
                            <a:rPr lang="en-GB" sz="2200">
                              <a:solidFill>
                                <a:srgbClr val="BAC4CE"/>
                              </a:solidFill>
                              <a:latin typeface="Cambria Math"/>
                              <a:ea typeface="Cambria Math"/>
                              <a:cs typeface="Cambria Math"/>
                            </a:rPr>
                            <m:t>3</m:t>
                          </m:r>
                        </m:sub>
                      </m:sSub>
                      <m:d>
                        <m:dPr>
                          <m:ctrlPr>
                            <a:rPr lang="en-GB" sz="2200">
                              <a:solidFill>
                                <a:srgbClr val="BAC4CE"/>
                              </a:solidFill>
                              <a:latin typeface="Cambria Math"/>
                              <a:ea typeface="Cambria Math"/>
                              <a:cs typeface="Cambria Math"/>
                            </a:rPr>
                          </m:ctrlPr>
                        </m:dPr>
                        <m:e>
                          <m:r>
                            <a:rPr lang="en-GB" sz="2200">
                              <a:solidFill>
                                <a:srgbClr val="BAC4CE"/>
                              </a:solidFill>
                              <a:latin typeface="Cambria Math"/>
                              <a:ea typeface="Cambria Math"/>
                              <a:cs typeface="Cambria Math"/>
                            </a:rPr>
                            <m:t>𝐱</m:t>
                          </m:r>
                        </m:e>
                      </m:d>
                    </m:oMath>
                  </m:oMathPara>
                </a14:m>
                <a:endParaRPr lang="en-GB" sz="2200" dirty="0"/>
              </a:p>
            </p:txBody>
          </p:sp>
        </mc:Choice>
        <mc:Fallback xmlns="">
          <p:sp>
            <p:nvSpPr>
              <p:cNvPr id="52" name="activation_math_3" descr="\phi_3(\mathbf{x})">
                <a:extLst>
                  <a:ext uri="{FF2B5EF4-FFF2-40B4-BE49-F238E27FC236}">
                    <a16:creationId xmlns:a16="http://schemas.microsoft.com/office/drawing/2014/main" id="{B7E70444-3EE2-4AF1-BA21-27B6F04A8A81}"/>
                  </a:ext>
                </a:extLst>
              </p:cNvPr>
              <p:cNvSpPr>
                <a:spLocks noGrp="1" noRot="1" noChangeAspect="1" noMove="1" noResize="1" noEditPoints="1" noAdjustHandles="1" noChangeArrowheads="1" noChangeShapeType="1" noTextEdit="1"/>
              </p:cNvSpPr>
              <p:nvPr/>
            </p:nvSpPr>
            <p:spPr>
              <a:xfrm>
                <a:off x="10210800" y="4876800"/>
                <a:ext cx="914400" cy="914400"/>
              </a:xfrm>
              <a:prstGeom prst="rect">
                <a:avLst/>
              </a:prstGeom>
              <a:blipFill>
                <a:blip r:embed="rId21"/>
                <a:stretch>
                  <a:fillRect l="-2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3" name="bias_math_3" descr="+b_3">
                <a:extLst>
                  <a:ext uri="{FF2B5EF4-FFF2-40B4-BE49-F238E27FC236}">
                    <a16:creationId xmlns:a16="http://schemas.microsoft.com/office/drawing/2014/main" id="{F3C803A6-CB47-456B-B50B-8FE9E58C3B59}"/>
                  </a:ext>
                </a:extLst>
              </p:cNvPr>
              <p:cNvSpPr>
                <a:spLocks noGrp="1"/>
              </p:cNvSpPr>
              <p:nvPr/>
            </p:nvSpPr>
            <p:spPr>
              <a:xfrm>
                <a:off x="5791200" y="4924425"/>
                <a:ext cx="100012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BAC4CE"/>
                          </a:solidFill>
                          <a:latin typeface="Cambria Math"/>
                          <a:ea typeface="Cambria Math"/>
                          <a:cs typeface="Cambria Math"/>
                        </a:rPr>
                        <m:t>+</m:t>
                      </m:r>
                      <m:sSub>
                        <m:sSubPr>
                          <m:ctrlPr>
                            <a:rPr lang="en-GB" sz="2300">
                              <a:solidFill>
                                <a:srgbClr val="BAC4CE"/>
                              </a:solidFill>
                              <a:latin typeface="Cambria Math"/>
                              <a:ea typeface="Cambria Math"/>
                              <a:cs typeface="Cambria Math"/>
                            </a:rPr>
                          </m:ctrlPr>
                        </m:sSubPr>
                        <m:e>
                          <m:r>
                            <a:rPr lang="en-GB" sz="2300">
                              <a:solidFill>
                                <a:srgbClr val="BAC4CE"/>
                              </a:solidFill>
                              <a:latin typeface="Cambria Math"/>
                              <a:ea typeface="Cambria Math"/>
                              <a:cs typeface="Cambria Math"/>
                            </a:rPr>
                            <m:t>𝑏</m:t>
                          </m:r>
                        </m:e>
                        <m:sub>
                          <m:r>
                            <a:rPr lang="en-GB" sz="2300">
                              <a:solidFill>
                                <a:srgbClr val="BAC4CE"/>
                              </a:solidFill>
                              <a:latin typeface="Cambria Math"/>
                              <a:ea typeface="Cambria Math"/>
                              <a:cs typeface="Cambria Math"/>
                            </a:rPr>
                            <m:t>3</m:t>
                          </m:r>
                        </m:sub>
                      </m:sSub>
                    </m:oMath>
                  </m:oMathPara>
                </a14:m>
                <a:endParaRPr lang="en-GB" sz="2300"/>
              </a:p>
            </p:txBody>
          </p:sp>
        </mc:Choice>
        <mc:Fallback xmlns="">
          <p:sp>
            <p:nvSpPr>
              <p:cNvPr id="53" name="bias_math_3" descr="+b_3">
                <a:extLst>
                  <a:ext uri="{FF2B5EF4-FFF2-40B4-BE49-F238E27FC236}">
                    <a16:creationId xmlns:a16="http://schemas.microsoft.com/office/drawing/2014/main" id="{F3C803A6-CB47-456B-B50B-8FE9E58C3B59}"/>
                  </a:ext>
                </a:extLst>
              </p:cNvPr>
              <p:cNvSpPr>
                <a:spLocks noGrp="1" noRot="1" noChangeAspect="1" noMove="1" noResize="1" noEditPoints="1" noAdjustHandles="1" noChangeArrowheads="1" noChangeShapeType="1" noTextEdit="1"/>
              </p:cNvSpPr>
              <p:nvPr/>
            </p:nvSpPr>
            <p:spPr>
              <a:xfrm>
                <a:off x="5791200" y="4924425"/>
                <a:ext cx="1000125" cy="352425"/>
              </a:xfrm>
              <a:prstGeom prst="rect">
                <a:avLst/>
              </a:prstGeom>
              <a:blipFill>
                <a:blip r:embed="rId22"/>
                <a:stretch>
                  <a:fillRect b="-13793"/>
                </a:stretch>
              </a:blipFill>
              <a:ln w="0">
                <a:noFill/>
              </a:ln>
            </p:spPr>
            <p:txBody>
              <a:bodyPr/>
              <a:lstStyle/>
              <a:p>
                <a:r>
                  <a:rPr lang="it-IT">
                    <a:noFill/>
                  </a:rPr>
                  <a:t> </a:t>
                </a:r>
              </a:p>
            </p:txBody>
          </p:sp>
        </mc:Fallback>
      </mc:AlternateContent>
      <p:sp>
        <p:nvSpPr>
          <p:cNvPr id="54" name="relu_label_3">
            <a:extLst>
              <a:ext uri="{FF2B5EF4-FFF2-40B4-BE49-F238E27FC236}">
                <a16:creationId xmlns:a16="http://schemas.microsoft.com/office/drawing/2014/main" id="{785E95C5-A5B2-4745-AE06-E5FE88ED6933}"/>
              </a:ext>
            </a:extLst>
          </p:cNvPr>
          <p:cNvSpPr>
            <a:spLocks noGrp="1"/>
          </p:cNvSpPr>
          <p:nvPr/>
        </p:nvSpPr>
        <p:spPr>
          <a:xfrm>
            <a:off x="8477250" y="4924425"/>
            <a:ext cx="1238250" cy="352425"/>
          </a:xfrm>
          <a:prstGeom prst="rect">
            <a:avLst/>
          </a:prstGeom>
          <a:noFill/>
          <a:ln w="0">
            <a:noFill/>
          </a:ln>
        </p:spPr>
        <p:txBody>
          <a:bodyPr anchor="ctr">
            <a:noAutofit/>
          </a:bodyPr>
          <a:lstStyle/>
          <a:p>
            <a:pPr algn="ctr">
              <a:defRPr sz="1875" b="0">
                <a:solidFill>
                  <a:srgbClr val="BAC4CE"/>
                </a:solidFill>
                <a:latin typeface="DejaVu Sans"/>
                <a:ea typeface="DejaVu Sans"/>
                <a:cs typeface="DejaVu Sans"/>
              </a:defRPr>
            </a:pPr>
            <a:r>
              <a:rPr sz="1875" b="0">
                <a:solidFill>
                  <a:srgbClr val="BAC4CE"/>
                </a:solidFill>
                <a:latin typeface="DejaVu Sans"/>
                <a:ea typeface="DejaVu Sans"/>
                <a:cs typeface="DejaVu Sans"/>
              </a:rPr>
              <a:t>ReLU</a:t>
            </a:r>
          </a:p>
        </p:txBody>
      </p:sp>
      <p:sp>
        <p:nvSpPr>
          <p:cNvPr id="55" name="takeaway">
            <a:extLst>
              <a:ext uri="{FF2B5EF4-FFF2-40B4-BE49-F238E27FC236}">
                <a16:creationId xmlns:a16="http://schemas.microsoft.com/office/drawing/2014/main" id="{4803F5CA-926C-464B-889E-CBE20B2EF220}"/>
              </a:ext>
            </a:extLst>
          </p:cNvPr>
          <p:cNvSpPr>
            <a:spLocks noGrp="1"/>
          </p:cNvSpPr>
          <p:nvPr/>
        </p:nvSpPr>
        <p:spPr>
          <a:xfrm>
            <a:off x="476250" y="5886450"/>
            <a:ext cx="11239500" cy="60960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The weighted sum, preactivation and activation belong to the same neuron.</a:t>
            </a:r>
          </a:p>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These three neurons receive the same input.</a:t>
            </a:r>
          </a:p>
        </p:txBody>
      </p:sp>
      <p:sp>
        <p:nvSpPr>
          <p:cNvPr id="56" name="footer_course">
            <a:extLst>
              <a:ext uri="{FF2B5EF4-FFF2-40B4-BE49-F238E27FC236}">
                <a16:creationId xmlns:a16="http://schemas.microsoft.com/office/drawing/2014/main" id="{4D290224-F2A5-4D2E-ABFB-D6BE7DF17F18}"/>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57" name="footer_number">
            <a:extLst>
              <a:ext uri="{FF2B5EF4-FFF2-40B4-BE49-F238E27FC236}">
                <a16:creationId xmlns:a16="http://schemas.microsoft.com/office/drawing/2014/main" id="{2B28027E-3625-4291-B837-B3EEDBF046DA}"/>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15</a:t>
            </a:r>
          </a:p>
        </p:txBody>
      </p:sp>
      <p:sp>
        <p:nvSpPr>
          <p:cNvPr id="59" name="neuron_label">
            <a:extLst>
              <a:ext uri="{FF2B5EF4-FFF2-40B4-BE49-F238E27FC236}">
                <a16:creationId xmlns:a16="http://schemas.microsoft.com/office/drawing/2014/main" id="{2A58554F-7EC9-4D06-992F-C98375CA9543}"/>
              </a:ext>
            </a:extLst>
          </p:cNvPr>
          <p:cNvSpPr>
            <a:spLocks noGrp="1"/>
          </p:cNvSpPr>
          <p:nvPr/>
        </p:nvSpPr>
        <p:spPr>
          <a:xfrm>
            <a:off x="6143625" y="1504950"/>
            <a:ext cx="2333625" cy="314325"/>
          </a:xfrm>
          <a:prstGeom prst="rect">
            <a:avLst/>
          </a:prstGeom>
          <a:noFill/>
          <a:ln w="0">
            <a:noFill/>
          </a:ln>
        </p:spPr>
        <p:txBody>
          <a:bodyPr anchor="ctr">
            <a:noAutofit/>
          </a:bodyPr>
          <a:lstStyle/>
          <a:p>
            <a:pPr algn="ctr">
              <a:defRPr sz="1800" b="1">
                <a:solidFill>
                  <a:srgbClr val="087F83"/>
                </a:solidFill>
                <a:latin typeface="DejaVu Sans"/>
                <a:ea typeface="DejaVu Sans"/>
                <a:cs typeface="DejaVu Sans"/>
              </a:defRPr>
            </a:pPr>
            <a:r>
              <a:rPr sz="1800" b="1">
                <a:solidFill>
                  <a:srgbClr val="087F83"/>
                </a:solidFill>
                <a:latin typeface="DejaVu Sans"/>
                <a:ea typeface="DejaVu Sans"/>
                <a:cs typeface="DejaVu Sans"/>
              </a:rPr>
              <a:t>One neuron</a:t>
            </a:r>
          </a:p>
        </p:txBody>
      </p:sp>
    </p:spTree>
    <p:extLst>
      <p:ext uri="{BB962C8B-B14F-4D97-AF65-F5344CB8AC3E}">
        <p14:creationId xmlns:p14="http://schemas.microsoft.com/office/powerpoint/2010/main" val="24177458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_course">
            <a:extLst>
              <a:ext uri="{FF2B5EF4-FFF2-40B4-BE49-F238E27FC236}">
                <a16:creationId xmlns:a16="http://schemas.microsoft.com/office/drawing/2014/main" id="{FC45F304-9F59-4880-8FFC-B3041539D2F4}"/>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3" name="footer_number">
            <a:extLst>
              <a:ext uri="{FF2B5EF4-FFF2-40B4-BE49-F238E27FC236}">
                <a16:creationId xmlns:a16="http://schemas.microsoft.com/office/drawing/2014/main" id="{E1916D76-F7A8-459D-B1BA-EAD8FE7C5889}"/>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16</a:t>
            </a:r>
          </a:p>
        </p:txBody>
      </p:sp>
      <p:sp>
        <p:nvSpPr>
          <p:cNvPr id="4" name="line_3">
            <a:extLst>
              <a:ext uri="{FF2B5EF4-FFF2-40B4-BE49-F238E27FC236}">
                <a16:creationId xmlns:a16="http://schemas.microsoft.com/office/drawing/2014/main" id="{EEAA3BBA-3577-4D55-8602-8BCB4FB5BDCE}"/>
              </a:ext>
            </a:extLst>
          </p:cNvPr>
          <p:cNvSpPr>
            <a:spLocks noGrp="1"/>
          </p:cNvSpPr>
          <p:nvPr/>
        </p:nvSpPr>
        <p:spPr>
          <a:xfrm>
            <a:off x="1362075" y="3381375"/>
            <a:ext cx="1500188" cy="476"/>
          </a:xfrm>
          <a:prstGeom prst="line">
            <a:avLst/>
          </a:prstGeom>
          <a:noFill/>
          <a:ln w="14288">
            <a:solidFill>
              <a:srgbClr val="B6C2CD"/>
            </a:solidFill>
          </a:ln>
        </p:spPr>
        <p:txBody>
          <a:bodyPr/>
          <a:lstStyle/>
          <a:p>
            <a:endParaRPr lang="it-IT"/>
          </a:p>
        </p:txBody>
      </p:sp>
      <p:sp>
        <p:nvSpPr>
          <p:cNvPr id="5" name="line_4">
            <a:extLst>
              <a:ext uri="{FF2B5EF4-FFF2-40B4-BE49-F238E27FC236}">
                <a16:creationId xmlns:a16="http://schemas.microsoft.com/office/drawing/2014/main" id="{98AEE5D7-09A5-41E2-86AB-36EB1AFD2766}"/>
              </a:ext>
            </a:extLst>
          </p:cNvPr>
          <p:cNvSpPr>
            <a:spLocks noGrp="1"/>
          </p:cNvSpPr>
          <p:nvPr/>
        </p:nvSpPr>
        <p:spPr>
          <a:xfrm>
            <a:off x="1362075" y="3381375"/>
            <a:ext cx="1500188" cy="952500"/>
          </a:xfrm>
          <a:prstGeom prst="line">
            <a:avLst/>
          </a:prstGeom>
          <a:noFill/>
          <a:ln w="14288">
            <a:solidFill>
              <a:srgbClr val="B6C2CD"/>
            </a:solidFill>
          </a:ln>
        </p:spPr>
        <p:txBody>
          <a:bodyPr/>
          <a:lstStyle/>
          <a:p>
            <a:endParaRPr lang="it-IT"/>
          </a:p>
        </p:txBody>
      </p:sp>
      <p:sp>
        <p:nvSpPr>
          <p:cNvPr id="6" name="line_5">
            <a:extLst>
              <a:ext uri="{FF2B5EF4-FFF2-40B4-BE49-F238E27FC236}">
                <a16:creationId xmlns:a16="http://schemas.microsoft.com/office/drawing/2014/main" id="{F8E834C7-A199-4048-A69B-96FB82ADB795}"/>
              </a:ext>
            </a:extLst>
          </p:cNvPr>
          <p:cNvSpPr>
            <a:spLocks noGrp="1"/>
          </p:cNvSpPr>
          <p:nvPr/>
        </p:nvSpPr>
        <p:spPr>
          <a:xfrm>
            <a:off x="1362075" y="3381375"/>
            <a:ext cx="1500188" cy="1905000"/>
          </a:xfrm>
          <a:prstGeom prst="line">
            <a:avLst/>
          </a:prstGeom>
          <a:noFill/>
          <a:ln w="14288">
            <a:solidFill>
              <a:srgbClr val="B6C2CD"/>
            </a:solidFill>
          </a:ln>
        </p:spPr>
        <p:txBody>
          <a:bodyPr/>
          <a:lstStyle/>
          <a:p>
            <a:endParaRPr lang="it-IT"/>
          </a:p>
        </p:txBody>
      </p:sp>
      <p:sp>
        <p:nvSpPr>
          <p:cNvPr id="7" name="line_6">
            <a:extLst>
              <a:ext uri="{FF2B5EF4-FFF2-40B4-BE49-F238E27FC236}">
                <a16:creationId xmlns:a16="http://schemas.microsoft.com/office/drawing/2014/main" id="{008CEA51-7BA4-488D-AF96-8763128878CA}"/>
              </a:ext>
            </a:extLst>
          </p:cNvPr>
          <p:cNvSpPr>
            <a:spLocks noGrp="1"/>
          </p:cNvSpPr>
          <p:nvPr/>
        </p:nvSpPr>
        <p:spPr>
          <a:xfrm flipV="1">
            <a:off x="1362075" y="3381375"/>
            <a:ext cx="1500188" cy="1905000"/>
          </a:xfrm>
          <a:prstGeom prst="line">
            <a:avLst/>
          </a:prstGeom>
          <a:noFill/>
          <a:ln w="14288">
            <a:solidFill>
              <a:srgbClr val="B6C2CD"/>
            </a:solidFill>
          </a:ln>
        </p:spPr>
        <p:txBody>
          <a:bodyPr/>
          <a:lstStyle/>
          <a:p>
            <a:endParaRPr lang="it-IT"/>
          </a:p>
        </p:txBody>
      </p:sp>
      <p:sp>
        <p:nvSpPr>
          <p:cNvPr id="8" name="line_7">
            <a:extLst>
              <a:ext uri="{FF2B5EF4-FFF2-40B4-BE49-F238E27FC236}">
                <a16:creationId xmlns:a16="http://schemas.microsoft.com/office/drawing/2014/main" id="{439ADAB5-8CC0-4D31-B652-F4C40A366170}"/>
              </a:ext>
            </a:extLst>
          </p:cNvPr>
          <p:cNvSpPr>
            <a:spLocks noGrp="1"/>
          </p:cNvSpPr>
          <p:nvPr/>
        </p:nvSpPr>
        <p:spPr>
          <a:xfrm flipV="1">
            <a:off x="1362075" y="4333875"/>
            <a:ext cx="1500188" cy="952500"/>
          </a:xfrm>
          <a:prstGeom prst="line">
            <a:avLst/>
          </a:prstGeom>
          <a:noFill/>
          <a:ln w="14288">
            <a:solidFill>
              <a:srgbClr val="B6C2CD"/>
            </a:solidFill>
          </a:ln>
        </p:spPr>
        <p:txBody>
          <a:bodyPr/>
          <a:lstStyle/>
          <a:p>
            <a:endParaRPr lang="it-IT"/>
          </a:p>
        </p:txBody>
      </p:sp>
      <p:sp>
        <p:nvSpPr>
          <p:cNvPr id="9" name="line_8">
            <a:extLst>
              <a:ext uri="{FF2B5EF4-FFF2-40B4-BE49-F238E27FC236}">
                <a16:creationId xmlns:a16="http://schemas.microsoft.com/office/drawing/2014/main" id="{DB8460F0-474B-4111-B517-78F01900BC5B}"/>
              </a:ext>
            </a:extLst>
          </p:cNvPr>
          <p:cNvSpPr>
            <a:spLocks noGrp="1"/>
          </p:cNvSpPr>
          <p:nvPr/>
        </p:nvSpPr>
        <p:spPr>
          <a:xfrm>
            <a:off x="1362075" y="5286375"/>
            <a:ext cx="1500188" cy="476"/>
          </a:xfrm>
          <a:prstGeom prst="line">
            <a:avLst/>
          </a:prstGeom>
          <a:noFill/>
          <a:ln w="14288">
            <a:solidFill>
              <a:srgbClr val="B6C2CD"/>
            </a:solidFill>
          </a:ln>
        </p:spPr>
        <p:txBody>
          <a:bodyPr/>
          <a:lstStyle/>
          <a:p>
            <a:endParaRPr lang="it-IT"/>
          </a:p>
        </p:txBody>
      </p:sp>
      <p:sp>
        <p:nvSpPr>
          <p:cNvPr id="10" name="line_9">
            <a:extLst>
              <a:ext uri="{FF2B5EF4-FFF2-40B4-BE49-F238E27FC236}">
                <a16:creationId xmlns:a16="http://schemas.microsoft.com/office/drawing/2014/main" id="{8D3831DA-856A-4F8C-A962-0F4073A18648}"/>
              </a:ext>
            </a:extLst>
          </p:cNvPr>
          <p:cNvSpPr>
            <a:spLocks noGrp="1"/>
          </p:cNvSpPr>
          <p:nvPr/>
        </p:nvSpPr>
        <p:spPr>
          <a:xfrm>
            <a:off x="3662362" y="3381375"/>
            <a:ext cx="1328738" cy="952500"/>
          </a:xfrm>
          <a:prstGeom prst="line">
            <a:avLst/>
          </a:prstGeom>
          <a:noFill/>
          <a:ln w="14288">
            <a:solidFill>
              <a:srgbClr val="C45C28"/>
            </a:solidFill>
          </a:ln>
        </p:spPr>
        <p:txBody>
          <a:bodyPr/>
          <a:lstStyle/>
          <a:p>
            <a:endParaRPr lang="it-IT"/>
          </a:p>
        </p:txBody>
      </p:sp>
      <p:sp>
        <p:nvSpPr>
          <p:cNvPr id="11" name="line_10">
            <a:extLst>
              <a:ext uri="{FF2B5EF4-FFF2-40B4-BE49-F238E27FC236}">
                <a16:creationId xmlns:a16="http://schemas.microsoft.com/office/drawing/2014/main" id="{14060BD3-BB6D-48AE-9C3C-EFA56A15C41A}"/>
              </a:ext>
            </a:extLst>
          </p:cNvPr>
          <p:cNvSpPr>
            <a:spLocks noGrp="1"/>
          </p:cNvSpPr>
          <p:nvPr/>
        </p:nvSpPr>
        <p:spPr>
          <a:xfrm>
            <a:off x="3662362" y="4333875"/>
            <a:ext cx="1328738" cy="476"/>
          </a:xfrm>
          <a:prstGeom prst="line">
            <a:avLst/>
          </a:prstGeom>
          <a:noFill/>
          <a:ln w="14288">
            <a:solidFill>
              <a:srgbClr val="C45C28"/>
            </a:solidFill>
          </a:ln>
        </p:spPr>
        <p:txBody>
          <a:bodyPr/>
          <a:lstStyle/>
          <a:p>
            <a:endParaRPr lang="it-IT"/>
          </a:p>
        </p:txBody>
      </p:sp>
      <p:sp>
        <p:nvSpPr>
          <p:cNvPr id="12" name="line_11">
            <a:extLst>
              <a:ext uri="{FF2B5EF4-FFF2-40B4-BE49-F238E27FC236}">
                <a16:creationId xmlns:a16="http://schemas.microsoft.com/office/drawing/2014/main" id="{9074F1E6-4706-42A3-BED0-151D25367F2F}"/>
              </a:ext>
            </a:extLst>
          </p:cNvPr>
          <p:cNvSpPr>
            <a:spLocks noGrp="1"/>
          </p:cNvSpPr>
          <p:nvPr/>
        </p:nvSpPr>
        <p:spPr>
          <a:xfrm flipV="1">
            <a:off x="3662362" y="4333875"/>
            <a:ext cx="1328738" cy="952500"/>
          </a:xfrm>
          <a:prstGeom prst="line">
            <a:avLst/>
          </a:prstGeom>
          <a:noFill/>
          <a:ln w="14288">
            <a:solidFill>
              <a:srgbClr val="C45C28"/>
            </a:solidFill>
          </a:ln>
        </p:spPr>
        <p:txBody>
          <a:bodyPr/>
          <a:lstStyle/>
          <a:p>
            <a:endParaRPr lang="it-IT"/>
          </a:p>
        </p:txBody>
      </p:sp>
      <mc:AlternateContent xmlns:mc="http://schemas.openxmlformats.org/markup-compatibility/2006" xmlns:a14="http://schemas.microsoft.com/office/drawing/2010/main">
        <mc:Choice Requires="a14">
          <p:sp>
            <p:nvSpPr>
              <p:cNvPr id="13" name="unit_12" descr="x_1">
                <a:extLst>
                  <a:ext uri="{FF2B5EF4-FFF2-40B4-BE49-F238E27FC236}">
                    <a16:creationId xmlns:a16="http://schemas.microsoft.com/office/drawing/2014/main" id="{C56BDD39-3D04-4530-8653-43457795C972}"/>
                  </a:ext>
                </a:extLst>
              </p:cNvPr>
              <p:cNvSpPr>
                <a:spLocks noGrp="1"/>
              </p:cNvSpPr>
              <p:nvPr/>
            </p:nvSpPr>
            <p:spPr>
              <a:xfrm>
                <a:off x="828675" y="3114675"/>
                <a:ext cx="533400" cy="533400"/>
              </a:xfrm>
              <a:prstGeom prst="ellipse">
                <a:avLst/>
              </a:prstGeom>
              <a:solidFill>
                <a:srgbClr val="FFFFFF"/>
              </a:solidFill>
              <a:ln w="24765">
                <a:solidFill>
                  <a:srgbClr val="182D45"/>
                </a:solidFill>
              </a:ln>
            </p:spPr>
            <p:txBody>
              <a:bodyPr vertOverflow="overflow" horzOverflow="overflow" wrap="none" lIns="0" tIns="0" rIns="0" bIns="0" anchor="ctr">
                <a:noAutofit/>
              </a:bodyPr>
              <a:lstStyle/>
              <a:p>
                <a:pPr algn="ctr"/>
                <a14:m>
                  <m:oMathPara xmlns:m="http://schemas.openxmlformats.org/officeDocument/2006/math">
                    <m:oMath>
                      <m:sSub>
                        <m:sSubPr>
                          <m:ctrlPr>
                            <a:rPr lang="it-IT" sz="2200" b="0" i="0" smtClean="0">
                              <a:solidFill>
                                <a:srgbClr val="182D45"/>
                              </a:solidFill>
                              <a:latin typeface="Cambria Math" panose="02040503050406030204" pitchFamily="18" charset="0"/>
                              <a:ea typeface="Cambria Math"/>
                              <a:cs typeface="Cambria Math"/>
                            </a:rPr>
                          </m:ctrlPr>
                        </m:sSubPr>
                        <m:e>
                          <m:r>
                            <a:rPr lang="it-IT" sz="2200" b="0" i="0" smtClean="0">
                              <a:solidFill>
                                <a:srgbClr val="182D45"/>
                              </a:solidFill>
                              <a:latin typeface="Cambria Math" panose="02040503050406030204" pitchFamily="18" charset="0"/>
                              <a:ea typeface="Cambria Math"/>
                              <a:cs typeface="Cambria Math"/>
                            </a:rPr>
                            <m:t>  </m:t>
                          </m:r>
                          <m:r>
                            <a:rPr lang="en-GB" sz="2200">
                              <a:solidFill>
                                <a:srgbClr val="182D45"/>
                              </a:solidFill>
                              <a:latin typeface="Cambria Math"/>
                              <a:ea typeface="Cambria Math"/>
                              <a:cs typeface="Cambria Math"/>
                            </a:rPr>
                            <m:t>𝑥</m:t>
                          </m:r>
                        </m:e>
                        <m:sub>
                          <m:r>
                            <a:rPr lang="en-GB" sz="2200">
                              <a:solidFill>
                                <a:srgbClr val="182D45"/>
                              </a:solidFill>
                              <a:latin typeface="Cambria Math"/>
                              <a:ea typeface="Cambria Math"/>
                              <a:cs typeface="Cambria Math"/>
                            </a:rPr>
                            <m:t>1</m:t>
                          </m:r>
                        </m:sub>
                      </m:sSub>
                    </m:oMath>
                  </m:oMathPara>
                </a14:m>
                <a:endParaRPr lang="en-GB" sz="2200" dirty="0"/>
              </a:p>
            </p:txBody>
          </p:sp>
        </mc:Choice>
        <mc:Fallback xmlns="">
          <p:sp>
            <p:nvSpPr>
              <p:cNvPr id="13" name="unit_12" descr="x_1">
                <a:extLst>
                  <a:ext uri="{FF2B5EF4-FFF2-40B4-BE49-F238E27FC236}">
                    <a16:creationId xmlns:a16="http://schemas.microsoft.com/office/drawing/2014/main" id="{C56BDD39-3D04-4530-8653-43457795C972}"/>
                  </a:ext>
                </a:extLst>
              </p:cNvPr>
              <p:cNvSpPr>
                <a:spLocks noGrp="1" noRot="1" noChangeAspect="1" noMove="1" noResize="1" noEditPoints="1" noAdjustHandles="1" noChangeArrowheads="1" noChangeShapeType="1" noTextEdit="1"/>
              </p:cNvSpPr>
              <p:nvPr/>
            </p:nvSpPr>
            <p:spPr>
              <a:xfrm>
                <a:off x="828675" y="3114675"/>
                <a:ext cx="533400" cy="533400"/>
              </a:xfrm>
              <a:prstGeom prst="ellipse">
                <a:avLst/>
              </a:prstGeom>
              <a:blipFill>
                <a:blip r:embed="rId3"/>
                <a:stretch>
                  <a:fillRect/>
                </a:stretch>
              </a:blipFill>
              <a:ln w="24765">
                <a:solidFill>
                  <a:srgbClr val="182D45"/>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 name="unit_13" descr="x_2">
                <a:extLst>
                  <a:ext uri="{FF2B5EF4-FFF2-40B4-BE49-F238E27FC236}">
                    <a16:creationId xmlns:a16="http://schemas.microsoft.com/office/drawing/2014/main" id="{252654A7-2B00-4544-ABCE-85336D16C65D}"/>
                  </a:ext>
                </a:extLst>
              </p:cNvPr>
              <p:cNvSpPr>
                <a:spLocks noGrp="1"/>
              </p:cNvSpPr>
              <p:nvPr/>
            </p:nvSpPr>
            <p:spPr>
              <a:xfrm>
                <a:off x="828675" y="5019675"/>
                <a:ext cx="533400" cy="533400"/>
              </a:xfrm>
              <a:prstGeom prst="ellipse">
                <a:avLst/>
              </a:prstGeom>
              <a:solidFill>
                <a:srgbClr val="FFFFFF"/>
              </a:solidFill>
              <a:ln w="24765">
                <a:solidFill>
                  <a:srgbClr val="182D45"/>
                </a:solidFill>
              </a:ln>
            </p:spPr>
            <p:txBody>
              <a:bodyPr vertOverflow="overflow" horzOverflow="overflow" wrap="none" lIns="0" tIns="0" rIns="0" bIns="0" anchor="ctr">
                <a:noAutofit/>
              </a:bodyPr>
              <a:lstStyle/>
              <a:p>
                <a:pPr algn="ctr"/>
                <a14:m>
                  <m:oMathPara xmlns:m="http://schemas.openxmlformats.org/officeDocument/2006/math">
                    <m:oMath>
                      <m:sSub>
                        <m:sSubPr>
                          <m:ctrlPr>
                            <a:rPr lang="it-IT" sz="2200" b="0" i="0" smtClean="0">
                              <a:solidFill>
                                <a:srgbClr val="182D45"/>
                              </a:solidFill>
                              <a:latin typeface="Cambria Math" panose="02040503050406030204" pitchFamily="18" charset="0"/>
                              <a:ea typeface="Cambria Math"/>
                              <a:cs typeface="Cambria Math"/>
                            </a:rPr>
                          </m:ctrlPr>
                        </m:sSubPr>
                        <m:e>
                          <m:r>
                            <a:rPr lang="it-IT" sz="2200" b="0" i="0" smtClean="0">
                              <a:solidFill>
                                <a:srgbClr val="182D45"/>
                              </a:solidFill>
                              <a:latin typeface="Cambria Math" panose="02040503050406030204" pitchFamily="18" charset="0"/>
                              <a:ea typeface="Cambria Math"/>
                              <a:cs typeface="Cambria Math"/>
                            </a:rPr>
                            <m:t>  </m:t>
                          </m:r>
                          <m:r>
                            <a:rPr lang="en-GB" sz="2200">
                              <a:solidFill>
                                <a:srgbClr val="182D45"/>
                              </a:solidFill>
                              <a:latin typeface="Cambria Math"/>
                              <a:ea typeface="Cambria Math"/>
                              <a:cs typeface="Cambria Math"/>
                            </a:rPr>
                            <m:t>𝑥</m:t>
                          </m:r>
                        </m:e>
                        <m:sub>
                          <m:r>
                            <a:rPr lang="en-GB" sz="2200">
                              <a:solidFill>
                                <a:srgbClr val="182D45"/>
                              </a:solidFill>
                              <a:latin typeface="Cambria Math"/>
                              <a:ea typeface="Cambria Math"/>
                              <a:cs typeface="Cambria Math"/>
                            </a:rPr>
                            <m:t>2</m:t>
                          </m:r>
                        </m:sub>
                      </m:sSub>
                    </m:oMath>
                  </m:oMathPara>
                </a14:m>
                <a:endParaRPr lang="en-GB" sz="2200" dirty="0"/>
              </a:p>
            </p:txBody>
          </p:sp>
        </mc:Choice>
        <mc:Fallback xmlns="">
          <p:sp>
            <p:nvSpPr>
              <p:cNvPr id="14" name="unit_13" descr="x_2">
                <a:extLst>
                  <a:ext uri="{FF2B5EF4-FFF2-40B4-BE49-F238E27FC236}">
                    <a16:creationId xmlns:a16="http://schemas.microsoft.com/office/drawing/2014/main" id="{252654A7-2B00-4544-ABCE-85336D16C65D}"/>
                  </a:ext>
                </a:extLst>
              </p:cNvPr>
              <p:cNvSpPr>
                <a:spLocks noGrp="1" noRot="1" noChangeAspect="1" noMove="1" noResize="1" noEditPoints="1" noAdjustHandles="1" noChangeArrowheads="1" noChangeShapeType="1" noTextEdit="1"/>
              </p:cNvSpPr>
              <p:nvPr/>
            </p:nvSpPr>
            <p:spPr>
              <a:xfrm>
                <a:off x="828675" y="5019675"/>
                <a:ext cx="533400" cy="533400"/>
              </a:xfrm>
              <a:prstGeom prst="ellipse">
                <a:avLst/>
              </a:prstGeom>
              <a:blipFill>
                <a:blip r:embed="rId4"/>
                <a:stretch>
                  <a:fillRect/>
                </a:stretch>
              </a:blipFill>
              <a:ln w="24765">
                <a:solidFill>
                  <a:srgbClr val="182D45"/>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unit_14" descr="\phi_1(\mathbf{x})">
                <a:extLst>
                  <a:ext uri="{FF2B5EF4-FFF2-40B4-BE49-F238E27FC236}">
                    <a16:creationId xmlns:a16="http://schemas.microsoft.com/office/drawing/2014/main" id="{AE6D9723-BF44-4241-AA66-785A79E08B43}"/>
                  </a:ext>
                </a:extLst>
              </p:cNvPr>
              <p:cNvSpPr>
                <a:spLocks noGrp="1"/>
              </p:cNvSpPr>
              <p:nvPr/>
            </p:nvSpPr>
            <p:spPr>
              <a:xfrm>
                <a:off x="2862262" y="2981325"/>
                <a:ext cx="800100" cy="800100"/>
              </a:xfrm>
              <a:prstGeom prst="ellipse">
                <a:avLst/>
              </a:prstGeom>
              <a:solidFill>
                <a:srgbClr val="EEF8F5"/>
              </a:solidFill>
              <a:ln w="24765">
                <a:solidFill>
                  <a:srgbClr val="087F83"/>
                </a:solidFill>
              </a:ln>
            </p:spPr>
            <p:txBody>
              <a:bodyPr vertOverflow="overflow" horzOverflow="overflow" wrap="none" lIns="0" tIns="0" rIns="0" bIns="0" anchor="ctr">
                <a:noAutofit/>
              </a:bodyPr>
              <a:lstStyle/>
              <a:p>
                <a:pPr algn="ctr"/>
                <a14:m>
                  <m:oMathPara xmlns:m="http://schemas.openxmlformats.org/officeDocument/2006/math">
                    <m:oMath>
                      <m:r>
                        <a:rPr lang="it-IT" sz="2000" b="0" i="1" smtClean="0">
                          <a:solidFill>
                            <a:srgbClr val="087F83"/>
                          </a:solidFill>
                          <a:latin typeface="Cambria Math" panose="02040503050406030204" pitchFamily="18" charset="0"/>
                          <a:ea typeface="Cambria Math"/>
                          <a:cs typeface="Cambria Math"/>
                        </a:rPr>
                        <m:t> </m:t>
                      </m:r>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𝜙</m:t>
                          </m:r>
                        </m:e>
                        <m:sub>
                          <m:r>
                            <a:rPr lang="en-GB" sz="2000">
                              <a:solidFill>
                                <a:srgbClr val="087F83"/>
                              </a:solidFill>
                              <a:latin typeface="Cambria Math"/>
                              <a:ea typeface="Cambria Math"/>
                              <a:cs typeface="Cambria Math"/>
                            </a:rPr>
                            <m:t>1</m:t>
                          </m:r>
                        </m:sub>
                      </m:sSub>
                      <m:d>
                        <m:dPr>
                          <m:ctrlPr>
                            <a:rPr lang="en-GB" sz="2000">
                              <a:solidFill>
                                <a:srgbClr val="087F83"/>
                              </a:solidFill>
                              <a:latin typeface="Cambria Math"/>
                              <a:ea typeface="Cambria Math"/>
                              <a:cs typeface="Cambria Math"/>
                            </a:rPr>
                          </m:ctrlPr>
                        </m:dPr>
                        <m:e>
                          <m:r>
                            <a:rPr lang="en-GB" sz="2000">
                              <a:solidFill>
                                <a:srgbClr val="087F83"/>
                              </a:solidFill>
                              <a:latin typeface="Cambria Math"/>
                              <a:ea typeface="Cambria Math"/>
                              <a:cs typeface="Cambria Math"/>
                            </a:rPr>
                            <m:t>𝐱</m:t>
                          </m:r>
                        </m:e>
                      </m:d>
                    </m:oMath>
                  </m:oMathPara>
                </a14:m>
                <a:endParaRPr lang="en-GB" sz="2000" dirty="0"/>
              </a:p>
            </p:txBody>
          </p:sp>
        </mc:Choice>
        <mc:Fallback xmlns="">
          <p:sp>
            <p:nvSpPr>
              <p:cNvPr id="15" name="unit_14" descr="\phi_1(\mathbf{x})">
                <a:extLst>
                  <a:ext uri="{FF2B5EF4-FFF2-40B4-BE49-F238E27FC236}">
                    <a16:creationId xmlns:a16="http://schemas.microsoft.com/office/drawing/2014/main" id="{AE6D9723-BF44-4241-AA66-785A79E08B43}"/>
                  </a:ext>
                </a:extLst>
              </p:cNvPr>
              <p:cNvSpPr>
                <a:spLocks noGrp="1" noRot="1" noChangeAspect="1" noMove="1" noResize="1" noEditPoints="1" noAdjustHandles="1" noChangeArrowheads="1" noChangeShapeType="1" noTextEdit="1"/>
              </p:cNvSpPr>
              <p:nvPr/>
            </p:nvSpPr>
            <p:spPr>
              <a:xfrm>
                <a:off x="2862262" y="2981325"/>
                <a:ext cx="800100" cy="800100"/>
              </a:xfrm>
              <a:prstGeom prst="ellipse">
                <a:avLst/>
              </a:prstGeom>
              <a:blipFill>
                <a:blip r:embed="rId5"/>
                <a:stretch>
                  <a:fillRect l="-2963"/>
                </a:stretch>
              </a:blipFill>
              <a:ln w="24765">
                <a:solidFill>
                  <a:srgbClr val="087F83"/>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unit_15" descr="\phi_2(\mathbf{x})">
                <a:extLst>
                  <a:ext uri="{FF2B5EF4-FFF2-40B4-BE49-F238E27FC236}">
                    <a16:creationId xmlns:a16="http://schemas.microsoft.com/office/drawing/2014/main" id="{4A6A7EFB-B19C-490F-9C22-91D76B138647}"/>
                  </a:ext>
                </a:extLst>
              </p:cNvPr>
              <p:cNvSpPr>
                <a:spLocks noGrp="1"/>
              </p:cNvSpPr>
              <p:nvPr/>
            </p:nvSpPr>
            <p:spPr>
              <a:xfrm>
                <a:off x="2862262" y="3933825"/>
                <a:ext cx="800100" cy="800100"/>
              </a:xfrm>
              <a:prstGeom prst="ellipse">
                <a:avLst/>
              </a:prstGeom>
              <a:solidFill>
                <a:srgbClr val="EEF8F5"/>
              </a:solidFill>
              <a:ln w="24765">
                <a:solidFill>
                  <a:srgbClr val="087F83"/>
                </a:solidFill>
              </a:ln>
            </p:spPr>
            <p:txBody>
              <a:bodyPr vertOverflow="overflow" horzOverflow="overflow" wrap="none" lIns="0" tIns="0" rIns="0" bIns="0" anchor="ctr">
                <a:noAutofit/>
              </a:bodyPr>
              <a:lstStyle/>
              <a:p>
                <a:pPr algn="ctr"/>
                <a14:m>
                  <m:oMathPara xmlns:m="http://schemas.openxmlformats.org/officeDocument/2006/math">
                    <m:oMath>
                      <m:r>
                        <a:rPr lang="it-IT" sz="2000" b="0" i="1" smtClean="0">
                          <a:solidFill>
                            <a:srgbClr val="087F83"/>
                          </a:solidFill>
                          <a:latin typeface="Cambria Math" panose="02040503050406030204" pitchFamily="18" charset="0"/>
                          <a:ea typeface="Cambria Math"/>
                          <a:cs typeface="Cambria Math"/>
                        </a:rPr>
                        <m:t> </m:t>
                      </m:r>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𝜙</m:t>
                          </m:r>
                        </m:e>
                        <m:sub>
                          <m:r>
                            <a:rPr lang="en-GB" sz="2000">
                              <a:solidFill>
                                <a:srgbClr val="087F83"/>
                              </a:solidFill>
                              <a:latin typeface="Cambria Math"/>
                              <a:ea typeface="Cambria Math"/>
                              <a:cs typeface="Cambria Math"/>
                            </a:rPr>
                            <m:t>2</m:t>
                          </m:r>
                        </m:sub>
                      </m:sSub>
                      <m:d>
                        <m:dPr>
                          <m:ctrlPr>
                            <a:rPr lang="en-GB" sz="2000">
                              <a:solidFill>
                                <a:srgbClr val="087F83"/>
                              </a:solidFill>
                              <a:latin typeface="Cambria Math"/>
                              <a:ea typeface="Cambria Math"/>
                              <a:cs typeface="Cambria Math"/>
                            </a:rPr>
                          </m:ctrlPr>
                        </m:dPr>
                        <m:e>
                          <m:r>
                            <a:rPr lang="en-GB" sz="2000">
                              <a:solidFill>
                                <a:srgbClr val="087F83"/>
                              </a:solidFill>
                              <a:latin typeface="Cambria Math"/>
                              <a:ea typeface="Cambria Math"/>
                              <a:cs typeface="Cambria Math"/>
                            </a:rPr>
                            <m:t>𝐱</m:t>
                          </m:r>
                        </m:e>
                      </m:d>
                    </m:oMath>
                  </m:oMathPara>
                </a14:m>
                <a:endParaRPr lang="en-GB" sz="2000" dirty="0"/>
              </a:p>
            </p:txBody>
          </p:sp>
        </mc:Choice>
        <mc:Fallback xmlns="">
          <p:sp>
            <p:nvSpPr>
              <p:cNvPr id="16" name="unit_15" descr="\phi_2(\mathbf{x})">
                <a:extLst>
                  <a:ext uri="{FF2B5EF4-FFF2-40B4-BE49-F238E27FC236}">
                    <a16:creationId xmlns:a16="http://schemas.microsoft.com/office/drawing/2014/main" id="{4A6A7EFB-B19C-490F-9C22-91D76B138647}"/>
                  </a:ext>
                </a:extLst>
              </p:cNvPr>
              <p:cNvSpPr>
                <a:spLocks noGrp="1" noRot="1" noChangeAspect="1" noMove="1" noResize="1" noEditPoints="1" noAdjustHandles="1" noChangeArrowheads="1" noChangeShapeType="1" noTextEdit="1"/>
              </p:cNvSpPr>
              <p:nvPr/>
            </p:nvSpPr>
            <p:spPr>
              <a:xfrm>
                <a:off x="2862262" y="3933825"/>
                <a:ext cx="800100" cy="800100"/>
              </a:xfrm>
              <a:prstGeom prst="ellipse">
                <a:avLst/>
              </a:prstGeom>
              <a:blipFill>
                <a:blip r:embed="rId6"/>
                <a:stretch>
                  <a:fillRect l="-2963"/>
                </a:stretch>
              </a:blipFill>
              <a:ln w="24765">
                <a:solidFill>
                  <a:srgbClr val="087F83"/>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 name="unit_16" descr="\phi_3(\mathbf{x})">
                <a:extLst>
                  <a:ext uri="{FF2B5EF4-FFF2-40B4-BE49-F238E27FC236}">
                    <a16:creationId xmlns:a16="http://schemas.microsoft.com/office/drawing/2014/main" id="{A4795661-6F5D-41A7-B6D3-BF585E291FD8}"/>
                  </a:ext>
                </a:extLst>
              </p:cNvPr>
              <p:cNvSpPr>
                <a:spLocks noGrp="1"/>
              </p:cNvSpPr>
              <p:nvPr/>
            </p:nvSpPr>
            <p:spPr>
              <a:xfrm>
                <a:off x="2862262" y="4886325"/>
                <a:ext cx="800100" cy="800100"/>
              </a:xfrm>
              <a:prstGeom prst="ellipse">
                <a:avLst/>
              </a:prstGeom>
              <a:solidFill>
                <a:srgbClr val="EEF8F5"/>
              </a:solidFill>
              <a:ln w="24765">
                <a:solidFill>
                  <a:srgbClr val="087F83"/>
                </a:solidFill>
              </a:ln>
            </p:spPr>
            <p:txBody>
              <a:bodyPr vertOverflow="overflow" horzOverflow="overflow" wrap="none" lIns="0" tIns="0" rIns="0" bIns="0" anchor="ctr">
                <a:noAutofit/>
              </a:bodyPr>
              <a:lstStyle/>
              <a:p>
                <a:pPr algn="ctr"/>
                <a14:m>
                  <m:oMathPara xmlns:m="http://schemas.openxmlformats.org/officeDocument/2006/math">
                    <m:oMath>
                      <m:r>
                        <a:rPr lang="it-IT" sz="2000" b="0" i="1" smtClean="0">
                          <a:solidFill>
                            <a:srgbClr val="087F83"/>
                          </a:solidFill>
                          <a:latin typeface="Cambria Math" panose="02040503050406030204" pitchFamily="18" charset="0"/>
                          <a:ea typeface="Cambria Math"/>
                          <a:cs typeface="Cambria Math"/>
                        </a:rPr>
                        <m:t> </m:t>
                      </m:r>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𝜙</m:t>
                          </m:r>
                        </m:e>
                        <m:sub>
                          <m:r>
                            <a:rPr lang="en-GB" sz="2000">
                              <a:solidFill>
                                <a:srgbClr val="087F83"/>
                              </a:solidFill>
                              <a:latin typeface="Cambria Math"/>
                              <a:ea typeface="Cambria Math"/>
                              <a:cs typeface="Cambria Math"/>
                            </a:rPr>
                            <m:t>3</m:t>
                          </m:r>
                        </m:sub>
                      </m:sSub>
                      <m:d>
                        <m:dPr>
                          <m:ctrlPr>
                            <a:rPr lang="en-GB" sz="2000">
                              <a:solidFill>
                                <a:srgbClr val="087F83"/>
                              </a:solidFill>
                              <a:latin typeface="Cambria Math"/>
                              <a:ea typeface="Cambria Math"/>
                              <a:cs typeface="Cambria Math"/>
                            </a:rPr>
                          </m:ctrlPr>
                        </m:dPr>
                        <m:e>
                          <m:r>
                            <a:rPr lang="en-GB" sz="2000">
                              <a:solidFill>
                                <a:srgbClr val="087F83"/>
                              </a:solidFill>
                              <a:latin typeface="Cambria Math"/>
                              <a:ea typeface="Cambria Math"/>
                              <a:cs typeface="Cambria Math"/>
                            </a:rPr>
                            <m:t>𝐱</m:t>
                          </m:r>
                        </m:e>
                      </m:d>
                    </m:oMath>
                  </m:oMathPara>
                </a14:m>
                <a:endParaRPr lang="en-GB" sz="2000" dirty="0"/>
              </a:p>
            </p:txBody>
          </p:sp>
        </mc:Choice>
        <mc:Fallback xmlns="">
          <p:sp>
            <p:nvSpPr>
              <p:cNvPr id="17" name="unit_16" descr="\phi_3(\mathbf{x})">
                <a:extLst>
                  <a:ext uri="{FF2B5EF4-FFF2-40B4-BE49-F238E27FC236}">
                    <a16:creationId xmlns:a16="http://schemas.microsoft.com/office/drawing/2014/main" id="{A4795661-6F5D-41A7-B6D3-BF585E291FD8}"/>
                  </a:ext>
                </a:extLst>
              </p:cNvPr>
              <p:cNvSpPr>
                <a:spLocks noGrp="1" noRot="1" noChangeAspect="1" noMove="1" noResize="1" noEditPoints="1" noAdjustHandles="1" noChangeArrowheads="1" noChangeShapeType="1" noTextEdit="1"/>
              </p:cNvSpPr>
              <p:nvPr/>
            </p:nvSpPr>
            <p:spPr>
              <a:xfrm>
                <a:off x="2862262" y="4886325"/>
                <a:ext cx="800100" cy="800100"/>
              </a:xfrm>
              <a:prstGeom prst="ellipse">
                <a:avLst/>
              </a:prstGeom>
              <a:blipFill>
                <a:blip r:embed="rId7"/>
                <a:stretch>
                  <a:fillRect l="-2963"/>
                </a:stretch>
              </a:blipFill>
              <a:ln w="24765">
                <a:solidFill>
                  <a:srgbClr val="087F83"/>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weighted_output" descr="\sum_{j=1}^{3}\phi_j(\mathbf{x})(\mathbf{W}_{\mathrm{out}})_j">
                <a:extLst>
                  <a:ext uri="{FF2B5EF4-FFF2-40B4-BE49-F238E27FC236}">
                    <a16:creationId xmlns:a16="http://schemas.microsoft.com/office/drawing/2014/main" id="{37FDA004-45DD-43D8-9D49-E1DA05264A58}"/>
                  </a:ext>
                </a:extLst>
              </p:cNvPr>
              <p:cNvSpPr>
                <a:spLocks noGrp="1"/>
              </p:cNvSpPr>
              <p:nvPr/>
            </p:nvSpPr>
            <p:spPr>
              <a:xfrm>
                <a:off x="4991100" y="3810000"/>
                <a:ext cx="2571750" cy="1047750"/>
              </a:xfrm>
              <a:prstGeom prst="ellipse">
                <a:avLst/>
              </a:prstGeom>
              <a:solidFill>
                <a:srgbClr val="F2F4F6"/>
              </a:solidFill>
              <a:ln w="24765">
                <a:solidFill>
                  <a:srgbClr val="182D45"/>
                </a:solidFill>
              </a:ln>
            </p:spPr>
            <p:txBody>
              <a:bodyPr vertOverflow="overflow" horzOverflow="overflow" wrap="none" lIns="0" tIns="0" rIns="0" bIns="0" anchor="ctr">
                <a:noAutofit/>
              </a:bodyPr>
              <a:lstStyle/>
              <a:p>
                <a:pPr algn="ctr"/>
                <a14:m>
                  <m:oMathPara xmlns:m="http://schemas.openxmlformats.org/officeDocument/2006/math">
                    <m:oMath>
                      <m:r>
                        <a:rPr lang="it-IT" sz="1800" b="0" i="1" smtClean="0">
                          <a:solidFill>
                            <a:srgbClr val="182D45"/>
                          </a:solidFill>
                          <a:latin typeface="Cambria Math" panose="02040503050406030204" pitchFamily="18" charset="0"/>
                          <a:ea typeface="Cambria Math"/>
                          <a:cs typeface="Cambria Math"/>
                        </a:rPr>
                        <m:t>      </m:t>
                      </m:r>
                      <m:nary>
                        <m:naryPr>
                          <m:chr m:val="∑"/>
                          <m:limLoc m:val="undOvr"/>
                          <m:ctrlPr>
                            <a:rPr lang="en-GB" sz="1800">
                              <a:solidFill>
                                <a:srgbClr val="182D45"/>
                              </a:solidFill>
                              <a:latin typeface="Cambria Math"/>
                              <a:ea typeface="Cambria Math"/>
                              <a:cs typeface="Cambria Math"/>
                            </a:rPr>
                          </m:ctrlPr>
                        </m:naryPr>
                        <m:sub>
                          <m:r>
                            <a:rPr lang="en-GB" sz="1800">
                              <a:solidFill>
                                <a:srgbClr val="182D45"/>
                              </a:solidFill>
                              <a:latin typeface="Cambria Math"/>
                              <a:ea typeface="Cambria Math"/>
                              <a:cs typeface="Cambria Math"/>
                            </a:rPr>
                            <m:t>𝑗</m:t>
                          </m:r>
                          <m:r>
                            <a:rPr lang="en-GB" sz="1800">
                              <a:solidFill>
                                <a:srgbClr val="182D45"/>
                              </a:solidFill>
                              <a:latin typeface="Cambria Math"/>
                              <a:ea typeface="Cambria Math"/>
                              <a:cs typeface="Cambria Math"/>
                            </a:rPr>
                            <m:t>=1</m:t>
                          </m:r>
                        </m:sub>
                        <m:sup>
                          <m:r>
                            <a:rPr lang="en-GB" sz="1800">
                              <a:solidFill>
                                <a:srgbClr val="182D45"/>
                              </a:solidFill>
                              <a:latin typeface="Cambria Math"/>
                              <a:ea typeface="Cambria Math"/>
                              <a:cs typeface="Cambria Math"/>
                            </a:rPr>
                            <m:t>3</m:t>
                          </m:r>
                        </m:sup>
                        <m:e>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𝜙</m:t>
                              </m:r>
                            </m:e>
                            <m:sub>
                              <m:r>
                                <a:rPr lang="en-GB" sz="1800">
                                  <a:solidFill>
                                    <a:srgbClr val="182D45"/>
                                  </a:solidFill>
                                  <a:latin typeface="Cambria Math"/>
                                  <a:ea typeface="Cambria Math"/>
                                  <a:cs typeface="Cambria Math"/>
                                </a:rPr>
                                <m:t>𝑗</m:t>
                              </m:r>
                            </m:sub>
                          </m:sSub>
                          <m:d>
                            <m:dPr>
                              <m:ctrlPr>
                                <a:rPr lang="en-GB">
                                  <a:solidFill>
                                    <a:srgbClr val="182D45"/>
                                  </a:solidFill>
                                  <a:latin typeface="Cambria Math"/>
                                  <a:ea typeface="Cambria Math"/>
                                  <a:cs typeface="Cambria Math"/>
                                </a:rPr>
                              </m:ctrlPr>
                            </m:dPr>
                            <m:e>
                              <m:r>
                                <a:rPr lang="en-GB">
                                  <a:solidFill>
                                    <a:srgbClr val="182D45"/>
                                  </a:solidFill>
                                  <a:latin typeface="Cambria Math"/>
                                  <a:ea typeface="Cambria Math"/>
                                  <a:cs typeface="Cambria Math"/>
                                </a:rPr>
                                <m:t>𝐱</m:t>
                              </m:r>
                            </m:e>
                          </m:d>
                          <m:sSub>
                            <m:sSubPr>
                              <m:ctrlPr>
                                <a:rPr lang="en-GB" i="1">
                                  <a:solidFill>
                                    <a:srgbClr val="182D45"/>
                                  </a:solidFill>
                                  <a:latin typeface="Cambria Math" panose="02040503050406030204" pitchFamily="18" charset="0"/>
                                  <a:ea typeface="Cambria Math"/>
                                  <a:cs typeface="Cambria Math"/>
                                </a:rPr>
                              </m:ctrlPr>
                            </m:sSubPr>
                            <m:e>
                              <m:d>
                                <m:dPr>
                                  <m:ctrlPr>
                                    <a:rPr lang="en-GB" i="1">
                                      <a:solidFill>
                                        <a:srgbClr val="182D45"/>
                                      </a:solidFill>
                                      <a:latin typeface="Cambria Math" panose="02040503050406030204" pitchFamily="18" charset="0"/>
                                      <a:ea typeface="Cambria Math"/>
                                      <a:cs typeface="Cambria Math"/>
                                    </a:rPr>
                                  </m:ctrlPr>
                                </m:dPr>
                                <m:e>
                                  <m:sSub>
                                    <m:sSubPr>
                                      <m:ctrlPr>
                                        <a:rPr lang="en-GB">
                                          <a:solidFill>
                                            <a:srgbClr val="182D45"/>
                                          </a:solidFill>
                                          <a:latin typeface="Cambria Math"/>
                                          <a:ea typeface="Cambria Math"/>
                                          <a:cs typeface="Cambria Math"/>
                                        </a:rPr>
                                      </m:ctrlPr>
                                    </m:sSubPr>
                                    <m:e>
                                      <m:r>
                                        <a:rPr lang="en-GB">
                                          <a:solidFill>
                                            <a:srgbClr val="182D45"/>
                                          </a:solidFill>
                                          <a:latin typeface="Cambria Math"/>
                                          <a:ea typeface="Cambria Math"/>
                                          <a:cs typeface="Cambria Math"/>
                                        </a:rPr>
                                        <m:t>𝐖</m:t>
                                      </m:r>
                                    </m:e>
                                    <m:sub>
                                      <m:r>
                                        <m:rPr>
                                          <m:sty m:val="p"/>
                                        </m:rPr>
                                        <a:rPr lang="en-GB">
                                          <a:solidFill>
                                            <a:srgbClr val="182D45"/>
                                          </a:solidFill>
                                          <a:latin typeface="Cambria Math"/>
                                          <a:ea typeface="Cambria Math"/>
                                          <a:cs typeface="Cambria Math"/>
                                        </a:rPr>
                                        <m:t>out</m:t>
                                      </m:r>
                                    </m:sub>
                                  </m:sSub>
                                </m:e>
                              </m:d>
                            </m:e>
                            <m:sub>
                              <m:r>
                                <a:rPr lang="en-GB">
                                  <a:solidFill>
                                    <a:srgbClr val="182D45"/>
                                  </a:solidFill>
                                  <a:latin typeface="Cambria Math"/>
                                  <a:ea typeface="Cambria Math"/>
                                  <a:cs typeface="Cambria Math"/>
                                </a:rPr>
                                <m:t>𝑗</m:t>
                              </m:r>
                            </m:sub>
                          </m:sSub>
                        </m:e>
                      </m:nary>
                    </m:oMath>
                  </m:oMathPara>
                </a14:m>
                <a:endParaRPr lang="en-GB" sz="1800" dirty="0"/>
              </a:p>
            </p:txBody>
          </p:sp>
        </mc:Choice>
        <mc:Fallback xmlns="">
          <p:sp>
            <p:nvSpPr>
              <p:cNvPr id="18" name="weighted_output" descr="\sum_{j=1}^{3}\phi_j(\mathbf{x})(\mathbf{W}_{\mathrm{out}})_j">
                <a:extLst>
                  <a:ext uri="{FF2B5EF4-FFF2-40B4-BE49-F238E27FC236}">
                    <a16:creationId xmlns:a16="http://schemas.microsoft.com/office/drawing/2014/main" id="{37FDA004-45DD-43D8-9D49-E1DA05264A58}"/>
                  </a:ext>
                </a:extLst>
              </p:cNvPr>
              <p:cNvSpPr>
                <a:spLocks noGrp="1" noRot="1" noChangeAspect="1" noMove="1" noResize="1" noEditPoints="1" noAdjustHandles="1" noChangeArrowheads="1" noChangeShapeType="1" noTextEdit="1"/>
              </p:cNvSpPr>
              <p:nvPr/>
            </p:nvSpPr>
            <p:spPr>
              <a:xfrm>
                <a:off x="4991100" y="3810000"/>
                <a:ext cx="2571750" cy="1047750"/>
              </a:xfrm>
              <a:prstGeom prst="ellipse">
                <a:avLst/>
              </a:prstGeom>
              <a:blipFill>
                <a:blip r:embed="rId8"/>
                <a:stretch>
                  <a:fillRect/>
                </a:stretch>
              </a:blipFill>
              <a:ln w="24765">
                <a:solidFill>
                  <a:srgbClr val="182D45"/>
                </a:solidFill>
              </a:ln>
            </p:spPr>
            <p:txBody>
              <a:bodyPr/>
              <a:lstStyle/>
              <a:p>
                <a:r>
                  <a:rPr lang="it-IT">
                    <a:noFill/>
                  </a:rPr>
                  <a:t> </a:t>
                </a:r>
              </a:p>
            </p:txBody>
          </p:sp>
        </mc:Fallback>
      </mc:AlternateContent>
      <p:sp>
        <p:nvSpPr>
          <p:cNvPr id="19" name="title">
            <a:extLst>
              <a:ext uri="{FF2B5EF4-FFF2-40B4-BE49-F238E27FC236}">
                <a16:creationId xmlns:a16="http://schemas.microsoft.com/office/drawing/2014/main" id="{8F7541A6-1671-4D58-B426-2716D9FB7860}"/>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The output layer</a:t>
            </a:r>
          </a:p>
        </p:txBody>
      </p:sp>
      <p:sp>
        <p:nvSpPr>
          <p:cNvPr id="20" name="lead">
            <a:extLst>
              <a:ext uri="{FF2B5EF4-FFF2-40B4-BE49-F238E27FC236}">
                <a16:creationId xmlns:a16="http://schemas.microsoft.com/office/drawing/2014/main" id="{71C83F32-EBB4-4959-9995-14B4AE893E63}"/>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Once we have the</a:t>
            </a:r>
            <a:r>
              <a:rPr lang="it-IT" sz="2175" b="0" dirty="0">
                <a:solidFill>
                  <a:srgbClr val="526276"/>
                </a:solidFill>
                <a:latin typeface="DejaVu Sans"/>
                <a:ea typeface="DejaVu Sans"/>
                <a:cs typeface="DejaVu Sans"/>
              </a:rPr>
              <a:t> outputs of the </a:t>
            </a:r>
            <a:r>
              <a:rPr lang="it-IT" sz="2175" b="0" dirty="0" err="1">
                <a:solidFill>
                  <a:srgbClr val="526276"/>
                </a:solidFill>
                <a:latin typeface="DejaVu Sans"/>
                <a:ea typeface="DejaVu Sans"/>
                <a:cs typeface="DejaVu Sans"/>
              </a:rPr>
              <a:t>neurons</a:t>
            </a:r>
            <a:r>
              <a:rPr sz="2175" b="0" dirty="0">
                <a:solidFill>
                  <a:srgbClr val="526276"/>
                </a:solidFill>
                <a:latin typeface="DejaVu Sans"/>
                <a:ea typeface="DejaVu Sans"/>
                <a:cs typeface="DejaVu Sans"/>
              </a:rPr>
              <a:t>,</a:t>
            </a:r>
            <a:endParaRPr lang="it-IT" sz="2175" b="0" dirty="0">
              <a:solidFill>
                <a:srgbClr val="526276"/>
              </a:solidFill>
              <a:latin typeface="DejaVu Sans"/>
              <a:ea typeface="DejaVu Sans"/>
              <a:cs typeface="DejaVu Sans"/>
            </a:endParaRPr>
          </a:p>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we form a </a:t>
            </a:r>
            <a:r>
              <a:rPr sz="2175" b="0" dirty="0">
                <a:solidFill>
                  <a:srgbClr val="FF0000"/>
                </a:solidFill>
                <a:latin typeface="DejaVu Sans"/>
                <a:ea typeface="DejaVu Sans"/>
                <a:cs typeface="DejaVu Sans"/>
              </a:rPr>
              <a:t>weighted sum</a:t>
            </a:r>
            <a:r>
              <a:rPr lang="it-IT" sz="2175" b="0" dirty="0">
                <a:solidFill>
                  <a:srgbClr val="526276"/>
                </a:solidFill>
                <a:latin typeface="DejaVu Sans"/>
                <a:ea typeface="DejaVu Sans"/>
                <a:cs typeface="DejaVu Sans"/>
              </a:rPr>
              <a:t> </a:t>
            </a:r>
            <a:r>
              <a:rPr sz="2175" b="0" dirty="0">
                <a:solidFill>
                  <a:srgbClr val="526276"/>
                </a:solidFill>
                <a:latin typeface="DejaVu Sans"/>
                <a:ea typeface="DejaVu Sans"/>
                <a:cs typeface="DejaVu Sans"/>
              </a:rPr>
              <a:t>and add </a:t>
            </a:r>
            <a:r>
              <a:rPr lang="it-IT" sz="2175" dirty="0">
                <a:solidFill>
                  <a:srgbClr val="526276"/>
                </a:solidFill>
                <a:latin typeface="DejaVu Sans"/>
                <a:ea typeface="DejaVu Sans"/>
                <a:cs typeface="DejaVu Sans"/>
              </a:rPr>
              <a:t>a</a:t>
            </a:r>
            <a:r>
              <a:rPr lang="it-IT" sz="2175" b="0" dirty="0">
                <a:solidFill>
                  <a:srgbClr val="526276"/>
                </a:solidFill>
                <a:latin typeface="DejaVu Sans"/>
                <a:ea typeface="DejaVu Sans"/>
                <a:cs typeface="DejaVu Sans"/>
              </a:rPr>
              <a:t> </a:t>
            </a:r>
            <a:r>
              <a:rPr sz="2175" b="0" dirty="0">
                <a:solidFill>
                  <a:srgbClr val="FF0000"/>
                </a:solidFill>
                <a:latin typeface="DejaVu Sans"/>
                <a:ea typeface="DejaVu Sans"/>
                <a:cs typeface="DejaVu Sans"/>
              </a:rPr>
              <a:t>bias</a:t>
            </a:r>
            <a:r>
              <a:rPr lang="it-IT" sz="2175" b="0" dirty="0">
                <a:solidFill>
                  <a:srgbClr val="526276"/>
                </a:solidFill>
                <a:latin typeface="DejaVu Sans"/>
                <a:ea typeface="DejaVu Sans"/>
                <a:cs typeface="DejaVu Sans"/>
              </a:rPr>
              <a:t>, to </a:t>
            </a:r>
            <a:r>
              <a:rPr lang="it-IT" sz="2175" b="0" dirty="0" err="1">
                <a:solidFill>
                  <a:srgbClr val="526276"/>
                </a:solidFill>
                <a:latin typeface="DejaVu Sans"/>
                <a:ea typeface="DejaVu Sans"/>
                <a:cs typeface="DejaVu Sans"/>
              </a:rPr>
              <a:t>obtain</a:t>
            </a:r>
            <a:r>
              <a:rPr lang="it-IT" sz="2175" b="0" dirty="0">
                <a:solidFill>
                  <a:srgbClr val="526276"/>
                </a:solidFill>
                <a:latin typeface="DejaVu Sans"/>
                <a:ea typeface="DejaVu Sans"/>
                <a:cs typeface="DejaVu Sans"/>
              </a:rPr>
              <a:t> the output</a:t>
            </a:r>
            <a:r>
              <a:rPr sz="2175" b="0" dirty="0">
                <a:solidFill>
                  <a:srgbClr val="526276"/>
                </a:solidFill>
                <a:latin typeface="DejaVu Sans"/>
                <a:ea typeface="DejaVu Sans"/>
                <a:cs typeface="DejaVu Sans"/>
              </a:rPr>
              <a:t>.</a:t>
            </a:r>
          </a:p>
        </p:txBody>
      </p:sp>
      <mc:AlternateContent xmlns:mc="http://schemas.openxmlformats.org/markup-compatibility/2006" xmlns:a14="http://schemas.microsoft.com/office/drawing/2010/main">
        <mc:Choice Requires="a14">
          <p:sp>
            <p:nvSpPr>
              <p:cNvPr id="21" name="output_formula" descr="f(\mathbf{x})=(\phi_1(\mathbf{x}),\phi_2(\mathbf{x}),\phi_3(\mathbf{x}))\mathbf{W}_{\mathrm{out}}+b_{\mathrm{out}}">
                <a:extLst>
                  <a:ext uri="{FF2B5EF4-FFF2-40B4-BE49-F238E27FC236}">
                    <a16:creationId xmlns:a16="http://schemas.microsoft.com/office/drawing/2014/main" id="{7124D09D-4CF1-4534-8B43-28EA30AD1830}"/>
                  </a:ext>
                </a:extLst>
              </p:cNvPr>
              <p:cNvSpPr>
                <a:spLocks noGrp="1"/>
              </p:cNvSpPr>
              <p:nvPr/>
            </p:nvSpPr>
            <p:spPr>
              <a:xfrm>
                <a:off x="476250" y="1876424"/>
                <a:ext cx="11239500" cy="723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smtClean="0">
                          <a:solidFill>
                            <a:srgbClr val="087F83"/>
                          </a:solidFill>
                          <a:latin typeface="Cambria Math"/>
                          <a:ea typeface="Cambria Math"/>
                          <a:cs typeface="Cambria Math"/>
                        </a:rPr>
                        <m:t>𝑓</m:t>
                      </m:r>
                      <m:d>
                        <m:dPr>
                          <m:ctrlPr>
                            <a:rPr lang="en-GB" sz="2500" smtClean="0">
                              <a:solidFill>
                                <a:srgbClr val="087F83"/>
                              </a:solidFill>
                              <a:latin typeface="Cambria Math"/>
                              <a:ea typeface="Cambria Math"/>
                              <a:cs typeface="Cambria Math"/>
                            </a:rPr>
                          </m:ctrlPr>
                        </m:dPr>
                        <m:e>
                          <m:r>
                            <a:rPr lang="en-GB" sz="2500" smtClean="0">
                              <a:solidFill>
                                <a:srgbClr val="087F83"/>
                              </a:solidFill>
                              <a:latin typeface="Cambria Math"/>
                              <a:ea typeface="Cambria Math"/>
                              <a:cs typeface="Cambria Math"/>
                            </a:rPr>
                            <m:t>𝐱</m:t>
                          </m:r>
                        </m:e>
                      </m:d>
                      <m:r>
                        <a:rPr lang="en-GB" sz="2500" smtClean="0">
                          <a:solidFill>
                            <a:srgbClr val="087F83"/>
                          </a:solidFill>
                          <a:latin typeface="Cambria Math"/>
                          <a:ea typeface="Cambria Math"/>
                          <a:cs typeface="Cambria Math"/>
                        </a:rPr>
                        <m:t>=</m:t>
                      </m:r>
                      <m:nary>
                        <m:naryPr>
                          <m:chr m:val="∑"/>
                          <m:limLoc m:val="undOvr"/>
                          <m:ctrlPr>
                            <a:rPr lang="en-GB" sz="2500">
                              <a:solidFill>
                                <a:srgbClr val="087F83"/>
                              </a:solidFill>
                              <a:latin typeface="Cambria Math"/>
                              <a:ea typeface="Cambria Math"/>
                              <a:cs typeface="Cambria Math"/>
                            </a:rPr>
                          </m:ctrlPr>
                        </m:naryPr>
                        <m:sub>
                          <m:r>
                            <a:rPr lang="en-GB" sz="2500">
                              <a:solidFill>
                                <a:srgbClr val="087F83"/>
                              </a:solidFill>
                              <a:latin typeface="Cambria Math"/>
                              <a:ea typeface="Cambria Math"/>
                              <a:cs typeface="Cambria Math"/>
                            </a:rPr>
                            <m:t>𝑗</m:t>
                          </m:r>
                          <m:r>
                            <a:rPr lang="en-GB" sz="2500">
                              <a:solidFill>
                                <a:srgbClr val="087F83"/>
                              </a:solidFill>
                              <a:latin typeface="Cambria Math"/>
                              <a:ea typeface="Cambria Math"/>
                              <a:cs typeface="Cambria Math"/>
                            </a:rPr>
                            <m:t>=1</m:t>
                          </m:r>
                        </m:sub>
                        <m:sup>
                          <m:r>
                            <a:rPr lang="en-GB" sz="2500">
                              <a:solidFill>
                                <a:srgbClr val="087F83"/>
                              </a:solidFill>
                              <a:latin typeface="Cambria Math"/>
                              <a:ea typeface="Cambria Math"/>
                              <a:cs typeface="Cambria Math"/>
                            </a:rPr>
                            <m:t>3</m:t>
                          </m:r>
                        </m:sup>
                        <m:e>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𝜙</m:t>
                              </m:r>
                            </m:e>
                            <m:sub>
                              <m:r>
                                <a:rPr lang="en-GB" sz="2500">
                                  <a:solidFill>
                                    <a:srgbClr val="087F83"/>
                                  </a:solidFill>
                                  <a:latin typeface="Cambria Math"/>
                                  <a:ea typeface="Cambria Math"/>
                                  <a:cs typeface="Cambria Math"/>
                                </a:rPr>
                                <m:t>𝑗</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sSub>
                            <m:sSubPr>
                              <m:ctrlPr>
                                <a:rPr lang="en-GB" sz="2500" i="1">
                                  <a:solidFill>
                                    <a:srgbClr val="087F83"/>
                                  </a:solidFill>
                                  <a:latin typeface="Cambria Math" panose="02040503050406030204" pitchFamily="18" charset="0"/>
                                  <a:ea typeface="Cambria Math"/>
                                  <a:cs typeface="Cambria Math"/>
                                </a:rPr>
                              </m:ctrlPr>
                            </m:sSubPr>
                            <m:e>
                              <m:d>
                                <m:dPr>
                                  <m:ctrlPr>
                                    <a:rPr lang="en-GB" sz="2500" i="1">
                                      <a:solidFill>
                                        <a:srgbClr val="087F83"/>
                                      </a:solidFill>
                                      <a:latin typeface="Cambria Math" panose="02040503050406030204" pitchFamily="18" charset="0"/>
                                      <a:ea typeface="Cambria Math"/>
                                      <a:cs typeface="Cambria Math"/>
                                    </a:rPr>
                                  </m:ctrlPr>
                                </m:dPr>
                                <m:e>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𝐖</m:t>
                                      </m:r>
                                    </m:e>
                                    <m:sub>
                                      <m:r>
                                        <m:rPr>
                                          <m:sty m:val="p"/>
                                        </m:rPr>
                                        <a:rPr lang="en-GB" sz="2500">
                                          <a:solidFill>
                                            <a:srgbClr val="087F83"/>
                                          </a:solidFill>
                                          <a:latin typeface="Cambria Math"/>
                                          <a:ea typeface="Cambria Math"/>
                                          <a:cs typeface="Cambria Math"/>
                                        </a:rPr>
                                        <m:t>out</m:t>
                                      </m:r>
                                    </m:sub>
                                  </m:sSub>
                                </m:e>
                              </m:d>
                            </m:e>
                            <m:sub>
                              <m:r>
                                <a:rPr lang="en-GB" sz="2500">
                                  <a:solidFill>
                                    <a:srgbClr val="087F83"/>
                                  </a:solidFill>
                                  <a:latin typeface="Cambria Math"/>
                                  <a:ea typeface="Cambria Math"/>
                                  <a:cs typeface="Cambria Math"/>
                                </a:rPr>
                                <m:t>𝑗</m:t>
                              </m:r>
                            </m:sub>
                          </m:sSub>
                        </m:e>
                      </m:nary>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𝑏</m:t>
                          </m:r>
                        </m:e>
                        <m:sub>
                          <m:r>
                            <m:rPr>
                              <m:sty m:val="p"/>
                            </m:rPr>
                            <a:rPr lang="en-GB" sz="2500">
                              <a:solidFill>
                                <a:srgbClr val="087F83"/>
                              </a:solidFill>
                              <a:latin typeface="Cambria Math"/>
                              <a:ea typeface="Cambria Math"/>
                              <a:cs typeface="Cambria Math"/>
                            </a:rPr>
                            <m:t>out</m:t>
                          </m:r>
                        </m:sub>
                      </m:sSub>
                      <m:r>
                        <a:rPr lang="it-IT" sz="2500" b="0" i="1" smtClean="0">
                          <a:solidFill>
                            <a:srgbClr val="087F83"/>
                          </a:solidFill>
                          <a:latin typeface="Cambria Math" panose="02040503050406030204" pitchFamily="18" charset="0"/>
                          <a:ea typeface="Cambria Math"/>
                          <a:cs typeface="Cambria Math"/>
                        </a:rPr>
                        <m:t>=</m:t>
                      </m:r>
                      <m:d>
                        <m:dPr>
                          <m:ctrlPr>
                            <a:rPr lang="en-GB" sz="2500" i="1">
                              <a:solidFill>
                                <a:srgbClr val="087F83"/>
                              </a:solidFill>
                              <a:latin typeface="Cambria Math" panose="02040503050406030204" pitchFamily="18" charset="0"/>
                              <a:ea typeface="Cambria Math"/>
                              <a:cs typeface="Cambria Math"/>
                            </a:rPr>
                          </m:ctrlPr>
                        </m:dPr>
                        <m:e>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𝜙</m:t>
                              </m:r>
                            </m:e>
                            <m:sub>
                              <m:r>
                                <a:rPr lang="en-GB" sz="2500">
                                  <a:solidFill>
                                    <a:srgbClr val="087F83"/>
                                  </a:solidFill>
                                  <a:latin typeface="Cambria Math"/>
                                  <a:ea typeface="Cambria Math"/>
                                  <a:cs typeface="Cambria Math"/>
                                </a:rPr>
                                <m:t>1</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𝜙</m:t>
                              </m:r>
                            </m:e>
                            <m:sub>
                              <m:r>
                                <a:rPr lang="en-GB" sz="2500">
                                  <a:solidFill>
                                    <a:srgbClr val="087F83"/>
                                  </a:solidFill>
                                  <a:latin typeface="Cambria Math"/>
                                  <a:ea typeface="Cambria Math"/>
                                  <a:cs typeface="Cambria Math"/>
                                </a:rPr>
                                <m:t>2</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𝜙</m:t>
                              </m:r>
                            </m:e>
                            <m:sub>
                              <m:r>
                                <a:rPr lang="en-GB" sz="2500">
                                  <a:solidFill>
                                    <a:srgbClr val="087F83"/>
                                  </a:solidFill>
                                  <a:latin typeface="Cambria Math"/>
                                  <a:ea typeface="Cambria Math"/>
                                  <a:cs typeface="Cambria Math"/>
                                </a:rPr>
                                <m:t>3</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e>
                      </m:d>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𝐖</m:t>
                          </m:r>
                        </m:e>
                        <m:sub>
                          <m:r>
                            <m:rPr>
                              <m:sty m:val="p"/>
                            </m:rPr>
                            <a:rPr lang="en-GB" sz="2500">
                              <a:solidFill>
                                <a:srgbClr val="087F83"/>
                              </a:solidFill>
                              <a:latin typeface="Cambria Math"/>
                              <a:ea typeface="Cambria Math"/>
                              <a:cs typeface="Cambria Math"/>
                            </a:rPr>
                            <m:t>out</m:t>
                          </m:r>
                        </m:sub>
                      </m:sSub>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𝑏</m:t>
                          </m:r>
                        </m:e>
                        <m:sub>
                          <m:r>
                            <m:rPr>
                              <m:sty m:val="p"/>
                            </m:rPr>
                            <a:rPr lang="en-GB" sz="2500">
                              <a:solidFill>
                                <a:srgbClr val="087F83"/>
                              </a:solidFill>
                              <a:latin typeface="Cambria Math"/>
                              <a:ea typeface="Cambria Math"/>
                              <a:cs typeface="Cambria Math"/>
                            </a:rPr>
                            <m:t>out</m:t>
                          </m:r>
                        </m:sub>
                      </m:sSub>
                    </m:oMath>
                  </m:oMathPara>
                </a14:m>
                <a:endParaRPr lang="en-GB" sz="2500" dirty="0"/>
              </a:p>
            </p:txBody>
          </p:sp>
        </mc:Choice>
        <mc:Fallback xmlns="">
          <p:sp>
            <p:nvSpPr>
              <p:cNvPr id="21" name="output_formula" descr="f(\mathbf{x})=(\phi_1(\mathbf{x}),\phi_2(\mathbf{x}),\phi_3(\mathbf{x}))\mathbf{W}_{\mathrm{out}}+b_{\mathrm{out}}">
                <a:extLst>
                  <a:ext uri="{FF2B5EF4-FFF2-40B4-BE49-F238E27FC236}">
                    <a16:creationId xmlns:a16="http://schemas.microsoft.com/office/drawing/2014/main" id="{7124D09D-4CF1-4534-8B43-28EA30AD1830}"/>
                  </a:ext>
                </a:extLst>
              </p:cNvPr>
              <p:cNvSpPr>
                <a:spLocks noGrp="1" noRot="1" noChangeAspect="1" noMove="1" noResize="1" noEditPoints="1" noAdjustHandles="1" noChangeArrowheads="1" noChangeShapeType="1" noTextEdit="1"/>
              </p:cNvSpPr>
              <p:nvPr/>
            </p:nvSpPr>
            <p:spPr>
              <a:xfrm>
                <a:off x="476250" y="1876424"/>
                <a:ext cx="11239500" cy="723900"/>
              </a:xfrm>
              <a:prstGeom prst="rect">
                <a:avLst/>
              </a:prstGeom>
              <a:blipFill>
                <a:blip r:embed="rId9"/>
                <a:stretch>
                  <a:fillRect t="-21849" b="-26891"/>
                </a:stretch>
              </a:blipFill>
              <a:ln w="0">
                <a:noFill/>
              </a:ln>
            </p:spPr>
            <p:txBody>
              <a:bodyPr/>
              <a:lstStyle/>
              <a:p>
                <a:r>
                  <a:rPr lang="it-IT">
                    <a:noFill/>
                  </a:rPr>
                  <a:t> </a:t>
                </a:r>
              </a:p>
            </p:txBody>
          </p:sp>
        </mc:Fallback>
      </mc:AlternateContent>
      <p:sp>
        <p:nvSpPr>
          <p:cNvPr id="22" name="parameter_label">
            <a:extLst>
              <a:ext uri="{FF2B5EF4-FFF2-40B4-BE49-F238E27FC236}">
                <a16:creationId xmlns:a16="http://schemas.microsoft.com/office/drawing/2014/main" id="{CF9C63DA-9B95-4854-B6C4-50E08571E28C}"/>
              </a:ext>
            </a:extLst>
          </p:cNvPr>
          <p:cNvSpPr>
            <a:spLocks noGrp="1"/>
          </p:cNvSpPr>
          <p:nvPr/>
        </p:nvSpPr>
        <p:spPr>
          <a:xfrm>
            <a:off x="6191250" y="2781300"/>
            <a:ext cx="5619750" cy="400050"/>
          </a:xfrm>
          <a:prstGeom prst="rect">
            <a:avLst/>
          </a:prstGeom>
          <a:noFill/>
          <a:ln w="0">
            <a:noFill/>
          </a:ln>
        </p:spPr>
        <p:txBody>
          <a:bodyPr anchor="ctr">
            <a:noAutofit/>
          </a:bodyPr>
          <a:lstStyle/>
          <a:p>
            <a:pPr algn="ctr">
              <a:defRPr sz="1950" b="0">
                <a:solidFill>
                  <a:srgbClr val="182D45"/>
                </a:solidFill>
                <a:latin typeface="DejaVu Sans"/>
                <a:ea typeface="DejaVu Sans"/>
                <a:cs typeface="DejaVu Sans"/>
              </a:defRPr>
            </a:pPr>
            <a:r>
              <a:rPr sz="1950" b="0" dirty="0">
                <a:solidFill>
                  <a:srgbClr val="182D45"/>
                </a:solidFill>
                <a:latin typeface="DejaVu Sans"/>
                <a:ea typeface="DejaVu Sans"/>
                <a:cs typeface="DejaVu Sans"/>
              </a:rPr>
              <a:t>Output weights and bias:</a:t>
            </a:r>
          </a:p>
        </p:txBody>
      </p:sp>
      <mc:AlternateContent xmlns:mc="http://schemas.openxmlformats.org/markup-compatibility/2006" xmlns:a14="http://schemas.microsoft.com/office/drawing/2010/main">
        <mc:Choice Requires="a14">
          <p:sp>
            <p:nvSpPr>
              <p:cNvPr id="23" name="output_parameters" descr="\mathbf{W}_{\mathrm{out}}\in\mathbb{R}^{3\times1},\quad b_{\mathrm{out}}\in\mathbb{R}">
                <a:extLst>
                  <a:ext uri="{FF2B5EF4-FFF2-40B4-BE49-F238E27FC236}">
                    <a16:creationId xmlns:a16="http://schemas.microsoft.com/office/drawing/2014/main" id="{F84CAC02-8AA5-415B-ADA6-FE0936FB21A1}"/>
                  </a:ext>
                </a:extLst>
              </p:cNvPr>
              <p:cNvSpPr>
                <a:spLocks noGrp="1"/>
              </p:cNvSpPr>
              <p:nvPr/>
            </p:nvSpPr>
            <p:spPr>
              <a:xfrm>
                <a:off x="6191250" y="3190875"/>
                <a:ext cx="5619750" cy="571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𝐖</m:t>
                          </m:r>
                        </m:e>
                        <m:sub>
                          <m:r>
                            <m:rPr>
                              <m:sty m:val="p"/>
                            </m:rPr>
                            <a:rPr lang="en-GB" sz="2500">
                              <a:solidFill>
                                <a:srgbClr val="087F83"/>
                              </a:solidFill>
                              <a:latin typeface="Cambria Math"/>
                              <a:ea typeface="Cambria Math"/>
                              <a:cs typeface="Cambria Math"/>
                            </a:rPr>
                            <m:t>out</m:t>
                          </m:r>
                        </m:sub>
                      </m:sSub>
                      <m:r>
                        <a:rPr lang="en-GB" sz="2500">
                          <a:solidFill>
                            <a:srgbClr val="087F83"/>
                          </a:solidFill>
                          <a:latin typeface="Cambria Math"/>
                          <a:ea typeface="Cambria Math"/>
                          <a:cs typeface="Cambria Math"/>
                        </a:rPr>
                        <m:t>∈</m:t>
                      </m:r>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ℝ</m:t>
                          </m:r>
                        </m:e>
                        <m:sup>
                          <m:r>
                            <a:rPr lang="en-GB" sz="2500">
                              <a:solidFill>
                                <a:srgbClr val="087F83"/>
                              </a:solidFill>
                              <a:latin typeface="Cambria Math"/>
                              <a:ea typeface="Cambria Math"/>
                              <a:cs typeface="Cambria Math"/>
                            </a:rPr>
                            <m:t>3×1</m:t>
                          </m:r>
                        </m:sup>
                      </m:sSup>
                      <m:r>
                        <a:rPr lang="en-GB" sz="2500">
                          <a:solidFill>
                            <a:srgbClr val="087F83"/>
                          </a:solidFill>
                          <a:latin typeface="Cambria Math"/>
                          <a:ea typeface="Cambria Math"/>
                          <a:cs typeface="Cambria Math"/>
                        </a:rPr>
                        <m:t>, </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𝑏</m:t>
                          </m:r>
                        </m:e>
                        <m:sub>
                          <m:r>
                            <m:rPr>
                              <m:sty m:val="p"/>
                            </m:rPr>
                            <a:rPr lang="en-GB" sz="2500">
                              <a:solidFill>
                                <a:srgbClr val="087F83"/>
                              </a:solidFill>
                              <a:latin typeface="Cambria Math"/>
                              <a:ea typeface="Cambria Math"/>
                              <a:cs typeface="Cambria Math"/>
                            </a:rPr>
                            <m:t>out</m:t>
                          </m:r>
                        </m:sub>
                      </m:sSub>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ℝ</m:t>
                      </m:r>
                    </m:oMath>
                  </m:oMathPara>
                </a14:m>
                <a:endParaRPr lang="en-GB" sz="2500" dirty="0"/>
              </a:p>
            </p:txBody>
          </p:sp>
        </mc:Choice>
        <mc:Fallback xmlns="">
          <p:sp>
            <p:nvSpPr>
              <p:cNvPr id="23" name="output_parameters" descr="\mathbf{W}_{\mathrm{out}}\in\mathbb{R}^{3\times1},\quad b_{\mathrm{out}}\in\mathbb{R}">
                <a:extLst>
                  <a:ext uri="{FF2B5EF4-FFF2-40B4-BE49-F238E27FC236}">
                    <a16:creationId xmlns:a16="http://schemas.microsoft.com/office/drawing/2014/main" id="{F84CAC02-8AA5-415B-ADA6-FE0936FB21A1}"/>
                  </a:ext>
                </a:extLst>
              </p:cNvPr>
              <p:cNvSpPr>
                <a:spLocks noGrp="1" noRot="1" noChangeAspect="1" noMove="1" noResize="1" noEditPoints="1" noAdjustHandles="1" noChangeArrowheads="1" noChangeShapeType="1" noTextEdit="1"/>
              </p:cNvSpPr>
              <p:nvPr/>
            </p:nvSpPr>
            <p:spPr>
              <a:xfrm>
                <a:off x="6191250" y="3190875"/>
                <a:ext cx="5619750" cy="571500"/>
              </a:xfrm>
              <a:prstGeom prst="rect">
                <a:avLst/>
              </a:prstGeom>
              <a:blipFill>
                <a:blip r:embed="rId10"/>
                <a:stretch>
                  <a:fillRect/>
                </a:stretch>
              </a:blipFill>
              <a:ln w="0">
                <a:noFill/>
              </a:ln>
            </p:spPr>
            <p:txBody>
              <a:bodyPr/>
              <a:lstStyle/>
              <a:p>
                <a:r>
                  <a:rPr lang="it-IT">
                    <a:noFill/>
                  </a:rPr>
                  <a:t> </a:t>
                </a:r>
              </a:p>
            </p:txBody>
          </p:sp>
        </mc:Fallback>
      </mc:AlternateContent>
      <p:sp>
        <p:nvSpPr>
          <p:cNvPr id="25" name="input_label">
            <a:extLst>
              <a:ext uri="{FF2B5EF4-FFF2-40B4-BE49-F238E27FC236}">
                <a16:creationId xmlns:a16="http://schemas.microsoft.com/office/drawing/2014/main" id="{0A0F8532-C56A-4587-B75D-2E77EC5913B2}"/>
              </a:ext>
            </a:extLst>
          </p:cNvPr>
          <p:cNvSpPr>
            <a:spLocks noGrp="1"/>
          </p:cNvSpPr>
          <p:nvPr/>
        </p:nvSpPr>
        <p:spPr>
          <a:xfrm>
            <a:off x="447675" y="5619750"/>
            <a:ext cx="1295400" cy="400050"/>
          </a:xfrm>
          <a:prstGeom prst="rect">
            <a:avLst/>
          </a:prstGeom>
          <a:noFill/>
          <a:ln w="0">
            <a:noFill/>
          </a:ln>
        </p:spPr>
        <p:txBody>
          <a:bodyPr anchor="ctr">
            <a:noAutofit/>
          </a:bodyPr>
          <a:lstStyle/>
          <a:p>
            <a:pPr algn="ctr">
              <a:defRPr sz="1800" b="0">
                <a:solidFill>
                  <a:srgbClr val="182D45"/>
                </a:solidFill>
                <a:latin typeface="DejaVu Sans"/>
                <a:ea typeface="DejaVu Sans"/>
                <a:cs typeface="DejaVu Sans"/>
              </a:defRPr>
            </a:pPr>
            <a:r>
              <a:rPr sz="1800" b="0" dirty="0">
                <a:solidFill>
                  <a:srgbClr val="182D45"/>
                </a:solidFill>
                <a:latin typeface="DejaVu Sans"/>
                <a:ea typeface="DejaVu Sans"/>
                <a:cs typeface="DejaVu Sans"/>
              </a:rPr>
              <a:t>Input</a:t>
            </a:r>
          </a:p>
        </p:txBody>
      </p:sp>
      <p:sp>
        <p:nvSpPr>
          <p:cNvPr id="26" name="activation_label">
            <a:extLst>
              <a:ext uri="{FF2B5EF4-FFF2-40B4-BE49-F238E27FC236}">
                <a16:creationId xmlns:a16="http://schemas.microsoft.com/office/drawing/2014/main" id="{2F5D95E9-570E-420A-8A6E-50F4FC6BCAED}"/>
              </a:ext>
            </a:extLst>
          </p:cNvPr>
          <p:cNvSpPr>
            <a:spLocks noGrp="1"/>
          </p:cNvSpPr>
          <p:nvPr/>
        </p:nvSpPr>
        <p:spPr>
          <a:xfrm>
            <a:off x="2119312" y="5613464"/>
            <a:ext cx="2286000" cy="400050"/>
          </a:xfrm>
          <a:prstGeom prst="rect">
            <a:avLst/>
          </a:prstGeom>
          <a:noFill/>
          <a:ln w="0">
            <a:noFill/>
          </a:ln>
        </p:spPr>
        <p:txBody>
          <a:bodyPr anchor="ctr">
            <a:noAutofit/>
          </a:bodyPr>
          <a:lstStyle/>
          <a:p>
            <a:pPr algn="ctr">
              <a:defRPr sz="1800" b="0">
                <a:solidFill>
                  <a:srgbClr val="087F83"/>
                </a:solidFill>
                <a:latin typeface="DejaVu Sans"/>
                <a:ea typeface="DejaVu Sans"/>
                <a:cs typeface="DejaVu Sans"/>
              </a:defRPr>
            </a:pPr>
            <a:r>
              <a:rPr lang="it-IT" sz="1800" b="0" dirty="0" err="1">
                <a:solidFill>
                  <a:srgbClr val="087F83"/>
                </a:solidFill>
                <a:latin typeface="DejaVu Sans"/>
                <a:ea typeface="DejaVu Sans"/>
                <a:cs typeface="DejaVu Sans"/>
              </a:rPr>
              <a:t>Hidden layer</a:t>
            </a:r>
          </a:p>
        </p:txBody>
      </p:sp>
      <p:sp>
        <p:nvSpPr>
          <p:cNvPr id="27" name="output_label">
            <a:extLst>
              <a:ext uri="{FF2B5EF4-FFF2-40B4-BE49-F238E27FC236}">
                <a16:creationId xmlns:a16="http://schemas.microsoft.com/office/drawing/2014/main" id="{9EA64FFC-5839-419A-AB20-F0F22194879A}"/>
              </a:ext>
            </a:extLst>
          </p:cNvPr>
          <p:cNvSpPr>
            <a:spLocks noGrp="1"/>
          </p:cNvSpPr>
          <p:nvPr/>
        </p:nvSpPr>
        <p:spPr>
          <a:xfrm>
            <a:off x="8753475" y="5624513"/>
            <a:ext cx="1428750" cy="400050"/>
          </a:xfrm>
          <a:prstGeom prst="rect">
            <a:avLst/>
          </a:prstGeom>
          <a:noFill/>
          <a:ln w="0">
            <a:noFill/>
          </a:ln>
        </p:spPr>
        <p:txBody>
          <a:bodyPr anchor="ctr">
            <a:noAutofit/>
          </a:bodyPr>
          <a:lstStyle/>
          <a:p>
            <a:pPr algn="ctr">
              <a:defRPr sz="1800" b="0">
                <a:solidFill>
                  <a:srgbClr val="C45C28"/>
                </a:solidFill>
                <a:latin typeface="DejaVu Sans"/>
                <a:ea typeface="DejaVu Sans"/>
                <a:cs typeface="DejaVu Sans"/>
              </a:defRPr>
            </a:pPr>
            <a:r>
              <a:rPr sz="1800" b="0" dirty="0">
                <a:solidFill>
                  <a:srgbClr val="C45C28"/>
                </a:solidFill>
                <a:latin typeface="DejaVu Sans"/>
                <a:ea typeface="DejaVu Sans"/>
                <a:cs typeface="DejaVu Sans"/>
              </a:rPr>
              <a:t>Output</a:t>
            </a:r>
          </a:p>
        </p:txBody>
      </p:sp>
      <p:sp>
        <p:nvSpPr>
          <p:cNvPr id="36" name="takeaway">
            <a:extLst>
              <a:ext uri="{FF2B5EF4-FFF2-40B4-BE49-F238E27FC236}">
                <a16:creationId xmlns:a16="http://schemas.microsoft.com/office/drawing/2014/main" id="{6F05411B-FF25-4891-A667-0FA8AC6E2AAD}"/>
              </a:ext>
            </a:extLst>
          </p:cNvPr>
          <p:cNvSpPr>
            <a:spLocks noGrp="1"/>
          </p:cNvSpPr>
          <p:nvPr/>
        </p:nvSpPr>
        <p:spPr>
          <a:xfrm>
            <a:off x="476250" y="6105525"/>
            <a:ext cx="11239500" cy="438150"/>
          </a:xfrm>
          <a:prstGeom prst="rect">
            <a:avLst/>
          </a:prstGeom>
          <a:noFill/>
          <a:ln w="0">
            <a:noFill/>
          </a:ln>
        </p:spPr>
        <p:txBody>
          <a:bodyPr tIns="0" bIns="0" anchor="ctr">
            <a:noAutofit/>
          </a:bodyPr>
          <a:lstStyle/>
          <a:p>
            <a:pPr algn="ctr">
              <a:defRPr sz="1875" b="1">
                <a:solidFill>
                  <a:srgbClr val="182D45"/>
                </a:solidFill>
                <a:latin typeface="DejaVu Sans"/>
                <a:ea typeface="DejaVu Sans"/>
                <a:cs typeface="DejaVu Sans"/>
              </a:defRPr>
            </a:pPr>
            <a:r>
              <a:rPr sz="1700" b="1" dirty="0">
                <a:solidFill>
                  <a:srgbClr val="182D45"/>
                </a:solidFill>
                <a:latin typeface="DejaVu Sans"/>
                <a:ea typeface="DejaVu Sans"/>
                <a:cs typeface="DejaVu Sans"/>
              </a:rPr>
              <a:t>These neurons form a </a:t>
            </a:r>
            <a:r>
              <a:rPr sz="1700" b="1" dirty="0">
                <a:solidFill>
                  <a:srgbClr val="FF0000"/>
                </a:solidFill>
                <a:latin typeface="DejaVu Sans"/>
                <a:ea typeface="DejaVu Sans"/>
                <a:cs typeface="DejaVu Sans"/>
              </a:rPr>
              <a:t>hidden layer</a:t>
            </a:r>
            <a:r>
              <a:rPr sz="1700" b="1" dirty="0">
                <a:solidFill>
                  <a:srgbClr val="182D45"/>
                </a:solidFill>
                <a:latin typeface="DejaVu Sans"/>
                <a:ea typeface="DejaVu Sans"/>
                <a:cs typeface="DejaVu Sans"/>
              </a:rPr>
              <a:t>:</a:t>
            </a:r>
            <a:endParaRPr lang="it-IT" sz="1700" b="1" dirty="0">
              <a:solidFill>
                <a:srgbClr val="182D45"/>
              </a:solidFill>
              <a:latin typeface="DejaVu Sans"/>
              <a:ea typeface="DejaVu Sans"/>
              <a:cs typeface="DejaVu Sans"/>
            </a:endParaRPr>
          </a:p>
          <a:p>
            <a:pPr algn="ctr">
              <a:defRPr sz="1875" b="1">
                <a:solidFill>
                  <a:srgbClr val="182D45"/>
                </a:solidFill>
                <a:latin typeface="DejaVu Sans"/>
                <a:ea typeface="DejaVu Sans"/>
                <a:cs typeface="DejaVu Sans"/>
              </a:defRPr>
            </a:pPr>
            <a:r>
              <a:rPr sz="1700" b="1" dirty="0">
                <a:solidFill>
                  <a:srgbClr val="182D45"/>
                </a:solidFill>
                <a:latin typeface="DejaVu Sans"/>
                <a:ea typeface="DejaVu Sans"/>
                <a:cs typeface="DejaVu Sans"/>
              </a:rPr>
              <a:t>their activations are </a:t>
            </a:r>
            <a:r>
              <a:rPr sz="1700" b="1" dirty="0">
                <a:solidFill>
                  <a:srgbClr val="FF0000"/>
                </a:solidFill>
                <a:latin typeface="DejaVu Sans"/>
                <a:ea typeface="DejaVu Sans"/>
                <a:cs typeface="DejaVu Sans"/>
              </a:rPr>
              <a:t>intermediate values</a:t>
            </a:r>
            <a:r>
              <a:rPr sz="1700" b="1" dirty="0">
                <a:solidFill>
                  <a:srgbClr val="182D45"/>
                </a:solidFill>
                <a:latin typeface="DejaVu Sans"/>
                <a:ea typeface="DejaVu Sans"/>
                <a:cs typeface="DejaVu Sans"/>
              </a:rPr>
              <a:t>,</a:t>
            </a:r>
            <a:r>
              <a:rPr lang="it-IT" sz="1700" b="1" dirty="0">
                <a:solidFill>
                  <a:srgbClr val="182D45"/>
                </a:solidFill>
                <a:latin typeface="DejaVu Sans"/>
                <a:ea typeface="DejaVu Sans"/>
                <a:cs typeface="DejaVu Sans"/>
              </a:rPr>
              <a:t> </a:t>
            </a:r>
            <a:r>
              <a:rPr sz="1700" b="1" dirty="0">
                <a:solidFill>
                  <a:srgbClr val="182D45"/>
                </a:solidFill>
                <a:latin typeface="DejaVu Sans"/>
                <a:ea typeface="DejaVu Sans"/>
                <a:cs typeface="DejaVu Sans"/>
              </a:rPr>
              <a:t>computed inside the network.</a:t>
            </a:r>
          </a:p>
        </p:txBody>
      </p:sp>
      <mc:AlternateContent xmlns:mc="http://schemas.openxmlformats.org/markup-compatibility/2006" xmlns:a14="http://schemas.microsoft.com/office/drawing/2010/main">
        <mc:Choice Requires="a14">
          <p:sp>
            <p:nvSpPr>
              <p:cNvPr id="29" name="weight_1" descr="(\mathbf{W}_{\mathrm{out}})_1">
                <a:extLst>
                  <a:ext uri="{FF2B5EF4-FFF2-40B4-BE49-F238E27FC236}">
                    <a16:creationId xmlns:a16="http://schemas.microsoft.com/office/drawing/2014/main" id="{25D91B23-EC22-427B-8F1E-E80A7561DC91}"/>
                  </a:ext>
                </a:extLst>
              </p:cNvPr>
              <p:cNvSpPr>
                <a:spLocks noGrp="1"/>
              </p:cNvSpPr>
              <p:nvPr/>
            </p:nvSpPr>
            <p:spPr>
              <a:xfrm>
                <a:off x="4184999" y="3295649"/>
                <a:ext cx="640652" cy="400051"/>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1700">
                          <a:solidFill>
                            <a:srgbClr val="C45C28"/>
                          </a:solidFill>
                          <a:latin typeface="Cambria Math"/>
                          <a:ea typeface="Cambria Math"/>
                          <a:cs typeface="Cambria Math"/>
                        </a:rPr>
                        <m:t>(</m:t>
                      </m:r>
                      <m:sSub>
                        <m:sSubPr>
                          <m:ctrlPr>
                            <a:rPr lang="en-GB" sz="1700">
                              <a:solidFill>
                                <a:srgbClr val="C45C28"/>
                              </a:solidFill>
                              <a:latin typeface="Cambria Math"/>
                              <a:ea typeface="Cambria Math"/>
                              <a:cs typeface="Cambria Math"/>
                            </a:rPr>
                          </m:ctrlPr>
                        </m:sSubPr>
                        <m:e>
                          <m:r>
                            <a:rPr lang="en-GB" sz="1700">
                              <a:solidFill>
                                <a:srgbClr val="C45C28"/>
                              </a:solidFill>
                              <a:latin typeface="Cambria Math"/>
                              <a:ea typeface="Cambria Math"/>
                              <a:cs typeface="Cambria Math"/>
                            </a:rPr>
                            <m:t>𝐖</m:t>
                          </m:r>
                        </m:e>
                        <m:sub>
                          <m:r>
                            <m:rPr>
                              <m:sty m:val="p"/>
                            </m:rPr>
                            <a:rPr lang="en-GB" sz="1700">
                              <a:solidFill>
                                <a:srgbClr val="C45C28"/>
                              </a:solidFill>
                              <a:latin typeface="Cambria Math"/>
                              <a:ea typeface="Cambria Math"/>
                              <a:cs typeface="Cambria Math"/>
                            </a:rPr>
                            <m:t>out</m:t>
                          </m:r>
                        </m:sub>
                      </m:sSub>
                      <m:sSub>
                        <m:sSubPr>
                          <m:ctrlPr>
                            <a:rPr lang="en-GB" sz="1700">
                              <a:solidFill>
                                <a:srgbClr val="C45C28"/>
                              </a:solidFill>
                              <a:latin typeface="Cambria Math"/>
                              <a:ea typeface="Cambria Math"/>
                              <a:cs typeface="Cambria Math"/>
                            </a:rPr>
                          </m:ctrlPr>
                        </m:sSubPr>
                        <m:e>
                          <m:r>
                            <a:rPr lang="en-GB" sz="1700">
                              <a:solidFill>
                                <a:srgbClr val="C45C28"/>
                              </a:solidFill>
                              <a:latin typeface="Cambria Math"/>
                              <a:ea typeface="Cambria Math"/>
                              <a:cs typeface="Cambria Math"/>
                            </a:rPr>
                            <m:t>)</m:t>
                          </m:r>
                        </m:e>
                        <m:sub>
                          <m:r>
                            <a:rPr lang="en-GB" sz="1700">
                              <a:solidFill>
                                <a:srgbClr val="C45C28"/>
                              </a:solidFill>
                              <a:latin typeface="Cambria Math"/>
                              <a:ea typeface="Cambria Math"/>
                              <a:cs typeface="Cambria Math"/>
                            </a:rPr>
                            <m:t>1</m:t>
                          </m:r>
                        </m:sub>
                      </m:sSub>
                    </m:oMath>
                  </m:oMathPara>
                </a14:m>
                <a:endParaRPr lang="en-GB" sz="1700" dirty="0"/>
              </a:p>
            </p:txBody>
          </p:sp>
        </mc:Choice>
        <mc:Fallback xmlns="">
          <p:sp>
            <p:nvSpPr>
              <p:cNvPr id="29" name="weight_1" descr="(\mathbf{W}_{\mathrm{out}})_1">
                <a:extLst>
                  <a:ext uri="{FF2B5EF4-FFF2-40B4-BE49-F238E27FC236}">
                    <a16:creationId xmlns:a16="http://schemas.microsoft.com/office/drawing/2014/main" id="{25D91B23-EC22-427B-8F1E-E80A7561DC91}"/>
                  </a:ext>
                </a:extLst>
              </p:cNvPr>
              <p:cNvSpPr>
                <a:spLocks noGrp="1" noRot="1" noChangeAspect="1" noMove="1" noResize="1" noEditPoints="1" noAdjustHandles="1" noChangeArrowheads="1" noChangeShapeType="1" noTextEdit="1"/>
              </p:cNvSpPr>
              <p:nvPr/>
            </p:nvSpPr>
            <p:spPr>
              <a:xfrm>
                <a:off x="4184999" y="3295649"/>
                <a:ext cx="640652" cy="400051"/>
              </a:xfrm>
              <a:prstGeom prst="rect">
                <a:avLst/>
              </a:prstGeom>
              <a:blipFill>
                <a:blip r:embed="rId11"/>
                <a:stretch>
                  <a:fillRect l="-26667" r="-9524" b="-615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0" name="weight_2" descr="(\mathbf{W}_{\mathrm{out}})_2">
                <a:extLst>
                  <a:ext uri="{FF2B5EF4-FFF2-40B4-BE49-F238E27FC236}">
                    <a16:creationId xmlns:a16="http://schemas.microsoft.com/office/drawing/2014/main" id="{45A7E4D5-665C-41CD-B84A-1B6BF40D72A3}"/>
                  </a:ext>
                </a:extLst>
              </p:cNvPr>
              <p:cNvSpPr>
                <a:spLocks noGrp="1"/>
              </p:cNvSpPr>
              <p:nvPr/>
            </p:nvSpPr>
            <p:spPr>
              <a:xfrm>
                <a:off x="3823856" y="3990975"/>
                <a:ext cx="567169" cy="3333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1700">
                          <a:solidFill>
                            <a:srgbClr val="C45C28"/>
                          </a:solidFill>
                          <a:latin typeface="Cambria Math"/>
                          <a:ea typeface="Cambria Math"/>
                          <a:cs typeface="Cambria Math"/>
                        </a:rPr>
                        <m:t>(</m:t>
                      </m:r>
                      <m:sSub>
                        <m:sSubPr>
                          <m:ctrlPr>
                            <a:rPr lang="en-GB" sz="1700">
                              <a:solidFill>
                                <a:srgbClr val="C45C28"/>
                              </a:solidFill>
                              <a:latin typeface="Cambria Math"/>
                              <a:ea typeface="Cambria Math"/>
                              <a:cs typeface="Cambria Math"/>
                            </a:rPr>
                          </m:ctrlPr>
                        </m:sSubPr>
                        <m:e>
                          <m:r>
                            <a:rPr lang="en-GB" sz="1700">
                              <a:solidFill>
                                <a:srgbClr val="C45C28"/>
                              </a:solidFill>
                              <a:latin typeface="Cambria Math"/>
                              <a:ea typeface="Cambria Math"/>
                              <a:cs typeface="Cambria Math"/>
                            </a:rPr>
                            <m:t>𝐖</m:t>
                          </m:r>
                        </m:e>
                        <m:sub>
                          <m:r>
                            <m:rPr>
                              <m:sty m:val="p"/>
                            </m:rPr>
                            <a:rPr lang="en-GB" sz="1700">
                              <a:solidFill>
                                <a:srgbClr val="C45C28"/>
                              </a:solidFill>
                              <a:latin typeface="Cambria Math"/>
                              <a:ea typeface="Cambria Math"/>
                              <a:cs typeface="Cambria Math"/>
                            </a:rPr>
                            <m:t>out</m:t>
                          </m:r>
                        </m:sub>
                      </m:sSub>
                      <m:sSub>
                        <m:sSubPr>
                          <m:ctrlPr>
                            <a:rPr lang="en-GB" sz="1700">
                              <a:solidFill>
                                <a:srgbClr val="C45C28"/>
                              </a:solidFill>
                              <a:latin typeface="Cambria Math"/>
                              <a:ea typeface="Cambria Math"/>
                              <a:cs typeface="Cambria Math"/>
                            </a:rPr>
                          </m:ctrlPr>
                        </m:sSubPr>
                        <m:e>
                          <m:r>
                            <a:rPr lang="en-GB" sz="1700">
                              <a:solidFill>
                                <a:srgbClr val="C45C28"/>
                              </a:solidFill>
                              <a:latin typeface="Cambria Math"/>
                              <a:ea typeface="Cambria Math"/>
                              <a:cs typeface="Cambria Math"/>
                            </a:rPr>
                            <m:t>)</m:t>
                          </m:r>
                        </m:e>
                        <m:sub>
                          <m:r>
                            <a:rPr lang="en-GB" sz="1700">
                              <a:solidFill>
                                <a:srgbClr val="C45C28"/>
                              </a:solidFill>
                              <a:latin typeface="Cambria Math"/>
                              <a:ea typeface="Cambria Math"/>
                              <a:cs typeface="Cambria Math"/>
                            </a:rPr>
                            <m:t>2</m:t>
                          </m:r>
                        </m:sub>
                      </m:sSub>
                    </m:oMath>
                  </m:oMathPara>
                </a14:m>
                <a:endParaRPr lang="en-GB" sz="1700" dirty="0"/>
              </a:p>
            </p:txBody>
          </p:sp>
        </mc:Choice>
        <mc:Fallback xmlns="">
          <p:sp>
            <p:nvSpPr>
              <p:cNvPr id="30" name="weight_2" descr="(\mathbf{W}_{\mathrm{out}})_2">
                <a:extLst>
                  <a:ext uri="{FF2B5EF4-FFF2-40B4-BE49-F238E27FC236}">
                    <a16:creationId xmlns:a16="http://schemas.microsoft.com/office/drawing/2014/main" id="{45A7E4D5-665C-41CD-B84A-1B6BF40D72A3}"/>
                  </a:ext>
                </a:extLst>
              </p:cNvPr>
              <p:cNvSpPr>
                <a:spLocks noGrp="1" noRot="1" noChangeAspect="1" noMove="1" noResize="1" noEditPoints="1" noAdjustHandles="1" noChangeArrowheads="1" noChangeShapeType="1" noTextEdit="1"/>
              </p:cNvSpPr>
              <p:nvPr/>
            </p:nvSpPr>
            <p:spPr>
              <a:xfrm>
                <a:off x="3823856" y="3990975"/>
                <a:ext cx="567169" cy="333375"/>
              </a:xfrm>
              <a:prstGeom prst="rect">
                <a:avLst/>
              </a:prstGeom>
              <a:blipFill>
                <a:blip r:embed="rId12"/>
                <a:stretch>
                  <a:fillRect l="-36559" r="-18280" b="-1851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 name="weight_3" descr="(\mathbf{W}_{\mathrm{out}})_3">
                <a:extLst>
                  <a:ext uri="{FF2B5EF4-FFF2-40B4-BE49-F238E27FC236}">
                    <a16:creationId xmlns:a16="http://schemas.microsoft.com/office/drawing/2014/main" id="{E3B90070-5983-421E-AFC3-376A19BF2922}"/>
                  </a:ext>
                </a:extLst>
              </p:cNvPr>
              <p:cNvSpPr>
                <a:spLocks noGrp="1"/>
              </p:cNvSpPr>
              <p:nvPr/>
            </p:nvSpPr>
            <p:spPr>
              <a:xfrm>
                <a:off x="4252914" y="4881562"/>
                <a:ext cx="504823" cy="4095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r>
                        <a:rPr lang="en-GB" sz="1700">
                          <a:solidFill>
                            <a:srgbClr val="C45C28"/>
                          </a:solidFill>
                          <a:latin typeface="Cambria Math"/>
                          <a:ea typeface="Cambria Math"/>
                          <a:cs typeface="Cambria Math"/>
                        </a:rPr>
                        <m:t>(</m:t>
                      </m:r>
                      <m:sSub>
                        <m:sSubPr>
                          <m:ctrlPr>
                            <a:rPr lang="en-GB" sz="1700">
                              <a:solidFill>
                                <a:srgbClr val="C45C28"/>
                              </a:solidFill>
                              <a:latin typeface="Cambria Math"/>
                              <a:ea typeface="Cambria Math"/>
                              <a:cs typeface="Cambria Math"/>
                            </a:rPr>
                          </m:ctrlPr>
                        </m:sSubPr>
                        <m:e>
                          <m:r>
                            <a:rPr lang="en-GB" sz="1700">
                              <a:solidFill>
                                <a:srgbClr val="C45C28"/>
                              </a:solidFill>
                              <a:latin typeface="Cambria Math"/>
                              <a:ea typeface="Cambria Math"/>
                              <a:cs typeface="Cambria Math"/>
                            </a:rPr>
                            <m:t>𝐖</m:t>
                          </m:r>
                        </m:e>
                        <m:sub>
                          <m:r>
                            <m:rPr>
                              <m:sty m:val="p"/>
                            </m:rPr>
                            <a:rPr lang="en-GB" sz="1700">
                              <a:solidFill>
                                <a:srgbClr val="C45C28"/>
                              </a:solidFill>
                              <a:latin typeface="Cambria Math"/>
                              <a:ea typeface="Cambria Math"/>
                              <a:cs typeface="Cambria Math"/>
                            </a:rPr>
                            <m:t>out</m:t>
                          </m:r>
                        </m:sub>
                      </m:sSub>
                      <m:sSub>
                        <m:sSubPr>
                          <m:ctrlPr>
                            <a:rPr lang="en-GB" sz="1700">
                              <a:solidFill>
                                <a:srgbClr val="C45C28"/>
                              </a:solidFill>
                              <a:latin typeface="Cambria Math"/>
                              <a:ea typeface="Cambria Math"/>
                              <a:cs typeface="Cambria Math"/>
                            </a:rPr>
                          </m:ctrlPr>
                        </m:sSubPr>
                        <m:e>
                          <m:r>
                            <a:rPr lang="en-GB" sz="1700">
                              <a:solidFill>
                                <a:srgbClr val="C45C28"/>
                              </a:solidFill>
                              <a:latin typeface="Cambria Math"/>
                              <a:ea typeface="Cambria Math"/>
                              <a:cs typeface="Cambria Math"/>
                            </a:rPr>
                            <m:t>)</m:t>
                          </m:r>
                        </m:e>
                        <m:sub>
                          <m:r>
                            <a:rPr lang="en-GB" sz="1700">
                              <a:solidFill>
                                <a:srgbClr val="C45C28"/>
                              </a:solidFill>
                              <a:latin typeface="Cambria Math"/>
                              <a:ea typeface="Cambria Math"/>
                              <a:cs typeface="Cambria Math"/>
                            </a:rPr>
                            <m:t>3</m:t>
                          </m:r>
                        </m:sub>
                      </m:sSub>
                    </m:oMath>
                  </m:oMathPara>
                </a14:m>
                <a:endParaRPr lang="en-GB" sz="1700" dirty="0"/>
              </a:p>
            </p:txBody>
          </p:sp>
        </mc:Choice>
        <mc:Fallback xmlns="">
          <p:sp>
            <p:nvSpPr>
              <p:cNvPr id="31" name="weight_3" descr="(\mathbf{W}_{\mathrm{out}})_3">
                <a:extLst>
                  <a:ext uri="{FF2B5EF4-FFF2-40B4-BE49-F238E27FC236}">
                    <a16:creationId xmlns:a16="http://schemas.microsoft.com/office/drawing/2014/main" id="{E3B90070-5983-421E-AFC3-376A19BF2922}"/>
                  </a:ext>
                </a:extLst>
              </p:cNvPr>
              <p:cNvSpPr>
                <a:spLocks noGrp="1" noRot="1" noChangeAspect="1" noMove="1" noResize="1" noEditPoints="1" noAdjustHandles="1" noChangeArrowheads="1" noChangeShapeType="1" noTextEdit="1"/>
              </p:cNvSpPr>
              <p:nvPr/>
            </p:nvSpPr>
            <p:spPr>
              <a:xfrm>
                <a:off x="4252914" y="4881562"/>
                <a:ext cx="504823" cy="409575"/>
              </a:xfrm>
              <a:prstGeom prst="rect">
                <a:avLst/>
              </a:prstGeom>
              <a:blipFill>
                <a:blip r:embed="rId13"/>
                <a:stretch>
                  <a:fillRect l="-48780" r="-28049" b="-447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2" name="output_bias_label" descr="+b_{\mathrm{out}}">
                <a:extLst>
                  <a:ext uri="{FF2B5EF4-FFF2-40B4-BE49-F238E27FC236}">
                    <a16:creationId xmlns:a16="http://schemas.microsoft.com/office/drawing/2014/main" id="{EDCEB93F-7D20-4703-92D0-50E561499ADE}"/>
                  </a:ext>
                </a:extLst>
              </p:cNvPr>
              <p:cNvSpPr>
                <a:spLocks noGrp="1"/>
              </p:cNvSpPr>
              <p:nvPr/>
            </p:nvSpPr>
            <p:spPr>
              <a:xfrm>
                <a:off x="7705725" y="3819525"/>
                <a:ext cx="1143000" cy="4095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C45C28"/>
                          </a:solidFill>
                          <a:latin typeface="Cambria Math"/>
                          <a:ea typeface="Cambria Math"/>
                          <a:cs typeface="Cambria Math"/>
                        </a:rPr>
                        <m:t>+</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𝑏</m:t>
                          </m:r>
                        </m:e>
                        <m:sub>
                          <m:r>
                            <m:rPr>
                              <m:sty m:val="p"/>
                            </m:rPr>
                            <a:rPr lang="en-GB" sz="2400">
                              <a:solidFill>
                                <a:srgbClr val="C45C28"/>
                              </a:solidFill>
                              <a:latin typeface="Cambria Math"/>
                              <a:ea typeface="Cambria Math"/>
                              <a:cs typeface="Cambria Math"/>
                            </a:rPr>
                            <m:t>out</m:t>
                          </m:r>
                        </m:sub>
                      </m:sSub>
                    </m:oMath>
                  </m:oMathPara>
                </a14:m>
                <a:endParaRPr lang="en-GB" sz="2400"/>
              </a:p>
            </p:txBody>
          </p:sp>
        </mc:Choice>
        <mc:Fallback xmlns="">
          <p:sp>
            <p:nvSpPr>
              <p:cNvPr id="32" name="output_bias_label" descr="+b_{\mathrm{out}}">
                <a:extLst>
                  <a:ext uri="{FF2B5EF4-FFF2-40B4-BE49-F238E27FC236}">
                    <a16:creationId xmlns:a16="http://schemas.microsoft.com/office/drawing/2014/main" id="{EDCEB93F-7D20-4703-92D0-50E561499ADE}"/>
                  </a:ext>
                </a:extLst>
              </p:cNvPr>
              <p:cNvSpPr>
                <a:spLocks noGrp="1" noRot="1" noChangeAspect="1" noMove="1" noResize="1" noEditPoints="1" noAdjustHandles="1" noChangeArrowheads="1" noChangeShapeType="1" noTextEdit="1"/>
              </p:cNvSpPr>
              <p:nvPr/>
            </p:nvSpPr>
            <p:spPr>
              <a:xfrm>
                <a:off x="7705725" y="3819525"/>
                <a:ext cx="1143000" cy="409575"/>
              </a:xfrm>
              <a:prstGeom prst="rect">
                <a:avLst/>
              </a:prstGeom>
              <a:blipFill>
                <a:blip r:embed="rId14"/>
                <a:stretch>
                  <a:fillRect b="-7463"/>
                </a:stretch>
              </a:blipFill>
              <a:ln w="0">
                <a:noFill/>
              </a:ln>
            </p:spPr>
            <p:txBody>
              <a:bodyPr/>
              <a:lstStyle/>
              <a:p>
                <a:r>
                  <a:rPr lang="it-IT">
                    <a:noFill/>
                  </a:rPr>
                  <a:t> </a:t>
                </a:r>
              </a:p>
            </p:txBody>
          </p:sp>
        </mc:Fallback>
      </mc:AlternateContent>
      <p:sp>
        <p:nvSpPr>
          <p:cNvPr id="33" name="output_bias_arrow">
            <a:extLst>
              <a:ext uri="{FF2B5EF4-FFF2-40B4-BE49-F238E27FC236}">
                <a16:creationId xmlns:a16="http://schemas.microsoft.com/office/drawing/2014/main" id="{8D3831DA-856A-4F8C-A962-0F4073A18648}"/>
              </a:ext>
            </a:extLst>
          </p:cNvPr>
          <p:cNvSpPr>
            <a:spLocks noGrp="1"/>
          </p:cNvSpPr>
          <p:nvPr/>
        </p:nvSpPr>
        <p:spPr>
          <a:xfrm>
            <a:off x="7562850" y="4333875"/>
            <a:ext cx="1428750" cy="476"/>
          </a:xfrm>
          <a:prstGeom prst="line">
            <a:avLst/>
          </a:prstGeom>
          <a:noFill/>
          <a:ln w="14288">
            <a:solidFill>
              <a:srgbClr val="C45C28"/>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34" name="final_output" descr="f(\mathbf{x})">
                <a:extLst>
                  <a:ext uri="{FF2B5EF4-FFF2-40B4-BE49-F238E27FC236}">
                    <a16:creationId xmlns:a16="http://schemas.microsoft.com/office/drawing/2014/main" id="{37FDA004-45DD-43D8-9D49-E1DA05264A58}"/>
                  </a:ext>
                </a:extLst>
              </p:cNvPr>
              <p:cNvSpPr>
                <a:spLocks noGrp="1"/>
              </p:cNvSpPr>
              <p:nvPr/>
            </p:nvSpPr>
            <p:spPr>
              <a:xfrm>
                <a:off x="8991600" y="3857625"/>
                <a:ext cx="952500" cy="952500"/>
              </a:xfrm>
              <a:prstGeom prst="ellipse">
                <a:avLst/>
              </a:prstGeom>
              <a:solidFill>
                <a:srgbClr val="FFFFFF"/>
              </a:solidFill>
              <a:ln w="24765">
                <a:solidFill>
                  <a:srgbClr val="C45C28"/>
                </a:solidFill>
              </a:ln>
            </p:spPr>
            <p:txBody>
              <a:bodyPr vertOverflow="overflow" horzOverflow="overflow" wrap="none" lIns="0" tIns="0" rIns="0" bIns="0" anchor="ctr">
                <a:noAutofit/>
              </a:bodyPr>
              <a:lstStyle/>
              <a:p>
                <a:pPr algn="ctr"/>
                <a14:m>
                  <m:oMathPara xmlns:m="http://schemas.openxmlformats.org/officeDocument/2006/math">
                    <m:oMath>
                      <m:r>
                        <a:rPr lang="it-IT" sz="2000" b="0" i="0" smtClean="0">
                          <a:solidFill>
                            <a:srgbClr val="C45C28"/>
                          </a:solidFill>
                          <a:latin typeface="Cambria Math" panose="02040503050406030204" pitchFamily="18" charset="0"/>
                          <a:ea typeface="Cambria Math"/>
                          <a:cs typeface="Cambria Math"/>
                        </a:rPr>
                        <m:t> </m:t>
                      </m:r>
                      <m:r>
                        <a:rPr lang="en-GB" sz="2000">
                          <a:solidFill>
                            <a:srgbClr val="C45C28"/>
                          </a:solidFill>
                          <a:latin typeface="Cambria Math"/>
                          <a:ea typeface="Cambria Math"/>
                          <a:cs typeface="Cambria Math"/>
                        </a:rPr>
                        <m:t>𝑓</m:t>
                      </m:r>
                      <m:r>
                        <a:rPr lang="en-GB" sz="2000">
                          <a:solidFill>
                            <a:srgbClr val="C45C28"/>
                          </a:solidFill>
                          <a:latin typeface="Cambria Math"/>
                          <a:ea typeface="Cambria Math"/>
                          <a:cs typeface="Cambria Math"/>
                        </a:rPr>
                        <m:t>(</m:t>
                      </m:r>
                      <m:r>
                        <a:rPr lang="en-GB" sz="2000">
                          <a:solidFill>
                            <a:srgbClr val="C45C28"/>
                          </a:solidFill>
                          <a:latin typeface="Cambria Math"/>
                          <a:ea typeface="Cambria Math"/>
                          <a:cs typeface="Cambria Math"/>
                        </a:rPr>
                        <m:t>𝐱</m:t>
                      </m:r>
                      <m:r>
                        <a:rPr lang="en-GB" sz="2000">
                          <a:solidFill>
                            <a:srgbClr val="C45C28"/>
                          </a:solidFill>
                          <a:latin typeface="Cambria Math"/>
                          <a:ea typeface="Cambria Math"/>
                          <a:cs typeface="Cambria Math"/>
                        </a:rPr>
                        <m:t>)</m:t>
                      </m:r>
                    </m:oMath>
                  </m:oMathPara>
                </a14:m>
                <a:endParaRPr lang="en-GB" sz="2000" dirty="0"/>
              </a:p>
            </p:txBody>
          </p:sp>
        </mc:Choice>
        <mc:Fallback xmlns="">
          <p:sp>
            <p:nvSpPr>
              <p:cNvPr id="34" name="final_output" descr="f(\mathbf{x})">
                <a:extLst>
                  <a:ext uri="{FF2B5EF4-FFF2-40B4-BE49-F238E27FC236}">
                    <a16:creationId xmlns:a16="http://schemas.microsoft.com/office/drawing/2014/main" id="{37FDA004-45DD-43D8-9D49-E1DA05264A58}"/>
                  </a:ext>
                </a:extLst>
              </p:cNvPr>
              <p:cNvSpPr>
                <a:spLocks noGrp="1" noRot="1" noChangeAspect="1" noMove="1" noResize="1" noEditPoints="1" noAdjustHandles="1" noChangeArrowheads="1" noChangeShapeType="1" noTextEdit="1"/>
              </p:cNvSpPr>
              <p:nvPr/>
            </p:nvSpPr>
            <p:spPr>
              <a:xfrm>
                <a:off x="8991600" y="3857625"/>
                <a:ext cx="952500" cy="952500"/>
              </a:xfrm>
              <a:prstGeom prst="ellipse">
                <a:avLst/>
              </a:prstGeom>
              <a:blipFill>
                <a:blip r:embed="rId15"/>
                <a:stretch>
                  <a:fillRect/>
                </a:stretch>
              </a:blipFill>
              <a:ln w="24765">
                <a:solidFill>
                  <a:srgbClr val="C45C28"/>
                </a:solidFill>
              </a:ln>
            </p:spPr>
            <p:txBody>
              <a:bodyPr/>
              <a:lstStyle/>
              <a:p>
                <a:r>
                  <a:rPr lang="it-IT">
                    <a:noFill/>
                  </a:rPr>
                  <a:t> </a:t>
                </a:r>
              </a:p>
            </p:txBody>
          </p:sp>
        </mc:Fallback>
      </mc:AlternateContent>
      <p:sp>
        <p:nvSpPr>
          <p:cNvPr id="35" name="weighted_sum_label">
            <a:extLst>
              <a:ext uri="{FF2B5EF4-FFF2-40B4-BE49-F238E27FC236}">
                <a16:creationId xmlns:a16="http://schemas.microsoft.com/office/drawing/2014/main" id="{17012F8A-CFCD-4BF7-B964-5A8808D8C7FE}"/>
              </a:ext>
            </a:extLst>
          </p:cNvPr>
          <p:cNvSpPr>
            <a:spLocks noGrp="1"/>
          </p:cNvSpPr>
          <p:nvPr/>
        </p:nvSpPr>
        <p:spPr>
          <a:xfrm>
            <a:off x="5086350" y="5613464"/>
            <a:ext cx="2381250" cy="400050"/>
          </a:xfrm>
          <a:prstGeom prst="rect">
            <a:avLst/>
          </a:prstGeom>
          <a:noFill/>
          <a:ln w="0">
            <a:noFill/>
          </a:ln>
        </p:spPr>
        <p:txBody>
          <a:bodyPr anchor="ctr">
            <a:noAutofit/>
          </a:bodyPr>
          <a:lstStyle/>
          <a:p>
            <a:pPr algn="ctr">
              <a:defRPr sz="1800" b="0">
                <a:solidFill>
                  <a:srgbClr val="182D45"/>
                </a:solidFill>
                <a:latin typeface="DejaVu Sans"/>
                <a:ea typeface="DejaVu Sans"/>
                <a:cs typeface="DejaVu Sans"/>
              </a:defRPr>
            </a:pPr>
            <a:r>
              <a:rPr sz="1800" b="0" dirty="0">
                <a:solidFill>
                  <a:srgbClr val="182D45"/>
                </a:solidFill>
                <a:latin typeface="DejaVu Sans"/>
                <a:ea typeface="DejaVu Sans"/>
                <a:cs typeface="DejaVu Sans"/>
              </a:rPr>
              <a:t>Weighted sum</a:t>
            </a:r>
          </a:p>
        </p:txBody>
      </p:sp>
    </p:spTree>
    <p:extLst>
      <p:ext uri="{BB962C8B-B14F-4D97-AF65-F5344CB8AC3E}">
        <p14:creationId xmlns:p14="http://schemas.microsoft.com/office/powerpoint/2010/main" val="1483127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2595715-23F1-4E9A-958B-F4BCA7CEDC17}"/>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a:solidFill>
                  <a:srgbClr val="182D45"/>
                </a:solidFill>
                <a:latin typeface="DejaVu Sans"/>
                <a:ea typeface="DejaVu Sans"/>
                <a:cs typeface="DejaVu Sans"/>
              </a:rPr>
              <a:t>A </a:t>
            </a:r>
            <a:r>
              <a:rPr lang="it-IT" sz="3300" b="1" dirty="0" err="1">
                <a:solidFill>
                  <a:srgbClr val="182D45"/>
                </a:solidFill>
                <a:latin typeface="DejaVu Sans"/>
                <a:ea typeface="DejaVu Sans"/>
                <a:cs typeface="DejaVu Sans"/>
              </a:rPr>
              <a:t>Neural</a:t>
            </a:r>
            <a:r>
              <a:rPr lang="it-IT" sz="3300" b="1" dirty="0">
                <a:solidFill>
                  <a:srgbClr val="182D45"/>
                </a:solidFill>
                <a:latin typeface="DejaVu Sans"/>
                <a:ea typeface="DejaVu Sans"/>
                <a:cs typeface="DejaVu Sans"/>
              </a:rPr>
              <a:t> Network with o</a:t>
            </a:r>
            <a:r>
              <a:rPr sz="3300" b="1" dirty="0">
                <a:solidFill>
                  <a:srgbClr val="182D45"/>
                </a:solidFill>
                <a:latin typeface="DejaVu Sans"/>
                <a:ea typeface="DejaVu Sans"/>
                <a:cs typeface="DejaVu Sans"/>
              </a:rPr>
              <a:t>ne </a:t>
            </a:r>
            <a:r>
              <a:rPr lang="it-IT" sz="3300" b="1" dirty="0">
                <a:solidFill>
                  <a:srgbClr val="182D45"/>
                </a:solidFill>
                <a:latin typeface="DejaVu Sans"/>
                <a:ea typeface="DejaVu Sans"/>
                <a:cs typeface="DejaVu Sans"/>
              </a:rPr>
              <a:t>h</a:t>
            </a:r>
            <a:r>
              <a:rPr sz="3300" b="1" dirty="0" err="1">
                <a:solidFill>
                  <a:srgbClr val="182D45"/>
                </a:solidFill>
                <a:latin typeface="DejaVu Sans"/>
                <a:ea typeface="DejaVu Sans"/>
                <a:cs typeface="DejaVu Sans"/>
              </a:rPr>
              <a:t>idden</a:t>
            </a:r>
            <a:r>
              <a:rPr sz="3300" b="1" dirty="0">
                <a:solidFill>
                  <a:srgbClr val="182D45"/>
                </a:solidFill>
                <a:latin typeface="DejaVu Sans"/>
                <a:ea typeface="DejaVu Sans"/>
                <a:cs typeface="DejaVu Sans"/>
              </a:rPr>
              <a:t> </a:t>
            </a:r>
            <a:r>
              <a:rPr lang="it-IT" sz="3300" b="1" dirty="0">
                <a:solidFill>
                  <a:srgbClr val="182D45"/>
                </a:solidFill>
                <a:latin typeface="DejaVu Sans"/>
                <a:ea typeface="DejaVu Sans"/>
                <a:cs typeface="DejaVu Sans"/>
              </a:rPr>
              <a:t>l</a:t>
            </a:r>
            <a:r>
              <a:rPr sz="3300" b="1" dirty="0" err="1">
                <a:solidFill>
                  <a:srgbClr val="182D45"/>
                </a:solidFill>
                <a:latin typeface="DejaVu Sans"/>
                <a:ea typeface="DejaVu Sans"/>
                <a:cs typeface="DejaVu Sans"/>
              </a:rPr>
              <a:t>ayer</a:t>
            </a:r>
            <a:endParaRPr sz="3300" b="1" dirty="0">
              <a:solidFill>
                <a:srgbClr val="182D45"/>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4" name="lead">
                <a:extLst>
                  <a:ext uri="{FF2B5EF4-FFF2-40B4-BE49-F238E27FC236}">
                    <a16:creationId xmlns:a16="http://schemas.microsoft.com/office/drawing/2014/main" id="{24F6F089-6CBC-467E-B1EB-81111D143A1F}"/>
                  </a:ext>
                </a:extLst>
              </p:cNvPr>
              <p:cNvSpPr>
                <a:spLocks noGrp="1"/>
              </p:cNvSpPr>
              <p:nvPr/>
            </p:nvSpPr>
            <p:spPr>
              <a:xfrm>
                <a:off x="523875" y="1000125"/>
                <a:ext cx="11144250" cy="781050"/>
              </a:xfrm>
              <a:prstGeom prst="rect">
                <a:avLst/>
              </a:prstGeom>
              <a:noFill/>
              <a:ln w="0">
                <a:noFill/>
              </a:ln>
            </p:spPr>
            <p:txBody>
              <a:bodyPr wrap="none" lIns="0" tIns="0" rIns="0" bIns="0" anchor="ctr">
                <a:noAutofit/>
              </a:bodyPr>
              <a:lstStyle/>
              <a:p>
                <a:pPr algn="ctr">
                  <a:lnSpc>
                    <a:spcPts val="2550"/>
                  </a:lnSpc>
                </a:pPr>
                <a:r>
                  <a:rPr lang="en-GB" sz="2025" b="0">
                    <a:solidFill>
                      <a:srgbClr val="526276"/>
                    </a:solidFill>
                    <a:latin typeface="DejaVu Sans"/>
                  </a:rPr>
                  <a:t>A hidden layer groups neurons receiving the same input row.</a:t>
                </a:r>
                <a:endParaRPr lang="en-GB" sz="2025"/>
              </a:p>
              <a:p>
                <a:pPr algn="ctr">
                  <a:lnSpc>
                    <a:spcPts val="2550"/>
                  </a:lnSpc>
                </a:pPr>
                <a:r>
                  <a:rPr lang="en-GB" sz="2025" b="0">
                    <a:solidFill>
                      <a:srgbClr val="526276"/>
                    </a:solidFill>
                    <a:latin typeface="DejaVu Sans"/>
                  </a:rPr>
                  <a:t>Its </a:t>
                </a:r>
                <a:r>
                  <a:rPr lang="en-GB" sz="2025" b="0">
                    <a:solidFill>
                      <a:srgbClr val="FF0000"/>
                    </a:solidFill>
                    <a:latin typeface="DejaVu Sans"/>
                  </a:rPr>
                  <a:t>width </a:t>
                </a:r>
                <a14:m>
                  <m:oMath xmlns:m="http://schemas.openxmlformats.org/officeDocument/2006/math">
                    <m:r>
                      <a:rPr lang="en-GB" sz="2025">
                        <a:solidFill>
                          <a:srgbClr val="526276"/>
                        </a:solidFill>
                        <a:latin typeface="Cambria Math"/>
                        <a:ea typeface="Cambria Math"/>
                        <a:cs typeface="Cambria Math"/>
                      </a:rPr>
                      <m:t>𝑚</m:t>
                    </m:r>
                  </m:oMath>
                </a14:m>
                <a:r>
                  <a:rPr lang="en-GB" sz="2025" b="0">
                    <a:solidFill>
                      <a:srgbClr val="526276"/>
                    </a:solidFill>
                    <a:latin typeface="DejaVu Sans"/>
                  </a:rPr>
                  <a:t> is the number of neurons. Input and output dimensions are </a:t>
                </a:r>
                <a14:m>
                  <m:oMath xmlns:m="http://schemas.openxmlformats.org/officeDocument/2006/math">
                    <m:r>
                      <a:rPr lang="en-GB" sz="2025">
                        <a:solidFill>
                          <a:srgbClr val="526276"/>
                        </a:solidFill>
                        <a:latin typeface="Cambria Math"/>
                        <a:ea typeface="Cambria Math"/>
                        <a:cs typeface="Cambria Math"/>
                      </a:rPr>
                      <m:t>𝑑</m:t>
                    </m:r>
                  </m:oMath>
                </a14:m>
                <a:r>
                  <a:rPr lang="en-GB" sz="2025" b="0">
                    <a:solidFill>
                      <a:srgbClr val="526276"/>
                    </a:solidFill>
                    <a:latin typeface="DejaVu Sans"/>
                  </a:rPr>
                  <a:t> and </a:t>
                </a:r>
                <a14:m>
                  <m:oMath xmlns:m="http://schemas.openxmlformats.org/officeDocument/2006/math">
                    <m:r>
                      <a:rPr lang="en-GB" sz="2025">
                        <a:solidFill>
                          <a:srgbClr val="526276"/>
                        </a:solidFill>
                        <a:latin typeface="Cambria Math"/>
                        <a:ea typeface="Cambria Math"/>
                        <a:cs typeface="Cambria Math"/>
                      </a:rPr>
                      <m:t>𝑞</m:t>
                    </m:r>
                  </m:oMath>
                </a14:m>
                <a:r>
                  <a:rPr lang="en-GB" sz="2025" b="0">
                    <a:solidFill>
                      <a:srgbClr val="526276"/>
                    </a:solidFill>
                    <a:latin typeface="DejaVu Sans"/>
                  </a:rPr>
                  <a:t>.</a:t>
                </a:r>
                <a:endParaRPr lang="en-GB" sz="2025"/>
              </a:p>
            </p:txBody>
          </p:sp>
        </mc:Choice>
        <mc:Fallback xmlns="">
          <p:sp>
            <p:nvSpPr>
              <p:cNvPr id="4" name="lead">
                <a:extLst>
                  <a:ext uri="{FF2B5EF4-FFF2-40B4-BE49-F238E27FC236}">
                    <a16:creationId xmlns:a16="http://schemas.microsoft.com/office/drawing/2014/main" id="{24F6F089-6CBC-467E-B1EB-81111D143A1F}"/>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t="-1563" b="-1015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parameters" descr="\mathbf{W}\in\mathbb{R}^{d\times m},\quad\mathbf{b}\in\mathbb{R}^{1\times m},\quad\mathbf{W}_{\mathrm{out}}\in\mathbb{R}^{m\times q},\quad\mathbf{b}_{\mathrm{out}}\in\mathbb{R}^{1\times q}">
                <a:extLst>
                  <a:ext uri="{FF2B5EF4-FFF2-40B4-BE49-F238E27FC236}">
                    <a16:creationId xmlns:a16="http://schemas.microsoft.com/office/drawing/2014/main" id="{A33D8EA6-85BC-4034-9A61-0817ED607A13}"/>
                  </a:ext>
                </a:extLst>
              </p:cNvPr>
              <p:cNvSpPr>
                <a:spLocks noGrp="1"/>
              </p:cNvSpPr>
              <p:nvPr/>
            </p:nvSpPr>
            <p:spPr>
              <a:xfrm>
                <a:off x="333375" y="1895475"/>
                <a:ext cx="11525250" cy="857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087F83"/>
                          </a:solidFill>
                          <a:latin typeface="Cambria Math"/>
                          <a:ea typeface="Cambria Math"/>
                          <a:cs typeface="Cambria Math"/>
                        </a:rPr>
                        <m:t>𝐖</m:t>
                      </m:r>
                      <m:r>
                        <a:rPr lang="en-GB" sz="2500">
                          <a:solidFill>
                            <a:srgbClr val="087F83"/>
                          </a:solidFill>
                          <a:latin typeface="Cambria Math"/>
                          <a:ea typeface="Cambria Math"/>
                          <a:cs typeface="Cambria Math"/>
                        </a:rPr>
                        <m:t>∈</m:t>
                      </m:r>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ℝ</m:t>
                          </m:r>
                        </m:e>
                        <m:sup>
                          <m:r>
                            <a:rPr lang="en-GB" sz="2500">
                              <a:solidFill>
                                <a:srgbClr val="087F83"/>
                              </a:solidFill>
                              <a:latin typeface="Cambria Math"/>
                              <a:ea typeface="Cambria Math"/>
                              <a:cs typeface="Cambria Math"/>
                            </a:rPr>
                            <m:t>𝑑</m:t>
                          </m:r>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𝑚</m:t>
                          </m:r>
                        </m:sup>
                      </m:sSup>
                      <m:r>
                        <a:rPr lang="en-GB" sz="2500">
                          <a:solidFill>
                            <a:srgbClr val="087F83"/>
                          </a:solidFill>
                          <a:latin typeface="Cambria Math"/>
                          <a:ea typeface="Cambria Math"/>
                          <a:cs typeface="Cambria Math"/>
                        </a:rPr>
                        <m:t>, </m:t>
                      </m:r>
                      <m:r>
                        <a:rPr lang="en-GB" sz="2500">
                          <a:solidFill>
                            <a:srgbClr val="087F83"/>
                          </a:solidFill>
                          <a:latin typeface="Cambria Math"/>
                          <a:ea typeface="Cambria Math"/>
                          <a:cs typeface="Cambria Math"/>
                        </a:rPr>
                        <m:t>𝐛</m:t>
                      </m:r>
                      <m:r>
                        <a:rPr lang="en-GB" sz="2500">
                          <a:solidFill>
                            <a:srgbClr val="087F83"/>
                          </a:solidFill>
                          <a:latin typeface="Cambria Math"/>
                          <a:ea typeface="Cambria Math"/>
                          <a:cs typeface="Cambria Math"/>
                        </a:rPr>
                        <m:t>∈</m:t>
                      </m:r>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ℝ</m:t>
                          </m:r>
                        </m:e>
                        <m:sup>
                          <m:r>
                            <a:rPr lang="en-GB" sz="2500">
                              <a:solidFill>
                                <a:srgbClr val="087F83"/>
                              </a:solidFill>
                              <a:latin typeface="Cambria Math"/>
                              <a:ea typeface="Cambria Math"/>
                              <a:cs typeface="Cambria Math"/>
                            </a:rPr>
                            <m:t>1×</m:t>
                          </m:r>
                          <m:r>
                            <a:rPr lang="en-GB" sz="2500">
                              <a:solidFill>
                                <a:srgbClr val="087F83"/>
                              </a:solidFill>
                              <a:latin typeface="Cambria Math"/>
                              <a:ea typeface="Cambria Math"/>
                              <a:cs typeface="Cambria Math"/>
                            </a:rPr>
                            <m:t>𝑚</m:t>
                          </m:r>
                        </m:sup>
                      </m:sSup>
                      <m:r>
                        <a:rPr lang="en-GB" sz="2500">
                          <a:solidFill>
                            <a:srgbClr val="087F83"/>
                          </a:solidFill>
                          <a:latin typeface="Cambria Math"/>
                          <a:ea typeface="Cambria Math"/>
                          <a:cs typeface="Cambria Math"/>
                        </a:rPr>
                        <m:t>, </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𝐖</m:t>
                          </m:r>
                        </m:e>
                        <m:sub>
                          <m:r>
                            <m:rPr>
                              <m:sty m:val="p"/>
                            </m:rPr>
                            <a:rPr lang="en-GB" sz="2500">
                              <a:solidFill>
                                <a:srgbClr val="087F83"/>
                              </a:solidFill>
                              <a:latin typeface="Cambria Math"/>
                              <a:ea typeface="Cambria Math"/>
                              <a:cs typeface="Cambria Math"/>
                            </a:rPr>
                            <m:t>out</m:t>
                          </m:r>
                        </m:sub>
                      </m:sSub>
                      <m:r>
                        <a:rPr lang="en-GB" sz="2500">
                          <a:solidFill>
                            <a:srgbClr val="087F83"/>
                          </a:solidFill>
                          <a:latin typeface="Cambria Math"/>
                          <a:ea typeface="Cambria Math"/>
                          <a:cs typeface="Cambria Math"/>
                        </a:rPr>
                        <m:t>∈</m:t>
                      </m:r>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ℝ</m:t>
                          </m:r>
                        </m:e>
                        <m:sup>
                          <m:r>
                            <a:rPr lang="en-GB" sz="2500">
                              <a:solidFill>
                                <a:srgbClr val="087F83"/>
                              </a:solidFill>
                              <a:latin typeface="Cambria Math"/>
                              <a:ea typeface="Cambria Math"/>
                              <a:cs typeface="Cambria Math"/>
                            </a:rPr>
                            <m:t>𝑚</m:t>
                          </m:r>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𝑞</m:t>
                          </m:r>
                        </m:sup>
                      </m:sSup>
                      <m:r>
                        <a:rPr lang="en-GB" sz="2500">
                          <a:solidFill>
                            <a:srgbClr val="087F83"/>
                          </a:solidFill>
                          <a:latin typeface="Cambria Math"/>
                          <a:ea typeface="Cambria Math"/>
                          <a:cs typeface="Cambria Math"/>
                        </a:rPr>
                        <m:t>, </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𝐛</m:t>
                          </m:r>
                        </m:e>
                        <m:sub>
                          <m:r>
                            <m:rPr>
                              <m:sty m:val="p"/>
                            </m:rPr>
                            <a:rPr lang="en-GB" sz="2500">
                              <a:solidFill>
                                <a:srgbClr val="087F83"/>
                              </a:solidFill>
                              <a:latin typeface="Cambria Math"/>
                              <a:ea typeface="Cambria Math"/>
                              <a:cs typeface="Cambria Math"/>
                            </a:rPr>
                            <m:t>out</m:t>
                          </m:r>
                        </m:sub>
                      </m:sSub>
                      <m:r>
                        <a:rPr lang="en-GB" sz="2500">
                          <a:solidFill>
                            <a:srgbClr val="087F83"/>
                          </a:solidFill>
                          <a:latin typeface="Cambria Math"/>
                          <a:ea typeface="Cambria Math"/>
                          <a:cs typeface="Cambria Math"/>
                        </a:rPr>
                        <m:t>∈</m:t>
                      </m:r>
                      <m:sSup>
                        <m:sSupPr>
                          <m:ctrlPr>
                            <a:rPr lang="en-GB" sz="2500">
                              <a:solidFill>
                                <a:srgbClr val="087F83"/>
                              </a:solidFill>
                              <a:latin typeface="Cambria Math"/>
                              <a:ea typeface="Cambria Math"/>
                              <a:cs typeface="Cambria Math"/>
                            </a:rPr>
                          </m:ctrlPr>
                        </m:sSupPr>
                        <m:e>
                          <m:r>
                            <a:rPr lang="en-GB" sz="2500">
                              <a:solidFill>
                                <a:srgbClr val="087F83"/>
                              </a:solidFill>
                              <a:latin typeface="Cambria Math"/>
                              <a:ea typeface="Cambria Math"/>
                              <a:cs typeface="Cambria Math"/>
                            </a:rPr>
                            <m:t>ℝ</m:t>
                          </m:r>
                        </m:e>
                        <m:sup>
                          <m:r>
                            <a:rPr lang="en-GB" sz="2500">
                              <a:solidFill>
                                <a:srgbClr val="087F83"/>
                              </a:solidFill>
                              <a:latin typeface="Cambria Math"/>
                              <a:ea typeface="Cambria Math"/>
                              <a:cs typeface="Cambria Math"/>
                            </a:rPr>
                            <m:t>1×</m:t>
                          </m:r>
                          <m:r>
                            <a:rPr lang="en-GB" sz="2500">
                              <a:solidFill>
                                <a:srgbClr val="087F83"/>
                              </a:solidFill>
                              <a:latin typeface="Cambria Math"/>
                              <a:ea typeface="Cambria Math"/>
                              <a:cs typeface="Cambria Math"/>
                            </a:rPr>
                            <m:t>𝑞</m:t>
                          </m:r>
                        </m:sup>
                      </m:sSup>
                    </m:oMath>
                  </m:oMathPara>
                </a14:m>
                <a:endParaRPr lang="en-GB" sz="2500" dirty="0"/>
              </a:p>
            </p:txBody>
          </p:sp>
        </mc:Choice>
        <mc:Fallback xmlns="">
          <p:sp>
            <p:nvSpPr>
              <p:cNvPr id="5" name="parameters" descr="\mathbf{W}\in\mathbb{R}^{d\times m},\quad\mathbf{b}\in\mathbb{R}^{1\times m},\quad\mathbf{W}_{\mathrm{out}}\in\mathbb{R}^{m\times q},\quad\mathbf{b}_{\mathrm{out}}\in\mathbb{R}^{1\times q}">
                <a:extLst>
                  <a:ext uri="{FF2B5EF4-FFF2-40B4-BE49-F238E27FC236}">
                    <a16:creationId xmlns:a16="http://schemas.microsoft.com/office/drawing/2014/main" id="{A33D8EA6-85BC-4034-9A61-0817ED607A13}"/>
                  </a:ext>
                </a:extLst>
              </p:cNvPr>
              <p:cNvSpPr>
                <a:spLocks noGrp="1" noRot="1" noChangeAspect="1" noMove="1" noResize="1" noEditPoints="1" noAdjustHandles="1" noChangeArrowheads="1" noChangeShapeType="1" noTextEdit="1"/>
              </p:cNvSpPr>
              <p:nvPr/>
            </p:nvSpPr>
            <p:spPr>
              <a:xfrm>
                <a:off x="333375" y="1895475"/>
                <a:ext cx="11525250" cy="85725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preactivation_row" descr="\mathbf{a}(\mathbf{x})=(a_1(\mathbf{x}),\ldots,a_m(\mathbf{x}))=\mathbf{x}\mathbf{W}+\mathbf{b}">
                <a:extLst>
                  <a:ext uri="{FF2B5EF4-FFF2-40B4-BE49-F238E27FC236}">
                    <a16:creationId xmlns:a16="http://schemas.microsoft.com/office/drawing/2014/main" id="{DC072F12-291F-4B4A-8021-87E46B26B906}"/>
                  </a:ext>
                </a:extLst>
              </p:cNvPr>
              <p:cNvSpPr>
                <a:spLocks noGrp="1"/>
              </p:cNvSpPr>
              <p:nvPr/>
            </p:nvSpPr>
            <p:spPr>
              <a:xfrm>
                <a:off x="381000" y="2777133"/>
                <a:ext cx="11430000" cy="762000"/>
              </a:xfrm>
              <a:prstGeom prst="rect">
                <a:avLst/>
              </a:prstGeom>
              <a:noFill/>
              <a:ln w="0">
                <a:noFill/>
              </a:ln>
            </p:spPr>
            <p:txBody>
              <a:bodyPr vertOverflow="overflow" horzOverflow="overflow" wrap="none" lIns="0" tIns="0" rIns="0" bIns="0" anchor="ctr">
                <a:noAutofit/>
              </a:bodyPr>
              <a:lstStyle/>
              <a:p>
                <a:pPr algn="ctr"/>
                <a:r>
                  <a:rPr lang="en-GB" sz="2800" dirty="0">
                    <a:solidFill>
                      <a:srgbClr val="FF0000"/>
                    </a:solidFill>
                    <a:ea typeface="Cambria Math"/>
                    <a:cs typeface="Cambria Math"/>
                  </a:rPr>
                  <a:t>Preactivation</a:t>
                </a:r>
                <a:r>
                  <a:rPr lang="en-GB" sz="2800" dirty="0" err="1">
                    <a:solidFill>
                      <a:srgbClr val="FF0000"/>
                    </a:solidFill>
                    <a:ea typeface="Cambria Math"/>
                    <a:cs typeface="Cambria Math"/>
                  </a:rPr>
                  <a:t>s</a:t>
                </a:r>
                <a:r>
                  <a:rPr lang="en-GB" sz="2800" dirty="0">
                    <a:solidFill>
                      <a:srgbClr val="087F83"/>
                    </a:solidFill>
                    <a:ea typeface="Cambria Math"/>
                    <a:cs typeface="Cambria Math"/>
                  </a:rPr>
                  <a:t>: </a:t>
                </a:r>
                <a14:m>
                  <m:oMath xmlns:m="http://schemas.openxmlformats.org/officeDocument/2006/math">
                    <m:r>
                      <a:rPr lang="en-GB" sz="2800">
                        <a:solidFill>
                          <a:srgbClr val="087F83"/>
                        </a:solidFill>
                        <a:latin typeface="Cambria Math"/>
                        <a:ea typeface="Cambria Math"/>
                        <a:cs typeface="Cambria Math"/>
                      </a:rPr>
                      <m:t>𝐚</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r>
                      <a:rPr lang="it-IT" sz="2800" i="1">
                        <a:solidFill>
                          <a:srgbClr val="087F83"/>
                        </a:solidFill>
                        <a:latin typeface="Cambria Math" panose="02040503050406030204" pitchFamily="18" charset="0"/>
                      </a:rPr>
                      <m:t>≔</m:t>
                    </m:r>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𝑎</m:t>
                            </m:r>
                          </m:e>
                          <m:sub>
                            <m:r>
                              <a:rPr lang="en-GB" sz="2800">
                                <a:solidFill>
                                  <a:srgbClr val="087F83"/>
                                </a:solidFill>
                                <a:latin typeface="Cambria Math"/>
                                <a:ea typeface="Cambria Math"/>
                                <a:cs typeface="Cambria Math"/>
                              </a:rPr>
                              <m:t>1</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𝑎</m:t>
                            </m:r>
                          </m:e>
                          <m:sub>
                            <m:r>
                              <a:rPr lang="en-GB" sz="2800">
                                <a:solidFill>
                                  <a:srgbClr val="087F83"/>
                                </a:solidFill>
                                <a:latin typeface="Cambria Math"/>
                                <a:ea typeface="Cambria Math"/>
                                <a:cs typeface="Cambria Math"/>
                              </a:rPr>
                              <m:t>𝑚</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e>
                    </m:d>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𝐱𝐖</m:t>
                    </m:r>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𝐛</m:t>
                    </m:r>
                  </m:oMath>
                </a14:m>
                <a:endParaRPr lang="en-GB" sz="2800" dirty="0"/>
              </a:p>
            </p:txBody>
          </p:sp>
        </mc:Choice>
        <mc:Fallback xmlns="">
          <p:sp>
            <p:nvSpPr>
              <p:cNvPr id="6" name="preactivation_row" descr="\mathbf{a}(\mathbf{x})=(a_1(\mathbf{x}),\ldots,a_m(\mathbf{x}))=\mathbf{x}\mathbf{W}+\mathbf{b}">
                <a:extLst>
                  <a:ext uri="{FF2B5EF4-FFF2-40B4-BE49-F238E27FC236}">
                    <a16:creationId xmlns:a16="http://schemas.microsoft.com/office/drawing/2014/main" id="{DC072F12-291F-4B4A-8021-87E46B26B906}"/>
                  </a:ext>
                </a:extLst>
              </p:cNvPr>
              <p:cNvSpPr>
                <a:spLocks noGrp="1" noRot="1" noChangeAspect="1" noMove="1" noResize="1" noEditPoints="1" noAdjustHandles="1" noChangeArrowheads="1" noChangeShapeType="1" noTextEdit="1"/>
              </p:cNvSpPr>
              <p:nvPr/>
            </p:nvSpPr>
            <p:spPr>
              <a:xfrm>
                <a:off x="381000" y="2777133"/>
                <a:ext cx="11430000" cy="762000"/>
              </a:xfrm>
              <a:prstGeom prst="rect">
                <a:avLst/>
              </a:prstGeom>
              <a:blipFill>
                <a:blip r:embed="rId5"/>
                <a:stretch>
                  <a:fillRect b="-72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feature_row" descr="\boldsymbol{\phi}(\mathbf{x})=(\phi_1(\mathbf{x}),\ldots,\phi_m(\mathbf{x}))=\mathbf{ReLU}(\mathbf{a}(\mathbf{x}))">
                <a:extLst>
                  <a:ext uri="{FF2B5EF4-FFF2-40B4-BE49-F238E27FC236}">
                    <a16:creationId xmlns:a16="http://schemas.microsoft.com/office/drawing/2014/main" id="{7F08778D-0B55-4F99-8888-46723BBBEF77}"/>
                  </a:ext>
                </a:extLst>
              </p:cNvPr>
              <p:cNvSpPr>
                <a:spLocks noGrp="1"/>
              </p:cNvSpPr>
              <p:nvPr/>
            </p:nvSpPr>
            <p:spPr>
              <a:xfrm>
                <a:off x="381000" y="3539728"/>
                <a:ext cx="11430000" cy="762000"/>
              </a:xfrm>
              <a:prstGeom prst="rect">
                <a:avLst/>
              </a:prstGeom>
              <a:noFill/>
              <a:ln w="0">
                <a:noFill/>
              </a:ln>
            </p:spPr>
            <p:txBody>
              <a:bodyPr vertOverflow="overflow" horzOverflow="overflow" wrap="none" lIns="0" tIns="0" rIns="0" bIns="0" anchor="ctr">
                <a:noAutofit/>
              </a:bodyPr>
              <a:lstStyle/>
              <a:p>
                <a:pPr algn="ctr"/>
                <a:r>
                  <a:rPr lang="en-GB" sz="2800" dirty="0">
                    <a:solidFill>
                      <a:srgbClr val="FF0000"/>
                    </a:solidFill>
                    <a:ea typeface="Cambria Math"/>
                    <a:cs typeface="Cambria Math"/>
                  </a:rPr>
                  <a:t>Activations</a:t>
                </a:r>
                <a:r>
                  <a:rPr lang="en-GB" sz="2800" dirty="0">
                    <a:solidFill>
                      <a:srgbClr val="087F83"/>
                    </a:solidFill>
                    <a:ea typeface="Cambria Math"/>
                    <a:cs typeface="Cambria Math"/>
                  </a:rPr>
                  <a:t>: </a:t>
                </a:r>
                <a14:m>
                  <m:oMath xmlns:m="http://schemas.openxmlformats.org/officeDocument/2006/math">
                    <m:r>
                      <a:rPr lang="en-GB" sz="2800">
                        <a:solidFill>
                          <a:srgbClr val="087F83"/>
                        </a:solidFill>
                        <a:latin typeface="Cambria Math"/>
                        <a:ea typeface="Cambria Math"/>
                        <a:cs typeface="Cambria Math"/>
                      </a:rPr>
                      <m:t>𝛟</m:t>
                    </m:r>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𝐱</m:t>
                    </m:r>
                    <m:r>
                      <a:rPr lang="en-GB" sz="2800">
                        <a:solidFill>
                          <a:srgbClr val="087F83"/>
                        </a:solidFill>
                        <a:latin typeface="Cambria Math"/>
                        <a:ea typeface="Cambria Math"/>
                        <a:cs typeface="Cambria Math"/>
                      </a:rPr>
                      <m:t>)≔</m:t>
                    </m:r>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𝜙</m:t>
                            </m:r>
                          </m:e>
                          <m:sub>
                            <m:r>
                              <a:rPr lang="en-GB" sz="2800">
                                <a:solidFill>
                                  <a:srgbClr val="087F83"/>
                                </a:solidFill>
                                <a:latin typeface="Cambria Math"/>
                                <a:ea typeface="Cambria Math"/>
                                <a:cs typeface="Cambria Math"/>
                              </a:rPr>
                              <m:t>1</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𝜙</m:t>
                            </m:r>
                          </m:e>
                          <m:sub>
                            <m:r>
                              <a:rPr lang="en-GB" sz="2800">
                                <a:solidFill>
                                  <a:srgbClr val="087F83"/>
                                </a:solidFill>
                                <a:latin typeface="Cambria Math"/>
                                <a:ea typeface="Cambria Math"/>
                                <a:cs typeface="Cambria Math"/>
                              </a:rPr>
                              <m:t>𝑚</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e>
                    </m:d>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𝐑𝐞𝐋𝐔</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𝐚</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e>
                    </m:d>
                  </m:oMath>
                </a14:m>
                <a:endParaRPr lang="en-GB" sz="2800" dirty="0"/>
              </a:p>
            </p:txBody>
          </p:sp>
        </mc:Choice>
        <mc:Fallback xmlns="">
          <p:sp>
            <p:nvSpPr>
              <p:cNvPr id="7" name="feature_row" descr="\boldsymbol{\phi}(\mathbf{x})=(\phi_1(\mathbf{x}),\ldots,\phi_m(\mathbf{x}))=\mathbf{ReLU}(\mathbf{a}(\mathbf{x}))">
                <a:extLst>
                  <a:ext uri="{FF2B5EF4-FFF2-40B4-BE49-F238E27FC236}">
                    <a16:creationId xmlns:a16="http://schemas.microsoft.com/office/drawing/2014/main" id="{7F08778D-0B55-4F99-8888-46723BBBEF77}"/>
                  </a:ext>
                </a:extLst>
              </p:cNvPr>
              <p:cNvSpPr>
                <a:spLocks noGrp="1" noRot="1" noChangeAspect="1" noMove="1" noResize="1" noEditPoints="1" noAdjustHandles="1" noChangeArrowheads="1" noChangeShapeType="1" noTextEdit="1"/>
              </p:cNvSpPr>
              <p:nvPr/>
            </p:nvSpPr>
            <p:spPr>
              <a:xfrm>
                <a:off x="381000" y="3539728"/>
                <a:ext cx="11430000" cy="762000"/>
              </a:xfrm>
              <a:prstGeom prst="rect">
                <a:avLst/>
              </a:prstGeom>
              <a:blipFill>
                <a:blip r:embed="rId6"/>
                <a:stretch>
                  <a:fillRect b="-72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output_row" descr="\mathbf{f}_{\boldsymbol{\theta}}(\mathbf{x})=\boldsymbol{\phi}(\mathbf{x})\mathbf{W}_{\mathrm{out}}+\mathbf{b}_{\mathrm{out}}">
                <a:extLst>
                  <a:ext uri="{FF2B5EF4-FFF2-40B4-BE49-F238E27FC236}">
                    <a16:creationId xmlns:a16="http://schemas.microsoft.com/office/drawing/2014/main" id="{E09AAAA5-8FCB-4F0A-BBD7-A17267D45C18}"/>
                  </a:ext>
                </a:extLst>
              </p:cNvPr>
              <p:cNvSpPr>
                <a:spLocks noGrp="1"/>
              </p:cNvSpPr>
              <p:nvPr/>
            </p:nvSpPr>
            <p:spPr>
              <a:xfrm>
                <a:off x="571500" y="5026819"/>
                <a:ext cx="11049000" cy="714375"/>
              </a:xfrm>
              <a:prstGeom prst="rect">
                <a:avLst/>
              </a:prstGeom>
              <a:noFill/>
              <a:ln w="0">
                <a:noFill/>
              </a:ln>
            </p:spPr>
            <p:txBody>
              <a:bodyPr vertOverflow="overflow" horzOverflow="overflow" wrap="none" lIns="0" tIns="0" rIns="0" bIns="0" anchor="ctr">
                <a:noAutofit/>
              </a:bodyPr>
              <a:lstStyle/>
              <a:p>
                <a:pPr algn="ctr"/>
                <a:r>
                  <a:rPr lang="en-GB" sz="3100" dirty="0">
                    <a:solidFill>
                      <a:srgbClr val="FF0000"/>
                    </a:solidFill>
                    <a:ea typeface="Cambria Math"/>
                    <a:cs typeface="Cambria Math"/>
                  </a:rPr>
                  <a:t>Output</a:t>
                </a:r>
                <a:r>
                  <a:rPr lang="en-GB" sz="3100" dirty="0">
                    <a:solidFill>
                      <a:srgbClr val="087F83"/>
                    </a:solidFill>
                    <a:ea typeface="Cambria Math"/>
                    <a:cs typeface="Cambria Math"/>
                  </a:rPr>
                  <a:t>: </a:t>
                </a:r>
                <a14:m>
                  <m:oMath xmlns:m="http://schemas.openxmlformats.org/officeDocument/2006/math">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𝐟</m:t>
                        </m:r>
                      </m:e>
                      <m:sub>
                        <m:r>
                          <a:rPr lang="en-GB" sz="3100">
                            <a:solidFill>
                              <a:srgbClr val="087F83"/>
                            </a:solidFill>
                            <a:latin typeface="Cambria Math"/>
                            <a:ea typeface="Cambria Math"/>
                            <a:cs typeface="Cambria Math"/>
                          </a:rPr>
                          <m:t>𝛉</m:t>
                        </m:r>
                      </m:sub>
                    </m:sSub>
                    <m:r>
                      <a:rPr lang="en-GB" sz="3100">
                        <a:solidFill>
                          <a:srgbClr val="087F83"/>
                        </a:solidFill>
                        <a:latin typeface="Cambria Math"/>
                        <a:ea typeface="Cambria Math"/>
                        <a:cs typeface="Cambria Math"/>
                      </a:rPr>
                      <m:t>(</m:t>
                    </m:r>
                    <m:r>
                      <a:rPr lang="en-GB" sz="3100">
                        <a:solidFill>
                          <a:srgbClr val="087F83"/>
                        </a:solidFill>
                        <a:latin typeface="Cambria Math"/>
                        <a:ea typeface="Cambria Math"/>
                        <a:cs typeface="Cambria Math"/>
                      </a:rPr>
                      <m:t>𝐱</m:t>
                    </m:r>
                    <m:r>
                      <a:rPr lang="en-GB" sz="3100">
                        <a:solidFill>
                          <a:srgbClr val="087F83"/>
                        </a:solidFill>
                        <a:latin typeface="Cambria Math"/>
                        <a:ea typeface="Cambria Math"/>
                        <a:cs typeface="Cambria Math"/>
                      </a:rPr>
                      <m:t>)≔</m:t>
                    </m:r>
                    <m:r>
                      <a:rPr lang="en-GB" sz="3100">
                        <a:solidFill>
                          <a:srgbClr val="087F83"/>
                        </a:solidFill>
                        <a:latin typeface="Cambria Math"/>
                        <a:ea typeface="Cambria Math"/>
                        <a:cs typeface="Cambria Math"/>
                      </a:rPr>
                      <m:t>𝛟</m:t>
                    </m:r>
                    <m:r>
                      <a:rPr lang="en-GB" sz="3100">
                        <a:solidFill>
                          <a:srgbClr val="087F83"/>
                        </a:solidFill>
                        <a:latin typeface="Cambria Math"/>
                        <a:ea typeface="Cambria Math"/>
                        <a:cs typeface="Cambria Math"/>
                      </a:rPr>
                      <m:t>(</m:t>
                    </m:r>
                    <m:r>
                      <a:rPr lang="en-GB" sz="3100">
                        <a:solidFill>
                          <a:srgbClr val="087F83"/>
                        </a:solidFill>
                        <a:latin typeface="Cambria Math"/>
                        <a:ea typeface="Cambria Math"/>
                        <a:cs typeface="Cambria Math"/>
                      </a:rPr>
                      <m:t>𝐱</m:t>
                    </m:r>
                    <m:r>
                      <a:rPr lang="en-GB" sz="3100">
                        <a:solidFill>
                          <a:srgbClr val="087F83"/>
                        </a:solidFill>
                        <a:latin typeface="Cambria Math"/>
                        <a:ea typeface="Cambria Math"/>
                        <a:cs typeface="Cambria Math"/>
                      </a:rPr>
                      <m:t>)</m:t>
                    </m:r>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𝐖</m:t>
                        </m:r>
                      </m:e>
                      <m:sub>
                        <m:r>
                          <m:rPr>
                            <m:sty m:val="p"/>
                          </m:rPr>
                          <a:rPr lang="en-GB" sz="3100">
                            <a:solidFill>
                              <a:srgbClr val="087F83"/>
                            </a:solidFill>
                            <a:latin typeface="Cambria Math"/>
                            <a:ea typeface="Cambria Math"/>
                            <a:cs typeface="Cambria Math"/>
                          </a:rPr>
                          <m:t>out</m:t>
                        </m:r>
                      </m:sub>
                    </m:sSub>
                    <m:r>
                      <a:rPr lang="en-GB" sz="3100">
                        <a:solidFill>
                          <a:srgbClr val="087F83"/>
                        </a:solidFill>
                        <a:latin typeface="Cambria Math"/>
                        <a:ea typeface="Cambria Math"/>
                        <a:cs typeface="Cambria Math"/>
                      </a:rPr>
                      <m:t>+</m:t>
                    </m:r>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𝐛</m:t>
                        </m:r>
                      </m:e>
                      <m:sub>
                        <m:r>
                          <m:rPr>
                            <m:sty m:val="p"/>
                          </m:rPr>
                          <a:rPr lang="en-GB" sz="3100">
                            <a:solidFill>
                              <a:srgbClr val="087F83"/>
                            </a:solidFill>
                            <a:latin typeface="Cambria Math"/>
                            <a:ea typeface="Cambria Math"/>
                            <a:cs typeface="Cambria Math"/>
                          </a:rPr>
                          <m:t>out</m:t>
                        </m:r>
                      </m:sub>
                    </m:sSub>
                  </m:oMath>
                </a14:m>
                <a:endParaRPr lang="en-GB" sz="3100" dirty="0"/>
              </a:p>
            </p:txBody>
          </p:sp>
        </mc:Choice>
        <mc:Fallback xmlns="">
          <p:sp>
            <p:nvSpPr>
              <p:cNvPr id="8" name="output_row" descr="\mathbf{f}_{\boldsymbol{\theta}}(\mathbf{x})=\boldsymbol{\phi}(\mathbf{x})\mathbf{W}_{\mathrm{out}}+\mathbf{b}_{\mathrm{out}}">
                <a:extLst>
                  <a:ext uri="{FF2B5EF4-FFF2-40B4-BE49-F238E27FC236}">
                    <a16:creationId xmlns:a16="http://schemas.microsoft.com/office/drawing/2014/main" id="{E09AAAA5-8FCB-4F0A-BBD7-A17267D45C18}"/>
                  </a:ext>
                </a:extLst>
              </p:cNvPr>
              <p:cNvSpPr>
                <a:spLocks noGrp="1" noRot="1" noChangeAspect="1" noMove="1" noResize="1" noEditPoints="1" noAdjustHandles="1" noChangeArrowheads="1" noChangeShapeType="1" noTextEdit="1"/>
              </p:cNvSpPr>
              <p:nvPr/>
            </p:nvSpPr>
            <p:spPr>
              <a:xfrm>
                <a:off x="571500" y="5026819"/>
                <a:ext cx="11049000" cy="714375"/>
              </a:xfrm>
              <a:prstGeom prst="rect">
                <a:avLst/>
              </a:prstGeom>
              <a:blipFill>
                <a:blip r:embed="rId7"/>
                <a:stretch>
                  <a:fillRect t="-855" b="-1709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parameter_column">
                <a:extLst>
                  <a:ext uri="{FF2B5EF4-FFF2-40B4-BE49-F238E27FC236}">
                    <a16:creationId xmlns:a16="http://schemas.microsoft.com/office/drawing/2014/main" id="{5FFFA0A6-BBC1-4A35-8D0B-B5935114C0EC}"/>
                  </a:ext>
                </a:extLst>
              </p:cNvPr>
              <p:cNvSpPr>
                <a:spLocks noGrp="1"/>
              </p:cNvSpPr>
              <p:nvPr/>
            </p:nvSpPr>
            <p:spPr>
              <a:xfrm>
                <a:off x="523875" y="5838158"/>
                <a:ext cx="11144250" cy="542925"/>
              </a:xfrm>
              <a:prstGeom prst="rect">
                <a:avLst/>
              </a:prstGeom>
              <a:noFill/>
              <a:ln w="0">
                <a:noFill/>
              </a:ln>
            </p:spPr>
            <p:txBody>
              <a:bodyPr anchor="ctr">
                <a:noAutofit/>
              </a:bodyPr>
              <a:lstStyle/>
              <a:p>
                <a:pPr algn="ctr">
                  <a:defRPr sz="2025" b="1">
                    <a:solidFill>
                      <a:srgbClr val="182D45"/>
                    </a:solidFill>
                    <a:latin typeface="DejaVu Sans"/>
                    <a:ea typeface="DejaVu Sans"/>
                    <a:cs typeface="DejaVu Sans"/>
                  </a:defRPr>
                </a:pPr>
                <a:r>
                  <a:rPr sz="2025" b="1" dirty="0">
                    <a:solidFill>
                      <a:srgbClr val="182D45"/>
                    </a:solidFill>
                    <a:latin typeface="DejaVu Sans"/>
                    <a:ea typeface="DejaVu Sans"/>
                    <a:cs typeface="DejaVu Sans"/>
                  </a:rPr>
                  <a:t>The</a:t>
                </a:r>
                <a:r>
                  <a:rPr lang="it-IT" sz="2025" b="1" dirty="0">
                    <a:solidFill>
                      <a:srgbClr val="182D45"/>
                    </a:solidFill>
                    <a:latin typeface="DejaVu Sans"/>
                    <a:ea typeface="DejaVu Sans"/>
                    <a:cs typeface="DejaVu Sans"/>
                  </a:rPr>
                  <a:t> </a:t>
                </a:r>
                <a:r>
                  <a:rPr lang="it-IT" sz="2025" b="1" dirty="0" err="1">
                    <a:solidFill>
                      <a:srgbClr val="182D45"/>
                    </a:solidFill>
                    <a:latin typeface="DejaVu Sans"/>
                    <a:ea typeface="DejaVu Sans"/>
                    <a:cs typeface="DejaVu Sans"/>
                  </a:rPr>
                  <a:t>parameter</a:t>
                </a:r>
                <a:r>
                  <a:rPr sz="2025" b="1" dirty="0">
                    <a:solidFill>
                      <a:srgbClr val="182D45"/>
                    </a:solidFill>
                    <a:latin typeface="DejaVu Sans"/>
                    <a:ea typeface="DejaVu Sans"/>
                    <a:cs typeface="DejaVu Sans"/>
                  </a:rPr>
                  <a:t> column </a:t>
                </a:r>
                <a14:m>
                  <m:oMath xmlns:m="http://schemas.openxmlformats.org/officeDocument/2006/math">
                    <m:r>
                      <a:rPr lang="it-IT" sz="2025" b="1" i="0" dirty="0" smtClean="0">
                        <a:solidFill>
                          <a:srgbClr val="182D45"/>
                        </a:solidFill>
                        <a:latin typeface="Cambria Math" panose="02040503050406030204" pitchFamily="18" charset="0"/>
                        <a:ea typeface="DejaVu Sans"/>
                        <a:cs typeface="DejaVu Sans"/>
                      </a:rPr>
                      <m:t>𝛉</m:t>
                    </m:r>
                  </m:oMath>
                </a14:m>
                <a:r>
                  <a:rPr sz="2025" b="1" dirty="0">
                    <a:solidFill>
                      <a:srgbClr val="182D45"/>
                    </a:solidFill>
                    <a:latin typeface="DejaVu Sans"/>
                    <a:ea typeface="DejaVu Sans"/>
                    <a:cs typeface="DejaVu Sans"/>
                  </a:rPr>
                  <a:t> collects all adjustable weights and biases.</a:t>
                </a:r>
              </a:p>
            </p:txBody>
          </p:sp>
        </mc:Choice>
        <mc:Fallback xmlns="">
          <p:sp>
            <p:nvSpPr>
              <p:cNvPr id="9" name="parameter_column">
                <a:extLst>
                  <a:ext uri="{FF2B5EF4-FFF2-40B4-BE49-F238E27FC236}">
                    <a16:creationId xmlns:a16="http://schemas.microsoft.com/office/drawing/2014/main" id="{5FFFA0A6-BBC1-4A35-8D0B-B5935114C0EC}"/>
                  </a:ext>
                </a:extLst>
              </p:cNvPr>
              <p:cNvSpPr>
                <a:spLocks noGrp="1" noRot="1" noChangeAspect="1" noMove="1" noResize="1" noEditPoints="1" noAdjustHandles="1" noChangeArrowheads="1" noChangeShapeType="1" noTextEdit="1"/>
              </p:cNvSpPr>
              <p:nvPr/>
            </p:nvSpPr>
            <p:spPr>
              <a:xfrm>
                <a:off x="523875" y="5838158"/>
                <a:ext cx="11144250" cy="542925"/>
              </a:xfrm>
              <a:prstGeom prst="rect">
                <a:avLst/>
              </a:prstGeom>
              <a:blipFill>
                <a:blip r:embed="rId8"/>
                <a:stretch>
                  <a:fillRect b="-5618"/>
                </a:stretch>
              </a:blipFill>
              <a:ln w="0">
                <a:noFill/>
              </a:ln>
            </p:spPr>
            <p:txBody>
              <a:bodyPr/>
              <a:lstStyle/>
              <a:p>
                <a:r>
                  <a:rPr lang="it-IT">
                    <a:noFill/>
                  </a:rPr>
                  <a:t> </a:t>
                </a:r>
              </a:p>
            </p:txBody>
          </p:sp>
        </mc:Fallback>
      </mc:AlternateContent>
      <p:sp>
        <p:nvSpPr>
          <p:cNvPr id="10" name="footer_course">
            <a:extLst>
              <a:ext uri="{FF2B5EF4-FFF2-40B4-BE49-F238E27FC236}">
                <a16:creationId xmlns:a16="http://schemas.microsoft.com/office/drawing/2014/main" id="{A39A48FC-4BFC-48F5-B8F8-8E14B4D5108C}"/>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11" name="footer_number">
            <a:extLst>
              <a:ext uri="{FF2B5EF4-FFF2-40B4-BE49-F238E27FC236}">
                <a16:creationId xmlns:a16="http://schemas.microsoft.com/office/drawing/2014/main" id="{681581FA-EE25-4A39-8637-CC7556EBA0CC}"/>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17</a:t>
            </a:r>
          </a:p>
        </p:txBody>
      </p:sp>
      <mc:AlternateContent xmlns:mc="http://schemas.openxmlformats.org/markup-compatibility/2006" xmlns:a14="http://schemas.microsoft.com/office/drawing/2010/main">
        <mc:Choice Requires="a14">
          <p:sp>
            <p:nvSpPr>
              <p:cNvPr id="12" name="equation_2" descr="\mathbf{ReLU}(\mathbf{a})=(\operatorname{ReLU}(a_1),\ldots,\operatorname{ReLU}(a_m))">
                <a:extLst>
                  <a:ext uri="{FF2B5EF4-FFF2-40B4-BE49-F238E27FC236}">
                    <a16:creationId xmlns:a16="http://schemas.microsoft.com/office/drawing/2014/main" id="{F9123351-9FBA-9E75-C840-BFA35FD26C68}"/>
                  </a:ext>
                </a:extLst>
              </p:cNvPr>
              <p:cNvSpPr>
                <a:spLocks noGrp="1"/>
              </p:cNvSpPr>
              <p:nvPr/>
            </p:nvSpPr>
            <p:spPr>
              <a:xfrm>
                <a:off x="428625" y="4171950"/>
                <a:ext cx="11430000" cy="952500"/>
              </a:xfrm>
              <a:prstGeom prst="rect">
                <a:avLst/>
              </a:prstGeom>
              <a:noFill/>
              <a:ln w="0">
                <a:noFill/>
              </a:ln>
            </p:spPr>
            <p:txBody>
              <a:bodyPr vertOverflow="overflow" horzOverflow="overflow" wrap="none" lIns="0" tIns="0" rIns="0" bIns="0" anchor="ctr">
                <a:noAutofit/>
              </a:bodyPr>
              <a:lstStyle/>
              <a:p>
                <a:pPr algn="ctr"/>
                <a:r>
                  <a:rPr lang="en-GB" sz="2900" dirty="0">
                    <a:solidFill>
                      <a:srgbClr val="087F83"/>
                    </a:solidFill>
                    <a:ea typeface="Cambria Math"/>
                    <a:cs typeface="Cambria Math"/>
                  </a:rPr>
                  <a:t>where    </a:t>
                </a:r>
                <a14:m>
                  <m:oMath xmlns:m="http://schemas.openxmlformats.org/officeDocument/2006/math">
                    <m:r>
                      <a:rPr lang="en-GB" sz="2900" smtClean="0">
                        <a:solidFill>
                          <a:srgbClr val="087F83"/>
                        </a:solidFill>
                        <a:latin typeface="Cambria Math"/>
                        <a:ea typeface="Cambria Math"/>
                        <a:cs typeface="Cambria Math"/>
                      </a:rPr>
                      <m:t>𝐑𝐞𝐋𝐔</m:t>
                    </m:r>
                    <m:r>
                      <a:rPr lang="en-GB" sz="2900" smtClean="0">
                        <a:solidFill>
                          <a:srgbClr val="087F83"/>
                        </a:solidFill>
                        <a:latin typeface="Cambria Math"/>
                        <a:ea typeface="Cambria Math"/>
                        <a:cs typeface="Cambria Math"/>
                      </a:rPr>
                      <m:t>(</m:t>
                    </m:r>
                    <m:r>
                      <a:rPr lang="en-GB" sz="2900" smtClean="0">
                        <a:solidFill>
                          <a:srgbClr val="087F83"/>
                        </a:solidFill>
                        <a:latin typeface="Cambria Math"/>
                        <a:ea typeface="Cambria Math"/>
                        <a:cs typeface="Cambria Math"/>
                      </a:rPr>
                      <m:t>𝐚</m:t>
                    </m:r>
                    <m:r>
                      <a:rPr lang="en-GB" sz="2900" smtClean="0">
                        <a:solidFill>
                          <a:srgbClr val="087F83"/>
                        </a:solidFill>
                        <a:latin typeface="Cambria Math"/>
                        <a:ea typeface="Cambria Math"/>
                        <a:cs typeface="Cambria Math"/>
                      </a:rPr>
                      <m:t>)≔</m:t>
                    </m:r>
                    <m:d>
                      <m:dPr>
                        <m:ctrlPr>
                          <a:rPr lang="en-GB" sz="2900" smtClean="0">
                            <a:solidFill>
                              <a:srgbClr val="087F83"/>
                            </a:solidFill>
                            <a:latin typeface="Cambria Math"/>
                            <a:ea typeface="Cambria Math"/>
                            <a:cs typeface="Cambria Math"/>
                          </a:rPr>
                        </m:ctrlPr>
                      </m:dPr>
                      <m:e>
                        <m:r>
                          <m:rPr>
                            <m:sty m:val="p"/>
                          </m:rPr>
                          <a:rPr lang="en-GB" sz="2900" smtClean="0">
                            <a:solidFill>
                              <a:srgbClr val="087F83"/>
                            </a:solidFill>
                            <a:latin typeface="Cambria Math"/>
                            <a:ea typeface="Cambria Math"/>
                            <a:cs typeface="Cambria Math"/>
                          </a:rPr>
                          <m:t>ReLU</m:t>
                        </m:r>
                        <m:d>
                          <m:dPr>
                            <m:ctrlPr>
                              <a:rPr lang="en-GB" sz="2900" i="1">
                                <a:solidFill>
                                  <a:srgbClr val="087F83"/>
                                </a:solidFill>
                                <a:latin typeface="Cambria Math" panose="02040503050406030204" pitchFamily="18" charset="0"/>
                                <a:ea typeface="Cambria Math"/>
                                <a:cs typeface="Cambria Math"/>
                              </a:rPr>
                            </m:ctrlPr>
                          </m:dPr>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𝑎</m:t>
                                </m:r>
                              </m:e>
                              <m:sub>
                                <m:r>
                                  <a:rPr lang="en-GB" sz="2900">
                                    <a:solidFill>
                                      <a:srgbClr val="087F83"/>
                                    </a:solidFill>
                                    <a:latin typeface="Cambria Math"/>
                                    <a:ea typeface="Cambria Math"/>
                                    <a:cs typeface="Cambria Math"/>
                                  </a:rPr>
                                  <m:t>1</m:t>
                                </m:r>
                              </m:sub>
                            </m:sSub>
                          </m:e>
                        </m:d>
                        <m:r>
                          <a:rPr lang="en-GB" sz="2900">
                            <a:solidFill>
                              <a:srgbClr val="087F83"/>
                            </a:solidFill>
                            <a:latin typeface="Cambria Math"/>
                            <a:ea typeface="Cambria Math"/>
                            <a:cs typeface="Cambria Math"/>
                          </a:rPr>
                          <m:t>,…,</m:t>
                        </m:r>
                        <m:r>
                          <m:rPr>
                            <m:sty m:val="p"/>
                          </m:rPr>
                          <a:rPr lang="en-GB" sz="2900">
                            <a:solidFill>
                              <a:srgbClr val="087F83"/>
                            </a:solidFill>
                            <a:latin typeface="Cambria Math"/>
                            <a:ea typeface="Cambria Math"/>
                            <a:cs typeface="Cambria Math"/>
                          </a:rPr>
                          <m:t>ReLU</m:t>
                        </m:r>
                        <m:d>
                          <m:dPr>
                            <m:ctrlPr>
                              <a:rPr lang="en-GB" sz="2900" i="1">
                                <a:solidFill>
                                  <a:srgbClr val="087F83"/>
                                </a:solidFill>
                                <a:latin typeface="Cambria Math" panose="02040503050406030204" pitchFamily="18" charset="0"/>
                                <a:ea typeface="Cambria Math"/>
                                <a:cs typeface="Cambria Math"/>
                              </a:rPr>
                            </m:ctrlPr>
                          </m:dPr>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𝑎</m:t>
                                </m:r>
                              </m:e>
                              <m:sub>
                                <m:r>
                                  <a:rPr lang="en-GB" sz="2900">
                                    <a:solidFill>
                                      <a:srgbClr val="087F83"/>
                                    </a:solidFill>
                                    <a:latin typeface="Cambria Math"/>
                                    <a:ea typeface="Cambria Math"/>
                                    <a:cs typeface="Cambria Math"/>
                                  </a:rPr>
                                  <m:t>𝑚</m:t>
                                </m:r>
                              </m:sub>
                            </m:sSub>
                          </m:e>
                        </m:d>
                      </m:e>
                    </m:d>
                  </m:oMath>
                </a14:m>
                <a:endParaRPr lang="en-GB" sz="2900" dirty="0"/>
              </a:p>
            </p:txBody>
          </p:sp>
        </mc:Choice>
        <mc:Fallback xmlns="">
          <p:sp>
            <p:nvSpPr>
              <p:cNvPr id="12" name="equation_2" descr="\mathbf{ReLU}(\mathbf{a})=(\operatorname{ReLU}(a_1),\ldots,\operatorname{ReLU}(a_m))">
                <a:extLst>
                  <a:ext uri="{FF2B5EF4-FFF2-40B4-BE49-F238E27FC236}">
                    <a16:creationId xmlns:a16="http://schemas.microsoft.com/office/drawing/2014/main" id="{F9123351-9FBA-9E75-C840-BFA35FD26C68}"/>
                  </a:ext>
                </a:extLst>
              </p:cNvPr>
              <p:cNvSpPr>
                <a:spLocks noGrp="1" noRot="1" noChangeAspect="1" noMove="1" noResize="1" noEditPoints="1" noAdjustHandles="1" noChangeArrowheads="1" noChangeShapeType="1" noTextEdit="1"/>
              </p:cNvSpPr>
              <p:nvPr/>
            </p:nvSpPr>
            <p:spPr>
              <a:xfrm>
                <a:off x="428625" y="4171950"/>
                <a:ext cx="11430000" cy="952500"/>
              </a:xfrm>
              <a:prstGeom prst="rect">
                <a:avLst/>
              </a:prstGeom>
              <a:blipFill>
                <a:blip r:embed="rId9"/>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768619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03C39BD-9749-4001-8C81-D6D988DF918A}"/>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Learning</a:t>
            </a:r>
            <a:r>
              <a:rPr lang="it-IT" sz="3300" b="1" dirty="0">
                <a:solidFill>
                  <a:srgbClr val="182D45"/>
                </a:solidFill>
                <a:latin typeface="DejaVu Sans"/>
                <a:ea typeface="DejaVu Sans"/>
                <a:cs typeface="DejaVu Sans"/>
              </a:rPr>
              <a:t> can</a:t>
            </a:r>
            <a:r>
              <a:rPr sz="3300" b="1" dirty="0">
                <a:solidFill>
                  <a:srgbClr val="182D45"/>
                </a:solidFill>
                <a:latin typeface="DejaVu Sans"/>
                <a:ea typeface="DejaVu Sans"/>
                <a:cs typeface="DejaVu Sans"/>
              </a:rPr>
              <a:t> change the feature functions</a:t>
            </a:r>
          </a:p>
        </p:txBody>
      </p:sp>
      <p:sp>
        <p:nvSpPr>
          <p:cNvPr id="3" name="lead">
            <a:extLst>
              <a:ext uri="{FF2B5EF4-FFF2-40B4-BE49-F238E27FC236}">
                <a16:creationId xmlns:a16="http://schemas.microsoft.com/office/drawing/2014/main" id="{DEC02672-B017-45E5-BA05-602708D5FAE2}"/>
              </a:ext>
            </a:extLst>
          </p:cNvPr>
          <p:cNvSpPr>
            <a:spLocks noGrp="1"/>
          </p:cNvSpPr>
          <p:nvPr/>
        </p:nvSpPr>
        <p:spPr>
          <a:xfrm>
            <a:off x="523875" y="1000125"/>
            <a:ext cx="11144250" cy="590550"/>
          </a:xfrm>
          <a:prstGeom prst="rect">
            <a:avLst/>
          </a:prstGeom>
          <a:noFill/>
          <a:ln w="0">
            <a:noFill/>
          </a:ln>
        </p:spPr>
        <p:txBody>
          <a:bodyPr anchor="ctr">
            <a:noAutofit/>
          </a:bodyPr>
          <a:lstStyle/>
          <a:p>
            <a:pPr algn="ctr">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An illustrative change to the first neuron's weights and bias.</a:t>
            </a:r>
          </a:p>
        </p:txBody>
      </p:sp>
      <p:sp>
        <p:nvSpPr>
          <p:cNvPr id="4" name="original_heading">
            <a:extLst>
              <a:ext uri="{FF2B5EF4-FFF2-40B4-BE49-F238E27FC236}">
                <a16:creationId xmlns:a16="http://schemas.microsoft.com/office/drawing/2014/main" id="{E5B29505-5CB6-4788-8ECE-639579089696}"/>
              </a:ext>
            </a:extLst>
          </p:cNvPr>
          <p:cNvSpPr>
            <a:spLocks noGrp="1"/>
          </p:cNvSpPr>
          <p:nvPr/>
        </p:nvSpPr>
        <p:spPr>
          <a:xfrm>
            <a:off x="685800" y="1619250"/>
            <a:ext cx="5143500" cy="314325"/>
          </a:xfrm>
          <a:prstGeom prst="rect">
            <a:avLst/>
          </a:prstGeom>
          <a:noFill/>
          <a:ln w="0">
            <a:noFill/>
          </a:ln>
        </p:spPr>
        <p:txBody>
          <a:bodyPr anchor="ctr">
            <a:noAutofit/>
          </a:bodyPr>
          <a:lstStyle/>
          <a:p>
            <a:pPr algn="ctr">
              <a:defRPr sz="1800" b="1">
                <a:solidFill>
                  <a:srgbClr val="182D45"/>
                </a:solidFill>
                <a:latin typeface="DejaVu Sans"/>
                <a:ea typeface="DejaVu Sans"/>
                <a:cs typeface="DejaVu Sans"/>
              </a:defRPr>
            </a:pPr>
            <a:r>
              <a:rPr sz="1800" b="1" dirty="0">
                <a:solidFill>
                  <a:srgbClr val="182D45"/>
                </a:solidFill>
                <a:latin typeface="DejaVu Sans"/>
                <a:ea typeface="DejaVu Sans"/>
                <a:cs typeface="DejaVu Sans"/>
              </a:rPr>
              <a:t>Original parameters</a:t>
            </a:r>
          </a:p>
        </p:txBody>
      </p:sp>
      <p:sp>
        <p:nvSpPr>
          <p:cNvPr id="5" name="changed_heading">
            <a:extLst>
              <a:ext uri="{FF2B5EF4-FFF2-40B4-BE49-F238E27FC236}">
                <a16:creationId xmlns:a16="http://schemas.microsoft.com/office/drawing/2014/main" id="{4FAED998-04D0-4968-8387-1F02FD01D336}"/>
              </a:ext>
            </a:extLst>
          </p:cNvPr>
          <p:cNvSpPr>
            <a:spLocks noGrp="1"/>
          </p:cNvSpPr>
          <p:nvPr/>
        </p:nvSpPr>
        <p:spPr>
          <a:xfrm>
            <a:off x="6391275" y="1619250"/>
            <a:ext cx="5143500" cy="314325"/>
          </a:xfrm>
          <a:prstGeom prst="rect">
            <a:avLst/>
          </a:prstGeom>
          <a:noFill/>
          <a:ln w="0">
            <a:noFill/>
          </a:ln>
        </p:spPr>
        <p:txBody>
          <a:bodyPr anchor="ctr">
            <a:noAutofit/>
          </a:bodyPr>
          <a:lstStyle/>
          <a:p>
            <a:pPr algn="ctr">
              <a:defRPr sz="1800" b="1">
                <a:solidFill>
                  <a:srgbClr val="182D45"/>
                </a:solidFill>
                <a:latin typeface="DejaVu Sans"/>
                <a:ea typeface="DejaVu Sans"/>
                <a:cs typeface="DejaVu Sans"/>
              </a:defRPr>
            </a:pPr>
            <a:r>
              <a:rPr sz="1800" b="1">
                <a:solidFill>
                  <a:srgbClr val="182D45"/>
                </a:solidFill>
                <a:latin typeface="DejaVu Sans"/>
                <a:ea typeface="DejaVu Sans"/>
                <a:cs typeface="DejaVu Sans"/>
              </a:rPr>
              <a:t>Changed parameters</a:t>
            </a:r>
          </a:p>
        </p:txBody>
      </p:sp>
      <mc:AlternateContent xmlns:mc="http://schemas.openxmlformats.org/markup-compatibility/2006" xmlns:a14="http://schemas.microsoft.com/office/drawing/2010/main">
        <mc:Choice Requires="a14">
          <p:sp>
            <p:nvSpPr>
              <p:cNvPr id="6" name="original_formula" descr="\phi_1(\mathbf{x})=\operatorname{ReLU}(x_1-x_2)">
                <a:extLst>
                  <a:ext uri="{FF2B5EF4-FFF2-40B4-BE49-F238E27FC236}">
                    <a16:creationId xmlns:a16="http://schemas.microsoft.com/office/drawing/2014/main" id="{90573F4D-A3DE-4B95-8EFE-33B9C83F080B}"/>
                  </a:ext>
                </a:extLst>
              </p:cNvPr>
              <p:cNvSpPr>
                <a:spLocks noGrp="1"/>
              </p:cNvSpPr>
              <p:nvPr/>
            </p:nvSpPr>
            <p:spPr>
              <a:xfrm>
                <a:off x="561975" y="1971675"/>
                <a:ext cx="5381625" cy="4572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𝜙</m:t>
                          </m:r>
                        </m:e>
                        <m:sub>
                          <m:r>
                            <a:rPr lang="en-GB" sz="2600">
                              <a:solidFill>
                                <a:srgbClr val="087F83"/>
                              </a:solidFill>
                              <a:latin typeface="Cambria Math"/>
                              <a:ea typeface="Cambria Math"/>
                              <a:cs typeface="Cambria Math"/>
                            </a:rPr>
                            <m:t>1</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𝐱</m:t>
                          </m:r>
                        </m:e>
                      </m:d>
                      <m:r>
                        <a:rPr lang="en-GB" sz="2600">
                          <a:solidFill>
                            <a:srgbClr val="087F83"/>
                          </a:solidFill>
                          <a:latin typeface="Cambria Math"/>
                          <a:ea typeface="Cambria Math"/>
                          <a:cs typeface="Cambria Math"/>
                        </a:rPr>
                        <m:t>=</m:t>
                      </m:r>
                      <m:r>
                        <m:rPr>
                          <m:sty m:val="p"/>
                        </m:rPr>
                        <a:rPr lang="en-GB" sz="2600">
                          <a:solidFill>
                            <a:srgbClr val="087F83"/>
                          </a:solidFill>
                          <a:latin typeface="Cambria Math"/>
                          <a:ea typeface="Cambria Math"/>
                          <a:cs typeface="Cambria Math"/>
                        </a:rPr>
                        <m:t>ReLU</m:t>
                      </m:r>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2</m:t>
                              </m:r>
                            </m:sub>
                          </m:sSub>
                        </m:e>
                      </m:d>
                    </m:oMath>
                  </m:oMathPara>
                </a14:m>
                <a:endParaRPr lang="en-GB" sz="2600" dirty="0"/>
              </a:p>
            </p:txBody>
          </p:sp>
        </mc:Choice>
        <mc:Fallback xmlns="">
          <p:sp>
            <p:nvSpPr>
              <p:cNvPr id="6" name="original_formula" descr="\phi_1(\mathbf{x})=\operatorname{ReLU}(x_1-x_2)">
                <a:extLst>
                  <a:ext uri="{FF2B5EF4-FFF2-40B4-BE49-F238E27FC236}">
                    <a16:creationId xmlns:a16="http://schemas.microsoft.com/office/drawing/2014/main" id="{90573F4D-A3DE-4B95-8EFE-33B9C83F080B}"/>
                  </a:ext>
                </a:extLst>
              </p:cNvPr>
              <p:cNvSpPr>
                <a:spLocks noGrp="1" noRot="1" noChangeAspect="1" noMove="1" noResize="1" noEditPoints="1" noAdjustHandles="1" noChangeArrowheads="1" noChangeShapeType="1" noTextEdit="1"/>
              </p:cNvSpPr>
              <p:nvPr/>
            </p:nvSpPr>
            <p:spPr>
              <a:xfrm>
                <a:off x="561975" y="1971675"/>
                <a:ext cx="5381625" cy="45720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hanged_formula" descr="\widetilde{\phi}_1(\mathbf{x})=\operatorname{ReLU}(x_1+x_2-1)">
                <a:extLst>
                  <a:ext uri="{FF2B5EF4-FFF2-40B4-BE49-F238E27FC236}">
                    <a16:creationId xmlns:a16="http://schemas.microsoft.com/office/drawing/2014/main" id="{8785B0CC-82C3-4134-B4B5-9D09FECC0CA1}"/>
                  </a:ext>
                </a:extLst>
              </p:cNvPr>
              <p:cNvSpPr>
                <a:spLocks noGrp="1"/>
              </p:cNvSpPr>
              <p:nvPr/>
            </p:nvSpPr>
            <p:spPr>
              <a:xfrm>
                <a:off x="6286500" y="1971675"/>
                <a:ext cx="5381625" cy="4572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i="1">
                              <a:solidFill>
                                <a:srgbClr val="087F83"/>
                              </a:solidFill>
                              <a:latin typeface="Cambria Math" panose="02040503050406030204" pitchFamily="18" charset="0"/>
                              <a:ea typeface="Cambria Math"/>
                              <a:cs typeface="Cambria Math"/>
                            </a:rPr>
                          </m:ctrlPr>
                        </m:sSubPr>
                        <m:e>
                          <m:acc>
                            <m:accPr>
                              <m:chr m:val="̃"/>
                              <m:ctrlPr>
                                <a:rPr lang="en-GB" sz="2600">
                                  <a:solidFill>
                                    <a:srgbClr val="087F83"/>
                                  </a:solidFill>
                                  <a:latin typeface="Cambria Math"/>
                                  <a:ea typeface="Cambria Math"/>
                                  <a:cs typeface="Cambria Math"/>
                                </a:rPr>
                              </m:ctrlPr>
                            </m:accPr>
                            <m:e>
                              <m:r>
                                <a:rPr lang="en-GB" sz="2600">
                                  <a:solidFill>
                                    <a:srgbClr val="087F83"/>
                                  </a:solidFill>
                                  <a:latin typeface="Cambria Math"/>
                                  <a:ea typeface="Cambria Math"/>
                                  <a:cs typeface="Cambria Math"/>
                                </a:rPr>
                                <m:t>𝜙</m:t>
                              </m:r>
                            </m:e>
                          </m:acc>
                        </m:e>
                        <m:sub>
                          <m:r>
                            <a:rPr lang="en-GB" sz="2600">
                              <a:solidFill>
                                <a:srgbClr val="087F83"/>
                              </a:solidFill>
                              <a:latin typeface="Cambria Math"/>
                              <a:ea typeface="Cambria Math"/>
                              <a:cs typeface="Cambria Math"/>
                            </a:rPr>
                            <m:t>1</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𝐱</m:t>
                          </m:r>
                        </m:e>
                      </m:d>
                      <m:r>
                        <a:rPr lang="en-GB" sz="2600">
                          <a:solidFill>
                            <a:srgbClr val="087F83"/>
                          </a:solidFill>
                          <a:latin typeface="Cambria Math"/>
                          <a:ea typeface="Cambria Math"/>
                          <a:cs typeface="Cambria Math"/>
                        </a:rPr>
                        <m:t>=</m:t>
                      </m:r>
                      <m:r>
                        <m:rPr>
                          <m:sty m:val="p"/>
                        </m:rPr>
                        <a:rPr lang="en-GB" sz="2600">
                          <a:solidFill>
                            <a:srgbClr val="087F83"/>
                          </a:solidFill>
                          <a:latin typeface="Cambria Math"/>
                          <a:ea typeface="Cambria Math"/>
                          <a:cs typeface="Cambria Math"/>
                        </a:rPr>
                        <m:t>ReLU</m:t>
                      </m:r>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2</m:t>
                              </m:r>
                            </m:sub>
                          </m:sSub>
                          <m:r>
                            <a:rPr lang="en-GB" sz="2600">
                              <a:solidFill>
                                <a:srgbClr val="087F83"/>
                              </a:solidFill>
                              <a:latin typeface="Cambria Math"/>
                              <a:ea typeface="Cambria Math"/>
                              <a:cs typeface="Cambria Math"/>
                            </a:rPr>
                            <m:t>−1</m:t>
                          </m:r>
                        </m:e>
                      </m:d>
                    </m:oMath>
                  </m:oMathPara>
                </a14:m>
                <a:endParaRPr lang="en-GB" sz="2600" dirty="0"/>
              </a:p>
            </p:txBody>
          </p:sp>
        </mc:Choice>
        <mc:Fallback xmlns="">
          <p:sp>
            <p:nvSpPr>
              <p:cNvPr id="7" name="changed_formula" descr="\widetilde{\phi}_1(\mathbf{x})=\operatorname{ReLU}(x_1+x_2-1)">
                <a:extLst>
                  <a:ext uri="{FF2B5EF4-FFF2-40B4-BE49-F238E27FC236}">
                    <a16:creationId xmlns:a16="http://schemas.microsoft.com/office/drawing/2014/main" id="{8785B0CC-82C3-4134-B4B5-9D09FECC0CA1}"/>
                  </a:ext>
                </a:extLst>
              </p:cNvPr>
              <p:cNvSpPr>
                <a:spLocks noGrp="1" noRot="1" noChangeAspect="1" noMove="1" noResize="1" noEditPoints="1" noAdjustHandles="1" noChangeArrowheads="1" noChangeShapeType="1" noTextEdit="1"/>
              </p:cNvSpPr>
              <p:nvPr/>
            </p:nvSpPr>
            <p:spPr>
              <a:xfrm>
                <a:off x="6286500" y="1971675"/>
                <a:ext cx="5381625" cy="45720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original_parameters" descr="(W_{11},W_{21},b_1)=(1,-1,0)">
                <a:extLst>
                  <a:ext uri="{FF2B5EF4-FFF2-40B4-BE49-F238E27FC236}">
                    <a16:creationId xmlns:a16="http://schemas.microsoft.com/office/drawing/2014/main" id="{D087AFF9-B802-4B00-8D59-75385B481676}"/>
                  </a:ext>
                </a:extLst>
              </p:cNvPr>
              <p:cNvSpPr>
                <a:spLocks noGrp="1"/>
              </p:cNvSpPr>
              <p:nvPr/>
            </p:nvSpPr>
            <p:spPr>
              <a:xfrm>
                <a:off x="523875" y="2409825"/>
                <a:ext cx="547687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i="1">
                              <a:solidFill>
                                <a:srgbClr val="526276"/>
                              </a:solidFill>
                              <a:latin typeface="Cambria Math" panose="02040503050406030204" pitchFamily="18" charset="0"/>
                              <a:ea typeface="Cambria Math"/>
                              <a:cs typeface="Cambria Math"/>
                            </a:rPr>
                          </m:ctrlPr>
                        </m:dPr>
                        <m:e>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𝑊</m:t>
                              </m:r>
                            </m:e>
                            <m:sub>
                              <m:r>
                                <a:rPr lang="en-GB" sz="2000">
                                  <a:solidFill>
                                    <a:srgbClr val="526276"/>
                                  </a:solidFill>
                                  <a:latin typeface="Cambria Math"/>
                                  <a:ea typeface="Cambria Math"/>
                                  <a:cs typeface="Cambria Math"/>
                                </a:rPr>
                                <m:t>11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𝑊</m:t>
                              </m:r>
                            </m:e>
                            <m:sub>
                              <m:r>
                                <a:rPr lang="en-GB" sz="2000">
                                  <a:solidFill>
                                    <a:srgbClr val="526276"/>
                                  </a:solidFill>
                                  <a:latin typeface="Cambria Math"/>
                                  <a:ea typeface="Cambria Math"/>
                                  <a:cs typeface="Cambria Math"/>
                                </a:rPr>
                                <m:t>21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1</m:t>
                              </m:r>
                            </m:sub>
                          </m:sSub>
                        </m:e>
                      </m:d>
                      <m:r>
                        <a:rPr lang="en-GB" sz="2000">
                          <a:solidFill>
                            <a:srgbClr val="526276"/>
                          </a:solidFill>
                          <a:latin typeface="Cambria Math"/>
                          <a:ea typeface="Cambria Math"/>
                          <a:cs typeface="Cambria Math"/>
                        </a:rPr>
                        <m:t>=(1,−1,0)</m:t>
                      </m:r>
                    </m:oMath>
                  </m:oMathPara>
                </a14:m>
                <a:endParaRPr lang="en-GB" sz="2000" dirty="0"/>
              </a:p>
            </p:txBody>
          </p:sp>
        </mc:Choice>
        <mc:Fallback xmlns="">
          <p:sp>
            <p:nvSpPr>
              <p:cNvPr id="8" name="original_parameters" descr="(W_{11},W_{21},b_1)=(1,-1,0)">
                <a:extLst>
                  <a:ext uri="{FF2B5EF4-FFF2-40B4-BE49-F238E27FC236}">
                    <a16:creationId xmlns:a16="http://schemas.microsoft.com/office/drawing/2014/main" id="{D087AFF9-B802-4B00-8D59-75385B481676}"/>
                  </a:ext>
                </a:extLst>
              </p:cNvPr>
              <p:cNvSpPr>
                <a:spLocks noGrp="1" noRot="1" noChangeAspect="1" noMove="1" noResize="1" noEditPoints="1" noAdjustHandles="1" noChangeArrowheads="1" noChangeShapeType="1" noTextEdit="1"/>
              </p:cNvSpPr>
              <p:nvPr/>
            </p:nvSpPr>
            <p:spPr>
              <a:xfrm>
                <a:off x="523875" y="2409825"/>
                <a:ext cx="5476875" cy="352425"/>
              </a:xfrm>
              <a:prstGeom prst="rect">
                <a:avLst/>
              </a:prstGeom>
              <a:blipFill>
                <a:blip r:embed="rId5"/>
                <a:stretch>
                  <a:fillRect b="-2413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changed_parameters" descr="(W_{11},W_{21},b_1)=(1,1,-1)">
                <a:extLst>
                  <a:ext uri="{FF2B5EF4-FFF2-40B4-BE49-F238E27FC236}">
                    <a16:creationId xmlns:a16="http://schemas.microsoft.com/office/drawing/2014/main" id="{C2AB45DB-7880-4938-9D27-6246F071AD1C}"/>
                  </a:ext>
                </a:extLst>
              </p:cNvPr>
              <p:cNvSpPr>
                <a:spLocks noGrp="1"/>
              </p:cNvSpPr>
              <p:nvPr/>
            </p:nvSpPr>
            <p:spPr>
              <a:xfrm>
                <a:off x="6238875" y="2409825"/>
                <a:ext cx="5476875" cy="352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i="1">
                              <a:solidFill>
                                <a:srgbClr val="526276"/>
                              </a:solidFill>
                              <a:latin typeface="Cambria Math" panose="02040503050406030204" pitchFamily="18" charset="0"/>
                              <a:ea typeface="Cambria Math"/>
                              <a:cs typeface="Cambria Math"/>
                            </a:rPr>
                          </m:ctrlPr>
                        </m:dPr>
                        <m:e>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𝑊</m:t>
                              </m:r>
                            </m:e>
                            <m:sub>
                              <m:r>
                                <a:rPr lang="en-GB" sz="2000">
                                  <a:solidFill>
                                    <a:srgbClr val="526276"/>
                                  </a:solidFill>
                                  <a:latin typeface="Cambria Math"/>
                                  <a:ea typeface="Cambria Math"/>
                                  <a:cs typeface="Cambria Math"/>
                                </a:rPr>
                                <m:t>11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𝑊</m:t>
                              </m:r>
                            </m:e>
                            <m:sub>
                              <m:r>
                                <a:rPr lang="en-GB" sz="2000">
                                  <a:solidFill>
                                    <a:srgbClr val="526276"/>
                                  </a:solidFill>
                                  <a:latin typeface="Cambria Math"/>
                                  <a:ea typeface="Cambria Math"/>
                                  <a:cs typeface="Cambria Math"/>
                                </a:rPr>
                                <m:t>21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1</m:t>
                              </m:r>
                            </m:sub>
                          </m:sSub>
                        </m:e>
                      </m:d>
                      <m:r>
                        <a:rPr lang="en-GB" sz="2000">
                          <a:solidFill>
                            <a:srgbClr val="526276"/>
                          </a:solidFill>
                          <a:latin typeface="Cambria Math"/>
                          <a:ea typeface="Cambria Math"/>
                          <a:cs typeface="Cambria Math"/>
                        </a:rPr>
                        <m:t>=</m:t>
                      </m:r>
                      <m:d>
                        <m:dPr>
                          <m:ctrlPr>
                            <a:rPr lang="en-GB" sz="2000">
                              <a:solidFill>
                                <a:srgbClr val="526276"/>
                              </a:solidFill>
                              <a:latin typeface="Cambria Math"/>
                              <a:ea typeface="Cambria Math"/>
                              <a:cs typeface="Cambria Math"/>
                            </a:rPr>
                          </m:ctrlPr>
                        </m:dPr>
                        <m:e>
                          <m:r>
                            <a:rPr lang="en-GB" sz="2000">
                              <a:solidFill>
                                <a:srgbClr val="526276"/>
                              </a:solidFill>
                              <a:latin typeface="Cambria Math"/>
                              <a:ea typeface="Cambria Math"/>
                              <a:cs typeface="Cambria Math"/>
                            </a:rPr>
                            <m:t>1,1,−1</m:t>
                          </m:r>
                        </m:e>
                      </m:d>
                    </m:oMath>
                  </m:oMathPara>
                </a14:m>
                <a:endParaRPr lang="en-GB" sz="2000" dirty="0"/>
              </a:p>
            </p:txBody>
          </p:sp>
        </mc:Choice>
        <mc:Fallback xmlns="">
          <p:sp>
            <p:nvSpPr>
              <p:cNvPr id="9" name="changed_parameters" descr="(W_{11},W_{21},b_1)=(1,1,-1)">
                <a:extLst>
                  <a:ext uri="{FF2B5EF4-FFF2-40B4-BE49-F238E27FC236}">
                    <a16:creationId xmlns:a16="http://schemas.microsoft.com/office/drawing/2014/main" id="{C2AB45DB-7880-4938-9D27-6246F071AD1C}"/>
                  </a:ext>
                </a:extLst>
              </p:cNvPr>
              <p:cNvSpPr>
                <a:spLocks noGrp="1" noRot="1" noChangeAspect="1" noMove="1" noResize="1" noEditPoints="1" noAdjustHandles="1" noChangeArrowheads="1" noChangeShapeType="1" noTextEdit="1"/>
              </p:cNvSpPr>
              <p:nvPr/>
            </p:nvSpPr>
            <p:spPr>
              <a:xfrm>
                <a:off x="6238875" y="2409825"/>
                <a:ext cx="5476875" cy="352425"/>
              </a:xfrm>
              <a:prstGeom prst="rect">
                <a:avLst/>
              </a:prstGeom>
              <a:blipFill>
                <a:blip r:embed="rId6"/>
                <a:stretch>
                  <a:fillRect b="-6897"/>
                </a:stretch>
              </a:blipFill>
              <a:ln w="0">
                <a:noFill/>
              </a:ln>
            </p:spPr>
            <p:txBody>
              <a:bodyPr/>
              <a:lstStyle/>
              <a:p>
                <a:r>
                  <a:rPr lang="it-IT">
                    <a:noFill/>
                  </a:rPr>
                  <a:t> </a:t>
                </a:r>
              </a:p>
            </p:txBody>
          </p:sp>
        </mc:Fallback>
      </mc:AlternateContent>
      <p:pic>
        <p:nvPicPr>
          <p:cNvPr id="10" name="Immagine 9" descr="Two heatmaps of the first hidden feature, with both input axes from 0 to 3 and a shared colour scale from 0 to 5. Left: ReLU(x1-x2), boundary x1=x2. Right: ReLU(x1+x2-1), boundary x1+x2=1. White regions are inactive. The input (1,2) lies inside both plots. Boundary equations are offset from the lines."/>
          <p:cNvPicPr>
            <a:picLocks noChangeAspect="1"/>
          </p:cNvPicPr>
          <p:nvPr/>
        </p:nvPicPr>
        <p:blipFill>
          <a:blip r:embed="rId7"/>
          <a:stretch/>
        </p:blipFill>
        <p:spPr>
          <a:xfrm>
            <a:off x="381000" y="2792412"/>
            <a:ext cx="11430000" cy="2968625"/>
          </a:xfrm>
          <a:prstGeom prst="rect">
            <a:avLst/>
          </a:prstGeom>
        </p:spPr>
      </p:pic>
      <mc:AlternateContent xmlns:mc="http://schemas.openxmlformats.org/markup-compatibility/2006" xmlns:a14="http://schemas.microsoft.com/office/drawing/2010/main">
        <mc:Choice Requires="a14">
          <p:sp>
            <p:nvSpPr>
              <p:cNvPr id="11" name="same_input_representation" descr="\mathbf{x}=(1,2):\quad\phi_1(\mathbf{x})=0\quad\longrightarrow\quad\widetilde{\phi}_1(\mathbf{x})=2">
                <a:extLst>
                  <a:ext uri="{FF2B5EF4-FFF2-40B4-BE49-F238E27FC236}">
                    <a16:creationId xmlns:a16="http://schemas.microsoft.com/office/drawing/2014/main" id="{7DBDA4B5-35D8-436B-B432-417C4F12F5D8}"/>
                  </a:ext>
                </a:extLst>
              </p:cNvPr>
              <p:cNvSpPr>
                <a:spLocks noGrp="1"/>
              </p:cNvSpPr>
              <p:nvPr/>
            </p:nvSpPr>
            <p:spPr>
              <a:xfrm>
                <a:off x="381000" y="5734050"/>
                <a:ext cx="11430000" cy="5048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smtClean="0">
                          <a:solidFill>
                            <a:srgbClr val="087F83"/>
                          </a:solidFill>
                          <a:latin typeface="Cambria Math"/>
                          <a:ea typeface="Cambria Math"/>
                          <a:cs typeface="Cambria Math"/>
                        </a:rPr>
                        <m:t>𝐱</m:t>
                      </m:r>
                      <m:r>
                        <a:rPr lang="en-GB" sz="2500" smtClean="0">
                          <a:solidFill>
                            <a:srgbClr val="087F83"/>
                          </a:solidFill>
                          <a:latin typeface="Cambria Math"/>
                          <a:ea typeface="Cambria Math"/>
                          <a:cs typeface="Cambria Math"/>
                        </a:rPr>
                        <m:t>=</m:t>
                      </m:r>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1,2</m:t>
                          </m:r>
                        </m:e>
                      </m:d>
                      <m:r>
                        <a:rPr lang="en-GB" sz="2500">
                          <a:solidFill>
                            <a:srgbClr val="087F83"/>
                          </a:solidFill>
                          <a:latin typeface="Cambria Math"/>
                          <a:ea typeface="Cambria Math"/>
                          <a:cs typeface="Cambria Math"/>
                        </a:rPr>
                        <m:t>: </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𝜙</m:t>
                          </m:r>
                        </m:e>
                        <m:sub>
                          <m:r>
                            <a:rPr lang="en-GB" sz="2500">
                              <a:solidFill>
                                <a:srgbClr val="087F83"/>
                              </a:solidFill>
                              <a:latin typeface="Cambria Math"/>
                              <a:ea typeface="Cambria Math"/>
                              <a:cs typeface="Cambria Math"/>
                            </a:rPr>
                            <m:t>1</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r>
                        <a:rPr lang="en-GB" sz="2500">
                          <a:solidFill>
                            <a:srgbClr val="087F83"/>
                          </a:solidFill>
                          <a:latin typeface="Cambria Math"/>
                          <a:ea typeface="Cambria Math"/>
                          <a:cs typeface="Cambria Math"/>
                        </a:rPr>
                        <m:t>=0 ⟶ </m:t>
                      </m:r>
                      <m:sSub>
                        <m:sSubPr>
                          <m:ctrlPr>
                            <a:rPr lang="en-GB" sz="2500" i="1">
                              <a:solidFill>
                                <a:srgbClr val="087F83"/>
                              </a:solidFill>
                              <a:latin typeface="Cambria Math" panose="02040503050406030204" pitchFamily="18" charset="0"/>
                              <a:ea typeface="Cambria Math"/>
                              <a:cs typeface="Cambria Math"/>
                            </a:rPr>
                          </m:ctrlPr>
                        </m:sSubPr>
                        <m:e>
                          <m:acc>
                            <m:accPr>
                              <m:chr m:val="̃"/>
                              <m:ctrlPr>
                                <a:rPr lang="en-GB" sz="2500">
                                  <a:solidFill>
                                    <a:srgbClr val="087F83"/>
                                  </a:solidFill>
                                  <a:latin typeface="Cambria Math"/>
                                  <a:ea typeface="Cambria Math"/>
                                  <a:cs typeface="Cambria Math"/>
                                </a:rPr>
                              </m:ctrlPr>
                            </m:accPr>
                            <m:e>
                              <m:r>
                                <a:rPr lang="en-GB" sz="2500">
                                  <a:solidFill>
                                    <a:srgbClr val="087F83"/>
                                  </a:solidFill>
                                  <a:latin typeface="Cambria Math"/>
                                  <a:ea typeface="Cambria Math"/>
                                  <a:cs typeface="Cambria Math"/>
                                </a:rPr>
                                <m:t>𝜙</m:t>
                              </m:r>
                            </m:e>
                          </m:acc>
                        </m:e>
                        <m:sub>
                          <m:r>
                            <a:rPr lang="en-GB" sz="2500">
                              <a:solidFill>
                                <a:srgbClr val="087F83"/>
                              </a:solidFill>
                              <a:latin typeface="Cambria Math"/>
                              <a:ea typeface="Cambria Math"/>
                              <a:cs typeface="Cambria Math"/>
                            </a:rPr>
                            <m:t>1</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𝐱</m:t>
                          </m:r>
                        </m:e>
                      </m:d>
                      <m:r>
                        <a:rPr lang="en-GB" sz="2500">
                          <a:solidFill>
                            <a:srgbClr val="087F83"/>
                          </a:solidFill>
                          <a:latin typeface="Cambria Math"/>
                          <a:ea typeface="Cambria Math"/>
                          <a:cs typeface="Cambria Math"/>
                        </a:rPr>
                        <m:t>=2</m:t>
                      </m:r>
                    </m:oMath>
                  </m:oMathPara>
                </a14:m>
                <a:endParaRPr lang="en-GB" sz="2500" dirty="0"/>
              </a:p>
            </p:txBody>
          </p:sp>
        </mc:Choice>
        <mc:Fallback xmlns="">
          <p:sp>
            <p:nvSpPr>
              <p:cNvPr id="11" name="same_input_representation" descr="\mathbf{x}=(1,2):\quad\phi_1(\mathbf{x})=0\quad\longrightarrow\quad\widetilde{\phi}_1(\mathbf{x})=2">
                <a:extLst>
                  <a:ext uri="{FF2B5EF4-FFF2-40B4-BE49-F238E27FC236}">
                    <a16:creationId xmlns:a16="http://schemas.microsoft.com/office/drawing/2014/main" id="{7DBDA4B5-35D8-436B-B432-417C4F12F5D8}"/>
                  </a:ext>
                </a:extLst>
              </p:cNvPr>
              <p:cNvSpPr>
                <a:spLocks noGrp="1" noRot="1" noChangeAspect="1" noMove="1" noResize="1" noEditPoints="1" noAdjustHandles="1" noChangeArrowheads="1" noChangeShapeType="1" noTextEdit="1"/>
              </p:cNvSpPr>
              <p:nvPr/>
            </p:nvSpPr>
            <p:spPr>
              <a:xfrm>
                <a:off x="381000" y="5734050"/>
                <a:ext cx="11430000" cy="504825"/>
              </a:xfrm>
              <a:prstGeom prst="rect">
                <a:avLst/>
              </a:prstGeom>
              <a:blipFill>
                <a:blip r:embed="rId8"/>
                <a:stretch>
                  <a:fillRect/>
                </a:stretch>
              </a:blipFill>
              <a:ln w="0">
                <a:noFill/>
              </a:ln>
            </p:spPr>
            <p:txBody>
              <a:bodyPr/>
              <a:lstStyle/>
              <a:p>
                <a:r>
                  <a:rPr lang="it-IT">
                    <a:noFill/>
                  </a:rPr>
                  <a:t> </a:t>
                </a:r>
              </a:p>
            </p:txBody>
          </p:sp>
        </mc:Fallback>
      </mc:AlternateContent>
      <p:sp>
        <p:nvSpPr>
          <p:cNvPr id="12" name="takeaway">
            <a:extLst>
              <a:ext uri="{FF2B5EF4-FFF2-40B4-BE49-F238E27FC236}">
                <a16:creationId xmlns:a16="http://schemas.microsoft.com/office/drawing/2014/main" id="{2C4466A9-74E3-424E-A233-D0FCBCC771EE}"/>
              </a:ext>
            </a:extLst>
          </p:cNvPr>
          <p:cNvSpPr>
            <a:spLocks noGrp="1"/>
          </p:cNvSpPr>
          <p:nvPr/>
        </p:nvSpPr>
        <p:spPr>
          <a:xfrm>
            <a:off x="476250" y="6200775"/>
            <a:ext cx="11239500" cy="323850"/>
          </a:xfrm>
          <a:prstGeom prst="rect">
            <a:avLst/>
          </a:prstGeom>
          <a:noFill/>
          <a:ln w="0">
            <a:noFill/>
          </a:ln>
        </p:spPr>
        <p:txBody>
          <a:bodyPr anchor="ctr">
            <a:noAutofit/>
          </a:bodyPr>
          <a:lstStyle/>
          <a:p>
            <a:pPr algn="ctr">
              <a:defRPr sz="1875" b="1">
                <a:solidFill>
                  <a:srgbClr val="182D45"/>
                </a:solidFill>
                <a:latin typeface="DejaVu Sans"/>
                <a:ea typeface="DejaVu Sans"/>
                <a:cs typeface="DejaVu Sans"/>
              </a:defRPr>
            </a:pPr>
            <a:r>
              <a:rPr sz="1875" b="1" dirty="0">
                <a:solidFill>
                  <a:srgbClr val="182D45"/>
                </a:solidFill>
                <a:latin typeface="DejaVu Sans"/>
                <a:ea typeface="DejaVu Sans"/>
                <a:cs typeface="DejaVu Sans"/>
              </a:rPr>
              <a:t>The input stays the same, but the feature value changes.</a:t>
            </a:r>
          </a:p>
        </p:txBody>
      </p:sp>
      <p:sp>
        <p:nvSpPr>
          <p:cNvPr id="13" name="footer_course">
            <a:extLst>
              <a:ext uri="{FF2B5EF4-FFF2-40B4-BE49-F238E27FC236}">
                <a16:creationId xmlns:a16="http://schemas.microsoft.com/office/drawing/2014/main" id="{EA83D1E2-B06A-45A3-A79F-7D6AF8000AF5}"/>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14" name="footer_number">
            <a:extLst>
              <a:ext uri="{FF2B5EF4-FFF2-40B4-BE49-F238E27FC236}">
                <a16:creationId xmlns:a16="http://schemas.microsoft.com/office/drawing/2014/main" id="{1E82CDAA-1FED-4978-ABE0-DBA8F6C4874A}"/>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18</a:t>
            </a:r>
          </a:p>
        </p:txBody>
      </p:sp>
    </p:spTree>
    <p:extLst>
      <p:ext uri="{BB962C8B-B14F-4D97-AF65-F5344CB8AC3E}">
        <p14:creationId xmlns:p14="http://schemas.microsoft.com/office/powerpoint/2010/main" val="1181343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01CCBC7-3CC9-4D0B-81D1-0CDA9FF2ABE0}"/>
              </a:ext>
            </a:extLst>
          </p:cNvPr>
          <p:cNvSpPr>
            <a:spLocks noGrp="1"/>
          </p:cNvSpPr>
          <p:nvPr/>
        </p:nvSpPr>
        <p:spPr>
          <a:xfrm>
            <a:off x="323850" y="171450"/>
            <a:ext cx="11544300" cy="714375"/>
          </a:xfrm>
          <a:prstGeom prst="rect">
            <a:avLst/>
          </a:prstGeom>
          <a:noFill/>
          <a:ln w="0">
            <a:noFill/>
          </a:ln>
        </p:spPr>
        <p:txBody>
          <a:bodyPr lIns="0" tIns="0" rIns="0" bIns="0" anchor="ctr">
            <a:noAutofit/>
          </a:bodyPr>
          <a:lstStyle/>
          <a:p>
            <a:pPr algn="ctr">
              <a:defRPr sz="3200" b="1">
                <a:solidFill>
                  <a:srgbClr val="182D45"/>
                </a:solidFill>
                <a:latin typeface="DejaVu Sans"/>
                <a:ea typeface="DejaVu Sans"/>
                <a:cs typeface="DejaVu Sans"/>
              </a:defRPr>
            </a:pPr>
            <a:r>
              <a:rPr sz="3100" b="1" dirty="0">
                <a:solidFill>
                  <a:srgbClr val="182D45"/>
                </a:solidFill>
                <a:latin typeface="DejaVu Sans"/>
                <a:ea typeface="DejaVu Sans"/>
                <a:cs typeface="DejaVu Sans"/>
              </a:rPr>
              <a:t>Depth, width and architecture</a:t>
            </a:r>
            <a:r>
              <a:rPr lang="it-IT" sz="3100" b="1" dirty="0">
                <a:solidFill>
                  <a:srgbClr val="182D45"/>
                </a:solidFill>
                <a:latin typeface="DejaVu Sans"/>
                <a:ea typeface="DejaVu Sans"/>
                <a:cs typeface="DejaVu Sans"/>
              </a:rPr>
              <a:t> of a </a:t>
            </a:r>
            <a:r>
              <a:rPr lang="it-IT" sz="3100" b="1" dirty="0" err="1">
                <a:solidFill>
                  <a:srgbClr val="182D45"/>
                </a:solidFill>
                <a:latin typeface="DejaVu Sans"/>
                <a:ea typeface="DejaVu Sans"/>
                <a:cs typeface="DejaVu Sans"/>
              </a:rPr>
              <a:t>Neural</a:t>
            </a:r>
            <a:r>
              <a:rPr lang="it-IT" sz="3100" b="1" dirty="0">
                <a:solidFill>
                  <a:srgbClr val="182D45"/>
                </a:solidFill>
                <a:latin typeface="DejaVu Sans"/>
                <a:ea typeface="DejaVu Sans"/>
                <a:cs typeface="DejaVu Sans"/>
              </a:rPr>
              <a:t> Network</a:t>
            </a:r>
            <a:endParaRPr sz="3100" b="1" dirty="0">
              <a:solidFill>
                <a:srgbClr val="182D45"/>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4" name="lead">
                <a:extLst>
                  <a:ext uri="{FF2B5EF4-FFF2-40B4-BE49-F238E27FC236}">
                    <a16:creationId xmlns:a16="http://schemas.microsoft.com/office/drawing/2014/main" id="{6655FCC5-8B8B-40CF-8429-8317F0E429D7}"/>
                  </a:ext>
                </a:extLst>
              </p:cNvPr>
              <p:cNvSpPr>
                <a:spLocks noGrp="1"/>
              </p:cNvSpPr>
              <p:nvPr/>
            </p:nvSpPr>
            <p:spPr>
              <a:xfrm>
                <a:off x="381000" y="977900"/>
                <a:ext cx="11430000" cy="762000"/>
              </a:xfrm>
              <a:prstGeom prst="rect">
                <a:avLst/>
              </a:prstGeom>
              <a:noFill/>
              <a:ln w="0">
                <a:noFill/>
              </a:ln>
            </p:spPr>
            <p:txBody>
              <a:bodyPr wrap="none" lIns="0" tIns="0" rIns="0" bIns="0" anchor="ctr">
                <a:noAutofit/>
              </a:bodyPr>
              <a:lstStyle/>
              <a:p>
                <a:pPr algn="ctr">
                  <a:lnSpc>
                    <a:spcPts val="2500"/>
                  </a:lnSpc>
                </a:pPr>
                <a:r>
                  <a:rPr lang="en-GB" sz="2000" b="0">
                    <a:solidFill>
                      <a:srgbClr val="FF0000"/>
                    </a:solidFill>
                    <a:latin typeface="DejaVu Sans"/>
                  </a:rPr>
                  <a:t>Width </a:t>
                </a:r>
                <a14:m>
                  <m:oMath xmlns:m="http://schemas.openxmlformats.org/officeDocument/2006/math">
                    <m:sSub>
                      <m:sSubPr>
                        <m:ctrlPr>
                          <a:rPr lang="en-GB" sz="2000">
                            <a:solidFill>
                              <a:srgbClr val="182D45"/>
                            </a:solidFill>
                            <a:latin typeface="Cambria Math"/>
                            <a:ea typeface="Cambria Math"/>
                            <a:cs typeface="Cambria Math"/>
                          </a:rPr>
                        </m:ctrlPr>
                      </m:sSubPr>
                      <m:e>
                        <m:r>
                          <a:rPr lang="en-GB" sz="2000">
                            <a:solidFill>
                              <a:srgbClr val="182D45"/>
                            </a:solidFill>
                            <a:latin typeface="Cambria Math"/>
                            <a:ea typeface="Cambria Math"/>
                            <a:cs typeface="Cambria Math"/>
                          </a:rPr>
                          <m:t>𝑚</m:t>
                        </m:r>
                      </m:e>
                      <m:sub>
                        <m:r>
                          <a:rPr lang="en-GB" sz="2000">
                            <a:solidFill>
                              <a:srgbClr val="182D45"/>
                            </a:solidFill>
                            <a:latin typeface="Cambria Math"/>
                            <a:ea typeface="Cambria Math"/>
                            <a:cs typeface="Cambria Math"/>
                          </a:rPr>
                          <m:t>𝑟</m:t>
                        </m:r>
                      </m:sub>
                    </m:sSub>
                  </m:oMath>
                </a14:m>
                <a:r>
                  <a:rPr lang="en-GB" sz="2000" b="0">
                    <a:solidFill>
                      <a:srgbClr val="182D45"/>
                    </a:solidFill>
                    <a:latin typeface="DejaVu Sans"/>
                  </a:rPr>
                  <a:t>: the number of neurons in layer </a:t>
                </a:r>
                <a14:m>
                  <m:oMath xmlns:m="http://schemas.openxmlformats.org/officeDocument/2006/math">
                    <m:r>
                      <a:rPr lang="en-GB" sz="2000">
                        <a:solidFill>
                          <a:srgbClr val="182D45"/>
                        </a:solidFill>
                        <a:latin typeface="Cambria Math"/>
                        <a:ea typeface="Cambria Math"/>
                        <a:cs typeface="Cambria Math"/>
                      </a:rPr>
                      <m:t>𝑟</m:t>
                    </m:r>
                  </m:oMath>
                </a14:m>
                <a:r>
                  <a:rPr lang="en-GB" sz="2000" b="0">
                    <a:solidFill>
                      <a:srgbClr val="182D45"/>
                    </a:solidFill>
                    <a:latin typeface="DejaVu Sans"/>
                  </a:rPr>
                  <a:t>.</a:t>
                </a:r>
                <a:endParaRPr lang="en-GB" sz="2000"/>
              </a:p>
              <a:p>
                <a:pPr algn="ctr">
                  <a:lnSpc>
                    <a:spcPts val="2500"/>
                  </a:lnSpc>
                </a:pPr>
                <a:r>
                  <a:rPr lang="en-GB" sz="2000" b="0">
                    <a:solidFill>
                      <a:srgbClr val="FF0000"/>
                    </a:solidFill>
                    <a:latin typeface="DejaVu Sans"/>
                  </a:rPr>
                  <a:t>Depth </a:t>
                </a:r>
                <a14:m>
                  <m:oMath xmlns:m="http://schemas.openxmlformats.org/officeDocument/2006/math">
                    <m:r>
                      <a:rPr lang="en-GB" sz="2000">
                        <a:solidFill>
                          <a:srgbClr val="182D45"/>
                        </a:solidFill>
                        <a:latin typeface="Cambria Math"/>
                        <a:ea typeface="Cambria Math"/>
                        <a:cs typeface="Cambria Math"/>
                      </a:rPr>
                      <m:t>𝐿</m:t>
                    </m:r>
                  </m:oMath>
                </a14:m>
                <a:r>
                  <a:rPr lang="en-GB" sz="2000" b="0">
                    <a:solidFill>
                      <a:srgbClr val="182D45"/>
                    </a:solidFill>
                    <a:latin typeface="DejaVu Sans"/>
                  </a:rPr>
                  <a:t>: the number of layers, counting the output but excluding the input.</a:t>
                </a:r>
                <a:endParaRPr lang="en-GB" sz="2000"/>
              </a:p>
            </p:txBody>
          </p:sp>
        </mc:Choice>
        <mc:Fallback xmlns="">
          <p:sp>
            <p:nvSpPr>
              <p:cNvPr id="4" name="lead">
                <a:extLst>
                  <a:ext uri="{FF2B5EF4-FFF2-40B4-BE49-F238E27FC236}">
                    <a16:creationId xmlns:a16="http://schemas.microsoft.com/office/drawing/2014/main" id="{6655FCC5-8B8B-40CF-8429-8317F0E429D7}"/>
                  </a:ext>
                </a:extLst>
              </p:cNvPr>
              <p:cNvSpPr>
                <a:spLocks noGrp="1" noRot="1" noChangeAspect="1" noMove="1" noResize="1" noEditPoints="1" noAdjustHandles="1" noChangeArrowheads="1" noChangeShapeType="1" noTextEdit="1"/>
              </p:cNvSpPr>
              <p:nvPr/>
            </p:nvSpPr>
            <p:spPr>
              <a:xfrm>
                <a:off x="381000" y="977900"/>
                <a:ext cx="11430000" cy="762000"/>
              </a:xfrm>
              <a:prstGeom prst="rect">
                <a:avLst/>
              </a:prstGeom>
              <a:blipFill>
                <a:blip r:embed="rId2"/>
                <a:stretch>
                  <a:fillRect t="-2400" b="-10400"/>
                </a:stretch>
              </a:blipFill>
              <a:ln w="0">
                <a:noFill/>
              </a:ln>
            </p:spPr>
            <p:txBody>
              <a:bodyPr/>
              <a:lstStyle/>
              <a:p>
                <a:r>
                  <a:rPr lang="it-IT">
                    <a:noFill/>
                  </a:rPr>
                  <a:t> </a:t>
                </a:r>
              </a:p>
            </p:txBody>
          </p:sp>
        </mc:Fallback>
      </mc:AlternateContent>
      <p:sp>
        <p:nvSpPr>
          <p:cNvPr id="5" name="net_1_0_0">
            <a:extLst>
              <a:ext uri="{FF2B5EF4-FFF2-40B4-BE49-F238E27FC236}">
                <a16:creationId xmlns:a16="http://schemas.microsoft.com/office/drawing/2014/main" id="{C4B03717-0E17-4B36-84D0-5D2122520C69}"/>
              </a:ext>
            </a:extLst>
          </p:cNvPr>
          <p:cNvSpPr>
            <a:spLocks noGrp="1"/>
          </p:cNvSpPr>
          <p:nvPr/>
        </p:nvSpPr>
        <p:spPr>
          <a:xfrm>
            <a:off x="1552575" y="2038350"/>
            <a:ext cx="2800350" cy="953"/>
          </a:xfrm>
          <a:prstGeom prst="line">
            <a:avLst/>
          </a:prstGeom>
          <a:noFill/>
          <a:ln w="12383">
            <a:solidFill>
              <a:srgbClr val="B6C2CD"/>
            </a:solidFill>
          </a:ln>
        </p:spPr>
        <p:txBody>
          <a:bodyPr/>
          <a:lstStyle/>
          <a:p>
            <a:endParaRPr lang="it-IT"/>
          </a:p>
        </p:txBody>
      </p:sp>
      <p:sp>
        <p:nvSpPr>
          <p:cNvPr id="6" name="net_1_1_0">
            <a:extLst>
              <a:ext uri="{FF2B5EF4-FFF2-40B4-BE49-F238E27FC236}">
                <a16:creationId xmlns:a16="http://schemas.microsoft.com/office/drawing/2014/main" id="{C95AEF34-0A2D-4384-B31A-65E1E878D806}"/>
              </a:ext>
            </a:extLst>
          </p:cNvPr>
          <p:cNvSpPr>
            <a:spLocks noGrp="1"/>
          </p:cNvSpPr>
          <p:nvPr/>
        </p:nvSpPr>
        <p:spPr>
          <a:xfrm flipV="1">
            <a:off x="1552575" y="2038350"/>
            <a:ext cx="2800350" cy="1714500"/>
          </a:xfrm>
          <a:prstGeom prst="line">
            <a:avLst/>
          </a:prstGeom>
          <a:noFill/>
          <a:ln w="12383">
            <a:solidFill>
              <a:srgbClr val="B6C2CD"/>
            </a:solidFill>
          </a:ln>
        </p:spPr>
        <p:txBody>
          <a:bodyPr/>
          <a:lstStyle/>
          <a:p>
            <a:endParaRPr lang="it-IT"/>
          </a:p>
        </p:txBody>
      </p:sp>
      <p:sp>
        <p:nvSpPr>
          <p:cNvPr id="7" name="net_1_0_1">
            <a:extLst>
              <a:ext uri="{FF2B5EF4-FFF2-40B4-BE49-F238E27FC236}">
                <a16:creationId xmlns:a16="http://schemas.microsoft.com/office/drawing/2014/main" id="{5E29AEF6-477B-45E6-AEBB-4CD20A673400}"/>
              </a:ext>
            </a:extLst>
          </p:cNvPr>
          <p:cNvSpPr>
            <a:spLocks noGrp="1"/>
          </p:cNvSpPr>
          <p:nvPr/>
        </p:nvSpPr>
        <p:spPr>
          <a:xfrm>
            <a:off x="1552575" y="2038350"/>
            <a:ext cx="2800350" cy="428625"/>
          </a:xfrm>
          <a:prstGeom prst="line">
            <a:avLst/>
          </a:prstGeom>
          <a:noFill/>
          <a:ln w="12383">
            <a:solidFill>
              <a:srgbClr val="B6C2CD"/>
            </a:solidFill>
          </a:ln>
        </p:spPr>
        <p:txBody>
          <a:bodyPr/>
          <a:lstStyle/>
          <a:p>
            <a:endParaRPr lang="it-IT"/>
          </a:p>
        </p:txBody>
      </p:sp>
      <p:sp>
        <p:nvSpPr>
          <p:cNvPr id="8" name="net_1_1_1">
            <a:extLst>
              <a:ext uri="{FF2B5EF4-FFF2-40B4-BE49-F238E27FC236}">
                <a16:creationId xmlns:a16="http://schemas.microsoft.com/office/drawing/2014/main" id="{C1A3424E-13EA-4893-914D-8699C3263678}"/>
              </a:ext>
            </a:extLst>
          </p:cNvPr>
          <p:cNvSpPr>
            <a:spLocks noGrp="1"/>
          </p:cNvSpPr>
          <p:nvPr/>
        </p:nvSpPr>
        <p:spPr>
          <a:xfrm flipV="1">
            <a:off x="1552575" y="2466975"/>
            <a:ext cx="2800350" cy="1285875"/>
          </a:xfrm>
          <a:prstGeom prst="line">
            <a:avLst/>
          </a:prstGeom>
          <a:noFill/>
          <a:ln w="12383">
            <a:solidFill>
              <a:srgbClr val="B6C2CD"/>
            </a:solidFill>
          </a:ln>
        </p:spPr>
        <p:txBody>
          <a:bodyPr/>
          <a:lstStyle/>
          <a:p>
            <a:endParaRPr lang="it-IT"/>
          </a:p>
        </p:txBody>
      </p:sp>
      <p:sp>
        <p:nvSpPr>
          <p:cNvPr id="9" name="net_1_0_2">
            <a:extLst>
              <a:ext uri="{FF2B5EF4-FFF2-40B4-BE49-F238E27FC236}">
                <a16:creationId xmlns:a16="http://schemas.microsoft.com/office/drawing/2014/main" id="{AD3D70FD-E919-420D-91C0-6C47D2C9D6EE}"/>
              </a:ext>
            </a:extLst>
          </p:cNvPr>
          <p:cNvSpPr>
            <a:spLocks noGrp="1"/>
          </p:cNvSpPr>
          <p:nvPr/>
        </p:nvSpPr>
        <p:spPr>
          <a:xfrm>
            <a:off x="1552575" y="2038350"/>
            <a:ext cx="2800350" cy="857250"/>
          </a:xfrm>
          <a:prstGeom prst="line">
            <a:avLst/>
          </a:prstGeom>
          <a:noFill/>
          <a:ln w="12383">
            <a:solidFill>
              <a:srgbClr val="B6C2CD"/>
            </a:solidFill>
          </a:ln>
        </p:spPr>
        <p:txBody>
          <a:bodyPr/>
          <a:lstStyle/>
          <a:p>
            <a:endParaRPr lang="it-IT"/>
          </a:p>
        </p:txBody>
      </p:sp>
      <p:sp>
        <p:nvSpPr>
          <p:cNvPr id="10" name="net_1_1_2">
            <a:extLst>
              <a:ext uri="{FF2B5EF4-FFF2-40B4-BE49-F238E27FC236}">
                <a16:creationId xmlns:a16="http://schemas.microsoft.com/office/drawing/2014/main" id="{EA0C0B3E-980C-459A-9F7C-BDCC03F2E7D6}"/>
              </a:ext>
            </a:extLst>
          </p:cNvPr>
          <p:cNvSpPr>
            <a:spLocks noGrp="1"/>
          </p:cNvSpPr>
          <p:nvPr/>
        </p:nvSpPr>
        <p:spPr>
          <a:xfrm flipV="1">
            <a:off x="1552575" y="2895600"/>
            <a:ext cx="2800350" cy="857250"/>
          </a:xfrm>
          <a:prstGeom prst="line">
            <a:avLst/>
          </a:prstGeom>
          <a:noFill/>
          <a:ln w="12383">
            <a:solidFill>
              <a:srgbClr val="B6C2CD"/>
            </a:solidFill>
          </a:ln>
        </p:spPr>
        <p:txBody>
          <a:bodyPr/>
          <a:lstStyle/>
          <a:p>
            <a:endParaRPr lang="it-IT"/>
          </a:p>
        </p:txBody>
      </p:sp>
      <p:sp>
        <p:nvSpPr>
          <p:cNvPr id="11" name="net_1_0_3">
            <a:extLst>
              <a:ext uri="{FF2B5EF4-FFF2-40B4-BE49-F238E27FC236}">
                <a16:creationId xmlns:a16="http://schemas.microsoft.com/office/drawing/2014/main" id="{A1C192ED-F59B-4D16-903C-2199B2A4AADE}"/>
              </a:ext>
            </a:extLst>
          </p:cNvPr>
          <p:cNvSpPr>
            <a:spLocks noGrp="1"/>
          </p:cNvSpPr>
          <p:nvPr/>
        </p:nvSpPr>
        <p:spPr>
          <a:xfrm>
            <a:off x="1552575" y="2038350"/>
            <a:ext cx="2800350" cy="1285875"/>
          </a:xfrm>
          <a:prstGeom prst="line">
            <a:avLst/>
          </a:prstGeom>
          <a:noFill/>
          <a:ln w="12383">
            <a:solidFill>
              <a:srgbClr val="B6C2CD"/>
            </a:solidFill>
          </a:ln>
        </p:spPr>
        <p:txBody>
          <a:bodyPr/>
          <a:lstStyle/>
          <a:p>
            <a:endParaRPr lang="it-IT"/>
          </a:p>
        </p:txBody>
      </p:sp>
      <p:sp>
        <p:nvSpPr>
          <p:cNvPr id="12" name="net_1_1_3">
            <a:extLst>
              <a:ext uri="{FF2B5EF4-FFF2-40B4-BE49-F238E27FC236}">
                <a16:creationId xmlns:a16="http://schemas.microsoft.com/office/drawing/2014/main" id="{B4951CB6-290F-4852-9EC6-B19D14E80D91}"/>
              </a:ext>
            </a:extLst>
          </p:cNvPr>
          <p:cNvSpPr>
            <a:spLocks noGrp="1"/>
          </p:cNvSpPr>
          <p:nvPr/>
        </p:nvSpPr>
        <p:spPr>
          <a:xfrm flipV="1">
            <a:off x="1552575" y="3324225"/>
            <a:ext cx="2800350" cy="428625"/>
          </a:xfrm>
          <a:prstGeom prst="line">
            <a:avLst/>
          </a:prstGeom>
          <a:noFill/>
          <a:ln w="12383">
            <a:solidFill>
              <a:srgbClr val="B6C2CD"/>
            </a:solidFill>
          </a:ln>
        </p:spPr>
        <p:txBody>
          <a:bodyPr/>
          <a:lstStyle/>
          <a:p>
            <a:endParaRPr lang="it-IT"/>
          </a:p>
        </p:txBody>
      </p:sp>
      <p:sp>
        <p:nvSpPr>
          <p:cNvPr id="13" name="net_1_0_4">
            <a:extLst>
              <a:ext uri="{FF2B5EF4-FFF2-40B4-BE49-F238E27FC236}">
                <a16:creationId xmlns:a16="http://schemas.microsoft.com/office/drawing/2014/main" id="{2D8AA240-7F4F-49D2-BED7-FC9D7E5FE3A7}"/>
              </a:ext>
            </a:extLst>
          </p:cNvPr>
          <p:cNvSpPr>
            <a:spLocks noGrp="1"/>
          </p:cNvSpPr>
          <p:nvPr/>
        </p:nvSpPr>
        <p:spPr>
          <a:xfrm>
            <a:off x="1552575" y="2038350"/>
            <a:ext cx="2800350" cy="1714500"/>
          </a:xfrm>
          <a:prstGeom prst="line">
            <a:avLst/>
          </a:prstGeom>
          <a:noFill/>
          <a:ln w="12383">
            <a:solidFill>
              <a:srgbClr val="B6C2CD"/>
            </a:solidFill>
          </a:ln>
        </p:spPr>
        <p:txBody>
          <a:bodyPr/>
          <a:lstStyle/>
          <a:p>
            <a:endParaRPr lang="it-IT"/>
          </a:p>
        </p:txBody>
      </p:sp>
      <p:sp>
        <p:nvSpPr>
          <p:cNvPr id="14" name="net_1_1_4">
            <a:extLst>
              <a:ext uri="{FF2B5EF4-FFF2-40B4-BE49-F238E27FC236}">
                <a16:creationId xmlns:a16="http://schemas.microsoft.com/office/drawing/2014/main" id="{3099F28E-07C1-4306-9CE5-7EFEA28038AC}"/>
              </a:ext>
            </a:extLst>
          </p:cNvPr>
          <p:cNvSpPr>
            <a:spLocks noGrp="1"/>
          </p:cNvSpPr>
          <p:nvPr/>
        </p:nvSpPr>
        <p:spPr>
          <a:xfrm>
            <a:off x="1552575" y="3752850"/>
            <a:ext cx="2800350" cy="953"/>
          </a:xfrm>
          <a:prstGeom prst="line">
            <a:avLst/>
          </a:prstGeom>
          <a:noFill/>
          <a:ln w="12383">
            <a:solidFill>
              <a:srgbClr val="B6C2CD"/>
            </a:solidFill>
          </a:ln>
        </p:spPr>
        <p:txBody>
          <a:bodyPr/>
          <a:lstStyle/>
          <a:p>
            <a:endParaRPr lang="it-IT"/>
          </a:p>
        </p:txBody>
      </p:sp>
      <p:sp>
        <p:nvSpPr>
          <p:cNvPr id="15" name="net_2_0_0">
            <a:extLst>
              <a:ext uri="{FF2B5EF4-FFF2-40B4-BE49-F238E27FC236}">
                <a16:creationId xmlns:a16="http://schemas.microsoft.com/office/drawing/2014/main" id="{3BCEF516-6359-40A7-A996-81D12CF86051}"/>
              </a:ext>
            </a:extLst>
          </p:cNvPr>
          <p:cNvSpPr>
            <a:spLocks noGrp="1"/>
          </p:cNvSpPr>
          <p:nvPr/>
        </p:nvSpPr>
        <p:spPr>
          <a:xfrm>
            <a:off x="4600575" y="2038350"/>
            <a:ext cx="2800350" cy="953"/>
          </a:xfrm>
          <a:prstGeom prst="line">
            <a:avLst/>
          </a:prstGeom>
          <a:noFill/>
          <a:ln w="12383">
            <a:solidFill>
              <a:srgbClr val="B6C2CD"/>
            </a:solidFill>
          </a:ln>
        </p:spPr>
        <p:txBody>
          <a:bodyPr/>
          <a:lstStyle/>
          <a:p>
            <a:endParaRPr lang="it-IT"/>
          </a:p>
        </p:txBody>
      </p:sp>
      <p:sp>
        <p:nvSpPr>
          <p:cNvPr id="16" name="net_2_1_0">
            <a:extLst>
              <a:ext uri="{FF2B5EF4-FFF2-40B4-BE49-F238E27FC236}">
                <a16:creationId xmlns:a16="http://schemas.microsoft.com/office/drawing/2014/main" id="{461F857D-28FD-444C-A32A-A391129E4EBB}"/>
              </a:ext>
            </a:extLst>
          </p:cNvPr>
          <p:cNvSpPr>
            <a:spLocks noGrp="1"/>
          </p:cNvSpPr>
          <p:nvPr/>
        </p:nvSpPr>
        <p:spPr>
          <a:xfrm flipV="1">
            <a:off x="4600575" y="2038350"/>
            <a:ext cx="2800350" cy="428625"/>
          </a:xfrm>
          <a:prstGeom prst="line">
            <a:avLst/>
          </a:prstGeom>
          <a:noFill/>
          <a:ln w="12383">
            <a:solidFill>
              <a:srgbClr val="B6C2CD"/>
            </a:solidFill>
          </a:ln>
        </p:spPr>
        <p:txBody>
          <a:bodyPr/>
          <a:lstStyle/>
          <a:p>
            <a:endParaRPr lang="it-IT"/>
          </a:p>
        </p:txBody>
      </p:sp>
      <p:sp>
        <p:nvSpPr>
          <p:cNvPr id="17" name="net_2_2_0">
            <a:extLst>
              <a:ext uri="{FF2B5EF4-FFF2-40B4-BE49-F238E27FC236}">
                <a16:creationId xmlns:a16="http://schemas.microsoft.com/office/drawing/2014/main" id="{DF1E16A3-FA6C-4F4D-AB34-B5BD3B37D689}"/>
              </a:ext>
            </a:extLst>
          </p:cNvPr>
          <p:cNvSpPr>
            <a:spLocks noGrp="1"/>
          </p:cNvSpPr>
          <p:nvPr/>
        </p:nvSpPr>
        <p:spPr>
          <a:xfrm flipV="1">
            <a:off x="4600575" y="2038350"/>
            <a:ext cx="2800350" cy="857250"/>
          </a:xfrm>
          <a:prstGeom prst="line">
            <a:avLst/>
          </a:prstGeom>
          <a:noFill/>
          <a:ln w="12383">
            <a:solidFill>
              <a:srgbClr val="B6C2CD"/>
            </a:solidFill>
          </a:ln>
        </p:spPr>
        <p:txBody>
          <a:bodyPr/>
          <a:lstStyle/>
          <a:p>
            <a:endParaRPr lang="it-IT"/>
          </a:p>
        </p:txBody>
      </p:sp>
      <p:sp>
        <p:nvSpPr>
          <p:cNvPr id="18" name="net_2_3_0">
            <a:extLst>
              <a:ext uri="{FF2B5EF4-FFF2-40B4-BE49-F238E27FC236}">
                <a16:creationId xmlns:a16="http://schemas.microsoft.com/office/drawing/2014/main" id="{B40C532D-95E6-4781-A2F0-15CC3EAFCB7C}"/>
              </a:ext>
            </a:extLst>
          </p:cNvPr>
          <p:cNvSpPr>
            <a:spLocks noGrp="1"/>
          </p:cNvSpPr>
          <p:nvPr/>
        </p:nvSpPr>
        <p:spPr>
          <a:xfrm flipV="1">
            <a:off x="4600575" y="2038350"/>
            <a:ext cx="2800350" cy="1285875"/>
          </a:xfrm>
          <a:prstGeom prst="line">
            <a:avLst/>
          </a:prstGeom>
          <a:noFill/>
          <a:ln w="12383">
            <a:solidFill>
              <a:srgbClr val="B6C2CD"/>
            </a:solidFill>
          </a:ln>
        </p:spPr>
        <p:txBody>
          <a:bodyPr/>
          <a:lstStyle/>
          <a:p>
            <a:endParaRPr lang="it-IT"/>
          </a:p>
        </p:txBody>
      </p:sp>
      <p:sp>
        <p:nvSpPr>
          <p:cNvPr id="19" name="net_2_4_0">
            <a:extLst>
              <a:ext uri="{FF2B5EF4-FFF2-40B4-BE49-F238E27FC236}">
                <a16:creationId xmlns:a16="http://schemas.microsoft.com/office/drawing/2014/main" id="{833A9173-30C0-47F5-BF16-10DBB20E2084}"/>
              </a:ext>
            </a:extLst>
          </p:cNvPr>
          <p:cNvSpPr>
            <a:spLocks noGrp="1"/>
          </p:cNvSpPr>
          <p:nvPr/>
        </p:nvSpPr>
        <p:spPr>
          <a:xfrm flipV="1">
            <a:off x="4600575" y="2038350"/>
            <a:ext cx="2800350" cy="1714500"/>
          </a:xfrm>
          <a:prstGeom prst="line">
            <a:avLst/>
          </a:prstGeom>
          <a:noFill/>
          <a:ln w="12383">
            <a:solidFill>
              <a:srgbClr val="B6C2CD"/>
            </a:solidFill>
          </a:ln>
        </p:spPr>
        <p:txBody>
          <a:bodyPr/>
          <a:lstStyle/>
          <a:p>
            <a:endParaRPr lang="it-IT"/>
          </a:p>
        </p:txBody>
      </p:sp>
      <p:sp>
        <p:nvSpPr>
          <p:cNvPr id="20" name="net_2_0_1">
            <a:extLst>
              <a:ext uri="{FF2B5EF4-FFF2-40B4-BE49-F238E27FC236}">
                <a16:creationId xmlns:a16="http://schemas.microsoft.com/office/drawing/2014/main" id="{3C44ED2D-CF28-43D4-B166-E4290013E8B0}"/>
              </a:ext>
            </a:extLst>
          </p:cNvPr>
          <p:cNvSpPr>
            <a:spLocks noGrp="1"/>
          </p:cNvSpPr>
          <p:nvPr/>
        </p:nvSpPr>
        <p:spPr>
          <a:xfrm>
            <a:off x="4600575" y="2038350"/>
            <a:ext cx="2800350" cy="285750"/>
          </a:xfrm>
          <a:prstGeom prst="line">
            <a:avLst/>
          </a:prstGeom>
          <a:noFill/>
          <a:ln w="12383">
            <a:solidFill>
              <a:srgbClr val="B6C2CD"/>
            </a:solidFill>
          </a:ln>
        </p:spPr>
        <p:txBody>
          <a:bodyPr/>
          <a:lstStyle/>
          <a:p>
            <a:endParaRPr lang="it-IT"/>
          </a:p>
        </p:txBody>
      </p:sp>
      <p:sp>
        <p:nvSpPr>
          <p:cNvPr id="21" name="net_2_1_1">
            <a:extLst>
              <a:ext uri="{FF2B5EF4-FFF2-40B4-BE49-F238E27FC236}">
                <a16:creationId xmlns:a16="http://schemas.microsoft.com/office/drawing/2014/main" id="{77C2801F-FA2A-4746-9F87-02973070F041}"/>
              </a:ext>
            </a:extLst>
          </p:cNvPr>
          <p:cNvSpPr>
            <a:spLocks noGrp="1"/>
          </p:cNvSpPr>
          <p:nvPr/>
        </p:nvSpPr>
        <p:spPr>
          <a:xfrm flipV="1">
            <a:off x="4600575" y="2324100"/>
            <a:ext cx="2800350" cy="142875"/>
          </a:xfrm>
          <a:prstGeom prst="line">
            <a:avLst/>
          </a:prstGeom>
          <a:noFill/>
          <a:ln w="12383">
            <a:solidFill>
              <a:srgbClr val="B6C2CD"/>
            </a:solidFill>
          </a:ln>
        </p:spPr>
        <p:txBody>
          <a:bodyPr/>
          <a:lstStyle/>
          <a:p>
            <a:endParaRPr lang="it-IT"/>
          </a:p>
        </p:txBody>
      </p:sp>
      <p:sp>
        <p:nvSpPr>
          <p:cNvPr id="22" name="net_2_2_1">
            <a:extLst>
              <a:ext uri="{FF2B5EF4-FFF2-40B4-BE49-F238E27FC236}">
                <a16:creationId xmlns:a16="http://schemas.microsoft.com/office/drawing/2014/main" id="{6B0E83B7-6CE9-46C4-8E5D-484BE303C3A8}"/>
              </a:ext>
            </a:extLst>
          </p:cNvPr>
          <p:cNvSpPr>
            <a:spLocks noGrp="1"/>
          </p:cNvSpPr>
          <p:nvPr/>
        </p:nvSpPr>
        <p:spPr>
          <a:xfrm flipV="1">
            <a:off x="4600575" y="2324100"/>
            <a:ext cx="2800350" cy="571500"/>
          </a:xfrm>
          <a:prstGeom prst="line">
            <a:avLst/>
          </a:prstGeom>
          <a:noFill/>
          <a:ln w="12383">
            <a:solidFill>
              <a:srgbClr val="B6C2CD"/>
            </a:solidFill>
          </a:ln>
        </p:spPr>
        <p:txBody>
          <a:bodyPr/>
          <a:lstStyle/>
          <a:p>
            <a:endParaRPr lang="it-IT"/>
          </a:p>
        </p:txBody>
      </p:sp>
      <p:sp>
        <p:nvSpPr>
          <p:cNvPr id="23" name="net_2_3_1">
            <a:extLst>
              <a:ext uri="{FF2B5EF4-FFF2-40B4-BE49-F238E27FC236}">
                <a16:creationId xmlns:a16="http://schemas.microsoft.com/office/drawing/2014/main" id="{8674F2AF-F883-4659-AE31-D91AB163FD47}"/>
              </a:ext>
            </a:extLst>
          </p:cNvPr>
          <p:cNvSpPr>
            <a:spLocks noGrp="1"/>
          </p:cNvSpPr>
          <p:nvPr/>
        </p:nvSpPr>
        <p:spPr>
          <a:xfrm flipV="1">
            <a:off x="4600575" y="2324100"/>
            <a:ext cx="2800350" cy="1000125"/>
          </a:xfrm>
          <a:prstGeom prst="line">
            <a:avLst/>
          </a:prstGeom>
          <a:noFill/>
          <a:ln w="12383">
            <a:solidFill>
              <a:srgbClr val="B6C2CD"/>
            </a:solidFill>
          </a:ln>
        </p:spPr>
        <p:txBody>
          <a:bodyPr/>
          <a:lstStyle/>
          <a:p>
            <a:endParaRPr lang="it-IT"/>
          </a:p>
        </p:txBody>
      </p:sp>
      <p:sp>
        <p:nvSpPr>
          <p:cNvPr id="24" name="net_2_4_1">
            <a:extLst>
              <a:ext uri="{FF2B5EF4-FFF2-40B4-BE49-F238E27FC236}">
                <a16:creationId xmlns:a16="http://schemas.microsoft.com/office/drawing/2014/main" id="{7369B38C-6767-4F19-AC19-605702490385}"/>
              </a:ext>
            </a:extLst>
          </p:cNvPr>
          <p:cNvSpPr>
            <a:spLocks noGrp="1"/>
          </p:cNvSpPr>
          <p:nvPr/>
        </p:nvSpPr>
        <p:spPr>
          <a:xfrm flipV="1">
            <a:off x="4600575" y="2324100"/>
            <a:ext cx="2800350" cy="1428750"/>
          </a:xfrm>
          <a:prstGeom prst="line">
            <a:avLst/>
          </a:prstGeom>
          <a:noFill/>
          <a:ln w="12383">
            <a:solidFill>
              <a:srgbClr val="B6C2CD"/>
            </a:solidFill>
          </a:ln>
        </p:spPr>
        <p:txBody>
          <a:bodyPr/>
          <a:lstStyle/>
          <a:p>
            <a:endParaRPr lang="it-IT"/>
          </a:p>
        </p:txBody>
      </p:sp>
      <p:sp>
        <p:nvSpPr>
          <p:cNvPr id="25" name="net_2_0_2">
            <a:extLst>
              <a:ext uri="{FF2B5EF4-FFF2-40B4-BE49-F238E27FC236}">
                <a16:creationId xmlns:a16="http://schemas.microsoft.com/office/drawing/2014/main" id="{5B004CE8-63D3-4F90-941E-72C0A849C37A}"/>
              </a:ext>
            </a:extLst>
          </p:cNvPr>
          <p:cNvSpPr>
            <a:spLocks noGrp="1"/>
          </p:cNvSpPr>
          <p:nvPr/>
        </p:nvSpPr>
        <p:spPr>
          <a:xfrm>
            <a:off x="4600575" y="2038350"/>
            <a:ext cx="2800350" cy="571500"/>
          </a:xfrm>
          <a:prstGeom prst="line">
            <a:avLst/>
          </a:prstGeom>
          <a:noFill/>
          <a:ln w="12383">
            <a:solidFill>
              <a:srgbClr val="B6C2CD"/>
            </a:solidFill>
          </a:ln>
        </p:spPr>
        <p:txBody>
          <a:bodyPr/>
          <a:lstStyle/>
          <a:p>
            <a:endParaRPr lang="it-IT"/>
          </a:p>
        </p:txBody>
      </p:sp>
      <p:sp>
        <p:nvSpPr>
          <p:cNvPr id="26" name="net_2_1_2">
            <a:extLst>
              <a:ext uri="{FF2B5EF4-FFF2-40B4-BE49-F238E27FC236}">
                <a16:creationId xmlns:a16="http://schemas.microsoft.com/office/drawing/2014/main" id="{054286C8-21DD-4084-BD74-C8FB0F32E0C5}"/>
              </a:ext>
            </a:extLst>
          </p:cNvPr>
          <p:cNvSpPr>
            <a:spLocks noGrp="1"/>
          </p:cNvSpPr>
          <p:nvPr/>
        </p:nvSpPr>
        <p:spPr>
          <a:xfrm>
            <a:off x="4600575" y="2466975"/>
            <a:ext cx="2800350" cy="142875"/>
          </a:xfrm>
          <a:prstGeom prst="line">
            <a:avLst/>
          </a:prstGeom>
          <a:noFill/>
          <a:ln w="12383">
            <a:solidFill>
              <a:srgbClr val="B6C2CD"/>
            </a:solidFill>
          </a:ln>
        </p:spPr>
        <p:txBody>
          <a:bodyPr/>
          <a:lstStyle/>
          <a:p>
            <a:endParaRPr lang="it-IT"/>
          </a:p>
        </p:txBody>
      </p:sp>
      <p:sp>
        <p:nvSpPr>
          <p:cNvPr id="27" name="net_2_2_2">
            <a:extLst>
              <a:ext uri="{FF2B5EF4-FFF2-40B4-BE49-F238E27FC236}">
                <a16:creationId xmlns:a16="http://schemas.microsoft.com/office/drawing/2014/main" id="{BD697722-1161-4E6A-AC17-7EC26D6512F4}"/>
              </a:ext>
            </a:extLst>
          </p:cNvPr>
          <p:cNvSpPr>
            <a:spLocks noGrp="1"/>
          </p:cNvSpPr>
          <p:nvPr/>
        </p:nvSpPr>
        <p:spPr>
          <a:xfrm flipV="1">
            <a:off x="4600575" y="2609850"/>
            <a:ext cx="2800350" cy="285750"/>
          </a:xfrm>
          <a:prstGeom prst="line">
            <a:avLst/>
          </a:prstGeom>
          <a:noFill/>
          <a:ln w="12383">
            <a:solidFill>
              <a:srgbClr val="B6C2CD"/>
            </a:solidFill>
          </a:ln>
        </p:spPr>
        <p:txBody>
          <a:bodyPr/>
          <a:lstStyle/>
          <a:p>
            <a:endParaRPr lang="it-IT"/>
          </a:p>
        </p:txBody>
      </p:sp>
      <p:sp>
        <p:nvSpPr>
          <p:cNvPr id="28" name="net_2_3_2">
            <a:extLst>
              <a:ext uri="{FF2B5EF4-FFF2-40B4-BE49-F238E27FC236}">
                <a16:creationId xmlns:a16="http://schemas.microsoft.com/office/drawing/2014/main" id="{002D3E1A-3548-49D7-808E-A905919C52B5}"/>
              </a:ext>
            </a:extLst>
          </p:cNvPr>
          <p:cNvSpPr>
            <a:spLocks noGrp="1"/>
          </p:cNvSpPr>
          <p:nvPr/>
        </p:nvSpPr>
        <p:spPr>
          <a:xfrm flipV="1">
            <a:off x="4600575" y="2609850"/>
            <a:ext cx="2800350" cy="714375"/>
          </a:xfrm>
          <a:prstGeom prst="line">
            <a:avLst/>
          </a:prstGeom>
          <a:noFill/>
          <a:ln w="12383">
            <a:solidFill>
              <a:srgbClr val="B6C2CD"/>
            </a:solidFill>
          </a:ln>
        </p:spPr>
        <p:txBody>
          <a:bodyPr/>
          <a:lstStyle/>
          <a:p>
            <a:endParaRPr lang="it-IT"/>
          </a:p>
        </p:txBody>
      </p:sp>
      <p:sp>
        <p:nvSpPr>
          <p:cNvPr id="29" name="net_2_4_2">
            <a:extLst>
              <a:ext uri="{FF2B5EF4-FFF2-40B4-BE49-F238E27FC236}">
                <a16:creationId xmlns:a16="http://schemas.microsoft.com/office/drawing/2014/main" id="{9196F2DD-6003-44CC-AC67-31E0B8A72F13}"/>
              </a:ext>
            </a:extLst>
          </p:cNvPr>
          <p:cNvSpPr>
            <a:spLocks noGrp="1"/>
          </p:cNvSpPr>
          <p:nvPr/>
        </p:nvSpPr>
        <p:spPr>
          <a:xfrm flipV="1">
            <a:off x="4600575" y="2609850"/>
            <a:ext cx="2800350" cy="1143000"/>
          </a:xfrm>
          <a:prstGeom prst="line">
            <a:avLst/>
          </a:prstGeom>
          <a:noFill/>
          <a:ln w="12383">
            <a:solidFill>
              <a:srgbClr val="B6C2CD"/>
            </a:solidFill>
          </a:ln>
        </p:spPr>
        <p:txBody>
          <a:bodyPr/>
          <a:lstStyle/>
          <a:p>
            <a:endParaRPr lang="it-IT"/>
          </a:p>
        </p:txBody>
      </p:sp>
      <p:sp>
        <p:nvSpPr>
          <p:cNvPr id="30" name="net_2_0_3">
            <a:extLst>
              <a:ext uri="{FF2B5EF4-FFF2-40B4-BE49-F238E27FC236}">
                <a16:creationId xmlns:a16="http://schemas.microsoft.com/office/drawing/2014/main" id="{F8D3F177-CC44-49F8-8B45-1102BF445E49}"/>
              </a:ext>
            </a:extLst>
          </p:cNvPr>
          <p:cNvSpPr>
            <a:spLocks noGrp="1"/>
          </p:cNvSpPr>
          <p:nvPr/>
        </p:nvSpPr>
        <p:spPr>
          <a:xfrm>
            <a:off x="4600575" y="2038350"/>
            <a:ext cx="2800350" cy="857250"/>
          </a:xfrm>
          <a:prstGeom prst="line">
            <a:avLst/>
          </a:prstGeom>
          <a:noFill/>
          <a:ln w="12383">
            <a:solidFill>
              <a:srgbClr val="B6C2CD"/>
            </a:solidFill>
          </a:ln>
        </p:spPr>
        <p:txBody>
          <a:bodyPr/>
          <a:lstStyle/>
          <a:p>
            <a:endParaRPr lang="it-IT"/>
          </a:p>
        </p:txBody>
      </p:sp>
      <p:sp>
        <p:nvSpPr>
          <p:cNvPr id="31" name="net_2_1_3">
            <a:extLst>
              <a:ext uri="{FF2B5EF4-FFF2-40B4-BE49-F238E27FC236}">
                <a16:creationId xmlns:a16="http://schemas.microsoft.com/office/drawing/2014/main" id="{AD2D1365-6BD8-4ACB-9707-B9B0670878BA}"/>
              </a:ext>
            </a:extLst>
          </p:cNvPr>
          <p:cNvSpPr>
            <a:spLocks noGrp="1"/>
          </p:cNvSpPr>
          <p:nvPr/>
        </p:nvSpPr>
        <p:spPr>
          <a:xfrm>
            <a:off x="4600575" y="2466975"/>
            <a:ext cx="2800350" cy="428625"/>
          </a:xfrm>
          <a:prstGeom prst="line">
            <a:avLst/>
          </a:prstGeom>
          <a:noFill/>
          <a:ln w="12383">
            <a:solidFill>
              <a:srgbClr val="B6C2CD"/>
            </a:solidFill>
          </a:ln>
        </p:spPr>
        <p:txBody>
          <a:bodyPr/>
          <a:lstStyle/>
          <a:p>
            <a:endParaRPr lang="it-IT"/>
          </a:p>
        </p:txBody>
      </p:sp>
      <p:sp>
        <p:nvSpPr>
          <p:cNvPr id="32" name="net_2_2_3">
            <a:extLst>
              <a:ext uri="{FF2B5EF4-FFF2-40B4-BE49-F238E27FC236}">
                <a16:creationId xmlns:a16="http://schemas.microsoft.com/office/drawing/2014/main" id="{59FFEEB3-48F2-446F-8476-63F87939D44B}"/>
              </a:ext>
            </a:extLst>
          </p:cNvPr>
          <p:cNvSpPr>
            <a:spLocks noGrp="1"/>
          </p:cNvSpPr>
          <p:nvPr/>
        </p:nvSpPr>
        <p:spPr>
          <a:xfrm>
            <a:off x="4600575" y="2895600"/>
            <a:ext cx="2800350" cy="953"/>
          </a:xfrm>
          <a:prstGeom prst="line">
            <a:avLst/>
          </a:prstGeom>
          <a:noFill/>
          <a:ln w="12383">
            <a:solidFill>
              <a:srgbClr val="B6C2CD"/>
            </a:solidFill>
          </a:ln>
        </p:spPr>
        <p:txBody>
          <a:bodyPr/>
          <a:lstStyle/>
          <a:p>
            <a:endParaRPr lang="it-IT"/>
          </a:p>
        </p:txBody>
      </p:sp>
      <p:sp>
        <p:nvSpPr>
          <p:cNvPr id="33" name="net_2_3_3">
            <a:extLst>
              <a:ext uri="{FF2B5EF4-FFF2-40B4-BE49-F238E27FC236}">
                <a16:creationId xmlns:a16="http://schemas.microsoft.com/office/drawing/2014/main" id="{24D52523-72D1-4F03-A780-27E5B0352084}"/>
              </a:ext>
            </a:extLst>
          </p:cNvPr>
          <p:cNvSpPr>
            <a:spLocks noGrp="1"/>
          </p:cNvSpPr>
          <p:nvPr/>
        </p:nvSpPr>
        <p:spPr>
          <a:xfrm flipV="1">
            <a:off x="4600575" y="2895600"/>
            <a:ext cx="2800350" cy="428625"/>
          </a:xfrm>
          <a:prstGeom prst="line">
            <a:avLst/>
          </a:prstGeom>
          <a:noFill/>
          <a:ln w="12383">
            <a:solidFill>
              <a:srgbClr val="B6C2CD"/>
            </a:solidFill>
          </a:ln>
        </p:spPr>
        <p:txBody>
          <a:bodyPr/>
          <a:lstStyle/>
          <a:p>
            <a:endParaRPr lang="it-IT"/>
          </a:p>
        </p:txBody>
      </p:sp>
      <p:sp>
        <p:nvSpPr>
          <p:cNvPr id="34" name="net_2_4_3">
            <a:extLst>
              <a:ext uri="{FF2B5EF4-FFF2-40B4-BE49-F238E27FC236}">
                <a16:creationId xmlns:a16="http://schemas.microsoft.com/office/drawing/2014/main" id="{5CE2B1F3-0D83-41F4-9C90-A48C80D4CBE8}"/>
              </a:ext>
            </a:extLst>
          </p:cNvPr>
          <p:cNvSpPr>
            <a:spLocks noGrp="1"/>
          </p:cNvSpPr>
          <p:nvPr/>
        </p:nvSpPr>
        <p:spPr>
          <a:xfrm flipV="1">
            <a:off x="4600575" y="2895600"/>
            <a:ext cx="2800350" cy="857250"/>
          </a:xfrm>
          <a:prstGeom prst="line">
            <a:avLst/>
          </a:prstGeom>
          <a:noFill/>
          <a:ln w="12383">
            <a:solidFill>
              <a:srgbClr val="B6C2CD"/>
            </a:solidFill>
          </a:ln>
        </p:spPr>
        <p:txBody>
          <a:bodyPr/>
          <a:lstStyle/>
          <a:p>
            <a:endParaRPr lang="it-IT"/>
          </a:p>
        </p:txBody>
      </p:sp>
      <p:sp>
        <p:nvSpPr>
          <p:cNvPr id="35" name="net_2_0_4">
            <a:extLst>
              <a:ext uri="{FF2B5EF4-FFF2-40B4-BE49-F238E27FC236}">
                <a16:creationId xmlns:a16="http://schemas.microsoft.com/office/drawing/2014/main" id="{05A787D9-4812-404A-AF3F-1A1D73A0B218}"/>
              </a:ext>
            </a:extLst>
          </p:cNvPr>
          <p:cNvSpPr>
            <a:spLocks noGrp="1"/>
          </p:cNvSpPr>
          <p:nvPr/>
        </p:nvSpPr>
        <p:spPr>
          <a:xfrm>
            <a:off x="4600575" y="2038350"/>
            <a:ext cx="2800350" cy="1143000"/>
          </a:xfrm>
          <a:prstGeom prst="line">
            <a:avLst/>
          </a:prstGeom>
          <a:noFill/>
          <a:ln w="12383">
            <a:solidFill>
              <a:srgbClr val="B6C2CD"/>
            </a:solidFill>
          </a:ln>
        </p:spPr>
        <p:txBody>
          <a:bodyPr/>
          <a:lstStyle/>
          <a:p>
            <a:endParaRPr lang="it-IT"/>
          </a:p>
        </p:txBody>
      </p:sp>
      <p:sp>
        <p:nvSpPr>
          <p:cNvPr id="36" name="net_2_1_4">
            <a:extLst>
              <a:ext uri="{FF2B5EF4-FFF2-40B4-BE49-F238E27FC236}">
                <a16:creationId xmlns:a16="http://schemas.microsoft.com/office/drawing/2014/main" id="{A1EF0C4F-2DEA-4396-866D-AB3E359E94C6}"/>
              </a:ext>
            </a:extLst>
          </p:cNvPr>
          <p:cNvSpPr>
            <a:spLocks noGrp="1"/>
          </p:cNvSpPr>
          <p:nvPr/>
        </p:nvSpPr>
        <p:spPr>
          <a:xfrm>
            <a:off x="4600575" y="2466975"/>
            <a:ext cx="2800350" cy="714375"/>
          </a:xfrm>
          <a:prstGeom prst="line">
            <a:avLst/>
          </a:prstGeom>
          <a:noFill/>
          <a:ln w="12383">
            <a:solidFill>
              <a:srgbClr val="B6C2CD"/>
            </a:solidFill>
          </a:ln>
        </p:spPr>
        <p:txBody>
          <a:bodyPr/>
          <a:lstStyle/>
          <a:p>
            <a:endParaRPr lang="it-IT"/>
          </a:p>
        </p:txBody>
      </p:sp>
      <p:sp>
        <p:nvSpPr>
          <p:cNvPr id="37" name="net_2_2_4">
            <a:extLst>
              <a:ext uri="{FF2B5EF4-FFF2-40B4-BE49-F238E27FC236}">
                <a16:creationId xmlns:a16="http://schemas.microsoft.com/office/drawing/2014/main" id="{35F9CADD-F748-49E7-9A25-20646059E0FB}"/>
              </a:ext>
            </a:extLst>
          </p:cNvPr>
          <p:cNvSpPr>
            <a:spLocks noGrp="1"/>
          </p:cNvSpPr>
          <p:nvPr/>
        </p:nvSpPr>
        <p:spPr>
          <a:xfrm>
            <a:off x="4600575" y="2895600"/>
            <a:ext cx="2800350" cy="285750"/>
          </a:xfrm>
          <a:prstGeom prst="line">
            <a:avLst/>
          </a:prstGeom>
          <a:noFill/>
          <a:ln w="12383">
            <a:solidFill>
              <a:srgbClr val="B6C2CD"/>
            </a:solidFill>
          </a:ln>
        </p:spPr>
        <p:txBody>
          <a:bodyPr/>
          <a:lstStyle/>
          <a:p>
            <a:endParaRPr lang="it-IT"/>
          </a:p>
        </p:txBody>
      </p:sp>
      <p:sp>
        <p:nvSpPr>
          <p:cNvPr id="38" name="net_2_3_4">
            <a:extLst>
              <a:ext uri="{FF2B5EF4-FFF2-40B4-BE49-F238E27FC236}">
                <a16:creationId xmlns:a16="http://schemas.microsoft.com/office/drawing/2014/main" id="{0A47F1F0-3EDD-4832-ACCF-0FAE66ECB9DD}"/>
              </a:ext>
            </a:extLst>
          </p:cNvPr>
          <p:cNvSpPr>
            <a:spLocks noGrp="1"/>
          </p:cNvSpPr>
          <p:nvPr/>
        </p:nvSpPr>
        <p:spPr>
          <a:xfrm flipV="1">
            <a:off x="4600575" y="3181350"/>
            <a:ext cx="2800350" cy="142875"/>
          </a:xfrm>
          <a:prstGeom prst="line">
            <a:avLst/>
          </a:prstGeom>
          <a:noFill/>
          <a:ln w="12383">
            <a:solidFill>
              <a:srgbClr val="B6C2CD"/>
            </a:solidFill>
          </a:ln>
        </p:spPr>
        <p:txBody>
          <a:bodyPr/>
          <a:lstStyle/>
          <a:p>
            <a:endParaRPr lang="it-IT"/>
          </a:p>
        </p:txBody>
      </p:sp>
      <p:sp>
        <p:nvSpPr>
          <p:cNvPr id="39" name="net_2_4_4">
            <a:extLst>
              <a:ext uri="{FF2B5EF4-FFF2-40B4-BE49-F238E27FC236}">
                <a16:creationId xmlns:a16="http://schemas.microsoft.com/office/drawing/2014/main" id="{B3A8EB60-B365-45D5-A583-C1241C8D21BC}"/>
              </a:ext>
            </a:extLst>
          </p:cNvPr>
          <p:cNvSpPr>
            <a:spLocks noGrp="1"/>
          </p:cNvSpPr>
          <p:nvPr/>
        </p:nvSpPr>
        <p:spPr>
          <a:xfrm flipV="1">
            <a:off x="4600575" y="3181350"/>
            <a:ext cx="2800350" cy="571500"/>
          </a:xfrm>
          <a:prstGeom prst="line">
            <a:avLst/>
          </a:prstGeom>
          <a:noFill/>
          <a:ln w="12383">
            <a:solidFill>
              <a:srgbClr val="B6C2CD"/>
            </a:solidFill>
          </a:ln>
        </p:spPr>
        <p:txBody>
          <a:bodyPr/>
          <a:lstStyle/>
          <a:p>
            <a:endParaRPr lang="it-IT"/>
          </a:p>
        </p:txBody>
      </p:sp>
      <p:sp>
        <p:nvSpPr>
          <p:cNvPr id="40" name="net_2_0_5">
            <a:extLst>
              <a:ext uri="{FF2B5EF4-FFF2-40B4-BE49-F238E27FC236}">
                <a16:creationId xmlns:a16="http://schemas.microsoft.com/office/drawing/2014/main" id="{263013AC-939F-47EB-9395-4C8E58F7DA01}"/>
              </a:ext>
            </a:extLst>
          </p:cNvPr>
          <p:cNvSpPr>
            <a:spLocks noGrp="1"/>
          </p:cNvSpPr>
          <p:nvPr/>
        </p:nvSpPr>
        <p:spPr>
          <a:xfrm>
            <a:off x="4600575" y="2038350"/>
            <a:ext cx="2800350" cy="1428750"/>
          </a:xfrm>
          <a:prstGeom prst="line">
            <a:avLst/>
          </a:prstGeom>
          <a:noFill/>
          <a:ln w="12383">
            <a:solidFill>
              <a:srgbClr val="B6C2CD"/>
            </a:solidFill>
          </a:ln>
        </p:spPr>
        <p:txBody>
          <a:bodyPr/>
          <a:lstStyle/>
          <a:p>
            <a:endParaRPr lang="it-IT"/>
          </a:p>
        </p:txBody>
      </p:sp>
      <p:sp>
        <p:nvSpPr>
          <p:cNvPr id="41" name="net_2_1_5">
            <a:extLst>
              <a:ext uri="{FF2B5EF4-FFF2-40B4-BE49-F238E27FC236}">
                <a16:creationId xmlns:a16="http://schemas.microsoft.com/office/drawing/2014/main" id="{8A22751E-9E1F-42AF-9703-7764B5D952F9}"/>
              </a:ext>
            </a:extLst>
          </p:cNvPr>
          <p:cNvSpPr>
            <a:spLocks noGrp="1"/>
          </p:cNvSpPr>
          <p:nvPr/>
        </p:nvSpPr>
        <p:spPr>
          <a:xfrm>
            <a:off x="4600575" y="2466975"/>
            <a:ext cx="2800350" cy="1000125"/>
          </a:xfrm>
          <a:prstGeom prst="line">
            <a:avLst/>
          </a:prstGeom>
          <a:noFill/>
          <a:ln w="12383">
            <a:solidFill>
              <a:srgbClr val="B6C2CD"/>
            </a:solidFill>
          </a:ln>
        </p:spPr>
        <p:txBody>
          <a:bodyPr/>
          <a:lstStyle/>
          <a:p>
            <a:endParaRPr lang="it-IT"/>
          </a:p>
        </p:txBody>
      </p:sp>
      <p:sp>
        <p:nvSpPr>
          <p:cNvPr id="42" name="net_2_2_5">
            <a:extLst>
              <a:ext uri="{FF2B5EF4-FFF2-40B4-BE49-F238E27FC236}">
                <a16:creationId xmlns:a16="http://schemas.microsoft.com/office/drawing/2014/main" id="{8E5602F4-F7FC-4C9A-ADA3-1B24A96102DC}"/>
              </a:ext>
            </a:extLst>
          </p:cNvPr>
          <p:cNvSpPr>
            <a:spLocks noGrp="1"/>
          </p:cNvSpPr>
          <p:nvPr/>
        </p:nvSpPr>
        <p:spPr>
          <a:xfrm>
            <a:off x="4600575" y="2895600"/>
            <a:ext cx="2800350" cy="571500"/>
          </a:xfrm>
          <a:prstGeom prst="line">
            <a:avLst/>
          </a:prstGeom>
          <a:noFill/>
          <a:ln w="12383">
            <a:solidFill>
              <a:srgbClr val="B6C2CD"/>
            </a:solidFill>
          </a:ln>
        </p:spPr>
        <p:txBody>
          <a:bodyPr/>
          <a:lstStyle/>
          <a:p>
            <a:endParaRPr lang="it-IT"/>
          </a:p>
        </p:txBody>
      </p:sp>
      <p:sp>
        <p:nvSpPr>
          <p:cNvPr id="43" name="net_2_3_5">
            <a:extLst>
              <a:ext uri="{FF2B5EF4-FFF2-40B4-BE49-F238E27FC236}">
                <a16:creationId xmlns:a16="http://schemas.microsoft.com/office/drawing/2014/main" id="{186FA911-46DC-4FAE-A26F-856630513A21}"/>
              </a:ext>
            </a:extLst>
          </p:cNvPr>
          <p:cNvSpPr>
            <a:spLocks noGrp="1"/>
          </p:cNvSpPr>
          <p:nvPr/>
        </p:nvSpPr>
        <p:spPr>
          <a:xfrm>
            <a:off x="4600575" y="3324225"/>
            <a:ext cx="2800350" cy="142875"/>
          </a:xfrm>
          <a:prstGeom prst="line">
            <a:avLst/>
          </a:prstGeom>
          <a:noFill/>
          <a:ln w="12383">
            <a:solidFill>
              <a:srgbClr val="B6C2CD"/>
            </a:solidFill>
          </a:ln>
        </p:spPr>
        <p:txBody>
          <a:bodyPr/>
          <a:lstStyle/>
          <a:p>
            <a:endParaRPr lang="it-IT"/>
          </a:p>
        </p:txBody>
      </p:sp>
      <p:sp>
        <p:nvSpPr>
          <p:cNvPr id="44" name="net_2_4_5">
            <a:extLst>
              <a:ext uri="{FF2B5EF4-FFF2-40B4-BE49-F238E27FC236}">
                <a16:creationId xmlns:a16="http://schemas.microsoft.com/office/drawing/2014/main" id="{E18B983D-D939-40F5-907C-3F79BDB08EFA}"/>
              </a:ext>
            </a:extLst>
          </p:cNvPr>
          <p:cNvSpPr>
            <a:spLocks noGrp="1"/>
          </p:cNvSpPr>
          <p:nvPr/>
        </p:nvSpPr>
        <p:spPr>
          <a:xfrm flipV="1">
            <a:off x="4600575" y="3467100"/>
            <a:ext cx="2800350" cy="285750"/>
          </a:xfrm>
          <a:prstGeom prst="line">
            <a:avLst/>
          </a:prstGeom>
          <a:noFill/>
          <a:ln w="12383">
            <a:solidFill>
              <a:srgbClr val="B6C2CD"/>
            </a:solidFill>
          </a:ln>
        </p:spPr>
        <p:txBody>
          <a:bodyPr/>
          <a:lstStyle/>
          <a:p>
            <a:endParaRPr lang="it-IT"/>
          </a:p>
        </p:txBody>
      </p:sp>
      <p:sp>
        <p:nvSpPr>
          <p:cNvPr id="45" name="net_2_0_6">
            <a:extLst>
              <a:ext uri="{FF2B5EF4-FFF2-40B4-BE49-F238E27FC236}">
                <a16:creationId xmlns:a16="http://schemas.microsoft.com/office/drawing/2014/main" id="{B32F22ED-7CCB-43E8-A323-AB5D2DF66E44}"/>
              </a:ext>
            </a:extLst>
          </p:cNvPr>
          <p:cNvSpPr>
            <a:spLocks noGrp="1"/>
          </p:cNvSpPr>
          <p:nvPr/>
        </p:nvSpPr>
        <p:spPr>
          <a:xfrm>
            <a:off x="4600575" y="2038350"/>
            <a:ext cx="2800350" cy="1714500"/>
          </a:xfrm>
          <a:prstGeom prst="line">
            <a:avLst/>
          </a:prstGeom>
          <a:noFill/>
          <a:ln w="12383">
            <a:solidFill>
              <a:srgbClr val="B6C2CD"/>
            </a:solidFill>
          </a:ln>
        </p:spPr>
        <p:txBody>
          <a:bodyPr/>
          <a:lstStyle/>
          <a:p>
            <a:endParaRPr lang="it-IT"/>
          </a:p>
        </p:txBody>
      </p:sp>
      <p:sp>
        <p:nvSpPr>
          <p:cNvPr id="46" name="net_2_1_6">
            <a:extLst>
              <a:ext uri="{FF2B5EF4-FFF2-40B4-BE49-F238E27FC236}">
                <a16:creationId xmlns:a16="http://schemas.microsoft.com/office/drawing/2014/main" id="{6532311C-E844-4455-8C9B-FBD845789DD5}"/>
              </a:ext>
            </a:extLst>
          </p:cNvPr>
          <p:cNvSpPr>
            <a:spLocks noGrp="1"/>
          </p:cNvSpPr>
          <p:nvPr/>
        </p:nvSpPr>
        <p:spPr>
          <a:xfrm>
            <a:off x="4600575" y="2466975"/>
            <a:ext cx="2800350" cy="1285875"/>
          </a:xfrm>
          <a:prstGeom prst="line">
            <a:avLst/>
          </a:prstGeom>
          <a:noFill/>
          <a:ln w="12383">
            <a:solidFill>
              <a:srgbClr val="B6C2CD"/>
            </a:solidFill>
          </a:ln>
        </p:spPr>
        <p:txBody>
          <a:bodyPr/>
          <a:lstStyle/>
          <a:p>
            <a:endParaRPr lang="it-IT"/>
          </a:p>
        </p:txBody>
      </p:sp>
      <p:sp>
        <p:nvSpPr>
          <p:cNvPr id="47" name="net_2_2_6">
            <a:extLst>
              <a:ext uri="{FF2B5EF4-FFF2-40B4-BE49-F238E27FC236}">
                <a16:creationId xmlns:a16="http://schemas.microsoft.com/office/drawing/2014/main" id="{177D21F9-24A5-449C-BB07-0733EC684E66}"/>
              </a:ext>
            </a:extLst>
          </p:cNvPr>
          <p:cNvSpPr>
            <a:spLocks noGrp="1"/>
          </p:cNvSpPr>
          <p:nvPr/>
        </p:nvSpPr>
        <p:spPr>
          <a:xfrm>
            <a:off x="4600575" y="2895600"/>
            <a:ext cx="2800350" cy="857250"/>
          </a:xfrm>
          <a:prstGeom prst="line">
            <a:avLst/>
          </a:prstGeom>
          <a:noFill/>
          <a:ln w="12383">
            <a:solidFill>
              <a:srgbClr val="B6C2CD"/>
            </a:solidFill>
          </a:ln>
        </p:spPr>
        <p:txBody>
          <a:bodyPr/>
          <a:lstStyle/>
          <a:p>
            <a:endParaRPr lang="it-IT"/>
          </a:p>
        </p:txBody>
      </p:sp>
      <p:sp>
        <p:nvSpPr>
          <p:cNvPr id="48" name="net_2_3_6">
            <a:extLst>
              <a:ext uri="{FF2B5EF4-FFF2-40B4-BE49-F238E27FC236}">
                <a16:creationId xmlns:a16="http://schemas.microsoft.com/office/drawing/2014/main" id="{2DC5EC05-F405-4EDC-B37D-8C2DA84CF2C8}"/>
              </a:ext>
            </a:extLst>
          </p:cNvPr>
          <p:cNvSpPr>
            <a:spLocks noGrp="1"/>
          </p:cNvSpPr>
          <p:nvPr/>
        </p:nvSpPr>
        <p:spPr>
          <a:xfrm>
            <a:off x="4600575" y="3324225"/>
            <a:ext cx="2800350" cy="428625"/>
          </a:xfrm>
          <a:prstGeom prst="line">
            <a:avLst/>
          </a:prstGeom>
          <a:noFill/>
          <a:ln w="12383">
            <a:solidFill>
              <a:srgbClr val="B6C2CD"/>
            </a:solidFill>
          </a:ln>
        </p:spPr>
        <p:txBody>
          <a:bodyPr/>
          <a:lstStyle/>
          <a:p>
            <a:endParaRPr lang="it-IT"/>
          </a:p>
        </p:txBody>
      </p:sp>
      <p:sp>
        <p:nvSpPr>
          <p:cNvPr id="49" name="net_2_4_6">
            <a:extLst>
              <a:ext uri="{FF2B5EF4-FFF2-40B4-BE49-F238E27FC236}">
                <a16:creationId xmlns:a16="http://schemas.microsoft.com/office/drawing/2014/main" id="{A5EE8B0C-5D3A-4DCB-A2FB-3297E706ECE6}"/>
              </a:ext>
            </a:extLst>
          </p:cNvPr>
          <p:cNvSpPr>
            <a:spLocks noGrp="1"/>
          </p:cNvSpPr>
          <p:nvPr/>
        </p:nvSpPr>
        <p:spPr>
          <a:xfrm>
            <a:off x="4600575" y="3752850"/>
            <a:ext cx="2800350" cy="953"/>
          </a:xfrm>
          <a:prstGeom prst="line">
            <a:avLst/>
          </a:prstGeom>
          <a:noFill/>
          <a:ln w="12383">
            <a:solidFill>
              <a:srgbClr val="B6C2CD"/>
            </a:solidFill>
          </a:ln>
        </p:spPr>
        <p:txBody>
          <a:bodyPr/>
          <a:lstStyle/>
          <a:p>
            <a:endParaRPr lang="it-IT"/>
          </a:p>
        </p:txBody>
      </p:sp>
      <p:sp>
        <p:nvSpPr>
          <p:cNvPr id="50" name="net_3_0_0">
            <a:extLst>
              <a:ext uri="{FF2B5EF4-FFF2-40B4-BE49-F238E27FC236}">
                <a16:creationId xmlns:a16="http://schemas.microsoft.com/office/drawing/2014/main" id="{F67F5351-F32B-46FA-9975-22B4ADFDF29C}"/>
              </a:ext>
            </a:extLst>
          </p:cNvPr>
          <p:cNvSpPr>
            <a:spLocks noGrp="1"/>
          </p:cNvSpPr>
          <p:nvPr/>
        </p:nvSpPr>
        <p:spPr>
          <a:xfrm>
            <a:off x="7648575" y="2038350"/>
            <a:ext cx="2800350" cy="953"/>
          </a:xfrm>
          <a:prstGeom prst="line">
            <a:avLst/>
          </a:prstGeom>
          <a:noFill/>
          <a:ln w="12383">
            <a:solidFill>
              <a:srgbClr val="B6C2CD"/>
            </a:solidFill>
          </a:ln>
        </p:spPr>
        <p:txBody>
          <a:bodyPr/>
          <a:lstStyle/>
          <a:p>
            <a:endParaRPr lang="it-IT"/>
          </a:p>
        </p:txBody>
      </p:sp>
      <p:sp>
        <p:nvSpPr>
          <p:cNvPr id="51" name="net_3_1_0">
            <a:extLst>
              <a:ext uri="{FF2B5EF4-FFF2-40B4-BE49-F238E27FC236}">
                <a16:creationId xmlns:a16="http://schemas.microsoft.com/office/drawing/2014/main" id="{37E5D79D-A886-44A0-ABDD-CEFEC09AC79A}"/>
              </a:ext>
            </a:extLst>
          </p:cNvPr>
          <p:cNvSpPr>
            <a:spLocks noGrp="1"/>
          </p:cNvSpPr>
          <p:nvPr/>
        </p:nvSpPr>
        <p:spPr>
          <a:xfrm flipV="1">
            <a:off x="7648575" y="2038350"/>
            <a:ext cx="2800350" cy="285750"/>
          </a:xfrm>
          <a:prstGeom prst="line">
            <a:avLst/>
          </a:prstGeom>
          <a:noFill/>
          <a:ln w="12383">
            <a:solidFill>
              <a:srgbClr val="B6C2CD"/>
            </a:solidFill>
          </a:ln>
        </p:spPr>
        <p:txBody>
          <a:bodyPr/>
          <a:lstStyle/>
          <a:p>
            <a:endParaRPr lang="it-IT"/>
          </a:p>
        </p:txBody>
      </p:sp>
      <p:sp>
        <p:nvSpPr>
          <p:cNvPr id="52" name="net_3_2_0">
            <a:extLst>
              <a:ext uri="{FF2B5EF4-FFF2-40B4-BE49-F238E27FC236}">
                <a16:creationId xmlns:a16="http://schemas.microsoft.com/office/drawing/2014/main" id="{104B880A-1D90-4DA0-8994-C271C4FF01FC}"/>
              </a:ext>
            </a:extLst>
          </p:cNvPr>
          <p:cNvSpPr>
            <a:spLocks noGrp="1"/>
          </p:cNvSpPr>
          <p:nvPr/>
        </p:nvSpPr>
        <p:spPr>
          <a:xfrm flipV="1">
            <a:off x="7648575" y="2038350"/>
            <a:ext cx="2800350" cy="571500"/>
          </a:xfrm>
          <a:prstGeom prst="line">
            <a:avLst/>
          </a:prstGeom>
          <a:noFill/>
          <a:ln w="12383">
            <a:solidFill>
              <a:srgbClr val="B6C2CD"/>
            </a:solidFill>
          </a:ln>
        </p:spPr>
        <p:txBody>
          <a:bodyPr/>
          <a:lstStyle/>
          <a:p>
            <a:endParaRPr lang="it-IT"/>
          </a:p>
        </p:txBody>
      </p:sp>
      <p:sp>
        <p:nvSpPr>
          <p:cNvPr id="53" name="net_3_3_0">
            <a:extLst>
              <a:ext uri="{FF2B5EF4-FFF2-40B4-BE49-F238E27FC236}">
                <a16:creationId xmlns:a16="http://schemas.microsoft.com/office/drawing/2014/main" id="{200571BA-97C5-4F34-80F2-4D8B09C87574}"/>
              </a:ext>
            </a:extLst>
          </p:cNvPr>
          <p:cNvSpPr>
            <a:spLocks noGrp="1"/>
          </p:cNvSpPr>
          <p:nvPr/>
        </p:nvSpPr>
        <p:spPr>
          <a:xfrm flipV="1">
            <a:off x="7648575" y="2038350"/>
            <a:ext cx="2800350" cy="857250"/>
          </a:xfrm>
          <a:prstGeom prst="line">
            <a:avLst/>
          </a:prstGeom>
          <a:noFill/>
          <a:ln w="12383">
            <a:solidFill>
              <a:srgbClr val="B6C2CD"/>
            </a:solidFill>
          </a:ln>
        </p:spPr>
        <p:txBody>
          <a:bodyPr/>
          <a:lstStyle/>
          <a:p>
            <a:endParaRPr lang="it-IT"/>
          </a:p>
        </p:txBody>
      </p:sp>
      <p:sp>
        <p:nvSpPr>
          <p:cNvPr id="54" name="net_3_4_0">
            <a:extLst>
              <a:ext uri="{FF2B5EF4-FFF2-40B4-BE49-F238E27FC236}">
                <a16:creationId xmlns:a16="http://schemas.microsoft.com/office/drawing/2014/main" id="{96E12C98-F94E-4F6B-BE5C-A574D4E039E9}"/>
              </a:ext>
            </a:extLst>
          </p:cNvPr>
          <p:cNvSpPr>
            <a:spLocks noGrp="1"/>
          </p:cNvSpPr>
          <p:nvPr/>
        </p:nvSpPr>
        <p:spPr>
          <a:xfrm flipV="1">
            <a:off x="7648575" y="2038350"/>
            <a:ext cx="2800350" cy="1143000"/>
          </a:xfrm>
          <a:prstGeom prst="line">
            <a:avLst/>
          </a:prstGeom>
          <a:noFill/>
          <a:ln w="12383">
            <a:solidFill>
              <a:srgbClr val="B6C2CD"/>
            </a:solidFill>
          </a:ln>
        </p:spPr>
        <p:txBody>
          <a:bodyPr/>
          <a:lstStyle/>
          <a:p>
            <a:endParaRPr lang="it-IT"/>
          </a:p>
        </p:txBody>
      </p:sp>
      <p:sp>
        <p:nvSpPr>
          <p:cNvPr id="55" name="net_3_5_0">
            <a:extLst>
              <a:ext uri="{FF2B5EF4-FFF2-40B4-BE49-F238E27FC236}">
                <a16:creationId xmlns:a16="http://schemas.microsoft.com/office/drawing/2014/main" id="{8A26FF35-8483-462C-802B-95D1D8D8C846}"/>
              </a:ext>
            </a:extLst>
          </p:cNvPr>
          <p:cNvSpPr>
            <a:spLocks noGrp="1"/>
          </p:cNvSpPr>
          <p:nvPr/>
        </p:nvSpPr>
        <p:spPr>
          <a:xfrm flipV="1">
            <a:off x="7648575" y="2038350"/>
            <a:ext cx="2800350" cy="1428750"/>
          </a:xfrm>
          <a:prstGeom prst="line">
            <a:avLst/>
          </a:prstGeom>
          <a:noFill/>
          <a:ln w="12383">
            <a:solidFill>
              <a:srgbClr val="B6C2CD"/>
            </a:solidFill>
          </a:ln>
        </p:spPr>
        <p:txBody>
          <a:bodyPr/>
          <a:lstStyle/>
          <a:p>
            <a:endParaRPr lang="it-IT"/>
          </a:p>
        </p:txBody>
      </p:sp>
      <p:sp>
        <p:nvSpPr>
          <p:cNvPr id="56" name="net_3_6_0">
            <a:extLst>
              <a:ext uri="{FF2B5EF4-FFF2-40B4-BE49-F238E27FC236}">
                <a16:creationId xmlns:a16="http://schemas.microsoft.com/office/drawing/2014/main" id="{88620A65-FF01-4A99-BF03-C2B8DCF4033A}"/>
              </a:ext>
            </a:extLst>
          </p:cNvPr>
          <p:cNvSpPr>
            <a:spLocks noGrp="1"/>
          </p:cNvSpPr>
          <p:nvPr/>
        </p:nvSpPr>
        <p:spPr>
          <a:xfrm flipV="1">
            <a:off x="7648575" y="2038350"/>
            <a:ext cx="2800350" cy="1714500"/>
          </a:xfrm>
          <a:prstGeom prst="line">
            <a:avLst/>
          </a:prstGeom>
          <a:noFill/>
          <a:ln w="12383">
            <a:solidFill>
              <a:srgbClr val="B6C2CD"/>
            </a:solidFill>
          </a:ln>
        </p:spPr>
        <p:txBody>
          <a:bodyPr/>
          <a:lstStyle/>
          <a:p>
            <a:endParaRPr lang="it-IT"/>
          </a:p>
        </p:txBody>
      </p:sp>
      <p:sp>
        <p:nvSpPr>
          <p:cNvPr id="57" name="net_3_0_1">
            <a:extLst>
              <a:ext uri="{FF2B5EF4-FFF2-40B4-BE49-F238E27FC236}">
                <a16:creationId xmlns:a16="http://schemas.microsoft.com/office/drawing/2014/main" id="{AF008564-8A95-42DD-80A4-D22D1A5821AE}"/>
              </a:ext>
            </a:extLst>
          </p:cNvPr>
          <p:cNvSpPr>
            <a:spLocks noGrp="1"/>
          </p:cNvSpPr>
          <p:nvPr/>
        </p:nvSpPr>
        <p:spPr>
          <a:xfrm>
            <a:off x="7648575" y="2038350"/>
            <a:ext cx="2800350" cy="857250"/>
          </a:xfrm>
          <a:prstGeom prst="line">
            <a:avLst/>
          </a:prstGeom>
          <a:noFill/>
          <a:ln w="12383">
            <a:solidFill>
              <a:srgbClr val="B6C2CD"/>
            </a:solidFill>
          </a:ln>
        </p:spPr>
        <p:txBody>
          <a:bodyPr/>
          <a:lstStyle/>
          <a:p>
            <a:endParaRPr lang="it-IT"/>
          </a:p>
        </p:txBody>
      </p:sp>
      <p:sp>
        <p:nvSpPr>
          <p:cNvPr id="58" name="net_3_1_1">
            <a:extLst>
              <a:ext uri="{FF2B5EF4-FFF2-40B4-BE49-F238E27FC236}">
                <a16:creationId xmlns:a16="http://schemas.microsoft.com/office/drawing/2014/main" id="{29EF2863-10AC-4D69-91A5-C37C6D2A79A7}"/>
              </a:ext>
            </a:extLst>
          </p:cNvPr>
          <p:cNvSpPr>
            <a:spLocks noGrp="1"/>
          </p:cNvSpPr>
          <p:nvPr/>
        </p:nvSpPr>
        <p:spPr>
          <a:xfrm>
            <a:off x="7648575" y="2324100"/>
            <a:ext cx="2800350" cy="571500"/>
          </a:xfrm>
          <a:prstGeom prst="line">
            <a:avLst/>
          </a:prstGeom>
          <a:noFill/>
          <a:ln w="12383">
            <a:solidFill>
              <a:srgbClr val="B6C2CD"/>
            </a:solidFill>
          </a:ln>
        </p:spPr>
        <p:txBody>
          <a:bodyPr/>
          <a:lstStyle/>
          <a:p>
            <a:endParaRPr lang="it-IT"/>
          </a:p>
        </p:txBody>
      </p:sp>
      <p:sp>
        <p:nvSpPr>
          <p:cNvPr id="59" name="net_3_2_1">
            <a:extLst>
              <a:ext uri="{FF2B5EF4-FFF2-40B4-BE49-F238E27FC236}">
                <a16:creationId xmlns:a16="http://schemas.microsoft.com/office/drawing/2014/main" id="{380B2028-6F11-4F1F-AC71-A3DC03FF50CC}"/>
              </a:ext>
            </a:extLst>
          </p:cNvPr>
          <p:cNvSpPr>
            <a:spLocks noGrp="1"/>
          </p:cNvSpPr>
          <p:nvPr/>
        </p:nvSpPr>
        <p:spPr>
          <a:xfrm>
            <a:off x="7648575" y="2609850"/>
            <a:ext cx="2800350" cy="285750"/>
          </a:xfrm>
          <a:prstGeom prst="line">
            <a:avLst/>
          </a:prstGeom>
          <a:noFill/>
          <a:ln w="12383">
            <a:solidFill>
              <a:srgbClr val="B6C2CD"/>
            </a:solidFill>
          </a:ln>
        </p:spPr>
        <p:txBody>
          <a:bodyPr/>
          <a:lstStyle/>
          <a:p>
            <a:endParaRPr lang="it-IT"/>
          </a:p>
        </p:txBody>
      </p:sp>
      <p:sp>
        <p:nvSpPr>
          <p:cNvPr id="60" name="net_3_3_1">
            <a:extLst>
              <a:ext uri="{FF2B5EF4-FFF2-40B4-BE49-F238E27FC236}">
                <a16:creationId xmlns:a16="http://schemas.microsoft.com/office/drawing/2014/main" id="{29D242B4-B4F3-4F5F-8289-6134E4FC96B1}"/>
              </a:ext>
            </a:extLst>
          </p:cNvPr>
          <p:cNvSpPr>
            <a:spLocks noGrp="1"/>
          </p:cNvSpPr>
          <p:nvPr/>
        </p:nvSpPr>
        <p:spPr>
          <a:xfrm>
            <a:off x="7648575" y="2895600"/>
            <a:ext cx="2800350" cy="953"/>
          </a:xfrm>
          <a:prstGeom prst="line">
            <a:avLst/>
          </a:prstGeom>
          <a:noFill/>
          <a:ln w="12383">
            <a:solidFill>
              <a:srgbClr val="B6C2CD"/>
            </a:solidFill>
          </a:ln>
        </p:spPr>
        <p:txBody>
          <a:bodyPr/>
          <a:lstStyle/>
          <a:p>
            <a:endParaRPr lang="it-IT"/>
          </a:p>
        </p:txBody>
      </p:sp>
      <p:sp>
        <p:nvSpPr>
          <p:cNvPr id="61" name="net_3_4_1">
            <a:extLst>
              <a:ext uri="{FF2B5EF4-FFF2-40B4-BE49-F238E27FC236}">
                <a16:creationId xmlns:a16="http://schemas.microsoft.com/office/drawing/2014/main" id="{3F45F168-EEE8-45DA-90D0-A5CC8C0E7EAC}"/>
              </a:ext>
            </a:extLst>
          </p:cNvPr>
          <p:cNvSpPr>
            <a:spLocks noGrp="1"/>
          </p:cNvSpPr>
          <p:nvPr/>
        </p:nvSpPr>
        <p:spPr>
          <a:xfrm flipV="1">
            <a:off x="7648575" y="2895600"/>
            <a:ext cx="2800350" cy="285750"/>
          </a:xfrm>
          <a:prstGeom prst="line">
            <a:avLst/>
          </a:prstGeom>
          <a:noFill/>
          <a:ln w="12383">
            <a:solidFill>
              <a:srgbClr val="B6C2CD"/>
            </a:solidFill>
          </a:ln>
        </p:spPr>
        <p:txBody>
          <a:bodyPr/>
          <a:lstStyle/>
          <a:p>
            <a:endParaRPr lang="it-IT"/>
          </a:p>
        </p:txBody>
      </p:sp>
      <p:sp>
        <p:nvSpPr>
          <p:cNvPr id="62" name="net_3_5_1">
            <a:extLst>
              <a:ext uri="{FF2B5EF4-FFF2-40B4-BE49-F238E27FC236}">
                <a16:creationId xmlns:a16="http://schemas.microsoft.com/office/drawing/2014/main" id="{455BFA38-1433-4714-A8A1-72FD733A927B}"/>
              </a:ext>
            </a:extLst>
          </p:cNvPr>
          <p:cNvSpPr>
            <a:spLocks noGrp="1"/>
          </p:cNvSpPr>
          <p:nvPr/>
        </p:nvSpPr>
        <p:spPr>
          <a:xfrm flipV="1">
            <a:off x="7648575" y="2895600"/>
            <a:ext cx="2800350" cy="571500"/>
          </a:xfrm>
          <a:prstGeom prst="line">
            <a:avLst/>
          </a:prstGeom>
          <a:noFill/>
          <a:ln w="12383">
            <a:solidFill>
              <a:srgbClr val="B6C2CD"/>
            </a:solidFill>
          </a:ln>
        </p:spPr>
        <p:txBody>
          <a:bodyPr/>
          <a:lstStyle/>
          <a:p>
            <a:endParaRPr lang="it-IT"/>
          </a:p>
        </p:txBody>
      </p:sp>
      <p:sp>
        <p:nvSpPr>
          <p:cNvPr id="63" name="net_3_6_1">
            <a:extLst>
              <a:ext uri="{FF2B5EF4-FFF2-40B4-BE49-F238E27FC236}">
                <a16:creationId xmlns:a16="http://schemas.microsoft.com/office/drawing/2014/main" id="{616BF506-8666-458B-9B43-16D88402E682}"/>
              </a:ext>
            </a:extLst>
          </p:cNvPr>
          <p:cNvSpPr>
            <a:spLocks noGrp="1"/>
          </p:cNvSpPr>
          <p:nvPr/>
        </p:nvSpPr>
        <p:spPr>
          <a:xfrm flipV="1">
            <a:off x="7648575" y="2895600"/>
            <a:ext cx="2800350" cy="857250"/>
          </a:xfrm>
          <a:prstGeom prst="line">
            <a:avLst/>
          </a:prstGeom>
          <a:noFill/>
          <a:ln w="12383">
            <a:solidFill>
              <a:srgbClr val="B6C2CD"/>
            </a:solidFill>
          </a:ln>
        </p:spPr>
        <p:txBody>
          <a:bodyPr/>
          <a:lstStyle/>
          <a:p>
            <a:endParaRPr lang="it-IT"/>
          </a:p>
        </p:txBody>
      </p:sp>
      <p:sp>
        <p:nvSpPr>
          <p:cNvPr id="64" name="net_3_0_2">
            <a:extLst>
              <a:ext uri="{FF2B5EF4-FFF2-40B4-BE49-F238E27FC236}">
                <a16:creationId xmlns:a16="http://schemas.microsoft.com/office/drawing/2014/main" id="{A7D7E9F4-7091-4F8B-B5D4-294F5F00A73F}"/>
              </a:ext>
            </a:extLst>
          </p:cNvPr>
          <p:cNvSpPr>
            <a:spLocks noGrp="1"/>
          </p:cNvSpPr>
          <p:nvPr/>
        </p:nvSpPr>
        <p:spPr>
          <a:xfrm>
            <a:off x="7648575" y="2038350"/>
            <a:ext cx="2800350" cy="1714500"/>
          </a:xfrm>
          <a:prstGeom prst="line">
            <a:avLst/>
          </a:prstGeom>
          <a:noFill/>
          <a:ln w="12383">
            <a:solidFill>
              <a:srgbClr val="B6C2CD"/>
            </a:solidFill>
          </a:ln>
        </p:spPr>
        <p:txBody>
          <a:bodyPr/>
          <a:lstStyle/>
          <a:p>
            <a:endParaRPr lang="it-IT"/>
          </a:p>
        </p:txBody>
      </p:sp>
      <p:sp>
        <p:nvSpPr>
          <p:cNvPr id="65" name="net_3_1_2">
            <a:extLst>
              <a:ext uri="{FF2B5EF4-FFF2-40B4-BE49-F238E27FC236}">
                <a16:creationId xmlns:a16="http://schemas.microsoft.com/office/drawing/2014/main" id="{0ACB4023-6E31-41AF-9648-C2358E8E8818}"/>
              </a:ext>
            </a:extLst>
          </p:cNvPr>
          <p:cNvSpPr>
            <a:spLocks noGrp="1"/>
          </p:cNvSpPr>
          <p:nvPr/>
        </p:nvSpPr>
        <p:spPr>
          <a:xfrm>
            <a:off x="7648575" y="2324100"/>
            <a:ext cx="2800350" cy="1428750"/>
          </a:xfrm>
          <a:prstGeom prst="line">
            <a:avLst/>
          </a:prstGeom>
          <a:noFill/>
          <a:ln w="12383">
            <a:solidFill>
              <a:srgbClr val="B6C2CD"/>
            </a:solidFill>
          </a:ln>
        </p:spPr>
        <p:txBody>
          <a:bodyPr/>
          <a:lstStyle/>
          <a:p>
            <a:endParaRPr lang="it-IT"/>
          </a:p>
        </p:txBody>
      </p:sp>
      <p:sp>
        <p:nvSpPr>
          <p:cNvPr id="66" name="net_3_2_2">
            <a:extLst>
              <a:ext uri="{FF2B5EF4-FFF2-40B4-BE49-F238E27FC236}">
                <a16:creationId xmlns:a16="http://schemas.microsoft.com/office/drawing/2014/main" id="{545AE7DC-2CAC-4A4D-9853-1D0ECC60B8DE}"/>
              </a:ext>
            </a:extLst>
          </p:cNvPr>
          <p:cNvSpPr>
            <a:spLocks noGrp="1"/>
          </p:cNvSpPr>
          <p:nvPr/>
        </p:nvSpPr>
        <p:spPr>
          <a:xfrm>
            <a:off x="7648575" y="2609850"/>
            <a:ext cx="2800350" cy="1143000"/>
          </a:xfrm>
          <a:prstGeom prst="line">
            <a:avLst/>
          </a:prstGeom>
          <a:noFill/>
          <a:ln w="12383">
            <a:solidFill>
              <a:srgbClr val="B6C2CD"/>
            </a:solidFill>
          </a:ln>
        </p:spPr>
        <p:txBody>
          <a:bodyPr/>
          <a:lstStyle/>
          <a:p>
            <a:endParaRPr lang="it-IT"/>
          </a:p>
        </p:txBody>
      </p:sp>
      <p:sp>
        <p:nvSpPr>
          <p:cNvPr id="67" name="net_3_3_2">
            <a:extLst>
              <a:ext uri="{FF2B5EF4-FFF2-40B4-BE49-F238E27FC236}">
                <a16:creationId xmlns:a16="http://schemas.microsoft.com/office/drawing/2014/main" id="{D9083D9B-7382-46B5-8B96-47A6829F68C2}"/>
              </a:ext>
            </a:extLst>
          </p:cNvPr>
          <p:cNvSpPr>
            <a:spLocks noGrp="1"/>
          </p:cNvSpPr>
          <p:nvPr/>
        </p:nvSpPr>
        <p:spPr>
          <a:xfrm>
            <a:off x="7648575" y="2895600"/>
            <a:ext cx="2800350" cy="857250"/>
          </a:xfrm>
          <a:prstGeom prst="line">
            <a:avLst/>
          </a:prstGeom>
          <a:noFill/>
          <a:ln w="12383">
            <a:solidFill>
              <a:srgbClr val="B6C2CD"/>
            </a:solidFill>
          </a:ln>
        </p:spPr>
        <p:txBody>
          <a:bodyPr/>
          <a:lstStyle/>
          <a:p>
            <a:endParaRPr lang="it-IT"/>
          </a:p>
        </p:txBody>
      </p:sp>
      <p:sp>
        <p:nvSpPr>
          <p:cNvPr id="68" name="net_3_4_2">
            <a:extLst>
              <a:ext uri="{FF2B5EF4-FFF2-40B4-BE49-F238E27FC236}">
                <a16:creationId xmlns:a16="http://schemas.microsoft.com/office/drawing/2014/main" id="{5419E0FE-816F-4CA6-8646-830EF6C180CC}"/>
              </a:ext>
            </a:extLst>
          </p:cNvPr>
          <p:cNvSpPr>
            <a:spLocks noGrp="1"/>
          </p:cNvSpPr>
          <p:nvPr/>
        </p:nvSpPr>
        <p:spPr>
          <a:xfrm>
            <a:off x="7648575" y="3181350"/>
            <a:ext cx="2800350" cy="571500"/>
          </a:xfrm>
          <a:prstGeom prst="line">
            <a:avLst/>
          </a:prstGeom>
          <a:noFill/>
          <a:ln w="12383">
            <a:solidFill>
              <a:srgbClr val="B6C2CD"/>
            </a:solidFill>
          </a:ln>
        </p:spPr>
        <p:txBody>
          <a:bodyPr/>
          <a:lstStyle/>
          <a:p>
            <a:endParaRPr lang="it-IT"/>
          </a:p>
        </p:txBody>
      </p:sp>
      <p:sp>
        <p:nvSpPr>
          <p:cNvPr id="69" name="net_3_5_2">
            <a:extLst>
              <a:ext uri="{FF2B5EF4-FFF2-40B4-BE49-F238E27FC236}">
                <a16:creationId xmlns:a16="http://schemas.microsoft.com/office/drawing/2014/main" id="{FD6F7BEF-0FBB-463B-A9B9-D6BEBC72A225}"/>
              </a:ext>
            </a:extLst>
          </p:cNvPr>
          <p:cNvSpPr>
            <a:spLocks noGrp="1"/>
          </p:cNvSpPr>
          <p:nvPr/>
        </p:nvSpPr>
        <p:spPr>
          <a:xfrm>
            <a:off x="7648575" y="3467100"/>
            <a:ext cx="2800350" cy="285750"/>
          </a:xfrm>
          <a:prstGeom prst="line">
            <a:avLst/>
          </a:prstGeom>
          <a:noFill/>
          <a:ln w="12383">
            <a:solidFill>
              <a:srgbClr val="B6C2CD"/>
            </a:solidFill>
          </a:ln>
        </p:spPr>
        <p:txBody>
          <a:bodyPr/>
          <a:lstStyle/>
          <a:p>
            <a:endParaRPr lang="it-IT"/>
          </a:p>
        </p:txBody>
      </p:sp>
      <p:sp>
        <p:nvSpPr>
          <p:cNvPr id="70" name="net_3_6_2">
            <a:extLst>
              <a:ext uri="{FF2B5EF4-FFF2-40B4-BE49-F238E27FC236}">
                <a16:creationId xmlns:a16="http://schemas.microsoft.com/office/drawing/2014/main" id="{CEA44648-F6F7-4335-8F17-2703D1187B1F}"/>
              </a:ext>
            </a:extLst>
          </p:cNvPr>
          <p:cNvSpPr>
            <a:spLocks noGrp="1"/>
          </p:cNvSpPr>
          <p:nvPr/>
        </p:nvSpPr>
        <p:spPr>
          <a:xfrm>
            <a:off x="7648575" y="3752850"/>
            <a:ext cx="2800350" cy="953"/>
          </a:xfrm>
          <a:prstGeom prst="line">
            <a:avLst/>
          </a:prstGeom>
          <a:noFill/>
          <a:ln w="12383">
            <a:solidFill>
              <a:srgbClr val="B6C2CD"/>
            </a:solidFill>
          </a:ln>
        </p:spPr>
        <p:txBody>
          <a:bodyPr/>
          <a:lstStyle/>
          <a:p>
            <a:endParaRPr lang="it-IT"/>
          </a:p>
        </p:txBody>
      </p:sp>
      <p:sp>
        <p:nvSpPr>
          <p:cNvPr id="71" name="network_unit_0_0">
            <a:extLst>
              <a:ext uri="{FF2B5EF4-FFF2-40B4-BE49-F238E27FC236}">
                <a16:creationId xmlns:a16="http://schemas.microsoft.com/office/drawing/2014/main" id="{8DBCAAC9-87B5-44C3-A34A-B77BDE994D9C}"/>
              </a:ext>
            </a:extLst>
          </p:cNvPr>
          <p:cNvSpPr>
            <a:spLocks noGrp="1"/>
          </p:cNvSpPr>
          <p:nvPr/>
        </p:nvSpPr>
        <p:spPr>
          <a:xfrm>
            <a:off x="1304925" y="1914525"/>
            <a:ext cx="247650" cy="247650"/>
          </a:xfrm>
          <a:prstGeom prst="ellipse">
            <a:avLst/>
          </a:prstGeom>
          <a:solidFill>
            <a:srgbClr val="FFFFFF"/>
          </a:solidFill>
          <a:ln w="19050">
            <a:solidFill>
              <a:srgbClr val="182D45"/>
            </a:solidFill>
          </a:ln>
        </p:spPr>
        <p:txBody>
          <a:bodyPr/>
          <a:lstStyle/>
          <a:p>
            <a:endParaRPr lang="it-IT"/>
          </a:p>
        </p:txBody>
      </p:sp>
      <p:sp>
        <p:nvSpPr>
          <p:cNvPr id="72" name="network_unit_0_1">
            <a:extLst>
              <a:ext uri="{FF2B5EF4-FFF2-40B4-BE49-F238E27FC236}">
                <a16:creationId xmlns:a16="http://schemas.microsoft.com/office/drawing/2014/main" id="{65D9D28A-75B2-4841-BEDB-B6D9234DC011}"/>
              </a:ext>
            </a:extLst>
          </p:cNvPr>
          <p:cNvSpPr>
            <a:spLocks noGrp="1"/>
          </p:cNvSpPr>
          <p:nvPr/>
        </p:nvSpPr>
        <p:spPr>
          <a:xfrm>
            <a:off x="1304925" y="3629025"/>
            <a:ext cx="247650" cy="247650"/>
          </a:xfrm>
          <a:prstGeom prst="ellipse">
            <a:avLst/>
          </a:prstGeom>
          <a:solidFill>
            <a:srgbClr val="FFFFFF"/>
          </a:solidFill>
          <a:ln w="19050">
            <a:solidFill>
              <a:srgbClr val="182D45"/>
            </a:solidFill>
          </a:ln>
        </p:spPr>
        <p:txBody>
          <a:bodyPr/>
          <a:lstStyle/>
          <a:p>
            <a:endParaRPr lang="it-IT"/>
          </a:p>
        </p:txBody>
      </p:sp>
      <p:sp>
        <p:nvSpPr>
          <p:cNvPr id="73" name="network_unit_1_0">
            <a:extLst>
              <a:ext uri="{FF2B5EF4-FFF2-40B4-BE49-F238E27FC236}">
                <a16:creationId xmlns:a16="http://schemas.microsoft.com/office/drawing/2014/main" id="{A35E8547-F4E2-4A24-84CF-DA32B3B3D0F8}"/>
              </a:ext>
            </a:extLst>
          </p:cNvPr>
          <p:cNvSpPr>
            <a:spLocks noGrp="1"/>
          </p:cNvSpPr>
          <p:nvPr/>
        </p:nvSpPr>
        <p:spPr>
          <a:xfrm>
            <a:off x="4352925" y="1914525"/>
            <a:ext cx="247650" cy="247650"/>
          </a:xfrm>
          <a:prstGeom prst="ellipse">
            <a:avLst/>
          </a:prstGeom>
          <a:solidFill>
            <a:srgbClr val="FFFFFF"/>
          </a:solidFill>
          <a:ln w="19050">
            <a:solidFill>
              <a:srgbClr val="087F83"/>
            </a:solidFill>
          </a:ln>
        </p:spPr>
        <p:txBody>
          <a:bodyPr/>
          <a:lstStyle/>
          <a:p>
            <a:endParaRPr lang="it-IT"/>
          </a:p>
        </p:txBody>
      </p:sp>
      <p:sp>
        <p:nvSpPr>
          <p:cNvPr id="74" name="network_unit_1_1">
            <a:extLst>
              <a:ext uri="{FF2B5EF4-FFF2-40B4-BE49-F238E27FC236}">
                <a16:creationId xmlns:a16="http://schemas.microsoft.com/office/drawing/2014/main" id="{B32D63FA-9744-4073-ABF1-99605BBD0DE4}"/>
              </a:ext>
            </a:extLst>
          </p:cNvPr>
          <p:cNvSpPr>
            <a:spLocks noGrp="1"/>
          </p:cNvSpPr>
          <p:nvPr/>
        </p:nvSpPr>
        <p:spPr>
          <a:xfrm>
            <a:off x="4352925" y="2343150"/>
            <a:ext cx="247650" cy="247650"/>
          </a:xfrm>
          <a:prstGeom prst="ellipse">
            <a:avLst/>
          </a:prstGeom>
          <a:solidFill>
            <a:srgbClr val="FFFFFF"/>
          </a:solidFill>
          <a:ln w="19050">
            <a:solidFill>
              <a:srgbClr val="087F83"/>
            </a:solidFill>
          </a:ln>
        </p:spPr>
        <p:txBody>
          <a:bodyPr/>
          <a:lstStyle/>
          <a:p>
            <a:endParaRPr lang="it-IT"/>
          </a:p>
        </p:txBody>
      </p:sp>
      <p:sp>
        <p:nvSpPr>
          <p:cNvPr id="75" name="network_unit_1_2">
            <a:extLst>
              <a:ext uri="{FF2B5EF4-FFF2-40B4-BE49-F238E27FC236}">
                <a16:creationId xmlns:a16="http://schemas.microsoft.com/office/drawing/2014/main" id="{F0C7C830-A693-494D-AD28-8A9A62F58405}"/>
              </a:ext>
            </a:extLst>
          </p:cNvPr>
          <p:cNvSpPr>
            <a:spLocks noGrp="1"/>
          </p:cNvSpPr>
          <p:nvPr/>
        </p:nvSpPr>
        <p:spPr>
          <a:xfrm>
            <a:off x="4352925" y="2771775"/>
            <a:ext cx="247650" cy="247650"/>
          </a:xfrm>
          <a:prstGeom prst="ellipse">
            <a:avLst/>
          </a:prstGeom>
          <a:solidFill>
            <a:srgbClr val="FFFFFF"/>
          </a:solidFill>
          <a:ln w="19050">
            <a:solidFill>
              <a:srgbClr val="087F83"/>
            </a:solidFill>
          </a:ln>
        </p:spPr>
        <p:txBody>
          <a:bodyPr/>
          <a:lstStyle/>
          <a:p>
            <a:endParaRPr lang="it-IT"/>
          </a:p>
        </p:txBody>
      </p:sp>
      <p:sp>
        <p:nvSpPr>
          <p:cNvPr id="76" name="network_unit_1_3">
            <a:extLst>
              <a:ext uri="{FF2B5EF4-FFF2-40B4-BE49-F238E27FC236}">
                <a16:creationId xmlns:a16="http://schemas.microsoft.com/office/drawing/2014/main" id="{487AAA9D-06BA-4C17-84F5-B75A8DF4DD0A}"/>
              </a:ext>
            </a:extLst>
          </p:cNvPr>
          <p:cNvSpPr>
            <a:spLocks noGrp="1"/>
          </p:cNvSpPr>
          <p:nvPr/>
        </p:nvSpPr>
        <p:spPr>
          <a:xfrm>
            <a:off x="4352925" y="3200400"/>
            <a:ext cx="247650" cy="247650"/>
          </a:xfrm>
          <a:prstGeom prst="ellipse">
            <a:avLst/>
          </a:prstGeom>
          <a:solidFill>
            <a:srgbClr val="FFFFFF"/>
          </a:solidFill>
          <a:ln w="19050">
            <a:solidFill>
              <a:srgbClr val="087F83"/>
            </a:solidFill>
          </a:ln>
        </p:spPr>
        <p:txBody>
          <a:bodyPr/>
          <a:lstStyle/>
          <a:p>
            <a:endParaRPr lang="it-IT"/>
          </a:p>
        </p:txBody>
      </p:sp>
      <p:sp>
        <p:nvSpPr>
          <p:cNvPr id="77" name="network_unit_1_4">
            <a:extLst>
              <a:ext uri="{FF2B5EF4-FFF2-40B4-BE49-F238E27FC236}">
                <a16:creationId xmlns:a16="http://schemas.microsoft.com/office/drawing/2014/main" id="{3FC6BC52-7200-4EC0-B57E-1E08CF5A8304}"/>
              </a:ext>
            </a:extLst>
          </p:cNvPr>
          <p:cNvSpPr>
            <a:spLocks noGrp="1"/>
          </p:cNvSpPr>
          <p:nvPr/>
        </p:nvSpPr>
        <p:spPr>
          <a:xfrm>
            <a:off x="4352925" y="3629025"/>
            <a:ext cx="247650" cy="247650"/>
          </a:xfrm>
          <a:prstGeom prst="ellipse">
            <a:avLst/>
          </a:prstGeom>
          <a:solidFill>
            <a:srgbClr val="FFFFFF"/>
          </a:solidFill>
          <a:ln w="19050">
            <a:solidFill>
              <a:srgbClr val="087F83"/>
            </a:solidFill>
          </a:ln>
        </p:spPr>
        <p:txBody>
          <a:bodyPr/>
          <a:lstStyle/>
          <a:p>
            <a:endParaRPr lang="it-IT"/>
          </a:p>
        </p:txBody>
      </p:sp>
      <p:sp>
        <p:nvSpPr>
          <p:cNvPr id="78" name="network_unit_2_0">
            <a:extLst>
              <a:ext uri="{FF2B5EF4-FFF2-40B4-BE49-F238E27FC236}">
                <a16:creationId xmlns:a16="http://schemas.microsoft.com/office/drawing/2014/main" id="{05564038-253E-47BF-98B9-E64A82797819}"/>
              </a:ext>
            </a:extLst>
          </p:cNvPr>
          <p:cNvSpPr>
            <a:spLocks noGrp="1"/>
          </p:cNvSpPr>
          <p:nvPr/>
        </p:nvSpPr>
        <p:spPr>
          <a:xfrm>
            <a:off x="7400925" y="1914525"/>
            <a:ext cx="247650" cy="247650"/>
          </a:xfrm>
          <a:prstGeom prst="ellipse">
            <a:avLst/>
          </a:prstGeom>
          <a:solidFill>
            <a:srgbClr val="FFFFFF"/>
          </a:solidFill>
          <a:ln w="19050">
            <a:solidFill>
              <a:srgbClr val="087F83"/>
            </a:solidFill>
          </a:ln>
        </p:spPr>
        <p:txBody>
          <a:bodyPr/>
          <a:lstStyle/>
          <a:p>
            <a:endParaRPr lang="it-IT"/>
          </a:p>
        </p:txBody>
      </p:sp>
      <p:sp>
        <p:nvSpPr>
          <p:cNvPr id="79" name="network_unit_2_1">
            <a:extLst>
              <a:ext uri="{FF2B5EF4-FFF2-40B4-BE49-F238E27FC236}">
                <a16:creationId xmlns:a16="http://schemas.microsoft.com/office/drawing/2014/main" id="{EBF783A5-32C7-45C9-810A-EEDA0024DA7C}"/>
              </a:ext>
            </a:extLst>
          </p:cNvPr>
          <p:cNvSpPr>
            <a:spLocks noGrp="1"/>
          </p:cNvSpPr>
          <p:nvPr/>
        </p:nvSpPr>
        <p:spPr>
          <a:xfrm>
            <a:off x="7400925" y="2200275"/>
            <a:ext cx="247650" cy="247650"/>
          </a:xfrm>
          <a:prstGeom prst="ellipse">
            <a:avLst/>
          </a:prstGeom>
          <a:solidFill>
            <a:srgbClr val="FFFFFF"/>
          </a:solidFill>
          <a:ln w="19050">
            <a:solidFill>
              <a:srgbClr val="087F83"/>
            </a:solidFill>
          </a:ln>
        </p:spPr>
        <p:txBody>
          <a:bodyPr/>
          <a:lstStyle/>
          <a:p>
            <a:endParaRPr lang="it-IT"/>
          </a:p>
        </p:txBody>
      </p:sp>
      <p:sp>
        <p:nvSpPr>
          <p:cNvPr id="80" name="network_unit_2_2">
            <a:extLst>
              <a:ext uri="{FF2B5EF4-FFF2-40B4-BE49-F238E27FC236}">
                <a16:creationId xmlns:a16="http://schemas.microsoft.com/office/drawing/2014/main" id="{EE3F7508-BA37-4E78-9DA6-EBBE9A5183D6}"/>
              </a:ext>
            </a:extLst>
          </p:cNvPr>
          <p:cNvSpPr>
            <a:spLocks noGrp="1"/>
          </p:cNvSpPr>
          <p:nvPr/>
        </p:nvSpPr>
        <p:spPr>
          <a:xfrm>
            <a:off x="7400925" y="2486025"/>
            <a:ext cx="247650" cy="247650"/>
          </a:xfrm>
          <a:prstGeom prst="ellipse">
            <a:avLst/>
          </a:prstGeom>
          <a:solidFill>
            <a:srgbClr val="FFFFFF"/>
          </a:solidFill>
          <a:ln w="19050">
            <a:solidFill>
              <a:srgbClr val="087F83"/>
            </a:solidFill>
          </a:ln>
        </p:spPr>
        <p:txBody>
          <a:bodyPr/>
          <a:lstStyle/>
          <a:p>
            <a:endParaRPr lang="it-IT"/>
          </a:p>
        </p:txBody>
      </p:sp>
      <p:sp>
        <p:nvSpPr>
          <p:cNvPr id="81" name="network_unit_2_3">
            <a:extLst>
              <a:ext uri="{FF2B5EF4-FFF2-40B4-BE49-F238E27FC236}">
                <a16:creationId xmlns:a16="http://schemas.microsoft.com/office/drawing/2014/main" id="{A94E2109-5690-4E2B-9211-8180DBC25988}"/>
              </a:ext>
            </a:extLst>
          </p:cNvPr>
          <p:cNvSpPr>
            <a:spLocks noGrp="1"/>
          </p:cNvSpPr>
          <p:nvPr/>
        </p:nvSpPr>
        <p:spPr>
          <a:xfrm>
            <a:off x="7400925" y="2771775"/>
            <a:ext cx="247650" cy="247650"/>
          </a:xfrm>
          <a:prstGeom prst="ellipse">
            <a:avLst/>
          </a:prstGeom>
          <a:solidFill>
            <a:srgbClr val="FFFFFF"/>
          </a:solidFill>
          <a:ln w="19050">
            <a:solidFill>
              <a:srgbClr val="087F83"/>
            </a:solidFill>
          </a:ln>
        </p:spPr>
        <p:txBody>
          <a:bodyPr/>
          <a:lstStyle/>
          <a:p>
            <a:endParaRPr lang="it-IT"/>
          </a:p>
        </p:txBody>
      </p:sp>
      <p:sp>
        <p:nvSpPr>
          <p:cNvPr id="82" name="network_unit_2_4">
            <a:extLst>
              <a:ext uri="{FF2B5EF4-FFF2-40B4-BE49-F238E27FC236}">
                <a16:creationId xmlns:a16="http://schemas.microsoft.com/office/drawing/2014/main" id="{4FE5B51C-9897-4AD5-B406-E9A16E4EF38E}"/>
              </a:ext>
            </a:extLst>
          </p:cNvPr>
          <p:cNvSpPr>
            <a:spLocks noGrp="1"/>
          </p:cNvSpPr>
          <p:nvPr/>
        </p:nvSpPr>
        <p:spPr>
          <a:xfrm>
            <a:off x="7400925" y="3057525"/>
            <a:ext cx="247650" cy="247650"/>
          </a:xfrm>
          <a:prstGeom prst="ellipse">
            <a:avLst/>
          </a:prstGeom>
          <a:solidFill>
            <a:srgbClr val="FFFFFF"/>
          </a:solidFill>
          <a:ln w="19050">
            <a:solidFill>
              <a:srgbClr val="087F83"/>
            </a:solidFill>
          </a:ln>
        </p:spPr>
        <p:txBody>
          <a:bodyPr/>
          <a:lstStyle/>
          <a:p>
            <a:endParaRPr lang="it-IT"/>
          </a:p>
        </p:txBody>
      </p:sp>
      <p:sp>
        <p:nvSpPr>
          <p:cNvPr id="83" name="network_unit_2_5">
            <a:extLst>
              <a:ext uri="{FF2B5EF4-FFF2-40B4-BE49-F238E27FC236}">
                <a16:creationId xmlns:a16="http://schemas.microsoft.com/office/drawing/2014/main" id="{AF16E4A3-F4FD-4B58-AD5A-65A06710D94C}"/>
              </a:ext>
            </a:extLst>
          </p:cNvPr>
          <p:cNvSpPr>
            <a:spLocks noGrp="1"/>
          </p:cNvSpPr>
          <p:nvPr/>
        </p:nvSpPr>
        <p:spPr>
          <a:xfrm>
            <a:off x="7400925" y="3343275"/>
            <a:ext cx="247650" cy="247650"/>
          </a:xfrm>
          <a:prstGeom prst="ellipse">
            <a:avLst/>
          </a:prstGeom>
          <a:solidFill>
            <a:srgbClr val="FFFFFF"/>
          </a:solidFill>
          <a:ln w="19050">
            <a:solidFill>
              <a:srgbClr val="087F83"/>
            </a:solidFill>
          </a:ln>
        </p:spPr>
        <p:txBody>
          <a:bodyPr/>
          <a:lstStyle/>
          <a:p>
            <a:endParaRPr lang="it-IT"/>
          </a:p>
        </p:txBody>
      </p:sp>
      <p:sp>
        <p:nvSpPr>
          <p:cNvPr id="84" name="network_unit_2_6">
            <a:extLst>
              <a:ext uri="{FF2B5EF4-FFF2-40B4-BE49-F238E27FC236}">
                <a16:creationId xmlns:a16="http://schemas.microsoft.com/office/drawing/2014/main" id="{A8ED0E6A-5F5E-4A89-BC75-9C47A39EFBE9}"/>
              </a:ext>
            </a:extLst>
          </p:cNvPr>
          <p:cNvSpPr>
            <a:spLocks noGrp="1"/>
          </p:cNvSpPr>
          <p:nvPr/>
        </p:nvSpPr>
        <p:spPr>
          <a:xfrm>
            <a:off x="7400925" y="3629025"/>
            <a:ext cx="247650" cy="247650"/>
          </a:xfrm>
          <a:prstGeom prst="ellipse">
            <a:avLst/>
          </a:prstGeom>
          <a:solidFill>
            <a:srgbClr val="FFFFFF"/>
          </a:solidFill>
          <a:ln w="19050">
            <a:solidFill>
              <a:srgbClr val="087F83"/>
            </a:solidFill>
          </a:ln>
        </p:spPr>
        <p:txBody>
          <a:bodyPr/>
          <a:lstStyle/>
          <a:p>
            <a:endParaRPr lang="it-IT"/>
          </a:p>
        </p:txBody>
      </p:sp>
      <p:sp>
        <p:nvSpPr>
          <p:cNvPr id="85" name="network_unit_3_0">
            <a:extLst>
              <a:ext uri="{FF2B5EF4-FFF2-40B4-BE49-F238E27FC236}">
                <a16:creationId xmlns:a16="http://schemas.microsoft.com/office/drawing/2014/main" id="{0956C5EB-9293-4D21-99AD-621AF34D0C09}"/>
              </a:ext>
            </a:extLst>
          </p:cNvPr>
          <p:cNvSpPr>
            <a:spLocks noGrp="1"/>
          </p:cNvSpPr>
          <p:nvPr/>
        </p:nvSpPr>
        <p:spPr>
          <a:xfrm>
            <a:off x="10448925" y="1914525"/>
            <a:ext cx="247650" cy="247650"/>
          </a:xfrm>
          <a:prstGeom prst="ellipse">
            <a:avLst/>
          </a:prstGeom>
          <a:solidFill>
            <a:srgbClr val="FFFFFF"/>
          </a:solidFill>
          <a:ln w="19050">
            <a:solidFill>
              <a:srgbClr val="C45C28"/>
            </a:solidFill>
          </a:ln>
        </p:spPr>
        <p:txBody>
          <a:bodyPr/>
          <a:lstStyle/>
          <a:p>
            <a:endParaRPr lang="it-IT"/>
          </a:p>
        </p:txBody>
      </p:sp>
      <p:sp>
        <p:nvSpPr>
          <p:cNvPr id="86" name="network_unit_3_1">
            <a:extLst>
              <a:ext uri="{FF2B5EF4-FFF2-40B4-BE49-F238E27FC236}">
                <a16:creationId xmlns:a16="http://schemas.microsoft.com/office/drawing/2014/main" id="{9F7A45B1-929A-4051-AC4F-590CA09077BD}"/>
              </a:ext>
            </a:extLst>
          </p:cNvPr>
          <p:cNvSpPr>
            <a:spLocks noGrp="1"/>
          </p:cNvSpPr>
          <p:nvPr/>
        </p:nvSpPr>
        <p:spPr>
          <a:xfrm>
            <a:off x="10448925" y="2771775"/>
            <a:ext cx="247650" cy="247650"/>
          </a:xfrm>
          <a:prstGeom prst="ellipse">
            <a:avLst/>
          </a:prstGeom>
          <a:solidFill>
            <a:srgbClr val="FFFFFF"/>
          </a:solidFill>
          <a:ln w="19050">
            <a:solidFill>
              <a:srgbClr val="C45C28"/>
            </a:solidFill>
          </a:ln>
        </p:spPr>
        <p:txBody>
          <a:bodyPr/>
          <a:lstStyle/>
          <a:p>
            <a:endParaRPr lang="it-IT"/>
          </a:p>
        </p:txBody>
      </p:sp>
      <p:sp>
        <p:nvSpPr>
          <p:cNvPr id="87" name="network_unit_3_2">
            <a:extLst>
              <a:ext uri="{FF2B5EF4-FFF2-40B4-BE49-F238E27FC236}">
                <a16:creationId xmlns:a16="http://schemas.microsoft.com/office/drawing/2014/main" id="{CDF3EA4B-1105-4752-9CCB-EF20543011B5}"/>
              </a:ext>
            </a:extLst>
          </p:cNvPr>
          <p:cNvSpPr>
            <a:spLocks noGrp="1"/>
          </p:cNvSpPr>
          <p:nvPr/>
        </p:nvSpPr>
        <p:spPr>
          <a:xfrm>
            <a:off x="10448925" y="3629025"/>
            <a:ext cx="247650" cy="247650"/>
          </a:xfrm>
          <a:prstGeom prst="ellipse">
            <a:avLst/>
          </a:prstGeom>
          <a:solidFill>
            <a:srgbClr val="FFFFFF"/>
          </a:solidFill>
          <a:ln w="19050">
            <a:solidFill>
              <a:srgbClr val="C45C28"/>
            </a:solidFill>
          </a:ln>
        </p:spPr>
        <p:txBody>
          <a:bodyPr/>
          <a:lstStyle/>
          <a:p>
            <a:endParaRPr lang="it-IT"/>
          </a:p>
        </p:txBody>
      </p:sp>
      <mc:AlternateContent xmlns:mc="http://schemas.openxmlformats.org/markup-compatibility/2006" xmlns:a14="http://schemas.microsoft.com/office/drawing/2010/main">
        <mc:Choice Requires="a14">
          <p:sp>
            <p:nvSpPr>
              <p:cNvPr id="88" name="network_caption_0">
                <a:extLst>
                  <a:ext uri="{FF2B5EF4-FFF2-40B4-BE49-F238E27FC236}">
                    <a16:creationId xmlns:a16="http://schemas.microsoft.com/office/drawing/2014/main" id="{386FC55F-75D8-40DB-BD3D-7F5B7E7A4677}"/>
                  </a:ext>
                </a:extLst>
              </p:cNvPr>
              <p:cNvSpPr>
                <a:spLocks noGrp="1"/>
              </p:cNvSpPr>
              <p:nvPr/>
            </p:nvSpPr>
            <p:spPr>
              <a:xfrm>
                <a:off x="47625" y="3924300"/>
                <a:ext cx="2762250" cy="571500"/>
              </a:xfrm>
              <a:prstGeom prst="rect">
                <a:avLst/>
              </a:prstGeom>
              <a:noFill/>
              <a:ln w="0">
                <a:noFill/>
              </a:ln>
            </p:spPr>
            <p:txBody>
              <a:bodyPr wrap="none" lIns="0" tIns="0" rIns="0" bIns="0" anchor="ctr">
                <a:noAutofit/>
              </a:bodyPr>
              <a:lstStyle/>
              <a:p>
                <a:pPr algn="ctr">
                  <a:lnSpc>
                    <a:spcPts val="2300"/>
                  </a:lnSpc>
                </a:pPr>
                <a:r>
                  <a:rPr lang="en-GB" sz="1800" b="0">
                    <a:solidFill>
                      <a:srgbClr val="182D45"/>
                    </a:solidFill>
                    <a:latin typeface="DejaVu Sans"/>
                  </a:rPr>
                  <a:t>Input:</a:t>
                </a:r>
                <a:endParaRPr lang="en-GB" sz="1800"/>
              </a:p>
              <a:p>
                <a:pPr algn="ctr">
                  <a:lnSpc>
                    <a:spcPts val="2300"/>
                  </a:lnSpc>
                </a:pPr>
                <a14:m>
                  <m:oMath xmlns:m="http://schemas.openxmlformats.org/officeDocument/2006/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𝑚</m:t>
                        </m:r>
                      </m:e>
                      <m:sub>
                        <m:r>
                          <a:rPr lang="en-GB" sz="1800">
                            <a:solidFill>
                              <a:srgbClr val="182D45"/>
                            </a:solidFill>
                            <a:latin typeface="Cambria Math"/>
                            <a:ea typeface="Cambria Math"/>
                            <a:cs typeface="Cambria Math"/>
                          </a:rPr>
                          <m:t>0</m:t>
                        </m:r>
                      </m:sub>
                    </m:sSub>
                    <m:r>
                      <a:rPr lang="en-GB" sz="1800">
                        <a:solidFill>
                          <a:srgbClr val="182D45"/>
                        </a:solidFill>
                        <a:latin typeface="Cambria Math"/>
                        <a:ea typeface="Cambria Math"/>
                        <a:cs typeface="Cambria Math"/>
                      </a:rPr>
                      <m:t>=</m:t>
                    </m:r>
                    <m:r>
                      <a:rPr lang="en-GB" sz="1800">
                        <a:solidFill>
                          <a:srgbClr val="182D45"/>
                        </a:solidFill>
                        <a:latin typeface="Cambria Math"/>
                        <a:ea typeface="Cambria Math"/>
                        <a:cs typeface="Cambria Math"/>
                      </a:rPr>
                      <m:t>𝑑</m:t>
                    </m:r>
                    <m:r>
                      <a:rPr lang="en-GB" sz="1800">
                        <a:solidFill>
                          <a:srgbClr val="182D45"/>
                        </a:solidFill>
                        <a:latin typeface="Cambria Math"/>
                        <a:ea typeface="Cambria Math"/>
                        <a:cs typeface="Cambria Math"/>
                      </a:rPr>
                      <m:t>=2</m:t>
                    </m:r>
                  </m:oMath>
                </a14:m>
                <a:r>
                  <a:rPr lang="en-GB" sz="1800" b="0">
                    <a:solidFill>
                      <a:srgbClr val="182D45"/>
                    </a:solidFill>
                    <a:latin typeface="DejaVu Sans"/>
                  </a:rPr>
                  <a:t> coordinates</a:t>
                </a:r>
                <a:endParaRPr lang="en-GB" sz="1800"/>
              </a:p>
            </p:txBody>
          </p:sp>
        </mc:Choice>
        <mc:Fallback xmlns="">
          <p:sp>
            <p:nvSpPr>
              <p:cNvPr id="88" name="network_caption_0">
                <a:extLst>
                  <a:ext uri="{FF2B5EF4-FFF2-40B4-BE49-F238E27FC236}">
                    <a16:creationId xmlns:a16="http://schemas.microsoft.com/office/drawing/2014/main" id="{386FC55F-75D8-40DB-BD3D-7F5B7E7A4677}"/>
                  </a:ext>
                </a:extLst>
              </p:cNvPr>
              <p:cNvSpPr>
                <a:spLocks noGrp="1" noRot="1" noChangeAspect="1" noMove="1" noResize="1" noEditPoints="1" noAdjustHandles="1" noChangeArrowheads="1" noChangeShapeType="1" noTextEdit="1"/>
              </p:cNvSpPr>
              <p:nvPr/>
            </p:nvSpPr>
            <p:spPr>
              <a:xfrm>
                <a:off x="47625" y="3924300"/>
                <a:ext cx="2762250" cy="571500"/>
              </a:xfrm>
              <a:prstGeom prst="rect">
                <a:avLst/>
              </a:prstGeom>
              <a:blipFill>
                <a:blip r:embed="rId3"/>
                <a:stretch>
                  <a:fillRect t="-14894" r="-1987" b="-2234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9" name="network_caption_1">
                <a:extLst>
                  <a:ext uri="{FF2B5EF4-FFF2-40B4-BE49-F238E27FC236}">
                    <a16:creationId xmlns:a16="http://schemas.microsoft.com/office/drawing/2014/main" id="{972C6CF3-42DE-43C4-A4DC-CDCC5B411D4F}"/>
                  </a:ext>
                </a:extLst>
              </p:cNvPr>
              <p:cNvSpPr>
                <a:spLocks noGrp="1"/>
              </p:cNvSpPr>
              <p:nvPr/>
            </p:nvSpPr>
            <p:spPr>
              <a:xfrm>
                <a:off x="3095625" y="3924300"/>
                <a:ext cx="2762250" cy="571500"/>
              </a:xfrm>
              <a:prstGeom prst="rect">
                <a:avLst/>
              </a:prstGeom>
              <a:noFill/>
              <a:ln w="0">
                <a:noFill/>
              </a:ln>
            </p:spPr>
            <p:txBody>
              <a:bodyPr wrap="none" lIns="0" tIns="0" rIns="0" bIns="0" anchor="ctr">
                <a:noAutofit/>
              </a:bodyPr>
              <a:lstStyle/>
              <a:p>
                <a:pPr algn="ctr">
                  <a:lnSpc>
                    <a:spcPts val="2300"/>
                  </a:lnSpc>
                </a:pPr>
                <a:r>
                  <a:rPr lang="en-GB" sz="1800" b="0">
                    <a:solidFill>
                      <a:srgbClr val="182D45"/>
                    </a:solidFill>
                    <a:latin typeface="DejaVu Sans"/>
                  </a:rPr>
                  <a:t>Hidden layer 1:</a:t>
                </a:r>
                <a:endParaRPr lang="en-GB" sz="1800"/>
              </a:p>
              <a:p>
                <a:pPr algn="ctr">
                  <a:lnSpc>
                    <a:spcPts val="2300"/>
                  </a:lnSpc>
                </a:pPr>
                <a:r>
                  <a:rPr lang="en-GB" sz="1800" b="0">
                    <a:solidFill>
                      <a:srgbClr val="182D45"/>
                    </a:solidFill>
                    <a:latin typeface="DejaVu Sans"/>
                  </a:rPr>
                  <a:t>width </a:t>
                </a:r>
                <a14:m>
                  <m:oMath xmlns:m="http://schemas.openxmlformats.org/officeDocument/2006/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𝑚</m:t>
                        </m:r>
                      </m:e>
                      <m:sub>
                        <m:r>
                          <a:rPr lang="en-GB" sz="1800">
                            <a:solidFill>
                              <a:srgbClr val="182D45"/>
                            </a:solidFill>
                            <a:latin typeface="Cambria Math"/>
                            <a:ea typeface="Cambria Math"/>
                            <a:cs typeface="Cambria Math"/>
                          </a:rPr>
                          <m:t>1</m:t>
                        </m:r>
                      </m:sub>
                    </m:sSub>
                    <m:r>
                      <a:rPr lang="en-GB" sz="1800">
                        <a:solidFill>
                          <a:srgbClr val="182D45"/>
                        </a:solidFill>
                        <a:latin typeface="Cambria Math"/>
                        <a:ea typeface="Cambria Math"/>
                        <a:cs typeface="Cambria Math"/>
                      </a:rPr>
                      <m:t>=5</m:t>
                    </m:r>
                  </m:oMath>
                </a14:m>
                <a:endParaRPr lang="en-GB" sz="1800"/>
              </a:p>
            </p:txBody>
          </p:sp>
        </mc:Choice>
        <mc:Fallback xmlns="">
          <p:sp>
            <p:nvSpPr>
              <p:cNvPr id="89" name="network_caption_1">
                <a:extLst>
                  <a:ext uri="{FF2B5EF4-FFF2-40B4-BE49-F238E27FC236}">
                    <a16:creationId xmlns:a16="http://schemas.microsoft.com/office/drawing/2014/main" id="{972C6CF3-42DE-43C4-A4DC-CDCC5B411D4F}"/>
                  </a:ext>
                </a:extLst>
              </p:cNvPr>
              <p:cNvSpPr>
                <a:spLocks noGrp="1" noRot="1" noChangeAspect="1" noMove="1" noResize="1" noEditPoints="1" noAdjustHandles="1" noChangeArrowheads="1" noChangeShapeType="1" noTextEdit="1"/>
              </p:cNvSpPr>
              <p:nvPr/>
            </p:nvSpPr>
            <p:spPr>
              <a:xfrm>
                <a:off x="3095625" y="3924300"/>
                <a:ext cx="2762250" cy="571500"/>
              </a:xfrm>
              <a:prstGeom prst="rect">
                <a:avLst/>
              </a:prstGeom>
              <a:blipFill>
                <a:blip r:embed="rId4"/>
                <a:stretch>
                  <a:fillRect t="-14894" b="-2234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0" name="network_caption_2">
                <a:extLst>
                  <a:ext uri="{FF2B5EF4-FFF2-40B4-BE49-F238E27FC236}">
                    <a16:creationId xmlns:a16="http://schemas.microsoft.com/office/drawing/2014/main" id="{0F457F3F-5C5D-4B35-BE62-81517E7CE3F8}"/>
                  </a:ext>
                </a:extLst>
              </p:cNvPr>
              <p:cNvSpPr>
                <a:spLocks noGrp="1"/>
              </p:cNvSpPr>
              <p:nvPr/>
            </p:nvSpPr>
            <p:spPr>
              <a:xfrm>
                <a:off x="6143625" y="3924300"/>
                <a:ext cx="2762250" cy="571500"/>
              </a:xfrm>
              <a:prstGeom prst="rect">
                <a:avLst/>
              </a:prstGeom>
              <a:noFill/>
              <a:ln w="0">
                <a:noFill/>
              </a:ln>
            </p:spPr>
            <p:txBody>
              <a:bodyPr wrap="none" lIns="0" tIns="0" rIns="0" bIns="0" anchor="ctr">
                <a:noAutofit/>
              </a:bodyPr>
              <a:lstStyle/>
              <a:p>
                <a:pPr algn="ctr">
                  <a:lnSpc>
                    <a:spcPts val="2300"/>
                  </a:lnSpc>
                </a:pPr>
                <a:r>
                  <a:rPr lang="en-GB" sz="1800" b="0">
                    <a:solidFill>
                      <a:srgbClr val="182D45"/>
                    </a:solidFill>
                    <a:latin typeface="DejaVu Sans"/>
                  </a:rPr>
                  <a:t>Hidden layer 2:</a:t>
                </a:r>
                <a:endParaRPr lang="en-GB" sz="1800"/>
              </a:p>
              <a:p>
                <a:pPr algn="ctr">
                  <a:lnSpc>
                    <a:spcPts val="2300"/>
                  </a:lnSpc>
                </a:pPr>
                <a:r>
                  <a:rPr lang="en-GB" sz="1800" b="0">
                    <a:solidFill>
                      <a:srgbClr val="182D45"/>
                    </a:solidFill>
                    <a:latin typeface="DejaVu Sans"/>
                  </a:rPr>
                  <a:t>width </a:t>
                </a:r>
                <a14:m>
                  <m:oMath xmlns:m="http://schemas.openxmlformats.org/officeDocument/2006/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𝑚</m:t>
                        </m:r>
                      </m:e>
                      <m:sub>
                        <m:r>
                          <a:rPr lang="en-GB" sz="1800">
                            <a:solidFill>
                              <a:srgbClr val="182D45"/>
                            </a:solidFill>
                            <a:latin typeface="Cambria Math"/>
                            <a:ea typeface="Cambria Math"/>
                            <a:cs typeface="Cambria Math"/>
                          </a:rPr>
                          <m:t>2</m:t>
                        </m:r>
                      </m:sub>
                    </m:sSub>
                    <m:r>
                      <a:rPr lang="en-GB" sz="1800">
                        <a:solidFill>
                          <a:srgbClr val="182D45"/>
                        </a:solidFill>
                        <a:latin typeface="Cambria Math"/>
                        <a:ea typeface="Cambria Math"/>
                        <a:cs typeface="Cambria Math"/>
                      </a:rPr>
                      <m:t>=7</m:t>
                    </m:r>
                  </m:oMath>
                </a14:m>
                <a:endParaRPr lang="en-GB" sz="1800"/>
              </a:p>
            </p:txBody>
          </p:sp>
        </mc:Choice>
        <mc:Fallback xmlns="">
          <p:sp>
            <p:nvSpPr>
              <p:cNvPr id="90" name="network_caption_2">
                <a:extLst>
                  <a:ext uri="{FF2B5EF4-FFF2-40B4-BE49-F238E27FC236}">
                    <a16:creationId xmlns:a16="http://schemas.microsoft.com/office/drawing/2014/main" id="{0F457F3F-5C5D-4B35-BE62-81517E7CE3F8}"/>
                  </a:ext>
                </a:extLst>
              </p:cNvPr>
              <p:cNvSpPr>
                <a:spLocks noGrp="1" noRot="1" noChangeAspect="1" noMove="1" noResize="1" noEditPoints="1" noAdjustHandles="1" noChangeArrowheads="1" noChangeShapeType="1" noTextEdit="1"/>
              </p:cNvSpPr>
              <p:nvPr/>
            </p:nvSpPr>
            <p:spPr>
              <a:xfrm>
                <a:off x="6143625" y="3924300"/>
                <a:ext cx="2762250" cy="571500"/>
              </a:xfrm>
              <a:prstGeom prst="rect">
                <a:avLst/>
              </a:prstGeom>
              <a:blipFill>
                <a:blip r:embed="rId5"/>
                <a:stretch>
                  <a:fillRect t="-14894" b="-2234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1" name="network_caption_3">
                <a:extLst>
                  <a:ext uri="{FF2B5EF4-FFF2-40B4-BE49-F238E27FC236}">
                    <a16:creationId xmlns:a16="http://schemas.microsoft.com/office/drawing/2014/main" id="{DEB8C583-82F5-4C2B-A558-EC613127E434}"/>
                  </a:ext>
                </a:extLst>
              </p:cNvPr>
              <p:cNvSpPr>
                <a:spLocks noGrp="1"/>
              </p:cNvSpPr>
              <p:nvPr/>
            </p:nvSpPr>
            <p:spPr>
              <a:xfrm>
                <a:off x="9173337" y="3924300"/>
                <a:ext cx="2762250" cy="571500"/>
              </a:xfrm>
              <a:prstGeom prst="rect">
                <a:avLst/>
              </a:prstGeom>
              <a:noFill/>
              <a:ln w="0">
                <a:noFill/>
              </a:ln>
            </p:spPr>
            <p:txBody>
              <a:bodyPr wrap="none" lIns="0" tIns="0" rIns="0" bIns="0" anchor="ctr">
                <a:noAutofit/>
              </a:bodyPr>
              <a:lstStyle/>
              <a:p>
                <a:pPr algn="ctr">
                  <a:lnSpc>
                    <a:spcPts val="2300"/>
                  </a:lnSpc>
                </a:pPr>
                <a:r>
                  <a:rPr lang="en-GB" sz="1800" b="0">
                    <a:solidFill>
                      <a:srgbClr val="182D45"/>
                    </a:solidFill>
                    <a:latin typeface="DejaVu Sans"/>
                  </a:rPr>
                  <a:t>Output layer 3:</a:t>
                </a:r>
                <a:endParaRPr lang="en-GB" sz="1800"/>
              </a:p>
              <a:p>
                <a:pPr algn="ctr">
                  <a:lnSpc>
                    <a:spcPts val="2300"/>
                  </a:lnSpc>
                </a:pPr>
                <a:r>
                  <a:rPr lang="en-GB" sz="1800" b="0">
                    <a:solidFill>
                      <a:srgbClr val="182D45"/>
                    </a:solidFill>
                    <a:latin typeface="DejaVu Sans"/>
                  </a:rPr>
                  <a:t>width </a:t>
                </a:r>
                <a14:m>
                  <m:oMath xmlns:m="http://schemas.openxmlformats.org/officeDocument/2006/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𝑚</m:t>
                        </m:r>
                      </m:e>
                      <m:sub>
                        <m:r>
                          <a:rPr lang="en-GB" sz="1800">
                            <a:solidFill>
                              <a:srgbClr val="182D45"/>
                            </a:solidFill>
                            <a:latin typeface="Cambria Math"/>
                            <a:ea typeface="Cambria Math"/>
                            <a:cs typeface="Cambria Math"/>
                          </a:rPr>
                          <m:t>3</m:t>
                        </m:r>
                      </m:sub>
                    </m:sSub>
                    <m:r>
                      <a:rPr lang="en-GB" sz="1800">
                        <a:solidFill>
                          <a:srgbClr val="182D45"/>
                        </a:solidFill>
                        <a:latin typeface="Cambria Math"/>
                        <a:ea typeface="Cambria Math"/>
                        <a:cs typeface="Cambria Math"/>
                      </a:rPr>
                      <m:t>=</m:t>
                    </m:r>
                    <m:r>
                      <a:rPr lang="en-GB" sz="1800">
                        <a:solidFill>
                          <a:srgbClr val="182D45"/>
                        </a:solidFill>
                        <a:latin typeface="Cambria Math"/>
                        <a:ea typeface="Cambria Math"/>
                        <a:cs typeface="Cambria Math"/>
                      </a:rPr>
                      <m:t>𝑞</m:t>
                    </m:r>
                    <m:r>
                      <a:rPr lang="en-GB" sz="1800">
                        <a:solidFill>
                          <a:srgbClr val="182D45"/>
                        </a:solidFill>
                        <a:latin typeface="Cambria Math"/>
                        <a:ea typeface="Cambria Math"/>
                        <a:cs typeface="Cambria Math"/>
                      </a:rPr>
                      <m:t>=3</m:t>
                    </m:r>
                  </m:oMath>
                </a14:m>
                <a:endParaRPr lang="en-GB" sz="1800"/>
              </a:p>
            </p:txBody>
          </p:sp>
        </mc:Choice>
        <mc:Fallback xmlns="">
          <p:sp>
            <p:nvSpPr>
              <p:cNvPr id="91" name="network_caption_3">
                <a:extLst>
                  <a:ext uri="{FF2B5EF4-FFF2-40B4-BE49-F238E27FC236}">
                    <a16:creationId xmlns:a16="http://schemas.microsoft.com/office/drawing/2014/main" id="{DEB8C583-82F5-4C2B-A558-EC613127E434}"/>
                  </a:ext>
                </a:extLst>
              </p:cNvPr>
              <p:cNvSpPr>
                <a:spLocks noGrp="1" noRot="1" noChangeAspect="1" noMove="1" noResize="1" noEditPoints="1" noAdjustHandles="1" noChangeArrowheads="1" noChangeShapeType="1" noTextEdit="1"/>
              </p:cNvSpPr>
              <p:nvPr/>
            </p:nvSpPr>
            <p:spPr>
              <a:xfrm>
                <a:off x="9173337" y="3924300"/>
                <a:ext cx="2762250" cy="571500"/>
              </a:xfrm>
              <a:prstGeom prst="rect">
                <a:avLst/>
              </a:prstGeom>
              <a:blipFill>
                <a:blip r:embed="rId6"/>
                <a:stretch>
                  <a:fillRect t="-14894" b="-22340"/>
                </a:stretch>
              </a:blipFill>
              <a:ln w="0">
                <a:noFill/>
              </a:ln>
            </p:spPr>
            <p:txBody>
              <a:bodyPr/>
              <a:lstStyle/>
              <a:p>
                <a:r>
                  <a:rPr lang="it-IT">
                    <a:noFill/>
                  </a:rPr>
                  <a:t> </a:t>
                </a:r>
              </a:p>
            </p:txBody>
          </p:sp>
        </mc:Fallback>
      </mc:AlternateContent>
      <p:sp>
        <p:nvSpPr>
          <p:cNvPr id="95" name="footer_course">
            <a:extLst>
              <a:ext uri="{FF2B5EF4-FFF2-40B4-BE49-F238E27FC236}">
                <a16:creationId xmlns:a16="http://schemas.microsoft.com/office/drawing/2014/main" id="{4E8957BD-D252-4D23-9522-4DE467B184E1}"/>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96" name="footer_number">
            <a:extLst>
              <a:ext uri="{FF2B5EF4-FFF2-40B4-BE49-F238E27FC236}">
                <a16:creationId xmlns:a16="http://schemas.microsoft.com/office/drawing/2014/main" id="{2B10BEC0-5843-476A-8FEC-5B3D3F40E2AE}"/>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19</a:t>
            </a:r>
          </a:p>
        </p:txBody>
      </p:sp>
      <mc:AlternateContent xmlns:mc="http://schemas.openxmlformats.org/markup-compatibility/2006" xmlns:a14="http://schemas.microsoft.com/office/drawing/2010/main">
        <mc:Choice Requires="a14">
          <p:sp>
            <p:nvSpPr>
              <p:cNvPr id="97" name="depth_example"/>
              <p:cNvSpPr txBox="1"/>
              <p:nvPr/>
            </p:nvSpPr>
            <p:spPr>
              <a:xfrm>
                <a:off x="381000" y="4521200"/>
                <a:ext cx="11430000" cy="406400"/>
              </a:xfrm>
              <a:prstGeom prst="rect">
                <a:avLst/>
              </a:prstGeom>
              <a:noFill/>
              <a:ln w="0">
                <a:noFill/>
              </a:ln>
            </p:spPr>
            <p:txBody>
              <a:bodyPr wrap="none" lIns="0" tIns="0" rIns="0" bIns="0" anchor="ctr">
                <a:noAutofit/>
              </a:bodyPr>
              <a:lstStyle/>
              <a:p>
                <a:pPr algn="ctr"/>
                <a:r>
                  <a:rPr lang="en-GB" sz="2100" b="0">
                    <a:solidFill>
                      <a:srgbClr val="FF0000"/>
                    </a:solidFill>
                    <a:latin typeface="DejaVu Sans"/>
                  </a:rPr>
                  <a:t>Depth </a:t>
                </a:r>
                <a14:m>
                  <m:oMath xmlns:m="http://schemas.openxmlformats.org/officeDocument/2006/math">
                    <m:r>
                      <a:rPr lang="en-GB" sz="2100">
                        <a:solidFill>
                          <a:srgbClr val="182D45"/>
                        </a:solidFill>
                        <a:latin typeface="Cambria Math"/>
                        <a:ea typeface="Cambria Math"/>
                        <a:cs typeface="Cambria Math"/>
                      </a:rPr>
                      <m:t>𝐿</m:t>
                    </m:r>
                    <m:r>
                      <a:rPr lang="en-GB" sz="2100">
                        <a:solidFill>
                          <a:srgbClr val="182D45"/>
                        </a:solidFill>
                        <a:latin typeface="Cambria Math"/>
                        <a:ea typeface="Cambria Math"/>
                        <a:cs typeface="Cambria Math"/>
                      </a:rPr>
                      <m:t>=3</m:t>
                    </m:r>
                  </m:oMath>
                </a14:m>
                <a:r>
                  <a:rPr lang="en-GB" sz="2100" b="0">
                    <a:solidFill>
                      <a:srgbClr val="182D45"/>
                    </a:solidFill>
                    <a:latin typeface="DejaVu Sans"/>
                  </a:rPr>
                  <a:t>: two hidden layers and one output layer.</a:t>
                </a:r>
                <a:endParaRPr lang="en-GB" sz="2100"/>
              </a:p>
            </p:txBody>
          </p:sp>
        </mc:Choice>
        <mc:Fallback xmlns="">
          <p:sp>
            <p:nvSpPr>
              <p:cNvPr id="97" name="depth_example"/>
              <p:cNvSpPr txBox="1">
                <a:spLocks noRot="1" noChangeAspect="1" noMove="1" noResize="1" noEditPoints="1" noAdjustHandles="1" noChangeArrowheads="1" noChangeShapeType="1" noTextEdit="1"/>
              </p:cNvSpPr>
              <p:nvPr/>
            </p:nvSpPr>
            <p:spPr>
              <a:xfrm>
                <a:off x="381000" y="4521200"/>
                <a:ext cx="11430000" cy="406400"/>
              </a:xfrm>
              <a:prstGeom prst="rect">
                <a:avLst/>
              </a:prstGeom>
              <a:blipFill>
                <a:blip r:embed="rId7"/>
                <a:stretch>
                  <a:fillRect t="-15152" b="-27273"/>
                </a:stretch>
              </a:blipFill>
              <a:ln w="0">
                <a:noFill/>
              </a:ln>
            </p:spPr>
            <p:txBody>
              <a:bodyPr/>
              <a:lstStyle/>
              <a:p>
                <a:r>
                  <a:rPr lang="it-IT">
                    <a:noFill/>
                  </a:rPr>
                  <a:t> </a:t>
                </a:r>
              </a:p>
            </p:txBody>
          </p:sp>
        </mc:Fallback>
      </mc:AlternateContent>
      <p:sp>
        <p:nvSpPr>
          <p:cNvPr id="98" name="architecture_definition"/>
          <p:cNvSpPr txBox="1"/>
          <p:nvPr/>
        </p:nvSpPr>
        <p:spPr>
          <a:xfrm>
            <a:off x="317500" y="5041900"/>
            <a:ext cx="11557000" cy="723900"/>
          </a:xfrm>
          <a:prstGeom prst="rect">
            <a:avLst/>
          </a:prstGeom>
          <a:noFill/>
          <a:ln w="0">
            <a:noFill/>
          </a:ln>
        </p:spPr>
        <p:txBody>
          <a:bodyPr lIns="0" tIns="0" rIns="0" bIns="0" anchor="ctr">
            <a:noAutofit/>
          </a:bodyPr>
          <a:lstStyle/>
          <a:p>
            <a:pPr algn="ctr">
              <a:defRPr sz="1950" b="0">
                <a:solidFill>
                  <a:srgbClr val="182D45"/>
                </a:solidFill>
                <a:latin typeface="DejaVu Sans"/>
                <a:ea typeface="DejaVu Sans"/>
                <a:cs typeface="DejaVu Sans"/>
              </a:defRPr>
            </a:pPr>
            <a:r>
              <a:rPr sz="1950" b="0" dirty="0">
                <a:solidFill>
                  <a:srgbClr val="182D45"/>
                </a:solidFill>
                <a:latin typeface="DejaVu Sans"/>
                <a:ea typeface="DejaVu Sans"/>
                <a:cs typeface="DejaVu Sans"/>
              </a:rPr>
              <a:t>For </a:t>
            </a:r>
            <a:r>
              <a:rPr sz="1950" b="0" dirty="0">
                <a:solidFill>
                  <a:srgbClr val="FF0000"/>
                </a:solidFill>
                <a:latin typeface="DejaVu Sans"/>
                <a:ea typeface="DejaVu Sans"/>
                <a:cs typeface="DejaVu Sans"/>
              </a:rPr>
              <a:t>fully connected networks </a:t>
            </a:r>
            <a:r>
              <a:rPr sz="1950" b="0" dirty="0">
                <a:solidFill>
                  <a:srgbClr val="182D45"/>
                </a:solidFill>
                <a:latin typeface="DejaVu Sans"/>
                <a:ea typeface="DejaVu Sans"/>
                <a:cs typeface="DejaVu Sans"/>
              </a:rPr>
              <a:t>with </a:t>
            </a:r>
            <a:r>
              <a:rPr sz="1950" b="0" dirty="0" err="1">
                <a:solidFill>
                  <a:srgbClr val="182D45"/>
                </a:solidFill>
                <a:latin typeface="DejaVu Sans"/>
                <a:ea typeface="DejaVu Sans"/>
                <a:cs typeface="DejaVu Sans"/>
              </a:rPr>
              <a:t>ReLU</a:t>
            </a:r>
            <a:r>
              <a:rPr sz="1950" b="0" dirty="0">
                <a:solidFill>
                  <a:srgbClr val="182D45"/>
                </a:solidFill>
                <a:latin typeface="DejaVu Sans"/>
                <a:ea typeface="DejaVu Sans"/>
                <a:cs typeface="DejaVu Sans"/>
              </a:rPr>
              <a:t> hidden layers and an affine output,</a:t>
            </a:r>
          </a:p>
          <a:p>
            <a:pPr algn="ctr">
              <a:defRPr sz="1950" b="0">
                <a:solidFill>
                  <a:srgbClr val="182D45"/>
                </a:solidFill>
                <a:latin typeface="DejaVu Sans"/>
                <a:ea typeface="DejaVu Sans"/>
                <a:cs typeface="DejaVu Sans"/>
              </a:defRPr>
            </a:pPr>
            <a:r>
              <a:rPr sz="1950" b="0" dirty="0">
                <a:solidFill>
                  <a:srgbClr val="182D45"/>
                </a:solidFill>
                <a:latin typeface="DejaVu Sans"/>
                <a:ea typeface="DejaVu Sans"/>
                <a:cs typeface="DejaVu Sans"/>
              </a:rPr>
              <a:t>the input dimension and layer widths specify the </a:t>
            </a:r>
            <a:r>
              <a:rPr sz="1950" b="0" dirty="0">
                <a:solidFill>
                  <a:srgbClr val="FF0000"/>
                </a:solidFill>
                <a:latin typeface="DejaVu Sans"/>
                <a:ea typeface="DejaVu Sans"/>
                <a:cs typeface="DejaVu Sans"/>
              </a:rPr>
              <a:t>architecture</a:t>
            </a:r>
            <a:r>
              <a:rPr sz="1950" b="0" dirty="0">
                <a:solidFill>
                  <a:srgbClr val="182D45"/>
                </a:solidFill>
                <a:latin typeface="DejaVu Sans"/>
                <a:ea typeface="DejaVu Sans"/>
                <a:cs typeface="DejaVu Sans"/>
              </a:rPr>
              <a:t>: </a:t>
            </a:r>
            <a:r>
              <a:rPr sz="1950" b="1" dirty="0">
                <a:solidFill>
                  <a:srgbClr val="182D45"/>
                </a:solidFill>
                <a:latin typeface="DejaVu Sans"/>
                <a:ea typeface="DejaVu Sans"/>
                <a:cs typeface="DejaVu Sans"/>
              </a:rPr>
              <a:t>2 → 5 → 7 → 3</a:t>
            </a:r>
            <a:r>
              <a:rPr sz="1950" b="0" dirty="0">
                <a:solidFill>
                  <a:srgbClr val="182D45"/>
                </a:solidFill>
                <a:latin typeface="DejaVu Sans"/>
                <a:ea typeface="DejaVu Sans"/>
                <a:cs typeface="DejaVu Sans"/>
              </a:rPr>
              <a:t>.</a:t>
            </a:r>
          </a:p>
        </p:txBody>
      </p:sp>
      <mc:AlternateContent xmlns:mc="http://schemas.openxmlformats.org/markup-compatibility/2006" xmlns:a14="http://schemas.microsoft.com/office/drawing/2010/main">
        <mc:Choice Requires="a14">
          <p:sp>
            <p:nvSpPr>
              <p:cNvPr id="99" name="architecture_parameters"/>
              <p:cNvSpPr txBox="1"/>
              <p:nvPr/>
            </p:nvSpPr>
            <p:spPr>
              <a:xfrm>
                <a:off x="381000" y="5892800"/>
                <a:ext cx="11430000" cy="571500"/>
              </a:xfrm>
              <a:prstGeom prst="rect">
                <a:avLst/>
              </a:prstGeom>
              <a:noFill/>
              <a:ln w="0">
                <a:noFill/>
              </a:ln>
            </p:spPr>
            <p:txBody>
              <a:bodyPr wrap="none" lIns="0" tIns="0" rIns="0" bIns="0" anchor="ctr">
                <a:noAutofit/>
              </a:bodyPr>
              <a:lstStyle/>
              <a:p>
                <a:pPr algn="ctr">
                  <a:lnSpc>
                    <a:spcPts val="2300"/>
                  </a:lnSpc>
                </a:pPr>
                <a:r>
                  <a:rPr lang="en-GB" sz="1750" b="0">
                    <a:solidFill>
                      <a:srgbClr val="526276"/>
                    </a:solidFill>
                    <a:latin typeface="DejaVu Sans"/>
                  </a:rPr>
                  <a:t>By convention, </a:t>
                </a:r>
                <a14:m>
                  <m:oMath xmlns:m="http://schemas.openxmlformats.org/officeDocument/2006/math">
                    <m:sSub>
                      <m:sSubPr>
                        <m:ctrlPr>
                          <a:rPr lang="en-GB" sz="1750">
                            <a:solidFill>
                              <a:srgbClr val="526276"/>
                            </a:solidFill>
                            <a:latin typeface="Cambria Math"/>
                            <a:ea typeface="Cambria Math"/>
                            <a:cs typeface="Cambria Math"/>
                          </a:rPr>
                        </m:ctrlPr>
                      </m:sSubPr>
                      <m:e>
                        <m:r>
                          <a:rPr lang="en-GB" sz="1750">
                            <a:solidFill>
                              <a:srgbClr val="526276"/>
                            </a:solidFill>
                            <a:latin typeface="Cambria Math"/>
                            <a:ea typeface="Cambria Math"/>
                            <a:cs typeface="Cambria Math"/>
                          </a:rPr>
                          <m:t>𝑚</m:t>
                        </m:r>
                      </m:e>
                      <m:sub>
                        <m:r>
                          <a:rPr lang="en-GB" sz="1750">
                            <a:solidFill>
                              <a:srgbClr val="526276"/>
                            </a:solidFill>
                            <a:latin typeface="Cambria Math"/>
                            <a:ea typeface="Cambria Math"/>
                            <a:cs typeface="Cambria Math"/>
                          </a:rPr>
                          <m:t>0</m:t>
                        </m:r>
                      </m:sub>
                    </m:sSub>
                    <m:r>
                      <a:rPr lang="en-GB" sz="1750">
                        <a:solidFill>
                          <a:srgbClr val="526276"/>
                        </a:solidFill>
                        <a:latin typeface="Cambria Math"/>
                        <a:ea typeface="Cambria Math"/>
                        <a:cs typeface="Cambria Math"/>
                      </a:rPr>
                      <m:t>=</m:t>
                    </m:r>
                    <m:r>
                      <a:rPr lang="en-GB" sz="1750">
                        <a:solidFill>
                          <a:srgbClr val="526276"/>
                        </a:solidFill>
                        <a:latin typeface="Cambria Math"/>
                        <a:ea typeface="Cambria Math"/>
                        <a:cs typeface="Cambria Math"/>
                      </a:rPr>
                      <m:t>𝑑</m:t>
                    </m:r>
                  </m:oMath>
                </a14:m>
                <a:r>
                  <a:rPr lang="en-GB" sz="1750" b="0">
                    <a:solidFill>
                      <a:srgbClr val="526276"/>
                    </a:solidFill>
                    <a:latin typeface="DejaVu Sans"/>
                  </a:rPr>
                  <a:t> is the input dimension and </a:t>
                </a:r>
                <a14:m>
                  <m:oMath xmlns:m="http://schemas.openxmlformats.org/officeDocument/2006/math">
                    <m:sSub>
                      <m:sSubPr>
                        <m:ctrlPr>
                          <a:rPr lang="en-GB" sz="1750">
                            <a:solidFill>
                              <a:srgbClr val="526276"/>
                            </a:solidFill>
                            <a:latin typeface="Cambria Math"/>
                            <a:ea typeface="Cambria Math"/>
                            <a:cs typeface="Cambria Math"/>
                          </a:rPr>
                        </m:ctrlPr>
                      </m:sSubPr>
                      <m:e>
                        <m:r>
                          <a:rPr lang="en-GB" sz="1750">
                            <a:solidFill>
                              <a:srgbClr val="526276"/>
                            </a:solidFill>
                            <a:latin typeface="Cambria Math"/>
                            <a:ea typeface="Cambria Math"/>
                            <a:cs typeface="Cambria Math"/>
                          </a:rPr>
                          <m:t>𝑚</m:t>
                        </m:r>
                      </m:e>
                      <m:sub>
                        <m:r>
                          <a:rPr lang="en-GB" sz="1750">
                            <a:solidFill>
                              <a:srgbClr val="526276"/>
                            </a:solidFill>
                            <a:latin typeface="Cambria Math"/>
                            <a:ea typeface="Cambria Math"/>
                            <a:cs typeface="Cambria Math"/>
                          </a:rPr>
                          <m:t>𝐿</m:t>
                        </m:r>
                      </m:sub>
                    </m:sSub>
                    <m:r>
                      <a:rPr lang="en-GB" sz="1750">
                        <a:solidFill>
                          <a:srgbClr val="526276"/>
                        </a:solidFill>
                        <a:latin typeface="Cambria Math"/>
                        <a:ea typeface="Cambria Math"/>
                        <a:cs typeface="Cambria Math"/>
                      </a:rPr>
                      <m:t>=</m:t>
                    </m:r>
                    <m:r>
                      <a:rPr lang="en-GB" sz="1750">
                        <a:solidFill>
                          <a:srgbClr val="526276"/>
                        </a:solidFill>
                        <a:latin typeface="Cambria Math"/>
                        <a:ea typeface="Cambria Math"/>
                        <a:cs typeface="Cambria Math"/>
                      </a:rPr>
                      <m:t>𝑞</m:t>
                    </m:r>
                  </m:oMath>
                </a14:m>
                <a:r>
                  <a:rPr lang="en-GB" sz="1750" b="0">
                    <a:solidFill>
                      <a:srgbClr val="526276"/>
                    </a:solidFill>
                    <a:latin typeface="DejaVu Sans"/>
                  </a:rPr>
                  <a:t> the output dimension.</a:t>
                </a:r>
                <a:endParaRPr lang="en-GB" sz="1750"/>
              </a:p>
              <a:p>
                <a:pPr algn="ctr">
                  <a:lnSpc>
                    <a:spcPts val="2300"/>
                  </a:lnSpc>
                </a:pPr>
                <a:r>
                  <a:rPr lang="en-GB" sz="1750" b="0">
                    <a:solidFill>
                      <a:srgbClr val="526276"/>
                    </a:solidFill>
                    <a:latin typeface="DejaVu Sans"/>
                  </a:rPr>
                  <a:t>The architecture fixes parameter shapes; fitting adjusts their values.</a:t>
                </a:r>
                <a:endParaRPr lang="en-GB" sz="1750"/>
              </a:p>
            </p:txBody>
          </p:sp>
        </mc:Choice>
        <mc:Fallback xmlns="">
          <p:sp>
            <p:nvSpPr>
              <p:cNvPr id="99" name="architecture_parameters"/>
              <p:cNvSpPr txBox="1">
                <a:spLocks noRot="1" noChangeAspect="1" noMove="1" noResize="1" noEditPoints="1" noAdjustHandles="1" noChangeArrowheads="1" noChangeShapeType="1" noTextEdit="1"/>
              </p:cNvSpPr>
              <p:nvPr/>
            </p:nvSpPr>
            <p:spPr>
              <a:xfrm>
                <a:off x="381000" y="5892800"/>
                <a:ext cx="11430000" cy="571500"/>
              </a:xfrm>
              <a:prstGeom prst="rect">
                <a:avLst/>
              </a:prstGeom>
              <a:blipFill>
                <a:blip r:embed="rId8"/>
                <a:stretch>
                  <a:fillRect t="-10753" b="-22581"/>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98530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01CCBC7-3CC9-4D0B-81D1-0CDA9FF2ABE0}"/>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More hidden layers</a:t>
            </a:r>
          </a:p>
        </p:txBody>
      </p:sp>
      <mc:AlternateContent xmlns:mc="http://schemas.openxmlformats.org/markup-compatibility/2006" xmlns:a14="http://schemas.microsoft.com/office/drawing/2010/main">
        <mc:Choice Requires="a14">
          <p:sp>
            <p:nvSpPr>
              <p:cNvPr id="4" name="lead">
                <a:extLst>
                  <a:ext uri="{FF2B5EF4-FFF2-40B4-BE49-F238E27FC236}">
                    <a16:creationId xmlns:a16="http://schemas.microsoft.com/office/drawing/2014/main" id="{6655FCC5-8B8B-40CF-8429-8317F0E429D7}"/>
                  </a:ext>
                </a:extLst>
              </p:cNvPr>
              <p:cNvSpPr>
                <a:spLocks noGrp="1"/>
              </p:cNvSpPr>
              <p:nvPr/>
            </p:nvSpPr>
            <p:spPr>
              <a:xfrm>
                <a:off x="523875" y="1000125"/>
                <a:ext cx="11144250" cy="781050"/>
              </a:xfrm>
              <a:prstGeom prst="rect">
                <a:avLst/>
              </a:prstGeom>
              <a:noFill/>
              <a:ln w="0">
                <a:noFill/>
              </a:ln>
            </p:spPr>
            <p:txBody>
              <a:bodyPr wrap="none" lIns="0" tIns="0" rIns="0" bIns="0" anchor="ctr">
                <a:noAutofit/>
              </a:bodyPr>
              <a:lstStyle/>
              <a:p>
                <a:pPr algn="ctr">
                  <a:lnSpc>
                    <a:spcPts val="2550"/>
                  </a:lnSpc>
                </a:pPr>
                <a:r>
                  <a:rPr lang="en-GB" sz="2025" b="0">
                    <a:solidFill>
                      <a:srgbClr val="526276"/>
                    </a:solidFill>
                    <a:latin typeface="DejaVu Sans"/>
                  </a:rPr>
                  <a:t>Layer </a:t>
                </a:r>
                <a14:m>
                  <m:oMath xmlns:m="http://schemas.openxmlformats.org/officeDocument/2006/math">
                    <m:r>
                      <a:rPr lang="en-GB" sz="2025">
                        <a:solidFill>
                          <a:srgbClr val="526276"/>
                        </a:solidFill>
                        <a:latin typeface="Cambria Math"/>
                        <a:ea typeface="Cambria Math"/>
                        <a:cs typeface="Cambria Math"/>
                      </a:rPr>
                      <m:t>𝑟</m:t>
                    </m:r>
                  </m:oMath>
                </a14:m>
                <a:r>
                  <a:rPr lang="en-GB" sz="2025" b="0">
                    <a:solidFill>
                      <a:srgbClr val="526276"/>
                    </a:solidFill>
                    <a:latin typeface="DejaVu Sans"/>
                  </a:rPr>
                  <a:t> has </a:t>
                </a:r>
                <a14:m>
                  <m:oMath xmlns:m="http://schemas.openxmlformats.org/officeDocument/2006/math">
                    <m:sSub>
                      <m:sSubPr>
                        <m:ctrlPr>
                          <a:rPr lang="en-GB" sz="2025">
                            <a:solidFill>
                              <a:srgbClr val="526276"/>
                            </a:solidFill>
                            <a:latin typeface="Cambria Math"/>
                            <a:ea typeface="Cambria Math"/>
                            <a:cs typeface="Cambria Math"/>
                          </a:rPr>
                        </m:ctrlPr>
                      </m:sSubPr>
                      <m:e>
                        <m:r>
                          <a:rPr lang="en-GB" sz="2025">
                            <a:solidFill>
                              <a:srgbClr val="526276"/>
                            </a:solidFill>
                            <a:latin typeface="Cambria Math"/>
                            <a:ea typeface="Cambria Math"/>
                            <a:cs typeface="Cambria Math"/>
                          </a:rPr>
                          <m:t>𝑚</m:t>
                        </m:r>
                      </m:e>
                      <m:sub>
                        <m:r>
                          <a:rPr lang="en-GB" sz="2025">
                            <a:solidFill>
                              <a:srgbClr val="526276"/>
                            </a:solidFill>
                            <a:latin typeface="Cambria Math"/>
                            <a:ea typeface="Cambria Math"/>
                            <a:cs typeface="Cambria Math"/>
                          </a:rPr>
                          <m:t>𝑟</m:t>
                        </m:r>
                      </m:sub>
                    </m:sSub>
                  </m:oMath>
                </a14:m>
                <a:r>
                  <a:rPr lang="en-GB" sz="2025" b="0">
                    <a:solidFill>
                      <a:srgbClr val="526276"/>
                    </a:solidFill>
                    <a:latin typeface="DejaVu Sans"/>
                  </a:rPr>
                  <a:t> neurons, indexed by </a:t>
                </a:r>
                <a14:m>
                  <m:oMath xmlns:m="http://schemas.openxmlformats.org/officeDocument/2006/math">
                    <m:r>
                      <a:rPr lang="en-GB" sz="2025">
                        <a:solidFill>
                          <a:srgbClr val="526276"/>
                        </a:solidFill>
                        <a:latin typeface="Cambria Math"/>
                        <a:ea typeface="Cambria Math"/>
                        <a:cs typeface="Cambria Math"/>
                      </a:rPr>
                      <m:t>𝑗</m:t>
                    </m:r>
                    <m:r>
                      <a:rPr lang="en-GB" sz="2025">
                        <a:solidFill>
                          <a:srgbClr val="526276"/>
                        </a:solidFill>
                        <a:latin typeface="Cambria Math"/>
                        <a:ea typeface="Cambria Math"/>
                        <a:cs typeface="Cambria Math"/>
                      </a:rPr>
                      <m:t>=1,…,</m:t>
                    </m:r>
                    <m:sSub>
                      <m:sSubPr>
                        <m:ctrlPr>
                          <a:rPr lang="en-GB" sz="2025">
                            <a:solidFill>
                              <a:srgbClr val="526276"/>
                            </a:solidFill>
                            <a:latin typeface="Cambria Math"/>
                            <a:ea typeface="Cambria Math"/>
                            <a:cs typeface="Cambria Math"/>
                          </a:rPr>
                        </m:ctrlPr>
                      </m:sSubPr>
                      <m:e>
                        <m:r>
                          <a:rPr lang="en-GB" sz="2025">
                            <a:solidFill>
                              <a:srgbClr val="526276"/>
                            </a:solidFill>
                            <a:latin typeface="Cambria Math"/>
                            <a:ea typeface="Cambria Math"/>
                            <a:cs typeface="Cambria Math"/>
                          </a:rPr>
                          <m:t>𝑚</m:t>
                        </m:r>
                      </m:e>
                      <m:sub>
                        <m:r>
                          <a:rPr lang="en-GB" sz="2025">
                            <a:solidFill>
                              <a:srgbClr val="526276"/>
                            </a:solidFill>
                            <a:latin typeface="Cambria Math"/>
                            <a:ea typeface="Cambria Math"/>
                            <a:cs typeface="Cambria Math"/>
                          </a:rPr>
                          <m:t>𝑟</m:t>
                        </m:r>
                      </m:sub>
                    </m:sSub>
                  </m:oMath>
                </a14:m>
                <a:r>
                  <a:rPr lang="en-GB" sz="2025" b="0">
                    <a:solidFill>
                      <a:srgbClr val="526276"/>
                    </a:solidFill>
                    <a:latin typeface="DejaVu Sans"/>
                  </a:rPr>
                  <a:t>.</a:t>
                </a:r>
                <a:endParaRPr lang="en-GB" sz="2025"/>
              </a:p>
              <a:p>
                <a:pPr algn="ctr">
                  <a:lnSpc>
                    <a:spcPts val="2550"/>
                  </a:lnSpc>
                </a:pPr>
                <a:r>
                  <a:rPr lang="en-GB" sz="2025" b="0">
                    <a:solidFill>
                      <a:srgbClr val="526276"/>
                    </a:solidFill>
                    <a:latin typeface="DejaVu Sans"/>
                  </a:rPr>
                  <a:t>For the first hidden layer, the previous </a:t>
                </a:r>
                <a14:m>
                  <m:oMath xmlns:m="http://schemas.openxmlformats.org/officeDocument/2006/math">
                    <m:sSub>
                      <m:sSubPr>
                        <m:ctrlPr>
                          <a:rPr lang="en-GB" sz="2025">
                            <a:solidFill>
                              <a:srgbClr val="526276"/>
                            </a:solidFill>
                            <a:latin typeface="Cambria Math"/>
                            <a:ea typeface="Cambria Math"/>
                            <a:cs typeface="Cambria Math"/>
                          </a:rPr>
                        </m:ctrlPr>
                      </m:sSubPr>
                      <m:e>
                        <m:r>
                          <a:rPr lang="en-GB" sz="2025">
                            <a:solidFill>
                              <a:srgbClr val="526276"/>
                            </a:solidFill>
                            <a:latin typeface="Cambria Math"/>
                            <a:ea typeface="Cambria Math"/>
                            <a:cs typeface="Cambria Math"/>
                          </a:rPr>
                          <m:t>𝜙</m:t>
                        </m:r>
                      </m:e>
                      <m:sub>
                        <m:r>
                          <a:rPr lang="en-GB" sz="2025">
                            <a:solidFill>
                              <a:srgbClr val="526276"/>
                            </a:solidFill>
                            <a:latin typeface="Cambria Math"/>
                            <a:ea typeface="Cambria Math"/>
                            <a:cs typeface="Cambria Math"/>
                          </a:rPr>
                          <m:t>𝑗</m:t>
                        </m:r>
                      </m:sub>
                    </m:sSub>
                  </m:oMath>
                </a14:m>
                <a:r>
                  <a:rPr lang="en-GB" sz="2025" b="0">
                    <a:solidFill>
                      <a:srgbClr val="526276"/>
                    </a:solidFill>
                    <a:latin typeface="DejaVu Sans"/>
                  </a:rPr>
                  <a:t> is now written </a:t>
                </a:r>
                <a14:m>
                  <m:oMath xmlns:m="http://schemas.openxmlformats.org/officeDocument/2006/math">
                    <m:sSub>
                      <m:sSubPr>
                        <m:ctrlPr>
                          <a:rPr lang="en-GB" sz="2025">
                            <a:solidFill>
                              <a:srgbClr val="526276"/>
                            </a:solidFill>
                            <a:latin typeface="Cambria Math"/>
                            <a:ea typeface="Cambria Math"/>
                            <a:cs typeface="Cambria Math"/>
                          </a:rPr>
                        </m:ctrlPr>
                      </m:sSubPr>
                      <m:e>
                        <m:r>
                          <a:rPr lang="en-GB" sz="2025">
                            <a:solidFill>
                              <a:srgbClr val="526276"/>
                            </a:solidFill>
                            <a:latin typeface="Cambria Math"/>
                            <a:ea typeface="Cambria Math"/>
                            <a:cs typeface="Cambria Math"/>
                          </a:rPr>
                          <m:t>𝜙</m:t>
                        </m:r>
                      </m:e>
                      <m:sub>
                        <m:r>
                          <a:rPr lang="en-GB" sz="2025">
                            <a:solidFill>
                              <a:srgbClr val="526276"/>
                            </a:solidFill>
                            <a:latin typeface="Cambria Math"/>
                            <a:ea typeface="Cambria Math"/>
                            <a:cs typeface="Cambria Math"/>
                          </a:rPr>
                          <m:t>1,</m:t>
                        </m:r>
                        <m:r>
                          <a:rPr lang="en-GB" sz="2025">
                            <a:solidFill>
                              <a:srgbClr val="526276"/>
                            </a:solidFill>
                            <a:latin typeface="Cambria Math"/>
                            <a:ea typeface="Cambria Math"/>
                            <a:cs typeface="Cambria Math"/>
                          </a:rPr>
                          <m:t>𝑗</m:t>
                        </m:r>
                      </m:sub>
                    </m:sSub>
                  </m:oMath>
                </a14:m>
                <a:r>
                  <a:rPr lang="en-GB" sz="2025" b="0">
                    <a:solidFill>
                      <a:srgbClr val="526276"/>
                    </a:solidFill>
                    <a:latin typeface="DejaVu Sans"/>
                  </a:rPr>
                  <a:t>.</a:t>
                </a:r>
                <a:endParaRPr lang="en-GB" sz="2025"/>
              </a:p>
            </p:txBody>
          </p:sp>
        </mc:Choice>
        <mc:Fallback xmlns="">
          <p:sp>
            <p:nvSpPr>
              <p:cNvPr id="4" name="lead">
                <a:extLst>
                  <a:ext uri="{FF2B5EF4-FFF2-40B4-BE49-F238E27FC236}">
                    <a16:creationId xmlns:a16="http://schemas.microsoft.com/office/drawing/2014/main" id="{6655FCC5-8B8B-40CF-8429-8317F0E429D7}"/>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t="-2344" b="-7813"/>
                </a:stretch>
              </a:blipFill>
              <a:ln w="0">
                <a:noFill/>
              </a:ln>
            </p:spPr>
            <p:txBody>
              <a:bodyPr/>
              <a:lstStyle/>
              <a:p>
                <a:r>
                  <a:rPr lang="it-IT">
                    <a:noFill/>
                  </a:rPr>
                  <a:t> </a:t>
                </a:r>
              </a:p>
            </p:txBody>
          </p:sp>
        </mc:Fallback>
      </mc:AlternateContent>
      <p:sp>
        <p:nvSpPr>
          <p:cNvPr id="5" name="net_1_0_0">
            <a:extLst>
              <a:ext uri="{FF2B5EF4-FFF2-40B4-BE49-F238E27FC236}">
                <a16:creationId xmlns:a16="http://schemas.microsoft.com/office/drawing/2014/main" id="{C4B03717-0E17-4B36-84D0-5D2122520C69}"/>
              </a:ext>
            </a:extLst>
          </p:cNvPr>
          <p:cNvSpPr>
            <a:spLocks noGrp="1"/>
          </p:cNvSpPr>
          <p:nvPr/>
        </p:nvSpPr>
        <p:spPr>
          <a:xfrm>
            <a:off x="1552575" y="2038350"/>
            <a:ext cx="2800350" cy="953"/>
          </a:xfrm>
          <a:prstGeom prst="line">
            <a:avLst/>
          </a:prstGeom>
          <a:noFill/>
          <a:ln w="12383">
            <a:solidFill>
              <a:srgbClr val="B6C2CD"/>
            </a:solidFill>
          </a:ln>
        </p:spPr>
        <p:txBody>
          <a:bodyPr/>
          <a:lstStyle/>
          <a:p>
            <a:endParaRPr lang="it-IT"/>
          </a:p>
        </p:txBody>
      </p:sp>
      <p:sp>
        <p:nvSpPr>
          <p:cNvPr id="6" name="net_1_1_0">
            <a:extLst>
              <a:ext uri="{FF2B5EF4-FFF2-40B4-BE49-F238E27FC236}">
                <a16:creationId xmlns:a16="http://schemas.microsoft.com/office/drawing/2014/main" id="{C95AEF34-0A2D-4384-B31A-65E1E878D806}"/>
              </a:ext>
            </a:extLst>
          </p:cNvPr>
          <p:cNvSpPr>
            <a:spLocks noGrp="1"/>
          </p:cNvSpPr>
          <p:nvPr/>
        </p:nvSpPr>
        <p:spPr>
          <a:xfrm flipV="1">
            <a:off x="1552575" y="2038350"/>
            <a:ext cx="2800350" cy="1714500"/>
          </a:xfrm>
          <a:prstGeom prst="line">
            <a:avLst/>
          </a:prstGeom>
          <a:noFill/>
          <a:ln w="12383">
            <a:solidFill>
              <a:srgbClr val="B6C2CD"/>
            </a:solidFill>
          </a:ln>
        </p:spPr>
        <p:txBody>
          <a:bodyPr/>
          <a:lstStyle/>
          <a:p>
            <a:endParaRPr lang="it-IT"/>
          </a:p>
        </p:txBody>
      </p:sp>
      <p:sp>
        <p:nvSpPr>
          <p:cNvPr id="7" name="net_1_0_1">
            <a:extLst>
              <a:ext uri="{FF2B5EF4-FFF2-40B4-BE49-F238E27FC236}">
                <a16:creationId xmlns:a16="http://schemas.microsoft.com/office/drawing/2014/main" id="{5E29AEF6-477B-45E6-AEBB-4CD20A673400}"/>
              </a:ext>
            </a:extLst>
          </p:cNvPr>
          <p:cNvSpPr>
            <a:spLocks noGrp="1"/>
          </p:cNvSpPr>
          <p:nvPr/>
        </p:nvSpPr>
        <p:spPr>
          <a:xfrm>
            <a:off x="1552575" y="2038350"/>
            <a:ext cx="2800350" cy="428625"/>
          </a:xfrm>
          <a:prstGeom prst="line">
            <a:avLst/>
          </a:prstGeom>
          <a:noFill/>
          <a:ln w="12383">
            <a:solidFill>
              <a:srgbClr val="B6C2CD"/>
            </a:solidFill>
          </a:ln>
        </p:spPr>
        <p:txBody>
          <a:bodyPr/>
          <a:lstStyle/>
          <a:p>
            <a:endParaRPr lang="it-IT"/>
          </a:p>
        </p:txBody>
      </p:sp>
      <p:sp>
        <p:nvSpPr>
          <p:cNvPr id="8" name="net_1_1_1">
            <a:extLst>
              <a:ext uri="{FF2B5EF4-FFF2-40B4-BE49-F238E27FC236}">
                <a16:creationId xmlns:a16="http://schemas.microsoft.com/office/drawing/2014/main" id="{C1A3424E-13EA-4893-914D-8699C3263678}"/>
              </a:ext>
            </a:extLst>
          </p:cNvPr>
          <p:cNvSpPr>
            <a:spLocks noGrp="1"/>
          </p:cNvSpPr>
          <p:nvPr/>
        </p:nvSpPr>
        <p:spPr>
          <a:xfrm flipV="1">
            <a:off x="1552575" y="2466975"/>
            <a:ext cx="2800350" cy="1285875"/>
          </a:xfrm>
          <a:prstGeom prst="line">
            <a:avLst/>
          </a:prstGeom>
          <a:noFill/>
          <a:ln w="12383">
            <a:solidFill>
              <a:srgbClr val="B6C2CD"/>
            </a:solidFill>
          </a:ln>
        </p:spPr>
        <p:txBody>
          <a:bodyPr/>
          <a:lstStyle/>
          <a:p>
            <a:endParaRPr lang="it-IT"/>
          </a:p>
        </p:txBody>
      </p:sp>
      <p:sp>
        <p:nvSpPr>
          <p:cNvPr id="9" name="net_1_0_2">
            <a:extLst>
              <a:ext uri="{FF2B5EF4-FFF2-40B4-BE49-F238E27FC236}">
                <a16:creationId xmlns:a16="http://schemas.microsoft.com/office/drawing/2014/main" id="{AD3D70FD-E919-420D-91C0-6C47D2C9D6EE}"/>
              </a:ext>
            </a:extLst>
          </p:cNvPr>
          <p:cNvSpPr>
            <a:spLocks noGrp="1"/>
          </p:cNvSpPr>
          <p:nvPr/>
        </p:nvSpPr>
        <p:spPr>
          <a:xfrm>
            <a:off x="1552575" y="2038350"/>
            <a:ext cx="2800350" cy="857250"/>
          </a:xfrm>
          <a:prstGeom prst="line">
            <a:avLst/>
          </a:prstGeom>
          <a:noFill/>
          <a:ln w="12383">
            <a:solidFill>
              <a:srgbClr val="B6C2CD"/>
            </a:solidFill>
          </a:ln>
        </p:spPr>
        <p:txBody>
          <a:bodyPr/>
          <a:lstStyle/>
          <a:p>
            <a:endParaRPr lang="it-IT"/>
          </a:p>
        </p:txBody>
      </p:sp>
      <p:sp>
        <p:nvSpPr>
          <p:cNvPr id="10" name="net_1_1_2">
            <a:extLst>
              <a:ext uri="{FF2B5EF4-FFF2-40B4-BE49-F238E27FC236}">
                <a16:creationId xmlns:a16="http://schemas.microsoft.com/office/drawing/2014/main" id="{EA0C0B3E-980C-459A-9F7C-BDCC03F2E7D6}"/>
              </a:ext>
            </a:extLst>
          </p:cNvPr>
          <p:cNvSpPr>
            <a:spLocks noGrp="1"/>
          </p:cNvSpPr>
          <p:nvPr/>
        </p:nvSpPr>
        <p:spPr>
          <a:xfrm flipV="1">
            <a:off x="1552575" y="2895600"/>
            <a:ext cx="2800350" cy="857250"/>
          </a:xfrm>
          <a:prstGeom prst="line">
            <a:avLst/>
          </a:prstGeom>
          <a:noFill/>
          <a:ln w="12383">
            <a:solidFill>
              <a:srgbClr val="B6C2CD"/>
            </a:solidFill>
          </a:ln>
        </p:spPr>
        <p:txBody>
          <a:bodyPr/>
          <a:lstStyle/>
          <a:p>
            <a:endParaRPr lang="it-IT"/>
          </a:p>
        </p:txBody>
      </p:sp>
      <p:sp>
        <p:nvSpPr>
          <p:cNvPr id="11" name="net_1_0_3">
            <a:extLst>
              <a:ext uri="{FF2B5EF4-FFF2-40B4-BE49-F238E27FC236}">
                <a16:creationId xmlns:a16="http://schemas.microsoft.com/office/drawing/2014/main" id="{A1C192ED-F59B-4D16-903C-2199B2A4AADE}"/>
              </a:ext>
            </a:extLst>
          </p:cNvPr>
          <p:cNvSpPr>
            <a:spLocks noGrp="1"/>
          </p:cNvSpPr>
          <p:nvPr/>
        </p:nvSpPr>
        <p:spPr>
          <a:xfrm>
            <a:off x="1552575" y="2038350"/>
            <a:ext cx="2800350" cy="1285875"/>
          </a:xfrm>
          <a:prstGeom prst="line">
            <a:avLst/>
          </a:prstGeom>
          <a:noFill/>
          <a:ln w="12383">
            <a:solidFill>
              <a:srgbClr val="B6C2CD"/>
            </a:solidFill>
          </a:ln>
        </p:spPr>
        <p:txBody>
          <a:bodyPr/>
          <a:lstStyle/>
          <a:p>
            <a:endParaRPr lang="it-IT"/>
          </a:p>
        </p:txBody>
      </p:sp>
      <p:sp>
        <p:nvSpPr>
          <p:cNvPr id="12" name="net_1_1_3">
            <a:extLst>
              <a:ext uri="{FF2B5EF4-FFF2-40B4-BE49-F238E27FC236}">
                <a16:creationId xmlns:a16="http://schemas.microsoft.com/office/drawing/2014/main" id="{B4951CB6-290F-4852-9EC6-B19D14E80D91}"/>
              </a:ext>
            </a:extLst>
          </p:cNvPr>
          <p:cNvSpPr>
            <a:spLocks noGrp="1"/>
          </p:cNvSpPr>
          <p:nvPr/>
        </p:nvSpPr>
        <p:spPr>
          <a:xfrm flipV="1">
            <a:off x="1552575" y="3324225"/>
            <a:ext cx="2800350" cy="428625"/>
          </a:xfrm>
          <a:prstGeom prst="line">
            <a:avLst/>
          </a:prstGeom>
          <a:noFill/>
          <a:ln w="12383">
            <a:solidFill>
              <a:srgbClr val="B6C2CD"/>
            </a:solidFill>
          </a:ln>
        </p:spPr>
        <p:txBody>
          <a:bodyPr/>
          <a:lstStyle/>
          <a:p>
            <a:endParaRPr lang="it-IT"/>
          </a:p>
        </p:txBody>
      </p:sp>
      <p:sp>
        <p:nvSpPr>
          <p:cNvPr id="13" name="net_1_0_4">
            <a:extLst>
              <a:ext uri="{FF2B5EF4-FFF2-40B4-BE49-F238E27FC236}">
                <a16:creationId xmlns:a16="http://schemas.microsoft.com/office/drawing/2014/main" id="{2D8AA240-7F4F-49D2-BED7-FC9D7E5FE3A7}"/>
              </a:ext>
            </a:extLst>
          </p:cNvPr>
          <p:cNvSpPr>
            <a:spLocks noGrp="1"/>
          </p:cNvSpPr>
          <p:nvPr/>
        </p:nvSpPr>
        <p:spPr>
          <a:xfrm>
            <a:off x="1552575" y="2038350"/>
            <a:ext cx="2800350" cy="1714500"/>
          </a:xfrm>
          <a:prstGeom prst="line">
            <a:avLst/>
          </a:prstGeom>
          <a:noFill/>
          <a:ln w="12383">
            <a:solidFill>
              <a:srgbClr val="B6C2CD"/>
            </a:solidFill>
          </a:ln>
        </p:spPr>
        <p:txBody>
          <a:bodyPr/>
          <a:lstStyle/>
          <a:p>
            <a:endParaRPr lang="it-IT"/>
          </a:p>
        </p:txBody>
      </p:sp>
      <p:sp>
        <p:nvSpPr>
          <p:cNvPr id="14" name="net_1_1_4">
            <a:extLst>
              <a:ext uri="{FF2B5EF4-FFF2-40B4-BE49-F238E27FC236}">
                <a16:creationId xmlns:a16="http://schemas.microsoft.com/office/drawing/2014/main" id="{3099F28E-07C1-4306-9CE5-7EFEA28038AC}"/>
              </a:ext>
            </a:extLst>
          </p:cNvPr>
          <p:cNvSpPr>
            <a:spLocks noGrp="1"/>
          </p:cNvSpPr>
          <p:nvPr/>
        </p:nvSpPr>
        <p:spPr>
          <a:xfrm>
            <a:off x="1552575" y="3752850"/>
            <a:ext cx="2800350" cy="953"/>
          </a:xfrm>
          <a:prstGeom prst="line">
            <a:avLst/>
          </a:prstGeom>
          <a:noFill/>
          <a:ln w="12383">
            <a:solidFill>
              <a:srgbClr val="B6C2CD"/>
            </a:solidFill>
          </a:ln>
        </p:spPr>
        <p:txBody>
          <a:bodyPr/>
          <a:lstStyle/>
          <a:p>
            <a:endParaRPr lang="it-IT"/>
          </a:p>
        </p:txBody>
      </p:sp>
      <p:sp>
        <p:nvSpPr>
          <p:cNvPr id="15" name="net_2_0_0">
            <a:extLst>
              <a:ext uri="{FF2B5EF4-FFF2-40B4-BE49-F238E27FC236}">
                <a16:creationId xmlns:a16="http://schemas.microsoft.com/office/drawing/2014/main" id="{3BCEF516-6359-40A7-A996-81D12CF86051}"/>
              </a:ext>
            </a:extLst>
          </p:cNvPr>
          <p:cNvSpPr>
            <a:spLocks noGrp="1"/>
          </p:cNvSpPr>
          <p:nvPr/>
        </p:nvSpPr>
        <p:spPr>
          <a:xfrm>
            <a:off x="4600575" y="2038350"/>
            <a:ext cx="2800350" cy="953"/>
          </a:xfrm>
          <a:prstGeom prst="line">
            <a:avLst/>
          </a:prstGeom>
          <a:noFill/>
          <a:ln w="12383">
            <a:solidFill>
              <a:srgbClr val="B6C2CD"/>
            </a:solidFill>
          </a:ln>
        </p:spPr>
        <p:txBody>
          <a:bodyPr/>
          <a:lstStyle/>
          <a:p>
            <a:endParaRPr lang="it-IT"/>
          </a:p>
        </p:txBody>
      </p:sp>
      <p:sp>
        <p:nvSpPr>
          <p:cNvPr id="16" name="net_2_1_0">
            <a:extLst>
              <a:ext uri="{FF2B5EF4-FFF2-40B4-BE49-F238E27FC236}">
                <a16:creationId xmlns:a16="http://schemas.microsoft.com/office/drawing/2014/main" id="{461F857D-28FD-444C-A32A-A391129E4EBB}"/>
              </a:ext>
            </a:extLst>
          </p:cNvPr>
          <p:cNvSpPr>
            <a:spLocks noGrp="1"/>
          </p:cNvSpPr>
          <p:nvPr/>
        </p:nvSpPr>
        <p:spPr>
          <a:xfrm flipV="1">
            <a:off x="4600575" y="2038350"/>
            <a:ext cx="2800350" cy="428625"/>
          </a:xfrm>
          <a:prstGeom prst="line">
            <a:avLst/>
          </a:prstGeom>
          <a:noFill/>
          <a:ln w="12383">
            <a:solidFill>
              <a:srgbClr val="B6C2CD"/>
            </a:solidFill>
          </a:ln>
        </p:spPr>
        <p:txBody>
          <a:bodyPr/>
          <a:lstStyle/>
          <a:p>
            <a:endParaRPr lang="it-IT"/>
          </a:p>
        </p:txBody>
      </p:sp>
      <p:sp>
        <p:nvSpPr>
          <p:cNvPr id="17" name="net_2_2_0">
            <a:extLst>
              <a:ext uri="{FF2B5EF4-FFF2-40B4-BE49-F238E27FC236}">
                <a16:creationId xmlns:a16="http://schemas.microsoft.com/office/drawing/2014/main" id="{DF1E16A3-FA6C-4F4D-AB34-B5BD3B37D689}"/>
              </a:ext>
            </a:extLst>
          </p:cNvPr>
          <p:cNvSpPr>
            <a:spLocks noGrp="1"/>
          </p:cNvSpPr>
          <p:nvPr/>
        </p:nvSpPr>
        <p:spPr>
          <a:xfrm flipV="1">
            <a:off x="4600575" y="2038350"/>
            <a:ext cx="2800350" cy="857250"/>
          </a:xfrm>
          <a:prstGeom prst="line">
            <a:avLst/>
          </a:prstGeom>
          <a:noFill/>
          <a:ln w="12383">
            <a:solidFill>
              <a:srgbClr val="B6C2CD"/>
            </a:solidFill>
          </a:ln>
        </p:spPr>
        <p:txBody>
          <a:bodyPr/>
          <a:lstStyle/>
          <a:p>
            <a:endParaRPr lang="it-IT"/>
          </a:p>
        </p:txBody>
      </p:sp>
      <p:sp>
        <p:nvSpPr>
          <p:cNvPr id="18" name="net_2_3_0">
            <a:extLst>
              <a:ext uri="{FF2B5EF4-FFF2-40B4-BE49-F238E27FC236}">
                <a16:creationId xmlns:a16="http://schemas.microsoft.com/office/drawing/2014/main" id="{B40C532D-95E6-4781-A2F0-15CC3EAFCB7C}"/>
              </a:ext>
            </a:extLst>
          </p:cNvPr>
          <p:cNvSpPr>
            <a:spLocks noGrp="1"/>
          </p:cNvSpPr>
          <p:nvPr/>
        </p:nvSpPr>
        <p:spPr>
          <a:xfrm flipV="1">
            <a:off x="4600575" y="2038350"/>
            <a:ext cx="2800350" cy="1285875"/>
          </a:xfrm>
          <a:prstGeom prst="line">
            <a:avLst/>
          </a:prstGeom>
          <a:noFill/>
          <a:ln w="12383">
            <a:solidFill>
              <a:srgbClr val="B6C2CD"/>
            </a:solidFill>
          </a:ln>
        </p:spPr>
        <p:txBody>
          <a:bodyPr/>
          <a:lstStyle/>
          <a:p>
            <a:endParaRPr lang="it-IT"/>
          </a:p>
        </p:txBody>
      </p:sp>
      <p:sp>
        <p:nvSpPr>
          <p:cNvPr id="19" name="net_2_4_0">
            <a:extLst>
              <a:ext uri="{FF2B5EF4-FFF2-40B4-BE49-F238E27FC236}">
                <a16:creationId xmlns:a16="http://schemas.microsoft.com/office/drawing/2014/main" id="{833A9173-30C0-47F5-BF16-10DBB20E2084}"/>
              </a:ext>
            </a:extLst>
          </p:cNvPr>
          <p:cNvSpPr>
            <a:spLocks noGrp="1"/>
          </p:cNvSpPr>
          <p:nvPr/>
        </p:nvSpPr>
        <p:spPr>
          <a:xfrm flipV="1">
            <a:off x="4600575" y="2038350"/>
            <a:ext cx="2800350" cy="1714500"/>
          </a:xfrm>
          <a:prstGeom prst="line">
            <a:avLst/>
          </a:prstGeom>
          <a:noFill/>
          <a:ln w="12383">
            <a:solidFill>
              <a:srgbClr val="B6C2CD"/>
            </a:solidFill>
          </a:ln>
        </p:spPr>
        <p:txBody>
          <a:bodyPr/>
          <a:lstStyle/>
          <a:p>
            <a:endParaRPr lang="it-IT"/>
          </a:p>
        </p:txBody>
      </p:sp>
      <p:sp>
        <p:nvSpPr>
          <p:cNvPr id="20" name="net_2_0_1">
            <a:extLst>
              <a:ext uri="{FF2B5EF4-FFF2-40B4-BE49-F238E27FC236}">
                <a16:creationId xmlns:a16="http://schemas.microsoft.com/office/drawing/2014/main" id="{3C44ED2D-CF28-43D4-B166-E4290013E8B0}"/>
              </a:ext>
            </a:extLst>
          </p:cNvPr>
          <p:cNvSpPr>
            <a:spLocks noGrp="1"/>
          </p:cNvSpPr>
          <p:nvPr/>
        </p:nvSpPr>
        <p:spPr>
          <a:xfrm>
            <a:off x="4600575" y="2038350"/>
            <a:ext cx="2800350" cy="285750"/>
          </a:xfrm>
          <a:prstGeom prst="line">
            <a:avLst/>
          </a:prstGeom>
          <a:noFill/>
          <a:ln w="12383">
            <a:solidFill>
              <a:srgbClr val="B6C2CD"/>
            </a:solidFill>
          </a:ln>
        </p:spPr>
        <p:txBody>
          <a:bodyPr/>
          <a:lstStyle/>
          <a:p>
            <a:endParaRPr lang="it-IT"/>
          </a:p>
        </p:txBody>
      </p:sp>
      <p:sp>
        <p:nvSpPr>
          <p:cNvPr id="21" name="net_2_1_1">
            <a:extLst>
              <a:ext uri="{FF2B5EF4-FFF2-40B4-BE49-F238E27FC236}">
                <a16:creationId xmlns:a16="http://schemas.microsoft.com/office/drawing/2014/main" id="{77C2801F-FA2A-4746-9F87-02973070F041}"/>
              </a:ext>
            </a:extLst>
          </p:cNvPr>
          <p:cNvSpPr>
            <a:spLocks noGrp="1"/>
          </p:cNvSpPr>
          <p:nvPr/>
        </p:nvSpPr>
        <p:spPr>
          <a:xfrm flipV="1">
            <a:off x="4600575" y="2324100"/>
            <a:ext cx="2800350" cy="142875"/>
          </a:xfrm>
          <a:prstGeom prst="line">
            <a:avLst/>
          </a:prstGeom>
          <a:noFill/>
          <a:ln w="12383">
            <a:solidFill>
              <a:srgbClr val="B6C2CD"/>
            </a:solidFill>
          </a:ln>
        </p:spPr>
        <p:txBody>
          <a:bodyPr/>
          <a:lstStyle/>
          <a:p>
            <a:endParaRPr lang="it-IT"/>
          </a:p>
        </p:txBody>
      </p:sp>
      <p:sp>
        <p:nvSpPr>
          <p:cNvPr id="22" name="net_2_2_1">
            <a:extLst>
              <a:ext uri="{FF2B5EF4-FFF2-40B4-BE49-F238E27FC236}">
                <a16:creationId xmlns:a16="http://schemas.microsoft.com/office/drawing/2014/main" id="{6B0E83B7-6CE9-46C4-8E5D-484BE303C3A8}"/>
              </a:ext>
            </a:extLst>
          </p:cNvPr>
          <p:cNvSpPr>
            <a:spLocks noGrp="1"/>
          </p:cNvSpPr>
          <p:nvPr/>
        </p:nvSpPr>
        <p:spPr>
          <a:xfrm flipV="1">
            <a:off x="4600575" y="2324100"/>
            <a:ext cx="2800350" cy="571500"/>
          </a:xfrm>
          <a:prstGeom prst="line">
            <a:avLst/>
          </a:prstGeom>
          <a:noFill/>
          <a:ln w="12383">
            <a:solidFill>
              <a:srgbClr val="B6C2CD"/>
            </a:solidFill>
          </a:ln>
        </p:spPr>
        <p:txBody>
          <a:bodyPr/>
          <a:lstStyle/>
          <a:p>
            <a:endParaRPr lang="it-IT"/>
          </a:p>
        </p:txBody>
      </p:sp>
      <p:sp>
        <p:nvSpPr>
          <p:cNvPr id="23" name="net_2_3_1">
            <a:extLst>
              <a:ext uri="{FF2B5EF4-FFF2-40B4-BE49-F238E27FC236}">
                <a16:creationId xmlns:a16="http://schemas.microsoft.com/office/drawing/2014/main" id="{8674F2AF-F883-4659-AE31-D91AB163FD47}"/>
              </a:ext>
            </a:extLst>
          </p:cNvPr>
          <p:cNvSpPr>
            <a:spLocks noGrp="1"/>
          </p:cNvSpPr>
          <p:nvPr/>
        </p:nvSpPr>
        <p:spPr>
          <a:xfrm flipV="1">
            <a:off x="4600575" y="2324100"/>
            <a:ext cx="2800350" cy="1000125"/>
          </a:xfrm>
          <a:prstGeom prst="line">
            <a:avLst/>
          </a:prstGeom>
          <a:noFill/>
          <a:ln w="12383">
            <a:solidFill>
              <a:srgbClr val="B6C2CD"/>
            </a:solidFill>
          </a:ln>
        </p:spPr>
        <p:txBody>
          <a:bodyPr/>
          <a:lstStyle/>
          <a:p>
            <a:endParaRPr lang="it-IT"/>
          </a:p>
        </p:txBody>
      </p:sp>
      <p:sp>
        <p:nvSpPr>
          <p:cNvPr id="24" name="net_2_4_1">
            <a:extLst>
              <a:ext uri="{FF2B5EF4-FFF2-40B4-BE49-F238E27FC236}">
                <a16:creationId xmlns:a16="http://schemas.microsoft.com/office/drawing/2014/main" id="{7369B38C-6767-4F19-AC19-605702490385}"/>
              </a:ext>
            </a:extLst>
          </p:cNvPr>
          <p:cNvSpPr>
            <a:spLocks noGrp="1"/>
          </p:cNvSpPr>
          <p:nvPr/>
        </p:nvSpPr>
        <p:spPr>
          <a:xfrm flipV="1">
            <a:off x="4600575" y="2324100"/>
            <a:ext cx="2800350" cy="1428750"/>
          </a:xfrm>
          <a:prstGeom prst="line">
            <a:avLst/>
          </a:prstGeom>
          <a:noFill/>
          <a:ln w="12383">
            <a:solidFill>
              <a:srgbClr val="B6C2CD"/>
            </a:solidFill>
          </a:ln>
        </p:spPr>
        <p:txBody>
          <a:bodyPr/>
          <a:lstStyle/>
          <a:p>
            <a:endParaRPr lang="it-IT"/>
          </a:p>
        </p:txBody>
      </p:sp>
      <p:sp>
        <p:nvSpPr>
          <p:cNvPr id="25" name="net_2_0_2">
            <a:extLst>
              <a:ext uri="{FF2B5EF4-FFF2-40B4-BE49-F238E27FC236}">
                <a16:creationId xmlns:a16="http://schemas.microsoft.com/office/drawing/2014/main" id="{5B004CE8-63D3-4F90-941E-72C0A849C37A}"/>
              </a:ext>
            </a:extLst>
          </p:cNvPr>
          <p:cNvSpPr>
            <a:spLocks noGrp="1"/>
          </p:cNvSpPr>
          <p:nvPr/>
        </p:nvSpPr>
        <p:spPr>
          <a:xfrm>
            <a:off x="4600575" y="2038350"/>
            <a:ext cx="2800350" cy="571500"/>
          </a:xfrm>
          <a:prstGeom prst="line">
            <a:avLst/>
          </a:prstGeom>
          <a:noFill/>
          <a:ln w="12383">
            <a:solidFill>
              <a:srgbClr val="B6C2CD"/>
            </a:solidFill>
          </a:ln>
        </p:spPr>
        <p:txBody>
          <a:bodyPr/>
          <a:lstStyle/>
          <a:p>
            <a:endParaRPr lang="it-IT"/>
          </a:p>
        </p:txBody>
      </p:sp>
      <p:sp>
        <p:nvSpPr>
          <p:cNvPr id="26" name="net_2_1_2">
            <a:extLst>
              <a:ext uri="{FF2B5EF4-FFF2-40B4-BE49-F238E27FC236}">
                <a16:creationId xmlns:a16="http://schemas.microsoft.com/office/drawing/2014/main" id="{054286C8-21DD-4084-BD74-C8FB0F32E0C5}"/>
              </a:ext>
            </a:extLst>
          </p:cNvPr>
          <p:cNvSpPr>
            <a:spLocks noGrp="1"/>
          </p:cNvSpPr>
          <p:nvPr/>
        </p:nvSpPr>
        <p:spPr>
          <a:xfrm>
            <a:off x="4600575" y="2466975"/>
            <a:ext cx="2800350" cy="142875"/>
          </a:xfrm>
          <a:prstGeom prst="line">
            <a:avLst/>
          </a:prstGeom>
          <a:noFill/>
          <a:ln w="12383">
            <a:solidFill>
              <a:srgbClr val="B6C2CD"/>
            </a:solidFill>
          </a:ln>
        </p:spPr>
        <p:txBody>
          <a:bodyPr/>
          <a:lstStyle/>
          <a:p>
            <a:endParaRPr lang="it-IT"/>
          </a:p>
        </p:txBody>
      </p:sp>
      <p:sp>
        <p:nvSpPr>
          <p:cNvPr id="27" name="net_2_2_2">
            <a:extLst>
              <a:ext uri="{FF2B5EF4-FFF2-40B4-BE49-F238E27FC236}">
                <a16:creationId xmlns:a16="http://schemas.microsoft.com/office/drawing/2014/main" id="{BD697722-1161-4E6A-AC17-7EC26D6512F4}"/>
              </a:ext>
            </a:extLst>
          </p:cNvPr>
          <p:cNvSpPr>
            <a:spLocks noGrp="1"/>
          </p:cNvSpPr>
          <p:nvPr/>
        </p:nvSpPr>
        <p:spPr>
          <a:xfrm flipV="1">
            <a:off x="4600575" y="2609850"/>
            <a:ext cx="2800350" cy="285750"/>
          </a:xfrm>
          <a:prstGeom prst="line">
            <a:avLst/>
          </a:prstGeom>
          <a:noFill/>
          <a:ln w="12383">
            <a:solidFill>
              <a:srgbClr val="B6C2CD"/>
            </a:solidFill>
          </a:ln>
        </p:spPr>
        <p:txBody>
          <a:bodyPr/>
          <a:lstStyle/>
          <a:p>
            <a:endParaRPr lang="it-IT"/>
          </a:p>
        </p:txBody>
      </p:sp>
      <p:sp>
        <p:nvSpPr>
          <p:cNvPr id="28" name="net_2_3_2">
            <a:extLst>
              <a:ext uri="{FF2B5EF4-FFF2-40B4-BE49-F238E27FC236}">
                <a16:creationId xmlns:a16="http://schemas.microsoft.com/office/drawing/2014/main" id="{002D3E1A-3548-49D7-808E-A905919C52B5}"/>
              </a:ext>
            </a:extLst>
          </p:cNvPr>
          <p:cNvSpPr>
            <a:spLocks noGrp="1"/>
          </p:cNvSpPr>
          <p:nvPr/>
        </p:nvSpPr>
        <p:spPr>
          <a:xfrm flipV="1">
            <a:off x="4600575" y="2609850"/>
            <a:ext cx="2800350" cy="714375"/>
          </a:xfrm>
          <a:prstGeom prst="line">
            <a:avLst/>
          </a:prstGeom>
          <a:noFill/>
          <a:ln w="12383">
            <a:solidFill>
              <a:srgbClr val="B6C2CD"/>
            </a:solidFill>
          </a:ln>
        </p:spPr>
        <p:txBody>
          <a:bodyPr/>
          <a:lstStyle/>
          <a:p>
            <a:endParaRPr lang="it-IT"/>
          </a:p>
        </p:txBody>
      </p:sp>
      <p:sp>
        <p:nvSpPr>
          <p:cNvPr id="29" name="net_2_4_2">
            <a:extLst>
              <a:ext uri="{FF2B5EF4-FFF2-40B4-BE49-F238E27FC236}">
                <a16:creationId xmlns:a16="http://schemas.microsoft.com/office/drawing/2014/main" id="{9196F2DD-6003-44CC-AC67-31E0B8A72F13}"/>
              </a:ext>
            </a:extLst>
          </p:cNvPr>
          <p:cNvSpPr>
            <a:spLocks noGrp="1"/>
          </p:cNvSpPr>
          <p:nvPr/>
        </p:nvSpPr>
        <p:spPr>
          <a:xfrm flipV="1">
            <a:off x="4600575" y="2609850"/>
            <a:ext cx="2800350" cy="1143000"/>
          </a:xfrm>
          <a:prstGeom prst="line">
            <a:avLst/>
          </a:prstGeom>
          <a:noFill/>
          <a:ln w="12383">
            <a:solidFill>
              <a:srgbClr val="B6C2CD"/>
            </a:solidFill>
          </a:ln>
        </p:spPr>
        <p:txBody>
          <a:bodyPr/>
          <a:lstStyle/>
          <a:p>
            <a:endParaRPr lang="it-IT"/>
          </a:p>
        </p:txBody>
      </p:sp>
      <p:sp>
        <p:nvSpPr>
          <p:cNvPr id="30" name="net_2_0_3">
            <a:extLst>
              <a:ext uri="{FF2B5EF4-FFF2-40B4-BE49-F238E27FC236}">
                <a16:creationId xmlns:a16="http://schemas.microsoft.com/office/drawing/2014/main" id="{F8D3F177-CC44-49F8-8B45-1102BF445E49}"/>
              </a:ext>
            </a:extLst>
          </p:cNvPr>
          <p:cNvSpPr>
            <a:spLocks noGrp="1"/>
          </p:cNvSpPr>
          <p:nvPr/>
        </p:nvSpPr>
        <p:spPr>
          <a:xfrm>
            <a:off x="4600575" y="2038350"/>
            <a:ext cx="2800350" cy="857250"/>
          </a:xfrm>
          <a:prstGeom prst="line">
            <a:avLst/>
          </a:prstGeom>
          <a:noFill/>
          <a:ln w="12383">
            <a:solidFill>
              <a:srgbClr val="B6C2CD"/>
            </a:solidFill>
          </a:ln>
        </p:spPr>
        <p:txBody>
          <a:bodyPr/>
          <a:lstStyle/>
          <a:p>
            <a:endParaRPr lang="it-IT"/>
          </a:p>
        </p:txBody>
      </p:sp>
      <p:sp>
        <p:nvSpPr>
          <p:cNvPr id="31" name="net_2_1_3">
            <a:extLst>
              <a:ext uri="{FF2B5EF4-FFF2-40B4-BE49-F238E27FC236}">
                <a16:creationId xmlns:a16="http://schemas.microsoft.com/office/drawing/2014/main" id="{AD2D1365-6BD8-4ACB-9707-B9B0670878BA}"/>
              </a:ext>
            </a:extLst>
          </p:cNvPr>
          <p:cNvSpPr>
            <a:spLocks noGrp="1"/>
          </p:cNvSpPr>
          <p:nvPr/>
        </p:nvSpPr>
        <p:spPr>
          <a:xfrm>
            <a:off x="4600575" y="2466975"/>
            <a:ext cx="2800350" cy="428625"/>
          </a:xfrm>
          <a:prstGeom prst="line">
            <a:avLst/>
          </a:prstGeom>
          <a:noFill/>
          <a:ln w="12383">
            <a:solidFill>
              <a:srgbClr val="B6C2CD"/>
            </a:solidFill>
          </a:ln>
        </p:spPr>
        <p:txBody>
          <a:bodyPr/>
          <a:lstStyle/>
          <a:p>
            <a:endParaRPr lang="it-IT"/>
          </a:p>
        </p:txBody>
      </p:sp>
      <p:sp>
        <p:nvSpPr>
          <p:cNvPr id="32" name="net_2_2_3">
            <a:extLst>
              <a:ext uri="{FF2B5EF4-FFF2-40B4-BE49-F238E27FC236}">
                <a16:creationId xmlns:a16="http://schemas.microsoft.com/office/drawing/2014/main" id="{59FFEEB3-48F2-446F-8476-63F87939D44B}"/>
              </a:ext>
            </a:extLst>
          </p:cNvPr>
          <p:cNvSpPr>
            <a:spLocks noGrp="1"/>
          </p:cNvSpPr>
          <p:nvPr/>
        </p:nvSpPr>
        <p:spPr>
          <a:xfrm>
            <a:off x="4600575" y="2895600"/>
            <a:ext cx="2800350" cy="953"/>
          </a:xfrm>
          <a:prstGeom prst="line">
            <a:avLst/>
          </a:prstGeom>
          <a:noFill/>
          <a:ln w="12383">
            <a:solidFill>
              <a:srgbClr val="B6C2CD"/>
            </a:solidFill>
          </a:ln>
        </p:spPr>
        <p:txBody>
          <a:bodyPr/>
          <a:lstStyle/>
          <a:p>
            <a:endParaRPr lang="it-IT"/>
          </a:p>
        </p:txBody>
      </p:sp>
      <p:sp>
        <p:nvSpPr>
          <p:cNvPr id="33" name="net_2_3_3">
            <a:extLst>
              <a:ext uri="{FF2B5EF4-FFF2-40B4-BE49-F238E27FC236}">
                <a16:creationId xmlns:a16="http://schemas.microsoft.com/office/drawing/2014/main" id="{24D52523-72D1-4F03-A780-27E5B0352084}"/>
              </a:ext>
            </a:extLst>
          </p:cNvPr>
          <p:cNvSpPr>
            <a:spLocks noGrp="1"/>
          </p:cNvSpPr>
          <p:nvPr/>
        </p:nvSpPr>
        <p:spPr>
          <a:xfrm flipV="1">
            <a:off x="4600575" y="2895600"/>
            <a:ext cx="2800350" cy="428625"/>
          </a:xfrm>
          <a:prstGeom prst="line">
            <a:avLst/>
          </a:prstGeom>
          <a:noFill/>
          <a:ln w="12383">
            <a:solidFill>
              <a:srgbClr val="B6C2CD"/>
            </a:solidFill>
          </a:ln>
        </p:spPr>
        <p:txBody>
          <a:bodyPr/>
          <a:lstStyle/>
          <a:p>
            <a:endParaRPr lang="it-IT"/>
          </a:p>
        </p:txBody>
      </p:sp>
      <p:sp>
        <p:nvSpPr>
          <p:cNvPr id="34" name="net_2_4_3">
            <a:extLst>
              <a:ext uri="{FF2B5EF4-FFF2-40B4-BE49-F238E27FC236}">
                <a16:creationId xmlns:a16="http://schemas.microsoft.com/office/drawing/2014/main" id="{5CE2B1F3-0D83-41F4-9C90-A48C80D4CBE8}"/>
              </a:ext>
            </a:extLst>
          </p:cNvPr>
          <p:cNvSpPr>
            <a:spLocks noGrp="1"/>
          </p:cNvSpPr>
          <p:nvPr/>
        </p:nvSpPr>
        <p:spPr>
          <a:xfrm flipV="1">
            <a:off x="4600575" y="2895600"/>
            <a:ext cx="2800350" cy="857250"/>
          </a:xfrm>
          <a:prstGeom prst="line">
            <a:avLst/>
          </a:prstGeom>
          <a:noFill/>
          <a:ln w="12383">
            <a:solidFill>
              <a:srgbClr val="B6C2CD"/>
            </a:solidFill>
          </a:ln>
        </p:spPr>
        <p:txBody>
          <a:bodyPr/>
          <a:lstStyle/>
          <a:p>
            <a:endParaRPr lang="it-IT"/>
          </a:p>
        </p:txBody>
      </p:sp>
      <p:sp>
        <p:nvSpPr>
          <p:cNvPr id="35" name="net_2_0_4">
            <a:extLst>
              <a:ext uri="{FF2B5EF4-FFF2-40B4-BE49-F238E27FC236}">
                <a16:creationId xmlns:a16="http://schemas.microsoft.com/office/drawing/2014/main" id="{05A787D9-4812-404A-AF3F-1A1D73A0B218}"/>
              </a:ext>
            </a:extLst>
          </p:cNvPr>
          <p:cNvSpPr>
            <a:spLocks noGrp="1"/>
          </p:cNvSpPr>
          <p:nvPr/>
        </p:nvSpPr>
        <p:spPr>
          <a:xfrm>
            <a:off x="4600575" y="2038350"/>
            <a:ext cx="2800350" cy="1143000"/>
          </a:xfrm>
          <a:prstGeom prst="line">
            <a:avLst/>
          </a:prstGeom>
          <a:noFill/>
          <a:ln w="12383">
            <a:solidFill>
              <a:srgbClr val="B6C2CD"/>
            </a:solidFill>
          </a:ln>
        </p:spPr>
        <p:txBody>
          <a:bodyPr/>
          <a:lstStyle/>
          <a:p>
            <a:endParaRPr lang="it-IT"/>
          </a:p>
        </p:txBody>
      </p:sp>
      <p:sp>
        <p:nvSpPr>
          <p:cNvPr id="36" name="net_2_1_4">
            <a:extLst>
              <a:ext uri="{FF2B5EF4-FFF2-40B4-BE49-F238E27FC236}">
                <a16:creationId xmlns:a16="http://schemas.microsoft.com/office/drawing/2014/main" id="{A1EF0C4F-2DEA-4396-866D-AB3E359E94C6}"/>
              </a:ext>
            </a:extLst>
          </p:cNvPr>
          <p:cNvSpPr>
            <a:spLocks noGrp="1"/>
          </p:cNvSpPr>
          <p:nvPr/>
        </p:nvSpPr>
        <p:spPr>
          <a:xfrm>
            <a:off x="4600575" y="2466975"/>
            <a:ext cx="2800350" cy="714375"/>
          </a:xfrm>
          <a:prstGeom prst="line">
            <a:avLst/>
          </a:prstGeom>
          <a:noFill/>
          <a:ln w="12383">
            <a:solidFill>
              <a:srgbClr val="B6C2CD"/>
            </a:solidFill>
          </a:ln>
        </p:spPr>
        <p:txBody>
          <a:bodyPr/>
          <a:lstStyle/>
          <a:p>
            <a:endParaRPr lang="it-IT"/>
          </a:p>
        </p:txBody>
      </p:sp>
      <p:sp>
        <p:nvSpPr>
          <p:cNvPr id="37" name="net_2_2_4">
            <a:extLst>
              <a:ext uri="{FF2B5EF4-FFF2-40B4-BE49-F238E27FC236}">
                <a16:creationId xmlns:a16="http://schemas.microsoft.com/office/drawing/2014/main" id="{35F9CADD-F748-49E7-9A25-20646059E0FB}"/>
              </a:ext>
            </a:extLst>
          </p:cNvPr>
          <p:cNvSpPr>
            <a:spLocks noGrp="1"/>
          </p:cNvSpPr>
          <p:nvPr/>
        </p:nvSpPr>
        <p:spPr>
          <a:xfrm>
            <a:off x="4600575" y="2895600"/>
            <a:ext cx="2800350" cy="285750"/>
          </a:xfrm>
          <a:prstGeom prst="line">
            <a:avLst/>
          </a:prstGeom>
          <a:noFill/>
          <a:ln w="12383">
            <a:solidFill>
              <a:srgbClr val="B6C2CD"/>
            </a:solidFill>
          </a:ln>
        </p:spPr>
        <p:txBody>
          <a:bodyPr/>
          <a:lstStyle/>
          <a:p>
            <a:endParaRPr lang="it-IT"/>
          </a:p>
        </p:txBody>
      </p:sp>
      <p:sp>
        <p:nvSpPr>
          <p:cNvPr id="38" name="net_2_3_4">
            <a:extLst>
              <a:ext uri="{FF2B5EF4-FFF2-40B4-BE49-F238E27FC236}">
                <a16:creationId xmlns:a16="http://schemas.microsoft.com/office/drawing/2014/main" id="{0A47F1F0-3EDD-4832-ACCF-0FAE66ECB9DD}"/>
              </a:ext>
            </a:extLst>
          </p:cNvPr>
          <p:cNvSpPr>
            <a:spLocks noGrp="1"/>
          </p:cNvSpPr>
          <p:nvPr/>
        </p:nvSpPr>
        <p:spPr>
          <a:xfrm flipV="1">
            <a:off x="4600575" y="3181350"/>
            <a:ext cx="2800350" cy="142875"/>
          </a:xfrm>
          <a:prstGeom prst="line">
            <a:avLst/>
          </a:prstGeom>
          <a:noFill/>
          <a:ln w="12383">
            <a:solidFill>
              <a:srgbClr val="B6C2CD"/>
            </a:solidFill>
          </a:ln>
        </p:spPr>
        <p:txBody>
          <a:bodyPr/>
          <a:lstStyle/>
          <a:p>
            <a:endParaRPr lang="it-IT"/>
          </a:p>
        </p:txBody>
      </p:sp>
      <p:sp>
        <p:nvSpPr>
          <p:cNvPr id="39" name="net_2_4_4">
            <a:extLst>
              <a:ext uri="{FF2B5EF4-FFF2-40B4-BE49-F238E27FC236}">
                <a16:creationId xmlns:a16="http://schemas.microsoft.com/office/drawing/2014/main" id="{B3A8EB60-B365-45D5-A583-C1241C8D21BC}"/>
              </a:ext>
            </a:extLst>
          </p:cNvPr>
          <p:cNvSpPr>
            <a:spLocks noGrp="1"/>
          </p:cNvSpPr>
          <p:nvPr/>
        </p:nvSpPr>
        <p:spPr>
          <a:xfrm flipV="1">
            <a:off x="4600575" y="3181350"/>
            <a:ext cx="2800350" cy="571500"/>
          </a:xfrm>
          <a:prstGeom prst="line">
            <a:avLst/>
          </a:prstGeom>
          <a:noFill/>
          <a:ln w="12383">
            <a:solidFill>
              <a:srgbClr val="B6C2CD"/>
            </a:solidFill>
          </a:ln>
        </p:spPr>
        <p:txBody>
          <a:bodyPr/>
          <a:lstStyle/>
          <a:p>
            <a:endParaRPr lang="it-IT"/>
          </a:p>
        </p:txBody>
      </p:sp>
      <p:sp>
        <p:nvSpPr>
          <p:cNvPr id="40" name="net_2_0_5">
            <a:extLst>
              <a:ext uri="{FF2B5EF4-FFF2-40B4-BE49-F238E27FC236}">
                <a16:creationId xmlns:a16="http://schemas.microsoft.com/office/drawing/2014/main" id="{263013AC-939F-47EB-9395-4C8E58F7DA01}"/>
              </a:ext>
            </a:extLst>
          </p:cNvPr>
          <p:cNvSpPr>
            <a:spLocks noGrp="1"/>
          </p:cNvSpPr>
          <p:nvPr/>
        </p:nvSpPr>
        <p:spPr>
          <a:xfrm>
            <a:off x="4600575" y="2038350"/>
            <a:ext cx="2800350" cy="1428750"/>
          </a:xfrm>
          <a:prstGeom prst="line">
            <a:avLst/>
          </a:prstGeom>
          <a:noFill/>
          <a:ln w="12383">
            <a:solidFill>
              <a:srgbClr val="B6C2CD"/>
            </a:solidFill>
          </a:ln>
        </p:spPr>
        <p:txBody>
          <a:bodyPr/>
          <a:lstStyle/>
          <a:p>
            <a:endParaRPr lang="it-IT"/>
          </a:p>
        </p:txBody>
      </p:sp>
      <p:sp>
        <p:nvSpPr>
          <p:cNvPr id="41" name="net_2_1_5">
            <a:extLst>
              <a:ext uri="{FF2B5EF4-FFF2-40B4-BE49-F238E27FC236}">
                <a16:creationId xmlns:a16="http://schemas.microsoft.com/office/drawing/2014/main" id="{8A22751E-9E1F-42AF-9703-7764B5D952F9}"/>
              </a:ext>
            </a:extLst>
          </p:cNvPr>
          <p:cNvSpPr>
            <a:spLocks noGrp="1"/>
          </p:cNvSpPr>
          <p:nvPr/>
        </p:nvSpPr>
        <p:spPr>
          <a:xfrm>
            <a:off x="4600575" y="2466975"/>
            <a:ext cx="2800350" cy="1000125"/>
          </a:xfrm>
          <a:prstGeom prst="line">
            <a:avLst/>
          </a:prstGeom>
          <a:noFill/>
          <a:ln w="12383">
            <a:solidFill>
              <a:srgbClr val="B6C2CD"/>
            </a:solidFill>
          </a:ln>
        </p:spPr>
        <p:txBody>
          <a:bodyPr/>
          <a:lstStyle/>
          <a:p>
            <a:endParaRPr lang="it-IT"/>
          </a:p>
        </p:txBody>
      </p:sp>
      <p:sp>
        <p:nvSpPr>
          <p:cNvPr id="42" name="net_2_2_5">
            <a:extLst>
              <a:ext uri="{FF2B5EF4-FFF2-40B4-BE49-F238E27FC236}">
                <a16:creationId xmlns:a16="http://schemas.microsoft.com/office/drawing/2014/main" id="{8E5602F4-F7FC-4C9A-ADA3-1B24A96102DC}"/>
              </a:ext>
            </a:extLst>
          </p:cNvPr>
          <p:cNvSpPr>
            <a:spLocks noGrp="1"/>
          </p:cNvSpPr>
          <p:nvPr/>
        </p:nvSpPr>
        <p:spPr>
          <a:xfrm>
            <a:off x="4600575" y="2895600"/>
            <a:ext cx="2800350" cy="571500"/>
          </a:xfrm>
          <a:prstGeom prst="line">
            <a:avLst/>
          </a:prstGeom>
          <a:noFill/>
          <a:ln w="12383">
            <a:solidFill>
              <a:srgbClr val="B6C2CD"/>
            </a:solidFill>
          </a:ln>
        </p:spPr>
        <p:txBody>
          <a:bodyPr/>
          <a:lstStyle/>
          <a:p>
            <a:endParaRPr lang="it-IT"/>
          </a:p>
        </p:txBody>
      </p:sp>
      <p:sp>
        <p:nvSpPr>
          <p:cNvPr id="43" name="net_2_3_5">
            <a:extLst>
              <a:ext uri="{FF2B5EF4-FFF2-40B4-BE49-F238E27FC236}">
                <a16:creationId xmlns:a16="http://schemas.microsoft.com/office/drawing/2014/main" id="{186FA911-46DC-4FAE-A26F-856630513A21}"/>
              </a:ext>
            </a:extLst>
          </p:cNvPr>
          <p:cNvSpPr>
            <a:spLocks noGrp="1"/>
          </p:cNvSpPr>
          <p:nvPr/>
        </p:nvSpPr>
        <p:spPr>
          <a:xfrm>
            <a:off x="4600575" y="3324225"/>
            <a:ext cx="2800350" cy="142875"/>
          </a:xfrm>
          <a:prstGeom prst="line">
            <a:avLst/>
          </a:prstGeom>
          <a:noFill/>
          <a:ln w="12383">
            <a:solidFill>
              <a:srgbClr val="B6C2CD"/>
            </a:solidFill>
          </a:ln>
        </p:spPr>
        <p:txBody>
          <a:bodyPr/>
          <a:lstStyle/>
          <a:p>
            <a:endParaRPr lang="it-IT"/>
          </a:p>
        </p:txBody>
      </p:sp>
      <p:sp>
        <p:nvSpPr>
          <p:cNvPr id="44" name="net_2_4_5">
            <a:extLst>
              <a:ext uri="{FF2B5EF4-FFF2-40B4-BE49-F238E27FC236}">
                <a16:creationId xmlns:a16="http://schemas.microsoft.com/office/drawing/2014/main" id="{E18B983D-D939-40F5-907C-3F79BDB08EFA}"/>
              </a:ext>
            </a:extLst>
          </p:cNvPr>
          <p:cNvSpPr>
            <a:spLocks noGrp="1"/>
          </p:cNvSpPr>
          <p:nvPr/>
        </p:nvSpPr>
        <p:spPr>
          <a:xfrm flipV="1">
            <a:off x="4600575" y="3467100"/>
            <a:ext cx="2800350" cy="285750"/>
          </a:xfrm>
          <a:prstGeom prst="line">
            <a:avLst/>
          </a:prstGeom>
          <a:noFill/>
          <a:ln w="12383">
            <a:solidFill>
              <a:srgbClr val="B6C2CD"/>
            </a:solidFill>
          </a:ln>
        </p:spPr>
        <p:txBody>
          <a:bodyPr/>
          <a:lstStyle/>
          <a:p>
            <a:endParaRPr lang="it-IT"/>
          </a:p>
        </p:txBody>
      </p:sp>
      <p:sp>
        <p:nvSpPr>
          <p:cNvPr id="45" name="net_2_0_6">
            <a:extLst>
              <a:ext uri="{FF2B5EF4-FFF2-40B4-BE49-F238E27FC236}">
                <a16:creationId xmlns:a16="http://schemas.microsoft.com/office/drawing/2014/main" id="{B32F22ED-7CCB-43E8-A323-AB5D2DF66E44}"/>
              </a:ext>
            </a:extLst>
          </p:cNvPr>
          <p:cNvSpPr>
            <a:spLocks noGrp="1"/>
          </p:cNvSpPr>
          <p:nvPr/>
        </p:nvSpPr>
        <p:spPr>
          <a:xfrm>
            <a:off x="4600575" y="2038350"/>
            <a:ext cx="2800350" cy="1714500"/>
          </a:xfrm>
          <a:prstGeom prst="line">
            <a:avLst/>
          </a:prstGeom>
          <a:noFill/>
          <a:ln w="12383">
            <a:solidFill>
              <a:srgbClr val="B6C2CD"/>
            </a:solidFill>
          </a:ln>
        </p:spPr>
        <p:txBody>
          <a:bodyPr/>
          <a:lstStyle/>
          <a:p>
            <a:endParaRPr lang="it-IT"/>
          </a:p>
        </p:txBody>
      </p:sp>
      <p:sp>
        <p:nvSpPr>
          <p:cNvPr id="46" name="net_2_1_6">
            <a:extLst>
              <a:ext uri="{FF2B5EF4-FFF2-40B4-BE49-F238E27FC236}">
                <a16:creationId xmlns:a16="http://schemas.microsoft.com/office/drawing/2014/main" id="{6532311C-E844-4455-8C9B-FBD845789DD5}"/>
              </a:ext>
            </a:extLst>
          </p:cNvPr>
          <p:cNvSpPr>
            <a:spLocks noGrp="1"/>
          </p:cNvSpPr>
          <p:nvPr/>
        </p:nvSpPr>
        <p:spPr>
          <a:xfrm>
            <a:off x="4600575" y="2466975"/>
            <a:ext cx="2800350" cy="1285875"/>
          </a:xfrm>
          <a:prstGeom prst="line">
            <a:avLst/>
          </a:prstGeom>
          <a:noFill/>
          <a:ln w="12383">
            <a:solidFill>
              <a:srgbClr val="B6C2CD"/>
            </a:solidFill>
          </a:ln>
        </p:spPr>
        <p:txBody>
          <a:bodyPr/>
          <a:lstStyle/>
          <a:p>
            <a:endParaRPr lang="it-IT"/>
          </a:p>
        </p:txBody>
      </p:sp>
      <p:sp>
        <p:nvSpPr>
          <p:cNvPr id="47" name="net_2_2_6">
            <a:extLst>
              <a:ext uri="{FF2B5EF4-FFF2-40B4-BE49-F238E27FC236}">
                <a16:creationId xmlns:a16="http://schemas.microsoft.com/office/drawing/2014/main" id="{177D21F9-24A5-449C-BB07-0733EC684E66}"/>
              </a:ext>
            </a:extLst>
          </p:cNvPr>
          <p:cNvSpPr>
            <a:spLocks noGrp="1"/>
          </p:cNvSpPr>
          <p:nvPr/>
        </p:nvSpPr>
        <p:spPr>
          <a:xfrm>
            <a:off x="4600575" y="2895600"/>
            <a:ext cx="2800350" cy="857250"/>
          </a:xfrm>
          <a:prstGeom prst="line">
            <a:avLst/>
          </a:prstGeom>
          <a:noFill/>
          <a:ln w="12383">
            <a:solidFill>
              <a:srgbClr val="B6C2CD"/>
            </a:solidFill>
          </a:ln>
        </p:spPr>
        <p:txBody>
          <a:bodyPr/>
          <a:lstStyle/>
          <a:p>
            <a:endParaRPr lang="it-IT"/>
          </a:p>
        </p:txBody>
      </p:sp>
      <p:sp>
        <p:nvSpPr>
          <p:cNvPr id="48" name="net_2_3_6">
            <a:extLst>
              <a:ext uri="{FF2B5EF4-FFF2-40B4-BE49-F238E27FC236}">
                <a16:creationId xmlns:a16="http://schemas.microsoft.com/office/drawing/2014/main" id="{2DC5EC05-F405-4EDC-B37D-8C2DA84CF2C8}"/>
              </a:ext>
            </a:extLst>
          </p:cNvPr>
          <p:cNvSpPr>
            <a:spLocks noGrp="1"/>
          </p:cNvSpPr>
          <p:nvPr/>
        </p:nvSpPr>
        <p:spPr>
          <a:xfrm>
            <a:off x="4600575" y="3324225"/>
            <a:ext cx="2800350" cy="428625"/>
          </a:xfrm>
          <a:prstGeom prst="line">
            <a:avLst/>
          </a:prstGeom>
          <a:noFill/>
          <a:ln w="12383">
            <a:solidFill>
              <a:srgbClr val="B6C2CD"/>
            </a:solidFill>
          </a:ln>
        </p:spPr>
        <p:txBody>
          <a:bodyPr/>
          <a:lstStyle/>
          <a:p>
            <a:endParaRPr lang="it-IT"/>
          </a:p>
        </p:txBody>
      </p:sp>
      <p:sp>
        <p:nvSpPr>
          <p:cNvPr id="49" name="net_2_4_6">
            <a:extLst>
              <a:ext uri="{FF2B5EF4-FFF2-40B4-BE49-F238E27FC236}">
                <a16:creationId xmlns:a16="http://schemas.microsoft.com/office/drawing/2014/main" id="{A5EE8B0C-5D3A-4DCB-A2FB-3297E706ECE6}"/>
              </a:ext>
            </a:extLst>
          </p:cNvPr>
          <p:cNvSpPr>
            <a:spLocks noGrp="1"/>
          </p:cNvSpPr>
          <p:nvPr/>
        </p:nvSpPr>
        <p:spPr>
          <a:xfrm>
            <a:off x="4600575" y="3752850"/>
            <a:ext cx="2800350" cy="953"/>
          </a:xfrm>
          <a:prstGeom prst="line">
            <a:avLst/>
          </a:prstGeom>
          <a:noFill/>
          <a:ln w="12383">
            <a:solidFill>
              <a:srgbClr val="B6C2CD"/>
            </a:solidFill>
          </a:ln>
        </p:spPr>
        <p:txBody>
          <a:bodyPr/>
          <a:lstStyle/>
          <a:p>
            <a:endParaRPr lang="it-IT"/>
          </a:p>
        </p:txBody>
      </p:sp>
      <p:sp>
        <p:nvSpPr>
          <p:cNvPr id="50" name="net_3_0_0">
            <a:extLst>
              <a:ext uri="{FF2B5EF4-FFF2-40B4-BE49-F238E27FC236}">
                <a16:creationId xmlns:a16="http://schemas.microsoft.com/office/drawing/2014/main" id="{F67F5351-F32B-46FA-9975-22B4ADFDF29C}"/>
              </a:ext>
            </a:extLst>
          </p:cNvPr>
          <p:cNvSpPr>
            <a:spLocks noGrp="1"/>
          </p:cNvSpPr>
          <p:nvPr/>
        </p:nvSpPr>
        <p:spPr>
          <a:xfrm>
            <a:off x="7648575" y="2038350"/>
            <a:ext cx="2800350" cy="953"/>
          </a:xfrm>
          <a:prstGeom prst="line">
            <a:avLst/>
          </a:prstGeom>
          <a:noFill/>
          <a:ln w="12383">
            <a:solidFill>
              <a:srgbClr val="B6C2CD"/>
            </a:solidFill>
          </a:ln>
        </p:spPr>
        <p:txBody>
          <a:bodyPr/>
          <a:lstStyle/>
          <a:p>
            <a:endParaRPr lang="it-IT"/>
          </a:p>
        </p:txBody>
      </p:sp>
      <p:sp>
        <p:nvSpPr>
          <p:cNvPr id="51" name="net_3_1_0">
            <a:extLst>
              <a:ext uri="{FF2B5EF4-FFF2-40B4-BE49-F238E27FC236}">
                <a16:creationId xmlns:a16="http://schemas.microsoft.com/office/drawing/2014/main" id="{37E5D79D-A886-44A0-ABDD-CEFEC09AC79A}"/>
              </a:ext>
            </a:extLst>
          </p:cNvPr>
          <p:cNvSpPr>
            <a:spLocks noGrp="1"/>
          </p:cNvSpPr>
          <p:nvPr/>
        </p:nvSpPr>
        <p:spPr>
          <a:xfrm flipV="1">
            <a:off x="7648575" y="2038350"/>
            <a:ext cx="2800350" cy="285750"/>
          </a:xfrm>
          <a:prstGeom prst="line">
            <a:avLst/>
          </a:prstGeom>
          <a:noFill/>
          <a:ln w="12383">
            <a:solidFill>
              <a:srgbClr val="B6C2CD"/>
            </a:solidFill>
          </a:ln>
        </p:spPr>
        <p:txBody>
          <a:bodyPr/>
          <a:lstStyle/>
          <a:p>
            <a:endParaRPr lang="it-IT"/>
          </a:p>
        </p:txBody>
      </p:sp>
      <p:sp>
        <p:nvSpPr>
          <p:cNvPr id="52" name="net_3_2_0">
            <a:extLst>
              <a:ext uri="{FF2B5EF4-FFF2-40B4-BE49-F238E27FC236}">
                <a16:creationId xmlns:a16="http://schemas.microsoft.com/office/drawing/2014/main" id="{104B880A-1D90-4DA0-8994-C271C4FF01FC}"/>
              </a:ext>
            </a:extLst>
          </p:cNvPr>
          <p:cNvSpPr>
            <a:spLocks noGrp="1"/>
          </p:cNvSpPr>
          <p:nvPr/>
        </p:nvSpPr>
        <p:spPr>
          <a:xfrm flipV="1">
            <a:off x="7648575" y="2038350"/>
            <a:ext cx="2800350" cy="571500"/>
          </a:xfrm>
          <a:prstGeom prst="line">
            <a:avLst/>
          </a:prstGeom>
          <a:noFill/>
          <a:ln w="12383">
            <a:solidFill>
              <a:srgbClr val="B6C2CD"/>
            </a:solidFill>
          </a:ln>
        </p:spPr>
        <p:txBody>
          <a:bodyPr/>
          <a:lstStyle/>
          <a:p>
            <a:endParaRPr lang="it-IT"/>
          </a:p>
        </p:txBody>
      </p:sp>
      <p:sp>
        <p:nvSpPr>
          <p:cNvPr id="53" name="net_3_3_0">
            <a:extLst>
              <a:ext uri="{FF2B5EF4-FFF2-40B4-BE49-F238E27FC236}">
                <a16:creationId xmlns:a16="http://schemas.microsoft.com/office/drawing/2014/main" id="{200571BA-97C5-4F34-80F2-4D8B09C87574}"/>
              </a:ext>
            </a:extLst>
          </p:cNvPr>
          <p:cNvSpPr>
            <a:spLocks noGrp="1"/>
          </p:cNvSpPr>
          <p:nvPr/>
        </p:nvSpPr>
        <p:spPr>
          <a:xfrm flipV="1">
            <a:off x="7648575" y="2038350"/>
            <a:ext cx="2800350" cy="857250"/>
          </a:xfrm>
          <a:prstGeom prst="line">
            <a:avLst/>
          </a:prstGeom>
          <a:noFill/>
          <a:ln w="12383">
            <a:solidFill>
              <a:srgbClr val="B6C2CD"/>
            </a:solidFill>
          </a:ln>
        </p:spPr>
        <p:txBody>
          <a:bodyPr/>
          <a:lstStyle/>
          <a:p>
            <a:endParaRPr lang="it-IT"/>
          </a:p>
        </p:txBody>
      </p:sp>
      <p:sp>
        <p:nvSpPr>
          <p:cNvPr id="54" name="net_3_4_0">
            <a:extLst>
              <a:ext uri="{FF2B5EF4-FFF2-40B4-BE49-F238E27FC236}">
                <a16:creationId xmlns:a16="http://schemas.microsoft.com/office/drawing/2014/main" id="{96E12C98-F94E-4F6B-BE5C-A574D4E039E9}"/>
              </a:ext>
            </a:extLst>
          </p:cNvPr>
          <p:cNvSpPr>
            <a:spLocks noGrp="1"/>
          </p:cNvSpPr>
          <p:nvPr/>
        </p:nvSpPr>
        <p:spPr>
          <a:xfrm flipV="1">
            <a:off x="7648575" y="2038350"/>
            <a:ext cx="2800350" cy="1143000"/>
          </a:xfrm>
          <a:prstGeom prst="line">
            <a:avLst/>
          </a:prstGeom>
          <a:noFill/>
          <a:ln w="12383">
            <a:solidFill>
              <a:srgbClr val="B6C2CD"/>
            </a:solidFill>
          </a:ln>
        </p:spPr>
        <p:txBody>
          <a:bodyPr/>
          <a:lstStyle/>
          <a:p>
            <a:endParaRPr lang="it-IT"/>
          </a:p>
        </p:txBody>
      </p:sp>
      <p:sp>
        <p:nvSpPr>
          <p:cNvPr id="55" name="net_3_5_0">
            <a:extLst>
              <a:ext uri="{FF2B5EF4-FFF2-40B4-BE49-F238E27FC236}">
                <a16:creationId xmlns:a16="http://schemas.microsoft.com/office/drawing/2014/main" id="{8A26FF35-8483-462C-802B-95D1D8D8C846}"/>
              </a:ext>
            </a:extLst>
          </p:cNvPr>
          <p:cNvSpPr>
            <a:spLocks noGrp="1"/>
          </p:cNvSpPr>
          <p:nvPr/>
        </p:nvSpPr>
        <p:spPr>
          <a:xfrm flipV="1">
            <a:off x="7648575" y="2038350"/>
            <a:ext cx="2800350" cy="1428750"/>
          </a:xfrm>
          <a:prstGeom prst="line">
            <a:avLst/>
          </a:prstGeom>
          <a:noFill/>
          <a:ln w="12383">
            <a:solidFill>
              <a:srgbClr val="B6C2CD"/>
            </a:solidFill>
          </a:ln>
        </p:spPr>
        <p:txBody>
          <a:bodyPr/>
          <a:lstStyle/>
          <a:p>
            <a:endParaRPr lang="it-IT"/>
          </a:p>
        </p:txBody>
      </p:sp>
      <p:sp>
        <p:nvSpPr>
          <p:cNvPr id="56" name="net_3_6_0">
            <a:extLst>
              <a:ext uri="{FF2B5EF4-FFF2-40B4-BE49-F238E27FC236}">
                <a16:creationId xmlns:a16="http://schemas.microsoft.com/office/drawing/2014/main" id="{88620A65-FF01-4A99-BF03-C2B8DCF4033A}"/>
              </a:ext>
            </a:extLst>
          </p:cNvPr>
          <p:cNvSpPr>
            <a:spLocks noGrp="1"/>
          </p:cNvSpPr>
          <p:nvPr/>
        </p:nvSpPr>
        <p:spPr>
          <a:xfrm flipV="1">
            <a:off x="7648575" y="2038350"/>
            <a:ext cx="2800350" cy="1714500"/>
          </a:xfrm>
          <a:prstGeom prst="line">
            <a:avLst/>
          </a:prstGeom>
          <a:noFill/>
          <a:ln w="12383">
            <a:solidFill>
              <a:srgbClr val="B6C2CD"/>
            </a:solidFill>
          </a:ln>
        </p:spPr>
        <p:txBody>
          <a:bodyPr/>
          <a:lstStyle/>
          <a:p>
            <a:endParaRPr lang="it-IT"/>
          </a:p>
        </p:txBody>
      </p:sp>
      <p:sp>
        <p:nvSpPr>
          <p:cNvPr id="57" name="net_3_0_1">
            <a:extLst>
              <a:ext uri="{FF2B5EF4-FFF2-40B4-BE49-F238E27FC236}">
                <a16:creationId xmlns:a16="http://schemas.microsoft.com/office/drawing/2014/main" id="{AF008564-8A95-42DD-80A4-D22D1A5821AE}"/>
              </a:ext>
            </a:extLst>
          </p:cNvPr>
          <p:cNvSpPr>
            <a:spLocks noGrp="1"/>
          </p:cNvSpPr>
          <p:nvPr/>
        </p:nvSpPr>
        <p:spPr>
          <a:xfrm>
            <a:off x="7648575" y="2038350"/>
            <a:ext cx="2800350" cy="857250"/>
          </a:xfrm>
          <a:prstGeom prst="line">
            <a:avLst/>
          </a:prstGeom>
          <a:noFill/>
          <a:ln w="12383">
            <a:solidFill>
              <a:srgbClr val="B6C2CD"/>
            </a:solidFill>
          </a:ln>
        </p:spPr>
        <p:txBody>
          <a:bodyPr/>
          <a:lstStyle/>
          <a:p>
            <a:endParaRPr lang="it-IT"/>
          </a:p>
        </p:txBody>
      </p:sp>
      <p:sp>
        <p:nvSpPr>
          <p:cNvPr id="58" name="net_3_1_1">
            <a:extLst>
              <a:ext uri="{FF2B5EF4-FFF2-40B4-BE49-F238E27FC236}">
                <a16:creationId xmlns:a16="http://schemas.microsoft.com/office/drawing/2014/main" id="{29EF2863-10AC-4D69-91A5-C37C6D2A79A7}"/>
              </a:ext>
            </a:extLst>
          </p:cNvPr>
          <p:cNvSpPr>
            <a:spLocks noGrp="1"/>
          </p:cNvSpPr>
          <p:nvPr/>
        </p:nvSpPr>
        <p:spPr>
          <a:xfrm>
            <a:off x="7648575" y="2324100"/>
            <a:ext cx="2800350" cy="571500"/>
          </a:xfrm>
          <a:prstGeom prst="line">
            <a:avLst/>
          </a:prstGeom>
          <a:noFill/>
          <a:ln w="12383">
            <a:solidFill>
              <a:srgbClr val="B6C2CD"/>
            </a:solidFill>
          </a:ln>
        </p:spPr>
        <p:txBody>
          <a:bodyPr/>
          <a:lstStyle/>
          <a:p>
            <a:endParaRPr lang="it-IT"/>
          </a:p>
        </p:txBody>
      </p:sp>
      <p:sp>
        <p:nvSpPr>
          <p:cNvPr id="59" name="net_3_2_1">
            <a:extLst>
              <a:ext uri="{FF2B5EF4-FFF2-40B4-BE49-F238E27FC236}">
                <a16:creationId xmlns:a16="http://schemas.microsoft.com/office/drawing/2014/main" id="{380B2028-6F11-4F1F-AC71-A3DC03FF50CC}"/>
              </a:ext>
            </a:extLst>
          </p:cNvPr>
          <p:cNvSpPr>
            <a:spLocks noGrp="1"/>
          </p:cNvSpPr>
          <p:nvPr/>
        </p:nvSpPr>
        <p:spPr>
          <a:xfrm>
            <a:off x="7648575" y="2609850"/>
            <a:ext cx="2800350" cy="285750"/>
          </a:xfrm>
          <a:prstGeom prst="line">
            <a:avLst/>
          </a:prstGeom>
          <a:noFill/>
          <a:ln w="12383">
            <a:solidFill>
              <a:srgbClr val="B6C2CD"/>
            </a:solidFill>
          </a:ln>
        </p:spPr>
        <p:txBody>
          <a:bodyPr/>
          <a:lstStyle/>
          <a:p>
            <a:endParaRPr lang="it-IT"/>
          </a:p>
        </p:txBody>
      </p:sp>
      <p:sp>
        <p:nvSpPr>
          <p:cNvPr id="60" name="net_3_3_1">
            <a:extLst>
              <a:ext uri="{FF2B5EF4-FFF2-40B4-BE49-F238E27FC236}">
                <a16:creationId xmlns:a16="http://schemas.microsoft.com/office/drawing/2014/main" id="{29D242B4-B4F3-4F5F-8289-6134E4FC96B1}"/>
              </a:ext>
            </a:extLst>
          </p:cNvPr>
          <p:cNvSpPr>
            <a:spLocks noGrp="1"/>
          </p:cNvSpPr>
          <p:nvPr/>
        </p:nvSpPr>
        <p:spPr>
          <a:xfrm>
            <a:off x="7648575" y="2895600"/>
            <a:ext cx="2800350" cy="953"/>
          </a:xfrm>
          <a:prstGeom prst="line">
            <a:avLst/>
          </a:prstGeom>
          <a:noFill/>
          <a:ln w="12383">
            <a:solidFill>
              <a:srgbClr val="B6C2CD"/>
            </a:solidFill>
          </a:ln>
        </p:spPr>
        <p:txBody>
          <a:bodyPr/>
          <a:lstStyle/>
          <a:p>
            <a:endParaRPr lang="it-IT"/>
          </a:p>
        </p:txBody>
      </p:sp>
      <p:sp>
        <p:nvSpPr>
          <p:cNvPr id="61" name="net_3_4_1">
            <a:extLst>
              <a:ext uri="{FF2B5EF4-FFF2-40B4-BE49-F238E27FC236}">
                <a16:creationId xmlns:a16="http://schemas.microsoft.com/office/drawing/2014/main" id="{3F45F168-EEE8-45DA-90D0-A5CC8C0E7EAC}"/>
              </a:ext>
            </a:extLst>
          </p:cNvPr>
          <p:cNvSpPr>
            <a:spLocks noGrp="1"/>
          </p:cNvSpPr>
          <p:nvPr/>
        </p:nvSpPr>
        <p:spPr>
          <a:xfrm flipV="1">
            <a:off x="7648575" y="2895600"/>
            <a:ext cx="2800350" cy="285750"/>
          </a:xfrm>
          <a:prstGeom prst="line">
            <a:avLst/>
          </a:prstGeom>
          <a:noFill/>
          <a:ln w="12383">
            <a:solidFill>
              <a:srgbClr val="B6C2CD"/>
            </a:solidFill>
          </a:ln>
        </p:spPr>
        <p:txBody>
          <a:bodyPr/>
          <a:lstStyle/>
          <a:p>
            <a:endParaRPr lang="it-IT"/>
          </a:p>
        </p:txBody>
      </p:sp>
      <p:sp>
        <p:nvSpPr>
          <p:cNvPr id="62" name="net_3_5_1">
            <a:extLst>
              <a:ext uri="{FF2B5EF4-FFF2-40B4-BE49-F238E27FC236}">
                <a16:creationId xmlns:a16="http://schemas.microsoft.com/office/drawing/2014/main" id="{455BFA38-1433-4714-A8A1-72FD733A927B}"/>
              </a:ext>
            </a:extLst>
          </p:cNvPr>
          <p:cNvSpPr>
            <a:spLocks noGrp="1"/>
          </p:cNvSpPr>
          <p:nvPr/>
        </p:nvSpPr>
        <p:spPr>
          <a:xfrm flipV="1">
            <a:off x="7648575" y="2895600"/>
            <a:ext cx="2800350" cy="571500"/>
          </a:xfrm>
          <a:prstGeom prst="line">
            <a:avLst/>
          </a:prstGeom>
          <a:noFill/>
          <a:ln w="12383">
            <a:solidFill>
              <a:srgbClr val="B6C2CD"/>
            </a:solidFill>
          </a:ln>
        </p:spPr>
        <p:txBody>
          <a:bodyPr/>
          <a:lstStyle/>
          <a:p>
            <a:endParaRPr lang="it-IT"/>
          </a:p>
        </p:txBody>
      </p:sp>
      <p:sp>
        <p:nvSpPr>
          <p:cNvPr id="63" name="net_3_6_1">
            <a:extLst>
              <a:ext uri="{FF2B5EF4-FFF2-40B4-BE49-F238E27FC236}">
                <a16:creationId xmlns:a16="http://schemas.microsoft.com/office/drawing/2014/main" id="{616BF506-8666-458B-9B43-16D88402E682}"/>
              </a:ext>
            </a:extLst>
          </p:cNvPr>
          <p:cNvSpPr>
            <a:spLocks noGrp="1"/>
          </p:cNvSpPr>
          <p:nvPr/>
        </p:nvSpPr>
        <p:spPr>
          <a:xfrm flipV="1">
            <a:off x="7648575" y="2895600"/>
            <a:ext cx="2800350" cy="857250"/>
          </a:xfrm>
          <a:prstGeom prst="line">
            <a:avLst/>
          </a:prstGeom>
          <a:noFill/>
          <a:ln w="12383">
            <a:solidFill>
              <a:srgbClr val="B6C2CD"/>
            </a:solidFill>
          </a:ln>
        </p:spPr>
        <p:txBody>
          <a:bodyPr/>
          <a:lstStyle/>
          <a:p>
            <a:endParaRPr lang="it-IT"/>
          </a:p>
        </p:txBody>
      </p:sp>
      <p:sp>
        <p:nvSpPr>
          <p:cNvPr id="64" name="net_3_0_2">
            <a:extLst>
              <a:ext uri="{FF2B5EF4-FFF2-40B4-BE49-F238E27FC236}">
                <a16:creationId xmlns:a16="http://schemas.microsoft.com/office/drawing/2014/main" id="{A7D7E9F4-7091-4F8B-B5D4-294F5F00A73F}"/>
              </a:ext>
            </a:extLst>
          </p:cNvPr>
          <p:cNvSpPr>
            <a:spLocks noGrp="1"/>
          </p:cNvSpPr>
          <p:nvPr/>
        </p:nvSpPr>
        <p:spPr>
          <a:xfrm>
            <a:off x="7648575" y="2038350"/>
            <a:ext cx="2800350" cy="1714500"/>
          </a:xfrm>
          <a:prstGeom prst="line">
            <a:avLst/>
          </a:prstGeom>
          <a:noFill/>
          <a:ln w="12383">
            <a:solidFill>
              <a:srgbClr val="B6C2CD"/>
            </a:solidFill>
          </a:ln>
        </p:spPr>
        <p:txBody>
          <a:bodyPr/>
          <a:lstStyle/>
          <a:p>
            <a:endParaRPr lang="it-IT"/>
          </a:p>
        </p:txBody>
      </p:sp>
      <p:sp>
        <p:nvSpPr>
          <p:cNvPr id="65" name="net_3_1_2">
            <a:extLst>
              <a:ext uri="{FF2B5EF4-FFF2-40B4-BE49-F238E27FC236}">
                <a16:creationId xmlns:a16="http://schemas.microsoft.com/office/drawing/2014/main" id="{0ACB4023-6E31-41AF-9648-C2358E8E8818}"/>
              </a:ext>
            </a:extLst>
          </p:cNvPr>
          <p:cNvSpPr>
            <a:spLocks noGrp="1"/>
          </p:cNvSpPr>
          <p:nvPr/>
        </p:nvSpPr>
        <p:spPr>
          <a:xfrm>
            <a:off x="7648575" y="2324100"/>
            <a:ext cx="2800350" cy="1428750"/>
          </a:xfrm>
          <a:prstGeom prst="line">
            <a:avLst/>
          </a:prstGeom>
          <a:noFill/>
          <a:ln w="12383">
            <a:solidFill>
              <a:srgbClr val="B6C2CD"/>
            </a:solidFill>
          </a:ln>
        </p:spPr>
        <p:txBody>
          <a:bodyPr/>
          <a:lstStyle/>
          <a:p>
            <a:endParaRPr lang="it-IT"/>
          </a:p>
        </p:txBody>
      </p:sp>
      <p:sp>
        <p:nvSpPr>
          <p:cNvPr id="66" name="net_3_2_2">
            <a:extLst>
              <a:ext uri="{FF2B5EF4-FFF2-40B4-BE49-F238E27FC236}">
                <a16:creationId xmlns:a16="http://schemas.microsoft.com/office/drawing/2014/main" id="{545AE7DC-2CAC-4A4D-9853-1D0ECC60B8DE}"/>
              </a:ext>
            </a:extLst>
          </p:cNvPr>
          <p:cNvSpPr>
            <a:spLocks noGrp="1"/>
          </p:cNvSpPr>
          <p:nvPr/>
        </p:nvSpPr>
        <p:spPr>
          <a:xfrm>
            <a:off x="7648575" y="2609850"/>
            <a:ext cx="2800350" cy="1143000"/>
          </a:xfrm>
          <a:prstGeom prst="line">
            <a:avLst/>
          </a:prstGeom>
          <a:noFill/>
          <a:ln w="12383">
            <a:solidFill>
              <a:srgbClr val="B6C2CD"/>
            </a:solidFill>
          </a:ln>
        </p:spPr>
        <p:txBody>
          <a:bodyPr/>
          <a:lstStyle/>
          <a:p>
            <a:endParaRPr lang="it-IT"/>
          </a:p>
        </p:txBody>
      </p:sp>
      <p:sp>
        <p:nvSpPr>
          <p:cNvPr id="67" name="net_3_3_2">
            <a:extLst>
              <a:ext uri="{FF2B5EF4-FFF2-40B4-BE49-F238E27FC236}">
                <a16:creationId xmlns:a16="http://schemas.microsoft.com/office/drawing/2014/main" id="{D9083D9B-7382-46B5-8B96-47A6829F68C2}"/>
              </a:ext>
            </a:extLst>
          </p:cNvPr>
          <p:cNvSpPr>
            <a:spLocks noGrp="1"/>
          </p:cNvSpPr>
          <p:nvPr/>
        </p:nvSpPr>
        <p:spPr>
          <a:xfrm>
            <a:off x="7648575" y="2895600"/>
            <a:ext cx="2800350" cy="857250"/>
          </a:xfrm>
          <a:prstGeom prst="line">
            <a:avLst/>
          </a:prstGeom>
          <a:noFill/>
          <a:ln w="12383">
            <a:solidFill>
              <a:srgbClr val="B6C2CD"/>
            </a:solidFill>
          </a:ln>
        </p:spPr>
        <p:txBody>
          <a:bodyPr/>
          <a:lstStyle/>
          <a:p>
            <a:endParaRPr lang="it-IT"/>
          </a:p>
        </p:txBody>
      </p:sp>
      <p:sp>
        <p:nvSpPr>
          <p:cNvPr id="68" name="net_3_4_2">
            <a:extLst>
              <a:ext uri="{FF2B5EF4-FFF2-40B4-BE49-F238E27FC236}">
                <a16:creationId xmlns:a16="http://schemas.microsoft.com/office/drawing/2014/main" id="{5419E0FE-816F-4CA6-8646-830EF6C180CC}"/>
              </a:ext>
            </a:extLst>
          </p:cNvPr>
          <p:cNvSpPr>
            <a:spLocks noGrp="1"/>
          </p:cNvSpPr>
          <p:nvPr/>
        </p:nvSpPr>
        <p:spPr>
          <a:xfrm>
            <a:off x="7648575" y="3181350"/>
            <a:ext cx="2800350" cy="571500"/>
          </a:xfrm>
          <a:prstGeom prst="line">
            <a:avLst/>
          </a:prstGeom>
          <a:noFill/>
          <a:ln w="12383">
            <a:solidFill>
              <a:srgbClr val="B6C2CD"/>
            </a:solidFill>
          </a:ln>
        </p:spPr>
        <p:txBody>
          <a:bodyPr/>
          <a:lstStyle/>
          <a:p>
            <a:endParaRPr lang="it-IT"/>
          </a:p>
        </p:txBody>
      </p:sp>
      <p:sp>
        <p:nvSpPr>
          <p:cNvPr id="69" name="net_3_5_2">
            <a:extLst>
              <a:ext uri="{FF2B5EF4-FFF2-40B4-BE49-F238E27FC236}">
                <a16:creationId xmlns:a16="http://schemas.microsoft.com/office/drawing/2014/main" id="{FD6F7BEF-0FBB-463B-A9B9-D6BEBC72A225}"/>
              </a:ext>
            </a:extLst>
          </p:cNvPr>
          <p:cNvSpPr>
            <a:spLocks noGrp="1"/>
          </p:cNvSpPr>
          <p:nvPr/>
        </p:nvSpPr>
        <p:spPr>
          <a:xfrm>
            <a:off x="7648575" y="3467100"/>
            <a:ext cx="2800350" cy="285750"/>
          </a:xfrm>
          <a:prstGeom prst="line">
            <a:avLst/>
          </a:prstGeom>
          <a:noFill/>
          <a:ln w="12383">
            <a:solidFill>
              <a:srgbClr val="B6C2CD"/>
            </a:solidFill>
          </a:ln>
        </p:spPr>
        <p:txBody>
          <a:bodyPr/>
          <a:lstStyle/>
          <a:p>
            <a:endParaRPr lang="it-IT"/>
          </a:p>
        </p:txBody>
      </p:sp>
      <p:sp>
        <p:nvSpPr>
          <p:cNvPr id="70" name="net_3_6_2">
            <a:extLst>
              <a:ext uri="{FF2B5EF4-FFF2-40B4-BE49-F238E27FC236}">
                <a16:creationId xmlns:a16="http://schemas.microsoft.com/office/drawing/2014/main" id="{CEA44648-F6F7-4335-8F17-2703D1187B1F}"/>
              </a:ext>
            </a:extLst>
          </p:cNvPr>
          <p:cNvSpPr>
            <a:spLocks noGrp="1"/>
          </p:cNvSpPr>
          <p:nvPr/>
        </p:nvSpPr>
        <p:spPr>
          <a:xfrm>
            <a:off x="7648575" y="3752850"/>
            <a:ext cx="2800350" cy="953"/>
          </a:xfrm>
          <a:prstGeom prst="line">
            <a:avLst/>
          </a:prstGeom>
          <a:noFill/>
          <a:ln w="12383">
            <a:solidFill>
              <a:srgbClr val="B6C2CD"/>
            </a:solidFill>
          </a:ln>
        </p:spPr>
        <p:txBody>
          <a:bodyPr/>
          <a:lstStyle/>
          <a:p>
            <a:endParaRPr lang="it-IT"/>
          </a:p>
        </p:txBody>
      </p:sp>
      <p:sp>
        <p:nvSpPr>
          <p:cNvPr id="71" name="network_unit_0_0">
            <a:extLst>
              <a:ext uri="{FF2B5EF4-FFF2-40B4-BE49-F238E27FC236}">
                <a16:creationId xmlns:a16="http://schemas.microsoft.com/office/drawing/2014/main" id="{8DBCAAC9-87B5-44C3-A34A-B77BDE994D9C}"/>
              </a:ext>
            </a:extLst>
          </p:cNvPr>
          <p:cNvSpPr>
            <a:spLocks noGrp="1"/>
          </p:cNvSpPr>
          <p:nvPr/>
        </p:nvSpPr>
        <p:spPr>
          <a:xfrm>
            <a:off x="1304925" y="1914525"/>
            <a:ext cx="247650" cy="247650"/>
          </a:xfrm>
          <a:prstGeom prst="ellipse">
            <a:avLst/>
          </a:prstGeom>
          <a:solidFill>
            <a:srgbClr val="FFFFFF"/>
          </a:solidFill>
          <a:ln w="19050">
            <a:solidFill>
              <a:srgbClr val="182D45"/>
            </a:solidFill>
          </a:ln>
        </p:spPr>
        <p:txBody>
          <a:bodyPr/>
          <a:lstStyle/>
          <a:p>
            <a:endParaRPr lang="it-IT"/>
          </a:p>
        </p:txBody>
      </p:sp>
      <p:sp>
        <p:nvSpPr>
          <p:cNvPr id="72" name="network_unit_0_1">
            <a:extLst>
              <a:ext uri="{FF2B5EF4-FFF2-40B4-BE49-F238E27FC236}">
                <a16:creationId xmlns:a16="http://schemas.microsoft.com/office/drawing/2014/main" id="{65D9D28A-75B2-4841-BEDB-B6D9234DC011}"/>
              </a:ext>
            </a:extLst>
          </p:cNvPr>
          <p:cNvSpPr>
            <a:spLocks noGrp="1"/>
          </p:cNvSpPr>
          <p:nvPr/>
        </p:nvSpPr>
        <p:spPr>
          <a:xfrm>
            <a:off x="1304925" y="3629025"/>
            <a:ext cx="247650" cy="247650"/>
          </a:xfrm>
          <a:prstGeom prst="ellipse">
            <a:avLst/>
          </a:prstGeom>
          <a:solidFill>
            <a:srgbClr val="FFFFFF"/>
          </a:solidFill>
          <a:ln w="19050">
            <a:solidFill>
              <a:srgbClr val="182D45"/>
            </a:solidFill>
          </a:ln>
        </p:spPr>
        <p:txBody>
          <a:bodyPr/>
          <a:lstStyle/>
          <a:p>
            <a:endParaRPr lang="it-IT"/>
          </a:p>
        </p:txBody>
      </p:sp>
      <p:sp>
        <p:nvSpPr>
          <p:cNvPr id="73" name="network_unit_1_0">
            <a:extLst>
              <a:ext uri="{FF2B5EF4-FFF2-40B4-BE49-F238E27FC236}">
                <a16:creationId xmlns:a16="http://schemas.microsoft.com/office/drawing/2014/main" id="{A35E8547-F4E2-4A24-84CF-DA32B3B3D0F8}"/>
              </a:ext>
            </a:extLst>
          </p:cNvPr>
          <p:cNvSpPr>
            <a:spLocks noGrp="1"/>
          </p:cNvSpPr>
          <p:nvPr/>
        </p:nvSpPr>
        <p:spPr>
          <a:xfrm>
            <a:off x="4352925" y="1914525"/>
            <a:ext cx="247650" cy="247650"/>
          </a:xfrm>
          <a:prstGeom prst="ellipse">
            <a:avLst/>
          </a:prstGeom>
          <a:solidFill>
            <a:srgbClr val="FFFFFF"/>
          </a:solidFill>
          <a:ln w="19050">
            <a:solidFill>
              <a:srgbClr val="087F83"/>
            </a:solidFill>
          </a:ln>
        </p:spPr>
        <p:txBody>
          <a:bodyPr/>
          <a:lstStyle/>
          <a:p>
            <a:endParaRPr lang="it-IT"/>
          </a:p>
        </p:txBody>
      </p:sp>
      <p:sp>
        <p:nvSpPr>
          <p:cNvPr id="74" name="network_unit_1_1">
            <a:extLst>
              <a:ext uri="{FF2B5EF4-FFF2-40B4-BE49-F238E27FC236}">
                <a16:creationId xmlns:a16="http://schemas.microsoft.com/office/drawing/2014/main" id="{B32D63FA-9744-4073-ABF1-99605BBD0DE4}"/>
              </a:ext>
            </a:extLst>
          </p:cNvPr>
          <p:cNvSpPr>
            <a:spLocks noGrp="1"/>
          </p:cNvSpPr>
          <p:nvPr/>
        </p:nvSpPr>
        <p:spPr>
          <a:xfrm>
            <a:off x="4352925" y="2343150"/>
            <a:ext cx="247650" cy="247650"/>
          </a:xfrm>
          <a:prstGeom prst="ellipse">
            <a:avLst/>
          </a:prstGeom>
          <a:solidFill>
            <a:srgbClr val="FFFFFF"/>
          </a:solidFill>
          <a:ln w="19050">
            <a:solidFill>
              <a:srgbClr val="087F83"/>
            </a:solidFill>
          </a:ln>
        </p:spPr>
        <p:txBody>
          <a:bodyPr/>
          <a:lstStyle/>
          <a:p>
            <a:endParaRPr lang="it-IT"/>
          </a:p>
        </p:txBody>
      </p:sp>
      <p:sp>
        <p:nvSpPr>
          <p:cNvPr id="75" name="network_unit_1_2">
            <a:extLst>
              <a:ext uri="{FF2B5EF4-FFF2-40B4-BE49-F238E27FC236}">
                <a16:creationId xmlns:a16="http://schemas.microsoft.com/office/drawing/2014/main" id="{F0C7C830-A693-494D-AD28-8A9A62F58405}"/>
              </a:ext>
            </a:extLst>
          </p:cNvPr>
          <p:cNvSpPr>
            <a:spLocks noGrp="1"/>
          </p:cNvSpPr>
          <p:nvPr/>
        </p:nvSpPr>
        <p:spPr>
          <a:xfrm>
            <a:off x="4352925" y="2771775"/>
            <a:ext cx="247650" cy="247650"/>
          </a:xfrm>
          <a:prstGeom prst="ellipse">
            <a:avLst/>
          </a:prstGeom>
          <a:solidFill>
            <a:srgbClr val="FFFFFF"/>
          </a:solidFill>
          <a:ln w="19050">
            <a:solidFill>
              <a:srgbClr val="087F83"/>
            </a:solidFill>
          </a:ln>
        </p:spPr>
        <p:txBody>
          <a:bodyPr/>
          <a:lstStyle/>
          <a:p>
            <a:endParaRPr lang="it-IT"/>
          </a:p>
        </p:txBody>
      </p:sp>
      <p:sp>
        <p:nvSpPr>
          <p:cNvPr id="76" name="network_unit_1_3">
            <a:extLst>
              <a:ext uri="{FF2B5EF4-FFF2-40B4-BE49-F238E27FC236}">
                <a16:creationId xmlns:a16="http://schemas.microsoft.com/office/drawing/2014/main" id="{487AAA9D-06BA-4C17-84F5-B75A8DF4DD0A}"/>
              </a:ext>
            </a:extLst>
          </p:cNvPr>
          <p:cNvSpPr>
            <a:spLocks noGrp="1"/>
          </p:cNvSpPr>
          <p:nvPr/>
        </p:nvSpPr>
        <p:spPr>
          <a:xfrm>
            <a:off x="4352925" y="3200400"/>
            <a:ext cx="247650" cy="247650"/>
          </a:xfrm>
          <a:prstGeom prst="ellipse">
            <a:avLst/>
          </a:prstGeom>
          <a:solidFill>
            <a:srgbClr val="FFFFFF"/>
          </a:solidFill>
          <a:ln w="19050">
            <a:solidFill>
              <a:srgbClr val="087F83"/>
            </a:solidFill>
          </a:ln>
        </p:spPr>
        <p:txBody>
          <a:bodyPr/>
          <a:lstStyle/>
          <a:p>
            <a:endParaRPr lang="it-IT"/>
          </a:p>
        </p:txBody>
      </p:sp>
      <p:sp>
        <p:nvSpPr>
          <p:cNvPr id="77" name="network_unit_1_4">
            <a:extLst>
              <a:ext uri="{FF2B5EF4-FFF2-40B4-BE49-F238E27FC236}">
                <a16:creationId xmlns:a16="http://schemas.microsoft.com/office/drawing/2014/main" id="{3FC6BC52-7200-4EC0-B57E-1E08CF5A8304}"/>
              </a:ext>
            </a:extLst>
          </p:cNvPr>
          <p:cNvSpPr>
            <a:spLocks noGrp="1"/>
          </p:cNvSpPr>
          <p:nvPr/>
        </p:nvSpPr>
        <p:spPr>
          <a:xfrm>
            <a:off x="4352925" y="3629025"/>
            <a:ext cx="247650" cy="247650"/>
          </a:xfrm>
          <a:prstGeom prst="ellipse">
            <a:avLst/>
          </a:prstGeom>
          <a:solidFill>
            <a:srgbClr val="FFFFFF"/>
          </a:solidFill>
          <a:ln w="19050">
            <a:solidFill>
              <a:srgbClr val="087F83"/>
            </a:solidFill>
          </a:ln>
        </p:spPr>
        <p:txBody>
          <a:bodyPr/>
          <a:lstStyle/>
          <a:p>
            <a:endParaRPr lang="it-IT"/>
          </a:p>
        </p:txBody>
      </p:sp>
      <p:sp>
        <p:nvSpPr>
          <p:cNvPr id="78" name="network_unit_2_0">
            <a:extLst>
              <a:ext uri="{FF2B5EF4-FFF2-40B4-BE49-F238E27FC236}">
                <a16:creationId xmlns:a16="http://schemas.microsoft.com/office/drawing/2014/main" id="{05564038-253E-47BF-98B9-E64A82797819}"/>
              </a:ext>
            </a:extLst>
          </p:cNvPr>
          <p:cNvSpPr>
            <a:spLocks noGrp="1"/>
          </p:cNvSpPr>
          <p:nvPr/>
        </p:nvSpPr>
        <p:spPr>
          <a:xfrm>
            <a:off x="7400925" y="1914525"/>
            <a:ext cx="247650" cy="247650"/>
          </a:xfrm>
          <a:prstGeom prst="ellipse">
            <a:avLst/>
          </a:prstGeom>
          <a:solidFill>
            <a:srgbClr val="FFFFFF"/>
          </a:solidFill>
          <a:ln w="19050">
            <a:solidFill>
              <a:srgbClr val="087F83"/>
            </a:solidFill>
          </a:ln>
        </p:spPr>
        <p:txBody>
          <a:bodyPr/>
          <a:lstStyle/>
          <a:p>
            <a:endParaRPr lang="it-IT"/>
          </a:p>
        </p:txBody>
      </p:sp>
      <p:sp>
        <p:nvSpPr>
          <p:cNvPr id="79" name="network_unit_2_1">
            <a:extLst>
              <a:ext uri="{FF2B5EF4-FFF2-40B4-BE49-F238E27FC236}">
                <a16:creationId xmlns:a16="http://schemas.microsoft.com/office/drawing/2014/main" id="{EBF783A5-32C7-45C9-810A-EEDA0024DA7C}"/>
              </a:ext>
            </a:extLst>
          </p:cNvPr>
          <p:cNvSpPr>
            <a:spLocks noGrp="1"/>
          </p:cNvSpPr>
          <p:nvPr/>
        </p:nvSpPr>
        <p:spPr>
          <a:xfrm>
            <a:off x="7400925" y="2200275"/>
            <a:ext cx="247650" cy="247650"/>
          </a:xfrm>
          <a:prstGeom prst="ellipse">
            <a:avLst/>
          </a:prstGeom>
          <a:solidFill>
            <a:srgbClr val="FFFFFF"/>
          </a:solidFill>
          <a:ln w="19050">
            <a:solidFill>
              <a:srgbClr val="087F83"/>
            </a:solidFill>
          </a:ln>
        </p:spPr>
        <p:txBody>
          <a:bodyPr/>
          <a:lstStyle/>
          <a:p>
            <a:endParaRPr lang="it-IT"/>
          </a:p>
        </p:txBody>
      </p:sp>
      <p:sp>
        <p:nvSpPr>
          <p:cNvPr id="80" name="network_unit_2_2">
            <a:extLst>
              <a:ext uri="{FF2B5EF4-FFF2-40B4-BE49-F238E27FC236}">
                <a16:creationId xmlns:a16="http://schemas.microsoft.com/office/drawing/2014/main" id="{EE3F7508-BA37-4E78-9DA6-EBBE9A5183D6}"/>
              </a:ext>
            </a:extLst>
          </p:cNvPr>
          <p:cNvSpPr>
            <a:spLocks noGrp="1"/>
          </p:cNvSpPr>
          <p:nvPr/>
        </p:nvSpPr>
        <p:spPr>
          <a:xfrm>
            <a:off x="7400925" y="2486025"/>
            <a:ext cx="247650" cy="247650"/>
          </a:xfrm>
          <a:prstGeom prst="ellipse">
            <a:avLst/>
          </a:prstGeom>
          <a:solidFill>
            <a:srgbClr val="FFFFFF"/>
          </a:solidFill>
          <a:ln w="19050">
            <a:solidFill>
              <a:srgbClr val="087F83"/>
            </a:solidFill>
          </a:ln>
        </p:spPr>
        <p:txBody>
          <a:bodyPr/>
          <a:lstStyle/>
          <a:p>
            <a:endParaRPr lang="it-IT"/>
          </a:p>
        </p:txBody>
      </p:sp>
      <p:sp>
        <p:nvSpPr>
          <p:cNvPr id="81" name="network_unit_2_3">
            <a:extLst>
              <a:ext uri="{FF2B5EF4-FFF2-40B4-BE49-F238E27FC236}">
                <a16:creationId xmlns:a16="http://schemas.microsoft.com/office/drawing/2014/main" id="{A94E2109-5690-4E2B-9211-8180DBC25988}"/>
              </a:ext>
            </a:extLst>
          </p:cNvPr>
          <p:cNvSpPr>
            <a:spLocks noGrp="1"/>
          </p:cNvSpPr>
          <p:nvPr/>
        </p:nvSpPr>
        <p:spPr>
          <a:xfrm>
            <a:off x="7400925" y="2771775"/>
            <a:ext cx="247650" cy="247650"/>
          </a:xfrm>
          <a:prstGeom prst="ellipse">
            <a:avLst/>
          </a:prstGeom>
          <a:solidFill>
            <a:srgbClr val="FFFFFF"/>
          </a:solidFill>
          <a:ln w="19050">
            <a:solidFill>
              <a:srgbClr val="087F83"/>
            </a:solidFill>
          </a:ln>
        </p:spPr>
        <p:txBody>
          <a:bodyPr/>
          <a:lstStyle/>
          <a:p>
            <a:endParaRPr lang="it-IT"/>
          </a:p>
        </p:txBody>
      </p:sp>
      <p:sp>
        <p:nvSpPr>
          <p:cNvPr id="82" name="network_unit_2_4">
            <a:extLst>
              <a:ext uri="{FF2B5EF4-FFF2-40B4-BE49-F238E27FC236}">
                <a16:creationId xmlns:a16="http://schemas.microsoft.com/office/drawing/2014/main" id="{4FE5B51C-9897-4AD5-B406-E9A16E4EF38E}"/>
              </a:ext>
            </a:extLst>
          </p:cNvPr>
          <p:cNvSpPr>
            <a:spLocks noGrp="1"/>
          </p:cNvSpPr>
          <p:nvPr/>
        </p:nvSpPr>
        <p:spPr>
          <a:xfrm>
            <a:off x="7400925" y="3057525"/>
            <a:ext cx="247650" cy="247650"/>
          </a:xfrm>
          <a:prstGeom prst="ellipse">
            <a:avLst/>
          </a:prstGeom>
          <a:solidFill>
            <a:srgbClr val="FFFFFF"/>
          </a:solidFill>
          <a:ln w="19050">
            <a:solidFill>
              <a:srgbClr val="087F83"/>
            </a:solidFill>
          </a:ln>
        </p:spPr>
        <p:txBody>
          <a:bodyPr/>
          <a:lstStyle/>
          <a:p>
            <a:endParaRPr lang="it-IT"/>
          </a:p>
        </p:txBody>
      </p:sp>
      <p:sp>
        <p:nvSpPr>
          <p:cNvPr id="83" name="network_unit_2_5">
            <a:extLst>
              <a:ext uri="{FF2B5EF4-FFF2-40B4-BE49-F238E27FC236}">
                <a16:creationId xmlns:a16="http://schemas.microsoft.com/office/drawing/2014/main" id="{AF16E4A3-F4FD-4B58-AD5A-65A06710D94C}"/>
              </a:ext>
            </a:extLst>
          </p:cNvPr>
          <p:cNvSpPr>
            <a:spLocks noGrp="1"/>
          </p:cNvSpPr>
          <p:nvPr/>
        </p:nvSpPr>
        <p:spPr>
          <a:xfrm>
            <a:off x="7400925" y="3343275"/>
            <a:ext cx="247650" cy="247650"/>
          </a:xfrm>
          <a:prstGeom prst="ellipse">
            <a:avLst/>
          </a:prstGeom>
          <a:solidFill>
            <a:srgbClr val="FFFFFF"/>
          </a:solidFill>
          <a:ln w="19050">
            <a:solidFill>
              <a:srgbClr val="087F83"/>
            </a:solidFill>
          </a:ln>
        </p:spPr>
        <p:txBody>
          <a:bodyPr/>
          <a:lstStyle/>
          <a:p>
            <a:endParaRPr lang="it-IT"/>
          </a:p>
        </p:txBody>
      </p:sp>
      <p:sp>
        <p:nvSpPr>
          <p:cNvPr id="84" name="network_unit_2_6">
            <a:extLst>
              <a:ext uri="{FF2B5EF4-FFF2-40B4-BE49-F238E27FC236}">
                <a16:creationId xmlns:a16="http://schemas.microsoft.com/office/drawing/2014/main" id="{A8ED0E6A-5F5E-4A89-BC75-9C47A39EFBE9}"/>
              </a:ext>
            </a:extLst>
          </p:cNvPr>
          <p:cNvSpPr>
            <a:spLocks noGrp="1"/>
          </p:cNvSpPr>
          <p:nvPr/>
        </p:nvSpPr>
        <p:spPr>
          <a:xfrm>
            <a:off x="7400925" y="3629025"/>
            <a:ext cx="247650" cy="247650"/>
          </a:xfrm>
          <a:prstGeom prst="ellipse">
            <a:avLst/>
          </a:prstGeom>
          <a:solidFill>
            <a:srgbClr val="FFFFFF"/>
          </a:solidFill>
          <a:ln w="19050">
            <a:solidFill>
              <a:srgbClr val="087F83"/>
            </a:solidFill>
          </a:ln>
        </p:spPr>
        <p:txBody>
          <a:bodyPr/>
          <a:lstStyle/>
          <a:p>
            <a:endParaRPr lang="it-IT"/>
          </a:p>
        </p:txBody>
      </p:sp>
      <p:sp>
        <p:nvSpPr>
          <p:cNvPr id="85" name="network_unit_3_0">
            <a:extLst>
              <a:ext uri="{FF2B5EF4-FFF2-40B4-BE49-F238E27FC236}">
                <a16:creationId xmlns:a16="http://schemas.microsoft.com/office/drawing/2014/main" id="{0956C5EB-9293-4D21-99AD-621AF34D0C09}"/>
              </a:ext>
            </a:extLst>
          </p:cNvPr>
          <p:cNvSpPr>
            <a:spLocks noGrp="1"/>
          </p:cNvSpPr>
          <p:nvPr/>
        </p:nvSpPr>
        <p:spPr>
          <a:xfrm>
            <a:off x="10448925" y="1914525"/>
            <a:ext cx="247650" cy="247650"/>
          </a:xfrm>
          <a:prstGeom prst="ellipse">
            <a:avLst/>
          </a:prstGeom>
          <a:solidFill>
            <a:srgbClr val="FFFFFF"/>
          </a:solidFill>
          <a:ln w="19050">
            <a:solidFill>
              <a:srgbClr val="C45C28"/>
            </a:solidFill>
          </a:ln>
        </p:spPr>
        <p:txBody>
          <a:bodyPr/>
          <a:lstStyle/>
          <a:p>
            <a:endParaRPr lang="it-IT"/>
          </a:p>
        </p:txBody>
      </p:sp>
      <p:sp>
        <p:nvSpPr>
          <p:cNvPr id="86" name="network_unit_3_1">
            <a:extLst>
              <a:ext uri="{FF2B5EF4-FFF2-40B4-BE49-F238E27FC236}">
                <a16:creationId xmlns:a16="http://schemas.microsoft.com/office/drawing/2014/main" id="{9F7A45B1-929A-4051-AC4F-590CA09077BD}"/>
              </a:ext>
            </a:extLst>
          </p:cNvPr>
          <p:cNvSpPr>
            <a:spLocks noGrp="1"/>
          </p:cNvSpPr>
          <p:nvPr/>
        </p:nvSpPr>
        <p:spPr>
          <a:xfrm>
            <a:off x="10448925" y="2771775"/>
            <a:ext cx="247650" cy="247650"/>
          </a:xfrm>
          <a:prstGeom prst="ellipse">
            <a:avLst/>
          </a:prstGeom>
          <a:solidFill>
            <a:srgbClr val="FFFFFF"/>
          </a:solidFill>
          <a:ln w="19050">
            <a:solidFill>
              <a:srgbClr val="C45C28"/>
            </a:solidFill>
          </a:ln>
        </p:spPr>
        <p:txBody>
          <a:bodyPr/>
          <a:lstStyle/>
          <a:p>
            <a:endParaRPr lang="it-IT"/>
          </a:p>
        </p:txBody>
      </p:sp>
      <p:sp>
        <p:nvSpPr>
          <p:cNvPr id="87" name="network_unit_3_2">
            <a:extLst>
              <a:ext uri="{FF2B5EF4-FFF2-40B4-BE49-F238E27FC236}">
                <a16:creationId xmlns:a16="http://schemas.microsoft.com/office/drawing/2014/main" id="{CDF3EA4B-1105-4752-9CCB-EF20543011B5}"/>
              </a:ext>
            </a:extLst>
          </p:cNvPr>
          <p:cNvSpPr>
            <a:spLocks noGrp="1"/>
          </p:cNvSpPr>
          <p:nvPr/>
        </p:nvSpPr>
        <p:spPr>
          <a:xfrm>
            <a:off x="10448925" y="3629025"/>
            <a:ext cx="247650" cy="247650"/>
          </a:xfrm>
          <a:prstGeom prst="ellipse">
            <a:avLst/>
          </a:prstGeom>
          <a:solidFill>
            <a:srgbClr val="FFFFFF"/>
          </a:solidFill>
          <a:ln w="19050">
            <a:solidFill>
              <a:srgbClr val="C45C28"/>
            </a:solidFill>
          </a:ln>
        </p:spPr>
        <p:txBody>
          <a:bodyPr/>
          <a:lstStyle/>
          <a:p>
            <a:endParaRPr lang="it-IT"/>
          </a:p>
        </p:txBody>
      </p:sp>
      <mc:AlternateContent xmlns:mc="http://schemas.openxmlformats.org/markup-compatibility/2006" xmlns:a14="http://schemas.microsoft.com/office/drawing/2010/main">
        <mc:Choice Requires="a14">
          <p:sp>
            <p:nvSpPr>
              <p:cNvPr id="92" name="component_definition" descr="\bm\phi_0(\bm x)=\bm x,\qquad\bm\phi_r(\bm x):=(\phi_{r,1}(\bm x),\ldots,\phi_{r,m_r}(\bm x)),\quad r=1,\ldots,L-1">
                <a:extLst>
                  <a:ext uri="{FF2B5EF4-FFF2-40B4-BE49-F238E27FC236}">
                    <a16:creationId xmlns:a16="http://schemas.microsoft.com/office/drawing/2014/main" id="{10863436-4DDE-440B-B054-A221EE7465F3}"/>
                  </a:ext>
                </a:extLst>
              </p:cNvPr>
              <p:cNvSpPr>
                <a:spLocks noGrp="1"/>
              </p:cNvSpPr>
              <p:nvPr/>
            </p:nvSpPr>
            <p:spPr>
              <a:xfrm>
                <a:off x="285750" y="4562475"/>
                <a:ext cx="11620500" cy="4286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𝛟</m:t>
                          </m:r>
                        </m:e>
                        <m:sub>
                          <m:r>
                            <a:rPr lang="en-GB" sz="2400">
                              <a:solidFill>
                                <a:srgbClr val="087F83"/>
                              </a:solidFill>
                              <a:latin typeface="Cambria Math"/>
                              <a:ea typeface="Cambria Math"/>
                              <a:cs typeface="Cambria Math"/>
                            </a:rPr>
                            <m:t>0</m:t>
                          </m:r>
                        </m:sub>
                      </m:sSub>
                      <m:r>
                        <a:rPr lang="en-GB" sz="2400">
                          <a:solidFill>
                            <a:srgbClr val="087F83"/>
                          </a:solidFill>
                          <a:latin typeface="Cambria Math"/>
                          <a:ea typeface="Cambria Math"/>
                          <a:cs typeface="Cambria Math"/>
                        </a:rPr>
                        <m:t>(</m:t>
                      </m:r>
                      <m:r>
                        <a:rPr lang="en-GB" sz="2400">
                          <a:solidFill>
                            <a:srgbClr val="087F83"/>
                          </a:solidFill>
                          <a:latin typeface="Cambria Math"/>
                          <a:ea typeface="Cambria Math"/>
                          <a:cs typeface="Cambria Math"/>
                        </a:rPr>
                        <m:t>𝐱</m:t>
                      </m:r>
                      <m:r>
                        <a:rPr lang="en-GB" sz="2400">
                          <a:solidFill>
                            <a:srgbClr val="087F83"/>
                          </a:solidFill>
                          <a:latin typeface="Cambria Math"/>
                          <a:ea typeface="Cambria Math"/>
                          <a:cs typeface="Cambria Math"/>
                        </a:rPr>
                        <m:t>)=</m:t>
                      </m:r>
                      <m:r>
                        <a:rPr lang="en-GB" sz="2400">
                          <a:solidFill>
                            <a:srgbClr val="087F83"/>
                          </a:solidFill>
                          <a:latin typeface="Cambria Math"/>
                          <a:ea typeface="Cambria Math"/>
                          <a:cs typeface="Cambria Math"/>
                        </a:rPr>
                        <m:t>𝐱</m:t>
                      </m:r>
                      <m:r>
                        <a:rPr lang="en-GB" sz="2400">
                          <a:solidFill>
                            <a:srgbClr val="087F83"/>
                          </a:solidFill>
                          <a:latin typeface="Cambria Math"/>
                          <a:ea typeface="Cambria Math"/>
                          <a:cs typeface="Cambria Math"/>
                        </a:rPr>
                        <m:t>,  </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𝛟</m:t>
                          </m:r>
                        </m:e>
                        <m:sub>
                          <m:r>
                            <a:rPr lang="en-GB" sz="2400">
                              <a:solidFill>
                                <a:srgbClr val="087F83"/>
                              </a:solidFill>
                              <a:latin typeface="Cambria Math"/>
                              <a:ea typeface="Cambria Math"/>
                              <a:cs typeface="Cambria Math"/>
                            </a:rPr>
                            <m:t>𝑟</m:t>
                          </m:r>
                        </m:sub>
                      </m:sSub>
                      <m:r>
                        <a:rPr lang="en-GB" sz="2400">
                          <a:solidFill>
                            <a:srgbClr val="087F83"/>
                          </a:solidFill>
                          <a:latin typeface="Cambria Math"/>
                          <a:ea typeface="Cambria Math"/>
                          <a:cs typeface="Cambria Math"/>
                        </a:rPr>
                        <m:t>(</m:t>
                      </m:r>
                      <m:r>
                        <a:rPr lang="en-GB" sz="2400">
                          <a:solidFill>
                            <a:srgbClr val="087F83"/>
                          </a:solidFill>
                          <a:latin typeface="Cambria Math"/>
                          <a:ea typeface="Cambria Math"/>
                          <a:cs typeface="Cambria Math"/>
                        </a:rPr>
                        <m:t>𝐱</m:t>
                      </m:r>
                      <m:r>
                        <a:rPr lang="en-GB" sz="2400">
                          <a:solidFill>
                            <a:srgbClr val="087F83"/>
                          </a:solidFill>
                          <a:latin typeface="Cambria Math"/>
                          <a:ea typeface="Cambria Math"/>
                          <a:cs typeface="Cambria Math"/>
                        </a:rPr>
                        <m:t>):=(</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𝜙</m:t>
                          </m:r>
                        </m:e>
                        <m:sub>
                          <m:r>
                            <a:rPr lang="en-GB" sz="2400">
                              <a:solidFill>
                                <a:srgbClr val="087F83"/>
                              </a:solidFill>
                              <a:latin typeface="Cambria Math"/>
                              <a:ea typeface="Cambria Math"/>
                              <a:cs typeface="Cambria Math"/>
                            </a:rPr>
                            <m:t>𝑟</m:t>
                          </m:r>
                          <m:r>
                            <a:rPr lang="en-GB" sz="2400">
                              <a:solidFill>
                                <a:srgbClr val="087F83"/>
                              </a:solidFill>
                              <a:latin typeface="Cambria Math"/>
                              <a:ea typeface="Cambria Math"/>
                              <a:cs typeface="Cambria Math"/>
                            </a:rPr>
                            <m:t>,1</m:t>
                          </m:r>
                        </m:sub>
                      </m:sSub>
                      <m:r>
                        <a:rPr lang="en-GB" sz="2400">
                          <a:solidFill>
                            <a:srgbClr val="087F83"/>
                          </a:solidFill>
                          <a:latin typeface="Cambria Math"/>
                          <a:ea typeface="Cambria Math"/>
                          <a:cs typeface="Cambria Math"/>
                        </a:rPr>
                        <m:t>(</m:t>
                      </m:r>
                      <m:r>
                        <a:rPr lang="en-GB" sz="2400">
                          <a:solidFill>
                            <a:srgbClr val="087F83"/>
                          </a:solidFill>
                          <a:latin typeface="Cambria Math"/>
                          <a:ea typeface="Cambria Math"/>
                          <a:cs typeface="Cambria Math"/>
                        </a:rPr>
                        <m:t>𝐱</m:t>
                      </m:r>
                      <m:r>
                        <a:rPr lang="en-GB" sz="2400">
                          <a:solidFill>
                            <a:srgbClr val="087F83"/>
                          </a:solidFill>
                          <a:latin typeface="Cambria Math"/>
                          <a:ea typeface="Cambria Math"/>
                          <a:cs typeface="Cambria Math"/>
                        </a:rPr>
                        <m:t>),…,</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𝜙</m:t>
                          </m:r>
                        </m:e>
                        <m:sub>
                          <m:r>
                            <a:rPr lang="en-GB" sz="2400">
                              <a:solidFill>
                                <a:srgbClr val="087F83"/>
                              </a:solidFill>
                              <a:latin typeface="Cambria Math"/>
                              <a:ea typeface="Cambria Math"/>
                              <a:cs typeface="Cambria Math"/>
                            </a:rPr>
                            <m:t>𝑟</m:t>
                          </m:r>
                          <m:r>
                            <a:rPr lang="en-GB" sz="2400">
                              <a:solidFill>
                                <a:srgbClr val="087F83"/>
                              </a:solidFill>
                              <a:latin typeface="Cambria Math"/>
                              <a:ea typeface="Cambria Math"/>
                              <a:cs typeface="Cambria Math"/>
                            </a:rPr>
                            <m:t>,</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𝑚</m:t>
                              </m:r>
                            </m:e>
                            <m:sub>
                              <m:r>
                                <a:rPr lang="en-GB" sz="2400">
                                  <a:solidFill>
                                    <a:srgbClr val="087F83"/>
                                  </a:solidFill>
                                  <a:latin typeface="Cambria Math"/>
                                  <a:ea typeface="Cambria Math"/>
                                  <a:cs typeface="Cambria Math"/>
                                </a:rPr>
                                <m:t>𝑟</m:t>
                              </m:r>
                            </m:sub>
                          </m:sSub>
                        </m:sub>
                      </m:sSub>
                      <m:r>
                        <a:rPr lang="en-GB" sz="2400">
                          <a:solidFill>
                            <a:srgbClr val="087F83"/>
                          </a:solidFill>
                          <a:latin typeface="Cambria Math"/>
                          <a:ea typeface="Cambria Math"/>
                          <a:cs typeface="Cambria Math"/>
                        </a:rPr>
                        <m:t>(</m:t>
                      </m:r>
                      <m:r>
                        <a:rPr lang="en-GB" sz="2400">
                          <a:solidFill>
                            <a:srgbClr val="087F83"/>
                          </a:solidFill>
                          <a:latin typeface="Cambria Math"/>
                          <a:ea typeface="Cambria Math"/>
                          <a:cs typeface="Cambria Math"/>
                        </a:rPr>
                        <m:t>𝐱</m:t>
                      </m:r>
                      <m:r>
                        <a:rPr lang="en-GB" sz="2400">
                          <a:solidFill>
                            <a:srgbClr val="087F83"/>
                          </a:solidFill>
                          <a:latin typeface="Cambria Math"/>
                          <a:ea typeface="Cambria Math"/>
                          <a:cs typeface="Cambria Math"/>
                        </a:rPr>
                        <m:t>)), </m:t>
                      </m:r>
                      <m:r>
                        <a:rPr lang="en-GB" sz="2400">
                          <a:solidFill>
                            <a:srgbClr val="087F83"/>
                          </a:solidFill>
                          <a:latin typeface="Cambria Math"/>
                          <a:ea typeface="Cambria Math"/>
                          <a:cs typeface="Cambria Math"/>
                        </a:rPr>
                        <m:t>𝑟</m:t>
                      </m:r>
                      <m:r>
                        <a:rPr lang="en-GB" sz="2400">
                          <a:solidFill>
                            <a:srgbClr val="087F83"/>
                          </a:solidFill>
                          <a:latin typeface="Cambria Math"/>
                          <a:ea typeface="Cambria Math"/>
                          <a:cs typeface="Cambria Math"/>
                        </a:rPr>
                        <m:t>=1,…,</m:t>
                      </m:r>
                      <m:r>
                        <a:rPr lang="en-GB" sz="2400">
                          <a:solidFill>
                            <a:srgbClr val="087F83"/>
                          </a:solidFill>
                          <a:latin typeface="Cambria Math"/>
                          <a:ea typeface="Cambria Math"/>
                          <a:cs typeface="Cambria Math"/>
                        </a:rPr>
                        <m:t>𝐿</m:t>
                      </m:r>
                      <m:r>
                        <a:rPr lang="en-GB" sz="2400">
                          <a:solidFill>
                            <a:srgbClr val="087F83"/>
                          </a:solidFill>
                          <a:latin typeface="Cambria Math"/>
                          <a:ea typeface="Cambria Math"/>
                          <a:cs typeface="Cambria Math"/>
                        </a:rPr>
                        <m:t>−1</m:t>
                      </m:r>
                    </m:oMath>
                  </m:oMathPara>
                </a14:m>
                <a:endParaRPr lang="en-GB" sz="2400"/>
              </a:p>
            </p:txBody>
          </p:sp>
        </mc:Choice>
        <mc:Fallback xmlns="">
          <p:sp>
            <p:nvSpPr>
              <p:cNvPr id="92" name="component_definition" descr="\bm\phi_0(\bm x)=\bm x,\qquad\bm\phi_r(\bm x):=(\phi_{r,1}(\bm x),\ldots,\phi_{r,m_r}(\bm x)),\quad r=1,\ldots,L-1">
                <a:extLst>
                  <a:ext uri="{FF2B5EF4-FFF2-40B4-BE49-F238E27FC236}">
                    <a16:creationId xmlns:a16="http://schemas.microsoft.com/office/drawing/2014/main" id="{10863436-4DDE-440B-B054-A221EE7465F3}"/>
                  </a:ext>
                </a:extLst>
              </p:cNvPr>
              <p:cNvSpPr>
                <a:spLocks noGrp="1" noRot="1" noChangeAspect="1" noMove="1" noResize="1" noEditPoints="1" noAdjustHandles="1" noChangeArrowheads="1" noChangeShapeType="1" noTextEdit="1"/>
              </p:cNvSpPr>
              <p:nvPr/>
            </p:nvSpPr>
            <p:spPr>
              <a:xfrm>
                <a:off x="285750" y="4562475"/>
                <a:ext cx="11620500" cy="428625"/>
              </a:xfrm>
              <a:prstGeom prst="rect">
                <a:avLst/>
              </a:prstGeom>
              <a:blipFill>
                <a:blip r:embed="rId4"/>
                <a:stretch>
                  <a:fillRect b="-2112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3" name="hidden_recursion" descr="\boldsymbol{\phi}_0(\mathbf{x})=\mathbf{x},\quad\boldsymbol{\phi}_r(\mathbf{x})=\mathbf{ReLU}(\boldsymbol{\phi}_{r-1}(\mathbf{x})\mathbf{W}_r+\mathbf{b}_r)">
                <a:extLst>
                  <a:ext uri="{FF2B5EF4-FFF2-40B4-BE49-F238E27FC236}">
                    <a16:creationId xmlns:a16="http://schemas.microsoft.com/office/drawing/2014/main" id="{A805226D-734D-463B-B7FE-7103B008F39B}"/>
                  </a:ext>
                </a:extLst>
              </p:cNvPr>
              <p:cNvSpPr>
                <a:spLocks noGrp="1"/>
              </p:cNvSpPr>
              <p:nvPr/>
            </p:nvSpPr>
            <p:spPr>
              <a:xfrm>
                <a:off x="285750" y="5067300"/>
                <a:ext cx="11620500" cy="409575"/>
              </a:xfrm>
              <a:prstGeom prst="rect">
                <a:avLst/>
              </a:prstGeom>
              <a:noFill/>
              <a:ln w="0">
                <a:noFill/>
              </a:ln>
            </p:spPr>
            <p:txBody>
              <a:bodyPr wrap="none" lIns="0" tIns="0" rIns="0" bIns="0" anchor="ctr">
                <a:noAutofit/>
              </a:bodyPr>
              <a:lstStyle/>
              <a:p>
                <a:pPr algn="ctr"/>
                <a:r>
                  <a:rPr lang="en-GB" sz="2500" b="0">
                    <a:solidFill>
                      <a:srgbClr val="FF0000"/>
                    </a:solidFill>
                    <a:latin typeface="DejaVu Sans"/>
                  </a:rPr>
                  <a:t>Preactivations: </a:t>
                </a:r>
                <a14:m>
                  <m:oMath xmlns:m="http://schemas.openxmlformats.org/officeDocument/2006/math">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𝐚</m:t>
                        </m:r>
                      </m:e>
                      <m:sub>
                        <m:r>
                          <a:rPr lang="en-GB" sz="2500">
                            <a:solidFill>
                              <a:srgbClr val="087F83"/>
                            </a:solidFill>
                            <a:latin typeface="Cambria Math"/>
                            <a:ea typeface="Cambria Math"/>
                            <a:cs typeface="Cambria Math"/>
                          </a:rPr>
                          <m:t>𝑟</m:t>
                        </m:r>
                      </m:sub>
                    </m:sSub>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𝐱</m:t>
                    </m:r>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𝛟</m:t>
                        </m:r>
                      </m:e>
                      <m:sub>
                        <m:r>
                          <a:rPr lang="en-GB" sz="2500">
                            <a:solidFill>
                              <a:srgbClr val="087F83"/>
                            </a:solidFill>
                            <a:latin typeface="Cambria Math"/>
                            <a:ea typeface="Cambria Math"/>
                            <a:cs typeface="Cambria Math"/>
                          </a:rPr>
                          <m:t>𝑟</m:t>
                        </m:r>
                        <m:r>
                          <a:rPr lang="en-GB" sz="2500">
                            <a:solidFill>
                              <a:srgbClr val="087F83"/>
                            </a:solidFill>
                            <a:latin typeface="Cambria Math"/>
                            <a:ea typeface="Cambria Math"/>
                            <a:cs typeface="Cambria Math"/>
                          </a:rPr>
                          <m:t>−1</m:t>
                        </m:r>
                      </m:sub>
                    </m:sSub>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𝐱</m:t>
                    </m:r>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𝐖</m:t>
                        </m:r>
                      </m:e>
                      <m:sub>
                        <m:r>
                          <a:rPr lang="en-GB" sz="2500">
                            <a:solidFill>
                              <a:srgbClr val="087F83"/>
                            </a:solidFill>
                            <a:latin typeface="Cambria Math"/>
                            <a:ea typeface="Cambria Math"/>
                            <a:cs typeface="Cambria Math"/>
                          </a:rPr>
                          <m:t>𝑟</m:t>
                        </m:r>
                      </m:sub>
                    </m:sSub>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𝐛</m:t>
                        </m:r>
                      </m:e>
                      <m:sub>
                        <m:r>
                          <a:rPr lang="en-GB" sz="2500">
                            <a:solidFill>
                              <a:srgbClr val="087F83"/>
                            </a:solidFill>
                            <a:latin typeface="Cambria Math"/>
                            <a:ea typeface="Cambria Math"/>
                            <a:cs typeface="Cambria Math"/>
                          </a:rPr>
                          <m:t>𝑟</m:t>
                        </m:r>
                      </m:sub>
                    </m:sSub>
                  </m:oMath>
                </a14:m>
                <a:endParaRPr lang="en-GB" sz="2500"/>
              </a:p>
            </p:txBody>
          </p:sp>
        </mc:Choice>
        <mc:Fallback xmlns="">
          <p:sp>
            <p:nvSpPr>
              <p:cNvPr id="93" name="hidden_recursion" descr="\boldsymbol{\phi}_0(\mathbf{x})=\mathbf{x},\quad\boldsymbol{\phi}_r(\mathbf{x})=\mathbf{ReLU}(\boldsymbol{\phi}_{r-1}(\mathbf{x})\mathbf{W}_r+\mathbf{b}_r)">
                <a:extLst>
                  <a:ext uri="{FF2B5EF4-FFF2-40B4-BE49-F238E27FC236}">
                    <a16:creationId xmlns:a16="http://schemas.microsoft.com/office/drawing/2014/main" id="{A805226D-734D-463B-B7FE-7103B008F39B}"/>
                  </a:ext>
                </a:extLst>
              </p:cNvPr>
              <p:cNvSpPr>
                <a:spLocks noGrp="1" noRot="1" noChangeAspect="1" noMove="1" noResize="1" noEditPoints="1" noAdjustHandles="1" noChangeArrowheads="1" noChangeShapeType="1" noTextEdit="1"/>
              </p:cNvSpPr>
              <p:nvPr/>
            </p:nvSpPr>
            <p:spPr>
              <a:xfrm>
                <a:off x="285750" y="5067300"/>
                <a:ext cx="11620500" cy="409575"/>
              </a:xfrm>
              <a:prstGeom prst="rect">
                <a:avLst/>
              </a:prstGeom>
              <a:blipFill>
                <a:blip r:embed="rId5"/>
                <a:stretch>
                  <a:fillRect t="-22388" b="-4029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4" name="output_recursion" descr="r=1,\ldots,L-1,\qquad\mathbf{f}_{\boldsymbol{\theta}}(\mathbf{x})=\boldsymbol{\phi}_{L-1}(\mathbf{x})\mathbf{W}_L+\mathbf{b}_L">
                <a:extLst>
                  <a:ext uri="{FF2B5EF4-FFF2-40B4-BE49-F238E27FC236}">
                    <a16:creationId xmlns:a16="http://schemas.microsoft.com/office/drawing/2014/main" id="{C9E9DF25-B88C-4F9F-99B2-ACE45BF5C4B1}"/>
                  </a:ext>
                </a:extLst>
              </p:cNvPr>
              <p:cNvSpPr>
                <a:spLocks noGrp="1"/>
              </p:cNvSpPr>
              <p:nvPr/>
            </p:nvSpPr>
            <p:spPr>
              <a:xfrm>
                <a:off x="285750" y="6019800"/>
                <a:ext cx="11620500" cy="409575"/>
              </a:xfrm>
              <a:prstGeom prst="rect">
                <a:avLst/>
              </a:prstGeom>
              <a:noFill/>
              <a:ln w="0">
                <a:noFill/>
              </a:ln>
            </p:spPr>
            <p:txBody>
              <a:bodyPr wrap="none" lIns="0" tIns="0" rIns="0" bIns="0" anchor="ctr">
                <a:noAutofit/>
              </a:bodyPr>
              <a:lstStyle/>
              <a:p>
                <a:pPr algn="ctr"/>
                <a:r>
                  <a:rPr lang="en-GB" sz="2500" b="0">
                    <a:solidFill>
                      <a:srgbClr val="FF0000"/>
                    </a:solidFill>
                    <a:latin typeface="DejaVu Sans"/>
                  </a:rPr>
                  <a:t>Output: </a:t>
                </a:r>
                <a14:m>
                  <m:oMath xmlns:m="http://schemas.openxmlformats.org/officeDocument/2006/math">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𝐟</m:t>
                        </m:r>
                      </m:e>
                      <m:sub>
                        <m:r>
                          <a:rPr lang="en-GB" sz="2500">
                            <a:solidFill>
                              <a:srgbClr val="087F83"/>
                            </a:solidFill>
                            <a:latin typeface="Cambria Math"/>
                            <a:ea typeface="Cambria Math"/>
                            <a:cs typeface="Cambria Math"/>
                          </a:rPr>
                          <m:t>𝛉</m:t>
                        </m:r>
                      </m:sub>
                    </m:sSub>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𝐱</m:t>
                    </m:r>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𝛟</m:t>
                        </m:r>
                      </m:e>
                      <m:sub>
                        <m:r>
                          <a:rPr lang="en-GB" sz="2500">
                            <a:solidFill>
                              <a:srgbClr val="087F83"/>
                            </a:solidFill>
                            <a:latin typeface="Cambria Math"/>
                            <a:ea typeface="Cambria Math"/>
                            <a:cs typeface="Cambria Math"/>
                          </a:rPr>
                          <m:t>𝐿</m:t>
                        </m:r>
                        <m:r>
                          <a:rPr lang="en-GB" sz="2500">
                            <a:solidFill>
                              <a:srgbClr val="087F83"/>
                            </a:solidFill>
                            <a:latin typeface="Cambria Math"/>
                            <a:ea typeface="Cambria Math"/>
                            <a:cs typeface="Cambria Math"/>
                          </a:rPr>
                          <m:t>−1</m:t>
                        </m:r>
                      </m:sub>
                    </m:sSub>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𝐱</m:t>
                    </m:r>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𝐖</m:t>
                        </m:r>
                      </m:e>
                      <m:sub>
                        <m:r>
                          <a:rPr lang="en-GB" sz="2500">
                            <a:solidFill>
                              <a:srgbClr val="087F83"/>
                            </a:solidFill>
                            <a:latin typeface="Cambria Math"/>
                            <a:ea typeface="Cambria Math"/>
                            <a:cs typeface="Cambria Math"/>
                          </a:rPr>
                          <m:t>𝐿</m:t>
                        </m:r>
                      </m:sub>
                    </m:sSub>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𝐛</m:t>
                        </m:r>
                      </m:e>
                      <m:sub>
                        <m:r>
                          <a:rPr lang="en-GB" sz="2500">
                            <a:solidFill>
                              <a:srgbClr val="087F83"/>
                            </a:solidFill>
                            <a:latin typeface="Cambria Math"/>
                            <a:ea typeface="Cambria Math"/>
                            <a:cs typeface="Cambria Math"/>
                          </a:rPr>
                          <m:t>𝐿</m:t>
                        </m:r>
                      </m:sub>
                    </m:sSub>
                  </m:oMath>
                </a14:m>
                <a:endParaRPr lang="en-GB" sz="2500"/>
              </a:p>
            </p:txBody>
          </p:sp>
        </mc:Choice>
        <mc:Fallback xmlns="">
          <p:sp>
            <p:nvSpPr>
              <p:cNvPr id="94" name="output_recursion" descr="r=1,\ldots,L-1,\qquad\mathbf{f}_{\boldsymbol{\theta}}(\mathbf{x})=\boldsymbol{\phi}_{L-1}(\mathbf{x})\mathbf{W}_L+\mathbf{b}_L">
                <a:extLst>
                  <a:ext uri="{FF2B5EF4-FFF2-40B4-BE49-F238E27FC236}">
                    <a16:creationId xmlns:a16="http://schemas.microsoft.com/office/drawing/2014/main" id="{C9E9DF25-B88C-4F9F-99B2-ACE45BF5C4B1}"/>
                  </a:ext>
                </a:extLst>
              </p:cNvPr>
              <p:cNvSpPr>
                <a:spLocks noGrp="1" noRot="1" noChangeAspect="1" noMove="1" noResize="1" noEditPoints="1" noAdjustHandles="1" noChangeArrowheads="1" noChangeShapeType="1" noTextEdit="1"/>
              </p:cNvSpPr>
              <p:nvPr/>
            </p:nvSpPr>
            <p:spPr>
              <a:xfrm>
                <a:off x="285750" y="6019800"/>
                <a:ext cx="11620500" cy="409575"/>
              </a:xfrm>
              <a:prstGeom prst="rect">
                <a:avLst/>
              </a:prstGeom>
              <a:blipFill>
                <a:blip r:embed="rId6"/>
                <a:stretch>
                  <a:fillRect t="-23881" b="-38806"/>
                </a:stretch>
              </a:blipFill>
              <a:ln w="0">
                <a:noFill/>
              </a:ln>
            </p:spPr>
            <p:txBody>
              <a:bodyPr/>
              <a:lstStyle/>
              <a:p>
                <a:r>
                  <a:rPr lang="it-IT">
                    <a:noFill/>
                  </a:rPr>
                  <a:t> </a:t>
                </a:r>
              </a:p>
            </p:txBody>
          </p:sp>
        </mc:Fallback>
      </mc:AlternateContent>
      <p:sp>
        <p:nvSpPr>
          <p:cNvPr id="95" name="footer_course">
            <a:extLst>
              <a:ext uri="{FF2B5EF4-FFF2-40B4-BE49-F238E27FC236}">
                <a16:creationId xmlns:a16="http://schemas.microsoft.com/office/drawing/2014/main" id="{4E8957BD-D252-4D23-9522-4DE467B184E1}"/>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96" name="footer_number">
            <a:extLst>
              <a:ext uri="{FF2B5EF4-FFF2-40B4-BE49-F238E27FC236}">
                <a16:creationId xmlns:a16="http://schemas.microsoft.com/office/drawing/2014/main" id="{2B10BEC0-5843-476A-8FEC-5B3D3F40E2AE}"/>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20</a:t>
            </a:r>
          </a:p>
        </p:txBody>
      </p:sp>
      <mc:AlternateContent xmlns:mc="http://schemas.openxmlformats.org/markup-compatibility/2006" xmlns:a14="http://schemas.microsoft.com/office/drawing/2010/main">
        <mc:Choice Requires="a14">
          <p:sp>
            <p:nvSpPr>
              <p:cNvPr id="113" name="network_caption_0">
                <a:extLst>
                  <a:ext uri="{FF2B5EF4-FFF2-40B4-BE49-F238E27FC236}">
                    <a16:creationId xmlns:a16="http://schemas.microsoft.com/office/drawing/2014/main" id="{4A6C3825-273B-C416-6CC6-6B983BAFBBBE}"/>
                  </a:ext>
                </a:extLst>
              </p:cNvPr>
              <p:cNvSpPr>
                <a:spLocks noGrp="1"/>
              </p:cNvSpPr>
              <p:nvPr/>
            </p:nvSpPr>
            <p:spPr>
              <a:xfrm>
                <a:off x="47625" y="3924300"/>
                <a:ext cx="2762250" cy="571500"/>
              </a:xfrm>
              <a:prstGeom prst="rect">
                <a:avLst/>
              </a:prstGeom>
              <a:noFill/>
              <a:ln w="0">
                <a:noFill/>
              </a:ln>
            </p:spPr>
            <p:txBody>
              <a:bodyPr wrap="none" lIns="0" tIns="0" rIns="0" bIns="0" anchor="ctr">
                <a:noAutofit/>
              </a:bodyPr>
              <a:lstStyle/>
              <a:p>
                <a:pPr algn="ctr">
                  <a:lnSpc>
                    <a:spcPts val="2300"/>
                  </a:lnSpc>
                </a:pPr>
                <a:r>
                  <a:rPr lang="en-GB" sz="1800" b="0">
                    <a:solidFill>
                      <a:srgbClr val="182D45"/>
                    </a:solidFill>
                    <a:latin typeface="DejaVu Sans"/>
                  </a:rPr>
                  <a:t>Input:</a:t>
                </a:r>
                <a:endParaRPr lang="en-GB" sz="1800"/>
              </a:p>
              <a:p>
                <a:pPr algn="ctr">
                  <a:lnSpc>
                    <a:spcPts val="2300"/>
                  </a:lnSpc>
                </a:pPr>
                <a14:m>
                  <m:oMath xmlns:m="http://schemas.openxmlformats.org/officeDocument/2006/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𝑚</m:t>
                        </m:r>
                      </m:e>
                      <m:sub>
                        <m:r>
                          <a:rPr lang="en-GB" sz="1800">
                            <a:solidFill>
                              <a:srgbClr val="182D45"/>
                            </a:solidFill>
                            <a:latin typeface="Cambria Math"/>
                            <a:ea typeface="Cambria Math"/>
                            <a:cs typeface="Cambria Math"/>
                          </a:rPr>
                          <m:t>0</m:t>
                        </m:r>
                      </m:sub>
                    </m:sSub>
                    <m:r>
                      <a:rPr lang="en-GB" sz="1800">
                        <a:solidFill>
                          <a:srgbClr val="182D45"/>
                        </a:solidFill>
                        <a:latin typeface="Cambria Math"/>
                        <a:ea typeface="Cambria Math"/>
                        <a:cs typeface="Cambria Math"/>
                      </a:rPr>
                      <m:t>=</m:t>
                    </m:r>
                    <m:r>
                      <a:rPr lang="en-GB" sz="1800">
                        <a:solidFill>
                          <a:srgbClr val="182D45"/>
                        </a:solidFill>
                        <a:latin typeface="Cambria Math"/>
                        <a:ea typeface="Cambria Math"/>
                        <a:cs typeface="Cambria Math"/>
                      </a:rPr>
                      <m:t>𝑑</m:t>
                    </m:r>
                    <m:r>
                      <a:rPr lang="en-GB" sz="1800">
                        <a:solidFill>
                          <a:srgbClr val="182D45"/>
                        </a:solidFill>
                        <a:latin typeface="Cambria Math"/>
                        <a:ea typeface="Cambria Math"/>
                        <a:cs typeface="Cambria Math"/>
                      </a:rPr>
                      <m:t>=2</m:t>
                    </m:r>
                  </m:oMath>
                </a14:m>
                <a:r>
                  <a:rPr lang="en-GB" sz="1800" b="0">
                    <a:solidFill>
                      <a:srgbClr val="182D45"/>
                    </a:solidFill>
                    <a:latin typeface="DejaVu Sans"/>
                  </a:rPr>
                  <a:t> coordinates</a:t>
                </a:r>
                <a:endParaRPr lang="en-GB" sz="1800"/>
              </a:p>
            </p:txBody>
          </p:sp>
        </mc:Choice>
        <mc:Fallback xmlns="">
          <p:sp>
            <p:nvSpPr>
              <p:cNvPr id="113" name="network_caption_0">
                <a:extLst>
                  <a:ext uri="{FF2B5EF4-FFF2-40B4-BE49-F238E27FC236}">
                    <a16:creationId xmlns:a16="http://schemas.microsoft.com/office/drawing/2014/main" id="{4A6C3825-273B-C416-6CC6-6B983BAFBBBE}"/>
                  </a:ext>
                </a:extLst>
              </p:cNvPr>
              <p:cNvSpPr>
                <a:spLocks noGrp="1" noRot="1" noChangeAspect="1" noMove="1" noResize="1" noEditPoints="1" noAdjustHandles="1" noChangeArrowheads="1" noChangeShapeType="1" noTextEdit="1"/>
              </p:cNvSpPr>
              <p:nvPr/>
            </p:nvSpPr>
            <p:spPr>
              <a:xfrm>
                <a:off x="47625" y="3924300"/>
                <a:ext cx="2762250" cy="571500"/>
              </a:xfrm>
              <a:prstGeom prst="rect">
                <a:avLst/>
              </a:prstGeom>
              <a:blipFill>
                <a:blip r:embed="rId7"/>
                <a:stretch>
                  <a:fillRect t="-14894" r="-1987" b="-2234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5" name="network_caption_1">
                <a:extLst>
                  <a:ext uri="{FF2B5EF4-FFF2-40B4-BE49-F238E27FC236}">
                    <a16:creationId xmlns:a16="http://schemas.microsoft.com/office/drawing/2014/main" id="{91AD7A91-90A7-32DC-FB3A-9717C0AD1B8B}"/>
                  </a:ext>
                </a:extLst>
              </p:cNvPr>
              <p:cNvSpPr>
                <a:spLocks noGrp="1"/>
              </p:cNvSpPr>
              <p:nvPr/>
            </p:nvSpPr>
            <p:spPr>
              <a:xfrm>
                <a:off x="3095625" y="3924300"/>
                <a:ext cx="2762250" cy="571500"/>
              </a:xfrm>
              <a:prstGeom prst="rect">
                <a:avLst/>
              </a:prstGeom>
              <a:noFill/>
              <a:ln w="0">
                <a:noFill/>
              </a:ln>
            </p:spPr>
            <p:txBody>
              <a:bodyPr wrap="none" lIns="0" tIns="0" rIns="0" bIns="0" anchor="ctr">
                <a:noAutofit/>
              </a:bodyPr>
              <a:lstStyle/>
              <a:p>
                <a:pPr algn="ctr">
                  <a:lnSpc>
                    <a:spcPts val="2300"/>
                  </a:lnSpc>
                </a:pPr>
                <a:r>
                  <a:rPr lang="en-GB" sz="1800" b="0">
                    <a:solidFill>
                      <a:srgbClr val="182D45"/>
                    </a:solidFill>
                    <a:latin typeface="DejaVu Sans"/>
                  </a:rPr>
                  <a:t>Hidden layer 1:</a:t>
                </a:r>
                <a:endParaRPr lang="en-GB" sz="1800"/>
              </a:p>
              <a:p>
                <a:pPr algn="ctr">
                  <a:lnSpc>
                    <a:spcPts val="2300"/>
                  </a:lnSpc>
                </a:pPr>
                <a:r>
                  <a:rPr lang="en-GB" sz="1800" b="0">
                    <a:solidFill>
                      <a:srgbClr val="182D45"/>
                    </a:solidFill>
                    <a:latin typeface="DejaVu Sans"/>
                  </a:rPr>
                  <a:t>width </a:t>
                </a:r>
                <a14:m>
                  <m:oMath xmlns:m="http://schemas.openxmlformats.org/officeDocument/2006/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𝑚</m:t>
                        </m:r>
                      </m:e>
                      <m:sub>
                        <m:r>
                          <a:rPr lang="en-GB" sz="1800">
                            <a:solidFill>
                              <a:srgbClr val="182D45"/>
                            </a:solidFill>
                            <a:latin typeface="Cambria Math"/>
                            <a:ea typeface="Cambria Math"/>
                            <a:cs typeface="Cambria Math"/>
                          </a:rPr>
                          <m:t>1</m:t>
                        </m:r>
                      </m:sub>
                    </m:sSub>
                    <m:r>
                      <a:rPr lang="en-GB" sz="1800">
                        <a:solidFill>
                          <a:srgbClr val="182D45"/>
                        </a:solidFill>
                        <a:latin typeface="Cambria Math"/>
                        <a:ea typeface="Cambria Math"/>
                        <a:cs typeface="Cambria Math"/>
                      </a:rPr>
                      <m:t>=5</m:t>
                    </m:r>
                  </m:oMath>
                </a14:m>
                <a:endParaRPr lang="en-GB" sz="1800"/>
              </a:p>
            </p:txBody>
          </p:sp>
        </mc:Choice>
        <mc:Fallback xmlns="">
          <p:sp>
            <p:nvSpPr>
              <p:cNvPr id="115" name="network_caption_1">
                <a:extLst>
                  <a:ext uri="{FF2B5EF4-FFF2-40B4-BE49-F238E27FC236}">
                    <a16:creationId xmlns:a16="http://schemas.microsoft.com/office/drawing/2014/main" id="{91AD7A91-90A7-32DC-FB3A-9717C0AD1B8B}"/>
                  </a:ext>
                </a:extLst>
              </p:cNvPr>
              <p:cNvSpPr>
                <a:spLocks noGrp="1" noRot="1" noChangeAspect="1" noMove="1" noResize="1" noEditPoints="1" noAdjustHandles="1" noChangeArrowheads="1" noChangeShapeType="1" noTextEdit="1"/>
              </p:cNvSpPr>
              <p:nvPr/>
            </p:nvSpPr>
            <p:spPr>
              <a:xfrm>
                <a:off x="3095625" y="3924300"/>
                <a:ext cx="2762250" cy="571500"/>
              </a:xfrm>
              <a:prstGeom prst="rect">
                <a:avLst/>
              </a:prstGeom>
              <a:blipFill>
                <a:blip r:embed="rId8"/>
                <a:stretch>
                  <a:fillRect t="-14894" b="-2234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7" name="network_caption_2">
                <a:extLst>
                  <a:ext uri="{FF2B5EF4-FFF2-40B4-BE49-F238E27FC236}">
                    <a16:creationId xmlns:a16="http://schemas.microsoft.com/office/drawing/2014/main" id="{FEB7A787-A5A9-3CA0-EC9E-90EC61DEEA6C}"/>
                  </a:ext>
                </a:extLst>
              </p:cNvPr>
              <p:cNvSpPr>
                <a:spLocks noGrp="1"/>
              </p:cNvSpPr>
              <p:nvPr/>
            </p:nvSpPr>
            <p:spPr>
              <a:xfrm>
                <a:off x="6143625" y="3924300"/>
                <a:ext cx="2762250" cy="571500"/>
              </a:xfrm>
              <a:prstGeom prst="rect">
                <a:avLst/>
              </a:prstGeom>
              <a:noFill/>
              <a:ln w="0">
                <a:noFill/>
              </a:ln>
            </p:spPr>
            <p:txBody>
              <a:bodyPr wrap="none" lIns="0" tIns="0" rIns="0" bIns="0" anchor="ctr">
                <a:noAutofit/>
              </a:bodyPr>
              <a:lstStyle/>
              <a:p>
                <a:pPr algn="ctr">
                  <a:lnSpc>
                    <a:spcPts val="2300"/>
                  </a:lnSpc>
                </a:pPr>
                <a:r>
                  <a:rPr lang="en-GB" sz="1800" b="0">
                    <a:solidFill>
                      <a:srgbClr val="182D45"/>
                    </a:solidFill>
                    <a:latin typeface="DejaVu Sans"/>
                  </a:rPr>
                  <a:t>Hidden layer 2:</a:t>
                </a:r>
                <a:endParaRPr lang="en-GB" sz="1800"/>
              </a:p>
              <a:p>
                <a:pPr algn="ctr">
                  <a:lnSpc>
                    <a:spcPts val="2300"/>
                  </a:lnSpc>
                </a:pPr>
                <a:r>
                  <a:rPr lang="en-GB" sz="1800" b="0">
                    <a:solidFill>
                      <a:srgbClr val="182D45"/>
                    </a:solidFill>
                    <a:latin typeface="DejaVu Sans"/>
                  </a:rPr>
                  <a:t>width </a:t>
                </a:r>
                <a14:m>
                  <m:oMath xmlns:m="http://schemas.openxmlformats.org/officeDocument/2006/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𝑚</m:t>
                        </m:r>
                      </m:e>
                      <m:sub>
                        <m:r>
                          <a:rPr lang="en-GB" sz="1800">
                            <a:solidFill>
                              <a:srgbClr val="182D45"/>
                            </a:solidFill>
                            <a:latin typeface="Cambria Math"/>
                            <a:ea typeface="Cambria Math"/>
                            <a:cs typeface="Cambria Math"/>
                          </a:rPr>
                          <m:t>2</m:t>
                        </m:r>
                      </m:sub>
                    </m:sSub>
                    <m:r>
                      <a:rPr lang="en-GB" sz="1800">
                        <a:solidFill>
                          <a:srgbClr val="182D45"/>
                        </a:solidFill>
                        <a:latin typeface="Cambria Math"/>
                        <a:ea typeface="Cambria Math"/>
                        <a:cs typeface="Cambria Math"/>
                      </a:rPr>
                      <m:t>=7</m:t>
                    </m:r>
                  </m:oMath>
                </a14:m>
                <a:endParaRPr lang="en-GB" sz="1800"/>
              </a:p>
            </p:txBody>
          </p:sp>
        </mc:Choice>
        <mc:Fallback xmlns="">
          <p:sp>
            <p:nvSpPr>
              <p:cNvPr id="117" name="network_caption_2">
                <a:extLst>
                  <a:ext uri="{FF2B5EF4-FFF2-40B4-BE49-F238E27FC236}">
                    <a16:creationId xmlns:a16="http://schemas.microsoft.com/office/drawing/2014/main" id="{FEB7A787-A5A9-3CA0-EC9E-90EC61DEEA6C}"/>
                  </a:ext>
                </a:extLst>
              </p:cNvPr>
              <p:cNvSpPr>
                <a:spLocks noGrp="1" noRot="1" noChangeAspect="1" noMove="1" noResize="1" noEditPoints="1" noAdjustHandles="1" noChangeArrowheads="1" noChangeShapeType="1" noTextEdit="1"/>
              </p:cNvSpPr>
              <p:nvPr/>
            </p:nvSpPr>
            <p:spPr>
              <a:xfrm>
                <a:off x="6143625" y="3924300"/>
                <a:ext cx="2762250" cy="571500"/>
              </a:xfrm>
              <a:prstGeom prst="rect">
                <a:avLst/>
              </a:prstGeom>
              <a:blipFill>
                <a:blip r:embed="rId9"/>
                <a:stretch>
                  <a:fillRect t="-14894" b="-2234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9" name="network_caption_3">
                <a:extLst>
                  <a:ext uri="{FF2B5EF4-FFF2-40B4-BE49-F238E27FC236}">
                    <a16:creationId xmlns:a16="http://schemas.microsoft.com/office/drawing/2014/main" id="{CDF8B53F-ABC1-3C44-0B4C-D01EDCC62C0E}"/>
                  </a:ext>
                </a:extLst>
              </p:cNvPr>
              <p:cNvSpPr>
                <a:spLocks noGrp="1"/>
              </p:cNvSpPr>
              <p:nvPr/>
            </p:nvSpPr>
            <p:spPr>
              <a:xfrm>
                <a:off x="9173337" y="3924300"/>
                <a:ext cx="2762250" cy="571500"/>
              </a:xfrm>
              <a:prstGeom prst="rect">
                <a:avLst/>
              </a:prstGeom>
              <a:noFill/>
              <a:ln w="0">
                <a:noFill/>
              </a:ln>
            </p:spPr>
            <p:txBody>
              <a:bodyPr wrap="none" lIns="0" tIns="0" rIns="0" bIns="0" anchor="ctr">
                <a:noAutofit/>
              </a:bodyPr>
              <a:lstStyle/>
              <a:p>
                <a:pPr algn="ctr">
                  <a:lnSpc>
                    <a:spcPts val="2300"/>
                  </a:lnSpc>
                </a:pPr>
                <a:r>
                  <a:rPr lang="en-GB" sz="1800" b="0">
                    <a:solidFill>
                      <a:srgbClr val="182D45"/>
                    </a:solidFill>
                    <a:latin typeface="DejaVu Sans"/>
                  </a:rPr>
                  <a:t>Output layer 3:</a:t>
                </a:r>
                <a:endParaRPr lang="en-GB" sz="1800"/>
              </a:p>
              <a:p>
                <a:pPr algn="ctr">
                  <a:lnSpc>
                    <a:spcPts val="2300"/>
                  </a:lnSpc>
                </a:pPr>
                <a:r>
                  <a:rPr lang="en-GB" sz="1800" b="0">
                    <a:solidFill>
                      <a:srgbClr val="182D45"/>
                    </a:solidFill>
                    <a:latin typeface="DejaVu Sans"/>
                  </a:rPr>
                  <a:t>width </a:t>
                </a:r>
                <a14:m>
                  <m:oMath xmlns:m="http://schemas.openxmlformats.org/officeDocument/2006/math">
                    <m:sSub>
                      <m:sSubPr>
                        <m:ctrlPr>
                          <a:rPr lang="en-GB" sz="1800">
                            <a:solidFill>
                              <a:srgbClr val="182D45"/>
                            </a:solidFill>
                            <a:latin typeface="Cambria Math"/>
                            <a:ea typeface="Cambria Math"/>
                            <a:cs typeface="Cambria Math"/>
                          </a:rPr>
                        </m:ctrlPr>
                      </m:sSubPr>
                      <m:e>
                        <m:r>
                          <a:rPr lang="en-GB" sz="1800">
                            <a:solidFill>
                              <a:srgbClr val="182D45"/>
                            </a:solidFill>
                            <a:latin typeface="Cambria Math"/>
                            <a:ea typeface="Cambria Math"/>
                            <a:cs typeface="Cambria Math"/>
                          </a:rPr>
                          <m:t>𝑚</m:t>
                        </m:r>
                      </m:e>
                      <m:sub>
                        <m:r>
                          <a:rPr lang="en-GB" sz="1800">
                            <a:solidFill>
                              <a:srgbClr val="182D45"/>
                            </a:solidFill>
                            <a:latin typeface="Cambria Math"/>
                            <a:ea typeface="Cambria Math"/>
                            <a:cs typeface="Cambria Math"/>
                          </a:rPr>
                          <m:t>3</m:t>
                        </m:r>
                      </m:sub>
                    </m:sSub>
                    <m:r>
                      <a:rPr lang="en-GB" sz="1800">
                        <a:solidFill>
                          <a:srgbClr val="182D45"/>
                        </a:solidFill>
                        <a:latin typeface="Cambria Math"/>
                        <a:ea typeface="Cambria Math"/>
                        <a:cs typeface="Cambria Math"/>
                      </a:rPr>
                      <m:t>=</m:t>
                    </m:r>
                    <m:r>
                      <a:rPr lang="en-GB" sz="1800">
                        <a:solidFill>
                          <a:srgbClr val="182D45"/>
                        </a:solidFill>
                        <a:latin typeface="Cambria Math"/>
                        <a:ea typeface="Cambria Math"/>
                        <a:cs typeface="Cambria Math"/>
                      </a:rPr>
                      <m:t>𝑞</m:t>
                    </m:r>
                    <m:r>
                      <a:rPr lang="en-GB" sz="1800">
                        <a:solidFill>
                          <a:srgbClr val="182D45"/>
                        </a:solidFill>
                        <a:latin typeface="Cambria Math"/>
                        <a:ea typeface="Cambria Math"/>
                        <a:cs typeface="Cambria Math"/>
                      </a:rPr>
                      <m:t>=3</m:t>
                    </m:r>
                  </m:oMath>
                </a14:m>
                <a:endParaRPr lang="en-GB" sz="1800"/>
              </a:p>
            </p:txBody>
          </p:sp>
        </mc:Choice>
        <mc:Fallback xmlns="">
          <p:sp>
            <p:nvSpPr>
              <p:cNvPr id="119" name="network_caption_3">
                <a:extLst>
                  <a:ext uri="{FF2B5EF4-FFF2-40B4-BE49-F238E27FC236}">
                    <a16:creationId xmlns:a16="http://schemas.microsoft.com/office/drawing/2014/main" id="{CDF8B53F-ABC1-3C44-0B4C-D01EDCC62C0E}"/>
                  </a:ext>
                </a:extLst>
              </p:cNvPr>
              <p:cNvSpPr>
                <a:spLocks noGrp="1" noRot="1" noChangeAspect="1" noMove="1" noResize="1" noEditPoints="1" noAdjustHandles="1" noChangeArrowheads="1" noChangeShapeType="1" noTextEdit="1"/>
              </p:cNvSpPr>
              <p:nvPr/>
            </p:nvSpPr>
            <p:spPr>
              <a:xfrm>
                <a:off x="9173337" y="3924300"/>
                <a:ext cx="2762250" cy="571500"/>
              </a:xfrm>
              <a:prstGeom prst="rect">
                <a:avLst/>
              </a:prstGeom>
              <a:blipFill>
                <a:blip r:embed="rId10"/>
                <a:stretch>
                  <a:fillRect t="-14894" b="-2234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0" name="hidden_activations">
                <a:extLst>
                  <a:ext uri="{FF2B5EF4-FFF2-40B4-BE49-F238E27FC236}">
                    <a16:creationId xmlns:a16="http://schemas.microsoft.com/office/drawing/2014/main" id="{6655FCC5-8B8B-40CF-8429-8317F0E429D7}"/>
                  </a:ext>
                </a:extLst>
              </p:cNvPr>
              <p:cNvSpPr>
                <a:spLocks noGrp="1"/>
              </p:cNvSpPr>
              <p:nvPr/>
            </p:nvSpPr>
            <p:spPr>
              <a:xfrm>
                <a:off x="285750" y="5543550"/>
                <a:ext cx="11620500" cy="409575"/>
              </a:xfrm>
              <a:prstGeom prst="rect">
                <a:avLst/>
              </a:prstGeom>
              <a:noFill/>
              <a:ln w="0">
                <a:noFill/>
              </a:ln>
            </p:spPr>
            <p:txBody>
              <a:bodyPr wrap="none" lIns="0" tIns="0" rIns="0" bIns="0" anchor="ctr">
                <a:noAutofit/>
              </a:bodyPr>
              <a:lstStyle/>
              <a:p>
                <a:pPr algn="ctr"/>
                <a:r>
                  <a:rPr lang="en-GB" sz="2500" b="0">
                    <a:solidFill>
                      <a:srgbClr val="FF0000"/>
                    </a:solidFill>
                    <a:latin typeface="DejaVu Sans"/>
                  </a:rPr>
                  <a:t>Activations: </a:t>
                </a:r>
                <a14:m>
                  <m:oMath xmlns:m="http://schemas.openxmlformats.org/officeDocument/2006/math">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𝛟</m:t>
                        </m:r>
                      </m:e>
                      <m:sub>
                        <m:r>
                          <a:rPr lang="en-GB" sz="2500">
                            <a:solidFill>
                              <a:srgbClr val="087F83"/>
                            </a:solidFill>
                            <a:latin typeface="Cambria Math"/>
                            <a:ea typeface="Cambria Math"/>
                            <a:cs typeface="Cambria Math"/>
                          </a:rPr>
                          <m:t>𝑟</m:t>
                        </m:r>
                      </m:sub>
                    </m:sSub>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𝐱</m:t>
                    </m:r>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𝐑𝐞𝐋𝐔</m:t>
                    </m:r>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𝐚</m:t>
                        </m:r>
                      </m:e>
                      <m:sub>
                        <m:r>
                          <a:rPr lang="en-GB" sz="2500">
                            <a:solidFill>
                              <a:srgbClr val="087F83"/>
                            </a:solidFill>
                            <a:latin typeface="Cambria Math"/>
                            <a:ea typeface="Cambria Math"/>
                            <a:cs typeface="Cambria Math"/>
                          </a:rPr>
                          <m:t>𝑟</m:t>
                        </m:r>
                      </m:sub>
                    </m:sSub>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𝐱</m:t>
                    </m:r>
                    <m:r>
                      <a:rPr lang="en-GB" sz="2500">
                        <a:solidFill>
                          <a:srgbClr val="087F83"/>
                        </a:solidFill>
                        <a:latin typeface="Cambria Math"/>
                        <a:ea typeface="Cambria Math"/>
                        <a:cs typeface="Cambria Math"/>
                      </a:rPr>
                      <m:t>))</m:t>
                    </m:r>
                  </m:oMath>
                </a14:m>
                <a:endParaRPr lang="en-GB" sz="2500"/>
              </a:p>
            </p:txBody>
          </p:sp>
        </mc:Choice>
        <mc:Fallback xmlns="">
          <p:sp>
            <p:nvSpPr>
              <p:cNvPr id="120" name="hidden_activations">
                <a:extLst>
                  <a:ext uri="{FF2B5EF4-FFF2-40B4-BE49-F238E27FC236}">
                    <a16:creationId xmlns:a16="http://schemas.microsoft.com/office/drawing/2014/main" id="{6655FCC5-8B8B-40CF-8429-8317F0E429D7}"/>
                  </a:ext>
                </a:extLst>
              </p:cNvPr>
              <p:cNvSpPr>
                <a:spLocks noGrp="1" noRot="1" noChangeAspect="1" noMove="1" noResize="1" noEditPoints="1" noAdjustHandles="1" noChangeArrowheads="1" noChangeShapeType="1" noTextEdit="1"/>
              </p:cNvSpPr>
              <p:nvPr/>
            </p:nvSpPr>
            <p:spPr>
              <a:xfrm>
                <a:off x="285750" y="5543550"/>
                <a:ext cx="11620500" cy="409575"/>
              </a:xfrm>
              <a:prstGeom prst="rect">
                <a:avLst/>
              </a:prstGeom>
              <a:blipFill>
                <a:blip r:embed="rId11"/>
                <a:stretch>
                  <a:fillRect t="-22059" b="-38235"/>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98530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77976EB3-E717-4304-87DD-44583264D8A6}"/>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Dimensions and parameters</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72121462-FE2B-47A7-B458-089B74E6380E}"/>
                  </a:ext>
                </a:extLst>
              </p:cNvPr>
              <p:cNvSpPr>
                <a:spLocks noGrp="1"/>
              </p:cNvSpPr>
              <p:nvPr/>
            </p:nvSpPr>
            <p:spPr>
              <a:xfrm>
                <a:off x="523875" y="1000125"/>
                <a:ext cx="11144250" cy="781050"/>
              </a:xfrm>
              <a:prstGeom prst="rect">
                <a:avLst/>
              </a:prstGeom>
              <a:noFill/>
              <a:ln w="0">
                <a:noFill/>
              </a:ln>
            </p:spPr>
            <p:txBody>
              <a:bodyPr wrap="none" lIns="0" tIns="0" rIns="0" bIns="0" anchor="ctr">
                <a:noAutofit/>
              </a:bodyPr>
              <a:lstStyle/>
              <a:p>
                <a:pPr algn="ctr">
                  <a:lnSpc>
                    <a:spcPts val="2600"/>
                  </a:lnSpc>
                </a:pPr>
                <a:r>
                  <a:rPr lang="en-GB" sz="2100" b="0">
                    <a:solidFill>
                      <a:srgbClr val="526276"/>
                    </a:solidFill>
                    <a:latin typeface="DejaVu Sans"/>
                  </a:rPr>
                  <a:t>For the </a:t>
                </a:r>
                <a:r>
                  <a:rPr lang="en-GB" sz="2100" b="0">
                    <a:solidFill>
                      <a:srgbClr val="FF0000"/>
                    </a:solidFill>
                    <a:latin typeface="DejaVu Sans"/>
                  </a:rPr>
                  <a:t>architecture </a:t>
                </a:r>
                <a14:m>
                  <m:oMath xmlns:m="http://schemas.openxmlformats.org/officeDocument/2006/math">
                    <m:r>
                      <a:rPr lang="en-GB" sz="2100">
                        <a:solidFill>
                          <a:srgbClr val="526276"/>
                        </a:solidFill>
                        <a:latin typeface="Cambria Math"/>
                        <a:ea typeface="Cambria Math"/>
                        <a:cs typeface="Cambria Math"/>
                      </a:rPr>
                      <m:t>2→5→7→3</m:t>
                    </m:r>
                  </m:oMath>
                </a14:m>
                <a:r>
                  <a:rPr lang="en-GB" sz="2100" b="0">
                    <a:solidFill>
                      <a:srgbClr val="526276"/>
                    </a:solidFill>
                    <a:latin typeface="DejaVu Sans"/>
                  </a:rPr>
                  <a:t>,</a:t>
                </a:r>
                <a:endParaRPr lang="en-GB" sz="2100"/>
              </a:p>
              <a:p>
                <a:pPr algn="ctr">
                  <a:lnSpc>
                    <a:spcPts val="2600"/>
                  </a:lnSpc>
                </a:pPr>
                <a:r>
                  <a:rPr lang="en-GB" sz="2100" b="0">
                    <a:solidFill>
                      <a:srgbClr val="526276"/>
                    </a:solidFill>
                    <a:latin typeface="DejaVu Sans"/>
                  </a:rPr>
                  <a:t>each layer </a:t>
                </a:r>
                <a14:m>
                  <m:oMath xmlns:m="http://schemas.openxmlformats.org/officeDocument/2006/math">
                    <m:r>
                      <a:rPr lang="en-GB" sz="2100">
                        <a:solidFill>
                          <a:srgbClr val="526276"/>
                        </a:solidFill>
                        <a:latin typeface="Cambria Math"/>
                        <a:ea typeface="Cambria Math"/>
                        <a:cs typeface="Cambria Math"/>
                      </a:rPr>
                      <m:t>𝑟</m:t>
                    </m:r>
                  </m:oMath>
                </a14:m>
                <a:r>
                  <a:rPr lang="en-GB" sz="2100" b="0">
                    <a:solidFill>
                      <a:srgbClr val="526276"/>
                    </a:solidFill>
                    <a:latin typeface="DejaVu Sans"/>
                  </a:rPr>
                  <a:t> has its own weights and biases.</a:t>
                </a:r>
                <a:endParaRPr lang="en-GB" sz="2100"/>
              </a:p>
            </p:txBody>
          </p:sp>
        </mc:Choice>
        <mc:Fallback xmlns="">
          <p:sp>
            <p:nvSpPr>
              <p:cNvPr id="2" name="lead">
                <a:extLst>
                  <a:ext uri="{FF2B5EF4-FFF2-40B4-BE49-F238E27FC236}">
                    <a16:creationId xmlns:a16="http://schemas.microsoft.com/office/drawing/2014/main" id="{72121462-FE2B-47A7-B458-089B74E6380E}"/>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t="-4688" b="-10938"/>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F25B4CFF-7F46-4A4A-8E05-EC76D64CE3E6}"/>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6D3792A8-715F-40FD-994E-05E17CF4533F}"/>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21</a:t>
            </a:r>
          </a:p>
        </p:txBody>
      </p:sp>
      <p:graphicFrame>
        <p:nvGraphicFramePr>
          <p:cNvPr id="12" name="Tabella 11"/>
          <p:cNvGraphicFramePr/>
          <p:nvPr/>
        </p:nvGraphicFramePr>
        <p:xfrm>
          <a:off x="762000" y="2781300"/>
          <a:ext cx="10668000" cy="2286000"/>
        </p:xfrm>
        <a:graphic>
          <a:graphicData uri="http://schemas.openxmlformats.org/drawingml/2006/table">
            <a:tbl>
              <a:tblPr/>
              <a:tblGrid>
                <a:gridCol w="1809750">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2524125">
                  <a:extLst>
                    <a:ext uri="{9D8B030D-6E8A-4147-A177-3AD203B41FA5}">
                      <a16:colId xmlns:a16="http://schemas.microsoft.com/office/drawing/2014/main" val="20002"/>
                    </a:ext>
                  </a:extLst>
                </a:gridCol>
                <a:gridCol w="3238500">
                  <a:extLst>
                    <a:ext uri="{9D8B030D-6E8A-4147-A177-3AD203B41FA5}">
                      <a16:colId xmlns:a16="http://schemas.microsoft.com/office/drawing/2014/main" val="20003"/>
                    </a:ext>
                  </a:extLst>
                </a:gridCol>
              </a:tblGrid>
              <a:tr h="571500">
                <a:tc>
                  <a:txBody>
                    <a:bodyPr/>
                    <a:lstStyle/>
                    <a:p>
                      <a:pPr algn="ctr"/>
                      <a:r>
                        <a:rPr sz="2100" b="1">
                          <a:solidFill>
                            <a:srgbClr val="182D45"/>
                          </a:solidFill>
                          <a:latin typeface="DejaVu Sans"/>
                          <a:ea typeface="DejaVu Sans"/>
                          <a:cs typeface="DejaVu Sans"/>
                        </a:rPr>
                        <a:t>Layer</a:t>
                      </a:r>
                    </a:p>
                  </a:txBody>
                  <a:tcPr marL="95250" marR="95250" marT="66675" marB="66675" anchor="ctr">
                    <a:solidFill>
                      <a:srgbClr val="EDF3F5"/>
                    </a:solidFill>
                  </a:tcPr>
                </a:tc>
                <a:tc>
                  <a:txBody>
                    <a:bodyPr/>
                    <a:lstStyle/>
                    <a:p>
                      <a:pPr algn="ctr"/>
                      <a:r>
                        <a:rPr sz="2100" b="1">
                          <a:solidFill>
                            <a:srgbClr val="182D45"/>
                          </a:solidFill>
                          <a:latin typeface="DejaVu Sans"/>
                          <a:ea typeface="DejaVu Sans"/>
                          <a:cs typeface="DejaVu Sans"/>
                        </a:rPr>
                        <a:t>Weight matrix</a:t>
                      </a:r>
                    </a:p>
                  </a:txBody>
                  <a:tcPr marL="95250" marR="95250" marT="66675" marB="66675" anchor="ctr">
                    <a:solidFill>
                      <a:srgbClr val="EDF3F5"/>
                    </a:solidFill>
                  </a:tcPr>
                </a:tc>
                <a:tc>
                  <a:txBody>
                    <a:bodyPr/>
                    <a:lstStyle/>
                    <a:p>
                      <a:pPr algn="ctr"/>
                      <a:r>
                        <a:rPr sz="2100" b="1">
                          <a:solidFill>
                            <a:srgbClr val="182D45"/>
                          </a:solidFill>
                          <a:latin typeface="DejaVu Sans"/>
                          <a:ea typeface="DejaVu Sans"/>
                          <a:cs typeface="DejaVu Sans"/>
                        </a:rPr>
                        <a:t>Bias row</a:t>
                      </a:r>
                    </a:p>
                  </a:txBody>
                  <a:tcPr marL="95250" marR="95250" marT="66675" marB="66675" anchor="ctr">
                    <a:solidFill>
                      <a:srgbClr val="EDF3F5"/>
                    </a:solidFill>
                  </a:tcPr>
                </a:tc>
                <a:tc>
                  <a:txBody>
                    <a:bodyPr/>
                    <a:lstStyle/>
                    <a:p>
                      <a:pPr algn="ctr"/>
                      <a:r>
                        <a:rPr sz="2100" b="1">
                          <a:solidFill>
                            <a:srgbClr val="182D45"/>
                          </a:solidFill>
                          <a:latin typeface="DejaVu Sans"/>
                          <a:ea typeface="DejaVu Sans"/>
                          <a:cs typeface="DejaVu Sans"/>
                        </a:rPr>
                        <a:t>Parameters</a:t>
                      </a:r>
                    </a:p>
                  </a:txBody>
                  <a:tcPr marL="95250" marR="95250" marT="66675" marB="66675" anchor="ctr">
                    <a:solidFill>
                      <a:srgbClr val="EDF3F5"/>
                    </a:solidFill>
                  </a:tcPr>
                </a:tc>
                <a:extLst>
                  <a:ext uri="{0D108BD9-81ED-4DB2-BD59-A6C34878D82A}">
                    <a16:rowId xmlns:a16="http://schemas.microsoft.com/office/drawing/2014/main" val="10000"/>
                  </a:ext>
                </a:extLst>
              </a:tr>
              <a:tr h="571500">
                <a:tc>
                  <a:txBody>
                    <a:bodyPr/>
                    <a:lstStyle/>
                    <a:p>
                      <a:pPr algn="ctr"/>
                      <a:r>
                        <a:rPr sz="2100">
                          <a:solidFill>
                            <a:srgbClr val="182D45"/>
                          </a:solidFill>
                          <a:latin typeface="DejaVu Sans"/>
                          <a:ea typeface="DejaVu Sans"/>
                          <a:cs typeface="DejaVu Sans"/>
                        </a:rPr>
                        <a:t>1</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2 × 5</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1 × 5</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10 + 5 = 15</a:t>
                      </a:r>
                    </a:p>
                  </a:txBody>
                  <a:tcPr marL="95250" marR="95250" marT="66675" marB="66675" anchor="ctr">
                    <a:solidFill>
                      <a:srgbClr val="FFFFFF"/>
                    </a:solidFill>
                  </a:tcPr>
                </a:tc>
                <a:extLst>
                  <a:ext uri="{0D108BD9-81ED-4DB2-BD59-A6C34878D82A}">
                    <a16:rowId xmlns:a16="http://schemas.microsoft.com/office/drawing/2014/main" val="10001"/>
                  </a:ext>
                </a:extLst>
              </a:tr>
              <a:tr h="571500">
                <a:tc>
                  <a:txBody>
                    <a:bodyPr/>
                    <a:lstStyle/>
                    <a:p>
                      <a:pPr algn="ctr"/>
                      <a:r>
                        <a:rPr sz="2100">
                          <a:solidFill>
                            <a:srgbClr val="182D45"/>
                          </a:solidFill>
                          <a:latin typeface="DejaVu Sans"/>
                          <a:ea typeface="DejaVu Sans"/>
                          <a:cs typeface="DejaVu Sans"/>
                        </a:rPr>
                        <a:t>2</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5 × 7</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1 × 7</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35 + 7 = 42</a:t>
                      </a:r>
                    </a:p>
                  </a:txBody>
                  <a:tcPr marL="95250" marR="95250" marT="66675" marB="66675" anchor="ctr">
                    <a:solidFill>
                      <a:srgbClr val="FFFFFF"/>
                    </a:solidFill>
                  </a:tcPr>
                </a:tc>
                <a:extLst>
                  <a:ext uri="{0D108BD9-81ED-4DB2-BD59-A6C34878D82A}">
                    <a16:rowId xmlns:a16="http://schemas.microsoft.com/office/drawing/2014/main" val="10002"/>
                  </a:ext>
                </a:extLst>
              </a:tr>
              <a:tr h="571500">
                <a:tc>
                  <a:txBody>
                    <a:bodyPr/>
                    <a:lstStyle/>
                    <a:p>
                      <a:pPr algn="ctr"/>
                      <a:r>
                        <a:rPr sz="2100">
                          <a:solidFill>
                            <a:srgbClr val="182D45"/>
                          </a:solidFill>
                          <a:latin typeface="DejaVu Sans"/>
                          <a:ea typeface="DejaVu Sans"/>
                          <a:cs typeface="DejaVu Sans"/>
                        </a:rPr>
                        <a:t>3</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7 × 3</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1 × 3</a:t>
                      </a:r>
                    </a:p>
                  </a:txBody>
                  <a:tcPr marL="95250" marR="95250" marT="66675" marB="66675" anchor="ctr">
                    <a:solidFill>
                      <a:srgbClr val="FFFFFF"/>
                    </a:solidFill>
                  </a:tcPr>
                </a:tc>
                <a:tc>
                  <a:txBody>
                    <a:bodyPr/>
                    <a:lstStyle/>
                    <a:p>
                      <a:pPr algn="ctr"/>
                      <a:r>
                        <a:rPr sz="2100">
                          <a:solidFill>
                            <a:srgbClr val="182D45"/>
                          </a:solidFill>
                          <a:latin typeface="DejaVu Sans"/>
                          <a:ea typeface="DejaVu Sans"/>
                          <a:cs typeface="DejaVu Sans"/>
                        </a:rPr>
                        <a:t>21 + 3 = 24</a:t>
                      </a:r>
                    </a:p>
                  </a:txBody>
                  <a:tcPr marL="95250" marR="95250" marT="66675" marB="66675" anchor="ctr">
                    <a:solidFill>
                      <a:srgbClr val="FFFFFF"/>
                    </a:solid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6" name="equation_1" descr="15+42+24=81">
                <a:extLst>
                  <a:ext uri="{FF2B5EF4-FFF2-40B4-BE49-F238E27FC236}">
                    <a16:creationId xmlns:a16="http://schemas.microsoft.com/office/drawing/2014/main" id="{FC7E83AE-B883-47D7-9B0C-20C1D70C7521}"/>
                  </a:ext>
                </a:extLst>
              </p:cNvPr>
              <p:cNvSpPr>
                <a:spLocks noGrp="1"/>
              </p:cNvSpPr>
              <p:nvPr/>
            </p:nvSpPr>
            <p:spPr>
              <a:xfrm>
                <a:off x="1428750" y="5210175"/>
                <a:ext cx="9334500" cy="733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600">
                          <a:solidFill>
                            <a:srgbClr val="087F83"/>
                          </a:solidFill>
                          <a:latin typeface="Cambria Math"/>
                          <a:ea typeface="Cambria Math"/>
                          <a:cs typeface="Cambria Math"/>
                        </a:rPr>
                        <m:t>15+42+24=81</m:t>
                      </m:r>
                    </m:oMath>
                  </m:oMathPara>
                </a14:m>
                <a:endParaRPr lang="en-GB" sz="3600"/>
              </a:p>
            </p:txBody>
          </p:sp>
        </mc:Choice>
        <mc:Fallback xmlns="">
          <p:sp>
            <p:nvSpPr>
              <p:cNvPr id="6" name="equation_1" descr="15+42+24=81">
                <a:extLst>
                  <a:ext uri="{FF2B5EF4-FFF2-40B4-BE49-F238E27FC236}">
                    <a16:creationId xmlns:a16="http://schemas.microsoft.com/office/drawing/2014/main" id="{FC7E83AE-B883-47D7-9B0C-20C1D70C7521}"/>
                  </a:ext>
                </a:extLst>
              </p:cNvPr>
              <p:cNvSpPr>
                <a:spLocks noGrp="1" noRot="1" noChangeAspect="1" noMove="1" noResize="1" noEditPoints="1" noAdjustHandles="1" noChangeArrowheads="1" noChangeShapeType="1" noTextEdit="1"/>
              </p:cNvSpPr>
              <p:nvPr/>
            </p:nvSpPr>
            <p:spPr>
              <a:xfrm>
                <a:off x="1428750" y="5210175"/>
                <a:ext cx="9334500" cy="73342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text_2">
                <a:extLst>
                  <a:ext uri="{FF2B5EF4-FFF2-40B4-BE49-F238E27FC236}">
                    <a16:creationId xmlns:a16="http://schemas.microsoft.com/office/drawing/2014/main" id="{7A65F493-26F2-4515-B45A-F5540A91297A}"/>
                  </a:ext>
                </a:extLst>
              </p:cNvPr>
              <p:cNvSpPr>
                <a:spLocks noGrp="1"/>
              </p:cNvSpPr>
              <p:nvPr/>
            </p:nvSpPr>
            <p:spPr>
              <a:xfrm>
                <a:off x="571500" y="5953125"/>
                <a:ext cx="11049000" cy="400050"/>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The parameter column </a:t>
                </a:r>
                <a14:m>
                  <m:oMath xmlns:m="http://schemas.openxmlformats.org/officeDocument/2006/math">
                    <m:r>
                      <a:rPr lang="it-IT" sz="2100" b="1" i="0" dirty="0" smtClean="0">
                        <a:solidFill>
                          <a:srgbClr val="182D45"/>
                        </a:solidFill>
                        <a:latin typeface="Cambria Math" panose="02040503050406030204" pitchFamily="18" charset="0"/>
                        <a:ea typeface="DejaVu Sans"/>
                        <a:cs typeface="DejaVu Sans"/>
                      </a:rPr>
                      <m:t>𝛉</m:t>
                    </m:r>
                  </m:oMath>
                </a14:m>
                <a:r>
                  <a:rPr sz="2100" b="1" dirty="0">
                    <a:solidFill>
                      <a:srgbClr val="182D45"/>
                    </a:solidFill>
                    <a:latin typeface="DejaVu Sans"/>
                    <a:ea typeface="DejaVu Sans"/>
                    <a:cs typeface="DejaVu Sans"/>
                  </a:rPr>
                  <a:t> has 81 entries.</a:t>
                </a:r>
              </a:p>
            </p:txBody>
          </p:sp>
        </mc:Choice>
        <mc:Fallback xmlns="">
          <p:sp>
            <p:nvSpPr>
              <p:cNvPr id="7" name="text_2">
                <a:extLst>
                  <a:ext uri="{FF2B5EF4-FFF2-40B4-BE49-F238E27FC236}">
                    <a16:creationId xmlns:a16="http://schemas.microsoft.com/office/drawing/2014/main" id="{7A65F493-26F2-4515-B45A-F5540A91297A}"/>
                  </a:ext>
                </a:extLst>
              </p:cNvPr>
              <p:cNvSpPr>
                <a:spLocks noGrp="1" noRot="1" noChangeAspect="1" noMove="1" noResize="1" noEditPoints="1" noAdjustHandles="1" noChangeArrowheads="1" noChangeShapeType="1" noTextEdit="1"/>
              </p:cNvSpPr>
              <p:nvPr/>
            </p:nvSpPr>
            <p:spPr>
              <a:xfrm>
                <a:off x="571500" y="5953125"/>
                <a:ext cx="11049000" cy="400050"/>
              </a:xfrm>
              <a:prstGeom prst="rect">
                <a:avLst/>
              </a:prstGeom>
              <a:blipFill>
                <a:blip r:embed="rId5"/>
                <a:stretch>
                  <a:fillRect t="-13846" b="-3076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 name="general_dimensions" descr="\bm W_r\in\mathbb R^{m_{r-1}\times m_r},\qquad\bm b_r\in\mathbb R^{1\times m_r},\qquad r=1,\ldots,L">
                <a:extLst>
                  <a:ext uri="{FF2B5EF4-FFF2-40B4-BE49-F238E27FC236}">
                    <a16:creationId xmlns:a16="http://schemas.microsoft.com/office/drawing/2014/main" id="{72121462-FE2B-47A7-B458-089B74E6380E}"/>
                  </a:ext>
                </a:extLst>
              </p:cNvPr>
              <p:cNvSpPr>
                <a:spLocks noGrp="1"/>
              </p:cNvSpPr>
              <p:nvPr/>
            </p:nvSpPr>
            <p:spPr>
              <a:xfrm>
                <a:off x="381000" y="1828800"/>
                <a:ext cx="11430000" cy="5048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𝐖</m:t>
                          </m:r>
                        </m:e>
                        <m:sub>
                          <m:r>
                            <a:rPr lang="en-GB" sz="2600">
                              <a:solidFill>
                                <a:srgbClr val="087F83"/>
                              </a:solidFill>
                              <a:latin typeface="Cambria Math"/>
                              <a:ea typeface="Cambria Math"/>
                              <a:cs typeface="Cambria Math"/>
                            </a:rPr>
                            <m:t>𝑟</m:t>
                          </m:r>
                        </m:sub>
                      </m:sSub>
                      <m:r>
                        <a:rPr lang="en-GB" sz="2600">
                          <a:solidFill>
                            <a:srgbClr val="087F83"/>
                          </a:solidFill>
                          <a:latin typeface="Cambria Math"/>
                          <a:ea typeface="Cambria Math"/>
                          <a:cs typeface="Cambria Math"/>
                        </a:rPr>
                        <m:t>∈</m:t>
                      </m:r>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ℝ</m:t>
                          </m:r>
                        </m:e>
                        <m:sup>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𝑚</m:t>
                              </m:r>
                            </m:e>
                            <m:sub>
                              <m:r>
                                <a:rPr lang="en-GB" sz="2600">
                                  <a:solidFill>
                                    <a:srgbClr val="087F83"/>
                                  </a:solidFill>
                                  <a:latin typeface="Cambria Math"/>
                                  <a:ea typeface="Cambria Math"/>
                                  <a:cs typeface="Cambria Math"/>
                                </a:rPr>
                                <m:t>𝑟</m:t>
                              </m:r>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𝑚</m:t>
                              </m:r>
                            </m:e>
                            <m:sub>
                              <m:r>
                                <a:rPr lang="en-GB" sz="2600">
                                  <a:solidFill>
                                    <a:srgbClr val="087F83"/>
                                  </a:solidFill>
                                  <a:latin typeface="Cambria Math"/>
                                  <a:ea typeface="Cambria Math"/>
                                  <a:cs typeface="Cambria Math"/>
                                </a:rPr>
                                <m:t>𝑟</m:t>
                              </m:r>
                            </m:sub>
                          </m:sSub>
                        </m:sup>
                      </m:sSup>
                      <m:r>
                        <a:rPr lang="en-GB" sz="2600">
                          <a:solidFill>
                            <a:srgbClr val="087F83"/>
                          </a:solidFill>
                          <a:latin typeface="Cambria Math"/>
                          <a:ea typeface="Cambria Math"/>
                          <a:cs typeface="Cambria Math"/>
                        </a:rPr>
                        <m:t>,  </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𝐛</m:t>
                          </m:r>
                        </m:e>
                        <m:sub>
                          <m:r>
                            <a:rPr lang="en-GB" sz="2600">
                              <a:solidFill>
                                <a:srgbClr val="087F83"/>
                              </a:solidFill>
                              <a:latin typeface="Cambria Math"/>
                              <a:ea typeface="Cambria Math"/>
                              <a:cs typeface="Cambria Math"/>
                            </a:rPr>
                            <m:t>𝑟</m:t>
                          </m:r>
                        </m:sub>
                      </m:sSub>
                      <m:r>
                        <a:rPr lang="en-GB" sz="2600">
                          <a:solidFill>
                            <a:srgbClr val="087F83"/>
                          </a:solidFill>
                          <a:latin typeface="Cambria Math"/>
                          <a:ea typeface="Cambria Math"/>
                          <a:cs typeface="Cambria Math"/>
                        </a:rPr>
                        <m:t>∈</m:t>
                      </m:r>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ℝ</m:t>
                          </m:r>
                        </m:e>
                        <m:sup>
                          <m:r>
                            <a:rPr lang="en-GB" sz="2600">
                              <a:solidFill>
                                <a:srgbClr val="087F83"/>
                              </a:solidFill>
                              <a:latin typeface="Cambria Math"/>
                              <a:ea typeface="Cambria Math"/>
                              <a:cs typeface="Cambria Math"/>
                            </a:rPr>
                            <m:t>1×</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𝑚</m:t>
                              </m:r>
                            </m:e>
                            <m:sub>
                              <m:r>
                                <a:rPr lang="en-GB" sz="2600">
                                  <a:solidFill>
                                    <a:srgbClr val="087F83"/>
                                  </a:solidFill>
                                  <a:latin typeface="Cambria Math"/>
                                  <a:ea typeface="Cambria Math"/>
                                  <a:cs typeface="Cambria Math"/>
                                </a:rPr>
                                <m:t>𝑟</m:t>
                              </m:r>
                            </m:sub>
                          </m:sSub>
                        </m:sup>
                      </m:sSup>
                      <m:r>
                        <a:rPr lang="en-GB" sz="2600">
                          <a:solidFill>
                            <a:srgbClr val="087F83"/>
                          </a:solidFill>
                          <a:latin typeface="Cambria Math"/>
                          <a:ea typeface="Cambria Math"/>
                          <a:cs typeface="Cambria Math"/>
                        </a:rPr>
                        <m:t>,  </m:t>
                      </m:r>
                      <m:r>
                        <a:rPr lang="en-GB" sz="2600">
                          <a:solidFill>
                            <a:srgbClr val="087F83"/>
                          </a:solidFill>
                          <a:latin typeface="Cambria Math"/>
                          <a:ea typeface="Cambria Math"/>
                          <a:cs typeface="Cambria Math"/>
                        </a:rPr>
                        <m:t>𝑟</m:t>
                      </m:r>
                      <m:r>
                        <a:rPr lang="en-GB" sz="2600">
                          <a:solidFill>
                            <a:srgbClr val="087F83"/>
                          </a:solidFill>
                          <a:latin typeface="Cambria Math"/>
                          <a:ea typeface="Cambria Math"/>
                          <a:cs typeface="Cambria Math"/>
                        </a:rPr>
                        <m:t>=1,…,</m:t>
                      </m:r>
                      <m:r>
                        <a:rPr lang="en-GB" sz="2600">
                          <a:solidFill>
                            <a:srgbClr val="087F83"/>
                          </a:solidFill>
                          <a:latin typeface="Cambria Math"/>
                          <a:ea typeface="Cambria Math"/>
                          <a:cs typeface="Cambria Math"/>
                        </a:rPr>
                        <m:t>𝐿</m:t>
                      </m:r>
                    </m:oMath>
                  </m:oMathPara>
                </a14:m>
                <a:endParaRPr lang="en-GB" sz="2600"/>
              </a:p>
            </p:txBody>
          </p:sp>
        </mc:Choice>
        <mc:Fallback xmlns="">
          <p:sp>
            <p:nvSpPr>
              <p:cNvPr id="13" name="general_dimensions" descr="\bm W_r\in\mathbb R^{m_{r-1}\times m_r},\qquad\bm b_r\in\mathbb R^{1\times m_r},\qquad r=1,\ldots,L">
                <a:extLst>
                  <a:ext uri="{FF2B5EF4-FFF2-40B4-BE49-F238E27FC236}">
                    <a16:creationId xmlns:a16="http://schemas.microsoft.com/office/drawing/2014/main" id="{72121462-FE2B-47A7-B458-089B74E6380E}"/>
                  </a:ext>
                </a:extLst>
              </p:cNvPr>
              <p:cNvSpPr>
                <a:spLocks noGrp="1" noRot="1" noChangeAspect="1" noMove="1" noResize="1" noEditPoints="1" noAdjustHandles="1" noChangeArrowheads="1" noChangeShapeType="1" noTextEdit="1"/>
              </p:cNvSpPr>
              <p:nvPr/>
            </p:nvSpPr>
            <p:spPr>
              <a:xfrm>
                <a:off x="381000" y="1828800"/>
                <a:ext cx="11430000" cy="504825"/>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 name="output_parameter_notation">
                <a:extLst>
                  <a:ext uri="{FF2B5EF4-FFF2-40B4-BE49-F238E27FC236}">
                    <a16:creationId xmlns:a16="http://schemas.microsoft.com/office/drawing/2014/main" id="{72121462-FE2B-47A7-B458-089B74E6380E}"/>
                  </a:ext>
                </a:extLst>
              </p:cNvPr>
              <p:cNvSpPr>
                <a:spLocks noGrp="1"/>
              </p:cNvSpPr>
              <p:nvPr/>
            </p:nvSpPr>
            <p:spPr>
              <a:xfrm>
                <a:off x="381000" y="2343150"/>
                <a:ext cx="11430000" cy="352425"/>
              </a:xfrm>
              <a:prstGeom prst="rect">
                <a:avLst/>
              </a:prstGeom>
              <a:noFill/>
              <a:ln w="0">
                <a:noFill/>
              </a:ln>
            </p:spPr>
            <p:txBody>
              <a:bodyPr wrap="none" lIns="0" tIns="0" rIns="0" bIns="0" anchor="ctr">
                <a:noAutofit/>
              </a:bodyPr>
              <a:lstStyle/>
              <a:p>
                <a:pPr algn="ctr"/>
                <a:r>
                  <a:rPr lang="en-GB" sz="1900" b="0">
                    <a:solidFill>
                      <a:srgbClr val="526276"/>
                    </a:solidFill>
                    <a:latin typeface="DejaVu Sans"/>
                  </a:rPr>
                  <a:t>Output parameters: </a:t>
                </a:r>
                <a14:m>
                  <m:oMath xmlns:m="http://schemas.openxmlformats.org/officeDocument/2006/math">
                    <m:sSub>
                      <m:sSubPr>
                        <m:ctrlPr>
                          <a:rPr lang="en-GB" sz="1900">
                            <a:solidFill>
                              <a:srgbClr val="526276"/>
                            </a:solidFill>
                            <a:latin typeface="Cambria Math"/>
                            <a:ea typeface="Cambria Math"/>
                            <a:cs typeface="Cambria Math"/>
                          </a:rPr>
                        </m:ctrlPr>
                      </m:sSubPr>
                      <m:e>
                        <m:r>
                          <a:rPr lang="en-GB" sz="1900">
                            <a:solidFill>
                              <a:srgbClr val="526276"/>
                            </a:solidFill>
                            <a:latin typeface="Cambria Math"/>
                            <a:ea typeface="Cambria Math"/>
                            <a:cs typeface="Cambria Math"/>
                          </a:rPr>
                          <m:t>𝐖</m:t>
                        </m:r>
                      </m:e>
                      <m:sub>
                        <m:r>
                          <a:rPr lang="en-GB" sz="1900">
                            <a:solidFill>
                              <a:srgbClr val="526276"/>
                            </a:solidFill>
                            <a:latin typeface="Cambria Math"/>
                            <a:ea typeface="Cambria Math"/>
                            <a:cs typeface="Cambria Math"/>
                          </a:rPr>
                          <m:t>𝐿</m:t>
                        </m:r>
                      </m:sub>
                    </m:sSub>
                    <m:r>
                      <a:rPr lang="en-GB" sz="1900">
                        <a:solidFill>
                          <a:srgbClr val="526276"/>
                        </a:solidFill>
                        <a:latin typeface="Cambria Math"/>
                        <a:ea typeface="Cambria Math"/>
                        <a:cs typeface="Cambria Math"/>
                      </a:rPr>
                      <m:t>=</m:t>
                    </m:r>
                    <m:sSub>
                      <m:sSubPr>
                        <m:ctrlPr>
                          <a:rPr lang="en-GB" sz="1900">
                            <a:solidFill>
                              <a:srgbClr val="526276"/>
                            </a:solidFill>
                            <a:latin typeface="Cambria Math"/>
                            <a:ea typeface="Cambria Math"/>
                            <a:cs typeface="Cambria Math"/>
                          </a:rPr>
                        </m:ctrlPr>
                      </m:sSubPr>
                      <m:e>
                        <m:r>
                          <a:rPr lang="en-GB" sz="1900">
                            <a:solidFill>
                              <a:srgbClr val="526276"/>
                            </a:solidFill>
                            <a:latin typeface="Cambria Math"/>
                            <a:ea typeface="Cambria Math"/>
                            <a:cs typeface="Cambria Math"/>
                          </a:rPr>
                          <m:t>𝐖</m:t>
                        </m:r>
                      </m:e>
                      <m:sub>
                        <m:r>
                          <m:rPr>
                            <m:sty m:val="p"/>
                          </m:rPr>
                          <a:rPr lang="en-GB" sz="1900">
                            <a:solidFill>
                              <a:srgbClr val="526276"/>
                            </a:solidFill>
                            <a:latin typeface="Cambria Math"/>
                            <a:ea typeface="Cambria Math"/>
                            <a:cs typeface="Cambria Math"/>
                          </a:rPr>
                          <m:t>out</m:t>
                        </m:r>
                      </m:sub>
                    </m:sSub>
                  </m:oMath>
                </a14:m>
                <a:r>
                  <a:rPr lang="en-GB" sz="1900" b="0">
                    <a:solidFill>
                      <a:srgbClr val="526276"/>
                    </a:solidFill>
                    <a:latin typeface="DejaVu Sans"/>
                  </a:rPr>
                  <a:t> and </a:t>
                </a:r>
                <a14:m>
                  <m:oMath xmlns:m="http://schemas.openxmlformats.org/officeDocument/2006/math">
                    <m:sSub>
                      <m:sSubPr>
                        <m:ctrlPr>
                          <a:rPr lang="en-GB" sz="1900">
                            <a:solidFill>
                              <a:srgbClr val="526276"/>
                            </a:solidFill>
                            <a:latin typeface="Cambria Math"/>
                            <a:ea typeface="Cambria Math"/>
                            <a:cs typeface="Cambria Math"/>
                          </a:rPr>
                        </m:ctrlPr>
                      </m:sSubPr>
                      <m:e>
                        <m:r>
                          <a:rPr lang="en-GB" sz="1900">
                            <a:solidFill>
                              <a:srgbClr val="526276"/>
                            </a:solidFill>
                            <a:latin typeface="Cambria Math"/>
                            <a:ea typeface="Cambria Math"/>
                            <a:cs typeface="Cambria Math"/>
                          </a:rPr>
                          <m:t>𝐛</m:t>
                        </m:r>
                      </m:e>
                      <m:sub>
                        <m:r>
                          <a:rPr lang="en-GB" sz="1900">
                            <a:solidFill>
                              <a:srgbClr val="526276"/>
                            </a:solidFill>
                            <a:latin typeface="Cambria Math"/>
                            <a:ea typeface="Cambria Math"/>
                            <a:cs typeface="Cambria Math"/>
                          </a:rPr>
                          <m:t>𝐿</m:t>
                        </m:r>
                      </m:sub>
                    </m:sSub>
                    <m:r>
                      <a:rPr lang="en-GB" sz="1900">
                        <a:solidFill>
                          <a:srgbClr val="526276"/>
                        </a:solidFill>
                        <a:latin typeface="Cambria Math"/>
                        <a:ea typeface="Cambria Math"/>
                        <a:cs typeface="Cambria Math"/>
                      </a:rPr>
                      <m:t>=</m:t>
                    </m:r>
                    <m:sSub>
                      <m:sSubPr>
                        <m:ctrlPr>
                          <a:rPr lang="en-GB" sz="1900">
                            <a:solidFill>
                              <a:srgbClr val="526276"/>
                            </a:solidFill>
                            <a:latin typeface="Cambria Math"/>
                            <a:ea typeface="Cambria Math"/>
                            <a:cs typeface="Cambria Math"/>
                          </a:rPr>
                        </m:ctrlPr>
                      </m:sSubPr>
                      <m:e>
                        <m:r>
                          <a:rPr lang="en-GB" sz="1900">
                            <a:solidFill>
                              <a:srgbClr val="526276"/>
                            </a:solidFill>
                            <a:latin typeface="Cambria Math"/>
                            <a:ea typeface="Cambria Math"/>
                            <a:cs typeface="Cambria Math"/>
                          </a:rPr>
                          <m:t>𝐛</m:t>
                        </m:r>
                      </m:e>
                      <m:sub>
                        <m:r>
                          <m:rPr>
                            <m:sty m:val="p"/>
                          </m:rPr>
                          <a:rPr lang="en-GB" sz="1900">
                            <a:solidFill>
                              <a:srgbClr val="526276"/>
                            </a:solidFill>
                            <a:latin typeface="Cambria Math"/>
                            <a:ea typeface="Cambria Math"/>
                            <a:cs typeface="Cambria Math"/>
                          </a:rPr>
                          <m:t>out</m:t>
                        </m:r>
                      </m:sub>
                    </m:sSub>
                  </m:oMath>
                </a14:m>
                <a:r>
                  <a:rPr lang="en-GB" sz="1900" b="0">
                    <a:solidFill>
                      <a:srgbClr val="526276"/>
                    </a:solidFill>
                    <a:latin typeface="DejaVu Sans"/>
                  </a:rPr>
                  <a:t>.</a:t>
                </a:r>
                <a:endParaRPr lang="en-GB" sz="1900"/>
              </a:p>
            </p:txBody>
          </p:sp>
        </mc:Choice>
        <mc:Fallback xmlns="">
          <p:sp>
            <p:nvSpPr>
              <p:cNvPr id="14" name="output_parameter_notation">
                <a:extLst>
                  <a:ext uri="{FF2B5EF4-FFF2-40B4-BE49-F238E27FC236}">
                    <a16:creationId xmlns:a16="http://schemas.microsoft.com/office/drawing/2014/main" id="{72121462-FE2B-47A7-B458-089B74E6380E}"/>
                  </a:ext>
                </a:extLst>
              </p:cNvPr>
              <p:cNvSpPr>
                <a:spLocks noGrp="1" noRot="1" noChangeAspect="1" noMove="1" noResize="1" noEditPoints="1" noAdjustHandles="1" noChangeArrowheads="1" noChangeShapeType="1" noTextEdit="1"/>
              </p:cNvSpPr>
              <p:nvPr/>
            </p:nvSpPr>
            <p:spPr>
              <a:xfrm>
                <a:off x="381000" y="2343150"/>
                <a:ext cx="11430000" cy="352425"/>
              </a:xfrm>
              <a:prstGeom prst="rect">
                <a:avLst/>
              </a:prstGeom>
              <a:blipFill>
                <a:blip r:embed="rId7"/>
                <a:stretch>
                  <a:fillRect t="-15517" b="-31034"/>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57532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8442168E-F8CC-46C5-B04B-A54286FBB566}"/>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Regression and binary classification</a:t>
            </a:r>
          </a:p>
        </p:txBody>
      </p:sp>
      <p:sp>
        <p:nvSpPr>
          <p:cNvPr id="2" name="lead">
            <a:extLst>
              <a:ext uri="{FF2B5EF4-FFF2-40B4-BE49-F238E27FC236}">
                <a16:creationId xmlns:a16="http://schemas.microsoft.com/office/drawing/2014/main" id="{52635A5C-1CFC-4DA6-ACDD-CD20412E9A33}"/>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The same scalar network output can play different roles.</a:t>
            </a:r>
          </a:p>
        </p:txBody>
      </p:sp>
      <p:sp>
        <p:nvSpPr>
          <p:cNvPr id="3" name="footer_course">
            <a:extLst>
              <a:ext uri="{FF2B5EF4-FFF2-40B4-BE49-F238E27FC236}">
                <a16:creationId xmlns:a16="http://schemas.microsoft.com/office/drawing/2014/main" id="{8B1A4651-A8B4-4B0C-A5EB-9B3BF17617C3}"/>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3715E508-5208-4EA2-A378-B705853C83B2}"/>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22</a:t>
            </a:r>
          </a:p>
        </p:txBody>
      </p:sp>
      <p:sp>
        <p:nvSpPr>
          <p:cNvPr id="5" name="text_1">
            <a:extLst>
              <a:ext uri="{FF2B5EF4-FFF2-40B4-BE49-F238E27FC236}">
                <a16:creationId xmlns:a16="http://schemas.microsoft.com/office/drawing/2014/main" id="{468B953D-9CC2-4893-8C83-4E9BED6B32E0}"/>
              </a:ext>
            </a:extLst>
          </p:cNvPr>
          <p:cNvSpPr>
            <a:spLocks noGrp="1"/>
          </p:cNvSpPr>
          <p:nvPr/>
        </p:nvSpPr>
        <p:spPr>
          <a:xfrm>
            <a:off x="619125" y="1809750"/>
            <a:ext cx="5191125" cy="428625"/>
          </a:xfrm>
          <a:prstGeom prst="rect">
            <a:avLst/>
          </a:prstGeom>
          <a:noFill/>
          <a:ln w="0">
            <a:noFill/>
          </a:ln>
        </p:spPr>
        <p:txBody>
          <a:bodyPr anchor="ctr">
            <a:noAutofit/>
          </a:bodyPr>
          <a:lstStyle/>
          <a:p>
            <a:pPr algn="ctr">
              <a:defRPr sz="2325" b="1">
                <a:solidFill>
                  <a:srgbClr val="182D45"/>
                </a:solidFill>
                <a:latin typeface="DejaVu Sans"/>
                <a:ea typeface="DejaVu Sans"/>
                <a:cs typeface="DejaVu Sans"/>
              </a:defRPr>
            </a:pPr>
            <a:r>
              <a:rPr sz="2325" b="1" dirty="0">
                <a:solidFill>
                  <a:srgbClr val="182D45"/>
                </a:solidFill>
                <a:latin typeface="DejaVu Sans"/>
                <a:ea typeface="DejaVu Sans"/>
                <a:cs typeface="DejaVu Sans"/>
              </a:rPr>
              <a:t>Regression</a:t>
            </a:r>
          </a:p>
        </p:txBody>
      </p:sp>
      <p:sp>
        <p:nvSpPr>
          <p:cNvPr id="6" name="text_2">
            <a:extLst>
              <a:ext uri="{FF2B5EF4-FFF2-40B4-BE49-F238E27FC236}">
                <a16:creationId xmlns:a16="http://schemas.microsoft.com/office/drawing/2014/main" id="{CC0714E0-8E09-4B93-8D50-0FB691438889}"/>
              </a:ext>
            </a:extLst>
          </p:cNvPr>
          <p:cNvSpPr>
            <a:spLocks noGrp="1"/>
          </p:cNvSpPr>
          <p:nvPr/>
        </p:nvSpPr>
        <p:spPr>
          <a:xfrm>
            <a:off x="6381750" y="1809750"/>
            <a:ext cx="5191125" cy="428625"/>
          </a:xfrm>
          <a:prstGeom prst="rect">
            <a:avLst/>
          </a:prstGeom>
          <a:noFill/>
          <a:ln w="0">
            <a:noFill/>
          </a:ln>
        </p:spPr>
        <p:txBody>
          <a:bodyPr anchor="ctr">
            <a:noAutofit/>
          </a:bodyPr>
          <a:lstStyle/>
          <a:p>
            <a:pPr algn="ctr">
              <a:defRPr sz="2325" b="1">
                <a:solidFill>
                  <a:srgbClr val="182D45"/>
                </a:solidFill>
                <a:latin typeface="DejaVu Sans"/>
                <a:ea typeface="DejaVu Sans"/>
                <a:cs typeface="DejaVu Sans"/>
              </a:defRPr>
            </a:pPr>
            <a:r>
              <a:rPr sz="2325" b="1" dirty="0">
                <a:solidFill>
                  <a:srgbClr val="182D45"/>
                </a:solidFill>
                <a:latin typeface="DejaVu Sans"/>
                <a:ea typeface="DejaVu Sans"/>
                <a:cs typeface="DejaVu Sans"/>
              </a:rPr>
              <a:t>Binary classification</a:t>
            </a:r>
          </a:p>
        </p:txBody>
      </p:sp>
      <mc:AlternateContent xmlns:mc="http://schemas.openxmlformats.org/markup-compatibility/2006" xmlns:a14="http://schemas.microsoft.com/office/drawing/2010/main">
        <mc:Choice Requires="a14">
          <p:sp>
            <p:nvSpPr>
              <p:cNvPr id="7" name="equation_3" descr="\widehat y=f_{\boldsymbol{\theta}}(\mathbf{x})">
                <a:extLst>
                  <a:ext uri="{FF2B5EF4-FFF2-40B4-BE49-F238E27FC236}">
                    <a16:creationId xmlns:a16="http://schemas.microsoft.com/office/drawing/2014/main" id="{AF8875C3-7C25-4463-BC2D-D9EC906FD65C}"/>
                  </a:ext>
                </a:extLst>
              </p:cNvPr>
              <p:cNvSpPr>
                <a:spLocks noGrp="1"/>
              </p:cNvSpPr>
              <p:nvPr/>
            </p:nvSpPr>
            <p:spPr>
              <a:xfrm>
                <a:off x="523875" y="2886075"/>
                <a:ext cx="5381625"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acc>
                        <m:accPr>
                          <m:chr m:val="̂"/>
                          <m:ctrlPr>
                            <a:rPr lang="en-GB" sz="3100">
                              <a:solidFill>
                                <a:srgbClr val="087F83"/>
                              </a:solidFill>
                              <a:latin typeface="Cambria Math"/>
                              <a:ea typeface="Cambria Math"/>
                              <a:cs typeface="Cambria Math"/>
                            </a:rPr>
                          </m:ctrlPr>
                        </m:accPr>
                        <m:e>
                          <m:r>
                            <a:rPr lang="en-GB" sz="3100">
                              <a:solidFill>
                                <a:srgbClr val="087F83"/>
                              </a:solidFill>
                              <a:latin typeface="Cambria Math"/>
                              <a:ea typeface="Cambria Math"/>
                              <a:cs typeface="Cambria Math"/>
                            </a:rPr>
                            <m:t>𝑦</m:t>
                          </m:r>
                        </m:e>
                      </m:acc>
                      <m:r>
                        <a:rPr lang="en-GB" sz="3100">
                          <a:solidFill>
                            <a:srgbClr val="087F83"/>
                          </a:solidFill>
                          <a:latin typeface="Cambria Math"/>
                          <a:ea typeface="Cambria Math"/>
                          <a:cs typeface="Cambria Math"/>
                        </a:rPr>
                        <m:t>=</m:t>
                      </m:r>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𝑓</m:t>
                          </m:r>
                        </m:e>
                        <m:sub>
                          <m:r>
                            <a:rPr lang="en-GB" sz="3100">
                              <a:solidFill>
                                <a:srgbClr val="087F83"/>
                              </a:solidFill>
                              <a:latin typeface="Cambria Math"/>
                              <a:ea typeface="Cambria Math"/>
                              <a:cs typeface="Cambria Math"/>
                            </a:rPr>
                            <m:t>𝛉</m:t>
                          </m:r>
                        </m:sub>
                      </m:sSub>
                      <m:r>
                        <a:rPr lang="en-GB" sz="3100">
                          <a:solidFill>
                            <a:srgbClr val="087F83"/>
                          </a:solidFill>
                          <a:latin typeface="Cambria Math"/>
                          <a:ea typeface="Cambria Math"/>
                          <a:cs typeface="Cambria Math"/>
                        </a:rPr>
                        <m:t>(</m:t>
                      </m:r>
                      <m:r>
                        <a:rPr lang="en-GB" sz="3100">
                          <a:solidFill>
                            <a:srgbClr val="087F83"/>
                          </a:solidFill>
                          <a:latin typeface="Cambria Math"/>
                          <a:ea typeface="Cambria Math"/>
                          <a:cs typeface="Cambria Math"/>
                        </a:rPr>
                        <m:t>𝐱</m:t>
                      </m:r>
                      <m:r>
                        <a:rPr lang="en-GB" sz="3100">
                          <a:solidFill>
                            <a:srgbClr val="087F83"/>
                          </a:solidFill>
                          <a:latin typeface="Cambria Math"/>
                          <a:ea typeface="Cambria Math"/>
                          <a:cs typeface="Cambria Math"/>
                        </a:rPr>
                        <m:t>)</m:t>
                      </m:r>
                    </m:oMath>
                  </m:oMathPara>
                </a14:m>
                <a:endParaRPr lang="en-GB" sz="3100"/>
              </a:p>
            </p:txBody>
          </p:sp>
        </mc:Choice>
        <mc:Fallback xmlns="">
          <p:sp>
            <p:nvSpPr>
              <p:cNvPr id="7" name="equation_3" descr="\widehat y=f_{\boldsymbol{\theta}}(\mathbf{x})">
                <a:extLst>
                  <a:ext uri="{FF2B5EF4-FFF2-40B4-BE49-F238E27FC236}">
                    <a16:creationId xmlns:a16="http://schemas.microsoft.com/office/drawing/2014/main" id="{AF8875C3-7C25-4463-BC2D-D9EC906FD65C}"/>
                  </a:ext>
                </a:extLst>
              </p:cNvPr>
              <p:cNvSpPr>
                <a:spLocks noGrp="1" noRot="1" noChangeAspect="1" noMove="1" noResize="1" noEditPoints="1" noAdjustHandles="1" noChangeArrowheads="1" noChangeShapeType="1" noTextEdit="1"/>
              </p:cNvSpPr>
              <p:nvPr/>
            </p:nvSpPr>
            <p:spPr>
              <a:xfrm>
                <a:off x="523875" y="2886075"/>
                <a:ext cx="5381625" cy="714375"/>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equation_4" descr="p_{\boldsymbol{\theta}}(\mathbf{x})=\sigma(f_{\boldsymbol{\theta}}(\mathbf{x}))">
                <a:extLst>
                  <a:ext uri="{FF2B5EF4-FFF2-40B4-BE49-F238E27FC236}">
                    <a16:creationId xmlns:a16="http://schemas.microsoft.com/office/drawing/2014/main" id="{146CB2E5-F625-4C2D-85F9-4957C5935ECC}"/>
                  </a:ext>
                </a:extLst>
              </p:cNvPr>
              <p:cNvSpPr>
                <a:spLocks noGrp="1"/>
              </p:cNvSpPr>
              <p:nvPr/>
            </p:nvSpPr>
            <p:spPr>
              <a:xfrm>
                <a:off x="6238875" y="2838450"/>
                <a:ext cx="542925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𝑝</m:t>
                          </m:r>
                        </m:e>
                        <m:sub>
                          <m:r>
                            <a:rPr lang="en-GB" sz="2800">
                              <a:solidFill>
                                <a:srgbClr val="087F83"/>
                              </a:solidFill>
                              <a:latin typeface="Cambria Math"/>
                              <a:ea typeface="Cambria Math"/>
                              <a:cs typeface="Cambria Math"/>
                            </a:rPr>
                            <m:t>𝛉</m:t>
                          </m:r>
                        </m:sub>
                      </m:sSub>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𝐱</m:t>
                      </m:r>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𝜎</m:t>
                      </m:r>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𝑓</m:t>
                              </m:r>
                            </m:e>
                            <m:sub>
                              <m:r>
                                <a:rPr lang="en-GB" sz="2800">
                                  <a:solidFill>
                                    <a:srgbClr val="087F83"/>
                                  </a:solidFill>
                                  <a:latin typeface="Cambria Math"/>
                                  <a:ea typeface="Cambria Math"/>
                                  <a:cs typeface="Cambria Math"/>
                                </a:rPr>
                                <m:t>𝛉</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e>
                      </m:d>
                    </m:oMath>
                  </m:oMathPara>
                </a14:m>
                <a:endParaRPr lang="en-GB" sz="2800" dirty="0"/>
              </a:p>
            </p:txBody>
          </p:sp>
        </mc:Choice>
        <mc:Fallback xmlns="">
          <p:sp>
            <p:nvSpPr>
              <p:cNvPr id="8" name="equation_4" descr="p_{\boldsymbol{\theta}}(\mathbf{x})=\sigma(f_{\boldsymbol{\theta}}(\mathbf{x}))">
                <a:extLst>
                  <a:ext uri="{FF2B5EF4-FFF2-40B4-BE49-F238E27FC236}">
                    <a16:creationId xmlns:a16="http://schemas.microsoft.com/office/drawing/2014/main" id="{146CB2E5-F625-4C2D-85F9-4957C5935ECC}"/>
                  </a:ext>
                </a:extLst>
              </p:cNvPr>
              <p:cNvSpPr>
                <a:spLocks noGrp="1" noRot="1" noChangeAspect="1" noMove="1" noResize="1" noEditPoints="1" noAdjustHandles="1" noChangeArrowheads="1" noChangeShapeType="1" noTextEdit="1"/>
              </p:cNvSpPr>
              <p:nvPr/>
            </p:nvSpPr>
            <p:spPr>
              <a:xfrm>
                <a:off x="6238875" y="2838450"/>
                <a:ext cx="5429250" cy="71437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equation_5" descr="\ell_{\mathrm{sq}}(\widehat y,y)=(\widehat y-y)^2">
                <a:extLst>
                  <a:ext uri="{FF2B5EF4-FFF2-40B4-BE49-F238E27FC236}">
                    <a16:creationId xmlns:a16="http://schemas.microsoft.com/office/drawing/2014/main" id="{C3076197-DC5C-4089-97AB-B774F1EA41BD}"/>
                  </a:ext>
                </a:extLst>
              </p:cNvPr>
              <p:cNvSpPr>
                <a:spLocks noGrp="1"/>
              </p:cNvSpPr>
              <p:nvPr/>
            </p:nvSpPr>
            <p:spPr>
              <a:xfrm>
                <a:off x="681036" y="4539424"/>
                <a:ext cx="5381625"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087F83"/>
                              </a:solidFill>
                              <a:latin typeface="Cambria Math"/>
                              <a:ea typeface="Cambria Math"/>
                              <a:cs typeface="Cambria Math"/>
                            </a:rPr>
                          </m:ctrlPr>
                        </m:sSubPr>
                        <m:e>
                          <m:r>
                            <m:rPr>
                              <m:sty m:val="p"/>
                            </m:rPr>
                            <a:rPr lang="en-GB" sz="2700">
                              <a:solidFill>
                                <a:srgbClr val="087F83"/>
                              </a:solidFill>
                              <a:latin typeface="Cambria Math"/>
                              <a:ea typeface="Cambria Math"/>
                              <a:cs typeface="Cambria Math"/>
                            </a:rPr>
                            <m:t>ℓ</m:t>
                          </m:r>
                        </m:e>
                        <m:sub>
                          <m:r>
                            <m:rPr>
                              <m:sty m:val="p"/>
                            </m:rPr>
                            <a:rPr lang="en-GB" sz="2700">
                              <a:solidFill>
                                <a:srgbClr val="087F83"/>
                              </a:solidFill>
                              <a:latin typeface="Cambria Math"/>
                              <a:ea typeface="Cambria Math"/>
                              <a:cs typeface="Cambria Math"/>
                            </a:rPr>
                            <m:t>sq</m:t>
                          </m:r>
                        </m:sub>
                      </m:sSub>
                      <m:d>
                        <m:dPr>
                          <m:ctrlPr>
                            <a:rPr lang="en-GB" sz="2700" i="1">
                              <a:solidFill>
                                <a:srgbClr val="087F83"/>
                              </a:solidFill>
                              <a:latin typeface="Cambria Math" panose="02040503050406030204" pitchFamily="18" charset="0"/>
                              <a:ea typeface="Cambria Math"/>
                              <a:cs typeface="Cambria Math"/>
                            </a:rPr>
                          </m:ctrlPr>
                        </m:dPr>
                        <m:e>
                          <m:acc>
                            <m:accPr>
                              <m:chr m:val="̂"/>
                              <m:ctrlPr>
                                <a:rPr lang="en-GB" sz="2700">
                                  <a:solidFill>
                                    <a:srgbClr val="087F83"/>
                                  </a:solidFill>
                                  <a:latin typeface="Cambria Math"/>
                                  <a:ea typeface="Cambria Math"/>
                                  <a:cs typeface="Cambria Math"/>
                                </a:rPr>
                              </m:ctrlPr>
                            </m:accPr>
                            <m:e>
                              <m:r>
                                <a:rPr lang="en-GB" sz="2700">
                                  <a:solidFill>
                                    <a:srgbClr val="087F83"/>
                                  </a:solidFill>
                                  <a:latin typeface="Cambria Math"/>
                                  <a:ea typeface="Cambria Math"/>
                                  <a:cs typeface="Cambria Math"/>
                                </a:rPr>
                                <m:t>𝑦</m:t>
                              </m:r>
                            </m:e>
                          </m:acc>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𝑦</m:t>
                          </m:r>
                        </m:e>
                      </m:d>
                      <m:r>
                        <a:rPr lang="en-GB" sz="2700">
                          <a:solidFill>
                            <a:srgbClr val="087F83"/>
                          </a:solidFill>
                          <a:latin typeface="Cambria Math"/>
                          <a:ea typeface="Cambria Math"/>
                          <a:cs typeface="Cambria Math"/>
                        </a:rPr>
                        <m:t>=</m:t>
                      </m:r>
                      <m:sSup>
                        <m:sSupPr>
                          <m:ctrlPr>
                            <a:rPr lang="en-GB" sz="2700" i="1">
                              <a:solidFill>
                                <a:srgbClr val="087F83"/>
                              </a:solidFill>
                              <a:latin typeface="Cambria Math" panose="02040503050406030204" pitchFamily="18" charset="0"/>
                              <a:ea typeface="Cambria Math"/>
                              <a:cs typeface="Cambria Math"/>
                            </a:rPr>
                          </m:ctrlPr>
                        </m:sSupPr>
                        <m:e>
                          <m:d>
                            <m:dPr>
                              <m:ctrlPr>
                                <a:rPr lang="en-GB" sz="2700" i="1">
                                  <a:solidFill>
                                    <a:srgbClr val="087F83"/>
                                  </a:solidFill>
                                  <a:latin typeface="Cambria Math" panose="02040503050406030204" pitchFamily="18" charset="0"/>
                                  <a:ea typeface="Cambria Math"/>
                                  <a:cs typeface="Cambria Math"/>
                                </a:rPr>
                              </m:ctrlPr>
                            </m:dPr>
                            <m:e>
                              <m:acc>
                                <m:accPr>
                                  <m:chr m:val="̂"/>
                                  <m:ctrlPr>
                                    <a:rPr lang="en-GB" sz="2700">
                                      <a:solidFill>
                                        <a:srgbClr val="087F83"/>
                                      </a:solidFill>
                                      <a:latin typeface="Cambria Math"/>
                                      <a:ea typeface="Cambria Math"/>
                                      <a:cs typeface="Cambria Math"/>
                                    </a:rPr>
                                  </m:ctrlPr>
                                </m:accPr>
                                <m:e>
                                  <m:r>
                                    <a:rPr lang="en-GB" sz="2700">
                                      <a:solidFill>
                                        <a:srgbClr val="087F83"/>
                                      </a:solidFill>
                                      <a:latin typeface="Cambria Math"/>
                                      <a:ea typeface="Cambria Math"/>
                                      <a:cs typeface="Cambria Math"/>
                                    </a:rPr>
                                    <m:t>𝑦</m:t>
                                  </m:r>
                                </m:e>
                              </m:acc>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𝑦</m:t>
                              </m:r>
                            </m:e>
                          </m:d>
                        </m:e>
                        <m:sup>
                          <m:r>
                            <a:rPr lang="en-GB" sz="2700">
                              <a:solidFill>
                                <a:srgbClr val="087F83"/>
                              </a:solidFill>
                              <a:latin typeface="Cambria Math"/>
                              <a:ea typeface="Cambria Math"/>
                              <a:cs typeface="Cambria Math"/>
                            </a:rPr>
                            <m:t>2</m:t>
                          </m:r>
                        </m:sup>
                      </m:sSup>
                    </m:oMath>
                  </m:oMathPara>
                </a14:m>
                <a:endParaRPr lang="en-GB" sz="2700" dirty="0"/>
              </a:p>
            </p:txBody>
          </p:sp>
        </mc:Choice>
        <mc:Fallback xmlns="">
          <p:sp>
            <p:nvSpPr>
              <p:cNvPr id="9" name="equation_5" descr="\ell_{\mathrm{sq}}(\widehat y,y)=(\widehat y-y)^2">
                <a:extLst>
                  <a:ext uri="{FF2B5EF4-FFF2-40B4-BE49-F238E27FC236}">
                    <a16:creationId xmlns:a16="http://schemas.microsoft.com/office/drawing/2014/main" id="{C3076197-DC5C-4089-97AB-B774F1EA41BD}"/>
                  </a:ext>
                </a:extLst>
              </p:cNvPr>
              <p:cNvSpPr>
                <a:spLocks noGrp="1" noRot="1" noChangeAspect="1" noMove="1" noResize="1" noEditPoints="1" noAdjustHandles="1" noChangeArrowheads="1" noChangeShapeType="1" noTextEdit="1"/>
              </p:cNvSpPr>
              <p:nvPr/>
            </p:nvSpPr>
            <p:spPr>
              <a:xfrm>
                <a:off x="681036" y="4539424"/>
                <a:ext cx="5381625" cy="9525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equation_6" descr="h_{p_{\boldsymbol{\theta}}}(\mathbf{x})=1 if p_{\boldsymbol{\theta}}(\mathbf{x})&gt;1/2, and 0 otherwise">
                <a:extLst>
                  <a:ext uri="{FF2B5EF4-FFF2-40B4-BE49-F238E27FC236}">
                    <a16:creationId xmlns:a16="http://schemas.microsoft.com/office/drawing/2014/main" id="{B7F73F14-3B17-460C-B569-F6EF9B0CD567}"/>
                  </a:ext>
                </a:extLst>
              </p:cNvPr>
              <p:cNvSpPr>
                <a:spLocks noGrp="1"/>
              </p:cNvSpPr>
              <p:nvPr/>
            </p:nvSpPr>
            <p:spPr>
              <a:xfrm>
                <a:off x="6286500" y="3609975"/>
                <a:ext cx="5334000" cy="9715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ℎ</m:t>
                          </m:r>
                        </m:e>
                        <m:sub>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𝑝</m:t>
                              </m:r>
                            </m:e>
                            <m:sub>
                              <m:r>
                                <a:rPr lang="en-GB" sz="2600">
                                  <a:solidFill>
                                    <a:srgbClr val="087F83"/>
                                  </a:solidFill>
                                  <a:latin typeface="Cambria Math"/>
                                  <a:ea typeface="Cambria Math"/>
                                  <a:cs typeface="Cambria Math"/>
                                </a:rPr>
                                <m:t>𝛉</m:t>
                              </m:r>
                            </m:sub>
                          </m:sSub>
                        </m:sub>
                      </m:sSub>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𝐱</m:t>
                      </m:r>
                      <m:r>
                        <a:rPr lang="en-GB" sz="2600">
                          <a:solidFill>
                            <a:srgbClr val="087F83"/>
                          </a:solidFill>
                          <a:latin typeface="Cambria Math"/>
                          <a:ea typeface="Cambria Math"/>
                          <a:cs typeface="Cambria Math"/>
                        </a:rPr>
                        <m:t>)=</m:t>
                      </m:r>
                      <m:d>
                        <m:dPr>
                          <m:begChr m:val="{"/>
                          <m:endChr m:val=""/>
                          <m:ctrlPr>
                            <a:rPr lang="en-GB" sz="2600" i="1">
                              <a:solidFill>
                                <a:srgbClr val="087F83"/>
                              </a:solidFill>
                              <a:latin typeface="Cambria Math" panose="02040503050406030204" pitchFamily="18" charset="0"/>
                              <a:ea typeface="Cambria Math"/>
                              <a:cs typeface="Cambria Math"/>
                            </a:rPr>
                          </m:ctrlPr>
                        </m:dPr>
                        <m:e>
                          <m:m>
                            <m:mPr>
                              <m:mcs>
                                <m:mc>
                                  <m:mcPr>
                                    <m:count m:val="2"/>
                                    <m:mcJc m:val="center"/>
                                  </m:mcPr>
                                </m:mc>
                              </m:mcs>
                              <m:ctrlPr>
                                <a:rPr lang="en-GB" sz="2600" i="1">
                                  <a:solidFill>
                                    <a:srgbClr val="087F83"/>
                                  </a:solidFill>
                                  <a:latin typeface="Cambria Math" panose="02040503050406030204" pitchFamily="18" charset="0"/>
                                  <a:ea typeface="Cambria Math"/>
                                  <a:cs typeface="Cambria Math"/>
                                </a:rPr>
                              </m:ctrlPr>
                            </m:mPr>
                            <m:mr>
                              <m:e>
                                <m:r>
                                  <a:rPr lang="en-GB" sz="2600">
                                    <a:solidFill>
                                      <a:srgbClr val="087F83"/>
                                    </a:solidFill>
                                    <a:latin typeface="Cambria Math"/>
                                    <a:ea typeface="Cambria Math"/>
                                    <a:cs typeface="Cambria Math"/>
                                  </a:rPr>
                                  <m:t>1</m:t>
                                </m:r>
                              </m:e>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𝑝</m:t>
                                    </m:r>
                                  </m:e>
                                  <m:sub>
                                    <m:r>
                                      <a:rPr lang="en-GB" sz="2600">
                                        <a:solidFill>
                                          <a:srgbClr val="087F83"/>
                                        </a:solidFill>
                                        <a:latin typeface="Cambria Math"/>
                                        <a:ea typeface="Cambria Math"/>
                                        <a:cs typeface="Cambria Math"/>
                                      </a:rPr>
                                      <m:t>𝛉</m:t>
                                    </m:r>
                                  </m:sub>
                                </m:sSub>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𝐱</m:t>
                                </m:r>
                                <m:r>
                                  <a:rPr lang="en-GB" sz="2600">
                                    <a:solidFill>
                                      <a:srgbClr val="087F83"/>
                                    </a:solidFill>
                                    <a:latin typeface="Cambria Math"/>
                                    <a:ea typeface="Cambria Math"/>
                                    <a:cs typeface="Cambria Math"/>
                                  </a:rPr>
                                  <m:t>)&gt;1/2</m:t>
                                </m:r>
                              </m:e>
                            </m:mr>
                            <m:mr>
                              <m:e>
                                <m:r>
                                  <a:rPr lang="en-GB" sz="2600">
                                    <a:solidFill>
                                      <a:srgbClr val="087F83"/>
                                    </a:solidFill>
                                    <a:latin typeface="Cambria Math"/>
                                    <a:ea typeface="Cambria Math"/>
                                    <a:cs typeface="Cambria Math"/>
                                  </a:rPr>
                                  <m:t>0</m:t>
                                </m:r>
                              </m:e>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𝑝</m:t>
                                    </m:r>
                                  </m:e>
                                  <m:sub>
                                    <m:r>
                                      <a:rPr lang="en-GB" sz="2600">
                                        <a:solidFill>
                                          <a:srgbClr val="087F83"/>
                                        </a:solidFill>
                                        <a:latin typeface="Cambria Math"/>
                                        <a:ea typeface="Cambria Math"/>
                                        <a:cs typeface="Cambria Math"/>
                                      </a:rPr>
                                      <m:t>𝛉</m:t>
                                    </m:r>
                                  </m:sub>
                                </m:sSub>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𝐱</m:t>
                                </m:r>
                                <m:r>
                                  <a:rPr lang="en-GB" sz="2600">
                                    <a:solidFill>
                                      <a:srgbClr val="087F83"/>
                                    </a:solidFill>
                                    <a:latin typeface="Cambria Math"/>
                                    <a:ea typeface="Cambria Math"/>
                                    <a:cs typeface="Cambria Math"/>
                                  </a:rPr>
                                  <m:t>)≤1/2</m:t>
                                </m:r>
                              </m:e>
                            </m:mr>
                          </m:m>
                        </m:e>
                      </m:d>
                    </m:oMath>
                  </m:oMathPara>
                </a14:m>
                <a:endParaRPr lang="en-GB" sz="2600" dirty="0"/>
              </a:p>
            </p:txBody>
          </p:sp>
        </mc:Choice>
        <mc:Fallback xmlns="">
          <p:sp>
            <p:nvSpPr>
              <p:cNvPr id="10" name="equation_6" descr="h_{p_{\boldsymbol{\theta}}}(\mathbf{x})=1 if p_{\boldsymbol{\theta}}(\mathbf{x})&gt;1/2, and 0 otherwise">
                <a:extLst>
                  <a:ext uri="{FF2B5EF4-FFF2-40B4-BE49-F238E27FC236}">
                    <a16:creationId xmlns:a16="http://schemas.microsoft.com/office/drawing/2014/main" id="{B7F73F14-3B17-460C-B569-F6EF9B0CD567}"/>
                  </a:ext>
                </a:extLst>
              </p:cNvPr>
              <p:cNvSpPr>
                <a:spLocks noGrp="1" noRot="1" noChangeAspect="1" noMove="1" noResize="1" noEditPoints="1" noAdjustHandles="1" noChangeArrowheads="1" noChangeShapeType="1" noTextEdit="1"/>
              </p:cNvSpPr>
              <p:nvPr/>
            </p:nvSpPr>
            <p:spPr>
              <a:xfrm>
                <a:off x="6286500" y="3609975"/>
                <a:ext cx="5334000" cy="971550"/>
              </a:xfrm>
              <a:prstGeom prst="rect">
                <a:avLst/>
              </a:prstGeom>
              <a:blipFill>
                <a:blip r:embed="rId6"/>
                <a:stretch>
                  <a:fillRect/>
                </a:stretch>
              </a:blipFill>
              <a:ln w="0">
                <a:noFill/>
              </a:ln>
            </p:spPr>
            <p:txBody>
              <a:bodyPr/>
              <a:lstStyle/>
              <a:p>
                <a:r>
                  <a:rPr lang="it-IT">
                    <a:noFill/>
                  </a:rPr>
                  <a:t> </a:t>
                </a:r>
              </a:p>
            </p:txBody>
          </p:sp>
        </mc:Fallback>
      </mc:AlternateContent>
      <p:sp>
        <p:nvSpPr>
          <p:cNvPr id="11" name="text_7">
            <a:extLst>
              <a:ext uri="{FF2B5EF4-FFF2-40B4-BE49-F238E27FC236}">
                <a16:creationId xmlns:a16="http://schemas.microsoft.com/office/drawing/2014/main" id="{9776CE5C-F3AA-4887-8E8B-A14EBAF92A2A}"/>
              </a:ext>
            </a:extLst>
          </p:cNvPr>
          <p:cNvSpPr>
            <a:spLocks noGrp="1"/>
          </p:cNvSpPr>
          <p:nvPr/>
        </p:nvSpPr>
        <p:spPr>
          <a:xfrm>
            <a:off x="681036" y="5482402"/>
            <a:ext cx="5381625" cy="485775"/>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Use the </a:t>
            </a:r>
            <a:r>
              <a:rPr sz="2175" b="0" dirty="0">
                <a:solidFill>
                  <a:srgbClr val="FF0000"/>
                </a:solidFill>
                <a:latin typeface="DejaVu Sans"/>
                <a:ea typeface="DejaVu Sans"/>
                <a:cs typeface="DejaVu Sans"/>
              </a:rPr>
              <a:t>squared loss</a:t>
            </a:r>
            <a:r>
              <a:rPr sz="2175" b="0" dirty="0">
                <a:solidFill>
                  <a:srgbClr val="526276"/>
                </a:solidFill>
                <a:latin typeface="DejaVu Sans"/>
                <a:ea typeface="DejaVu Sans"/>
                <a:cs typeface="DejaVu Sans"/>
              </a:rPr>
              <a:t>.</a:t>
            </a:r>
          </a:p>
        </p:txBody>
      </p:sp>
      <p:sp>
        <p:nvSpPr>
          <p:cNvPr id="12" name="text_8">
            <a:extLst>
              <a:ext uri="{FF2B5EF4-FFF2-40B4-BE49-F238E27FC236}">
                <a16:creationId xmlns:a16="http://schemas.microsoft.com/office/drawing/2014/main" id="{39B3B549-BA21-4E20-91B6-7055930D75F5}"/>
              </a:ext>
            </a:extLst>
          </p:cNvPr>
          <p:cNvSpPr>
            <a:spLocks noGrp="1"/>
          </p:cNvSpPr>
          <p:nvPr/>
        </p:nvSpPr>
        <p:spPr>
          <a:xfrm>
            <a:off x="6262687" y="5436682"/>
            <a:ext cx="5429250" cy="485775"/>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Use the </a:t>
            </a:r>
            <a:r>
              <a:rPr sz="2175" b="0" dirty="0">
                <a:solidFill>
                  <a:srgbClr val="FF0000"/>
                </a:solidFill>
                <a:latin typeface="DejaVu Sans"/>
                <a:ea typeface="DejaVu Sans"/>
                <a:cs typeface="DejaVu Sans"/>
              </a:rPr>
              <a:t>logistic loss</a:t>
            </a:r>
            <a:r>
              <a:rPr sz="2175" b="0" dirty="0">
                <a:solidFill>
                  <a:srgbClr val="526276"/>
                </a:solidFill>
                <a:latin typeface="DejaVu Sans"/>
                <a:ea typeface="DejaVu Sans"/>
                <a:cs typeface="DejaVu Sans"/>
              </a:rPr>
              <a:t>.</a:t>
            </a:r>
          </a:p>
        </p:txBody>
      </p:sp>
      <p:sp>
        <p:nvSpPr>
          <p:cNvPr id="13" name="text_9">
            <a:extLst>
              <a:ext uri="{FF2B5EF4-FFF2-40B4-BE49-F238E27FC236}">
                <a16:creationId xmlns:a16="http://schemas.microsoft.com/office/drawing/2014/main" id="{5700445E-21E0-487B-95D1-35CFD472C0CD}"/>
              </a:ext>
            </a:extLst>
          </p:cNvPr>
          <p:cNvSpPr>
            <a:spLocks noGrp="1"/>
          </p:cNvSpPr>
          <p:nvPr/>
        </p:nvSpPr>
        <p:spPr>
          <a:xfrm>
            <a:off x="571500" y="6027231"/>
            <a:ext cx="11049000" cy="590550"/>
          </a:xfrm>
          <a:prstGeom prst="rect">
            <a:avLst/>
          </a:prstGeom>
          <a:noFill/>
          <a:ln w="0">
            <a:noFill/>
          </a:ln>
        </p:spPr>
        <p:txBody>
          <a:bodyPr lIns="0" tIns="0" rIns="0" bIns="0" anchor="ctr">
            <a:noAutofit/>
          </a:body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For each task,</a:t>
            </a:r>
            <a:r>
              <a:rPr lang="it-IT" sz="2100" b="1" dirty="0">
                <a:solidFill>
                  <a:srgbClr val="182D45"/>
                </a:solidFill>
                <a:latin typeface="DejaVu Sans"/>
                <a:ea typeface="DejaVu Sans"/>
                <a:cs typeface="DejaVu Sans"/>
              </a:rPr>
              <a:t> </a:t>
            </a:r>
            <a:r>
              <a:rPr sz="2100" b="1" dirty="0">
                <a:solidFill>
                  <a:srgbClr val="182D45"/>
                </a:solidFill>
                <a:latin typeface="DejaVu Sans"/>
                <a:ea typeface="DejaVu Sans"/>
                <a:cs typeface="DejaVu Sans"/>
              </a:rPr>
              <a:t>neural networks use the </a:t>
            </a:r>
            <a:r>
              <a:rPr sz="2100" b="1" dirty="0">
                <a:solidFill>
                  <a:srgbClr val="FF0000"/>
                </a:solidFill>
                <a:latin typeface="DejaVu Sans"/>
                <a:ea typeface="DejaVu Sans"/>
                <a:cs typeface="DejaVu Sans"/>
              </a:rPr>
              <a:t>same loss</a:t>
            </a:r>
          </a:p>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as the corresponding linear model.</a:t>
            </a:r>
          </a:p>
        </p:txBody>
      </p:sp>
      <mc:AlternateContent xmlns:mc="http://schemas.openxmlformats.org/markup-compatibility/2006" xmlns:a14="http://schemas.microsoft.com/office/drawing/2010/main">
        <mc:Choice Requires="a14">
          <p:sp>
            <p:nvSpPr>
              <p:cNvPr id="15" name="regression_output_role">
                <a:extLst>
                  <a:ext uri="{FF2B5EF4-FFF2-40B4-BE49-F238E27FC236}">
                    <a16:creationId xmlns:a16="http://schemas.microsoft.com/office/drawing/2014/main" id="{52635A5C-1CFC-4DA6-ACDD-CD20412E9A33}"/>
                  </a:ext>
                </a:extLst>
              </p:cNvPr>
              <p:cNvSpPr>
                <a:spLocks noGrp="1"/>
              </p:cNvSpPr>
              <p:nvPr/>
            </p:nvSpPr>
            <p:spPr>
              <a:xfrm>
                <a:off x="523875" y="2247900"/>
                <a:ext cx="5381625" cy="590550"/>
              </a:xfrm>
              <a:prstGeom prst="rect">
                <a:avLst/>
              </a:prstGeom>
              <a:noFill/>
              <a:ln w="0">
                <a:noFill/>
              </a:ln>
            </p:spPr>
            <p:txBody>
              <a:bodyPr wrap="none" lIns="0" tIns="0" rIns="0" bIns="0" anchor="ctr">
                <a:noAutofit/>
              </a:bodyPr>
              <a:lstStyle/>
              <a:p>
                <a:pPr algn="ctr">
                  <a:lnSpc>
                    <a:spcPts val="2400"/>
                  </a:lnSpc>
                </a:pPr>
                <a:r>
                  <a:rPr lang="en-GB" sz="1950" dirty="0">
                    <a:solidFill>
                      <a:srgbClr val="526276"/>
                    </a:solidFill>
                    <a:latin typeface="DejaVu Sans"/>
                  </a:rPr>
                  <a:t>The network output </a:t>
                </a:r>
                <a14:m>
                  <m:oMath xmlns:m="http://schemas.openxmlformats.org/officeDocument/2006/math">
                    <m:sSub>
                      <m:sSubPr>
                        <m:ctrlPr>
                          <a:rPr lang="en-GB" sz="1950">
                            <a:solidFill>
                              <a:srgbClr val="526276"/>
                            </a:solidFill>
                            <a:latin typeface="Cambria Math"/>
                            <a:ea typeface="Cambria Math"/>
                            <a:cs typeface="Cambria Math"/>
                          </a:rPr>
                        </m:ctrlPr>
                      </m:sSubPr>
                      <m:e>
                        <m:r>
                          <a:rPr lang="en-GB" sz="1950">
                            <a:solidFill>
                              <a:srgbClr val="526276"/>
                            </a:solidFill>
                            <a:latin typeface="Cambria Math"/>
                            <a:ea typeface="Cambria Math"/>
                            <a:cs typeface="Cambria Math"/>
                          </a:rPr>
                          <m:t>𝑓</m:t>
                        </m:r>
                      </m:e>
                      <m:sub>
                        <m:r>
                          <a:rPr lang="en-GB" sz="1950">
                            <a:solidFill>
                              <a:srgbClr val="526276"/>
                            </a:solidFill>
                            <a:latin typeface="Cambria Math"/>
                            <a:ea typeface="Cambria Math"/>
                            <a:cs typeface="Cambria Math"/>
                          </a:rPr>
                          <m:t>𝛉</m:t>
                        </m:r>
                      </m:sub>
                    </m:sSub>
                    <m:r>
                      <a:rPr lang="en-GB" sz="1950">
                        <a:solidFill>
                          <a:srgbClr val="526276"/>
                        </a:solidFill>
                        <a:latin typeface="Cambria Math"/>
                        <a:ea typeface="Cambria Math"/>
                        <a:cs typeface="Cambria Math"/>
                      </a:rPr>
                      <m:t>(</m:t>
                    </m:r>
                    <m:r>
                      <a:rPr lang="en-GB" sz="1950">
                        <a:solidFill>
                          <a:srgbClr val="526276"/>
                        </a:solidFill>
                        <a:latin typeface="Cambria Math"/>
                        <a:ea typeface="Cambria Math"/>
                        <a:cs typeface="Cambria Math"/>
                      </a:rPr>
                      <m:t>𝐱</m:t>
                    </m:r>
                    <m:r>
                      <a:rPr lang="en-GB" sz="1950">
                        <a:solidFill>
                          <a:srgbClr val="526276"/>
                        </a:solidFill>
                        <a:latin typeface="Cambria Math"/>
                        <a:ea typeface="Cambria Math"/>
                        <a:cs typeface="Cambria Math"/>
                      </a:rPr>
                      <m:t>)</m:t>
                    </m:r>
                  </m:oMath>
                </a14:m>
                <a:endParaRPr lang="en-GB" sz="1950" dirty="0"/>
              </a:p>
              <a:p>
                <a:pPr algn="ctr">
                  <a:lnSpc>
                    <a:spcPts val="2400"/>
                  </a:lnSpc>
                </a:pPr>
                <a:r>
                  <a:rPr lang="en-GB" sz="1950" dirty="0">
                    <a:solidFill>
                      <a:srgbClr val="526276"/>
                    </a:solidFill>
                    <a:latin typeface="DejaVu Sans"/>
                  </a:rPr>
                  <a:t>is the </a:t>
                </a:r>
                <a:r>
                  <a:rPr lang="en-GB" sz="1950" dirty="0">
                    <a:solidFill>
                      <a:srgbClr val="087F83"/>
                    </a:solidFill>
                    <a:latin typeface="DejaVu Sans"/>
                  </a:rPr>
                  <a:t>predicted value.</a:t>
                </a:r>
                <a:endParaRPr lang="en-GB" sz="1950" dirty="0"/>
              </a:p>
            </p:txBody>
          </p:sp>
        </mc:Choice>
        <mc:Fallback xmlns="">
          <p:sp>
            <p:nvSpPr>
              <p:cNvPr id="15" name="regression_output_role">
                <a:extLst>
                  <a:ext uri="{FF2B5EF4-FFF2-40B4-BE49-F238E27FC236}">
                    <a16:creationId xmlns:a16="http://schemas.microsoft.com/office/drawing/2014/main" id="{52635A5C-1CFC-4DA6-ACDD-CD20412E9A33}"/>
                  </a:ext>
                </a:extLst>
              </p:cNvPr>
              <p:cNvSpPr>
                <a:spLocks noGrp="1" noRot="1" noChangeAspect="1" noMove="1" noResize="1" noEditPoints="1" noAdjustHandles="1" noChangeArrowheads="1" noChangeShapeType="1" noTextEdit="1"/>
              </p:cNvSpPr>
              <p:nvPr/>
            </p:nvSpPr>
            <p:spPr>
              <a:xfrm>
                <a:off x="523875" y="2247900"/>
                <a:ext cx="5381625" cy="590550"/>
              </a:xfrm>
              <a:prstGeom prst="rect">
                <a:avLst/>
              </a:prstGeom>
              <a:blipFill>
                <a:blip r:embed="rId7"/>
                <a:stretch>
                  <a:fillRect t="-15464" b="-2474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classification_output_role">
                <a:extLst>
                  <a:ext uri="{FF2B5EF4-FFF2-40B4-BE49-F238E27FC236}">
                    <a16:creationId xmlns:a16="http://schemas.microsoft.com/office/drawing/2014/main" id="{52635A5C-1CFC-4DA6-ACDD-CD20412E9A33}"/>
                  </a:ext>
                </a:extLst>
              </p:cNvPr>
              <p:cNvSpPr>
                <a:spLocks noGrp="1"/>
              </p:cNvSpPr>
              <p:nvPr/>
            </p:nvSpPr>
            <p:spPr>
              <a:xfrm>
                <a:off x="6238875" y="2247900"/>
                <a:ext cx="5429250" cy="590550"/>
              </a:xfrm>
              <a:prstGeom prst="rect">
                <a:avLst/>
              </a:prstGeom>
              <a:noFill/>
              <a:ln w="0">
                <a:noFill/>
              </a:ln>
            </p:spPr>
            <p:txBody>
              <a:bodyPr wrap="none" lIns="0" tIns="0" rIns="0" bIns="0" anchor="ctr">
                <a:noAutofit/>
              </a:bodyPr>
              <a:lstStyle/>
              <a:p>
                <a:pPr algn="ctr">
                  <a:lnSpc>
                    <a:spcPts val="2400"/>
                  </a:lnSpc>
                </a:pPr>
                <a:r>
                  <a:rPr lang="en-GB" sz="1950" dirty="0">
                    <a:solidFill>
                      <a:srgbClr val="526276"/>
                    </a:solidFill>
                    <a:latin typeface="DejaVu Sans"/>
                  </a:rPr>
                  <a:t>The network output </a:t>
                </a:r>
                <a14:m>
                  <m:oMath xmlns:m="http://schemas.openxmlformats.org/officeDocument/2006/math">
                    <m:sSub>
                      <m:sSubPr>
                        <m:ctrlPr>
                          <a:rPr lang="en-GB" sz="1950">
                            <a:solidFill>
                              <a:srgbClr val="526276"/>
                            </a:solidFill>
                            <a:latin typeface="Cambria Math"/>
                            <a:ea typeface="Cambria Math"/>
                            <a:cs typeface="Cambria Math"/>
                          </a:rPr>
                        </m:ctrlPr>
                      </m:sSubPr>
                      <m:e>
                        <m:r>
                          <a:rPr lang="en-GB" sz="1950">
                            <a:solidFill>
                              <a:srgbClr val="526276"/>
                            </a:solidFill>
                            <a:latin typeface="Cambria Math"/>
                            <a:ea typeface="Cambria Math"/>
                            <a:cs typeface="Cambria Math"/>
                          </a:rPr>
                          <m:t>𝑓</m:t>
                        </m:r>
                      </m:e>
                      <m:sub>
                        <m:r>
                          <a:rPr lang="en-GB" sz="1950">
                            <a:solidFill>
                              <a:srgbClr val="526276"/>
                            </a:solidFill>
                            <a:latin typeface="Cambria Math"/>
                            <a:ea typeface="Cambria Math"/>
                            <a:cs typeface="Cambria Math"/>
                          </a:rPr>
                          <m:t>𝛉</m:t>
                        </m:r>
                      </m:sub>
                    </m:sSub>
                    <m:r>
                      <a:rPr lang="en-GB" sz="1950">
                        <a:solidFill>
                          <a:srgbClr val="526276"/>
                        </a:solidFill>
                        <a:latin typeface="Cambria Math"/>
                        <a:ea typeface="Cambria Math"/>
                        <a:cs typeface="Cambria Math"/>
                      </a:rPr>
                      <m:t>(</m:t>
                    </m:r>
                    <m:r>
                      <a:rPr lang="en-GB" sz="1950">
                        <a:solidFill>
                          <a:srgbClr val="526276"/>
                        </a:solidFill>
                        <a:latin typeface="Cambria Math"/>
                        <a:ea typeface="Cambria Math"/>
                        <a:cs typeface="Cambria Math"/>
                      </a:rPr>
                      <m:t>𝐱</m:t>
                    </m:r>
                    <m:r>
                      <a:rPr lang="en-GB" sz="1950">
                        <a:solidFill>
                          <a:srgbClr val="526276"/>
                        </a:solidFill>
                        <a:latin typeface="Cambria Math"/>
                        <a:ea typeface="Cambria Math"/>
                        <a:cs typeface="Cambria Math"/>
                      </a:rPr>
                      <m:t>)</m:t>
                    </m:r>
                  </m:oMath>
                </a14:m>
                <a:r>
                  <a:rPr lang="en-GB" sz="1950" dirty="0"/>
                  <a:t> </a:t>
                </a:r>
                <a:r>
                  <a:rPr lang="en-GB" sz="1950" dirty="0">
                    <a:solidFill>
                      <a:srgbClr val="526276"/>
                    </a:solidFill>
                    <a:latin typeface="DejaVu Sans"/>
                  </a:rPr>
                  <a:t>is a </a:t>
                </a:r>
                <a:r>
                  <a:rPr lang="en-GB" sz="1950" dirty="0">
                    <a:solidFill>
                      <a:srgbClr val="087F83"/>
                    </a:solidFill>
                    <a:latin typeface="DejaVu Sans"/>
                  </a:rPr>
                  <a:t>score.</a:t>
                </a:r>
              </a:p>
            </p:txBody>
          </p:sp>
        </mc:Choice>
        <mc:Fallback xmlns="">
          <p:sp>
            <p:nvSpPr>
              <p:cNvPr id="16" name="classification_output_role">
                <a:extLst>
                  <a:ext uri="{FF2B5EF4-FFF2-40B4-BE49-F238E27FC236}">
                    <a16:creationId xmlns:a16="http://schemas.microsoft.com/office/drawing/2014/main" id="{52635A5C-1CFC-4DA6-ACDD-CD20412E9A33}"/>
                  </a:ext>
                </a:extLst>
              </p:cNvPr>
              <p:cNvSpPr>
                <a:spLocks noGrp="1" noRot="1" noChangeAspect="1" noMove="1" noResize="1" noEditPoints="1" noAdjustHandles="1" noChangeArrowheads="1" noChangeShapeType="1" noTextEdit="1"/>
              </p:cNvSpPr>
              <p:nvPr/>
            </p:nvSpPr>
            <p:spPr>
              <a:xfrm>
                <a:off x="6238875" y="2247900"/>
                <a:ext cx="5429250" cy="59055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 name="equation_5" descr="\ell_{\mathrm{sq}}(\widehat y,y)=(\widehat y-y)^2">
                <a:extLst>
                  <a:ext uri="{FF2B5EF4-FFF2-40B4-BE49-F238E27FC236}">
                    <a16:creationId xmlns:a16="http://schemas.microsoft.com/office/drawing/2014/main" id="{EAA82288-5201-A251-33EE-3522197982D4}"/>
                  </a:ext>
                </a:extLst>
              </p:cNvPr>
              <p:cNvSpPr>
                <a:spLocks noGrp="1"/>
              </p:cNvSpPr>
              <p:nvPr/>
            </p:nvSpPr>
            <p:spPr>
              <a:xfrm>
                <a:off x="6096000" y="4529902"/>
                <a:ext cx="5381625"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087F83"/>
                              </a:solidFill>
                              <a:latin typeface="Cambria Math"/>
                              <a:ea typeface="Cambria Math"/>
                              <a:cs typeface="Cambria Math"/>
                            </a:rPr>
                          </m:ctrlPr>
                        </m:sSubPr>
                        <m:e>
                          <m:r>
                            <m:rPr>
                              <m:sty m:val="p"/>
                            </m:rPr>
                            <a:rPr lang="en-GB" sz="2700">
                              <a:solidFill>
                                <a:srgbClr val="087F83"/>
                              </a:solidFill>
                              <a:latin typeface="Cambria Math"/>
                              <a:ea typeface="Cambria Math"/>
                              <a:cs typeface="Cambria Math"/>
                            </a:rPr>
                            <m:t>ℓ</m:t>
                          </m:r>
                        </m:e>
                        <m:sub>
                          <m:r>
                            <m:rPr>
                              <m:sty m:val="p"/>
                            </m:rPr>
                            <a:rPr lang="it-IT" sz="2700" b="0" i="0" smtClean="0">
                              <a:solidFill>
                                <a:srgbClr val="087F83"/>
                              </a:solidFill>
                              <a:latin typeface="Cambria Math" panose="02040503050406030204" pitchFamily="18" charset="0"/>
                              <a:ea typeface="Cambria Math"/>
                              <a:cs typeface="Cambria Math"/>
                            </a:rPr>
                            <m:t>log</m:t>
                          </m:r>
                        </m:sub>
                      </m:sSub>
                      <m:d>
                        <m:dPr>
                          <m:ctrlPr>
                            <a:rPr lang="it-IT" sz="2700" b="0" i="1" smtClean="0">
                              <a:solidFill>
                                <a:srgbClr val="087F83"/>
                              </a:solidFill>
                              <a:latin typeface="Cambria Math" panose="02040503050406030204" pitchFamily="18" charset="0"/>
                              <a:ea typeface="Cambria Math"/>
                              <a:cs typeface="Cambria Math"/>
                            </a:rPr>
                          </m:ctrlPr>
                        </m:dPr>
                        <m:e>
                          <m:r>
                            <a:rPr lang="it-IT" sz="2700" b="0" i="1" smtClean="0">
                              <a:solidFill>
                                <a:srgbClr val="087F83"/>
                              </a:solidFill>
                              <a:latin typeface="Cambria Math" panose="02040503050406030204" pitchFamily="18" charset="0"/>
                              <a:ea typeface="Cambria Math"/>
                              <a:cs typeface="Cambria Math"/>
                            </a:rPr>
                            <m:t>𝑝</m:t>
                          </m:r>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𝑦</m:t>
                          </m:r>
                        </m:e>
                      </m:d>
                      <m:r>
                        <a:rPr lang="en-GB" sz="2700">
                          <a:solidFill>
                            <a:srgbClr val="087F83"/>
                          </a:solidFill>
                          <a:latin typeface="Cambria Math"/>
                          <a:ea typeface="Cambria Math"/>
                          <a:cs typeface="Cambria Math"/>
                        </a:rPr>
                        <m:t>=</m:t>
                      </m:r>
                      <m:r>
                        <a:rPr lang="it-IT" sz="2700" b="0" i="1" smtClean="0">
                          <a:solidFill>
                            <a:srgbClr val="087F83"/>
                          </a:solidFill>
                          <a:latin typeface="Cambria Math" panose="02040503050406030204" pitchFamily="18" charset="0"/>
                          <a:ea typeface="Cambria Math"/>
                          <a:cs typeface="Cambria Math"/>
                        </a:rPr>
                        <m:t>𝑦</m:t>
                      </m:r>
                      <m:func>
                        <m:funcPr>
                          <m:ctrlPr>
                            <a:rPr lang="it-IT" sz="2700" b="0" i="0" smtClean="0">
                              <a:solidFill>
                                <a:srgbClr val="087F83"/>
                              </a:solidFill>
                              <a:latin typeface="Cambria Math" panose="02040503050406030204" pitchFamily="18" charset="0"/>
                              <a:ea typeface="Cambria Math"/>
                              <a:cs typeface="Cambria Math"/>
                            </a:rPr>
                          </m:ctrlPr>
                        </m:funcPr>
                        <m:fName>
                          <m:r>
                            <m:rPr>
                              <m:sty m:val="p"/>
                            </m:rPr>
                            <a:rPr lang="it-IT" sz="2700" b="0" i="0" smtClean="0">
                              <a:solidFill>
                                <a:srgbClr val="087F83"/>
                              </a:solidFill>
                              <a:latin typeface="Cambria Math" panose="02040503050406030204" pitchFamily="18" charset="0"/>
                              <a:ea typeface="Cambria Math"/>
                              <a:cs typeface="Cambria Math"/>
                            </a:rPr>
                            <m:t>log</m:t>
                          </m:r>
                        </m:fName>
                        <m:e>
                          <m:d>
                            <m:dPr>
                              <m:ctrlPr>
                                <a:rPr lang="it-IT" sz="2700" b="0" i="1" smtClean="0">
                                  <a:solidFill>
                                    <a:srgbClr val="087F83"/>
                                  </a:solidFill>
                                  <a:latin typeface="Cambria Math" panose="02040503050406030204" pitchFamily="18" charset="0"/>
                                  <a:ea typeface="Cambria Math"/>
                                </a:rPr>
                              </m:ctrlPr>
                            </m:dPr>
                            <m:e>
                              <m:f>
                                <m:fPr>
                                  <m:ctrlPr>
                                    <a:rPr lang="it-IT" sz="2700" b="0" i="1" smtClean="0">
                                      <a:solidFill>
                                        <a:srgbClr val="087F83"/>
                                      </a:solidFill>
                                      <a:latin typeface="Cambria Math" panose="02040503050406030204" pitchFamily="18" charset="0"/>
                                      <a:ea typeface="Cambria Math"/>
                                    </a:rPr>
                                  </m:ctrlPr>
                                </m:fPr>
                                <m:num>
                                  <m:r>
                                    <a:rPr lang="it-IT" sz="2700" b="0" i="1" smtClean="0">
                                      <a:solidFill>
                                        <a:srgbClr val="087F83"/>
                                      </a:solidFill>
                                      <a:latin typeface="Cambria Math" panose="02040503050406030204" pitchFamily="18" charset="0"/>
                                      <a:ea typeface="Cambria Math"/>
                                    </a:rPr>
                                    <m:t>1</m:t>
                                  </m:r>
                                </m:num>
                                <m:den>
                                  <m:r>
                                    <a:rPr lang="it-IT" sz="2700" b="0" i="1" smtClean="0">
                                      <a:solidFill>
                                        <a:srgbClr val="087F83"/>
                                      </a:solidFill>
                                      <a:latin typeface="Cambria Math" panose="02040503050406030204" pitchFamily="18" charset="0"/>
                                      <a:ea typeface="Cambria Math"/>
                                    </a:rPr>
                                    <m:t>𝑝</m:t>
                                  </m:r>
                                </m:den>
                              </m:f>
                            </m:e>
                          </m:d>
                        </m:e>
                      </m:func>
                      <m:r>
                        <a:rPr lang="it-IT" sz="2700" b="0" i="1" smtClean="0">
                          <a:solidFill>
                            <a:srgbClr val="087F83"/>
                          </a:solidFill>
                          <a:latin typeface="Cambria Math" panose="02040503050406030204" pitchFamily="18" charset="0"/>
                          <a:ea typeface="Cambria Math"/>
                          <a:cs typeface="Cambria Math"/>
                        </a:rPr>
                        <m:t>+</m:t>
                      </m:r>
                      <m:d>
                        <m:dPr>
                          <m:ctrlPr>
                            <a:rPr lang="it-IT" sz="2700" b="0" i="1" smtClean="0">
                              <a:solidFill>
                                <a:srgbClr val="087F83"/>
                              </a:solidFill>
                              <a:latin typeface="Cambria Math" panose="02040503050406030204" pitchFamily="18" charset="0"/>
                              <a:ea typeface="Cambria Math"/>
                            </a:rPr>
                          </m:ctrlPr>
                        </m:dPr>
                        <m:e>
                          <m:r>
                            <a:rPr lang="it-IT" sz="2700" b="0" i="1" smtClean="0">
                              <a:solidFill>
                                <a:srgbClr val="087F83"/>
                              </a:solidFill>
                              <a:latin typeface="Cambria Math" panose="02040503050406030204" pitchFamily="18" charset="0"/>
                              <a:ea typeface="Cambria Math"/>
                            </a:rPr>
                            <m:t>1−</m:t>
                          </m:r>
                          <m:r>
                            <a:rPr lang="it-IT" sz="2700" b="0" i="1" smtClean="0">
                              <a:solidFill>
                                <a:srgbClr val="087F83"/>
                              </a:solidFill>
                              <a:latin typeface="Cambria Math" panose="02040503050406030204" pitchFamily="18" charset="0"/>
                              <a:ea typeface="Cambria Math"/>
                            </a:rPr>
                            <m:t>𝑦</m:t>
                          </m:r>
                        </m:e>
                      </m:d>
                      <m:func>
                        <m:funcPr>
                          <m:ctrlPr>
                            <a:rPr lang="it-IT" sz="2700" b="0" i="0" smtClean="0">
                              <a:solidFill>
                                <a:srgbClr val="087F83"/>
                              </a:solidFill>
                              <a:latin typeface="Cambria Math" panose="02040503050406030204" pitchFamily="18" charset="0"/>
                              <a:ea typeface="Cambria Math"/>
                            </a:rPr>
                          </m:ctrlPr>
                        </m:funcPr>
                        <m:fName>
                          <m:r>
                            <m:rPr>
                              <m:sty m:val="p"/>
                            </m:rPr>
                            <a:rPr lang="it-IT" sz="2700" b="0" i="0" smtClean="0">
                              <a:solidFill>
                                <a:srgbClr val="087F83"/>
                              </a:solidFill>
                              <a:latin typeface="Cambria Math" panose="02040503050406030204" pitchFamily="18" charset="0"/>
                              <a:ea typeface="Cambria Math"/>
                            </a:rPr>
                            <m:t>log</m:t>
                          </m:r>
                        </m:fName>
                        <m:e>
                          <m:d>
                            <m:dPr>
                              <m:ctrlPr>
                                <a:rPr lang="it-IT" sz="2700" b="0" i="1" smtClean="0">
                                  <a:solidFill>
                                    <a:srgbClr val="087F83"/>
                                  </a:solidFill>
                                  <a:latin typeface="Cambria Math" panose="02040503050406030204" pitchFamily="18" charset="0"/>
                                  <a:ea typeface="Cambria Math"/>
                                </a:rPr>
                              </m:ctrlPr>
                            </m:dPr>
                            <m:e>
                              <m:f>
                                <m:fPr>
                                  <m:ctrlPr>
                                    <a:rPr lang="it-IT" sz="2700" b="0" i="1" smtClean="0">
                                      <a:solidFill>
                                        <a:srgbClr val="087F83"/>
                                      </a:solidFill>
                                      <a:latin typeface="Cambria Math" panose="02040503050406030204" pitchFamily="18" charset="0"/>
                                      <a:ea typeface="Cambria Math"/>
                                    </a:rPr>
                                  </m:ctrlPr>
                                </m:fPr>
                                <m:num>
                                  <m:r>
                                    <a:rPr lang="it-IT" sz="2700" b="0" i="1" smtClean="0">
                                      <a:solidFill>
                                        <a:srgbClr val="087F83"/>
                                      </a:solidFill>
                                      <a:latin typeface="Cambria Math" panose="02040503050406030204" pitchFamily="18" charset="0"/>
                                      <a:ea typeface="Cambria Math"/>
                                    </a:rPr>
                                    <m:t>1</m:t>
                                  </m:r>
                                </m:num>
                                <m:den>
                                  <m:r>
                                    <a:rPr lang="it-IT" sz="2700" i="1">
                                      <a:solidFill>
                                        <a:srgbClr val="087F83"/>
                                      </a:solidFill>
                                      <a:latin typeface="Cambria Math" panose="02040503050406030204" pitchFamily="18" charset="0"/>
                                      <a:ea typeface="Cambria Math"/>
                                    </a:rPr>
                                    <m:t>1−</m:t>
                                  </m:r>
                                  <m:r>
                                    <a:rPr lang="it-IT" sz="2700" i="1">
                                      <a:solidFill>
                                        <a:srgbClr val="087F83"/>
                                      </a:solidFill>
                                      <a:latin typeface="Cambria Math" panose="02040503050406030204" pitchFamily="18" charset="0"/>
                                      <a:ea typeface="Cambria Math"/>
                                    </a:rPr>
                                    <m:t>𝑝</m:t>
                                  </m:r>
                                </m:den>
                              </m:f>
                            </m:e>
                          </m:d>
                        </m:e>
                      </m:func>
                    </m:oMath>
                  </m:oMathPara>
                </a14:m>
                <a:endParaRPr lang="en-GB" sz="2700" dirty="0"/>
              </a:p>
            </p:txBody>
          </p:sp>
        </mc:Choice>
        <mc:Fallback xmlns="">
          <p:sp>
            <p:nvSpPr>
              <p:cNvPr id="20" name="equation_5" descr="\ell_{\mathrm{sq}}(\widehat y,y)=(\widehat y-y)^2">
                <a:extLst>
                  <a:ext uri="{FF2B5EF4-FFF2-40B4-BE49-F238E27FC236}">
                    <a16:creationId xmlns:a16="http://schemas.microsoft.com/office/drawing/2014/main" id="{EAA82288-5201-A251-33EE-3522197982D4}"/>
                  </a:ext>
                </a:extLst>
              </p:cNvPr>
              <p:cNvSpPr>
                <a:spLocks noGrp="1" noRot="1" noChangeAspect="1" noMove="1" noResize="1" noEditPoints="1" noAdjustHandles="1" noChangeArrowheads="1" noChangeShapeType="1" noTextEdit="1"/>
              </p:cNvSpPr>
              <p:nvPr/>
            </p:nvSpPr>
            <p:spPr>
              <a:xfrm>
                <a:off x="6096000" y="4529902"/>
                <a:ext cx="5381625" cy="952500"/>
              </a:xfrm>
              <a:prstGeom prst="rect">
                <a:avLst/>
              </a:prstGeom>
              <a:blipFill>
                <a:blip r:embed="rId9"/>
                <a:stretch>
                  <a:fillRect l="-10079" r="-8267"/>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426081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5" grpId="0"/>
      <p:bldP spid="16" grpId="0"/>
      <p:bldP spid="20"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9104A02B-CA1F-452E-BF57-5195AF73E897}"/>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Multiclass classification</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F6425441-51AB-4D1B-9B23-5D6FD7DE365D}"/>
                  </a:ext>
                </a:extLst>
              </p:cNvPr>
              <p:cNvSpPr>
                <a:spLocks noGrp="1"/>
              </p:cNvSpPr>
              <p:nvPr/>
            </p:nvSpPr>
            <p:spPr>
              <a:xfrm>
                <a:off x="523875" y="1000125"/>
                <a:ext cx="11144250" cy="781050"/>
              </a:xfrm>
              <a:prstGeom prst="rect">
                <a:avLst/>
              </a:prstGeom>
              <a:noFill/>
              <a:ln w="0">
                <a:noFill/>
              </a:ln>
            </p:spPr>
            <p:txBody>
              <a:bodyPr wrap="none" lIns="0" tIns="0" rIns="0" bIns="0" anchor="ctr">
                <a:noAutofit/>
              </a:bodyPr>
              <a:lstStyle/>
              <a:p>
                <a:pPr algn="ctr">
                  <a:lnSpc>
                    <a:spcPts val="2500"/>
                  </a:lnSpc>
                </a:pPr>
                <a:r>
                  <a:rPr lang="en-GB" sz="2025" b="0">
                    <a:solidFill>
                      <a:srgbClr val="526276"/>
                    </a:solidFill>
                    <a:latin typeface="DejaVu Sans"/>
                  </a:rPr>
                  <a:t>With </a:t>
                </a:r>
                <a14:m>
                  <m:oMath xmlns:m="http://schemas.openxmlformats.org/officeDocument/2006/math">
                    <m:r>
                      <a:rPr lang="en-GB" sz="2025">
                        <a:solidFill>
                          <a:srgbClr val="526276"/>
                        </a:solidFill>
                        <a:latin typeface="Cambria Math"/>
                        <a:ea typeface="Cambria Math"/>
                        <a:cs typeface="Cambria Math"/>
                      </a:rPr>
                      <m:t>𝐾</m:t>
                    </m:r>
                  </m:oMath>
                </a14:m>
                <a:r>
                  <a:rPr lang="en-GB" sz="2025" b="0">
                    <a:solidFill>
                      <a:srgbClr val="526276"/>
                    </a:solidFill>
                    <a:latin typeface="DejaVu Sans"/>
                  </a:rPr>
                  <a:t> classes, the network outputs a row of </a:t>
                </a:r>
                <a14:m>
                  <m:oMath xmlns:m="http://schemas.openxmlformats.org/officeDocument/2006/math">
                    <m:r>
                      <a:rPr lang="en-GB" sz="2025">
                        <a:solidFill>
                          <a:srgbClr val="526276"/>
                        </a:solidFill>
                        <a:latin typeface="Cambria Math"/>
                        <a:ea typeface="Cambria Math"/>
                        <a:cs typeface="Cambria Math"/>
                      </a:rPr>
                      <m:t>𝐾</m:t>
                    </m:r>
                  </m:oMath>
                </a14:m>
                <a:r>
                  <a:rPr lang="en-GB" sz="2025" b="0">
                    <a:solidFill>
                      <a:srgbClr val="526276"/>
                    </a:solidFill>
                    <a:latin typeface="DejaVu Sans"/>
                  </a:rPr>
                  <a:t> real scores.</a:t>
                </a:r>
                <a:endParaRPr lang="en-GB" sz="2025"/>
              </a:p>
              <a:p>
                <a:pPr algn="ctr">
                  <a:lnSpc>
                    <a:spcPts val="2500"/>
                  </a:lnSpc>
                </a:pPr>
                <a:r>
                  <a:rPr lang="en-GB" sz="2025" b="0">
                    <a:solidFill>
                      <a:srgbClr val="526276"/>
                    </a:solidFill>
                    <a:latin typeface="DejaVu Sans"/>
                  </a:rPr>
                  <a:t>The output width is </a:t>
                </a:r>
                <a14:m>
                  <m:oMath xmlns:m="http://schemas.openxmlformats.org/officeDocument/2006/math">
                    <m:sSub>
                      <m:sSubPr>
                        <m:ctrlPr>
                          <a:rPr lang="en-GB" sz="2025">
                            <a:solidFill>
                              <a:srgbClr val="526276"/>
                            </a:solidFill>
                            <a:latin typeface="Cambria Math"/>
                            <a:ea typeface="Cambria Math"/>
                            <a:cs typeface="Cambria Math"/>
                          </a:rPr>
                        </m:ctrlPr>
                      </m:sSubPr>
                      <m:e>
                        <m:r>
                          <a:rPr lang="en-GB" sz="2025">
                            <a:solidFill>
                              <a:srgbClr val="526276"/>
                            </a:solidFill>
                            <a:latin typeface="Cambria Math"/>
                            <a:ea typeface="Cambria Math"/>
                            <a:cs typeface="Cambria Math"/>
                          </a:rPr>
                          <m:t>𝑚</m:t>
                        </m:r>
                      </m:e>
                      <m:sub>
                        <m:r>
                          <a:rPr lang="en-GB" sz="2025">
                            <a:solidFill>
                              <a:srgbClr val="526276"/>
                            </a:solidFill>
                            <a:latin typeface="Cambria Math"/>
                            <a:ea typeface="Cambria Math"/>
                            <a:cs typeface="Cambria Math"/>
                          </a:rPr>
                          <m:t>𝐿</m:t>
                        </m:r>
                      </m:sub>
                    </m:sSub>
                    <m:r>
                      <a:rPr lang="en-GB" sz="2025">
                        <a:solidFill>
                          <a:srgbClr val="526276"/>
                        </a:solidFill>
                        <a:latin typeface="Cambria Math"/>
                        <a:ea typeface="Cambria Math"/>
                        <a:cs typeface="Cambria Math"/>
                      </a:rPr>
                      <m:t>=</m:t>
                    </m:r>
                    <m:r>
                      <a:rPr lang="en-GB" sz="2025">
                        <a:solidFill>
                          <a:srgbClr val="526276"/>
                        </a:solidFill>
                        <a:latin typeface="Cambria Math"/>
                        <a:ea typeface="Cambria Math"/>
                        <a:cs typeface="Cambria Math"/>
                      </a:rPr>
                      <m:t>𝑞</m:t>
                    </m:r>
                    <m:r>
                      <a:rPr lang="en-GB" sz="2025">
                        <a:solidFill>
                          <a:srgbClr val="526276"/>
                        </a:solidFill>
                        <a:latin typeface="Cambria Math"/>
                        <a:ea typeface="Cambria Math"/>
                        <a:cs typeface="Cambria Math"/>
                      </a:rPr>
                      <m:t>=</m:t>
                    </m:r>
                    <m:r>
                      <a:rPr lang="en-GB" sz="2025">
                        <a:solidFill>
                          <a:srgbClr val="526276"/>
                        </a:solidFill>
                        <a:latin typeface="Cambria Math"/>
                        <a:ea typeface="Cambria Math"/>
                        <a:cs typeface="Cambria Math"/>
                      </a:rPr>
                      <m:t>𝐾</m:t>
                    </m:r>
                  </m:oMath>
                </a14:m>
                <a:r>
                  <a:rPr lang="en-GB" sz="2025" b="0">
                    <a:solidFill>
                      <a:srgbClr val="526276"/>
                    </a:solidFill>
                    <a:latin typeface="DejaVu Sans"/>
                  </a:rPr>
                  <a:t>.</a:t>
                </a:r>
                <a:endParaRPr lang="en-GB" sz="2025"/>
              </a:p>
            </p:txBody>
          </p:sp>
        </mc:Choice>
        <mc:Fallback xmlns="">
          <p:sp>
            <p:nvSpPr>
              <p:cNvPr id="2" name="lead">
                <a:extLst>
                  <a:ext uri="{FF2B5EF4-FFF2-40B4-BE49-F238E27FC236}">
                    <a16:creationId xmlns:a16="http://schemas.microsoft.com/office/drawing/2014/main" id="{F6425441-51AB-4D1B-9B23-5D6FD7DE365D}"/>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t="-1563" b="-8594"/>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E261D2E0-B322-4C6C-A303-0F30949F9A25}"/>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028EB04A-2B55-4F09-9E6D-B3BF1C02421E}"/>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23</a:t>
            </a:r>
          </a:p>
        </p:txBody>
      </p:sp>
      <mc:AlternateContent xmlns:mc="http://schemas.openxmlformats.org/markup-compatibility/2006" xmlns:a14="http://schemas.microsoft.com/office/drawing/2010/main">
        <mc:Choice Requires="a14">
          <p:sp>
            <p:nvSpPr>
              <p:cNvPr id="5" name="equation_1" descr="\mathbf{f}_{\boldsymbol{\theta}}(\mathbf{x})=(f_{\boldsymbol{\theta},1}(\mathbf{x}),\ldots,f_{\boldsymbol{\theta},K}(\mathbf{x}))">
                <a:extLst>
                  <a:ext uri="{FF2B5EF4-FFF2-40B4-BE49-F238E27FC236}">
                    <a16:creationId xmlns:a16="http://schemas.microsoft.com/office/drawing/2014/main" id="{5552F50A-4C92-403F-8EAF-482DC00EC48E}"/>
                  </a:ext>
                </a:extLst>
              </p:cNvPr>
              <p:cNvSpPr>
                <a:spLocks noGrp="1"/>
              </p:cNvSpPr>
              <p:nvPr/>
            </p:nvSpPr>
            <p:spPr>
              <a:xfrm>
                <a:off x="571500" y="1971675"/>
                <a:ext cx="11049000" cy="733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𝐟</m:t>
                          </m:r>
                        </m:e>
                        <m:sub>
                          <m:r>
                            <a:rPr lang="en-GB" sz="3000">
                              <a:solidFill>
                                <a:srgbClr val="087F83"/>
                              </a:solidFill>
                              <a:latin typeface="Cambria Math"/>
                              <a:ea typeface="Cambria Math"/>
                              <a:cs typeface="Cambria Math"/>
                            </a:rPr>
                            <m:t>𝛉</m:t>
                          </m:r>
                        </m:sub>
                      </m:sSub>
                      <m:r>
                        <a:rPr lang="en-GB" sz="3000">
                          <a:solidFill>
                            <a:srgbClr val="087F83"/>
                          </a:solidFill>
                          <a:latin typeface="Cambria Math"/>
                          <a:ea typeface="Cambria Math"/>
                          <a:cs typeface="Cambria Math"/>
                        </a:rPr>
                        <m:t>(</m:t>
                      </m:r>
                      <m:r>
                        <a:rPr lang="en-GB" sz="3000">
                          <a:solidFill>
                            <a:srgbClr val="087F83"/>
                          </a:solidFill>
                          <a:latin typeface="Cambria Math"/>
                          <a:ea typeface="Cambria Math"/>
                          <a:cs typeface="Cambria Math"/>
                        </a:rPr>
                        <m:t>𝐱</m:t>
                      </m:r>
                      <m:r>
                        <a:rPr lang="en-GB" sz="3000">
                          <a:solidFill>
                            <a:srgbClr val="087F83"/>
                          </a:solidFill>
                          <a:latin typeface="Cambria Math"/>
                          <a:ea typeface="Cambria Math"/>
                          <a:cs typeface="Cambria Math"/>
                        </a:rPr>
                        <m:t>)=</m:t>
                      </m:r>
                      <m:d>
                        <m:dPr>
                          <m:ctrlPr>
                            <a:rPr lang="en-GB" sz="3000" i="1">
                              <a:solidFill>
                                <a:srgbClr val="087F83"/>
                              </a:solidFill>
                              <a:latin typeface="Cambria Math" panose="02040503050406030204" pitchFamily="18" charset="0"/>
                              <a:ea typeface="Cambria Math"/>
                              <a:cs typeface="Cambria Math"/>
                            </a:rPr>
                          </m:ctrlPr>
                        </m:dPr>
                        <m:e>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𝑓</m:t>
                              </m:r>
                            </m:e>
                            <m:sub>
                              <m:r>
                                <a:rPr lang="en-GB" sz="3000">
                                  <a:solidFill>
                                    <a:srgbClr val="087F83"/>
                                  </a:solidFill>
                                  <a:latin typeface="Cambria Math"/>
                                  <a:ea typeface="Cambria Math"/>
                                  <a:cs typeface="Cambria Math"/>
                                </a:rPr>
                                <m:t>𝛉</m:t>
                              </m:r>
                              <m:r>
                                <a:rPr lang="en-GB" sz="3000">
                                  <a:solidFill>
                                    <a:srgbClr val="087F83"/>
                                  </a:solidFill>
                                  <a:latin typeface="Cambria Math"/>
                                  <a:ea typeface="Cambria Math"/>
                                  <a:cs typeface="Cambria Math"/>
                                </a:rPr>
                                <m:t>,1</m:t>
                              </m:r>
                            </m:sub>
                          </m:sSub>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𝐱</m:t>
                              </m:r>
                            </m:e>
                          </m:d>
                          <m:r>
                            <a:rPr lang="en-GB" sz="3000" smtClean="0">
                              <a:solidFill>
                                <a:srgbClr val="087F83"/>
                              </a:solidFill>
                              <a:latin typeface="Cambria Math"/>
                              <a:ea typeface="Cambria Math"/>
                              <a:cs typeface="Cambria Math"/>
                            </a:rPr>
                            <m:t>,</m:t>
                          </m:r>
                          <m:r>
                            <a:rPr lang="en-GB" sz="3000">
                              <a:solidFill>
                                <a:srgbClr val="087F83"/>
                              </a:solidFill>
                              <a:latin typeface="Cambria Math"/>
                              <a:ea typeface="Cambria Math"/>
                              <a:cs typeface="Cambria Math"/>
                            </a:rPr>
                            <m:t>…,</m:t>
                          </m:r>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𝑓</m:t>
                              </m:r>
                            </m:e>
                            <m:sub>
                              <m:r>
                                <a:rPr lang="en-GB" sz="3000">
                                  <a:solidFill>
                                    <a:srgbClr val="087F83"/>
                                  </a:solidFill>
                                  <a:latin typeface="Cambria Math"/>
                                  <a:ea typeface="Cambria Math"/>
                                  <a:cs typeface="Cambria Math"/>
                                </a:rPr>
                                <m:t>𝛉</m:t>
                              </m:r>
                              <m:r>
                                <a:rPr lang="en-GB" sz="3000">
                                  <a:solidFill>
                                    <a:srgbClr val="087F83"/>
                                  </a:solidFill>
                                  <a:latin typeface="Cambria Math"/>
                                  <a:ea typeface="Cambria Math"/>
                                  <a:cs typeface="Cambria Math"/>
                                </a:rPr>
                                <m:t>,</m:t>
                              </m:r>
                              <m:r>
                                <a:rPr lang="en-GB" sz="3000">
                                  <a:solidFill>
                                    <a:srgbClr val="087F83"/>
                                  </a:solidFill>
                                  <a:latin typeface="Cambria Math"/>
                                  <a:ea typeface="Cambria Math"/>
                                  <a:cs typeface="Cambria Math"/>
                                </a:rPr>
                                <m:t>𝐾</m:t>
                              </m:r>
                            </m:sub>
                          </m:sSub>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𝐱</m:t>
                              </m:r>
                            </m:e>
                          </m:d>
                        </m:e>
                      </m:d>
                    </m:oMath>
                  </m:oMathPara>
                </a14:m>
                <a:endParaRPr lang="en-GB" sz="3000" dirty="0"/>
              </a:p>
            </p:txBody>
          </p:sp>
        </mc:Choice>
        <mc:Fallback xmlns="">
          <p:sp>
            <p:nvSpPr>
              <p:cNvPr id="5" name="equation_1" descr="\mathbf{f}_{\boldsymbol{\theta}}(\mathbf{x})=(f_{\boldsymbol{\theta},1}(\mathbf{x}),\ldots,f_{\boldsymbol{\theta},K}(\mathbf{x}))">
                <a:extLst>
                  <a:ext uri="{FF2B5EF4-FFF2-40B4-BE49-F238E27FC236}">
                    <a16:creationId xmlns:a16="http://schemas.microsoft.com/office/drawing/2014/main" id="{5552F50A-4C92-403F-8EAF-482DC00EC48E}"/>
                  </a:ext>
                </a:extLst>
              </p:cNvPr>
              <p:cNvSpPr>
                <a:spLocks noGrp="1" noRot="1" noChangeAspect="1" noMove="1" noResize="1" noEditPoints="1" noAdjustHandles="1" noChangeArrowheads="1" noChangeShapeType="1" noTextEdit="1"/>
              </p:cNvSpPr>
              <p:nvPr/>
            </p:nvSpPr>
            <p:spPr>
              <a:xfrm>
                <a:off x="571500" y="1971675"/>
                <a:ext cx="11049000" cy="73342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equation_2" descr="\bm p_{\bm\theta}(\bm x)=\operatorname{Softmax}(\bm f_{\bm\theta}(\bm x)),\qquad p_{\bm\theta,k}(\bm x)=\frac{e^{f_{\bm\theta,k}(\bm x)}}{\sum_{c=1}^{K}e^{f_{\bm\theta,c}(\bm x)}}">
                <a:extLst>
                  <a:ext uri="{FF2B5EF4-FFF2-40B4-BE49-F238E27FC236}">
                    <a16:creationId xmlns:a16="http://schemas.microsoft.com/office/drawing/2014/main" id="{5549F9C3-08D1-454F-96DB-B9A8ED55D2C2}"/>
                  </a:ext>
                </a:extLst>
              </p:cNvPr>
              <p:cNvSpPr>
                <a:spLocks noGrp="1"/>
              </p:cNvSpPr>
              <p:nvPr/>
            </p:nvSpPr>
            <p:spPr>
              <a:xfrm>
                <a:off x="333375" y="2914650"/>
                <a:ext cx="11525250" cy="12096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𝐩</m:t>
                          </m:r>
                        </m:e>
                        <m:sub>
                          <m:r>
                            <a:rPr lang="en-GB" sz="2600">
                              <a:solidFill>
                                <a:srgbClr val="087F83"/>
                              </a:solidFill>
                              <a:latin typeface="Cambria Math"/>
                              <a:ea typeface="Cambria Math"/>
                              <a:cs typeface="Cambria Math"/>
                            </a:rPr>
                            <m:t>𝛉</m:t>
                          </m:r>
                        </m:sub>
                      </m:sSub>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𝐱</m:t>
                      </m:r>
                      <m:r>
                        <a:rPr lang="en-GB" sz="2600">
                          <a:solidFill>
                            <a:srgbClr val="087F83"/>
                          </a:solidFill>
                          <a:latin typeface="Cambria Math"/>
                          <a:ea typeface="Cambria Math"/>
                          <a:cs typeface="Cambria Math"/>
                        </a:rPr>
                        <m:t>)=</m:t>
                      </m:r>
                      <m:r>
                        <m:rPr>
                          <m:sty m:val="p"/>
                        </m:rPr>
                        <a:rPr lang="en-GB" sz="2600">
                          <a:solidFill>
                            <a:srgbClr val="087F83"/>
                          </a:solidFill>
                          <a:latin typeface="Cambria Math"/>
                          <a:ea typeface="Cambria Math"/>
                          <a:cs typeface="Cambria Math"/>
                        </a:rPr>
                        <m:t>Softmax</m:t>
                      </m:r>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𝐟</m:t>
                              </m:r>
                            </m:e>
                            <m:sub>
                              <m:r>
                                <a:rPr lang="en-GB" sz="2600">
                                  <a:solidFill>
                                    <a:srgbClr val="087F83"/>
                                  </a:solidFill>
                                  <a:latin typeface="Cambria Math"/>
                                  <a:ea typeface="Cambria Math"/>
                                  <a:cs typeface="Cambria Math"/>
                                </a:rPr>
                                <m:t>𝛉</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𝐱</m:t>
                              </m:r>
                            </m:e>
                          </m:d>
                        </m:e>
                      </m:d>
                      <m:r>
                        <a:rPr lang="en-GB" sz="2600">
                          <a:solidFill>
                            <a:srgbClr val="087F83"/>
                          </a:solidFill>
                          <a:latin typeface="Cambria Math"/>
                          <a:ea typeface="Cambria Math"/>
                          <a:cs typeface="Cambria Math"/>
                        </a:rPr>
                        <m:t>,  </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𝑝</m:t>
                          </m:r>
                        </m:e>
                        <m:sub>
                          <m:r>
                            <a:rPr lang="en-GB" sz="2600">
                              <a:solidFill>
                                <a:srgbClr val="087F83"/>
                              </a:solidFill>
                              <a:latin typeface="Cambria Math"/>
                              <a:ea typeface="Cambria Math"/>
                              <a:cs typeface="Cambria Math"/>
                            </a:rPr>
                            <m:t>𝛉</m:t>
                          </m:r>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𝑘</m:t>
                          </m:r>
                        </m:sub>
                      </m:sSub>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𝐱</m:t>
                      </m:r>
                      <m:r>
                        <a:rPr lang="en-GB" sz="2600">
                          <a:solidFill>
                            <a:srgbClr val="087F83"/>
                          </a:solidFill>
                          <a:latin typeface="Cambria Math"/>
                          <a:ea typeface="Cambria Math"/>
                          <a:cs typeface="Cambria Math"/>
                        </a:rPr>
                        <m:t>)=</m:t>
                      </m:r>
                      <m:f>
                        <m:fPr>
                          <m:ctrlPr>
                            <a:rPr lang="en-GB" sz="2600" i="1">
                              <a:solidFill>
                                <a:srgbClr val="087F83"/>
                              </a:solidFill>
                              <a:latin typeface="Cambria Math" panose="02040503050406030204" pitchFamily="18" charset="0"/>
                              <a:ea typeface="Cambria Math"/>
                              <a:cs typeface="Cambria Math"/>
                            </a:rPr>
                          </m:ctrlPr>
                        </m:fPr>
                        <m:num>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𝑒</m:t>
                              </m:r>
                            </m:e>
                            <m:sup>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𝑓</m:t>
                                  </m:r>
                                </m:e>
                                <m:sub>
                                  <m:r>
                                    <a:rPr lang="en-GB" sz="2600">
                                      <a:solidFill>
                                        <a:srgbClr val="087F83"/>
                                      </a:solidFill>
                                      <a:latin typeface="Cambria Math"/>
                                      <a:ea typeface="Cambria Math"/>
                                      <a:cs typeface="Cambria Math"/>
                                    </a:rPr>
                                    <m:t>𝛉</m:t>
                                  </m:r>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𝑘</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𝐱</m:t>
                                  </m:r>
                                </m:e>
                              </m:d>
                            </m:sup>
                          </m:sSup>
                        </m:num>
                        <m:den>
                          <m:nary>
                            <m:naryPr>
                              <m:chr m:val="∑"/>
                              <m:limLoc m:val="undOvr"/>
                              <m:ctrlPr>
                                <a:rPr lang="en-GB" sz="2600">
                                  <a:solidFill>
                                    <a:srgbClr val="087F83"/>
                                  </a:solidFill>
                                  <a:latin typeface="Cambria Math"/>
                                  <a:ea typeface="Cambria Math"/>
                                  <a:cs typeface="Cambria Math"/>
                                </a:rPr>
                              </m:ctrlPr>
                            </m:naryPr>
                            <m:sub>
                              <m:r>
                                <a:rPr lang="en-GB" sz="2600">
                                  <a:solidFill>
                                    <a:srgbClr val="087F83"/>
                                  </a:solidFill>
                                  <a:latin typeface="Cambria Math"/>
                                  <a:ea typeface="Cambria Math"/>
                                  <a:cs typeface="Cambria Math"/>
                                </a:rPr>
                                <m:t>𝑐</m:t>
                              </m:r>
                              <m:r>
                                <a:rPr lang="en-GB" sz="2600">
                                  <a:solidFill>
                                    <a:srgbClr val="087F83"/>
                                  </a:solidFill>
                                  <a:latin typeface="Cambria Math"/>
                                  <a:ea typeface="Cambria Math"/>
                                  <a:cs typeface="Cambria Math"/>
                                </a:rPr>
                                <m:t>=1</m:t>
                              </m:r>
                            </m:sub>
                            <m:sup>
                              <m:r>
                                <a:rPr lang="en-GB" sz="2600">
                                  <a:solidFill>
                                    <a:srgbClr val="087F83"/>
                                  </a:solidFill>
                                  <a:latin typeface="Cambria Math"/>
                                  <a:ea typeface="Cambria Math"/>
                                  <a:cs typeface="Cambria Math"/>
                                </a:rPr>
                                <m:t>𝐾</m:t>
                              </m:r>
                            </m:sup>
                            <m:e>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𝑒</m:t>
                                  </m:r>
                                </m:e>
                                <m:sup>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𝑓</m:t>
                                      </m:r>
                                    </m:e>
                                    <m:sub>
                                      <m:r>
                                        <a:rPr lang="en-GB" sz="2600">
                                          <a:solidFill>
                                            <a:srgbClr val="087F83"/>
                                          </a:solidFill>
                                          <a:latin typeface="Cambria Math"/>
                                          <a:ea typeface="Cambria Math"/>
                                          <a:cs typeface="Cambria Math"/>
                                        </a:rPr>
                                        <m:t>𝛉</m:t>
                                      </m:r>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𝑐</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𝐱</m:t>
                                      </m:r>
                                    </m:e>
                                  </m:d>
                                </m:sup>
                              </m:sSup>
                            </m:e>
                          </m:nary>
                        </m:den>
                      </m:f>
                    </m:oMath>
                  </m:oMathPara>
                </a14:m>
                <a:endParaRPr lang="en-GB" sz="2600" dirty="0"/>
              </a:p>
            </p:txBody>
          </p:sp>
        </mc:Choice>
        <mc:Fallback xmlns="">
          <p:sp>
            <p:nvSpPr>
              <p:cNvPr id="6" name="equation_2" descr="\bm p_{\bm\theta}(\bm x)=\operatorname{Softmax}(\bm f_{\bm\theta}(\bm x)),\qquad p_{\bm\theta,k}(\bm x)=\frac{e^{f_{\bm\theta,k}(\bm x)}}{\sum_{c=1}^{K}e^{f_{\bm\theta,c}(\bm x)}}">
                <a:extLst>
                  <a:ext uri="{FF2B5EF4-FFF2-40B4-BE49-F238E27FC236}">
                    <a16:creationId xmlns:a16="http://schemas.microsoft.com/office/drawing/2014/main" id="{5549F9C3-08D1-454F-96DB-B9A8ED55D2C2}"/>
                  </a:ext>
                </a:extLst>
              </p:cNvPr>
              <p:cNvSpPr>
                <a:spLocks noGrp="1" noRot="1" noChangeAspect="1" noMove="1" noResize="1" noEditPoints="1" noAdjustHandles="1" noChangeArrowheads="1" noChangeShapeType="1" noTextEdit="1"/>
              </p:cNvSpPr>
              <p:nvPr/>
            </p:nvSpPr>
            <p:spPr>
              <a:xfrm>
                <a:off x="333375" y="2914650"/>
                <a:ext cx="11525250" cy="1209675"/>
              </a:xfrm>
              <a:prstGeom prst="rect">
                <a:avLst/>
              </a:prstGeom>
              <a:blipFill>
                <a:blip r:embed="rId5"/>
                <a:stretch>
                  <a:fillRect/>
                </a:stretch>
              </a:blipFill>
              <a:ln w="0">
                <a:noFill/>
              </a:ln>
            </p:spPr>
            <p:txBody>
              <a:bodyPr/>
              <a:lstStyle/>
              <a:p>
                <a:r>
                  <a:rPr lang="it-IT">
                    <a:noFill/>
                  </a:rPr>
                  <a:t> </a:t>
                </a:r>
              </a:p>
            </p:txBody>
          </p:sp>
        </mc:Fallback>
      </mc:AlternateContent>
      <p:sp xmlns:a14="http://schemas.microsoft.com/office/drawing/2010/main">
        <p:nvSpPr>
          <p:cNvPr id="7" name="equation_3" descr="h_{\mathbf{p}_{\boldsymbol{\theta}}}(\mathbf{x})=\min(\arg\max_k p_{\boldsymbol{\theta},k}(\mathbf{x}))">
            <a:extLst>
              <a:ext uri="{FF2B5EF4-FFF2-40B4-BE49-F238E27FC236}">
                <a16:creationId xmlns:a16="http://schemas.microsoft.com/office/drawing/2014/main" id="{143772D0-610E-42DD-B0D4-FE97DDF6A003}"/>
              </a:ext>
            </a:extLst>
          </p:cNvPr>
          <p:cNvSpPr>
            <a:spLocks noGrp="1"/>
          </p:cNvSpPr>
          <p:nvPr/>
        </p:nvSpPr>
        <p:spPr>
          <a:xfrm>
            <a:off x="666750" y="4324350"/>
            <a:ext cx="10858500" cy="923925"/>
          </a:xfrm>
          <a:prstGeom prst="rect">
            <a:avLst/>
          </a:prstGeom>
          <a:noFill/>
          <a:ln w="0">
            <a:noFill/>
          </a:ln>
        </p:spPr>
        <p:txBody>
          <a:bodyPr vertOverflow="overflow" horzOverflow="overflow" wrap="none" lIns="0" tIns="0" rIns="0" bIns="0" anchor="ctr">
            <a:noAutofit/>
          </a:bodyPr>
          <a:lstStyle/>
          <a:p>
            <a:pPr algn="ctr"/>
            <a:r>
              <a:rPr lang="en-GB" sz="2900" dirty="0"/>
              <a:t>Use the </a:t>
            </a:r>
            <a:r>
              <a:rPr lang="en-GB" sz="2900" dirty="0">
                <a:solidFill>
                  <a:srgbClr val="FF0000"/>
                </a:solidFill>
              </a:rPr>
              <a:t>plug-in classifier </a:t>
            </a:r>
            <a14:m>
              <m:oMath xmlns:m="http://schemas.openxmlformats.org/officeDocument/2006/math">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ℎ</m:t>
                    </m:r>
                  </m:e>
                  <m:sub>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𝐩</m:t>
                        </m:r>
                      </m:e>
                      <m:sub>
                        <m:r>
                          <a:rPr lang="en-GB" sz="2900">
                            <a:solidFill>
                              <a:srgbClr val="087F83"/>
                            </a:solidFill>
                            <a:latin typeface="Cambria Math"/>
                            <a:ea typeface="Cambria Math"/>
                            <a:cs typeface="Cambria Math"/>
                          </a:rPr>
                          <m:t>𝛉</m:t>
                        </m:r>
                      </m:sub>
                    </m:sSub>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𝐱</m:t>
                    </m:r>
                  </m:e>
                </m:d>
              </m:oMath>
            </a14:m>
            <a:r>
              <a:rPr lang="en-GB" sz="2900" dirty="0"/>
              <a:t> associated with </a:t>
            </a:r>
            <a14:m>
              <m:oMath xmlns:m="http://schemas.openxmlformats.org/officeDocument/2006/math">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𝐩</m:t>
                    </m:r>
                  </m:e>
                  <m:sub>
                    <m:r>
                      <a:rPr lang="en-GB" sz="2900">
                        <a:solidFill>
                          <a:srgbClr val="087F83"/>
                        </a:solidFill>
                        <a:latin typeface="Cambria Math"/>
                        <a:ea typeface="Cambria Math"/>
                        <a:cs typeface="Cambria Math"/>
                      </a:rPr>
                      <m:t>𝛉</m:t>
                    </m:r>
                  </m:sub>
                </m:sSub>
                <m:d>
                  <m:dPr>
                    <m:ctrlPr>
                      <a:rPr lang="it-IT" sz="2900" b="0" i="1" smtClean="0">
                        <a:solidFill>
                          <a:srgbClr val="087F83"/>
                        </a:solidFill>
                        <a:latin typeface="Cambria Math" panose="02040503050406030204" pitchFamily="18" charset="0"/>
                        <a:ea typeface="Cambria Math"/>
                        <a:cs typeface="Cambria Math"/>
                      </a:rPr>
                    </m:ctrlPr>
                  </m:dPr>
                  <m:e>
                    <m:r>
                      <a:rPr lang="en-GB" sz="2900">
                        <a:solidFill>
                          <a:srgbClr val="087F83"/>
                        </a:solidFill>
                        <a:latin typeface="Cambria Math"/>
                        <a:ea typeface="Cambria Math"/>
                        <a:cs typeface="Cambria Math"/>
                      </a:rPr>
                      <m:t>𝐱</m:t>
                    </m:r>
                  </m:e>
                </m:d>
              </m:oMath>
            </a14:m>
            <a:r>
              <a:rPr lang="en-GB" sz="2900" dirty="0"/>
              <a:t>:</a:t>
            </a:r>
          </a:p>
          <a:p>
            <a:pPr algn="ctr"/>
            <a:r>
              <a:rPr lang="en-GB" sz="2900" dirty="0"/>
              <a:t>choose the most probable class, breaking ties with the smallest index.</a:t>
            </a:r>
          </a:p>
        </p:txBody>
      </p:sp>
      <mc:AlternateContent xmlns:mc="http://schemas.openxmlformats.org/markup-compatibility/2006" xmlns:a14="http://schemas.microsoft.com/office/drawing/2010/main">
        <mc:Choice Requires="a14">
          <p:sp>
            <p:nvSpPr>
              <p:cNvPr id="8" name="text_4">
                <a:extLst>
                  <a:ext uri="{FF2B5EF4-FFF2-40B4-BE49-F238E27FC236}">
                    <a16:creationId xmlns:a16="http://schemas.microsoft.com/office/drawing/2014/main" id="{F7AFA847-46A5-403C-A182-D33E7849F830}"/>
                  </a:ext>
                </a:extLst>
              </p:cNvPr>
              <p:cNvSpPr>
                <a:spLocks noGrp="1"/>
              </p:cNvSpPr>
              <p:nvPr/>
            </p:nvSpPr>
            <p:spPr>
              <a:xfrm>
                <a:off x="571500" y="5448300"/>
                <a:ext cx="11049000" cy="9239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Fit with the same </a:t>
                </a:r>
                <a:r>
                  <a:rPr sz="2100" b="1" dirty="0">
                    <a:solidFill>
                      <a:srgbClr val="FF0000"/>
                    </a:solidFill>
                    <a:latin typeface="DejaVu Sans"/>
                    <a:ea typeface="DejaVu Sans"/>
                    <a:cs typeface="DejaVu Sans"/>
                  </a:rPr>
                  <a:t>cross-entropy loss</a:t>
                </a:r>
                <a:endParaRPr lang="it-IT" sz="2100" b="1" dirty="0">
                  <a:solidFill>
                    <a:srgbClr val="182D45"/>
                  </a:solidFill>
                  <a:latin typeface="DejaVu Sans"/>
                  <a:ea typeface="DejaVu Sans"/>
                  <a:cs typeface="DejaVu Sans"/>
                </a:endParaRPr>
              </a:p>
              <a:p>
                <a:pPr algn="ctr">
                  <a:defRPr sz="2100" b="1">
                    <a:solidFill>
                      <a:srgbClr val="182D45"/>
                    </a:solidFill>
                    <a:latin typeface="DejaVu Sans"/>
                    <a:ea typeface="DejaVu Sans"/>
                    <a:cs typeface="DejaVu Sans"/>
                  </a:defRPr>
                </a:pPr>
                <a:endParaRPr lang="it-IT" sz="1200" b="1" dirty="0">
                  <a:solidFill>
                    <a:srgbClr val="182D45"/>
                  </a:solidFill>
                  <a:latin typeface="DejaVu Sans"/>
                  <a:ea typeface="DejaVu Sans"/>
                  <a:cs typeface="DejaVu Sans"/>
                </a:endParaRPr>
              </a:p>
              <a:p>
                <a:pPr algn="ctr">
                  <a:defRPr sz="2100" b="1">
                    <a:solidFill>
                      <a:srgbClr val="182D45"/>
                    </a:solidFill>
                    <a:latin typeface="DejaVu Sans"/>
                    <a:ea typeface="DejaVu Sans"/>
                    <a:cs typeface="DejaVu Sans"/>
                  </a:defRPr>
                </a:pPr>
                <a14:m>
                  <m:oMathPara xmlns:m="http://schemas.openxmlformats.org/officeDocument/2006/math">
                    <m:oMath>
                      <m:sSub>
                        <m:sSubPr>
                          <m:ctrlPr>
                            <a:rPr lang="en-GB" sz="2600">
                              <a:solidFill>
                                <a:srgbClr val="087F83"/>
                              </a:solidFill>
                              <a:latin typeface="Cambria Math"/>
                              <a:ea typeface="Cambria Math"/>
                              <a:cs typeface="Cambria Math"/>
                            </a:rPr>
                          </m:ctrlPr>
                        </m:sSubPr>
                        <m:e>
                          <m:r>
                            <m:rPr>
                              <m:sty m:val="p"/>
                            </m:rPr>
                            <a:rPr lang="en-GB" sz="2600">
                              <a:solidFill>
                                <a:srgbClr val="087F83"/>
                              </a:solidFill>
                              <a:latin typeface="Cambria Math"/>
                              <a:ea typeface="Cambria Math"/>
                              <a:cs typeface="Cambria Math"/>
                            </a:rPr>
                            <m:t>ℓ</m:t>
                          </m:r>
                        </m:e>
                        <m:sub>
                          <m:r>
                            <m:rPr>
                              <m:sty m:val="p"/>
                            </m:rPr>
                            <a:rPr lang="en-GB" sz="2600">
                              <a:solidFill>
                                <a:srgbClr val="087F83"/>
                              </a:solidFill>
                              <a:latin typeface="Cambria Math"/>
                              <a:ea typeface="Cambria Math"/>
                              <a:cs typeface="Cambria Math"/>
                            </a:rPr>
                            <m:t>multi</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𝐩</m:t>
                          </m:r>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𝑦</m:t>
                          </m:r>
                        </m:e>
                      </m:d>
                      <m:r>
                        <a:rPr lang="en-GB" sz="2600">
                          <a:solidFill>
                            <a:srgbClr val="087F83"/>
                          </a:solidFill>
                          <a:latin typeface="Cambria Math"/>
                          <a:ea typeface="Cambria Math"/>
                          <a:cs typeface="Cambria Math"/>
                        </a:rPr>
                        <m:t>=−</m:t>
                      </m:r>
                      <m:r>
                        <m:rPr>
                          <m:sty m:val="p"/>
                        </m:rPr>
                        <a:rPr lang="en-GB" sz="2600">
                          <a:solidFill>
                            <a:srgbClr val="087F83"/>
                          </a:solidFill>
                          <a:latin typeface="Cambria Math"/>
                          <a:ea typeface="Cambria Math"/>
                          <a:cs typeface="Cambria Math"/>
                        </a:rPr>
                        <m:t>log</m:t>
                      </m:r>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𝑝</m:t>
                              </m:r>
                            </m:e>
                            <m:sub>
                              <m:r>
                                <a:rPr lang="en-GB" sz="2600">
                                  <a:solidFill>
                                    <a:srgbClr val="087F83"/>
                                  </a:solidFill>
                                  <a:latin typeface="Cambria Math"/>
                                  <a:ea typeface="Cambria Math"/>
                                  <a:cs typeface="Cambria Math"/>
                                </a:rPr>
                                <m:t>𝑦</m:t>
                              </m:r>
                            </m:sub>
                          </m:sSub>
                        </m:e>
                      </m:d>
                    </m:oMath>
                  </m:oMathPara>
                </a14:m>
                <a:endParaRPr sz="2600" b="1" dirty="0">
                  <a:solidFill>
                    <a:srgbClr val="182D45"/>
                  </a:solidFill>
                  <a:latin typeface="DejaVu Sans"/>
                  <a:ea typeface="DejaVu Sans"/>
                  <a:cs typeface="DejaVu Sans"/>
                </a:endParaRPr>
              </a:p>
            </p:txBody>
          </p:sp>
        </mc:Choice>
        <mc:Fallback xmlns="">
          <p:sp>
            <p:nvSpPr>
              <p:cNvPr id="8" name="text_4">
                <a:extLst>
                  <a:ext uri="{FF2B5EF4-FFF2-40B4-BE49-F238E27FC236}">
                    <a16:creationId xmlns:a16="http://schemas.microsoft.com/office/drawing/2014/main" id="{F7AFA847-46A5-403C-A182-D33E7849F830}"/>
                  </a:ext>
                </a:extLst>
              </p:cNvPr>
              <p:cNvSpPr>
                <a:spLocks noGrp="1" noRot="1" noChangeAspect="1" noMove="1" noResize="1" noEditPoints="1" noAdjustHandles="1" noChangeArrowheads="1" noChangeShapeType="1" noTextEdit="1"/>
              </p:cNvSpPr>
              <p:nvPr/>
            </p:nvSpPr>
            <p:spPr>
              <a:xfrm>
                <a:off x="571500" y="5448300"/>
                <a:ext cx="11049000" cy="923925"/>
              </a:xfrm>
              <a:prstGeom prst="rect">
                <a:avLst/>
              </a:prstGeom>
              <a:blipFill>
                <a:blip r:embed="rId7"/>
                <a:stretch>
                  <a:fillRect t="-11921" b="-2649"/>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4500043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98C4C6CC-B09E-4BC7-9564-EE6F71443C76}"/>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err="1">
                <a:solidFill>
                  <a:srgbClr val="182D45"/>
                </a:solidFill>
                <a:latin typeface="DejaVu Sans"/>
                <a:ea typeface="DejaVu Sans"/>
                <a:cs typeface="DejaVu Sans"/>
              </a:rPr>
              <a:t>Today’s</a:t>
            </a:r>
            <a:r>
              <a:rPr lang="it-IT" sz="3300" b="1" dirty="0">
                <a:solidFill>
                  <a:srgbClr val="182D45"/>
                </a:solidFill>
                <a:latin typeface="DejaVu Sans"/>
                <a:ea typeface="DejaVu Sans"/>
                <a:cs typeface="DejaVu Sans"/>
              </a:rPr>
              <a:t> </a:t>
            </a:r>
            <a:r>
              <a:rPr lang="it-IT" sz="3300" b="1" dirty="0" err="1">
                <a:solidFill>
                  <a:srgbClr val="182D45"/>
                </a:solidFill>
                <a:latin typeface="DejaVu Sans"/>
                <a:ea typeface="DejaVu Sans"/>
                <a:cs typeface="DejaVu Sans"/>
              </a:rPr>
              <a:t>lecture</a:t>
            </a:r>
            <a:endParaRPr lang="it-IT" sz="3300" b="1" dirty="0">
              <a:solidFill>
                <a:srgbClr val="182D45"/>
              </a:solidFill>
              <a:latin typeface="DejaVu Sans"/>
              <a:ea typeface="DejaVu Sans"/>
              <a:cs typeface="DejaVu Sans"/>
            </a:endParaRPr>
          </a:p>
        </p:txBody>
      </p:sp>
      <p:sp>
        <p:nvSpPr>
          <p:cNvPr id="3" name="footer_course">
            <a:extLst>
              <a:ext uri="{FF2B5EF4-FFF2-40B4-BE49-F238E27FC236}">
                <a16:creationId xmlns:a16="http://schemas.microsoft.com/office/drawing/2014/main" id="{B34C7461-2A22-4432-B93D-88A3998E33C4}"/>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72156035-5598-4EB8-BA33-366627D3787B}"/>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24</a:t>
            </a:r>
          </a:p>
        </p:txBody>
      </p:sp>
      <p:sp>
        <p:nvSpPr>
          <p:cNvPr id="5" name="text_1">
            <a:extLst>
              <a:ext uri="{FF2B5EF4-FFF2-40B4-BE49-F238E27FC236}">
                <a16:creationId xmlns:a16="http://schemas.microsoft.com/office/drawing/2014/main" id="{6EAA34FA-5910-4DCF-A0BC-EBBCC2351B8A}"/>
              </a:ext>
            </a:extLst>
          </p:cNvPr>
          <p:cNvSpPr>
            <a:spLocks noGrp="1"/>
          </p:cNvSpPr>
          <p:nvPr/>
        </p:nvSpPr>
        <p:spPr>
          <a:xfrm>
            <a:off x="904875" y="2190750"/>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Affine layers and activation functions</a:t>
            </a:r>
          </a:p>
        </p:txBody>
      </p:sp>
      <p:sp>
        <p:nvSpPr>
          <p:cNvPr id="6" name="text_2">
            <a:extLst>
              <a:ext uri="{FF2B5EF4-FFF2-40B4-BE49-F238E27FC236}">
                <a16:creationId xmlns:a16="http://schemas.microsoft.com/office/drawing/2014/main" id="{5ADC7F0D-DDED-4363-9926-BA9137359051}"/>
              </a:ext>
            </a:extLst>
          </p:cNvPr>
          <p:cNvSpPr>
            <a:spLocks noGrp="1"/>
          </p:cNvSpPr>
          <p:nvPr/>
        </p:nvSpPr>
        <p:spPr>
          <a:xfrm>
            <a:off x="904875" y="3190875"/>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Neural networks and the forward pass</a:t>
            </a:r>
          </a:p>
        </p:txBody>
      </p:sp>
      <p:sp>
        <p:nvSpPr>
          <p:cNvPr id="7" name="text_3">
            <a:extLst>
              <a:ext uri="{FF2B5EF4-FFF2-40B4-BE49-F238E27FC236}">
                <a16:creationId xmlns:a16="http://schemas.microsoft.com/office/drawing/2014/main" id="{7ED28730-3627-46CA-AAC2-318FE81AE0BC}"/>
              </a:ext>
            </a:extLst>
          </p:cNvPr>
          <p:cNvSpPr>
            <a:spLocks noGrp="1"/>
          </p:cNvSpPr>
          <p:nvPr/>
        </p:nvSpPr>
        <p:spPr>
          <a:xfrm>
            <a:off x="904875" y="4191000"/>
            <a:ext cx="10382250" cy="619125"/>
          </a:xfrm>
          <a:prstGeom prst="rect">
            <a:avLst/>
          </a:prstGeom>
          <a:noFill/>
          <a:ln w="0">
            <a:noFill/>
          </a:ln>
        </p:spPr>
        <p:txBody>
          <a:bodyPr anchor="ctr">
            <a:noAutofit/>
          </a:bodyPr>
          <a:lstStyle/>
          <a:p>
            <a:pPr algn="ctr">
              <a:defRPr sz="2475" b="1">
                <a:solidFill>
                  <a:srgbClr val="087F83"/>
                </a:solidFill>
                <a:latin typeface="DejaVu Sans"/>
                <a:ea typeface="DejaVu Sans"/>
                <a:cs typeface="DejaVu Sans"/>
              </a:defRPr>
            </a:pPr>
            <a:r>
              <a:rPr sz="2475" b="1">
                <a:solidFill>
                  <a:srgbClr val="087F83"/>
                </a:solidFill>
                <a:latin typeface="DejaVu Sans"/>
                <a:ea typeface="DejaVu Sans"/>
                <a:cs typeface="DejaVu Sans"/>
              </a:rPr>
              <a:t>What neural networks can represent</a:t>
            </a:r>
          </a:p>
        </p:txBody>
      </p:sp>
      <p:sp>
        <p:nvSpPr>
          <p:cNvPr id="8" name="text_4">
            <a:extLst>
              <a:ext uri="{FF2B5EF4-FFF2-40B4-BE49-F238E27FC236}">
                <a16:creationId xmlns:a16="http://schemas.microsoft.com/office/drawing/2014/main" id="{21BA124E-7ECD-44AC-9842-4D38E78979D2}"/>
              </a:ext>
            </a:extLst>
          </p:cNvPr>
          <p:cNvSpPr>
            <a:spLocks noGrp="1"/>
          </p:cNvSpPr>
          <p:nvPr/>
        </p:nvSpPr>
        <p:spPr>
          <a:xfrm>
            <a:off x="904875" y="5191125"/>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Fitting neural networks and local minima</a:t>
            </a:r>
          </a:p>
        </p:txBody>
      </p:sp>
    </p:spTree>
    <p:extLst>
      <p:ext uri="{BB962C8B-B14F-4D97-AF65-F5344CB8AC3E}">
        <p14:creationId xmlns:p14="http://schemas.microsoft.com/office/powerpoint/2010/main" val="19820000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ECC6D25-01F1-4157-AF70-5671DC3F4A7C}"/>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A tent function</a:t>
            </a:r>
          </a:p>
        </p:txBody>
      </p:sp>
      <p:sp>
        <p:nvSpPr>
          <p:cNvPr id="3" name="lead">
            <a:extLst>
              <a:ext uri="{FF2B5EF4-FFF2-40B4-BE49-F238E27FC236}">
                <a16:creationId xmlns:a16="http://schemas.microsoft.com/office/drawing/2014/main" id="{DF253483-57C0-461C-8D59-883CE387E94E}"/>
              </a:ext>
            </a:extLst>
          </p:cNvPr>
          <p:cNvSpPr>
            <a:spLocks noGrp="1"/>
          </p:cNvSpPr>
          <p:nvPr/>
        </p:nvSpPr>
        <p:spPr>
          <a:xfrm>
            <a:off x="523875" y="1019175"/>
            <a:ext cx="11144250" cy="57150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We could choose this function as a </a:t>
            </a:r>
            <a:r>
              <a:rPr sz="2175" b="0" dirty="0">
                <a:solidFill>
                  <a:srgbClr val="FF0000"/>
                </a:solidFill>
                <a:latin typeface="DejaVu Sans"/>
                <a:ea typeface="DejaVu Sans"/>
                <a:cs typeface="DejaVu Sans"/>
              </a:rPr>
              <a:t>fixed feature</a:t>
            </a:r>
            <a:r>
              <a:rPr sz="2175" b="0" dirty="0">
                <a:solidFill>
                  <a:srgbClr val="526276"/>
                </a:solidFill>
                <a:latin typeface="DejaVu Sans"/>
                <a:ea typeface="DejaVu Sans"/>
                <a:cs typeface="DejaVu Sans"/>
              </a:rPr>
              <a:t>.</a:t>
            </a:r>
          </a:p>
        </p:txBody>
      </p:sp>
      <mc:AlternateContent xmlns:mc="http://schemas.openxmlformats.org/markup-compatibility/2006" xmlns:a14="http://schemas.microsoft.com/office/drawing/2010/main">
        <mc:Choice Requires="a14">
          <p:sp>
            <p:nvSpPr>
              <p:cNvPr id="4" name="axis_x">
                <a:extLst>
                  <a:ext uri="{FF2B5EF4-FFF2-40B4-BE49-F238E27FC236}">
                    <a16:creationId xmlns:a16="http://schemas.microsoft.com/office/drawing/2014/main" id="{0CAA4C5D-0F32-42C1-8AB5-231A04B11C71}"/>
                  </a:ext>
                </a:extLst>
              </p:cNvPr>
              <p:cNvSpPr>
                <a:spLocks noGrp="1"/>
              </p:cNvSpPr>
              <p:nvPr/>
            </p:nvSpPr>
            <p:spPr>
              <a:xfrm>
                <a:off x="5505450" y="5200650"/>
                <a:ext cx="1619250" cy="28575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14:m>
                  <m:oMathPara xmlns:m="http://schemas.openxmlformats.org/officeDocument/2006/math">
                    <m:oMath>
                      <m:r>
                        <a:rPr lang="it-IT" sz="1650" b="0" i="1" dirty="0" smtClean="0">
                          <a:solidFill>
                            <a:srgbClr val="182D45"/>
                          </a:solidFill>
                          <a:latin typeface="Cambria Math" panose="02040503050406030204" pitchFamily="18" charset="0"/>
                          <a:ea typeface="DejaVu Sans"/>
                          <a:cs typeface="DejaVu Sans"/>
                        </a:rPr>
                        <m:t>𝑥</m:t>
                      </m:r>
                    </m:oMath>
                  </m:oMathPara>
                </a14:m>
                <a:endParaRPr sz="1650" b="0" dirty="0">
                  <a:solidFill>
                    <a:srgbClr val="182D45"/>
                  </a:solidFill>
                  <a:latin typeface="DejaVu Sans"/>
                  <a:ea typeface="DejaVu Sans"/>
                  <a:cs typeface="DejaVu Sans"/>
                </a:endParaRPr>
              </a:p>
            </p:txBody>
          </p:sp>
        </mc:Choice>
        <mc:Fallback xmlns="">
          <p:sp>
            <p:nvSpPr>
              <p:cNvPr id="4" name="axis_x">
                <a:extLst>
                  <a:ext uri="{FF2B5EF4-FFF2-40B4-BE49-F238E27FC236}">
                    <a16:creationId xmlns:a16="http://schemas.microsoft.com/office/drawing/2014/main" id="{0CAA4C5D-0F32-42C1-8AB5-231A04B11C71}"/>
                  </a:ext>
                </a:extLst>
              </p:cNvPr>
              <p:cNvSpPr>
                <a:spLocks noGrp="1" noRot="1" noChangeAspect="1" noMove="1" noResize="1" noEditPoints="1" noAdjustHandles="1" noChangeArrowheads="1" noChangeShapeType="1" noTextEdit="1"/>
              </p:cNvSpPr>
              <p:nvPr/>
            </p:nvSpPr>
            <p:spPr>
              <a:xfrm>
                <a:off x="5505450" y="5200650"/>
                <a:ext cx="1619250" cy="285750"/>
              </a:xfrm>
              <a:prstGeom prst="rect">
                <a:avLst/>
              </a:prstGeom>
              <a:blipFill>
                <a:blip r:embed="rId3"/>
                <a:stretch>
                  <a:fillRect/>
                </a:stretch>
              </a:blipFill>
              <a:ln w="0">
                <a:noFill/>
              </a:ln>
            </p:spPr>
            <p:txBody>
              <a:bodyPr/>
              <a:lstStyle/>
              <a:p>
                <a:r>
                  <a:rPr lang="it-IT">
                    <a:noFill/>
                  </a:rPr>
                  <a:t> </a:t>
                </a:r>
              </a:p>
            </p:txBody>
          </p:sp>
        </mc:Fallback>
      </mc:AlternateContent>
      <p:sp>
        <p:nvSpPr>
          <p:cNvPr id="5" name="question">
            <a:extLst>
              <a:ext uri="{FF2B5EF4-FFF2-40B4-BE49-F238E27FC236}">
                <a16:creationId xmlns:a16="http://schemas.microsoft.com/office/drawing/2014/main" id="{BC4756EC-FB87-48C1-B98A-756142D718AE}"/>
              </a:ext>
            </a:extLst>
          </p:cNvPr>
          <p:cNvSpPr>
            <a:spLocks noGrp="1"/>
          </p:cNvSpPr>
          <p:nvPr/>
        </p:nvSpPr>
        <p:spPr>
          <a:xfrm>
            <a:off x="571500" y="5514975"/>
            <a:ext cx="11049000" cy="781050"/>
          </a:xfrm>
          <a:prstGeom prst="rect">
            <a:avLst/>
          </a:prstGeom>
          <a:noFill/>
          <a:ln w="0">
            <a:noFill/>
          </a:ln>
        </p:spPr>
        <p:txBody>
          <a:bodyPr anchor="ctr">
            <a:noAutofit/>
          </a:bodyPr>
          <a:lstStyle/>
          <a:p>
            <a:pPr algn="ctr">
              <a:defRPr sz="2250" b="1">
                <a:solidFill>
                  <a:srgbClr val="182D45"/>
                </a:solidFill>
                <a:latin typeface="DejaVu Sans"/>
                <a:ea typeface="DejaVu Sans"/>
                <a:cs typeface="DejaVu Sans"/>
              </a:defRPr>
            </a:pPr>
            <a:r>
              <a:rPr sz="2250" b="1" dirty="0">
                <a:solidFill>
                  <a:srgbClr val="182D45"/>
                </a:solidFill>
                <a:latin typeface="DejaVu Sans"/>
                <a:ea typeface="DejaVu Sans"/>
                <a:cs typeface="DejaVu Sans"/>
              </a:rPr>
              <a:t>Can we build it from </a:t>
            </a:r>
            <a:r>
              <a:rPr sz="2250" b="1" dirty="0" err="1">
                <a:solidFill>
                  <a:srgbClr val="182D45"/>
                </a:solidFill>
                <a:latin typeface="DejaVu Sans"/>
                <a:ea typeface="DejaVu Sans"/>
                <a:cs typeface="DejaVu Sans"/>
              </a:rPr>
              <a:t>ReLU</a:t>
            </a:r>
            <a:r>
              <a:rPr sz="2250" b="1" dirty="0">
                <a:solidFill>
                  <a:srgbClr val="182D45"/>
                </a:solidFill>
                <a:latin typeface="DejaVu Sans"/>
                <a:ea typeface="DejaVu Sans"/>
                <a:cs typeface="DejaVu Sans"/>
              </a:rPr>
              <a:t> units</a:t>
            </a:r>
            <a:r>
              <a:rPr lang="it-IT" sz="2250" b="1" dirty="0">
                <a:solidFill>
                  <a:srgbClr val="182D45"/>
                </a:solidFill>
                <a:latin typeface="DejaVu Sans"/>
                <a:ea typeface="DejaVu Sans"/>
                <a:cs typeface="DejaVu Sans"/>
              </a:rPr>
              <a:t>?</a:t>
            </a:r>
          </a:p>
        </p:txBody>
      </p:sp>
      <p:graphicFrame>
        <p:nvGraphicFramePr>
          <p:cNvPr id="6" name="Chart"/>
          <p:cNvGraphicFramePr/>
          <p:nvPr/>
        </p:nvGraphicFramePr>
        <p:xfrm>
          <a:off x="1809750" y="1857375"/>
          <a:ext cx="8191500" cy="3333750"/>
        </p:xfrm>
        <a:graphic>
          <a:graphicData uri="http://schemas.openxmlformats.org/drawingml/2006/chart">
            <c:chart xmlns:c="http://schemas.openxmlformats.org/drawingml/2006/chart" xmlns:r="http://schemas.openxmlformats.org/officeDocument/2006/relationships" r:id="rId4"/>
          </a:graphicData>
        </a:graphic>
      </p:graphicFrame>
      <p:sp>
        <p:nvSpPr>
          <p:cNvPr id="7" name="footer_course">
            <a:extLst>
              <a:ext uri="{FF2B5EF4-FFF2-40B4-BE49-F238E27FC236}">
                <a16:creationId xmlns:a16="http://schemas.microsoft.com/office/drawing/2014/main" id="{E8BFCB12-2AF9-47A0-ABF7-C68679855B78}"/>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8" name="footer_number">
            <a:extLst>
              <a:ext uri="{FF2B5EF4-FFF2-40B4-BE49-F238E27FC236}">
                <a16:creationId xmlns:a16="http://schemas.microsoft.com/office/drawing/2014/main" id="{D0143490-68FA-45D5-8E2E-27F2CA444863}"/>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25</a:t>
            </a:r>
          </a:p>
        </p:txBody>
      </p:sp>
    </p:spTree>
    <p:extLst>
      <p:ext uri="{BB962C8B-B14F-4D97-AF65-F5344CB8AC3E}">
        <p14:creationId xmlns:p14="http://schemas.microsoft.com/office/powerpoint/2010/main" val="2611713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559A07BF-D907-493D-896F-F4E4C47F2223}"/>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Building a tent function: start</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683C7DFC-FAE9-4C62-AA69-2AA2E0A4A3AA}"/>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At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𝑥</m:t>
                    </m:r>
                    <m:r>
                      <a:rPr lang="it-IT" sz="2175" b="0" i="1" dirty="0" smtClean="0">
                        <a:solidFill>
                          <a:srgbClr val="526276"/>
                        </a:solidFill>
                        <a:latin typeface="Cambria Math" panose="02040503050406030204" pitchFamily="18" charset="0"/>
                        <a:ea typeface="DejaVu Sans"/>
                        <a:cs typeface="DejaVu Sans"/>
                      </a:rPr>
                      <m:t> = 0</m:t>
                    </m:r>
                  </m:oMath>
                </a14:m>
                <a:r>
                  <a:rPr sz="2175" b="0" dirty="0">
                    <a:solidFill>
                      <a:srgbClr val="526276"/>
                    </a:solidFill>
                    <a:latin typeface="DejaVu Sans"/>
                    <a:ea typeface="DejaVu Sans"/>
                    <a:cs typeface="DejaVu Sans"/>
                  </a:rPr>
                  <a:t>, the slope changes from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0</m:t>
                    </m:r>
                  </m:oMath>
                </a14:m>
                <a:r>
                  <a:rPr sz="2175" b="0" dirty="0">
                    <a:solidFill>
                      <a:srgbClr val="526276"/>
                    </a:solidFill>
                    <a:latin typeface="DejaVu Sans"/>
                    <a:ea typeface="DejaVu Sans"/>
                    <a:cs typeface="DejaVu Sans"/>
                  </a:rPr>
                  <a:t> to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+1</m:t>
                    </m:r>
                  </m:oMath>
                </a14:m>
                <a:r>
                  <a:rPr sz="2175" b="0" dirty="0">
                    <a:solidFill>
                      <a:srgbClr val="526276"/>
                    </a:solidFill>
                    <a:latin typeface="DejaVu Sans"/>
                    <a:ea typeface="DejaVu Sans"/>
                    <a:cs typeface="DejaVu Sans"/>
                  </a:rPr>
                  <a:t>.</a:t>
                </a:r>
              </a:p>
            </p:txBody>
          </p:sp>
        </mc:Choice>
        <mc:Fallback xmlns="">
          <p:sp>
            <p:nvSpPr>
              <p:cNvPr id="2" name="lead">
                <a:extLst>
                  <a:ext uri="{FF2B5EF4-FFF2-40B4-BE49-F238E27FC236}">
                    <a16:creationId xmlns:a16="http://schemas.microsoft.com/office/drawing/2014/main" id="{683C7DFC-FAE9-4C62-AA69-2AA2E0A4A3AA}"/>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F1E128B2-389A-4C88-9F30-B40D59516F68}"/>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BDD54D2B-A953-4F46-B9FC-C77620ED7782}"/>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26</a:t>
            </a:r>
          </a:p>
        </p:txBody>
      </p:sp>
      <mc:AlternateContent xmlns:mc="http://schemas.openxmlformats.org/markup-compatibility/2006" xmlns:a14="http://schemas.microsoft.com/office/drawing/2010/main">
        <mc:Choice Requires="a14">
          <p:sp>
            <p:nvSpPr>
              <p:cNvPr id="5" name="equation_1" descr="T_1(x)=\operatorname{ReLU}(x)">
                <a:extLst>
                  <a:ext uri="{FF2B5EF4-FFF2-40B4-BE49-F238E27FC236}">
                    <a16:creationId xmlns:a16="http://schemas.microsoft.com/office/drawing/2014/main" id="{CF1DF4AA-2EC8-4155-8B56-611904AC0BFA}"/>
                  </a:ext>
                </a:extLst>
              </p:cNvPr>
              <p:cNvSpPr>
                <a:spLocks noGrp="1"/>
              </p:cNvSpPr>
              <p:nvPr/>
            </p:nvSpPr>
            <p:spPr>
              <a:xfrm>
                <a:off x="333375" y="1809750"/>
                <a:ext cx="11525250" cy="8096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𝑇</m:t>
                          </m:r>
                        </m:e>
                        <m:sub>
                          <m:r>
                            <a:rPr lang="en-GB" sz="3100">
                              <a:solidFill>
                                <a:srgbClr val="087F83"/>
                              </a:solidFill>
                              <a:latin typeface="Cambria Math"/>
                              <a:ea typeface="Cambria Math"/>
                              <a:cs typeface="Cambria Math"/>
                            </a:rPr>
                            <m:t>1</m:t>
                          </m:r>
                        </m:sub>
                      </m:sSub>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𝑥</m:t>
                          </m:r>
                        </m:e>
                      </m:d>
                      <m:r>
                        <a:rPr lang="en-GB" sz="3100">
                          <a:solidFill>
                            <a:srgbClr val="087F83"/>
                          </a:solidFill>
                          <a:latin typeface="Cambria Math"/>
                          <a:ea typeface="Cambria Math"/>
                          <a:cs typeface="Cambria Math"/>
                        </a:rPr>
                        <m:t>=</m:t>
                      </m:r>
                      <m:r>
                        <m:rPr>
                          <m:sty m:val="p"/>
                        </m:rPr>
                        <a:rPr lang="en-GB" sz="3100">
                          <a:solidFill>
                            <a:srgbClr val="087F83"/>
                          </a:solidFill>
                          <a:latin typeface="Cambria Math"/>
                          <a:ea typeface="Cambria Math"/>
                          <a:cs typeface="Cambria Math"/>
                        </a:rPr>
                        <m:t>ReLU</m:t>
                      </m:r>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𝑥</m:t>
                          </m:r>
                        </m:e>
                      </m:d>
                    </m:oMath>
                  </m:oMathPara>
                </a14:m>
                <a:endParaRPr lang="en-GB" sz="3100" dirty="0"/>
              </a:p>
            </p:txBody>
          </p:sp>
        </mc:Choice>
        <mc:Fallback xmlns="">
          <p:sp>
            <p:nvSpPr>
              <p:cNvPr id="5" name="equation_1" descr="T_1(x)=\operatorname{ReLU}(x)">
                <a:extLst>
                  <a:ext uri="{FF2B5EF4-FFF2-40B4-BE49-F238E27FC236}">
                    <a16:creationId xmlns:a16="http://schemas.microsoft.com/office/drawing/2014/main" id="{CF1DF4AA-2EC8-4155-8B56-611904AC0BFA}"/>
                  </a:ext>
                </a:extLst>
              </p:cNvPr>
              <p:cNvSpPr>
                <a:spLocks noGrp="1" noRot="1" noChangeAspect="1" noMove="1" noResize="1" noEditPoints="1" noAdjustHandles="1" noChangeArrowheads="1" noChangeShapeType="1" noTextEdit="1"/>
              </p:cNvSpPr>
              <p:nvPr/>
            </p:nvSpPr>
            <p:spPr>
              <a:xfrm>
                <a:off x="333375" y="1809750"/>
                <a:ext cx="11525250" cy="809625"/>
              </a:xfrm>
              <a:prstGeom prst="rect">
                <a:avLst/>
              </a:prstGeom>
              <a:blipFill>
                <a:blip r:embed="rId4"/>
                <a:stretch>
                  <a:fillRect/>
                </a:stretch>
              </a:blipFill>
              <a:ln w="0">
                <a:noFill/>
              </a:ln>
            </p:spPr>
            <p:txBody>
              <a:bodyPr/>
              <a:lstStyle/>
              <a:p>
                <a:r>
                  <a:rPr lang="it-IT">
                    <a:noFill/>
                  </a:rPr>
                  <a:t> </a:t>
                </a:r>
              </a:p>
            </p:txBody>
          </p:sp>
        </mc:Fallback>
      </mc:AlternateContent>
      <p:graphicFrame>
        <p:nvGraphicFramePr>
          <p:cNvPr id="16" name="Chart"/>
          <p:cNvGraphicFramePr/>
          <p:nvPr/>
        </p:nvGraphicFramePr>
        <p:xfrm>
          <a:off x="809625" y="2714625"/>
          <a:ext cx="7048500" cy="295275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text_2">
                <a:extLst>
                  <a:ext uri="{FF2B5EF4-FFF2-40B4-BE49-F238E27FC236}">
                    <a16:creationId xmlns:a16="http://schemas.microsoft.com/office/drawing/2014/main" id="{2DC0162E-A9AD-40AE-A592-5DEC1D4527A6}"/>
                  </a:ext>
                </a:extLst>
              </p:cNvPr>
              <p:cNvSpPr>
                <a:spLocks noGrp="1"/>
              </p:cNvSpPr>
              <p:nvPr/>
            </p:nvSpPr>
            <p:spPr>
              <a:xfrm>
                <a:off x="3829050" y="5520690"/>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14:m>
                  <m:oMathPara xmlns:m="http://schemas.openxmlformats.org/officeDocument/2006/math">
                    <m:oMath>
                      <m:r>
                        <a:rPr lang="it-IT" sz="1650" b="0" i="1" dirty="0" smtClean="0">
                          <a:solidFill>
                            <a:srgbClr val="182D45"/>
                          </a:solidFill>
                          <a:latin typeface="Cambria Math" panose="02040503050406030204" pitchFamily="18" charset="0"/>
                          <a:ea typeface="DejaVu Sans"/>
                          <a:cs typeface="DejaVu Sans"/>
                        </a:rPr>
                        <m:t>𝑥</m:t>
                      </m:r>
                    </m:oMath>
                  </m:oMathPara>
                </a14:m>
                <a:endParaRPr/>
              </a:p>
            </p:txBody>
          </p:sp>
        </mc:Choice>
        <mc:Fallback xmlns="">
          <p:sp>
            <p:nvSpPr>
              <p:cNvPr id="7" name="text_2">
                <a:extLst>
                  <a:ext uri="{FF2B5EF4-FFF2-40B4-BE49-F238E27FC236}">
                    <a16:creationId xmlns:a16="http://schemas.microsoft.com/office/drawing/2014/main" id="{2DC0162E-A9AD-40AE-A592-5DEC1D4527A6}"/>
                  </a:ext>
                </a:extLst>
              </p:cNvPr>
              <p:cNvSpPr>
                <a:spLocks noGrp="1" noRot="1" noChangeAspect="1" noMove="1" noResize="1" noEditPoints="1" noAdjustHandles="1" noChangeArrowheads="1" noChangeShapeType="1" noTextEdit="1"/>
              </p:cNvSpPr>
              <p:nvPr/>
            </p:nvSpPr>
            <p:spPr>
              <a:xfrm>
                <a:off x="3829050" y="5520690"/>
                <a:ext cx="1714500" cy="266700"/>
              </a:xfrm>
              <a:prstGeom prst="rect">
                <a:avLst/>
              </a:prstGeom>
              <a:blipFill>
                <a:blip r:embed="rId6"/>
                <a:stretch>
                  <a:fillRect t="-23256" b="-465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text_3">
                <a:extLst>
                  <a:ext uri="{FF2B5EF4-FFF2-40B4-BE49-F238E27FC236}">
                    <a16:creationId xmlns:a16="http://schemas.microsoft.com/office/drawing/2014/main" id="{E54DFE30-6504-402F-ABFB-041A6244DD92}"/>
                  </a:ext>
                </a:extLst>
              </p:cNvPr>
              <p:cNvSpPr>
                <a:spLocks noGrp="1"/>
              </p:cNvSpPr>
              <p:nvPr/>
            </p:nvSpPr>
            <p:spPr>
              <a:xfrm>
                <a:off x="7905750" y="3114675"/>
                <a:ext cx="3524250" cy="857250"/>
              </a:xfrm>
              <a:prstGeom prst="rect">
                <a:avLst/>
              </a:prstGeom>
              <a:noFill/>
              <a:ln w="0">
                <a:noFill/>
              </a:ln>
            </p:spPr>
            <p:txBody>
              <a:bodyPr wrap="none" lIns="0" tIns="0" rIns="0" bIns="0" anchor="ctr">
                <a:noAutofit/>
              </a:bodyPr>
              <a:lstStyle/>
              <a:p>
                <a:pPr algn="ctr">
                  <a:lnSpc>
                    <a:spcPts val="2700"/>
                  </a:lnSpc>
                </a:pPr>
                <a:r>
                  <a:rPr lang="en-GB" sz="2100" b="1">
                    <a:solidFill>
                      <a:srgbClr val="182D45"/>
                    </a:solidFill>
                    <a:latin typeface="DejaVu Sans"/>
                  </a:rPr>
                  <a:t>One neuron</a:t>
                </a:r>
                <a:endParaRPr lang="en-GB" sz="2100"/>
              </a:p>
              <a:p>
                <a:pPr algn="ctr">
                  <a:lnSpc>
                    <a:spcPts val="2700"/>
                  </a:lnSpc>
                </a:pPr>
                <a:r>
                  <a:rPr lang="en-GB" sz="2100" b="0">
                    <a:solidFill>
                      <a:srgbClr val="182D45"/>
                    </a:solidFill>
                    <a:latin typeface="DejaVu Sans"/>
                  </a:rPr>
                  <a:t>width </a:t>
                </a:r>
                <a14:m>
                  <m:oMath xmlns:m="http://schemas.openxmlformats.org/officeDocument/2006/math">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𝑚</m:t>
                        </m:r>
                      </m:e>
                      <m:sub>
                        <m:r>
                          <a:rPr lang="en-GB" sz="2100">
                            <a:solidFill>
                              <a:srgbClr val="182D45"/>
                            </a:solidFill>
                            <a:latin typeface="Cambria Math"/>
                            <a:ea typeface="Cambria Math"/>
                            <a:cs typeface="Cambria Math"/>
                          </a:rPr>
                          <m:t>1</m:t>
                        </m:r>
                      </m:sub>
                    </m:sSub>
                    <m:r>
                      <a:rPr lang="en-GB" sz="2100">
                        <a:solidFill>
                          <a:srgbClr val="182D45"/>
                        </a:solidFill>
                        <a:latin typeface="Cambria Math"/>
                        <a:ea typeface="Cambria Math"/>
                        <a:cs typeface="Cambria Math"/>
                      </a:rPr>
                      <m:t>=1</m:t>
                    </m:r>
                  </m:oMath>
                </a14:m>
                <a:endParaRPr lang="en-GB" sz="2100"/>
              </a:p>
            </p:txBody>
          </p:sp>
        </mc:Choice>
        <mc:Fallback xmlns="">
          <p:sp>
            <p:nvSpPr>
              <p:cNvPr id="8" name="text_3">
                <a:extLst>
                  <a:ext uri="{FF2B5EF4-FFF2-40B4-BE49-F238E27FC236}">
                    <a16:creationId xmlns:a16="http://schemas.microsoft.com/office/drawing/2014/main" id="{E54DFE30-6504-402F-ABFB-041A6244DD92}"/>
                  </a:ext>
                </a:extLst>
              </p:cNvPr>
              <p:cNvSpPr>
                <a:spLocks noGrp="1" noRot="1" noChangeAspect="1" noMove="1" noResize="1" noEditPoints="1" noAdjustHandles="1" noChangeArrowheads="1" noChangeShapeType="1" noTextEdit="1"/>
              </p:cNvSpPr>
              <p:nvPr/>
            </p:nvSpPr>
            <p:spPr>
              <a:xfrm>
                <a:off x="7905750" y="3114675"/>
                <a:ext cx="3524250" cy="857250"/>
              </a:xfrm>
              <a:prstGeom prst="rect">
                <a:avLst/>
              </a:prstGeom>
              <a:blipFill>
                <a:blip r:embed="rId7"/>
                <a:stretch>
                  <a:fillRect b="-6383"/>
                </a:stretch>
              </a:blipFill>
              <a:ln w="0">
                <a:noFill/>
              </a:ln>
            </p:spPr>
            <p:txBody>
              <a:bodyPr/>
              <a:lstStyle/>
              <a:p>
                <a:r>
                  <a:rPr lang="it-IT">
                    <a:noFill/>
                  </a:rPr>
                  <a:t> </a:t>
                </a:r>
              </a:p>
            </p:txBody>
          </p:sp>
        </mc:Fallback>
      </mc:AlternateContent>
      <p:sp>
        <p:nvSpPr>
          <p:cNvPr id="9" name="text_4">
            <a:extLst>
              <a:ext uri="{FF2B5EF4-FFF2-40B4-BE49-F238E27FC236}">
                <a16:creationId xmlns:a16="http://schemas.microsoft.com/office/drawing/2014/main" id="{22C42B21-73A9-4D38-8AF7-73277AC3C242}"/>
              </a:ext>
            </a:extLst>
          </p:cNvPr>
          <p:cNvSpPr>
            <a:spLocks noGrp="1"/>
          </p:cNvSpPr>
          <p:nvPr/>
        </p:nvSpPr>
        <p:spPr>
          <a:xfrm>
            <a:off x="7810500" y="4076700"/>
            <a:ext cx="3714750" cy="1000125"/>
          </a:xfrm>
          <a:prstGeom prst="rect">
            <a:avLst/>
          </a:prstGeom>
          <a:noFill/>
          <a:ln w="0">
            <a:noFill/>
          </a:ln>
        </p:spPr>
        <p:txBody>
          <a:bodyPr anchor="ctr">
            <a:noAutofit/>
          </a:bodyPr>
          <a:lstStyle/>
          <a:p>
            <a:pPr algn="ctr">
              <a:defRPr sz="2100" b="0">
                <a:solidFill>
                  <a:srgbClr val="526276"/>
                </a:solidFill>
                <a:latin typeface="DejaVu Sans"/>
                <a:ea typeface="DejaVu Sans"/>
                <a:cs typeface="DejaVu Sans"/>
              </a:defRPr>
            </a:pPr>
            <a:r>
              <a:rPr sz="2100" b="0">
                <a:solidFill>
                  <a:srgbClr val="526276"/>
                </a:solidFill>
                <a:latin typeface="DejaVu Sans"/>
                <a:ea typeface="DejaVu Sans"/>
                <a:cs typeface="DejaVu Sans"/>
              </a:rPr>
              <a:t>The target returns</a:t>
            </a:r>
          </a:p>
          <a:p>
            <a:pPr algn="ctr">
              <a:defRPr sz="2100" b="0">
                <a:solidFill>
                  <a:srgbClr val="526276"/>
                </a:solidFill>
                <a:latin typeface="DejaVu Sans"/>
                <a:ea typeface="DejaVu Sans"/>
                <a:cs typeface="DejaVu Sans"/>
              </a:defRPr>
            </a:pPr>
            <a:r>
              <a:rPr sz="2100" b="0">
                <a:solidFill>
                  <a:srgbClr val="526276"/>
                </a:solidFill>
                <a:latin typeface="DejaVu Sans"/>
                <a:ea typeface="DejaVu Sans"/>
                <a:cs typeface="DejaVu Sans"/>
              </a:rPr>
              <a:t>to zero.</a:t>
            </a:r>
          </a:p>
        </p:txBody>
      </p:sp>
      <p:sp>
        <p:nvSpPr>
          <p:cNvPr id="10" name="text_5">
            <a:extLst>
              <a:ext uri="{FF2B5EF4-FFF2-40B4-BE49-F238E27FC236}">
                <a16:creationId xmlns:a16="http://schemas.microsoft.com/office/drawing/2014/main" id="{778978B4-9D62-4814-81DC-5CF36FEC6854}"/>
              </a:ext>
            </a:extLst>
          </p:cNvPr>
          <p:cNvSpPr>
            <a:spLocks noGrp="1"/>
          </p:cNvSpPr>
          <p:nvPr/>
        </p:nvSpPr>
        <p:spPr>
          <a:xfrm>
            <a:off x="571500" y="5905500"/>
            <a:ext cx="11049000" cy="419100"/>
          </a:xfrm>
          <a:prstGeom prst="rect">
            <a:avLst/>
          </a:prstGeom>
          <a:noFill/>
          <a:ln w="0">
            <a:noFill/>
          </a:ln>
        </p:spPr>
        <p:txBody>
          <a:bodyPr anchor="ctr">
            <a:noAutofit/>
          </a:body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One ReLU creates one change of slope.</a:t>
            </a:r>
          </a:p>
        </p:txBody>
      </p:sp>
    </p:spTree>
    <p:extLst>
      <p:ext uri="{BB962C8B-B14F-4D97-AF65-F5344CB8AC3E}">
        <p14:creationId xmlns:p14="http://schemas.microsoft.com/office/powerpoint/2010/main" val="14086149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54F959B3-8C18-4618-A3C1-74231221C923}"/>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Building a tent function: turn</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B58EAA5C-8FBD-4A4B-B939-BA46D92F0F0F}"/>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At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𝑥</m:t>
                    </m:r>
                    <m:r>
                      <a:rPr lang="it-IT" sz="2175" b="0" i="1" dirty="0" smtClean="0">
                        <a:solidFill>
                          <a:srgbClr val="526276"/>
                        </a:solidFill>
                        <a:latin typeface="Cambria Math" panose="02040503050406030204" pitchFamily="18" charset="0"/>
                        <a:ea typeface="DejaVu Sans"/>
                        <a:cs typeface="DejaVu Sans"/>
                      </a:rPr>
                      <m:t> = 1</m:t>
                    </m:r>
                  </m:oMath>
                </a14:m>
                <a:r>
                  <a:rPr sz="2175" b="0" dirty="0">
                    <a:solidFill>
                      <a:srgbClr val="526276"/>
                    </a:solidFill>
                    <a:latin typeface="DejaVu Sans"/>
                    <a:ea typeface="DejaVu Sans"/>
                    <a:cs typeface="DejaVu Sans"/>
                  </a:rPr>
                  <a:t>, the second </a:t>
                </a:r>
                <a:r>
                  <a:rPr lang="it-IT" sz="2175" b="0" dirty="0" err="1">
                    <a:solidFill>
                      <a:srgbClr val="526276"/>
                    </a:solidFill>
                    <a:latin typeface="DejaVu Sans"/>
                    <a:ea typeface="DejaVu Sans"/>
                    <a:cs typeface="DejaVu Sans"/>
                  </a:rPr>
                  <a:t>neuron</a:t>
                </a:r>
                <a:r>
                  <a:rPr sz="2175" b="0" dirty="0">
                    <a:solidFill>
                      <a:srgbClr val="526276"/>
                    </a:solidFill>
                    <a:latin typeface="DejaVu Sans"/>
                    <a:ea typeface="DejaVu Sans"/>
                    <a:cs typeface="DejaVu Sans"/>
                  </a:rPr>
                  <a:t> changes the slope by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−2</m:t>
                    </m:r>
                  </m:oMath>
                </a14:m>
                <a:r>
                  <a:rPr sz="2175" b="0" dirty="0">
                    <a:solidFill>
                      <a:srgbClr val="526276"/>
                    </a:solidFill>
                    <a:latin typeface="DejaVu Sans"/>
                    <a:ea typeface="DejaVu Sans"/>
                    <a:cs typeface="DejaVu Sans"/>
                  </a:rPr>
                  <a:t>.</a:t>
                </a:r>
              </a:p>
            </p:txBody>
          </p:sp>
        </mc:Choice>
        <mc:Fallback xmlns="">
          <p:sp>
            <p:nvSpPr>
              <p:cNvPr id="2" name="lead">
                <a:extLst>
                  <a:ext uri="{FF2B5EF4-FFF2-40B4-BE49-F238E27FC236}">
                    <a16:creationId xmlns:a16="http://schemas.microsoft.com/office/drawing/2014/main" id="{B58EAA5C-8FBD-4A4B-B939-BA46D92F0F0F}"/>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D75A1BD0-8566-40A5-9A37-06D8B01FDB99}"/>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6A8D9275-1FFB-4249-86DF-631F382394BA}"/>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27</a:t>
            </a:r>
          </a:p>
        </p:txBody>
      </p:sp>
      <mc:AlternateContent xmlns:mc="http://schemas.openxmlformats.org/markup-compatibility/2006" xmlns:a14="http://schemas.microsoft.com/office/drawing/2010/main">
        <mc:Choice Requires="a14">
          <p:sp>
            <p:nvSpPr>
              <p:cNvPr id="5" name="equation_1" descr="T_2(x)=\operatorname{ReLU}(x)-2\operatorname{ReLU}(x-1)">
                <a:extLst>
                  <a:ext uri="{FF2B5EF4-FFF2-40B4-BE49-F238E27FC236}">
                    <a16:creationId xmlns:a16="http://schemas.microsoft.com/office/drawing/2014/main" id="{95206089-DEF6-4A12-8D47-D0E520970313}"/>
                  </a:ext>
                </a:extLst>
              </p:cNvPr>
              <p:cNvSpPr>
                <a:spLocks noGrp="1"/>
              </p:cNvSpPr>
              <p:nvPr/>
            </p:nvSpPr>
            <p:spPr>
              <a:xfrm>
                <a:off x="333375" y="1809750"/>
                <a:ext cx="11525250" cy="8096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𝑇</m:t>
                          </m:r>
                        </m:e>
                        <m:sub>
                          <m:r>
                            <a:rPr lang="en-GB" sz="3100">
                              <a:solidFill>
                                <a:srgbClr val="087F83"/>
                              </a:solidFill>
                              <a:latin typeface="Cambria Math"/>
                              <a:ea typeface="Cambria Math"/>
                              <a:cs typeface="Cambria Math"/>
                            </a:rPr>
                            <m:t>2</m:t>
                          </m:r>
                        </m:sub>
                      </m:sSub>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𝑥</m:t>
                          </m:r>
                        </m:e>
                      </m:d>
                      <m:r>
                        <a:rPr lang="en-GB" sz="3100">
                          <a:solidFill>
                            <a:srgbClr val="087F83"/>
                          </a:solidFill>
                          <a:latin typeface="Cambria Math"/>
                          <a:ea typeface="Cambria Math"/>
                          <a:cs typeface="Cambria Math"/>
                        </a:rPr>
                        <m:t>=</m:t>
                      </m:r>
                      <m:r>
                        <m:rPr>
                          <m:sty m:val="p"/>
                        </m:rPr>
                        <a:rPr lang="en-GB" sz="3100">
                          <a:solidFill>
                            <a:srgbClr val="087F83"/>
                          </a:solidFill>
                          <a:latin typeface="Cambria Math"/>
                          <a:ea typeface="Cambria Math"/>
                          <a:cs typeface="Cambria Math"/>
                        </a:rPr>
                        <m:t>ReLU</m:t>
                      </m:r>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𝑥</m:t>
                          </m:r>
                        </m:e>
                      </m:d>
                      <m:r>
                        <a:rPr lang="en-GB" sz="3100">
                          <a:solidFill>
                            <a:srgbClr val="087F83"/>
                          </a:solidFill>
                          <a:latin typeface="Cambria Math"/>
                          <a:ea typeface="Cambria Math"/>
                          <a:cs typeface="Cambria Math"/>
                        </a:rPr>
                        <m:t>−2</m:t>
                      </m:r>
                      <m:r>
                        <m:rPr>
                          <m:sty m:val="p"/>
                        </m:rPr>
                        <a:rPr lang="en-GB" sz="3100">
                          <a:solidFill>
                            <a:srgbClr val="087F83"/>
                          </a:solidFill>
                          <a:latin typeface="Cambria Math"/>
                          <a:ea typeface="Cambria Math"/>
                          <a:cs typeface="Cambria Math"/>
                        </a:rPr>
                        <m:t>ReLU</m:t>
                      </m:r>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𝑥</m:t>
                          </m:r>
                          <m:r>
                            <a:rPr lang="en-GB" sz="3100">
                              <a:solidFill>
                                <a:srgbClr val="087F83"/>
                              </a:solidFill>
                              <a:latin typeface="Cambria Math"/>
                              <a:ea typeface="Cambria Math"/>
                              <a:cs typeface="Cambria Math"/>
                            </a:rPr>
                            <m:t>−1</m:t>
                          </m:r>
                        </m:e>
                      </m:d>
                    </m:oMath>
                  </m:oMathPara>
                </a14:m>
                <a:endParaRPr lang="en-GB" sz="3100" dirty="0"/>
              </a:p>
            </p:txBody>
          </p:sp>
        </mc:Choice>
        <mc:Fallback xmlns="">
          <p:sp>
            <p:nvSpPr>
              <p:cNvPr id="5" name="equation_1" descr="T_2(x)=\operatorname{ReLU}(x)-2\operatorname{ReLU}(x-1)">
                <a:extLst>
                  <a:ext uri="{FF2B5EF4-FFF2-40B4-BE49-F238E27FC236}">
                    <a16:creationId xmlns:a16="http://schemas.microsoft.com/office/drawing/2014/main" id="{95206089-DEF6-4A12-8D47-D0E520970313}"/>
                  </a:ext>
                </a:extLst>
              </p:cNvPr>
              <p:cNvSpPr>
                <a:spLocks noGrp="1" noRot="1" noChangeAspect="1" noMove="1" noResize="1" noEditPoints="1" noAdjustHandles="1" noChangeArrowheads="1" noChangeShapeType="1" noTextEdit="1"/>
              </p:cNvSpPr>
              <p:nvPr/>
            </p:nvSpPr>
            <p:spPr>
              <a:xfrm>
                <a:off x="333375" y="1809750"/>
                <a:ext cx="11525250" cy="809625"/>
              </a:xfrm>
              <a:prstGeom prst="rect">
                <a:avLst/>
              </a:prstGeom>
              <a:blipFill>
                <a:blip r:embed="rId4"/>
                <a:stretch>
                  <a:fillRect/>
                </a:stretch>
              </a:blipFill>
              <a:ln w="0">
                <a:noFill/>
              </a:ln>
            </p:spPr>
            <p:txBody>
              <a:bodyPr/>
              <a:lstStyle/>
              <a:p>
                <a:r>
                  <a:rPr lang="it-IT">
                    <a:noFill/>
                  </a:rPr>
                  <a:t> </a:t>
                </a:r>
              </a:p>
            </p:txBody>
          </p:sp>
        </mc:Fallback>
      </mc:AlternateContent>
      <p:graphicFrame>
        <p:nvGraphicFramePr>
          <p:cNvPr id="16" name="Chart"/>
          <p:cNvGraphicFramePr/>
          <p:nvPr/>
        </p:nvGraphicFramePr>
        <p:xfrm>
          <a:off x="809625" y="2714625"/>
          <a:ext cx="7048500" cy="295275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text_2">
                <a:extLst>
                  <a:ext uri="{FF2B5EF4-FFF2-40B4-BE49-F238E27FC236}">
                    <a16:creationId xmlns:a16="http://schemas.microsoft.com/office/drawing/2014/main" id="{364D716E-2A84-49C8-B364-FF588A76D0A9}"/>
                  </a:ext>
                </a:extLst>
              </p:cNvPr>
              <p:cNvSpPr>
                <a:spLocks noGrp="1"/>
              </p:cNvSpPr>
              <p:nvPr/>
            </p:nvSpPr>
            <p:spPr>
              <a:xfrm>
                <a:off x="3829050" y="5520690"/>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14:m>
                  <m:oMathPara xmlns:m="http://schemas.openxmlformats.org/officeDocument/2006/math">
                    <m:oMath>
                      <m:r>
                        <a:rPr lang="it-IT" sz="1650" b="0" i="1" dirty="0" smtClean="0">
                          <a:solidFill>
                            <a:srgbClr val="182D45"/>
                          </a:solidFill>
                          <a:latin typeface="Cambria Math" panose="02040503050406030204" pitchFamily="18" charset="0"/>
                          <a:ea typeface="DejaVu Sans"/>
                          <a:cs typeface="DejaVu Sans"/>
                        </a:rPr>
                        <m:t>𝑥</m:t>
                      </m:r>
                    </m:oMath>
                  </m:oMathPara>
                </a14:m>
                <a:endParaRPr/>
              </a:p>
            </p:txBody>
          </p:sp>
        </mc:Choice>
        <mc:Fallback xmlns="">
          <p:sp>
            <p:nvSpPr>
              <p:cNvPr id="7" name="text_2">
                <a:extLst>
                  <a:ext uri="{FF2B5EF4-FFF2-40B4-BE49-F238E27FC236}">
                    <a16:creationId xmlns:a16="http://schemas.microsoft.com/office/drawing/2014/main" id="{364D716E-2A84-49C8-B364-FF588A76D0A9}"/>
                  </a:ext>
                </a:extLst>
              </p:cNvPr>
              <p:cNvSpPr>
                <a:spLocks noGrp="1" noRot="1" noChangeAspect="1" noMove="1" noResize="1" noEditPoints="1" noAdjustHandles="1" noChangeArrowheads="1" noChangeShapeType="1" noTextEdit="1"/>
              </p:cNvSpPr>
              <p:nvPr/>
            </p:nvSpPr>
            <p:spPr>
              <a:xfrm>
                <a:off x="3829050" y="5520690"/>
                <a:ext cx="1714500" cy="266700"/>
              </a:xfrm>
              <a:prstGeom prst="rect">
                <a:avLst/>
              </a:prstGeom>
              <a:blipFill>
                <a:blip r:embed="rId6"/>
                <a:stretch>
                  <a:fillRect t="-23256" b="-465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text_3">
                <a:extLst>
                  <a:ext uri="{FF2B5EF4-FFF2-40B4-BE49-F238E27FC236}">
                    <a16:creationId xmlns:a16="http://schemas.microsoft.com/office/drawing/2014/main" id="{8C01EC18-3ED5-4278-B4A6-2DCA40AE57A6}"/>
                  </a:ext>
                </a:extLst>
              </p:cNvPr>
              <p:cNvSpPr>
                <a:spLocks noGrp="1"/>
              </p:cNvSpPr>
              <p:nvPr/>
            </p:nvSpPr>
            <p:spPr>
              <a:xfrm>
                <a:off x="7905750" y="3114675"/>
                <a:ext cx="3524250" cy="857250"/>
              </a:xfrm>
              <a:prstGeom prst="rect">
                <a:avLst/>
              </a:prstGeom>
              <a:noFill/>
              <a:ln w="0">
                <a:noFill/>
              </a:ln>
            </p:spPr>
            <p:txBody>
              <a:bodyPr wrap="none" lIns="0" tIns="0" rIns="0" bIns="0" anchor="ctr">
                <a:noAutofit/>
              </a:bodyPr>
              <a:lstStyle/>
              <a:p>
                <a:pPr algn="ctr">
                  <a:lnSpc>
                    <a:spcPts val="2700"/>
                  </a:lnSpc>
                </a:pPr>
                <a:r>
                  <a:rPr lang="en-GB" sz="2100" b="1">
                    <a:solidFill>
                      <a:srgbClr val="182D45"/>
                    </a:solidFill>
                    <a:latin typeface="DejaVu Sans"/>
                  </a:rPr>
                  <a:t>Two neurons</a:t>
                </a:r>
                <a:endParaRPr lang="en-GB" sz="2100"/>
              </a:p>
              <a:p>
                <a:pPr algn="ctr">
                  <a:lnSpc>
                    <a:spcPts val="2700"/>
                  </a:lnSpc>
                </a:pPr>
                <a:r>
                  <a:rPr lang="en-GB" sz="2100" b="0">
                    <a:solidFill>
                      <a:srgbClr val="182D45"/>
                    </a:solidFill>
                    <a:latin typeface="DejaVu Sans"/>
                  </a:rPr>
                  <a:t>width </a:t>
                </a:r>
                <a14:m>
                  <m:oMath xmlns:m="http://schemas.openxmlformats.org/officeDocument/2006/math">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𝑚</m:t>
                        </m:r>
                      </m:e>
                      <m:sub>
                        <m:r>
                          <a:rPr lang="en-GB" sz="2100">
                            <a:solidFill>
                              <a:srgbClr val="182D45"/>
                            </a:solidFill>
                            <a:latin typeface="Cambria Math"/>
                            <a:ea typeface="Cambria Math"/>
                            <a:cs typeface="Cambria Math"/>
                          </a:rPr>
                          <m:t>1</m:t>
                        </m:r>
                      </m:sub>
                    </m:sSub>
                    <m:r>
                      <a:rPr lang="en-GB" sz="2100">
                        <a:solidFill>
                          <a:srgbClr val="182D45"/>
                        </a:solidFill>
                        <a:latin typeface="Cambria Math"/>
                        <a:ea typeface="Cambria Math"/>
                        <a:cs typeface="Cambria Math"/>
                      </a:rPr>
                      <m:t>=2</m:t>
                    </m:r>
                  </m:oMath>
                </a14:m>
                <a:endParaRPr lang="en-GB" sz="2100"/>
              </a:p>
            </p:txBody>
          </p:sp>
        </mc:Choice>
        <mc:Fallback xmlns="">
          <p:sp>
            <p:nvSpPr>
              <p:cNvPr id="8" name="text_3">
                <a:extLst>
                  <a:ext uri="{FF2B5EF4-FFF2-40B4-BE49-F238E27FC236}">
                    <a16:creationId xmlns:a16="http://schemas.microsoft.com/office/drawing/2014/main" id="{8C01EC18-3ED5-4278-B4A6-2DCA40AE57A6}"/>
                  </a:ext>
                </a:extLst>
              </p:cNvPr>
              <p:cNvSpPr>
                <a:spLocks noGrp="1" noRot="1" noChangeAspect="1" noMove="1" noResize="1" noEditPoints="1" noAdjustHandles="1" noChangeArrowheads="1" noChangeShapeType="1" noTextEdit="1"/>
              </p:cNvSpPr>
              <p:nvPr/>
            </p:nvSpPr>
            <p:spPr>
              <a:xfrm>
                <a:off x="7905750" y="3114675"/>
                <a:ext cx="3524250" cy="857250"/>
              </a:xfrm>
              <a:prstGeom prst="rect">
                <a:avLst/>
              </a:prstGeom>
              <a:blipFill>
                <a:blip r:embed="rId7"/>
                <a:stretch>
                  <a:fillRect b="-638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text_4">
                <a:extLst>
                  <a:ext uri="{FF2B5EF4-FFF2-40B4-BE49-F238E27FC236}">
                    <a16:creationId xmlns:a16="http://schemas.microsoft.com/office/drawing/2014/main" id="{220210C2-8055-4C8C-AD11-750D6E652E5B}"/>
                  </a:ext>
                </a:extLst>
              </p:cNvPr>
              <p:cNvSpPr>
                <a:spLocks noGrp="1"/>
              </p:cNvSpPr>
              <p:nvPr/>
            </p:nvSpPr>
            <p:spPr>
              <a:xfrm>
                <a:off x="7810500" y="4076700"/>
                <a:ext cx="3714750" cy="1000125"/>
              </a:xfrm>
              <a:prstGeom prst="rect">
                <a:avLst/>
              </a:prstGeom>
              <a:noFill/>
              <a:ln w="0">
                <a:noFill/>
              </a:ln>
            </p:spPr>
            <p:txBody>
              <a:bodyPr anchor="ctr">
                <a:noAutofit/>
              </a:bodyPr>
              <a:lstStyle/>
              <a:p>
                <a:pPr algn="ctr">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The slope is now </a:t>
                </a:r>
                <a14:m>
                  <m:oMath xmlns:m="http://schemas.openxmlformats.org/officeDocument/2006/math">
                    <m:r>
                      <a:rPr lang="it-IT" sz="2100" b="0" i="1" dirty="0" smtClean="0">
                        <a:solidFill>
                          <a:srgbClr val="526276"/>
                        </a:solidFill>
                        <a:latin typeface="Cambria Math" panose="02040503050406030204" pitchFamily="18" charset="0"/>
                        <a:ea typeface="DejaVu Sans"/>
                        <a:cs typeface="DejaVu Sans"/>
                      </a:rPr>
                      <m:t>−1</m:t>
                    </m:r>
                  </m:oMath>
                </a14:m>
                <a:r>
                  <a:rPr sz="2100" b="0" dirty="0">
                    <a:solidFill>
                      <a:srgbClr val="526276"/>
                    </a:solidFill>
                    <a:latin typeface="DejaVu Sans"/>
                    <a:ea typeface="DejaVu Sans"/>
                    <a:cs typeface="DejaVu Sans"/>
                  </a:rPr>
                  <a:t>,</a:t>
                </a:r>
              </a:p>
              <a:p>
                <a:pPr algn="ctr">
                  <a:defRPr sz="2100" b="0">
                    <a:solidFill>
                      <a:srgbClr val="526276"/>
                    </a:solidFill>
                    <a:latin typeface="DejaVu Sans"/>
                    <a:ea typeface="DejaVu Sans"/>
                    <a:cs typeface="DejaVu Sans"/>
                  </a:defRPr>
                </a:pPr>
                <a:r>
                  <a:rPr sz="2100" b="0" dirty="0">
                    <a:solidFill>
                      <a:srgbClr val="526276"/>
                    </a:solidFill>
                    <a:latin typeface="DejaVu Sans"/>
                    <a:ea typeface="DejaVu Sans"/>
                    <a:cs typeface="DejaVu Sans"/>
                  </a:rPr>
                  <a:t>but must become zero.</a:t>
                </a:r>
              </a:p>
            </p:txBody>
          </p:sp>
        </mc:Choice>
        <mc:Fallback xmlns="">
          <p:sp>
            <p:nvSpPr>
              <p:cNvPr id="9" name="text_4">
                <a:extLst>
                  <a:ext uri="{FF2B5EF4-FFF2-40B4-BE49-F238E27FC236}">
                    <a16:creationId xmlns:a16="http://schemas.microsoft.com/office/drawing/2014/main" id="{220210C2-8055-4C8C-AD11-750D6E652E5B}"/>
                  </a:ext>
                </a:extLst>
              </p:cNvPr>
              <p:cNvSpPr>
                <a:spLocks noGrp="1" noRot="1" noChangeAspect="1" noMove="1" noResize="1" noEditPoints="1" noAdjustHandles="1" noChangeArrowheads="1" noChangeShapeType="1" noTextEdit="1"/>
              </p:cNvSpPr>
              <p:nvPr/>
            </p:nvSpPr>
            <p:spPr>
              <a:xfrm>
                <a:off x="7810500" y="4076700"/>
                <a:ext cx="3714750" cy="1000125"/>
              </a:xfrm>
              <a:prstGeom prst="rect">
                <a:avLst/>
              </a:prstGeom>
              <a:blipFill>
                <a:blip r:embed="rId8"/>
                <a:stretch>
                  <a:fillRect/>
                </a:stretch>
              </a:blipFill>
              <a:ln w="0">
                <a:noFill/>
              </a:ln>
            </p:spPr>
            <p:txBody>
              <a:bodyPr/>
              <a:lstStyle/>
              <a:p>
                <a:r>
                  <a:rPr lang="it-IT">
                    <a:noFill/>
                  </a:rPr>
                  <a:t> </a:t>
                </a:r>
              </a:p>
            </p:txBody>
          </p:sp>
        </mc:Fallback>
      </mc:AlternateContent>
      <p:sp>
        <p:nvSpPr>
          <p:cNvPr id="10" name="text_5">
            <a:extLst>
              <a:ext uri="{FF2B5EF4-FFF2-40B4-BE49-F238E27FC236}">
                <a16:creationId xmlns:a16="http://schemas.microsoft.com/office/drawing/2014/main" id="{E90B6834-572A-4B6C-85C6-134D9E0C1687}"/>
              </a:ext>
            </a:extLst>
          </p:cNvPr>
          <p:cNvSpPr>
            <a:spLocks noGrp="1"/>
          </p:cNvSpPr>
          <p:nvPr/>
        </p:nvSpPr>
        <p:spPr>
          <a:xfrm>
            <a:off x="571500" y="5905500"/>
            <a:ext cx="11049000" cy="419100"/>
          </a:xfrm>
          <a:prstGeom prst="rect">
            <a:avLst/>
          </a:prstGeom>
          <a:noFill/>
          <a:ln w="0">
            <a:noFill/>
          </a:ln>
        </p:spPr>
        <p:txBody>
          <a:bodyPr anchor="ctr">
            <a:noAutofit/>
          </a:body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The output weights can be negative.</a:t>
            </a:r>
          </a:p>
        </p:txBody>
      </p:sp>
    </p:spTree>
    <p:extLst>
      <p:ext uri="{BB962C8B-B14F-4D97-AF65-F5344CB8AC3E}">
        <p14:creationId xmlns:p14="http://schemas.microsoft.com/office/powerpoint/2010/main" val="10485190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1B718B5A-35C2-4BE4-BDC2-E2F75FFC5267}"/>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Building a tent function: stop</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2022D751-51ED-4B66-A849-BC87AC9B42D0}"/>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At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𝑥</m:t>
                    </m:r>
                    <m:r>
                      <a:rPr lang="it-IT" sz="2175" b="0" i="1" dirty="0" smtClean="0">
                        <a:solidFill>
                          <a:srgbClr val="526276"/>
                        </a:solidFill>
                        <a:latin typeface="Cambria Math" panose="02040503050406030204" pitchFamily="18" charset="0"/>
                        <a:ea typeface="DejaVu Sans"/>
                        <a:cs typeface="DejaVu Sans"/>
                      </a:rPr>
                      <m:t> = 2</m:t>
                    </m:r>
                  </m:oMath>
                </a14:m>
                <a:r>
                  <a:rPr sz="2175" b="0" dirty="0">
                    <a:solidFill>
                      <a:srgbClr val="526276"/>
                    </a:solidFill>
                    <a:latin typeface="DejaVu Sans"/>
                    <a:ea typeface="DejaVu Sans"/>
                    <a:cs typeface="DejaVu Sans"/>
                  </a:rPr>
                  <a:t>, the third </a:t>
                </a:r>
                <a:r>
                  <a:rPr lang="it-IT" sz="2175" b="0" dirty="0" err="1">
                    <a:solidFill>
                      <a:srgbClr val="526276"/>
                    </a:solidFill>
                    <a:latin typeface="DejaVu Sans"/>
                    <a:ea typeface="DejaVu Sans"/>
                    <a:cs typeface="DejaVu Sans"/>
                  </a:rPr>
                  <a:t>neuron</a:t>
                </a:r>
                <a:r>
                  <a:rPr sz="2175" b="0" dirty="0">
                    <a:solidFill>
                      <a:srgbClr val="526276"/>
                    </a:solidFill>
                    <a:latin typeface="DejaVu Sans"/>
                    <a:ea typeface="DejaVu Sans"/>
                    <a:cs typeface="DejaVu Sans"/>
                  </a:rPr>
                  <a:t> changes the slope by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+1</m:t>
                    </m:r>
                  </m:oMath>
                </a14:m>
                <a:r>
                  <a:rPr sz="2175" b="0" dirty="0">
                    <a:solidFill>
                      <a:srgbClr val="526276"/>
                    </a:solidFill>
                    <a:latin typeface="DejaVu Sans"/>
                    <a:ea typeface="DejaVu Sans"/>
                    <a:cs typeface="DejaVu Sans"/>
                  </a:rPr>
                  <a:t>.</a:t>
                </a:r>
              </a:p>
            </p:txBody>
          </p:sp>
        </mc:Choice>
        <mc:Fallback xmlns="">
          <p:sp>
            <p:nvSpPr>
              <p:cNvPr id="2" name="lead">
                <a:extLst>
                  <a:ext uri="{FF2B5EF4-FFF2-40B4-BE49-F238E27FC236}">
                    <a16:creationId xmlns:a16="http://schemas.microsoft.com/office/drawing/2014/main" id="{2022D751-51ED-4B66-A849-BC87AC9B42D0}"/>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8B0CF4B3-DCA5-4BF0-9617-E9B6FF69DB56}"/>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00FF3E57-32BB-424A-A8E2-64FABA4EB346}"/>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28</a:t>
            </a:r>
          </a:p>
        </p:txBody>
      </p:sp>
      <mc:AlternateContent xmlns:mc="http://schemas.openxmlformats.org/markup-compatibility/2006" xmlns:a14="http://schemas.microsoft.com/office/drawing/2010/main">
        <mc:Choice Requires="a14">
          <p:sp>
            <p:nvSpPr>
              <p:cNvPr id="5" name="equation_1" descr="T(x)=\operatorname{ReLU}(x)-2\operatorname{ReLU}(x-1)+\operatorname{ReLU}(x-2)">
                <a:extLst>
                  <a:ext uri="{FF2B5EF4-FFF2-40B4-BE49-F238E27FC236}">
                    <a16:creationId xmlns:a16="http://schemas.microsoft.com/office/drawing/2014/main" id="{5B92E327-D9D0-460B-B341-DE2122437C4A}"/>
                  </a:ext>
                </a:extLst>
              </p:cNvPr>
              <p:cNvSpPr>
                <a:spLocks noGrp="1"/>
              </p:cNvSpPr>
              <p:nvPr/>
            </p:nvSpPr>
            <p:spPr>
              <a:xfrm>
                <a:off x="333375" y="1809750"/>
                <a:ext cx="11525250" cy="8096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smtClean="0">
                          <a:solidFill>
                            <a:srgbClr val="087F83"/>
                          </a:solidFill>
                          <a:latin typeface="Cambria Math"/>
                          <a:ea typeface="Cambria Math"/>
                          <a:cs typeface="Cambria Math"/>
                        </a:rPr>
                        <m:t>𝑇</m:t>
                      </m:r>
                      <m:d>
                        <m:dPr>
                          <m:ctrlPr>
                            <a:rPr lang="en-GB" sz="2700" smtClean="0">
                              <a:solidFill>
                                <a:srgbClr val="087F83"/>
                              </a:solidFill>
                              <a:latin typeface="Cambria Math"/>
                              <a:ea typeface="Cambria Math"/>
                              <a:cs typeface="Cambria Math"/>
                            </a:rPr>
                          </m:ctrlPr>
                        </m:dPr>
                        <m:e>
                          <m:r>
                            <a:rPr lang="en-GB" sz="2700" smtClean="0">
                              <a:solidFill>
                                <a:srgbClr val="087F83"/>
                              </a:solidFill>
                              <a:latin typeface="Cambria Math"/>
                              <a:ea typeface="Cambria Math"/>
                              <a:cs typeface="Cambria Math"/>
                            </a:rPr>
                            <m:t>𝑥</m:t>
                          </m:r>
                        </m:e>
                      </m:d>
                      <m:r>
                        <a:rPr lang="en-GB" sz="2700" smtClean="0">
                          <a:solidFill>
                            <a:srgbClr val="087F83"/>
                          </a:solidFill>
                          <a:latin typeface="Cambria Math"/>
                          <a:ea typeface="Cambria Math"/>
                          <a:cs typeface="Cambria Math"/>
                        </a:rPr>
                        <m:t>=</m:t>
                      </m:r>
                      <m:r>
                        <m:rPr>
                          <m:sty m:val="p"/>
                        </m:rPr>
                        <a:rPr lang="en-GB" sz="2700" smtClean="0">
                          <a:solidFill>
                            <a:srgbClr val="087F83"/>
                          </a:solidFill>
                          <a:latin typeface="Cambria Math"/>
                          <a:ea typeface="Cambria Math"/>
                          <a:cs typeface="Cambria Math"/>
                        </a:rPr>
                        <m:t>ReLU</m:t>
                      </m:r>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𝑥</m:t>
                          </m:r>
                        </m:e>
                      </m:d>
                      <m:r>
                        <a:rPr lang="en-GB" sz="2700">
                          <a:solidFill>
                            <a:srgbClr val="087F83"/>
                          </a:solidFill>
                          <a:latin typeface="Cambria Math"/>
                          <a:ea typeface="Cambria Math"/>
                          <a:cs typeface="Cambria Math"/>
                        </a:rPr>
                        <m:t>−2</m:t>
                      </m:r>
                      <m:r>
                        <m:rPr>
                          <m:sty m:val="p"/>
                        </m:rPr>
                        <a:rPr lang="en-GB" sz="2700">
                          <a:solidFill>
                            <a:srgbClr val="087F83"/>
                          </a:solidFill>
                          <a:latin typeface="Cambria Math"/>
                          <a:ea typeface="Cambria Math"/>
                          <a:cs typeface="Cambria Math"/>
                        </a:rPr>
                        <m:t>ReLU</m:t>
                      </m:r>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𝑥</m:t>
                          </m:r>
                          <m:r>
                            <a:rPr lang="en-GB" sz="2700">
                              <a:solidFill>
                                <a:srgbClr val="087F83"/>
                              </a:solidFill>
                              <a:latin typeface="Cambria Math"/>
                              <a:ea typeface="Cambria Math"/>
                              <a:cs typeface="Cambria Math"/>
                            </a:rPr>
                            <m:t>−1</m:t>
                          </m:r>
                        </m:e>
                      </m:d>
                      <m:r>
                        <a:rPr lang="en-GB" sz="2700">
                          <a:solidFill>
                            <a:srgbClr val="087F83"/>
                          </a:solidFill>
                          <a:latin typeface="Cambria Math"/>
                          <a:ea typeface="Cambria Math"/>
                          <a:cs typeface="Cambria Math"/>
                        </a:rPr>
                        <m:t>+</m:t>
                      </m:r>
                      <m:r>
                        <m:rPr>
                          <m:sty m:val="p"/>
                        </m:rPr>
                        <a:rPr lang="en-GB" sz="2700">
                          <a:solidFill>
                            <a:srgbClr val="087F83"/>
                          </a:solidFill>
                          <a:latin typeface="Cambria Math"/>
                          <a:ea typeface="Cambria Math"/>
                          <a:cs typeface="Cambria Math"/>
                        </a:rPr>
                        <m:t>ReLU</m:t>
                      </m:r>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𝑥</m:t>
                          </m:r>
                          <m:r>
                            <a:rPr lang="en-GB" sz="2700">
                              <a:solidFill>
                                <a:srgbClr val="087F83"/>
                              </a:solidFill>
                              <a:latin typeface="Cambria Math"/>
                              <a:ea typeface="Cambria Math"/>
                              <a:cs typeface="Cambria Math"/>
                            </a:rPr>
                            <m:t>−2</m:t>
                          </m:r>
                        </m:e>
                      </m:d>
                    </m:oMath>
                  </m:oMathPara>
                </a14:m>
                <a:endParaRPr lang="en-GB" sz="2700" dirty="0"/>
              </a:p>
            </p:txBody>
          </p:sp>
        </mc:Choice>
        <mc:Fallback xmlns="">
          <p:sp>
            <p:nvSpPr>
              <p:cNvPr id="5" name="equation_1" descr="T(x)=\operatorname{ReLU}(x)-2\operatorname{ReLU}(x-1)+\operatorname{ReLU}(x-2)">
                <a:extLst>
                  <a:ext uri="{FF2B5EF4-FFF2-40B4-BE49-F238E27FC236}">
                    <a16:creationId xmlns:a16="http://schemas.microsoft.com/office/drawing/2014/main" id="{0DE4B5FF-9496-4D76-A47B-06645A2E9429}"/>
                  </a:ext>
                </a:extLst>
              </p:cNvPr>
              <p:cNvSpPr>
                <a:spLocks noGrp="1" noRot="1" noChangeAspect="1" noMove="1" noResize="1" noEditPoints="1" noAdjustHandles="1" noChangeArrowheads="1" noChangeShapeType="1" noTextEdit="1"/>
              </p:cNvSpPr>
              <p:nvPr/>
            </p:nvSpPr>
            <p:spPr>
              <a:xfrm>
                <a:off x="333375" y="1809750"/>
                <a:ext cx="11525250" cy="809625"/>
              </a:xfrm>
              <a:prstGeom prst="rect">
                <a:avLst/>
              </a:prstGeom>
              <a:blipFill>
                <a:blip r:embed="rId4"/>
                <a:stretch>
                  <a:fillRect/>
                </a:stretch>
              </a:blipFill>
              <a:ln w="0">
                <a:noFill/>
              </a:ln>
            </p:spPr>
            <p:txBody>
              <a:bodyPr/>
              <a:lstStyle/>
              <a:p>
                <a:r>
                  <a:rPr lang="it-IT">
                    <a:noFill/>
                  </a:rPr>
                  <a:t> </a:t>
                </a:r>
              </a:p>
            </p:txBody>
          </p:sp>
        </mc:Fallback>
      </mc:AlternateContent>
      <p:graphicFrame>
        <p:nvGraphicFramePr>
          <p:cNvPr id="18" name="Chart"/>
          <p:cNvGraphicFramePr/>
          <p:nvPr/>
        </p:nvGraphicFramePr>
        <p:xfrm>
          <a:off x="809625" y="2714625"/>
          <a:ext cx="7048500" cy="295275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text_2">
                <a:extLst>
                  <a:ext uri="{FF2B5EF4-FFF2-40B4-BE49-F238E27FC236}">
                    <a16:creationId xmlns:a16="http://schemas.microsoft.com/office/drawing/2014/main" id="{DB58D26C-81DD-4B96-8ED9-2F7FFA0708E2}"/>
                  </a:ext>
                </a:extLst>
              </p:cNvPr>
              <p:cNvSpPr>
                <a:spLocks noGrp="1"/>
              </p:cNvSpPr>
              <p:nvPr/>
            </p:nvSpPr>
            <p:spPr>
              <a:xfrm>
                <a:off x="3829050" y="5520690"/>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14:m>
                  <m:oMathPara xmlns:m="http://schemas.openxmlformats.org/officeDocument/2006/math">
                    <m:oMath>
                      <m:r>
                        <a:rPr lang="it-IT" sz="1650" b="0" i="1" dirty="0" smtClean="0">
                          <a:solidFill>
                            <a:srgbClr val="182D45"/>
                          </a:solidFill>
                          <a:latin typeface="Cambria Math" panose="02040503050406030204" pitchFamily="18" charset="0"/>
                          <a:ea typeface="DejaVu Sans"/>
                          <a:cs typeface="DejaVu Sans"/>
                        </a:rPr>
                        <m:t>𝑥</m:t>
                      </m:r>
                    </m:oMath>
                  </m:oMathPara>
                </a14:m>
                <a:endParaRPr/>
              </a:p>
            </p:txBody>
          </p:sp>
        </mc:Choice>
        <mc:Fallback xmlns="">
          <p:sp>
            <p:nvSpPr>
              <p:cNvPr id="7" name="text_2">
                <a:extLst>
                  <a:ext uri="{FF2B5EF4-FFF2-40B4-BE49-F238E27FC236}">
                    <a16:creationId xmlns:a16="http://schemas.microsoft.com/office/drawing/2014/main" id="{DB58D26C-81DD-4B96-8ED9-2F7FFA0708E2}"/>
                  </a:ext>
                </a:extLst>
              </p:cNvPr>
              <p:cNvSpPr>
                <a:spLocks noGrp="1" noRot="1" noChangeAspect="1" noMove="1" noResize="1" noEditPoints="1" noAdjustHandles="1" noChangeArrowheads="1" noChangeShapeType="1" noTextEdit="1"/>
              </p:cNvSpPr>
              <p:nvPr/>
            </p:nvSpPr>
            <p:spPr>
              <a:xfrm>
                <a:off x="3829050" y="5520690"/>
                <a:ext cx="1714500" cy="266700"/>
              </a:xfrm>
              <a:prstGeom prst="rect">
                <a:avLst/>
              </a:prstGeom>
              <a:blipFill>
                <a:blip r:embed="rId6"/>
                <a:stretch>
                  <a:fillRect t="-23256" b="-465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 name="three_units">
                <a:extLst>
                  <a:ext uri="{FF2B5EF4-FFF2-40B4-BE49-F238E27FC236}">
                    <a16:creationId xmlns:a16="http://schemas.microsoft.com/office/drawing/2014/main" id="{1F632ECA-7704-4BBC-BAC9-983DF2DE212F}"/>
                  </a:ext>
                </a:extLst>
              </p:cNvPr>
              <p:cNvSpPr>
                <a:spLocks noGrp="1"/>
              </p:cNvSpPr>
              <p:nvPr/>
            </p:nvSpPr>
            <p:spPr>
              <a:xfrm>
                <a:off x="7905750" y="3114675"/>
                <a:ext cx="3524250" cy="857250"/>
              </a:xfrm>
              <a:prstGeom prst="rect">
                <a:avLst/>
              </a:prstGeom>
              <a:noFill/>
              <a:ln w="0">
                <a:noFill/>
              </a:ln>
            </p:spPr>
            <p:txBody>
              <a:bodyPr wrap="none" lIns="0" tIns="0" rIns="0" bIns="0" anchor="ctr">
                <a:noAutofit/>
              </a:bodyPr>
              <a:lstStyle/>
              <a:p>
                <a:pPr algn="ctr">
                  <a:lnSpc>
                    <a:spcPts val="2700"/>
                  </a:lnSpc>
                </a:pPr>
                <a:r>
                  <a:rPr lang="en-GB" sz="2100" b="1">
                    <a:solidFill>
                      <a:srgbClr val="182D45"/>
                    </a:solidFill>
                    <a:latin typeface="DejaVu Sans"/>
                  </a:rPr>
                  <a:t>Three neurons</a:t>
                </a:r>
                <a:endParaRPr lang="en-GB" sz="2100"/>
              </a:p>
              <a:p>
                <a:pPr algn="ctr">
                  <a:lnSpc>
                    <a:spcPts val="2700"/>
                  </a:lnSpc>
                </a:pPr>
                <a:r>
                  <a:rPr lang="en-GB" sz="2100" b="0">
                    <a:solidFill>
                      <a:srgbClr val="182D45"/>
                    </a:solidFill>
                    <a:latin typeface="DejaVu Sans"/>
                  </a:rPr>
                  <a:t>width </a:t>
                </a:r>
                <a14:m>
                  <m:oMath xmlns:m="http://schemas.openxmlformats.org/officeDocument/2006/math">
                    <m:sSub>
                      <m:sSubPr>
                        <m:ctrlPr>
                          <a:rPr lang="en-GB" sz="2100">
                            <a:solidFill>
                              <a:srgbClr val="182D45"/>
                            </a:solidFill>
                            <a:latin typeface="Cambria Math"/>
                            <a:ea typeface="Cambria Math"/>
                            <a:cs typeface="Cambria Math"/>
                          </a:rPr>
                        </m:ctrlPr>
                      </m:sSubPr>
                      <m:e>
                        <m:r>
                          <a:rPr lang="en-GB" sz="2100">
                            <a:solidFill>
                              <a:srgbClr val="182D45"/>
                            </a:solidFill>
                            <a:latin typeface="Cambria Math"/>
                            <a:ea typeface="Cambria Math"/>
                            <a:cs typeface="Cambria Math"/>
                          </a:rPr>
                          <m:t>𝑚</m:t>
                        </m:r>
                      </m:e>
                      <m:sub>
                        <m:r>
                          <a:rPr lang="en-GB" sz="2100">
                            <a:solidFill>
                              <a:srgbClr val="182D45"/>
                            </a:solidFill>
                            <a:latin typeface="Cambria Math"/>
                            <a:ea typeface="Cambria Math"/>
                            <a:cs typeface="Cambria Math"/>
                          </a:rPr>
                          <m:t>1</m:t>
                        </m:r>
                      </m:sub>
                    </m:sSub>
                    <m:r>
                      <a:rPr lang="en-GB" sz="2100">
                        <a:solidFill>
                          <a:srgbClr val="182D45"/>
                        </a:solidFill>
                        <a:latin typeface="Cambria Math"/>
                        <a:ea typeface="Cambria Math"/>
                        <a:cs typeface="Cambria Math"/>
                      </a:rPr>
                      <m:t>=3</m:t>
                    </m:r>
                  </m:oMath>
                </a14:m>
                <a:endParaRPr lang="en-GB" sz="2100"/>
              </a:p>
            </p:txBody>
          </p:sp>
        </mc:Choice>
        <mc:Fallback xmlns="">
          <p:sp>
            <p:nvSpPr>
              <p:cNvPr id="19" name="three_units">
                <a:extLst>
                  <a:ext uri="{FF2B5EF4-FFF2-40B4-BE49-F238E27FC236}">
                    <a16:creationId xmlns:a16="http://schemas.microsoft.com/office/drawing/2014/main" id="{1F632ECA-7704-4BBC-BAC9-983DF2DE212F}"/>
                  </a:ext>
                </a:extLst>
              </p:cNvPr>
              <p:cNvSpPr>
                <a:spLocks noGrp="1" noRot="1" noChangeAspect="1" noMove="1" noResize="1" noEditPoints="1" noAdjustHandles="1" noChangeArrowheads="1" noChangeShapeType="1" noTextEdit="1"/>
              </p:cNvSpPr>
              <p:nvPr/>
            </p:nvSpPr>
            <p:spPr>
              <a:xfrm>
                <a:off x="7905750" y="3114675"/>
                <a:ext cx="3524250" cy="857250"/>
              </a:xfrm>
              <a:prstGeom prst="rect">
                <a:avLst/>
              </a:prstGeom>
              <a:blipFill>
                <a:blip r:embed="rId7"/>
                <a:stretch>
                  <a:fillRect b="-6383"/>
                </a:stretch>
              </a:blipFill>
              <a:ln w="0">
                <a:noFill/>
              </a:ln>
            </p:spPr>
            <p:txBody>
              <a:bodyPr/>
              <a:lstStyle/>
              <a:p>
                <a:r>
                  <a:rPr lang="it-IT">
                    <a:noFill/>
                  </a:rPr>
                  <a:t> </a:t>
                </a:r>
              </a:p>
            </p:txBody>
          </p:sp>
        </mc:Fallback>
      </mc:AlternateContent>
      <p:sp>
        <p:nvSpPr>
          <p:cNvPr id="20" name="completion">
            <a:extLst>
              <a:ext uri="{FF2B5EF4-FFF2-40B4-BE49-F238E27FC236}">
                <a16:creationId xmlns:a16="http://schemas.microsoft.com/office/drawing/2014/main" id="{2A3CF8A8-B357-47DB-A449-E71138363A52}"/>
              </a:ext>
            </a:extLst>
          </p:cNvPr>
          <p:cNvSpPr>
            <a:spLocks noGrp="1"/>
          </p:cNvSpPr>
          <p:nvPr/>
        </p:nvSpPr>
        <p:spPr>
          <a:xfrm>
            <a:off x="7810500" y="4076700"/>
            <a:ext cx="3714750" cy="1000125"/>
          </a:xfrm>
          <a:prstGeom prst="rect">
            <a:avLst/>
          </a:prstGeom>
          <a:noFill/>
          <a:ln w="0">
            <a:noFill/>
          </a:ln>
        </p:spPr>
        <p:txBody>
          <a:bodyPr anchor="ctr">
            <a:noAutofit/>
          </a:bodyPr>
          <a:lstStyle/>
          <a:p>
            <a:pPr algn="ctr">
              <a:defRPr sz="2100" b="0">
                <a:solidFill>
                  <a:srgbClr val="526276"/>
                </a:solidFill>
                <a:latin typeface="DejaVu Sans"/>
                <a:ea typeface="DejaVu Sans"/>
                <a:cs typeface="DejaVu Sans"/>
              </a:defRPr>
            </a:pPr>
            <a:r>
              <a:rPr sz="2100" b="0">
                <a:solidFill>
                  <a:srgbClr val="526276"/>
                </a:solidFill>
                <a:latin typeface="DejaVu Sans"/>
                <a:ea typeface="DejaVu Sans"/>
                <a:cs typeface="DejaVu Sans"/>
              </a:rPr>
              <a:t>The slope returns to zero.</a:t>
            </a:r>
          </a:p>
          <a:p>
            <a:pPr algn="ctr">
              <a:defRPr sz="2100" b="0">
                <a:solidFill>
                  <a:srgbClr val="526276"/>
                </a:solidFill>
                <a:latin typeface="DejaVu Sans"/>
                <a:ea typeface="DejaVu Sans"/>
                <a:cs typeface="DejaVu Sans"/>
              </a:defRPr>
            </a:pPr>
            <a:r>
              <a:rPr sz="2100" b="0">
                <a:solidFill>
                  <a:srgbClr val="526276"/>
                </a:solidFill>
                <a:latin typeface="DejaVu Sans"/>
                <a:ea typeface="DejaVu Sans"/>
                <a:cs typeface="DejaVu Sans"/>
              </a:rPr>
              <a:t>The tent is complete.</a:t>
            </a:r>
          </a:p>
        </p:txBody>
      </p:sp>
      <p:sp>
        <p:nvSpPr>
          <p:cNvPr id="21" name="takeaway">
            <a:extLst>
              <a:ext uri="{FF2B5EF4-FFF2-40B4-BE49-F238E27FC236}">
                <a16:creationId xmlns:a16="http://schemas.microsoft.com/office/drawing/2014/main" id="{D3C84D02-87FA-4A5B-AA74-0856759A1BB8}"/>
              </a:ext>
            </a:extLst>
          </p:cNvPr>
          <p:cNvSpPr>
            <a:spLocks noGrp="1"/>
          </p:cNvSpPr>
          <p:nvPr/>
        </p:nvSpPr>
        <p:spPr>
          <a:xfrm>
            <a:off x="571500" y="5905500"/>
            <a:ext cx="11049000" cy="419100"/>
          </a:xfrm>
          <a:prstGeom prst="rect">
            <a:avLst/>
          </a:prstGeom>
          <a:noFill/>
          <a:ln w="0">
            <a:noFill/>
          </a:ln>
        </p:spPr>
        <p:txBody>
          <a:bodyPr anchor="ctr">
            <a:noAutofit/>
          </a:bodyPr>
          <a:lstStyle/>
          <a:p>
            <a:pPr algn="ctr">
              <a:defRPr sz="2025" b="1">
                <a:solidFill>
                  <a:srgbClr val="182D45"/>
                </a:solidFill>
                <a:latin typeface="DejaVu Sans"/>
                <a:ea typeface="DejaVu Sans"/>
                <a:cs typeface="DejaVu Sans"/>
              </a:defRPr>
            </a:pPr>
            <a:r>
              <a:rPr sz="2025" b="1" dirty="0">
                <a:solidFill>
                  <a:srgbClr val="182D45"/>
                </a:solidFill>
                <a:latin typeface="DejaVu Sans"/>
                <a:ea typeface="DejaVu Sans"/>
                <a:cs typeface="DejaVu Sans"/>
              </a:rPr>
              <a:t>Three </a:t>
            </a:r>
            <a:r>
              <a:rPr lang="it-IT" sz="2025" b="1" dirty="0" err="1">
                <a:solidFill>
                  <a:srgbClr val="182D45"/>
                </a:solidFill>
                <a:latin typeface="DejaVu Sans"/>
                <a:ea typeface="DejaVu Sans"/>
                <a:cs typeface="DejaVu Sans"/>
              </a:rPr>
              <a:t>neurons</a:t>
            </a:r>
            <a:r>
              <a:rPr sz="2025" b="1" dirty="0">
                <a:solidFill>
                  <a:srgbClr val="182D45"/>
                </a:solidFill>
                <a:latin typeface="DejaVu Sans"/>
                <a:ea typeface="DejaVu Sans"/>
                <a:cs typeface="DejaVu Sans"/>
              </a:rPr>
              <a:t> produce the tent function.</a:t>
            </a:r>
          </a:p>
        </p:txBody>
      </p:sp>
    </p:spTree>
    <p:extLst>
      <p:ext uri="{BB962C8B-B14F-4D97-AF65-F5344CB8AC3E}">
        <p14:creationId xmlns:p14="http://schemas.microsoft.com/office/powerpoint/2010/main" val="2140362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51941221-56FE-4B26-BEDF-35ED92D226F2}"/>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The parameters of the tent network</a:t>
            </a:r>
          </a:p>
        </p:txBody>
      </p:sp>
      <p:sp xmlns:a14="http://schemas.microsoft.com/office/drawing/2010/main">
        <p:nvSpPr>
          <p:cNvPr id="2" name="lead">
            <a:extLst>
              <a:ext uri="{FF2B5EF4-FFF2-40B4-BE49-F238E27FC236}">
                <a16:creationId xmlns:a16="http://schemas.microsoft.com/office/drawing/2014/main" id="{F5186BFC-575D-4444-A6D5-4C74F4BBA5D5}"/>
              </a:ext>
            </a:extLst>
          </p:cNvPr>
          <p:cNvSpPr>
            <a:spLocks noGrp="1"/>
          </p:cNvSpPr>
          <p:nvPr/>
        </p:nvSpPr>
        <p:spPr>
          <a:xfrm>
            <a:off x="523875" y="1000125"/>
            <a:ext cx="11144250" cy="781050"/>
          </a:xfrm>
          <a:prstGeom prst="rect">
            <a:avLst/>
          </a:prstGeom>
          <a:noFill/>
          <a:ln w="0">
            <a:noFill/>
          </a:ln>
        </p:spPr>
        <p:txBody>
          <a:bodyPr wrap="none" lIns="0" tIns="0" rIns="0" bIns="0" anchor="ctr">
            <a:noAutofit/>
          </a:bodyPr>
          <a:lstStyle/>
          <a:p>
            <a:pPr algn="ctr">
              <a:lnSpc>
                <a:spcPts val="2500"/>
              </a:lnSpc>
            </a:pPr>
            <a:r>
              <a:rPr lang="en-GB" sz="2400" dirty="0">
                <a:solidFill>
                  <a:srgbClr val="526276"/>
                </a:solidFill>
                <a:ea typeface="Cambria Math"/>
                <a:cs typeface="Cambria Math"/>
              </a:rPr>
              <a:t>Depth </a:t>
            </a:r>
            <a14:m>
              <m:oMath xmlns:m="http://schemas.openxmlformats.org/officeDocument/2006/math">
                <m:r>
                  <a:rPr lang="en-GB" sz="2400">
                    <a:solidFill>
                      <a:srgbClr val="526276"/>
                    </a:solidFill>
                    <a:latin typeface="Cambria Math"/>
                    <a:ea typeface="Cambria Math"/>
                    <a:cs typeface="Cambria Math"/>
                  </a:rPr>
                  <m:t>𝐿</m:t>
                </m:r>
                <m:r>
                  <a:rPr lang="en-GB" sz="2400">
                    <a:solidFill>
                      <a:srgbClr val="526276"/>
                    </a:solidFill>
                    <a:latin typeface="Cambria Math"/>
                    <a:ea typeface="Cambria Math"/>
                    <a:cs typeface="Cambria Math"/>
                  </a:rPr>
                  <m:t>=2</m:t>
                </m:r>
              </m:oMath>
            </a14:m>
            <a:r>
              <a:rPr lang="en-GB" sz="2400" b="0" dirty="0">
                <a:solidFill>
                  <a:srgbClr val="526276"/>
                </a:solidFill>
                <a:latin typeface="DejaVu Sans"/>
              </a:rPr>
              <a:t>, with widths </a:t>
            </a:r>
            <a14:m>
              <m:oMath xmlns:m="http://schemas.openxmlformats.org/officeDocument/2006/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𝑚</m:t>
                    </m:r>
                  </m:e>
                  <m:sub>
                    <m:r>
                      <a:rPr lang="en-GB" sz="2400">
                        <a:solidFill>
                          <a:srgbClr val="526276"/>
                        </a:solidFill>
                        <a:latin typeface="Cambria Math"/>
                        <a:ea typeface="Cambria Math"/>
                        <a:cs typeface="Cambria Math"/>
                      </a:rPr>
                      <m:t>0</m:t>
                    </m:r>
                  </m:sub>
                </m:sSub>
                <m:r>
                  <a:rPr lang="en-GB" sz="2400">
                    <a:solidFill>
                      <a:srgbClr val="526276"/>
                    </a:solidFill>
                    <a:latin typeface="Cambria Math"/>
                    <a:ea typeface="Cambria Math"/>
                    <a:cs typeface="Cambria Math"/>
                  </a:rPr>
                  <m:t>=1</m:t>
                </m:r>
              </m:oMath>
            </a14:m>
            <a:r>
              <a:rPr lang="en-GB" sz="2400" b="0" dirty="0">
                <a:solidFill>
                  <a:srgbClr val="526276"/>
                </a:solidFill>
                <a:latin typeface="DejaVu Sans"/>
              </a:rPr>
              <a:t>, </a:t>
            </a:r>
            <a14:m>
              <m:oMath xmlns:m="http://schemas.openxmlformats.org/officeDocument/2006/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𝑚</m:t>
                    </m:r>
                  </m:e>
                  <m:sub>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=3</m:t>
                </m:r>
              </m:oMath>
            </a14:m>
            <a:r>
              <a:rPr lang="en-GB" sz="2400" b="0" dirty="0">
                <a:solidFill>
                  <a:srgbClr val="526276"/>
                </a:solidFill>
                <a:latin typeface="DejaVu Sans"/>
              </a:rPr>
              <a:t> and </a:t>
            </a:r>
            <a14:m>
              <m:oMath xmlns:m="http://schemas.openxmlformats.org/officeDocument/2006/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𝑚</m:t>
                    </m:r>
                  </m:e>
                  <m:sub>
                    <m:r>
                      <a:rPr lang="en-GB" sz="2400">
                        <a:solidFill>
                          <a:srgbClr val="526276"/>
                        </a:solidFill>
                        <a:latin typeface="Cambria Math"/>
                        <a:ea typeface="Cambria Math"/>
                        <a:cs typeface="Cambria Math"/>
                      </a:rPr>
                      <m:t>2</m:t>
                    </m:r>
                  </m:sub>
                </m:sSub>
                <m:r>
                  <a:rPr lang="en-GB" sz="2400">
                    <a:solidFill>
                      <a:srgbClr val="526276"/>
                    </a:solidFill>
                    <a:latin typeface="Cambria Math"/>
                    <a:ea typeface="Cambria Math"/>
                    <a:cs typeface="Cambria Math"/>
                  </a:rPr>
                  <m:t>=1</m:t>
                </m:r>
              </m:oMath>
            </a14:m>
            <a:r>
              <a:rPr lang="en-GB" sz="2400" b="0" dirty="0">
                <a:solidFill>
                  <a:srgbClr val="526276"/>
                </a:solidFill>
                <a:latin typeface="DejaVu Sans"/>
              </a:rPr>
              <a:t>.</a:t>
            </a:r>
            <a:endParaRPr lang="en-GB" sz="2400" dirty="0"/>
          </a:p>
        </p:txBody>
      </p:sp>
      <p:sp>
        <p:nvSpPr>
          <p:cNvPr id="3" name="footer_course">
            <a:extLst>
              <a:ext uri="{FF2B5EF4-FFF2-40B4-BE49-F238E27FC236}">
                <a16:creationId xmlns:a16="http://schemas.microsoft.com/office/drawing/2014/main" id="{C29C6306-0C32-47DE-9C59-18AF7406A286}"/>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1670986D-933E-4F46-B029-0D25BDA026AD}"/>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29</a:t>
            </a:r>
          </a:p>
        </p:txBody>
      </p:sp>
      <mc:AlternateContent xmlns:mc="http://schemas.openxmlformats.org/markup-compatibility/2006" xmlns:a14="http://schemas.microsoft.com/office/drawing/2010/main">
        <mc:Choice Requires="a14">
          <p:sp>
            <p:nvSpPr>
              <p:cNvPr id="5" name="equation_1" descr="T(x)=\operatorname{ReLU}(x)-2\operatorname{ReLU}(x-1)+\operatorname{ReLU}(x-2)">
                <a:extLst>
                  <a:ext uri="{FF2B5EF4-FFF2-40B4-BE49-F238E27FC236}">
                    <a16:creationId xmlns:a16="http://schemas.microsoft.com/office/drawing/2014/main" id="{AD4664A8-BF6F-45A2-9A6A-0ADF5366E1A7}"/>
                  </a:ext>
                </a:extLst>
              </p:cNvPr>
              <p:cNvSpPr>
                <a:spLocks noGrp="1"/>
              </p:cNvSpPr>
              <p:nvPr/>
            </p:nvSpPr>
            <p:spPr>
              <a:xfrm>
                <a:off x="333375" y="1809750"/>
                <a:ext cx="11525250" cy="8096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smtClean="0">
                          <a:solidFill>
                            <a:srgbClr val="087F83"/>
                          </a:solidFill>
                          <a:latin typeface="Cambria Math"/>
                          <a:ea typeface="Cambria Math"/>
                          <a:cs typeface="Cambria Math"/>
                        </a:rPr>
                        <m:t>𝑇</m:t>
                      </m:r>
                      <m:d>
                        <m:dPr>
                          <m:ctrlPr>
                            <a:rPr lang="en-GB" sz="2700" smtClean="0">
                              <a:solidFill>
                                <a:srgbClr val="087F83"/>
                              </a:solidFill>
                              <a:latin typeface="Cambria Math"/>
                              <a:ea typeface="Cambria Math"/>
                              <a:cs typeface="Cambria Math"/>
                            </a:rPr>
                          </m:ctrlPr>
                        </m:dPr>
                        <m:e>
                          <m:r>
                            <a:rPr lang="en-GB" sz="2700" smtClean="0">
                              <a:solidFill>
                                <a:srgbClr val="087F83"/>
                              </a:solidFill>
                              <a:latin typeface="Cambria Math"/>
                              <a:ea typeface="Cambria Math"/>
                              <a:cs typeface="Cambria Math"/>
                            </a:rPr>
                            <m:t>𝑥</m:t>
                          </m:r>
                        </m:e>
                      </m:d>
                      <m:r>
                        <a:rPr lang="en-GB" sz="2700" smtClean="0">
                          <a:solidFill>
                            <a:srgbClr val="087F83"/>
                          </a:solidFill>
                          <a:latin typeface="Cambria Math"/>
                          <a:ea typeface="Cambria Math"/>
                          <a:cs typeface="Cambria Math"/>
                        </a:rPr>
                        <m:t>=</m:t>
                      </m:r>
                      <m:r>
                        <m:rPr>
                          <m:sty m:val="p"/>
                        </m:rPr>
                        <a:rPr lang="en-GB" sz="2700" smtClean="0">
                          <a:solidFill>
                            <a:srgbClr val="087F83"/>
                          </a:solidFill>
                          <a:latin typeface="Cambria Math"/>
                          <a:ea typeface="Cambria Math"/>
                          <a:cs typeface="Cambria Math"/>
                        </a:rPr>
                        <m:t>ReLU</m:t>
                      </m:r>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𝑥</m:t>
                          </m:r>
                        </m:e>
                      </m:d>
                      <m:r>
                        <a:rPr lang="en-GB" sz="2700">
                          <a:solidFill>
                            <a:srgbClr val="087F83"/>
                          </a:solidFill>
                          <a:latin typeface="Cambria Math"/>
                          <a:ea typeface="Cambria Math"/>
                          <a:cs typeface="Cambria Math"/>
                        </a:rPr>
                        <m:t>−2</m:t>
                      </m:r>
                      <m:r>
                        <m:rPr>
                          <m:sty m:val="p"/>
                        </m:rPr>
                        <a:rPr lang="en-GB" sz="2700">
                          <a:solidFill>
                            <a:srgbClr val="087F83"/>
                          </a:solidFill>
                          <a:latin typeface="Cambria Math"/>
                          <a:ea typeface="Cambria Math"/>
                          <a:cs typeface="Cambria Math"/>
                        </a:rPr>
                        <m:t>ReLU</m:t>
                      </m:r>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𝑥</m:t>
                          </m:r>
                          <m:r>
                            <a:rPr lang="en-GB" sz="2700">
                              <a:solidFill>
                                <a:srgbClr val="087F83"/>
                              </a:solidFill>
                              <a:latin typeface="Cambria Math"/>
                              <a:ea typeface="Cambria Math"/>
                              <a:cs typeface="Cambria Math"/>
                            </a:rPr>
                            <m:t>−1</m:t>
                          </m:r>
                        </m:e>
                      </m:d>
                      <m:r>
                        <a:rPr lang="en-GB" sz="2700">
                          <a:solidFill>
                            <a:srgbClr val="087F83"/>
                          </a:solidFill>
                          <a:latin typeface="Cambria Math"/>
                          <a:ea typeface="Cambria Math"/>
                          <a:cs typeface="Cambria Math"/>
                        </a:rPr>
                        <m:t>+</m:t>
                      </m:r>
                      <m:r>
                        <m:rPr>
                          <m:sty m:val="p"/>
                        </m:rPr>
                        <a:rPr lang="en-GB" sz="2700">
                          <a:solidFill>
                            <a:srgbClr val="087F83"/>
                          </a:solidFill>
                          <a:latin typeface="Cambria Math"/>
                          <a:ea typeface="Cambria Math"/>
                          <a:cs typeface="Cambria Math"/>
                        </a:rPr>
                        <m:t>ReLU</m:t>
                      </m:r>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𝑥</m:t>
                          </m:r>
                          <m:r>
                            <a:rPr lang="en-GB" sz="2700">
                              <a:solidFill>
                                <a:srgbClr val="087F83"/>
                              </a:solidFill>
                              <a:latin typeface="Cambria Math"/>
                              <a:ea typeface="Cambria Math"/>
                              <a:cs typeface="Cambria Math"/>
                            </a:rPr>
                            <m:t>−2</m:t>
                          </m:r>
                        </m:e>
                      </m:d>
                    </m:oMath>
                  </m:oMathPara>
                </a14:m>
                <a:endParaRPr lang="en-GB" sz="2700" dirty="0"/>
              </a:p>
            </p:txBody>
          </p:sp>
        </mc:Choice>
        <mc:Fallback xmlns="">
          <p:sp>
            <p:nvSpPr>
              <p:cNvPr id="5" name="equation_1" descr="T(x)=\operatorname{ReLU}(x)-2\operatorname{ReLU}(x-1)+\operatorname{ReLU}(x-2)">
                <a:extLst>
                  <a:ext uri="{FF2B5EF4-FFF2-40B4-BE49-F238E27FC236}">
                    <a16:creationId xmlns:a16="http://schemas.microsoft.com/office/drawing/2014/main" id="{AD4664A8-BF6F-45A2-9A6A-0ADF5366E1A7}"/>
                  </a:ext>
                </a:extLst>
              </p:cNvPr>
              <p:cNvSpPr>
                <a:spLocks noGrp="1" noRot="1" noChangeAspect="1" noMove="1" noResize="1" noEditPoints="1" noAdjustHandles="1" noChangeArrowheads="1" noChangeShapeType="1" noTextEdit="1"/>
              </p:cNvSpPr>
              <p:nvPr/>
            </p:nvSpPr>
            <p:spPr>
              <a:xfrm>
                <a:off x="333375" y="1809750"/>
                <a:ext cx="11525250" cy="809625"/>
              </a:xfrm>
              <a:prstGeom prst="rect">
                <a:avLst/>
              </a:prstGeom>
              <a:blipFill>
                <a:blip r:embed="rId4"/>
                <a:stretch>
                  <a:fillRect/>
                </a:stretch>
              </a:blipFill>
              <a:ln w="0">
                <a:noFill/>
              </a:ln>
            </p:spPr>
            <p:txBody>
              <a:bodyPr/>
              <a:lstStyle/>
              <a:p>
                <a:r>
                  <a:rPr lang="it-IT">
                    <a:noFill/>
                  </a:rPr>
                  <a:t> </a:t>
                </a:r>
              </a:p>
            </p:txBody>
          </p:sp>
        </mc:Fallback>
      </mc:AlternateContent>
      <p:graphicFrame>
        <p:nvGraphicFramePr>
          <p:cNvPr id="18" name="Chart"/>
          <p:cNvGraphicFramePr/>
          <p:nvPr/>
        </p:nvGraphicFramePr>
        <p:xfrm>
          <a:off x="809625" y="2714625"/>
          <a:ext cx="7048500" cy="2952750"/>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text_2">
                <a:extLst>
                  <a:ext uri="{FF2B5EF4-FFF2-40B4-BE49-F238E27FC236}">
                    <a16:creationId xmlns:a16="http://schemas.microsoft.com/office/drawing/2014/main" id="{ABA1D3F4-A5E5-42A9-917E-7EA950A575A3}"/>
                  </a:ext>
                </a:extLst>
              </p:cNvPr>
              <p:cNvSpPr>
                <a:spLocks noGrp="1"/>
              </p:cNvSpPr>
              <p:nvPr/>
            </p:nvSpPr>
            <p:spPr>
              <a:xfrm>
                <a:off x="3829050" y="5520690"/>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14:m>
                  <m:oMathPara xmlns:m="http://schemas.openxmlformats.org/officeDocument/2006/math">
                    <m:oMath>
                      <m:r>
                        <a:rPr lang="it-IT" sz="1650" b="0" i="1" dirty="0" smtClean="0">
                          <a:solidFill>
                            <a:srgbClr val="182D45"/>
                          </a:solidFill>
                          <a:latin typeface="Cambria Math" panose="02040503050406030204" pitchFamily="18" charset="0"/>
                          <a:ea typeface="DejaVu Sans"/>
                          <a:cs typeface="DejaVu Sans"/>
                        </a:rPr>
                        <m:t>𝑥</m:t>
                      </m:r>
                    </m:oMath>
                  </m:oMathPara>
                </a14:m>
                <a:endParaRPr/>
              </a:p>
            </p:txBody>
          </p:sp>
        </mc:Choice>
        <mc:Fallback xmlns="">
          <p:sp>
            <p:nvSpPr>
              <p:cNvPr id="7" name="text_2">
                <a:extLst>
                  <a:ext uri="{FF2B5EF4-FFF2-40B4-BE49-F238E27FC236}">
                    <a16:creationId xmlns:a16="http://schemas.microsoft.com/office/drawing/2014/main" id="{ABA1D3F4-A5E5-42A9-917E-7EA950A575A3}"/>
                  </a:ext>
                </a:extLst>
              </p:cNvPr>
              <p:cNvSpPr>
                <a:spLocks noGrp="1" noRot="1" noChangeAspect="1" noMove="1" noResize="1" noEditPoints="1" noAdjustHandles="1" noChangeArrowheads="1" noChangeShapeType="1" noTextEdit="1"/>
              </p:cNvSpPr>
              <p:nvPr/>
            </p:nvSpPr>
            <p:spPr>
              <a:xfrm>
                <a:off x="3829050" y="5520690"/>
                <a:ext cx="1714500" cy="266700"/>
              </a:xfrm>
              <a:prstGeom prst="rect">
                <a:avLst/>
              </a:prstGeom>
              <a:blipFill>
                <a:blip r:embed="rId6"/>
                <a:stretch>
                  <a:fillRect t="-23256" b="-465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equation_3" descr="\bm W_1=(1,1,1)">
                <a:extLst>
                  <a:ext uri="{FF2B5EF4-FFF2-40B4-BE49-F238E27FC236}">
                    <a16:creationId xmlns:a16="http://schemas.microsoft.com/office/drawing/2014/main" id="{03929139-4668-48A7-A059-B9A4FAAB6AA7}"/>
                  </a:ext>
                </a:extLst>
              </p:cNvPr>
              <p:cNvSpPr>
                <a:spLocks noGrp="1"/>
              </p:cNvSpPr>
              <p:nvPr/>
            </p:nvSpPr>
            <p:spPr>
              <a:xfrm>
                <a:off x="8001000" y="2819400"/>
                <a:ext cx="3571875"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𝐖</m:t>
                          </m:r>
                        </m:e>
                        <m:sub>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m:t>
                      </m:r>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1,1,1</m:t>
                          </m:r>
                        </m:e>
                      </m:d>
                    </m:oMath>
                  </m:oMathPara>
                </a14:m>
                <a:endParaRPr lang="en-GB" sz="2600" dirty="0"/>
              </a:p>
            </p:txBody>
          </p:sp>
        </mc:Choice>
        <mc:Fallback xmlns="">
          <p:sp>
            <p:nvSpPr>
              <p:cNvPr id="8" name="equation_3" descr="\bm W_1=(1,1,1)">
                <a:extLst>
                  <a:ext uri="{FF2B5EF4-FFF2-40B4-BE49-F238E27FC236}">
                    <a16:creationId xmlns:a16="http://schemas.microsoft.com/office/drawing/2014/main" id="{03929139-4668-48A7-A059-B9A4FAAB6AA7}"/>
                  </a:ext>
                </a:extLst>
              </p:cNvPr>
              <p:cNvSpPr>
                <a:spLocks noGrp="1" noRot="1" noChangeAspect="1" noMove="1" noResize="1" noEditPoints="1" noAdjustHandles="1" noChangeArrowheads="1" noChangeShapeType="1" noTextEdit="1"/>
              </p:cNvSpPr>
              <p:nvPr/>
            </p:nvSpPr>
            <p:spPr>
              <a:xfrm>
                <a:off x="8001000" y="2819400"/>
                <a:ext cx="3571875" cy="619125"/>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equation_4" descr="\bm b_1=(0,-1,-2)">
                <a:extLst>
                  <a:ext uri="{FF2B5EF4-FFF2-40B4-BE49-F238E27FC236}">
                    <a16:creationId xmlns:a16="http://schemas.microsoft.com/office/drawing/2014/main" id="{DFB3EF67-1775-451F-9BBB-9A7999945223}"/>
                  </a:ext>
                </a:extLst>
              </p:cNvPr>
              <p:cNvSpPr>
                <a:spLocks noGrp="1"/>
              </p:cNvSpPr>
              <p:nvPr/>
            </p:nvSpPr>
            <p:spPr>
              <a:xfrm>
                <a:off x="7762875" y="3495675"/>
                <a:ext cx="400050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𝐛</m:t>
                          </m:r>
                        </m:e>
                        <m:sub>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m:t>
                      </m:r>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0,−1,−2</m:t>
                          </m:r>
                        </m:e>
                      </m:d>
                    </m:oMath>
                  </m:oMathPara>
                </a14:m>
                <a:endParaRPr lang="en-GB" sz="2600" dirty="0"/>
              </a:p>
            </p:txBody>
          </p:sp>
        </mc:Choice>
        <mc:Fallback xmlns="">
          <p:sp>
            <p:nvSpPr>
              <p:cNvPr id="9" name="equation_4" descr="\bm b_1=(0,-1,-2)">
                <a:extLst>
                  <a:ext uri="{FF2B5EF4-FFF2-40B4-BE49-F238E27FC236}">
                    <a16:creationId xmlns:a16="http://schemas.microsoft.com/office/drawing/2014/main" id="{DFB3EF67-1775-451F-9BBB-9A7999945223}"/>
                  </a:ext>
                </a:extLst>
              </p:cNvPr>
              <p:cNvSpPr>
                <a:spLocks noGrp="1" noRot="1" noChangeAspect="1" noMove="1" noResize="1" noEditPoints="1" noAdjustHandles="1" noChangeArrowheads="1" noChangeShapeType="1" noTextEdit="1"/>
              </p:cNvSpPr>
              <p:nvPr/>
            </p:nvSpPr>
            <p:spPr>
              <a:xfrm>
                <a:off x="7762875" y="3495675"/>
                <a:ext cx="4000500" cy="619125"/>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equation_5" descr="\bm W_2=(1,-2,1)^{\mathsf T}">
                <a:extLst>
                  <a:ext uri="{FF2B5EF4-FFF2-40B4-BE49-F238E27FC236}">
                    <a16:creationId xmlns:a16="http://schemas.microsoft.com/office/drawing/2014/main" id="{47A31589-13ED-44C9-83F2-2E8458E4868F}"/>
                  </a:ext>
                </a:extLst>
              </p:cNvPr>
              <p:cNvSpPr>
                <a:spLocks noGrp="1"/>
              </p:cNvSpPr>
              <p:nvPr/>
            </p:nvSpPr>
            <p:spPr>
              <a:xfrm>
                <a:off x="7715250" y="4171950"/>
                <a:ext cx="4095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𝐖</m:t>
                          </m:r>
                        </m:e>
                        <m:sub>
                          <m:r>
                            <a:rPr lang="en-GB" sz="2600">
                              <a:solidFill>
                                <a:srgbClr val="087F83"/>
                              </a:solidFill>
                              <a:latin typeface="Cambria Math"/>
                              <a:ea typeface="Cambria Math"/>
                              <a:cs typeface="Cambria Math"/>
                            </a:rPr>
                            <m:t>2</m:t>
                          </m:r>
                        </m:sub>
                      </m:sSub>
                      <m:r>
                        <a:rPr lang="en-GB" sz="2600">
                          <a:solidFill>
                            <a:srgbClr val="087F83"/>
                          </a:solidFill>
                          <a:latin typeface="Cambria Math"/>
                          <a:ea typeface="Cambria Math"/>
                          <a:cs typeface="Cambria Math"/>
                        </a:rPr>
                        <m:t>=</m:t>
                      </m:r>
                      <m:sSup>
                        <m:sSupPr>
                          <m:ctrlPr>
                            <a:rPr lang="en-GB" sz="2600" i="1">
                              <a:solidFill>
                                <a:srgbClr val="087F83"/>
                              </a:solidFill>
                              <a:latin typeface="Cambria Math" panose="02040503050406030204" pitchFamily="18" charset="0"/>
                              <a:ea typeface="Cambria Math"/>
                              <a:cs typeface="Cambria Math"/>
                            </a:rPr>
                          </m:ctrlPr>
                        </m:sSupPr>
                        <m:e>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1,−2,1</m:t>
                              </m:r>
                            </m:e>
                          </m:d>
                        </m:e>
                        <m:sup>
                          <m:r>
                            <a:rPr lang="en-GB" sz="2600">
                              <a:solidFill>
                                <a:srgbClr val="087F83"/>
                              </a:solidFill>
                              <a:latin typeface="Cambria Math"/>
                              <a:ea typeface="Cambria Math"/>
                              <a:cs typeface="Cambria Math"/>
                            </a:rPr>
                            <m:t>𝖳</m:t>
                          </m:r>
                        </m:sup>
                      </m:sSup>
                    </m:oMath>
                  </m:oMathPara>
                </a14:m>
                <a:endParaRPr lang="en-GB" sz="2600" dirty="0"/>
              </a:p>
            </p:txBody>
          </p:sp>
        </mc:Choice>
        <mc:Fallback xmlns="">
          <p:sp>
            <p:nvSpPr>
              <p:cNvPr id="10" name="equation_5" descr="\bm W_2=(1,-2,1)^{\mathsf T}">
                <a:extLst>
                  <a:ext uri="{FF2B5EF4-FFF2-40B4-BE49-F238E27FC236}">
                    <a16:creationId xmlns:a16="http://schemas.microsoft.com/office/drawing/2014/main" id="{47A31589-13ED-44C9-83F2-2E8458E4868F}"/>
                  </a:ext>
                </a:extLst>
              </p:cNvPr>
              <p:cNvSpPr>
                <a:spLocks noGrp="1" noRot="1" noChangeAspect="1" noMove="1" noResize="1" noEditPoints="1" noAdjustHandles="1" noChangeArrowheads="1" noChangeShapeType="1" noTextEdit="1"/>
              </p:cNvSpPr>
              <p:nvPr/>
            </p:nvSpPr>
            <p:spPr>
              <a:xfrm>
                <a:off x="7715250" y="4171950"/>
                <a:ext cx="4095750" cy="619125"/>
              </a:xfrm>
              <a:prstGeom prst="rect">
                <a:avLst/>
              </a:prstGeom>
              <a:blipFill>
                <a:blip r:embed="rId9"/>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equation_6" descr="\bm b_2=(0)">
                <a:extLst>
                  <a:ext uri="{FF2B5EF4-FFF2-40B4-BE49-F238E27FC236}">
                    <a16:creationId xmlns:a16="http://schemas.microsoft.com/office/drawing/2014/main" id="{C3FF8616-DB63-4CE2-A875-CE4AA5E66B2C}"/>
                  </a:ext>
                </a:extLst>
              </p:cNvPr>
              <p:cNvSpPr>
                <a:spLocks noGrp="1"/>
              </p:cNvSpPr>
              <p:nvPr/>
            </p:nvSpPr>
            <p:spPr>
              <a:xfrm>
                <a:off x="8001000" y="4848225"/>
                <a:ext cx="3571875"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𝐛</m:t>
                          </m:r>
                        </m:e>
                        <m:sub>
                          <m:r>
                            <a:rPr lang="en-GB" sz="2600">
                              <a:solidFill>
                                <a:srgbClr val="087F83"/>
                              </a:solidFill>
                              <a:latin typeface="Cambria Math"/>
                              <a:ea typeface="Cambria Math"/>
                              <a:cs typeface="Cambria Math"/>
                            </a:rPr>
                            <m:t>2</m:t>
                          </m:r>
                        </m:sub>
                      </m:sSub>
                      <m:r>
                        <a:rPr lang="en-GB" sz="2600">
                          <a:solidFill>
                            <a:srgbClr val="087F83"/>
                          </a:solidFill>
                          <a:latin typeface="Cambria Math"/>
                          <a:ea typeface="Cambria Math"/>
                          <a:cs typeface="Cambria Math"/>
                        </a:rPr>
                        <m:t>=</m:t>
                      </m:r>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0</m:t>
                          </m:r>
                        </m:e>
                      </m:d>
                    </m:oMath>
                  </m:oMathPara>
                </a14:m>
                <a:endParaRPr lang="en-GB" sz="2600" dirty="0"/>
              </a:p>
            </p:txBody>
          </p:sp>
        </mc:Choice>
        <mc:Fallback xmlns="">
          <p:sp>
            <p:nvSpPr>
              <p:cNvPr id="11" name="equation_6" descr="\bm b_2=(0)">
                <a:extLst>
                  <a:ext uri="{FF2B5EF4-FFF2-40B4-BE49-F238E27FC236}">
                    <a16:creationId xmlns:a16="http://schemas.microsoft.com/office/drawing/2014/main" id="{C3FF8616-DB63-4CE2-A875-CE4AA5E66B2C}"/>
                  </a:ext>
                </a:extLst>
              </p:cNvPr>
              <p:cNvSpPr>
                <a:spLocks noGrp="1" noRot="1" noChangeAspect="1" noMove="1" noResize="1" noEditPoints="1" noAdjustHandles="1" noChangeArrowheads="1" noChangeShapeType="1" noTextEdit="1"/>
              </p:cNvSpPr>
              <p:nvPr/>
            </p:nvSpPr>
            <p:spPr>
              <a:xfrm>
                <a:off x="8001000" y="4848225"/>
                <a:ext cx="3571875" cy="619125"/>
              </a:xfrm>
              <a:prstGeom prst="rect">
                <a:avLst/>
              </a:prstGeom>
              <a:blipFill>
                <a:blip r:embed="rId10"/>
                <a:stretch>
                  <a:fillRect/>
                </a:stretch>
              </a:blipFill>
              <a:ln w="0">
                <a:noFill/>
              </a:ln>
            </p:spPr>
            <p:txBody>
              <a:bodyPr/>
              <a:lstStyle/>
              <a:p>
                <a:r>
                  <a:rPr lang="it-IT">
                    <a:noFill/>
                  </a:rPr>
                  <a:t> </a:t>
                </a:r>
              </a:p>
            </p:txBody>
          </p:sp>
        </mc:Fallback>
      </mc:AlternateContent>
      <p:sp>
        <p:nvSpPr>
          <p:cNvPr id="12" name="text_7">
            <a:extLst>
              <a:ext uri="{FF2B5EF4-FFF2-40B4-BE49-F238E27FC236}">
                <a16:creationId xmlns:a16="http://schemas.microsoft.com/office/drawing/2014/main" id="{F948F515-3915-4AA4-A97D-08309582956C}"/>
              </a:ext>
            </a:extLst>
          </p:cNvPr>
          <p:cNvSpPr>
            <a:spLocks noGrp="1"/>
          </p:cNvSpPr>
          <p:nvPr/>
        </p:nvSpPr>
        <p:spPr>
          <a:xfrm>
            <a:off x="571500" y="5905500"/>
            <a:ext cx="11049000" cy="419100"/>
          </a:xfrm>
          <a:prstGeom prst="rect">
            <a:avLst/>
          </a:prstGeom>
          <a:noFill/>
          <a:ln w="0">
            <a:noFill/>
          </a:ln>
        </p:spPr>
        <p:txBody>
          <a:bodyPr anchor="ctr">
            <a:noAutofit/>
          </a:bodyPr>
          <a:lstStyle/>
          <a:p>
            <a:pPr algn="ctr">
              <a:defRPr sz="2025" b="1">
                <a:solidFill>
                  <a:srgbClr val="182D45"/>
                </a:solidFill>
                <a:latin typeface="DejaVu Sans"/>
                <a:ea typeface="DejaVu Sans"/>
                <a:cs typeface="DejaVu Sans"/>
              </a:defRPr>
            </a:pPr>
            <a:r>
              <a:rPr sz="2025" b="1" dirty="0">
                <a:solidFill>
                  <a:srgbClr val="182D45"/>
                </a:solidFill>
                <a:latin typeface="DejaVu Sans"/>
                <a:ea typeface="DejaVu Sans"/>
                <a:cs typeface="DejaVu Sans"/>
              </a:rPr>
              <a:t>The biases place the breakpoints. The output weights change the slopes.</a:t>
            </a:r>
          </a:p>
        </p:txBody>
      </p:sp>
    </p:spTree>
    <p:extLst>
      <p:ext uri="{BB962C8B-B14F-4D97-AF65-F5344CB8AC3E}">
        <p14:creationId xmlns:p14="http://schemas.microsoft.com/office/powerpoint/2010/main" val="5376613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C4E8F6CB-176E-4562-8777-1F5E034A5EBB}"/>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The XOR problem</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290E7BA2-67F5-44B0-A457-13A1D62E843F}"/>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en-GB" sz="2175" b="0" dirty="0">
                    <a:solidFill>
                      <a:srgbClr val="FF0000"/>
                    </a:solidFill>
                    <a:latin typeface="DejaVu Sans"/>
                    <a:ea typeface="DejaVu Sans"/>
                    <a:cs typeface="DejaVu Sans"/>
                  </a:rPr>
                  <a:t>The label is </a:t>
                </a:r>
                <a14:m>
                  <m:oMath xmlns:m="http://schemas.openxmlformats.org/officeDocument/2006/math">
                    <m:r>
                      <a:rPr lang="en-GB" sz="2175" b="0" i="1" dirty="0" smtClean="0">
                        <a:solidFill>
                          <a:srgbClr val="FF0000"/>
                        </a:solidFill>
                        <a:latin typeface="Cambria Math" panose="02040503050406030204" pitchFamily="18" charset="0"/>
                        <a:ea typeface="DejaVu Sans"/>
                        <a:cs typeface="DejaVu Sans"/>
                      </a:rPr>
                      <m:t>1</m:t>
                    </m:r>
                  </m:oMath>
                </a14:m>
                <a:r>
                  <a:rPr lang="en-GB" sz="2175" b="0" dirty="0">
                    <a:solidFill>
                      <a:srgbClr val="FF0000"/>
                    </a:solidFill>
                    <a:latin typeface="DejaVu Sans"/>
                    <a:ea typeface="DejaVu Sans"/>
                    <a:cs typeface="DejaVu Sans"/>
                  </a:rPr>
                  <a:t> when exactly one input coordinate is </a:t>
                </a:r>
                <a14:m>
                  <m:oMath xmlns:m="http://schemas.openxmlformats.org/officeDocument/2006/math">
                    <m:r>
                      <a:rPr lang="en-GB" sz="2175" b="0" i="1" dirty="0" smtClean="0">
                        <a:solidFill>
                          <a:srgbClr val="FF0000"/>
                        </a:solidFill>
                        <a:latin typeface="Cambria Math" panose="02040503050406030204" pitchFamily="18" charset="0"/>
                        <a:ea typeface="DejaVu Sans"/>
                        <a:cs typeface="DejaVu Sans"/>
                      </a:rPr>
                      <m:t>1</m:t>
                    </m:r>
                  </m:oMath>
                </a14:m>
                <a:r>
                  <a:rPr lang="en-GB" sz="2175" b="0" dirty="0">
                    <a:solidFill>
                      <a:srgbClr val="FF0000"/>
                    </a:solidFill>
                    <a:latin typeface="DejaVu Sans"/>
                    <a:ea typeface="DejaVu Sans"/>
                    <a:cs typeface="DejaVu Sans"/>
                  </a:rPr>
                  <a:t>.</a:t>
                </a:r>
              </a:p>
            </p:txBody>
          </p:sp>
        </mc:Choice>
        <mc:Fallback xmlns="">
          <p:sp>
            <p:nvSpPr>
              <p:cNvPr id="2" name="lead">
                <a:extLst>
                  <a:ext uri="{FF2B5EF4-FFF2-40B4-BE49-F238E27FC236}">
                    <a16:creationId xmlns:a16="http://schemas.microsoft.com/office/drawing/2014/main" id="{290E7BA2-67F5-44B0-A457-13A1D62E843F}"/>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5A4705DB-0F88-411B-8F0A-13EE47A927ED}"/>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6CA43364-43B8-4731-A942-EE009D673CAF}"/>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30</a:t>
            </a:r>
          </a:p>
        </p:txBody>
      </p:sp>
      <p:graphicFrame>
        <p:nvGraphicFramePr>
          <p:cNvPr id="14" name="Chart"/>
          <p:cNvGraphicFramePr/>
          <p:nvPr/>
        </p:nvGraphicFramePr>
        <p:xfrm>
          <a:off x="619125" y="2009775"/>
          <a:ext cx="6381750" cy="352425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_1">
            <a:extLst>
              <a:ext uri="{FF2B5EF4-FFF2-40B4-BE49-F238E27FC236}">
                <a16:creationId xmlns:a16="http://schemas.microsoft.com/office/drawing/2014/main" id="{1F38A619-A975-44F7-BD95-2A91634D19F5}"/>
              </a:ext>
            </a:extLst>
          </p:cNvPr>
          <p:cNvSpPr>
            <a:spLocks noGrp="1"/>
          </p:cNvSpPr>
          <p:nvPr/>
        </p:nvSpPr>
        <p:spPr>
          <a:xfrm>
            <a:off x="3271838" y="5307330"/>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r>
              <a:rPr sz="1650" b="0" dirty="0">
                <a:solidFill>
                  <a:srgbClr val="182D45"/>
                </a:solidFill>
                <a:latin typeface="DejaVu Sans"/>
                <a:ea typeface="DejaVu Sans"/>
                <a:cs typeface="DejaVu Sans"/>
              </a:rPr>
              <a:t>x₁</a:t>
            </a:r>
          </a:p>
        </p:txBody>
      </p:sp>
      <mc:AlternateContent xmlns:mc="http://schemas.openxmlformats.org/markup-compatibility/2006" xmlns:a14="http://schemas.microsoft.com/office/drawing/2010/main">
        <mc:Choice Requires="a14">
          <p:sp>
            <p:nvSpPr>
              <p:cNvPr id="7" name="equation_2" descr="(0,0)\mapsto0,\quad(1,1)\mapsto0">
                <a:extLst>
                  <a:ext uri="{FF2B5EF4-FFF2-40B4-BE49-F238E27FC236}">
                    <a16:creationId xmlns:a16="http://schemas.microsoft.com/office/drawing/2014/main" id="{FA78C8CE-2D44-4C2F-BFC7-0E4421EE09E7}"/>
                  </a:ext>
                </a:extLst>
              </p:cNvPr>
              <p:cNvSpPr>
                <a:spLocks noGrp="1"/>
              </p:cNvSpPr>
              <p:nvPr/>
            </p:nvSpPr>
            <p:spPr>
              <a:xfrm>
                <a:off x="7191375" y="2562225"/>
                <a:ext cx="438150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600">
                              <a:solidFill>
                                <a:srgbClr val="326CB2"/>
                              </a:solidFill>
                              <a:latin typeface="Cambria Math"/>
                              <a:ea typeface="Cambria Math"/>
                              <a:cs typeface="Cambria Math"/>
                            </a:rPr>
                          </m:ctrlPr>
                        </m:dPr>
                        <m:e>
                          <m:r>
                            <a:rPr lang="en-GB" sz="2600">
                              <a:solidFill>
                                <a:srgbClr val="326CB2"/>
                              </a:solidFill>
                              <a:latin typeface="Cambria Math"/>
                              <a:ea typeface="Cambria Math"/>
                              <a:cs typeface="Cambria Math"/>
                            </a:rPr>
                            <m:t>0,0</m:t>
                          </m:r>
                        </m:e>
                      </m:d>
                      <m:r>
                        <a:rPr lang="en-GB" sz="2600">
                          <a:solidFill>
                            <a:srgbClr val="326CB2"/>
                          </a:solidFill>
                          <a:latin typeface="Cambria Math"/>
                          <a:ea typeface="Cambria Math"/>
                          <a:cs typeface="Cambria Math"/>
                        </a:rPr>
                        <m:t>↦0, </m:t>
                      </m:r>
                      <m:d>
                        <m:dPr>
                          <m:ctrlPr>
                            <a:rPr lang="en-GB" sz="2600">
                              <a:solidFill>
                                <a:srgbClr val="326CB2"/>
                              </a:solidFill>
                              <a:latin typeface="Cambria Math"/>
                              <a:ea typeface="Cambria Math"/>
                              <a:cs typeface="Cambria Math"/>
                            </a:rPr>
                          </m:ctrlPr>
                        </m:dPr>
                        <m:e>
                          <m:r>
                            <a:rPr lang="en-GB" sz="2600">
                              <a:solidFill>
                                <a:srgbClr val="326CB2"/>
                              </a:solidFill>
                              <a:latin typeface="Cambria Math"/>
                              <a:ea typeface="Cambria Math"/>
                              <a:cs typeface="Cambria Math"/>
                            </a:rPr>
                            <m:t>1,1</m:t>
                          </m:r>
                        </m:e>
                      </m:d>
                      <m:r>
                        <a:rPr lang="en-GB" sz="2600">
                          <a:solidFill>
                            <a:srgbClr val="326CB2"/>
                          </a:solidFill>
                          <a:latin typeface="Cambria Math"/>
                          <a:ea typeface="Cambria Math"/>
                          <a:cs typeface="Cambria Math"/>
                        </a:rPr>
                        <m:t>↦0</m:t>
                      </m:r>
                    </m:oMath>
                  </m:oMathPara>
                </a14:m>
                <a:endParaRPr lang="en-GB" sz="2600" dirty="0"/>
              </a:p>
            </p:txBody>
          </p:sp>
        </mc:Choice>
        <mc:Fallback xmlns="">
          <p:sp>
            <p:nvSpPr>
              <p:cNvPr id="7" name="equation_2" descr="(0,0)\mapsto0,\quad(1,1)\mapsto0">
                <a:extLst>
                  <a:ext uri="{FF2B5EF4-FFF2-40B4-BE49-F238E27FC236}">
                    <a16:creationId xmlns:a16="http://schemas.microsoft.com/office/drawing/2014/main" id="{FA78C8CE-2D44-4C2F-BFC7-0E4421EE09E7}"/>
                  </a:ext>
                </a:extLst>
              </p:cNvPr>
              <p:cNvSpPr>
                <a:spLocks noGrp="1" noRot="1" noChangeAspect="1" noMove="1" noResize="1" noEditPoints="1" noAdjustHandles="1" noChangeArrowheads="1" noChangeShapeType="1" noTextEdit="1"/>
              </p:cNvSpPr>
              <p:nvPr/>
            </p:nvSpPr>
            <p:spPr>
              <a:xfrm>
                <a:off x="7191375" y="2562225"/>
                <a:ext cx="4381500" cy="7620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equation_3" descr="(1,0)\mapsto1,\quad(0,1)\mapsto1">
                <a:extLst>
                  <a:ext uri="{FF2B5EF4-FFF2-40B4-BE49-F238E27FC236}">
                    <a16:creationId xmlns:a16="http://schemas.microsoft.com/office/drawing/2014/main" id="{EA3C9706-566D-4B88-948D-6921A7B9EBA8}"/>
                  </a:ext>
                </a:extLst>
              </p:cNvPr>
              <p:cNvSpPr>
                <a:spLocks noGrp="1"/>
              </p:cNvSpPr>
              <p:nvPr/>
            </p:nvSpPr>
            <p:spPr>
              <a:xfrm>
                <a:off x="7191375" y="3781425"/>
                <a:ext cx="438150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600">
                              <a:solidFill>
                                <a:srgbClr val="C45C28"/>
                              </a:solidFill>
                              <a:latin typeface="Cambria Math"/>
                              <a:ea typeface="Cambria Math"/>
                              <a:cs typeface="Cambria Math"/>
                            </a:rPr>
                          </m:ctrlPr>
                        </m:dPr>
                        <m:e>
                          <m:r>
                            <a:rPr lang="en-GB" sz="2600">
                              <a:solidFill>
                                <a:srgbClr val="C45C28"/>
                              </a:solidFill>
                              <a:latin typeface="Cambria Math"/>
                              <a:ea typeface="Cambria Math"/>
                              <a:cs typeface="Cambria Math"/>
                            </a:rPr>
                            <m:t>1,0</m:t>
                          </m:r>
                        </m:e>
                      </m:d>
                      <m:r>
                        <a:rPr lang="en-GB" sz="2600">
                          <a:solidFill>
                            <a:srgbClr val="C45C28"/>
                          </a:solidFill>
                          <a:latin typeface="Cambria Math"/>
                          <a:ea typeface="Cambria Math"/>
                          <a:cs typeface="Cambria Math"/>
                        </a:rPr>
                        <m:t>↦1, </m:t>
                      </m:r>
                      <m:d>
                        <m:dPr>
                          <m:ctrlPr>
                            <a:rPr lang="en-GB" sz="2600">
                              <a:solidFill>
                                <a:srgbClr val="C45C28"/>
                              </a:solidFill>
                              <a:latin typeface="Cambria Math"/>
                              <a:ea typeface="Cambria Math"/>
                              <a:cs typeface="Cambria Math"/>
                            </a:rPr>
                          </m:ctrlPr>
                        </m:dPr>
                        <m:e>
                          <m:r>
                            <a:rPr lang="en-GB" sz="2600">
                              <a:solidFill>
                                <a:srgbClr val="C45C28"/>
                              </a:solidFill>
                              <a:latin typeface="Cambria Math"/>
                              <a:ea typeface="Cambria Math"/>
                              <a:cs typeface="Cambria Math"/>
                            </a:rPr>
                            <m:t>0,1</m:t>
                          </m:r>
                        </m:e>
                      </m:d>
                      <m:r>
                        <a:rPr lang="en-GB" sz="2600">
                          <a:solidFill>
                            <a:srgbClr val="C45C28"/>
                          </a:solidFill>
                          <a:latin typeface="Cambria Math"/>
                          <a:ea typeface="Cambria Math"/>
                          <a:cs typeface="Cambria Math"/>
                        </a:rPr>
                        <m:t>↦1</m:t>
                      </m:r>
                    </m:oMath>
                  </m:oMathPara>
                </a14:m>
                <a:endParaRPr lang="en-GB" sz="2600" dirty="0"/>
              </a:p>
            </p:txBody>
          </p:sp>
        </mc:Choice>
        <mc:Fallback xmlns="">
          <p:sp>
            <p:nvSpPr>
              <p:cNvPr id="8" name="equation_3" descr="(1,0)\mapsto1,\quad(0,1)\mapsto1">
                <a:extLst>
                  <a:ext uri="{FF2B5EF4-FFF2-40B4-BE49-F238E27FC236}">
                    <a16:creationId xmlns:a16="http://schemas.microsoft.com/office/drawing/2014/main" id="{EA3C9706-566D-4B88-948D-6921A7B9EBA8}"/>
                  </a:ext>
                </a:extLst>
              </p:cNvPr>
              <p:cNvSpPr>
                <a:spLocks noGrp="1" noRot="1" noChangeAspect="1" noMove="1" noResize="1" noEditPoints="1" noAdjustHandles="1" noChangeArrowheads="1" noChangeShapeType="1" noTextEdit="1"/>
              </p:cNvSpPr>
              <p:nvPr/>
            </p:nvSpPr>
            <p:spPr>
              <a:xfrm>
                <a:off x="7191375" y="3781425"/>
                <a:ext cx="4381500" cy="762000"/>
              </a:xfrm>
              <a:prstGeom prst="rect">
                <a:avLst/>
              </a:prstGeom>
              <a:blipFill>
                <a:blip r:embed="rId6"/>
                <a:stretch>
                  <a:fillRect/>
                </a:stretch>
              </a:blipFill>
              <a:ln w="0">
                <a:noFill/>
              </a:ln>
            </p:spPr>
            <p:txBody>
              <a:bodyPr/>
              <a:lstStyle/>
              <a:p>
                <a:r>
                  <a:rPr lang="it-IT">
                    <a:noFill/>
                  </a:rPr>
                  <a:t> </a:t>
                </a:r>
              </a:p>
            </p:txBody>
          </p:sp>
        </mc:Fallback>
      </mc:AlternateContent>
      <p:sp>
        <p:nvSpPr>
          <p:cNvPr id="9" name="text_4">
            <a:extLst>
              <a:ext uri="{FF2B5EF4-FFF2-40B4-BE49-F238E27FC236}">
                <a16:creationId xmlns:a16="http://schemas.microsoft.com/office/drawing/2014/main" id="{C8534DC2-45AF-4151-B1C7-FD420C9C0A3A}"/>
              </a:ext>
            </a:extLst>
          </p:cNvPr>
          <p:cNvSpPr>
            <a:spLocks noGrp="1"/>
          </p:cNvSpPr>
          <p:nvPr/>
        </p:nvSpPr>
        <p:spPr>
          <a:xfrm>
            <a:off x="571500" y="5876925"/>
            <a:ext cx="11049000" cy="5048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Can one </a:t>
            </a:r>
            <a:r>
              <a:rPr lang="it-IT" sz="2100" b="1" dirty="0" err="1">
                <a:solidFill>
                  <a:srgbClr val="182D45"/>
                </a:solidFill>
                <a:latin typeface="DejaVu Sans"/>
                <a:ea typeface="DejaVu Sans"/>
                <a:cs typeface="DejaVu Sans"/>
              </a:rPr>
              <a:t>straight</a:t>
            </a:r>
            <a:r>
              <a:rPr lang="it-IT" sz="2100" b="1" dirty="0">
                <a:solidFill>
                  <a:srgbClr val="182D45"/>
                </a:solidFill>
                <a:latin typeface="DejaVu Sans"/>
                <a:ea typeface="DejaVu Sans"/>
                <a:cs typeface="DejaVu Sans"/>
              </a:rPr>
              <a:t>-line</a:t>
            </a:r>
            <a:r>
              <a:rPr sz="2100" b="1" dirty="0">
                <a:solidFill>
                  <a:srgbClr val="182D45"/>
                </a:solidFill>
                <a:latin typeface="DejaVu Sans"/>
                <a:ea typeface="DejaVu Sans"/>
                <a:cs typeface="DejaVu Sans"/>
              </a:rPr>
              <a:t> decision boundary classify all four observations?</a:t>
            </a:r>
          </a:p>
        </p:txBody>
      </p:sp>
    </p:spTree>
    <p:extLst>
      <p:ext uri="{BB962C8B-B14F-4D97-AF65-F5344CB8AC3E}">
        <p14:creationId xmlns:p14="http://schemas.microsoft.com/office/powerpoint/2010/main" val="7308010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7C48A179-B461-4D4A-85E5-0DB3B4C837B4}"/>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Why an affine score cannot solve XOR</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816028C0-7B27-4697-BBFB-676D5793E7A8}"/>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The score must be positive for class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1</m:t>
                    </m:r>
                  </m:oMath>
                </a14:m>
                <a:r>
                  <a:rPr sz="2175" b="0" dirty="0">
                    <a:solidFill>
                      <a:srgbClr val="526276"/>
                    </a:solidFill>
                    <a:latin typeface="DejaVu Sans"/>
                    <a:ea typeface="DejaVu Sans"/>
                    <a:cs typeface="DejaVu Sans"/>
                  </a:rPr>
                  <a:t> and nonpositive for class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0</m:t>
                    </m:r>
                  </m:oMath>
                </a14:m>
                <a:r>
                  <a:rPr sz="2175" b="0" dirty="0">
                    <a:solidFill>
                      <a:srgbClr val="526276"/>
                    </a:solidFill>
                    <a:latin typeface="DejaVu Sans"/>
                    <a:ea typeface="DejaVu Sans"/>
                    <a:cs typeface="DejaVu Sans"/>
                  </a:rPr>
                  <a:t>.</a:t>
                </a:r>
              </a:p>
            </p:txBody>
          </p:sp>
        </mc:Choice>
        <mc:Fallback xmlns="">
          <p:sp>
            <p:nvSpPr>
              <p:cNvPr id="2" name="lead">
                <a:extLst>
                  <a:ext uri="{FF2B5EF4-FFF2-40B4-BE49-F238E27FC236}">
                    <a16:creationId xmlns:a16="http://schemas.microsoft.com/office/drawing/2014/main" id="{816028C0-7B27-4697-BBFB-676D5793E7A8}"/>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3E47C4BD-81EF-45C0-8C49-E0E1B58753C5}"/>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AD363AF3-9DFF-441B-8215-69DAFC32E3AC}"/>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31</a:t>
            </a:r>
          </a:p>
        </p:txBody>
      </p:sp>
      <mc:AlternateContent xmlns:mc="http://schemas.openxmlformats.org/markup-compatibility/2006" xmlns:a14="http://schemas.microsoft.com/office/drawing/2010/main">
        <mc:Choice Requires="a14">
          <p:sp>
            <p:nvSpPr>
              <p:cNvPr id="5" name="equation_1" descr="s(\mathbf{x})=b+w_1x_1+w_2x_2">
                <a:extLst>
                  <a:ext uri="{FF2B5EF4-FFF2-40B4-BE49-F238E27FC236}">
                    <a16:creationId xmlns:a16="http://schemas.microsoft.com/office/drawing/2014/main" id="{653E478E-D162-4ED1-B520-7268FFA94AC5}"/>
                  </a:ext>
                </a:extLst>
              </p:cNvPr>
              <p:cNvSpPr>
                <a:spLocks noGrp="1"/>
              </p:cNvSpPr>
              <p:nvPr/>
            </p:nvSpPr>
            <p:spPr>
              <a:xfrm>
                <a:off x="666750" y="1895475"/>
                <a:ext cx="1085850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200" smtClean="0">
                          <a:solidFill>
                            <a:srgbClr val="087F83"/>
                          </a:solidFill>
                          <a:latin typeface="Cambria Math"/>
                          <a:ea typeface="Cambria Math"/>
                          <a:cs typeface="Cambria Math"/>
                        </a:rPr>
                        <m:t>𝑠</m:t>
                      </m:r>
                      <m:d>
                        <m:dPr>
                          <m:ctrlPr>
                            <a:rPr lang="en-GB" sz="3200">
                              <a:solidFill>
                                <a:srgbClr val="087F83"/>
                              </a:solidFill>
                              <a:latin typeface="Cambria Math"/>
                              <a:ea typeface="Cambria Math"/>
                              <a:cs typeface="Cambria Math"/>
                            </a:rPr>
                          </m:ctrlPr>
                        </m:dPr>
                        <m:e>
                          <m:r>
                            <a:rPr lang="en-GB" sz="3200">
                              <a:solidFill>
                                <a:srgbClr val="087F83"/>
                              </a:solidFill>
                              <a:latin typeface="Cambria Math"/>
                              <a:ea typeface="Cambria Math"/>
                              <a:cs typeface="Cambria Math"/>
                            </a:rPr>
                            <m:t>𝐱</m:t>
                          </m:r>
                        </m:e>
                      </m:d>
                      <m:r>
                        <a:rPr lang="en-GB" sz="3200">
                          <a:solidFill>
                            <a:srgbClr val="087F83"/>
                          </a:solidFill>
                          <a:latin typeface="Cambria Math"/>
                          <a:ea typeface="Cambria Math"/>
                          <a:cs typeface="Cambria Math"/>
                        </a:rPr>
                        <m:t>=</m:t>
                      </m:r>
                      <m:r>
                        <a:rPr lang="en-GB" sz="3200">
                          <a:solidFill>
                            <a:srgbClr val="087F83"/>
                          </a:solidFill>
                          <a:latin typeface="Cambria Math"/>
                          <a:ea typeface="Cambria Math"/>
                          <a:cs typeface="Cambria Math"/>
                        </a:rPr>
                        <m:t>𝑏</m:t>
                      </m:r>
                      <m:r>
                        <a:rPr lang="en-GB" sz="3200">
                          <a:solidFill>
                            <a:srgbClr val="087F83"/>
                          </a:solidFill>
                          <a:latin typeface="Cambria Math"/>
                          <a:ea typeface="Cambria Math"/>
                          <a:cs typeface="Cambria Math"/>
                        </a:rPr>
                        <m:t>+</m:t>
                      </m:r>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𝑤</m:t>
                          </m:r>
                        </m:e>
                        <m:sub>
                          <m:r>
                            <a:rPr lang="en-GB" sz="3200">
                              <a:solidFill>
                                <a:srgbClr val="087F83"/>
                              </a:solidFill>
                              <a:latin typeface="Cambria Math"/>
                              <a:ea typeface="Cambria Math"/>
                              <a:cs typeface="Cambria Math"/>
                            </a:rPr>
                            <m:t>1</m:t>
                          </m:r>
                        </m:sub>
                      </m:sSub>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𝑥</m:t>
                          </m:r>
                        </m:e>
                        <m:sub>
                          <m:r>
                            <a:rPr lang="en-GB" sz="3200">
                              <a:solidFill>
                                <a:srgbClr val="087F83"/>
                              </a:solidFill>
                              <a:latin typeface="Cambria Math"/>
                              <a:ea typeface="Cambria Math"/>
                              <a:cs typeface="Cambria Math"/>
                            </a:rPr>
                            <m:t>1</m:t>
                          </m:r>
                        </m:sub>
                      </m:sSub>
                      <m:r>
                        <a:rPr lang="en-GB" sz="3200">
                          <a:solidFill>
                            <a:srgbClr val="087F83"/>
                          </a:solidFill>
                          <a:latin typeface="Cambria Math"/>
                          <a:ea typeface="Cambria Math"/>
                          <a:cs typeface="Cambria Math"/>
                        </a:rPr>
                        <m:t>+</m:t>
                      </m:r>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𝑤</m:t>
                          </m:r>
                        </m:e>
                        <m:sub>
                          <m:r>
                            <a:rPr lang="en-GB" sz="3200">
                              <a:solidFill>
                                <a:srgbClr val="087F83"/>
                              </a:solidFill>
                              <a:latin typeface="Cambria Math"/>
                              <a:ea typeface="Cambria Math"/>
                              <a:cs typeface="Cambria Math"/>
                            </a:rPr>
                            <m:t>2</m:t>
                          </m:r>
                        </m:sub>
                      </m:sSub>
                      <m:sSub>
                        <m:sSubPr>
                          <m:ctrlPr>
                            <a:rPr lang="en-GB" sz="3200">
                              <a:solidFill>
                                <a:srgbClr val="087F83"/>
                              </a:solidFill>
                              <a:latin typeface="Cambria Math"/>
                              <a:ea typeface="Cambria Math"/>
                              <a:cs typeface="Cambria Math"/>
                            </a:rPr>
                          </m:ctrlPr>
                        </m:sSubPr>
                        <m:e>
                          <m:r>
                            <a:rPr lang="en-GB" sz="3200">
                              <a:solidFill>
                                <a:srgbClr val="087F83"/>
                              </a:solidFill>
                              <a:latin typeface="Cambria Math"/>
                              <a:ea typeface="Cambria Math"/>
                              <a:cs typeface="Cambria Math"/>
                            </a:rPr>
                            <m:t>𝑥</m:t>
                          </m:r>
                        </m:e>
                        <m:sub>
                          <m:r>
                            <a:rPr lang="en-GB" sz="3200">
                              <a:solidFill>
                                <a:srgbClr val="087F83"/>
                              </a:solidFill>
                              <a:latin typeface="Cambria Math"/>
                              <a:ea typeface="Cambria Math"/>
                              <a:cs typeface="Cambria Math"/>
                            </a:rPr>
                            <m:t>2</m:t>
                          </m:r>
                        </m:sub>
                      </m:sSub>
                    </m:oMath>
                  </m:oMathPara>
                </a14:m>
                <a:endParaRPr lang="en-GB" sz="3200" dirty="0"/>
              </a:p>
            </p:txBody>
          </p:sp>
        </mc:Choice>
        <mc:Fallback xmlns="">
          <p:sp>
            <p:nvSpPr>
              <p:cNvPr id="5" name="equation_1" descr="s(\mathbf{x})=b+w_1x_1+w_2x_2">
                <a:extLst>
                  <a:ext uri="{FF2B5EF4-FFF2-40B4-BE49-F238E27FC236}">
                    <a16:creationId xmlns:a16="http://schemas.microsoft.com/office/drawing/2014/main" id="{653E478E-D162-4ED1-B520-7268FFA94AC5}"/>
                  </a:ext>
                </a:extLst>
              </p:cNvPr>
              <p:cNvSpPr>
                <a:spLocks noGrp="1" noRot="1" noChangeAspect="1" noMove="1" noResize="1" noEditPoints="1" noAdjustHandles="1" noChangeArrowheads="1" noChangeShapeType="1" noTextEdit="1"/>
              </p:cNvSpPr>
              <p:nvPr/>
            </p:nvSpPr>
            <p:spPr>
              <a:xfrm>
                <a:off x="666750" y="1895475"/>
                <a:ext cx="10858500" cy="714375"/>
              </a:xfrm>
              <a:prstGeom prst="rect">
                <a:avLst/>
              </a:prstGeom>
              <a:blipFill>
                <a:blip r:embed="rId4"/>
                <a:stretch>
                  <a:fillRect/>
                </a:stretch>
              </a:blipFill>
              <a:ln w="0">
                <a:noFill/>
              </a:ln>
            </p:spPr>
            <p:txBody>
              <a:bodyPr/>
              <a:lstStyle/>
              <a:p>
                <a:r>
                  <a:rPr lang="it-IT">
                    <a:noFill/>
                  </a:rPr>
                  <a:t> </a:t>
                </a:r>
              </a:p>
            </p:txBody>
          </p:sp>
        </mc:Fallback>
      </mc:AlternateContent>
      <p:sp>
        <p:nvSpPr>
          <p:cNvPr id="6" name="text_2">
            <a:extLst>
              <a:ext uri="{FF2B5EF4-FFF2-40B4-BE49-F238E27FC236}">
                <a16:creationId xmlns:a16="http://schemas.microsoft.com/office/drawing/2014/main" id="{92D40FE2-FF44-4FC9-BD56-CB7C3AD34551}"/>
              </a:ext>
            </a:extLst>
          </p:cNvPr>
          <p:cNvSpPr>
            <a:spLocks noGrp="1"/>
          </p:cNvSpPr>
          <p:nvPr/>
        </p:nvSpPr>
        <p:spPr>
          <a:xfrm>
            <a:off x="619125" y="2876550"/>
            <a:ext cx="5143500" cy="476250"/>
          </a:xfrm>
          <a:prstGeom prst="rect">
            <a:avLst/>
          </a:prstGeom>
          <a:noFill/>
          <a:ln w="0">
            <a:noFill/>
          </a:ln>
        </p:spPr>
        <p:txBody>
          <a:bodyPr anchor="ctr">
            <a:noAutofit/>
          </a:bodyPr>
          <a:lstStyle/>
          <a:p>
            <a:pPr algn="ctr">
              <a:defRPr sz="2100" b="1">
                <a:solidFill>
                  <a:srgbClr val="326CB2"/>
                </a:solidFill>
                <a:latin typeface="DejaVu Sans"/>
                <a:ea typeface="DejaVu Sans"/>
                <a:cs typeface="DejaVu Sans"/>
              </a:defRPr>
            </a:pPr>
            <a:r>
              <a:rPr sz="2100" b="1">
                <a:solidFill>
                  <a:srgbClr val="326CB2"/>
                </a:solidFill>
                <a:latin typeface="DejaVu Sans"/>
                <a:ea typeface="DejaVu Sans"/>
                <a:cs typeface="DejaVu Sans"/>
              </a:rPr>
              <a:t>Class 0 observations</a:t>
            </a:r>
          </a:p>
        </p:txBody>
      </p:sp>
      <p:sp>
        <p:nvSpPr>
          <p:cNvPr id="7" name="text_3">
            <a:extLst>
              <a:ext uri="{FF2B5EF4-FFF2-40B4-BE49-F238E27FC236}">
                <a16:creationId xmlns:a16="http://schemas.microsoft.com/office/drawing/2014/main" id="{035526B1-DA0F-4E82-B952-3D5604CA4205}"/>
              </a:ext>
            </a:extLst>
          </p:cNvPr>
          <p:cNvSpPr>
            <a:spLocks noGrp="1"/>
          </p:cNvSpPr>
          <p:nvPr/>
        </p:nvSpPr>
        <p:spPr>
          <a:xfrm>
            <a:off x="6429375" y="2876550"/>
            <a:ext cx="5143500" cy="476250"/>
          </a:xfrm>
          <a:prstGeom prst="rect">
            <a:avLst/>
          </a:prstGeom>
          <a:noFill/>
          <a:ln w="0">
            <a:noFill/>
          </a:ln>
        </p:spPr>
        <p:txBody>
          <a:bodyPr anchor="ctr">
            <a:noAutofit/>
          </a:bodyPr>
          <a:lstStyle/>
          <a:p>
            <a:pPr algn="ctr">
              <a:defRPr sz="2100" b="1">
                <a:solidFill>
                  <a:srgbClr val="C45C28"/>
                </a:solidFill>
                <a:latin typeface="DejaVu Sans"/>
                <a:ea typeface="DejaVu Sans"/>
                <a:cs typeface="DejaVu Sans"/>
              </a:defRPr>
            </a:pPr>
            <a:r>
              <a:rPr sz="2100" b="1">
                <a:solidFill>
                  <a:srgbClr val="C45C28"/>
                </a:solidFill>
                <a:latin typeface="DejaVu Sans"/>
                <a:ea typeface="DejaVu Sans"/>
                <a:cs typeface="DejaVu Sans"/>
              </a:rPr>
              <a:t>Class 1 observations</a:t>
            </a:r>
          </a:p>
        </p:txBody>
      </p:sp>
      <mc:AlternateContent xmlns:mc="http://schemas.openxmlformats.org/markup-compatibility/2006" xmlns:a14="http://schemas.microsoft.com/office/drawing/2010/main">
        <mc:Choice Requires="a14">
          <p:sp>
            <p:nvSpPr>
              <p:cNvPr id="8" name="equation_4" descr="b\leq0,\qquad b+w_1+w_2\leq0">
                <a:extLst>
                  <a:ext uri="{FF2B5EF4-FFF2-40B4-BE49-F238E27FC236}">
                    <a16:creationId xmlns:a16="http://schemas.microsoft.com/office/drawing/2014/main" id="{7E5319D7-00E7-4360-A52F-EB2C926622E5}"/>
                  </a:ext>
                </a:extLst>
              </p:cNvPr>
              <p:cNvSpPr>
                <a:spLocks noGrp="1"/>
              </p:cNvSpPr>
              <p:nvPr/>
            </p:nvSpPr>
            <p:spPr>
              <a:xfrm>
                <a:off x="428625" y="3524250"/>
                <a:ext cx="542925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800">
                          <a:solidFill>
                            <a:srgbClr val="326CB2"/>
                          </a:solidFill>
                          <a:latin typeface="Cambria Math"/>
                          <a:ea typeface="Cambria Math"/>
                          <a:cs typeface="Cambria Math"/>
                        </a:rPr>
                        <m:t>𝑏</m:t>
                      </m:r>
                      <m:r>
                        <a:rPr lang="en-GB" sz="2800">
                          <a:solidFill>
                            <a:srgbClr val="326CB2"/>
                          </a:solidFill>
                          <a:latin typeface="Cambria Math"/>
                          <a:ea typeface="Cambria Math"/>
                          <a:cs typeface="Cambria Math"/>
                        </a:rPr>
                        <m:t>≤0,  </m:t>
                      </m:r>
                      <m:r>
                        <a:rPr lang="en-GB" sz="2800">
                          <a:solidFill>
                            <a:srgbClr val="326CB2"/>
                          </a:solidFill>
                          <a:latin typeface="Cambria Math"/>
                          <a:ea typeface="Cambria Math"/>
                          <a:cs typeface="Cambria Math"/>
                        </a:rPr>
                        <m:t>𝑏</m:t>
                      </m:r>
                      <m:r>
                        <a:rPr lang="en-GB" sz="2800">
                          <a:solidFill>
                            <a:srgbClr val="326CB2"/>
                          </a:solidFill>
                          <a:latin typeface="Cambria Math"/>
                          <a:ea typeface="Cambria Math"/>
                          <a:cs typeface="Cambria Math"/>
                        </a:rPr>
                        <m:t>+</m:t>
                      </m:r>
                      <m:sSub>
                        <m:sSubPr>
                          <m:ctrlPr>
                            <a:rPr lang="en-GB" sz="2800">
                              <a:solidFill>
                                <a:srgbClr val="326CB2"/>
                              </a:solidFill>
                              <a:latin typeface="Cambria Math"/>
                              <a:ea typeface="Cambria Math"/>
                              <a:cs typeface="Cambria Math"/>
                            </a:rPr>
                          </m:ctrlPr>
                        </m:sSubPr>
                        <m:e>
                          <m:r>
                            <a:rPr lang="en-GB" sz="2800">
                              <a:solidFill>
                                <a:srgbClr val="326CB2"/>
                              </a:solidFill>
                              <a:latin typeface="Cambria Math"/>
                              <a:ea typeface="Cambria Math"/>
                              <a:cs typeface="Cambria Math"/>
                            </a:rPr>
                            <m:t>𝑤</m:t>
                          </m:r>
                        </m:e>
                        <m:sub>
                          <m:r>
                            <a:rPr lang="en-GB" sz="2800">
                              <a:solidFill>
                                <a:srgbClr val="326CB2"/>
                              </a:solidFill>
                              <a:latin typeface="Cambria Math"/>
                              <a:ea typeface="Cambria Math"/>
                              <a:cs typeface="Cambria Math"/>
                            </a:rPr>
                            <m:t>1</m:t>
                          </m:r>
                        </m:sub>
                      </m:sSub>
                      <m:r>
                        <a:rPr lang="en-GB" sz="2800">
                          <a:solidFill>
                            <a:srgbClr val="326CB2"/>
                          </a:solidFill>
                          <a:latin typeface="Cambria Math"/>
                          <a:ea typeface="Cambria Math"/>
                          <a:cs typeface="Cambria Math"/>
                        </a:rPr>
                        <m:t>+</m:t>
                      </m:r>
                      <m:sSub>
                        <m:sSubPr>
                          <m:ctrlPr>
                            <a:rPr lang="en-GB" sz="2800">
                              <a:solidFill>
                                <a:srgbClr val="326CB2"/>
                              </a:solidFill>
                              <a:latin typeface="Cambria Math"/>
                              <a:ea typeface="Cambria Math"/>
                              <a:cs typeface="Cambria Math"/>
                            </a:rPr>
                          </m:ctrlPr>
                        </m:sSubPr>
                        <m:e>
                          <m:r>
                            <a:rPr lang="en-GB" sz="2800">
                              <a:solidFill>
                                <a:srgbClr val="326CB2"/>
                              </a:solidFill>
                              <a:latin typeface="Cambria Math"/>
                              <a:ea typeface="Cambria Math"/>
                              <a:cs typeface="Cambria Math"/>
                            </a:rPr>
                            <m:t>𝑤</m:t>
                          </m:r>
                        </m:e>
                        <m:sub>
                          <m:r>
                            <a:rPr lang="en-GB" sz="2800">
                              <a:solidFill>
                                <a:srgbClr val="326CB2"/>
                              </a:solidFill>
                              <a:latin typeface="Cambria Math"/>
                              <a:ea typeface="Cambria Math"/>
                              <a:cs typeface="Cambria Math"/>
                            </a:rPr>
                            <m:t>2</m:t>
                          </m:r>
                        </m:sub>
                      </m:sSub>
                      <m:r>
                        <a:rPr lang="en-GB" sz="2800">
                          <a:solidFill>
                            <a:srgbClr val="326CB2"/>
                          </a:solidFill>
                          <a:latin typeface="Cambria Math"/>
                          <a:ea typeface="Cambria Math"/>
                          <a:cs typeface="Cambria Math"/>
                        </a:rPr>
                        <m:t>≤0</m:t>
                      </m:r>
                    </m:oMath>
                  </m:oMathPara>
                </a14:m>
                <a:endParaRPr lang="en-GB" sz="2800"/>
              </a:p>
            </p:txBody>
          </p:sp>
        </mc:Choice>
        <mc:Fallback xmlns="">
          <p:sp>
            <p:nvSpPr>
              <p:cNvPr id="8" name="equation_4" descr="b\leq0,\qquad b+w_1+w_2\leq0">
                <a:extLst>
                  <a:ext uri="{FF2B5EF4-FFF2-40B4-BE49-F238E27FC236}">
                    <a16:creationId xmlns:a16="http://schemas.microsoft.com/office/drawing/2014/main" id="{7E5319D7-00E7-4360-A52F-EB2C926622E5}"/>
                  </a:ext>
                </a:extLst>
              </p:cNvPr>
              <p:cNvSpPr>
                <a:spLocks noGrp="1" noRot="1" noChangeAspect="1" noMove="1" noResize="1" noEditPoints="1" noAdjustHandles="1" noChangeArrowheads="1" noChangeShapeType="1" noTextEdit="1"/>
              </p:cNvSpPr>
              <p:nvPr/>
            </p:nvSpPr>
            <p:spPr>
              <a:xfrm>
                <a:off x="428625" y="3524250"/>
                <a:ext cx="5429250" cy="904875"/>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equation_5" descr="b+w_1&gt;0,\qquad b+w_2&gt;0">
                <a:extLst>
                  <a:ext uri="{FF2B5EF4-FFF2-40B4-BE49-F238E27FC236}">
                    <a16:creationId xmlns:a16="http://schemas.microsoft.com/office/drawing/2014/main" id="{B98D4047-F6CD-4082-B738-B633B0AE30EA}"/>
                  </a:ext>
                </a:extLst>
              </p:cNvPr>
              <p:cNvSpPr>
                <a:spLocks noGrp="1"/>
              </p:cNvSpPr>
              <p:nvPr/>
            </p:nvSpPr>
            <p:spPr>
              <a:xfrm>
                <a:off x="6238875" y="3524250"/>
                <a:ext cx="542925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800">
                          <a:solidFill>
                            <a:srgbClr val="C45C28"/>
                          </a:solidFill>
                          <a:latin typeface="Cambria Math"/>
                          <a:ea typeface="Cambria Math"/>
                          <a:cs typeface="Cambria Math"/>
                        </a:rPr>
                        <m:t>𝑏</m:t>
                      </m:r>
                      <m:r>
                        <a:rPr lang="en-GB" sz="2800">
                          <a:solidFill>
                            <a:srgbClr val="C45C28"/>
                          </a:solidFill>
                          <a:latin typeface="Cambria Math"/>
                          <a:ea typeface="Cambria Math"/>
                          <a:cs typeface="Cambria Math"/>
                        </a:rPr>
                        <m:t>+</m:t>
                      </m:r>
                      <m:sSub>
                        <m:sSubPr>
                          <m:ctrlPr>
                            <a:rPr lang="en-GB" sz="2800">
                              <a:solidFill>
                                <a:srgbClr val="C45C28"/>
                              </a:solidFill>
                              <a:latin typeface="Cambria Math"/>
                              <a:ea typeface="Cambria Math"/>
                              <a:cs typeface="Cambria Math"/>
                            </a:rPr>
                          </m:ctrlPr>
                        </m:sSubPr>
                        <m:e>
                          <m:r>
                            <a:rPr lang="en-GB" sz="2800">
                              <a:solidFill>
                                <a:srgbClr val="C45C28"/>
                              </a:solidFill>
                              <a:latin typeface="Cambria Math"/>
                              <a:ea typeface="Cambria Math"/>
                              <a:cs typeface="Cambria Math"/>
                            </a:rPr>
                            <m:t>𝑤</m:t>
                          </m:r>
                        </m:e>
                        <m:sub>
                          <m:r>
                            <a:rPr lang="en-GB" sz="2800">
                              <a:solidFill>
                                <a:srgbClr val="C45C28"/>
                              </a:solidFill>
                              <a:latin typeface="Cambria Math"/>
                              <a:ea typeface="Cambria Math"/>
                              <a:cs typeface="Cambria Math"/>
                            </a:rPr>
                            <m:t>1</m:t>
                          </m:r>
                        </m:sub>
                      </m:sSub>
                      <m:r>
                        <a:rPr lang="en-GB" sz="2800">
                          <a:solidFill>
                            <a:srgbClr val="C45C28"/>
                          </a:solidFill>
                          <a:latin typeface="Cambria Math"/>
                          <a:ea typeface="Cambria Math"/>
                          <a:cs typeface="Cambria Math"/>
                        </a:rPr>
                        <m:t>&gt;0,  </m:t>
                      </m:r>
                      <m:r>
                        <a:rPr lang="en-GB" sz="2800">
                          <a:solidFill>
                            <a:srgbClr val="C45C28"/>
                          </a:solidFill>
                          <a:latin typeface="Cambria Math"/>
                          <a:ea typeface="Cambria Math"/>
                          <a:cs typeface="Cambria Math"/>
                        </a:rPr>
                        <m:t>𝑏</m:t>
                      </m:r>
                      <m:r>
                        <a:rPr lang="en-GB" sz="2800">
                          <a:solidFill>
                            <a:srgbClr val="C45C28"/>
                          </a:solidFill>
                          <a:latin typeface="Cambria Math"/>
                          <a:ea typeface="Cambria Math"/>
                          <a:cs typeface="Cambria Math"/>
                        </a:rPr>
                        <m:t>+</m:t>
                      </m:r>
                      <m:sSub>
                        <m:sSubPr>
                          <m:ctrlPr>
                            <a:rPr lang="en-GB" sz="2800">
                              <a:solidFill>
                                <a:srgbClr val="C45C28"/>
                              </a:solidFill>
                              <a:latin typeface="Cambria Math"/>
                              <a:ea typeface="Cambria Math"/>
                              <a:cs typeface="Cambria Math"/>
                            </a:rPr>
                          </m:ctrlPr>
                        </m:sSubPr>
                        <m:e>
                          <m:r>
                            <a:rPr lang="en-GB" sz="2800">
                              <a:solidFill>
                                <a:srgbClr val="C45C28"/>
                              </a:solidFill>
                              <a:latin typeface="Cambria Math"/>
                              <a:ea typeface="Cambria Math"/>
                              <a:cs typeface="Cambria Math"/>
                            </a:rPr>
                            <m:t>𝑤</m:t>
                          </m:r>
                        </m:e>
                        <m:sub>
                          <m:r>
                            <a:rPr lang="en-GB" sz="2800">
                              <a:solidFill>
                                <a:srgbClr val="C45C28"/>
                              </a:solidFill>
                              <a:latin typeface="Cambria Math"/>
                              <a:ea typeface="Cambria Math"/>
                              <a:cs typeface="Cambria Math"/>
                            </a:rPr>
                            <m:t>2</m:t>
                          </m:r>
                        </m:sub>
                      </m:sSub>
                      <m:r>
                        <a:rPr lang="en-GB" sz="2800">
                          <a:solidFill>
                            <a:srgbClr val="C45C28"/>
                          </a:solidFill>
                          <a:latin typeface="Cambria Math"/>
                          <a:ea typeface="Cambria Math"/>
                          <a:cs typeface="Cambria Math"/>
                        </a:rPr>
                        <m:t>&gt;0</m:t>
                      </m:r>
                    </m:oMath>
                  </m:oMathPara>
                </a14:m>
                <a:endParaRPr lang="en-GB" sz="2800"/>
              </a:p>
            </p:txBody>
          </p:sp>
        </mc:Choice>
        <mc:Fallback xmlns="">
          <p:sp>
            <p:nvSpPr>
              <p:cNvPr id="9" name="equation_5" descr="b+w_1&gt;0,\qquad b+w_2&gt;0">
                <a:extLst>
                  <a:ext uri="{FF2B5EF4-FFF2-40B4-BE49-F238E27FC236}">
                    <a16:creationId xmlns:a16="http://schemas.microsoft.com/office/drawing/2014/main" id="{B98D4047-F6CD-4082-B738-B633B0AE30EA}"/>
                  </a:ext>
                </a:extLst>
              </p:cNvPr>
              <p:cNvSpPr>
                <a:spLocks noGrp="1" noRot="1" noChangeAspect="1" noMove="1" noResize="1" noEditPoints="1" noAdjustHandles="1" noChangeArrowheads="1" noChangeShapeType="1" noTextEdit="1"/>
              </p:cNvSpPr>
              <p:nvPr/>
            </p:nvSpPr>
            <p:spPr>
              <a:xfrm>
                <a:off x="6238875" y="3524250"/>
                <a:ext cx="5429250" cy="904875"/>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equation_6" descr="2b+w_1+w_2\leq0">
                <a:extLst>
                  <a:ext uri="{FF2B5EF4-FFF2-40B4-BE49-F238E27FC236}">
                    <a16:creationId xmlns:a16="http://schemas.microsoft.com/office/drawing/2014/main" id="{5262E107-236D-421A-97E7-6B2A01E4CAD4}"/>
                  </a:ext>
                </a:extLst>
              </p:cNvPr>
              <p:cNvSpPr>
                <a:spLocks noGrp="1"/>
              </p:cNvSpPr>
              <p:nvPr/>
            </p:nvSpPr>
            <p:spPr>
              <a:xfrm>
                <a:off x="428625" y="4781550"/>
                <a:ext cx="542925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900">
                          <a:solidFill>
                            <a:srgbClr val="326CB2"/>
                          </a:solidFill>
                          <a:latin typeface="Cambria Math"/>
                          <a:ea typeface="Cambria Math"/>
                          <a:cs typeface="Cambria Math"/>
                        </a:rPr>
                        <m:t>2</m:t>
                      </m:r>
                      <m:r>
                        <a:rPr lang="en-GB" sz="2900">
                          <a:solidFill>
                            <a:srgbClr val="326CB2"/>
                          </a:solidFill>
                          <a:latin typeface="Cambria Math"/>
                          <a:ea typeface="Cambria Math"/>
                          <a:cs typeface="Cambria Math"/>
                        </a:rPr>
                        <m:t>𝑏</m:t>
                      </m:r>
                      <m:r>
                        <a:rPr lang="en-GB" sz="2900">
                          <a:solidFill>
                            <a:srgbClr val="326CB2"/>
                          </a:solidFill>
                          <a:latin typeface="Cambria Math"/>
                          <a:ea typeface="Cambria Math"/>
                          <a:cs typeface="Cambria Math"/>
                        </a:rPr>
                        <m:t>+</m:t>
                      </m:r>
                      <m:sSub>
                        <m:sSubPr>
                          <m:ctrlPr>
                            <a:rPr lang="en-GB" sz="2900">
                              <a:solidFill>
                                <a:srgbClr val="326CB2"/>
                              </a:solidFill>
                              <a:latin typeface="Cambria Math"/>
                              <a:ea typeface="Cambria Math"/>
                              <a:cs typeface="Cambria Math"/>
                            </a:rPr>
                          </m:ctrlPr>
                        </m:sSubPr>
                        <m:e>
                          <m:r>
                            <a:rPr lang="en-GB" sz="2900">
                              <a:solidFill>
                                <a:srgbClr val="326CB2"/>
                              </a:solidFill>
                              <a:latin typeface="Cambria Math"/>
                              <a:ea typeface="Cambria Math"/>
                              <a:cs typeface="Cambria Math"/>
                            </a:rPr>
                            <m:t>𝑤</m:t>
                          </m:r>
                        </m:e>
                        <m:sub>
                          <m:r>
                            <a:rPr lang="en-GB" sz="2900">
                              <a:solidFill>
                                <a:srgbClr val="326CB2"/>
                              </a:solidFill>
                              <a:latin typeface="Cambria Math"/>
                              <a:ea typeface="Cambria Math"/>
                              <a:cs typeface="Cambria Math"/>
                            </a:rPr>
                            <m:t>1</m:t>
                          </m:r>
                        </m:sub>
                      </m:sSub>
                      <m:r>
                        <a:rPr lang="en-GB" sz="2900">
                          <a:solidFill>
                            <a:srgbClr val="326CB2"/>
                          </a:solidFill>
                          <a:latin typeface="Cambria Math"/>
                          <a:ea typeface="Cambria Math"/>
                          <a:cs typeface="Cambria Math"/>
                        </a:rPr>
                        <m:t>+</m:t>
                      </m:r>
                      <m:sSub>
                        <m:sSubPr>
                          <m:ctrlPr>
                            <a:rPr lang="en-GB" sz="2900">
                              <a:solidFill>
                                <a:srgbClr val="326CB2"/>
                              </a:solidFill>
                              <a:latin typeface="Cambria Math"/>
                              <a:ea typeface="Cambria Math"/>
                              <a:cs typeface="Cambria Math"/>
                            </a:rPr>
                          </m:ctrlPr>
                        </m:sSubPr>
                        <m:e>
                          <m:r>
                            <a:rPr lang="en-GB" sz="2900">
                              <a:solidFill>
                                <a:srgbClr val="326CB2"/>
                              </a:solidFill>
                              <a:latin typeface="Cambria Math"/>
                              <a:ea typeface="Cambria Math"/>
                              <a:cs typeface="Cambria Math"/>
                            </a:rPr>
                            <m:t>𝑤</m:t>
                          </m:r>
                        </m:e>
                        <m:sub>
                          <m:r>
                            <a:rPr lang="en-GB" sz="2900">
                              <a:solidFill>
                                <a:srgbClr val="326CB2"/>
                              </a:solidFill>
                              <a:latin typeface="Cambria Math"/>
                              <a:ea typeface="Cambria Math"/>
                              <a:cs typeface="Cambria Math"/>
                            </a:rPr>
                            <m:t>2</m:t>
                          </m:r>
                        </m:sub>
                      </m:sSub>
                      <m:r>
                        <a:rPr lang="en-GB" sz="2900">
                          <a:solidFill>
                            <a:srgbClr val="326CB2"/>
                          </a:solidFill>
                          <a:latin typeface="Cambria Math"/>
                          <a:ea typeface="Cambria Math"/>
                          <a:cs typeface="Cambria Math"/>
                        </a:rPr>
                        <m:t>≤0</m:t>
                      </m:r>
                    </m:oMath>
                  </m:oMathPara>
                </a14:m>
                <a:endParaRPr lang="en-GB" sz="2900"/>
              </a:p>
            </p:txBody>
          </p:sp>
        </mc:Choice>
        <mc:Fallback xmlns="">
          <p:sp>
            <p:nvSpPr>
              <p:cNvPr id="10" name="equation_6" descr="2b+w_1+w_2\leq0">
                <a:extLst>
                  <a:ext uri="{FF2B5EF4-FFF2-40B4-BE49-F238E27FC236}">
                    <a16:creationId xmlns:a16="http://schemas.microsoft.com/office/drawing/2014/main" id="{5262E107-236D-421A-97E7-6B2A01E4CAD4}"/>
                  </a:ext>
                </a:extLst>
              </p:cNvPr>
              <p:cNvSpPr>
                <a:spLocks noGrp="1" noRot="1" noChangeAspect="1" noMove="1" noResize="1" noEditPoints="1" noAdjustHandles="1" noChangeArrowheads="1" noChangeShapeType="1" noTextEdit="1"/>
              </p:cNvSpPr>
              <p:nvPr/>
            </p:nvSpPr>
            <p:spPr>
              <a:xfrm>
                <a:off x="428625" y="4781550"/>
                <a:ext cx="5429250" cy="714375"/>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equation_7" descr="2b+w_1+w_2&gt;0">
                <a:extLst>
                  <a:ext uri="{FF2B5EF4-FFF2-40B4-BE49-F238E27FC236}">
                    <a16:creationId xmlns:a16="http://schemas.microsoft.com/office/drawing/2014/main" id="{04303691-D3B6-4421-8B7C-799EB85F0DE5}"/>
                  </a:ext>
                </a:extLst>
              </p:cNvPr>
              <p:cNvSpPr>
                <a:spLocks noGrp="1"/>
              </p:cNvSpPr>
              <p:nvPr/>
            </p:nvSpPr>
            <p:spPr>
              <a:xfrm>
                <a:off x="6238875" y="4781550"/>
                <a:ext cx="542925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900">
                          <a:solidFill>
                            <a:srgbClr val="C45C28"/>
                          </a:solidFill>
                          <a:latin typeface="Cambria Math"/>
                          <a:ea typeface="Cambria Math"/>
                          <a:cs typeface="Cambria Math"/>
                        </a:rPr>
                        <m:t>2</m:t>
                      </m:r>
                      <m:r>
                        <a:rPr lang="en-GB" sz="2900">
                          <a:solidFill>
                            <a:srgbClr val="C45C28"/>
                          </a:solidFill>
                          <a:latin typeface="Cambria Math"/>
                          <a:ea typeface="Cambria Math"/>
                          <a:cs typeface="Cambria Math"/>
                        </a:rPr>
                        <m:t>𝑏</m:t>
                      </m:r>
                      <m:r>
                        <a:rPr lang="en-GB" sz="2900">
                          <a:solidFill>
                            <a:srgbClr val="C45C28"/>
                          </a:solidFill>
                          <a:latin typeface="Cambria Math"/>
                          <a:ea typeface="Cambria Math"/>
                          <a:cs typeface="Cambria Math"/>
                        </a:rPr>
                        <m:t>+</m:t>
                      </m:r>
                      <m:sSub>
                        <m:sSubPr>
                          <m:ctrlPr>
                            <a:rPr lang="en-GB" sz="2900">
                              <a:solidFill>
                                <a:srgbClr val="C45C28"/>
                              </a:solidFill>
                              <a:latin typeface="Cambria Math"/>
                              <a:ea typeface="Cambria Math"/>
                              <a:cs typeface="Cambria Math"/>
                            </a:rPr>
                          </m:ctrlPr>
                        </m:sSubPr>
                        <m:e>
                          <m:r>
                            <a:rPr lang="en-GB" sz="2900">
                              <a:solidFill>
                                <a:srgbClr val="C45C28"/>
                              </a:solidFill>
                              <a:latin typeface="Cambria Math"/>
                              <a:ea typeface="Cambria Math"/>
                              <a:cs typeface="Cambria Math"/>
                            </a:rPr>
                            <m:t>𝑤</m:t>
                          </m:r>
                        </m:e>
                        <m:sub>
                          <m:r>
                            <a:rPr lang="en-GB" sz="2900">
                              <a:solidFill>
                                <a:srgbClr val="C45C28"/>
                              </a:solidFill>
                              <a:latin typeface="Cambria Math"/>
                              <a:ea typeface="Cambria Math"/>
                              <a:cs typeface="Cambria Math"/>
                            </a:rPr>
                            <m:t>1</m:t>
                          </m:r>
                        </m:sub>
                      </m:sSub>
                      <m:r>
                        <a:rPr lang="en-GB" sz="2900">
                          <a:solidFill>
                            <a:srgbClr val="C45C28"/>
                          </a:solidFill>
                          <a:latin typeface="Cambria Math"/>
                          <a:ea typeface="Cambria Math"/>
                          <a:cs typeface="Cambria Math"/>
                        </a:rPr>
                        <m:t>+</m:t>
                      </m:r>
                      <m:sSub>
                        <m:sSubPr>
                          <m:ctrlPr>
                            <a:rPr lang="en-GB" sz="2900">
                              <a:solidFill>
                                <a:srgbClr val="C45C28"/>
                              </a:solidFill>
                              <a:latin typeface="Cambria Math"/>
                              <a:ea typeface="Cambria Math"/>
                              <a:cs typeface="Cambria Math"/>
                            </a:rPr>
                          </m:ctrlPr>
                        </m:sSubPr>
                        <m:e>
                          <m:r>
                            <a:rPr lang="en-GB" sz="2900">
                              <a:solidFill>
                                <a:srgbClr val="C45C28"/>
                              </a:solidFill>
                              <a:latin typeface="Cambria Math"/>
                              <a:ea typeface="Cambria Math"/>
                              <a:cs typeface="Cambria Math"/>
                            </a:rPr>
                            <m:t>𝑤</m:t>
                          </m:r>
                        </m:e>
                        <m:sub>
                          <m:r>
                            <a:rPr lang="en-GB" sz="2900">
                              <a:solidFill>
                                <a:srgbClr val="C45C28"/>
                              </a:solidFill>
                              <a:latin typeface="Cambria Math"/>
                              <a:ea typeface="Cambria Math"/>
                              <a:cs typeface="Cambria Math"/>
                            </a:rPr>
                            <m:t>2</m:t>
                          </m:r>
                        </m:sub>
                      </m:sSub>
                      <m:r>
                        <a:rPr lang="en-GB" sz="2900">
                          <a:solidFill>
                            <a:srgbClr val="C45C28"/>
                          </a:solidFill>
                          <a:latin typeface="Cambria Math"/>
                          <a:ea typeface="Cambria Math"/>
                          <a:cs typeface="Cambria Math"/>
                        </a:rPr>
                        <m:t>&gt;0</m:t>
                      </m:r>
                    </m:oMath>
                  </m:oMathPara>
                </a14:m>
                <a:endParaRPr lang="en-GB" sz="2900"/>
              </a:p>
            </p:txBody>
          </p:sp>
        </mc:Choice>
        <mc:Fallback xmlns="">
          <p:sp>
            <p:nvSpPr>
              <p:cNvPr id="11" name="equation_7" descr="2b+w_1+w_2&gt;0">
                <a:extLst>
                  <a:ext uri="{FF2B5EF4-FFF2-40B4-BE49-F238E27FC236}">
                    <a16:creationId xmlns:a16="http://schemas.microsoft.com/office/drawing/2014/main" id="{04303691-D3B6-4421-8B7C-799EB85F0DE5}"/>
                  </a:ext>
                </a:extLst>
              </p:cNvPr>
              <p:cNvSpPr>
                <a:spLocks noGrp="1" noRot="1" noChangeAspect="1" noMove="1" noResize="1" noEditPoints="1" noAdjustHandles="1" noChangeArrowheads="1" noChangeShapeType="1" noTextEdit="1"/>
              </p:cNvSpPr>
              <p:nvPr/>
            </p:nvSpPr>
            <p:spPr>
              <a:xfrm>
                <a:off x="6238875" y="4781550"/>
                <a:ext cx="5429250" cy="714375"/>
              </a:xfrm>
              <a:prstGeom prst="rect">
                <a:avLst/>
              </a:prstGeom>
              <a:blipFill>
                <a:blip r:embed="rId8"/>
                <a:stretch>
                  <a:fillRect/>
                </a:stretch>
              </a:blipFill>
              <a:ln w="0">
                <a:noFill/>
              </a:ln>
            </p:spPr>
            <p:txBody>
              <a:bodyPr/>
              <a:lstStyle/>
              <a:p>
                <a:r>
                  <a:rPr lang="it-IT">
                    <a:noFill/>
                  </a:rPr>
                  <a:t> </a:t>
                </a:r>
              </a:p>
            </p:txBody>
          </p:sp>
        </mc:Fallback>
      </mc:AlternateContent>
      <p:sp>
        <p:nvSpPr>
          <p:cNvPr id="12" name="text_8">
            <a:extLst>
              <a:ext uri="{FF2B5EF4-FFF2-40B4-BE49-F238E27FC236}">
                <a16:creationId xmlns:a16="http://schemas.microsoft.com/office/drawing/2014/main" id="{99FA95AF-14B5-456C-9F95-3CA6E70655E8}"/>
              </a:ext>
            </a:extLst>
          </p:cNvPr>
          <p:cNvSpPr>
            <a:spLocks noGrp="1"/>
          </p:cNvSpPr>
          <p:nvPr/>
        </p:nvSpPr>
        <p:spPr>
          <a:xfrm>
            <a:off x="571500" y="5876925"/>
            <a:ext cx="11049000" cy="5048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a:solidFill>
                  <a:srgbClr val="182D45"/>
                </a:solidFill>
                <a:latin typeface="DejaVu Sans"/>
                <a:ea typeface="DejaVu Sans"/>
                <a:cs typeface="DejaVu Sans"/>
              </a:rPr>
              <a:t>Adding the inequalities gives a contradiction.</a:t>
            </a:r>
          </a:p>
        </p:txBody>
      </p:sp>
    </p:spTree>
    <p:extLst>
      <p:ext uri="{BB962C8B-B14F-4D97-AF65-F5344CB8AC3E}">
        <p14:creationId xmlns:p14="http://schemas.microsoft.com/office/powerpoint/2010/main" val="684183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4693F7A-A046-47ED-9C0A-E3D4D0A46717}"/>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Two features that solve XOR</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6413CF4A-81FD-4695-B7C7-EFC993AEB8AB}"/>
                  </a:ext>
                </a:extLst>
              </p:cNvPr>
              <p:cNvSpPr>
                <a:spLocks noGrp="1"/>
              </p:cNvSpPr>
              <p:nvPr/>
            </p:nvSpPr>
            <p:spPr>
              <a:xfrm>
                <a:off x="523875" y="933450"/>
                <a:ext cx="11144250" cy="523875"/>
              </a:xfrm>
              <a:prstGeom prst="rect">
                <a:avLst/>
              </a:prstGeom>
              <a:noFill/>
              <a:ln w="0">
                <a:noFill/>
              </a:ln>
            </p:spPr>
            <p:txBody>
              <a:bodyPr wrap="none" lIns="0" tIns="0" rIns="0" bIns="0" anchor="ctr">
                <a:noAutofit/>
              </a:bodyPr>
              <a:lstStyle/>
              <a:p>
                <a:pPr algn="ctr"/>
                <a14:m>
                  <m:oMath xmlns:m="http://schemas.openxmlformats.org/officeDocument/2006/math">
                    <m:r>
                      <a:rPr lang="en-GB" sz="2100">
                        <a:solidFill>
                          <a:srgbClr val="526276"/>
                        </a:solidFill>
                        <a:latin typeface="Cambria Math"/>
                        <a:ea typeface="Cambria Math"/>
                        <a:cs typeface="Cambria Math"/>
                      </a:rPr>
                      <m:t>𝐿</m:t>
                    </m:r>
                    <m:r>
                      <a:rPr lang="en-GB" sz="2100">
                        <a:solidFill>
                          <a:srgbClr val="526276"/>
                        </a:solidFill>
                        <a:latin typeface="Cambria Math"/>
                        <a:ea typeface="Cambria Math"/>
                        <a:cs typeface="Cambria Math"/>
                      </a:rPr>
                      <m:t>=2</m:t>
                    </m:r>
                  </m:oMath>
                </a14:m>
                <a:r>
                  <a:rPr lang="en-GB" sz="2100" b="0">
                    <a:solidFill>
                      <a:srgbClr val="526276"/>
                    </a:solidFill>
                    <a:latin typeface="DejaVu Sans"/>
                  </a:rPr>
                  <a:t>, with widths </a:t>
                </a:r>
                <a14:m>
                  <m:oMath xmlns:m="http://schemas.openxmlformats.org/officeDocument/2006/math">
                    <m:sSub>
                      <m:sSubPr>
                        <m:ctrlPr>
                          <a:rPr lang="en-GB" sz="2100">
                            <a:solidFill>
                              <a:srgbClr val="526276"/>
                            </a:solidFill>
                            <a:latin typeface="Cambria Math"/>
                            <a:ea typeface="Cambria Math"/>
                            <a:cs typeface="Cambria Math"/>
                          </a:rPr>
                        </m:ctrlPr>
                      </m:sSubPr>
                      <m:e>
                        <m:r>
                          <a:rPr lang="en-GB" sz="2100">
                            <a:solidFill>
                              <a:srgbClr val="526276"/>
                            </a:solidFill>
                            <a:latin typeface="Cambria Math"/>
                            <a:ea typeface="Cambria Math"/>
                            <a:cs typeface="Cambria Math"/>
                          </a:rPr>
                          <m:t>𝑚</m:t>
                        </m:r>
                      </m:e>
                      <m:sub>
                        <m:r>
                          <a:rPr lang="en-GB" sz="2100">
                            <a:solidFill>
                              <a:srgbClr val="526276"/>
                            </a:solidFill>
                            <a:latin typeface="Cambria Math"/>
                            <a:ea typeface="Cambria Math"/>
                            <a:cs typeface="Cambria Math"/>
                          </a:rPr>
                          <m:t>0</m:t>
                        </m:r>
                      </m:sub>
                    </m:sSub>
                    <m:r>
                      <a:rPr lang="en-GB" sz="2100">
                        <a:solidFill>
                          <a:srgbClr val="526276"/>
                        </a:solidFill>
                        <a:latin typeface="Cambria Math"/>
                        <a:ea typeface="Cambria Math"/>
                        <a:cs typeface="Cambria Math"/>
                      </a:rPr>
                      <m:t>=2</m:t>
                    </m:r>
                  </m:oMath>
                </a14:m>
                <a:r>
                  <a:rPr lang="en-GB" sz="2100" b="0">
                    <a:solidFill>
                      <a:srgbClr val="526276"/>
                    </a:solidFill>
                    <a:latin typeface="DejaVu Sans"/>
                  </a:rPr>
                  <a:t>, </a:t>
                </a:r>
                <a14:m>
                  <m:oMath xmlns:m="http://schemas.openxmlformats.org/officeDocument/2006/math">
                    <m:sSub>
                      <m:sSubPr>
                        <m:ctrlPr>
                          <a:rPr lang="en-GB" sz="2100">
                            <a:solidFill>
                              <a:srgbClr val="526276"/>
                            </a:solidFill>
                            <a:latin typeface="Cambria Math"/>
                            <a:ea typeface="Cambria Math"/>
                            <a:cs typeface="Cambria Math"/>
                          </a:rPr>
                        </m:ctrlPr>
                      </m:sSubPr>
                      <m:e>
                        <m:r>
                          <a:rPr lang="en-GB" sz="2100">
                            <a:solidFill>
                              <a:srgbClr val="526276"/>
                            </a:solidFill>
                            <a:latin typeface="Cambria Math"/>
                            <a:ea typeface="Cambria Math"/>
                            <a:cs typeface="Cambria Math"/>
                          </a:rPr>
                          <m:t>𝑚</m:t>
                        </m:r>
                      </m:e>
                      <m:sub>
                        <m:r>
                          <a:rPr lang="en-GB" sz="2100">
                            <a:solidFill>
                              <a:srgbClr val="526276"/>
                            </a:solidFill>
                            <a:latin typeface="Cambria Math"/>
                            <a:ea typeface="Cambria Math"/>
                            <a:cs typeface="Cambria Math"/>
                          </a:rPr>
                          <m:t>1</m:t>
                        </m:r>
                      </m:sub>
                    </m:sSub>
                    <m:r>
                      <a:rPr lang="en-GB" sz="2100">
                        <a:solidFill>
                          <a:srgbClr val="526276"/>
                        </a:solidFill>
                        <a:latin typeface="Cambria Math"/>
                        <a:ea typeface="Cambria Math"/>
                        <a:cs typeface="Cambria Math"/>
                      </a:rPr>
                      <m:t>=2</m:t>
                    </m:r>
                  </m:oMath>
                </a14:m>
                <a:r>
                  <a:rPr lang="en-GB" sz="2100" b="0">
                    <a:solidFill>
                      <a:srgbClr val="526276"/>
                    </a:solidFill>
                    <a:latin typeface="DejaVu Sans"/>
                  </a:rPr>
                  <a:t> and </a:t>
                </a:r>
                <a14:m>
                  <m:oMath xmlns:m="http://schemas.openxmlformats.org/officeDocument/2006/math">
                    <m:sSub>
                      <m:sSubPr>
                        <m:ctrlPr>
                          <a:rPr lang="en-GB" sz="2100">
                            <a:solidFill>
                              <a:srgbClr val="526276"/>
                            </a:solidFill>
                            <a:latin typeface="Cambria Math"/>
                            <a:ea typeface="Cambria Math"/>
                            <a:cs typeface="Cambria Math"/>
                          </a:rPr>
                        </m:ctrlPr>
                      </m:sSubPr>
                      <m:e>
                        <m:r>
                          <a:rPr lang="en-GB" sz="2100">
                            <a:solidFill>
                              <a:srgbClr val="526276"/>
                            </a:solidFill>
                            <a:latin typeface="Cambria Math"/>
                            <a:ea typeface="Cambria Math"/>
                            <a:cs typeface="Cambria Math"/>
                          </a:rPr>
                          <m:t>𝑚</m:t>
                        </m:r>
                      </m:e>
                      <m:sub>
                        <m:r>
                          <a:rPr lang="en-GB" sz="2100">
                            <a:solidFill>
                              <a:srgbClr val="526276"/>
                            </a:solidFill>
                            <a:latin typeface="Cambria Math"/>
                            <a:ea typeface="Cambria Math"/>
                            <a:cs typeface="Cambria Math"/>
                          </a:rPr>
                          <m:t>2</m:t>
                        </m:r>
                      </m:sub>
                    </m:sSub>
                    <m:r>
                      <a:rPr lang="en-GB" sz="2100">
                        <a:solidFill>
                          <a:srgbClr val="526276"/>
                        </a:solidFill>
                        <a:latin typeface="Cambria Math"/>
                        <a:ea typeface="Cambria Math"/>
                        <a:cs typeface="Cambria Math"/>
                      </a:rPr>
                      <m:t>=1</m:t>
                    </m:r>
                  </m:oMath>
                </a14:m>
                <a:r>
                  <a:rPr lang="en-GB" sz="2100" b="0">
                    <a:solidFill>
                      <a:srgbClr val="526276"/>
                    </a:solidFill>
                    <a:latin typeface="DejaVu Sans"/>
                  </a:rPr>
                  <a:t>.</a:t>
                </a:r>
                <a:endParaRPr lang="en-GB" sz="2100"/>
              </a:p>
            </p:txBody>
          </p:sp>
        </mc:Choice>
        <mc:Fallback xmlns="">
          <p:sp>
            <p:nvSpPr>
              <p:cNvPr id="2" name="lead">
                <a:extLst>
                  <a:ext uri="{FF2B5EF4-FFF2-40B4-BE49-F238E27FC236}">
                    <a16:creationId xmlns:a16="http://schemas.microsoft.com/office/drawing/2014/main" id="{6413CF4A-81FD-4695-B7C7-EFC993AEB8AB}"/>
                  </a:ext>
                </a:extLst>
              </p:cNvPr>
              <p:cNvSpPr>
                <a:spLocks noGrp="1" noRot="1" noChangeAspect="1" noMove="1" noResize="1" noEditPoints="1" noAdjustHandles="1" noChangeArrowheads="1" noChangeShapeType="1" noTextEdit="1"/>
              </p:cNvSpPr>
              <p:nvPr/>
            </p:nvSpPr>
            <p:spPr>
              <a:xfrm>
                <a:off x="523875" y="933450"/>
                <a:ext cx="11144250" cy="523875"/>
              </a:xfrm>
              <a:prstGeom prst="rect">
                <a:avLst/>
              </a:prstGeom>
              <a:blipFill>
                <a:blip r:embed="rId3"/>
                <a:stretch>
                  <a:fillRect b="-9302"/>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A7CC646B-DEBA-409E-B5E1-EFB337AEF51C}"/>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E50CD3C8-2B4A-4064-90D2-C7B70E0A70CF}"/>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32</a:t>
            </a:r>
          </a:p>
        </p:txBody>
      </p:sp>
      <mc:AlternateContent xmlns:mc="http://schemas.openxmlformats.org/markup-compatibility/2006" xmlns:a14="http://schemas.microsoft.com/office/drawing/2010/main">
        <mc:Choice Requires="a14">
          <p:sp>
            <p:nvSpPr>
              <p:cNvPr id="5" name="equation_1" descr="\phi_{1,1}(\bm x)=\operatorname{ReLU}(x_1-x_2),\qquad\phi_{1,2}(\bm x)=\operatorname{ReLU}(x_2-x_1)">
                <a:extLst>
                  <a:ext uri="{FF2B5EF4-FFF2-40B4-BE49-F238E27FC236}">
                    <a16:creationId xmlns:a16="http://schemas.microsoft.com/office/drawing/2014/main" id="{CD5400A5-7D8E-4EF8-BE80-5C6B2B362E56}"/>
                  </a:ext>
                </a:extLst>
              </p:cNvPr>
              <p:cNvSpPr>
                <a:spLocks noGrp="1"/>
              </p:cNvSpPr>
              <p:nvPr/>
            </p:nvSpPr>
            <p:spPr>
              <a:xfrm>
                <a:off x="285750" y="1514475"/>
                <a:ext cx="11620500" cy="6096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𝜙</m:t>
                          </m:r>
                        </m:e>
                        <m:sub>
                          <m:r>
                            <a:rPr lang="en-GB" sz="2600">
                              <a:solidFill>
                                <a:srgbClr val="087F83"/>
                              </a:solidFill>
                              <a:latin typeface="Cambria Math"/>
                              <a:ea typeface="Cambria Math"/>
                              <a:cs typeface="Cambria Math"/>
                            </a:rPr>
                            <m:t>1,1</m:t>
                          </m:r>
                        </m:sub>
                      </m:sSub>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𝐱</m:t>
                      </m:r>
                      <m:r>
                        <a:rPr lang="en-GB" sz="2600">
                          <a:solidFill>
                            <a:srgbClr val="087F83"/>
                          </a:solidFill>
                          <a:latin typeface="Cambria Math"/>
                          <a:ea typeface="Cambria Math"/>
                          <a:cs typeface="Cambria Math"/>
                        </a:rPr>
                        <m:t>)=</m:t>
                      </m:r>
                      <m:r>
                        <m:rPr>
                          <m:sty m:val="p"/>
                        </m:rPr>
                        <a:rPr lang="en-GB" sz="2600">
                          <a:solidFill>
                            <a:srgbClr val="087F83"/>
                          </a:solidFill>
                          <a:latin typeface="Cambria Math"/>
                          <a:ea typeface="Cambria Math"/>
                          <a:cs typeface="Cambria Math"/>
                        </a:rPr>
                        <m:t>ReLU</m:t>
                      </m:r>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2</m:t>
                          </m:r>
                        </m:sub>
                      </m:sSub>
                      <m:r>
                        <a:rPr lang="en-GB" sz="2600">
                          <a:solidFill>
                            <a:srgbClr val="087F83"/>
                          </a:solidFill>
                          <a:latin typeface="Cambria Math"/>
                          <a:ea typeface="Cambria Math"/>
                          <a:cs typeface="Cambria Math"/>
                        </a:rPr>
                        <m:t>),  </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𝜙</m:t>
                          </m:r>
                        </m:e>
                        <m:sub>
                          <m:r>
                            <a:rPr lang="en-GB" sz="2600">
                              <a:solidFill>
                                <a:srgbClr val="087F83"/>
                              </a:solidFill>
                              <a:latin typeface="Cambria Math"/>
                              <a:ea typeface="Cambria Math"/>
                              <a:cs typeface="Cambria Math"/>
                            </a:rPr>
                            <m:t>1,2</m:t>
                          </m:r>
                        </m:sub>
                      </m:sSub>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𝐱</m:t>
                      </m:r>
                      <m:r>
                        <a:rPr lang="en-GB" sz="2600">
                          <a:solidFill>
                            <a:srgbClr val="087F83"/>
                          </a:solidFill>
                          <a:latin typeface="Cambria Math"/>
                          <a:ea typeface="Cambria Math"/>
                          <a:cs typeface="Cambria Math"/>
                        </a:rPr>
                        <m:t>)=</m:t>
                      </m:r>
                      <m:r>
                        <m:rPr>
                          <m:sty m:val="p"/>
                        </m:rPr>
                        <a:rPr lang="en-GB" sz="2600">
                          <a:solidFill>
                            <a:srgbClr val="087F83"/>
                          </a:solidFill>
                          <a:latin typeface="Cambria Math"/>
                          <a:ea typeface="Cambria Math"/>
                          <a:cs typeface="Cambria Math"/>
                        </a:rPr>
                        <m:t>ReLU</m:t>
                      </m:r>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2</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m:t>
                      </m:r>
                    </m:oMath>
                  </m:oMathPara>
                </a14:m>
                <a:endParaRPr lang="en-GB" sz="2600"/>
              </a:p>
            </p:txBody>
          </p:sp>
        </mc:Choice>
        <mc:Fallback xmlns="">
          <p:sp>
            <p:nvSpPr>
              <p:cNvPr id="5" name="equation_1" descr="\phi_{1,1}(\bm x)=\operatorname{ReLU}(x_1-x_2),\qquad\phi_{1,2}(\bm x)=\operatorname{ReLU}(x_2-x_1)">
                <a:extLst>
                  <a:ext uri="{FF2B5EF4-FFF2-40B4-BE49-F238E27FC236}">
                    <a16:creationId xmlns:a16="http://schemas.microsoft.com/office/drawing/2014/main" id="{CD5400A5-7D8E-4EF8-BE80-5C6B2B362E56}"/>
                  </a:ext>
                </a:extLst>
              </p:cNvPr>
              <p:cNvSpPr>
                <a:spLocks noGrp="1" noRot="1" noChangeAspect="1" noMove="1" noResize="1" noEditPoints="1" noAdjustHandles="1" noChangeArrowheads="1" noChangeShapeType="1" noTextEdit="1"/>
              </p:cNvSpPr>
              <p:nvPr/>
            </p:nvSpPr>
            <p:spPr>
              <a:xfrm>
                <a:off x="285750" y="1514475"/>
                <a:ext cx="11620500" cy="60960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equation_2" descr="f_{\bm\theta}(\bm x)=\phi_{1,1}(\bm x)+\phi_{1,2}(\bm x)-\frac12=|x_1-x_2|-\frac12">
                <a:extLst>
                  <a:ext uri="{FF2B5EF4-FFF2-40B4-BE49-F238E27FC236}">
                    <a16:creationId xmlns:a16="http://schemas.microsoft.com/office/drawing/2014/main" id="{51A08B84-EAAA-4EEB-92E4-B4F2A2A930D9}"/>
                  </a:ext>
                </a:extLst>
              </p:cNvPr>
              <p:cNvSpPr>
                <a:spLocks noGrp="1"/>
              </p:cNvSpPr>
              <p:nvPr/>
            </p:nvSpPr>
            <p:spPr>
              <a:xfrm>
                <a:off x="333375" y="2171700"/>
                <a:ext cx="11525250" cy="7715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𝑓</m:t>
                          </m:r>
                        </m:e>
                        <m:sub>
                          <m:r>
                            <a:rPr lang="en-GB" sz="2600">
                              <a:solidFill>
                                <a:srgbClr val="087F83"/>
                              </a:solidFill>
                              <a:latin typeface="Cambria Math"/>
                              <a:ea typeface="Cambria Math"/>
                              <a:cs typeface="Cambria Math"/>
                            </a:rPr>
                            <m:t>𝛉</m:t>
                          </m:r>
                        </m:sub>
                      </m:sSub>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𝐱</m:t>
                      </m:r>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𝜙</m:t>
                          </m:r>
                        </m:e>
                        <m:sub>
                          <m:r>
                            <a:rPr lang="en-GB" sz="2600">
                              <a:solidFill>
                                <a:srgbClr val="087F83"/>
                              </a:solidFill>
                              <a:latin typeface="Cambria Math"/>
                              <a:ea typeface="Cambria Math"/>
                              <a:cs typeface="Cambria Math"/>
                            </a:rPr>
                            <m:t>1,1</m:t>
                          </m:r>
                        </m:sub>
                      </m:sSub>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𝐱</m:t>
                      </m:r>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𝜙</m:t>
                          </m:r>
                        </m:e>
                        <m:sub>
                          <m:r>
                            <a:rPr lang="en-GB" sz="2600">
                              <a:solidFill>
                                <a:srgbClr val="087F83"/>
                              </a:solidFill>
                              <a:latin typeface="Cambria Math"/>
                              <a:ea typeface="Cambria Math"/>
                              <a:cs typeface="Cambria Math"/>
                            </a:rPr>
                            <m:t>1,2</m:t>
                          </m:r>
                        </m:sub>
                      </m:sSub>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𝐱</m:t>
                      </m:r>
                      <m:r>
                        <a:rPr lang="en-GB" sz="2600">
                          <a:solidFill>
                            <a:srgbClr val="087F83"/>
                          </a:solidFill>
                          <a:latin typeface="Cambria Math"/>
                          <a:ea typeface="Cambria Math"/>
                          <a:cs typeface="Cambria Math"/>
                        </a:rPr>
                        <m:t>)−</m:t>
                      </m:r>
                      <m:f>
                        <m:fPr>
                          <m:ctrlPr>
                            <a:rPr lang="en-GB" sz="2600">
                              <a:solidFill>
                                <a:srgbClr val="087F83"/>
                              </a:solidFill>
                              <a:latin typeface="Cambria Math"/>
                              <a:ea typeface="Cambria Math"/>
                              <a:cs typeface="Cambria Math"/>
                            </a:rPr>
                          </m:ctrlPr>
                        </m:fPr>
                        <m:num>
                          <m:r>
                            <a:rPr lang="en-GB" sz="2600">
                              <a:solidFill>
                                <a:srgbClr val="087F83"/>
                              </a:solidFill>
                              <a:latin typeface="Cambria Math"/>
                              <a:ea typeface="Cambria Math"/>
                              <a:cs typeface="Cambria Math"/>
                            </a:rPr>
                            <m:t>1</m:t>
                          </m:r>
                        </m:num>
                        <m:den>
                          <m:r>
                            <a:rPr lang="en-GB" sz="2600">
                              <a:solidFill>
                                <a:srgbClr val="087F83"/>
                              </a:solidFill>
                              <a:latin typeface="Cambria Math"/>
                              <a:ea typeface="Cambria Math"/>
                              <a:cs typeface="Cambria Math"/>
                            </a:rPr>
                            <m:t>2</m:t>
                          </m:r>
                        </m:den>
                      </m:f>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𝑥</m:t>
                          </m:r>
                        </m:e>
                        <m:sub>
                          <m:r>
                            <a:rPr lang="en-GB" sz="2600">
                              <a:solidFill>
                                <a:srgbClr val="087F83"/>
                              </a:solidFill>
                              <a:latin typeface="Cambria Math"/>
                              <a:ea typeface="Cambria Math"/>
                              <a:cs typeface="Cambria Math"/>
                            </a:rPr>
                            <m:t>2</m:t>
                          </m:r>
                        </m:sub>
                      </m:sSub>
                      <m:r>
                        <a:rPr lang="en-GB" sz="2600">
                          <a:solidFill>
                            <a:srgbClr val="087F83"/>
                          </a:solidFill>
                          <a:latin typeface="Cambria Math"/>
                          <a:ea typeface="Cambria Math"/>
                          <a:cs typeface="Cambria Math"/>
                        </a:rPr>
                        <m:t>|−</m:t>
                      </m:r>
                      <m:f>
                        <m:fPr>
                          <m:ctrlPr>
                            <a:rPr lang="en-GB" sz="2600">
                              <a:solidFill>
                                <a:srgbClr val="087F83"/>
                              </a:solidFill>
                              <a:latin typeface="Cambria Math"/>
                              <a:ea typeface="Cambria Math"/>
                              <a:cs typeface="Cambria Math"/>
                            </a:rPr>
                          </m:ctrlPr>
                        </m:fPr>
                        <m:num>
                          <m:r>
                            <a:rPr lang="en-GB" sz="2600">
                              <a:solidFill>
                                <a:srgbClr val="087F83"/>
                              </a:solidFill>
                              <a:latin typeface="Cambria Math"/>
                              <a:ea typeface="Cambria Math"/>
                              <a:cs typeface="Cambria Math"/>
                            </a:rPr>
                            <m:t>1</m:t>
                          </m:r>
                        </m:num>
                        <m:den>
                          <m:r>
                            <a:rPr lang="en-GB" sz="2600">
                              <a:solidFill>
                                <a:srgbClr val="087F83"/>
                              </a:solidFill>
                              <a:latin typeface="Cambria Math"/>
                              <a:ea typeface="Cambria Math"/>
                              <a:cs typeface="Cambria Math"/>
                            </a:rPr>
                            <m:t>2</m:t>
                          </m:r>
                        </m:den>
                      </m:f>
                    </m:oMath>
                  </m:oMathPara>
                </a14:m>
                <a:endParaRPr lang="en-GB" sz="2600"/>
              </a:p>
            </p:txBody>
          </p:sp>
        </mc:Choice>
        <mc:Fallback xmlns="">
          <p:sp>
            <p:nvSpPr>
              <p:cNvPr id="6" name="equation_2" descr="f_{\bm\theta}(\bm x)=\phi_{1,1}(\bm x)+\phi_{1,2}(\bm x)-\frac12=|x_1-x_2|-\frac12">
                <a:extLst>
                  <a:ext uri="{FF2B5EF4-FFF2-40B4-BE49-F238E27FC236}">
                    <a16:creationId xmlns:a16="http://schemas.microsoft.com/office/drawing/2014/main" id="{51A08B84-EAAA-4EEB-92E4-B4F2A2A930D9}"/>
                  </a:ext>
                </a:extLst>
              </p:cNvPr>
              <p:cNvSpPr>
                <a:spLocks noGrp="1" noRot="1" noChangeAspect="1" noMove="1" noResize="1" noEditPoints="1" noAdjustHandles="1" noChangeArrowheads="1" noChangeShapeType="1" noTextEdit="1"/>
              </p:cNvSpPr>
              <p:nvPr/>
            </p:nvSpPr>
            <p:spPr>
              <a:xfrm>
                <a:off x="333375" y="2171700"/>
                <a:ext cx="11525250" cy="771525"/>
              </a:xfrm>
              <a:prstGeom prst="rect">
                <a:avLst/>
              </a:prstGeom>
              <a:blipFill>
                <a:blip r:embed="rId5"/>
                <a:stretch>
                  <a:fillRect/>
                </a:stretch>
              </a:blipFill>
              <a:ln w="0">
                <a:noFill/>
              </a:ln>
            </p:spPr>
            <p:txBody>
              <a:bodyPr/>
              <a:lstStyle/>
              <a:p>
                <a:r>
                  <a:rPr lang="it-IT">
                    <a:noFill/>
                  </a:rPr>
                  <a:t> </a:t>
                </a:r>
              </a:p>
            </p:txBody>
          </p:sp>
        </mc:Fallback>
      </mc:AlternateContent>
      <p:graphicFrame>
        <p:nvGraphicFramePr>
          <p:cNvPr id="14" name="Tabella 13"/>
          <p:cNvGraphicFramePr/>
          <p:nvPr/>
        </p:nvGraphicFramePr>
        <p:xfrm>
          <a:off x="1285875" y="4219575"/>
          <a:ext cx="9620250" cy="2095500"/>
        </p:xfrm>
        <a:graphic>
          <a:graphicData uri="http://schemas.openxmlformats.org/drawingml/2006/table">
            <a:tbl>
              <a:tblPr/>
              <a:tblGrid>
                <a:gridCol w="27622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419100">
                <a:tc>
                  <a:txBody>
                    <a:bodyPr/>
                    <a:lstStyle/>
                    <a:p>
                      <a:pPr algn="ctr"/>
                      <a:r>
                        <a:rPr sz="1875" b="1">
                          <a:solidFill>
                            <a:srgbClr val="182D45"/>
                          </a:solidFill>
                          <a:latin typeface="DejaVu Sans"/>
                          <a:ea typeface="DejaVu Sans"/>
                          <a:cs typeface="DejaVu Sans"/>
                        </a:rPr>
                        <a:t>Input row</a:t>
                      </a:r>
                    </a:p>
                  </a:txBody>
                  <a:tcPr marL="95250" marR="95250" marT="66675" marB="66675" anchor="ctr">
                    <a:solidFill>
                      <a:srgbClr val="EDF3F5"/>
                    </a:solidFill>
                  </a:tcPr>
                </a:tc>
                <a:tc>
                  <a:txBody>
                    <a:bodyPr/>
                    <a:lstStyle/>
                    <a:p>
                      <a:pPr algn="ctr"/>
                      <a:r>
                        <a:rPr sz="1875" b="1">
                          <a:solidFill>
                            <a:srgbClr val="182D45"/>
                          </a:solidFill>
                          <a:latin typeface="DejaVu Sans"/>
                          <a:ea typeface="DejaVu Sans"/>
                          <a:cs typeface="DejaVu Sans"/>
                        </a:rPr>
                        <a:t>Feature row</a:t>
                      </a:r>
                    </a:p>
                  </a:txBody>
                  <a:tcPr marL="95250" marR="95250" marT="66675" marB="66675" anchor="ctr">
                    <a:solidFill>
                      <a:srgbClr val="EDF3F5"/>
                    </a:solidFill>
                  </a:tcPr>
                </a:tc>
                <a:tc>
                  <a:txBody>
                    <a:bodyPr/>
                    <a:lstStyle/>
                    <a:p>
                      <a:pPr algn="ctr"/>
                      <a:r>
                        <a:rPr sz="1875" b="1">
                          <a:solidFill>
                            <a:srgbClr val="182D45"/>
                          </a:solidFill>
                          <a:latin typeface="DejaVu Sans"/>
                          <a:ea typeface="DejaVu Sans"/>
                          <a:cs typeface="DejaVu Sans"/>
                        </a:rPr>
                        <a:t>Score</a:t>
                      </a:r>
                    </a:p>
                  </a:txBody>
                  <a:tcPr marL="95250" marR="95250" marT="66675" marB="66675" anchor="ctr">
                    <a:solidFill>
                      <a:srgbClr val="EDF3F5"/>
                    </a:solidFill>
                  </a:tcPr>
                </a:tc>
                <a:tc>
                  <a:txBody>
                    <a:bodyPr/>
                    <a:lstStyle/>
                    <a:p>
                      <a:pPr algn="ctr"/>
                      <a:r>
                        <a:rPr sz="1875" b="1">
                          <a:solidFill>
                            <a:srgbClr val="182D45"/>
                          </a:solidFill>
                          <a:latin typeface="DejaVu Sans"/>
                          <a:ea typeface="DejaVu Sans"/>
                          <a:cs typeface="DejaVu Sans"/>
                        </a:rPr>
                        <a:t>Label</a:t>
                      </a:r>
                    </a:p>
                  </a:txBody>
                  <a:tcPr marL="95250" marR="95250" marT="66675" marB="66675" anchor="ctr">
                    <a:solidFill>
                      <a:srgbClr val="EDF3F5"/>
                    </a:solidFill>
                  </a:tcPr>
                </a:tc>
                <a:extLst>
                  <a:ext uri="{0D108BD9-81ED-4DB2-BD59-A6C34878D82A}">
                    <a16:rowId xmlns:a16="http://schemas.microsoft.com/office/drawing/2014/main" val="10000"/>
                  </a:ext>
                </a:extLst>
              </a:tr>
              <a:tr h="419100">
                <a:tc>
                  <a:txBody>
                    <a:bodyPr/>
                    <a:lstStyle/>
                    <a:p>
                      <a:pPr algn="ctr"/>
                      <a:r>
                        <a:rPr sz="1875" dirty="0">
                          <a:solidFill>
                            <a:srgbClr val="182D45"/>
                          </a:solidFill>
                          <a:latin typeface="DejaVu Sans"/>
                          <a:ea typeface="DejaVu Sans"/>
                          <a:cs typeface="DejaVu Sans"/>
                        </a:rPr>
                        <a:t>(0, 0)</a:t>
                      </a:r>
                    </a:p>
                  </a:txBody>
                  <a:tcPr marL="95250" marR="95250" marT="66675" marB="66675" anchor="ctr">
                    <a:solidFill>
                      <a:srgbClr val="FFFFFF"/>
                    </a:solidFill>
                  </a:tcPr>
                </a:tc>
                <a:tc>
                  <a:txBody>
                    <a:bodyPr/>
                    <a:lstStyle/>
                    <a:p>
                      <a:pPr algn="ctr"/>
                      <a:r>
                        <a:rPr sz="1875" dirty="0">
                          <a:solidFill>
                            <a:srgbClr val="182D45"/>
                          </a:solidFill>
                          <a:latin typeface="DejaVu Sans"/>
                          <a:ea typeface="DejaVu Sans"/>
                          <a:cs typeface="DejaVu Sans"/>
                        </a:rPr>
                        <a:t>(0, 0)</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−0.5</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0</a:t>
                      </a:r>
                    </a:p>
                  </a:txBody>
                  <a:tcPr marL="95250" marR="95250" marT="66675" marB="66675" anchor="ctr">
                    <a:solidFill>
                      <a:srgbClr val="FFFFFF"/>
                    </a:solidFill>
                  </a:tcPr>
                </a:tc>
                <a:extLst>
                  <a:ext uri="{0D108BD9-81ED-4DB2-BD59-A6C34878D82A}">
                    <a16:rowId xmlns:a16="http://schemas.microsoft.com/office/drawing/2014/main" val="10001"/>
                  </a:ext>
                </a:extLst>
              </a:tr>
              <a:tr h="419100">
                <a:tc>
                  <a:txBody>
                    <a:bodyPr/>
                    <a:lstStyle/>
                    <a:p>
                      <a:pPr algn="ctr"/>
                      <a:r>
                        <a:rPr sz="1875">
                          <a:solidFill>
                            <a:srgbClr val="182D45"/>
                          </a:solidFill>
                          <a:latin typeface="DejaVu Sans"/>
                          <a:ea typeface="DejaVu Sans"/>
                          <a:cs typeface="DejaVu Sans"/>
                        </a:rPr>
                        <a:t>(1, 0)</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(1, 0)</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+0.5</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1</a:t>
                      </a:r>
                    </a:p>
                  </a:txBody>
                  <a:tcPr marL="95250" marR="95250" marT="66675" marB="66675" anchor="ctr">
                    <a:solidFill>
                      <a:srgbClr val="FFFFFF"/>
                    </a:solidFill>
                  </a:tcPr>
                </a:tc>
                <a:extLst>
                  <a:ext uri="{0D108BD9-81ED-4DB2-BD59-A6C34878D82A}">
                    <a16:rowId xmlns:a16="http://schemas.microsoft.com/office/drawing/2014/main" val="10002"/>
                  </a:ext>
                </a:extLst>
              </a:tr>
              <a:tr h="419100">
                <a:tc>
                  <a:txBody>
                    <a:bodyPr/>
                    <a:lstStyle/>
                    <a:p>
                      <a:pPr algn="ctr"/>
                      <a:r>
                        <a:rPr sz="1875">
                          <a:solidFill>
                            <a:srgbClr val="182D45"/>
                          </a:solidFill>
                          <a:latin typeface="DejaVu Sans"/>
                          <a:ea typeface="DejaVu Sans"/>
                          <a:cs typeface="DejaVu Sans"/>
                        </a:rPr>
                        <a:t>(0, 1)</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(0, 1)</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+0.5</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1</a:t>
                      </a:r>
                    </a:p>
                  </a:txBody>
                  <a:tcPr marL="95250" marR="95250" marT="66675" marB="66675" anchor="ctr">
                    <a:solidFill>
                      <a:srgbClr val="FFFFFF"/>
                    </a:solidFill>
                  </a:tcPr>
                </a:tc>
                <a:extLst>
                  <a:ext uri="{0D108BD9-81ED-4DB2-BD59-A6C34878D82A}">
                    <a16:rowId xmlns:a16="http://schemas.microsoft.com/office/drawing/2014/main" val="10003"/>
                  </a:ext>
                </a:extLst>
              </a:tr>
              <a:tr h="419100">
                <a:tc>
                  <a:txBody>
                    <a:bodyPr/>
                    <a:lstStyle/>
                    <a:p>
                      <a:pPr algn="ctr"/>
                      <a:r>
                        <a:rPr sz="1875">
                          <a:solidFill>
                            <a:srgbClr val="182D45"/>
                          </a:solidFill>
                          <a:latin typeface="DejaVu Sans"/>
                          <a:ea typeface="DejaVu Sans"/>
                          <a:cs typeface="DejaVu Sans"/>
                        </a:rPr>
                        <a:t>(1, 1)</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(0, 0)</a:t>
                      </a:r>
                    </a:p>
                  </a:txBody>
                  <a:tcPr marL="95250" marR="95250" marT="66675" marB="66675" anchor="ctr">
                    <a:solidFill>
                      <a:srgbClr val="FFFFFF"/>
                    </a:solidFill>
                  </a:tcPr>
                </a:tc>
                <a:tc>
                  <a:txBody>
                    <a:bodyPr/>
                    <a:lstStyle/>
                    <a:p>
                      <a:pPr algn="ctr"/>
                      <a:r>
                        <a:rPr sz="1875">
                          <a:solidFill>
                            <a:srgbClr val="182D45"/>
                          </a:solidFill>
                          <a:latin typeface="DejaVu Sans"/>
                          <a:ea typeface="DejaVu Sans"/>
                          <a:cs typeface="DejaVu Sans"/>
                        </a:rPr>
                        <a:t>−0.5</a:t>
                      </a:r>
                    </a:p>
                  </a:txBody>
                  <a:tcPr marL="95250" marR="95250" marT="66675" marB="66675" anchor="ctr">
                    <a:solidFill>
                      <a:srgbClr val="FFFFFF"/>
                    </a:solidFill>
                  </a:tcPr>
                </a:tc>
                <a:tc>
                  <a:txBody>
                    <a:bodyPr/>
                    <a:lstStyle/>
                    <a:p>
                      <a:pPr algn="ctr"/>
                      <a:r>
                        <a:rPr sz="1875" dirty="0">
                          <a:solidFill>
                            <a:srgbClr val="182D45"/>
                          </a:solidFill>
                          <a:latin typeface="DejaVu Sans"/>
                          <a:ea typeface="DejaVu Sans"/>
                          <a:cs typeface="DejaVu Sans"/>
                        </a:rPr>
                        <a:t>0</a:t>
                      </a:r>
                    </a:p>
                  </a:txBody>
                  <a:tcPr marL="95250" marR="95250" marT="66675" marB="66675" anchor="ctr">
                    <a:solidFill>
                      <a:srgbClr val="FFFFFF"/>
                    </a:solidFill>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15" name="xor_parameters" descr="\bm W_1=\begin{pmatrix}1&amp;-1\\-1&amp;1\end{pmatrix},\quad\bm b_1=(0,0),\qquad\bm W_2=\begin{pmatrix}1\\1\end{pmatrix},\quad\bm b_2=\left(-\frac12\right)">
                <a:extLst>
                  <a:ext uri="{FF2B5EF4-FFF2-40B4-BE49-F238E27FC236}">
                    <a16:creationId xmlns:a16="http://schemas.microsoft.com/office/drawing/2014/main" id="{6413CF4A-81FD-4695-B7C7-EFC993AEB8AB}"/>
                  </a:ext>
                </a:extLst>
              </p:cNvPr>
              <p:cNvSpPr>
                <a:spLocks noGrp="1"/>
              </p:cNvSpPr>
              <p:nvPr/>
            </p:nvSpPr>
            <p:spPr>
              <a:xfrm>
                <a:off x="333375" y="3038475"/>
                <a:ext cx="1152525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𝐖</m:t>
                          </m:r>
                        </m:e>
                        <m:sub>
                          <m:r>
                            <a:rPr lang="en-GB" sz="2400">
                              <a:solidFill>
                                <a:srgbClr val="087F83"/>
                              </a:solidFill>
                              <a:latin typeface="Cambria Math"/>
                              <a:ea typeface="Cambria Math"/>
                              <a:cs typeface="Cambria Math"/>
                            </a:rPr>
                            <m:t>1</m:t>
                          </m:r>
                        </m:sub>
                      </m:sSub>
                      <m:r>
                        <a:rPr lang="en-GB" sz="2400">
                          <a:solidFill>
                            <a:srgbClr val="087F83"/>
                          </a:solidFill>
                          <a:latin typeface="Cambria Math"/>
                          <a:ea typeface="Cambria Math"/>
                          <a:cs typeface="Cambria Math"/>
                        </a:rPr>
                        <m:t>=</m:t>
                      </m:r>
                      <m:d>
                        <m:dPr>
                          <m:ctrlPr>
                            <a:rPr lang="en-GB" sz="2400" i="1">
                              <a:solidFill>
                                <a:srgbClr val="087F83"/>
                              </a:solidFill>
                              <a:latin typeface="Cambria Math" panose="02040503050406030204" pitchFamily="18" charset="0"/>
                              <a:ea typeface="Cambria Math"/>
                              <a:cs typeface="Cambria Math"/>
                            </a:rPr>
                          </m:ctrlPr>
                        </m:dPr>
                        <m:e>
                          <m:m>
                            <m:mPr>
                              <m:mcs>
                                <m:mc>
                                  <m:mcPr>
                                    <m:count m:val="2"/>
                                    <m:mcJc m:val="center"/>
                                  </m:mcPr>
                                </m:mc>
                              </m:mcs>
                              <m:ctrlPr>
                                <a:rPr lang="en-GB" sz="2400" i="1">
                                  <a:solidFill>
                                    <a:srgbClr val="087F83"/>
                                  </a:solidFill>
                                  <a:latin typeface="Cambria Math" panose="02040503050406030204" pitchFamily="18" charset="0"/>
                                  <a:ea typeface="Cambria Math"/>
                                  <a:cs typeface="Cambria Math"/>
                                </a:rPr>
                              </m:ctrlPr>
                            </m:mPr>
                            <m:mr>
                              <m:e>
                                <m:r>
                                  <a:rPr lang="en-GB" sz="2400">
                                    <a:solidFill>
                                      <a:srgbClr val="087F83"/>
                                    </a:solidFill>
                                    <a:latin typeface="Cambria Math"/>
                                    <a:ea typeface="Cambria Math"/>
                                    <a:cs typeface="Cambria Math"/>
                                  </a:rPr>
                                  <m:t>1</m:t>
                                </m:r>
                              </m:e>
                              <m:e>
                                <m:r>
                                  <a:rPr lang="en-GB" sz="2400">
                                    <a:solidFill>
                                      <a:srgbClr val="087F83"/>
                                    </a:solidFill>
                                    <a:latin typeface="Cambria Math"/>
                                    <a:ea typeface="Cambria Math"/>
                                    <a:cs typeface="Cambria Math"/>
                                  </a:rPr>
                                  <m:t>−1</m:t>
                                </m:r>
                              </m:e>
                            </m:mr>
                            <m:mr>
                              <m:e>
                                <m:r>
                                  <a:rPr lang="en-GB" sz="2400">
                                    <a:solidFill>
                                      <a:srgbClr val="087F83"/>
                                    </a:solidFill>
                                    <a:latin typeface="Cambria Math"/>
                                    <a:ea typeface="Cambria Math"/>
                                    <a:cs typeface="Cambria Math"/>
                                  </a:rPr>
                                  <m:t>−1</m:t>
                                </m:r>
                              </m:e>
                              <m:e>
                                <m:r>
                                  <a:rPr lang="en-GB" sz="2400">
                                    <a:solidFill>
                                      <a:srgbClr val="087F83"/>
                                    </a:solidFill>
                                    <a:latin typeface="Cambria Math"/>
                                    <a:ea typeface="Cambria Math"/>
                                    <a:cs typeface="Cambria Math"/>
                                  </a:rPr>
                                  <m:t>1</m:t>
                                </m:r>
                              </m:e>
                            </m:mr>
                          </m:m>
                        </m:e>
                      </m:d>
                      <m:r>
                        <a:rPr lang="en-GB" sz="2400">
                          <a:solidFill>
                            <a:srgbClr val="087F83"/>
                          </a:solidFill>
                          <a:latin typeface="Cambria Math"/>
                          <a:ea typeface="Cambria Math"/>
                          <a:cs typeface="Cambria Math"/>
                        </a:rPr>
                        <m:t>, </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𝐛</m:t>
                          </m:r>
                        </m:e>
                        <m:sub>
                          <m:r>
                            <a:rPr lang="en-GB" sz="2400">
                              <a:solidFill>
                                <a:srgbClr val="087F83"/>
                              </a:solidFill>
                              <a:latin typeface="Cambria Math"/>
                              <a:ea typeface="Cambria Math"/>
                              <a:cs typeface="Cambria Math"/>
                            </a:rPr>
                            <m:t>1</m:t>
                          </m:r>
                        </m:sub>
                      </m:sSub>
                      <m:r>
                        <a:rPr lang="en-GB" sz="2400">
                          <a:solidFill>
                            <a:srgbClr val="087F83"/>
                          </a:solidFill>
                          <a:latin typeface="Cambria Math"/>
                          <a:ea typeface="Cambria Math"/>
                          <a:cs typeface="Cambria Math"/>
                        </a:rPr>
                        <m:t>=</m:t>
                      </m:r>
                      <m:d>
                        <m:dPr>
                          <m:ctrlPr>
                            <a:rPr lang="en-GB" sz="2400">
                              <a:solidFill>
                                <a:srgbClr val="087F83"/>
                              </a:solidFill>
                              <a:latin typeface="Cambria Math"/>
                              <a:ea typeface="Cambria Math"/>
                              <a:cs typeface="Cambria Math"/>
                            </a:rPr>
                          </m:ctrlPr>
                        </m:dPr>
                        <m:e>
                          <m:r>
                            <a:rPr lang="en-GB" sz="2400">
                              <a:solidFill>
                                <a:srgbClr val="087F83"/>
                              </a:solidFill>
                              <a:latin typeface="Cambria Math"/>
                              <a:ea typeface="Cambria Math"/>
                              <a:cs typeface="Cambria Math"/>
                            </a:rPr>
                            <m:t>0,0</m:t>
                          </m:r>
                        </m:e>
                      </m:d>
                      <m:r>
                        <a:rPr lang="en-GB" sz="2400">
                          <a:solidFill>
                            <a:srgbClr val="087F83"/>
                          </a:solidFill>
                          <a:latin typeface="Cambria Math"/>
                          <a:ea typeface="Cambria Math"/>
                          <a:cs typeface="Cambria Math"/>
                        </a:rPr>
                        <m:t>,  </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𝐖</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m:t>
                      </m:r>
                      <m:d>
                        <m:dPr>
                          <m:ctrlPr>
                            <a:rPr lang="en-GB" sz="2400" i="1">
                              <a:solidFill>
                                <a:srgbClr val="087F83"/>
                              </a:solidFill>
                              <a:latin typeface="Cambria Math" panose="02040503050406030204" pitchFamily="18" charset="0"/>
                              <a:ea typeface="Cambria Math"/>
                              <a:cs typeface="Cambria Math"/>
                            </a:rPr>
                          </m:ctrlPr>
                        </m:dPr>
                        <m:e>
                          <m:m>
                            <m:mPr>
                              <m:mcs>
                                <m:mc>
                                  <m:mcPr>
                                    <m:count m:val="1"/>
                                    <m:mcJc m:val="center"/>
                                  </m:mcPr>
                                </m:mc>
                              </m:mcs>
                              <m:ctrlPr>
                                <a:rPr lang="en-GB" sz="2400" i="1">
                                  <a:solidFill>
                                    <a:srgbClr val="087F83"/>
                                  </a:solidFill>
                                  <a:latin typeface="Cambria Math" panose="02040503050406030204" pitchFamily="18" charset="0"/>
                                  <a:ea typeface="Cambria Math"/>
                                  <a:cs typeface="Cambria Math"/>
                                </a:rPr>
                              </m:ctrlPr>
                            </m:mPr>
                            <m:mr>
                              <m:e>
                                <m:r>
                                  <a:rPr lang="en-GB" sz="2400">
                                    <a:solidFill>
                                      <a:srgbClr val="087F83"/>
                                    </a:solidFill>
                                    <a:latin typeface="Cambria Math"/>
                                    <a:ea typeface="Cambria Math"/>
                                    <a:cs typeface="Cambria Math"/>
                                  </a:rPr>
                                  <m:t>1</m:t>
                                </m:r>
                              </m:e>
                            </m:mr>
                            <m:mr>
                              <m:e>
                                <m:r>
                                  <a:rPr lang="en-GB" sz="2400">
                                    <a:solidFill>
                                      <a:srgbClr val="087F83"/>
                                    </a:solidFill>
                                    <a:latin typeface="Cambria Math"/>
                                    <a:ea typeface="Cambria Math"/>
                                    <a:cs typeface="Cambria Math"/>
                                  </a:rPr>
                                  <m:t>1</m:t>
                                </m:r>
                              </m:e>
                            </m:mr>
                          </m:m>
                        </m:e>
                      </m:d>
                      <m:r>
                        <a:rPr lang="en-GB" sz="2400">
                          <a:solidFill>
                            <a:srgbClr val="087F83"/>
                          </a:solidFill>
                          <a:latin typeface="Cambria Math"/>
                          <a:ea typeface="Cambria Math"/>
                          <a:cs typeface="Cambria Math"/>
                        </a:rPr>
                        <m:t>, </m:t>
                      </m:r>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𝐛</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m:t>
                      </m:r>
                      <m:d>
                        <m:dPr>
                          <m:ctrlPr>
                            <a:rPr lang="en-GB" sz="2400">
                              <a:solidFill>
                                <a:srgbClr val="087F83"/>
                              </a:solidFill>
                              <a:latin typeface="Cambria Math"/>
                              <a:ea typeface="Cambria Math"/>
                              <a:cs typeface="Cambria Math"/>
                            </a:rPr>
                          </m:ctrlPr>
                        </m:dPr>
                        <m:e>
                          <m:r>
                            <a:rPr lang="en-GB" sz="2400">
                              <a:solidFill>
                                <a:srgbClr val="087F83"/>
                              </a:solidFill>
                              <a:latin typeface="Cambria Math"/>
                              <a:ea typeface="Cambria Math"/>
                              <a:cs typeface="Cambria Math"/>
                            </a:rPr>
                            <m:t>−</m:t>
                          </m:r>
                          <m:f>
                            <m:fPr>
                              <m:ctrlPr>
                                <a:rPr lang="en-GB" sz="2400">
                                  <a:solidFill>
                                    <a:srgbClr val="087F83"/>
                                  </a:solidFill>
                                  <a:latin typeface="Cambria Math"/>
                                  <a:ea typeface="Cambria Math"/>
                                  <a:cs typeface="Cambria Math"/>
                                </a:rPr>
                              </m:ctrlPr>
                            </m:fPr>
                            <m:num>
                              <m:r>
                                <a:rPr lang="en-GB" sz="2400">
                                  <a:solidFill>
                                    <a:srgbClr val="087F83"/>
                                  </a:solidFill>
                                  <a:latin typeface="Cambria Math"/>
                                  <a:ea typeface="Cambria Math"/>
                                  <a:cs typeface="Cambria Math"/>
                                </a:rPr>
                                <m:t>1</m:t>
                              </m:r>
                            </m:num>
                            <m:den>
                              <m:r>
                                <a:rPr lang="en-GB" sz="2400">
                                  <a:solidFill>
                                    <a:srgbClr val="087F83"/>
                                  </a:solidFill>
                                  <a:latin typeface="Cambria Math"/>
                                  <a:ea typeface="Cambria Math"/>
                                  <a:cs typeface="Cambria Math"/>
                                </a:rPr>
                                <m:t>2</m:t>
                              </m:r>
                            </m:den>
                          </m:f>
                        </m:e>
                      </m:d>
                    </m:oMath>
                  </m:oMathPara>
                </a14:m>
                <a:endParaRPr lang="en-GB" sz="2400" dirty="0"/>
              </a:p>
            </p:txBody>
          </p:sp>
        </mc:Choice>
        <mc:Fallback xmlns="">
          <p:sp>
            <p:nvSpPr>
              <p:cNvPr id="15" name="xor_parameters" descr="\bm W_1=\begin{pmatrix}1&amp;-1\\-1&amp;1\end{pmatrix},\quad\bm b_1=(0,0),\qquad\bm W_2=\begin{pmatrix}1\\1\end{pmatrix},\quad\bm b_2=\left(-\frac12\right)">
                <a:extLst>
                  <a:ext uri="{FF2B5EF4-FFF2-40B4-BE49-F238E27FC236}">
                    <a16:creationId xmlns:a16="http://schemas.microsoft.com/office/drawing/2014/main" id="{6413CF4A-81FD-4695-B7C7-EFC993AEB8AB}"/>
                  </a:ext>
                </a:extLst>
              </p:cNvPr>
              <p:cNvSpPr>
                <a:spLocks noGrp="1" noRot="1" noChangeAspect="1" noMove="1" noResize="1" noEditPoints="1" noAdjustHandles="1" noChangeArrowheads="1" noChangeShapeType="1" noTextEdit="1"/>
              </p:cNvSpPr>
              <p:nvPr/>
            </p:nvSpPr>
            <p:spPr>
              <a:xfrm>
                <a:off x="333375" y="3038475"/>
                <a:ext cx="11525250" cy="952500"/>
              </a:xfrm>
              <a:prstGeom prst="rect">
                <a:avLst/>
              </a:prstGeom>
              <a:blipFill>
                <a:blip r:embed="rId6"/>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21122863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itle">
            <a:extLst>
              <a:ext uri="{FF2B5EF4-FFF2-40B4-BE49-F238E27FC236}">
                <a16:creationId xmlns:a16="http://schemas.microsoft.com/office/drawing/2014/main" id="{B1E1AA06-F473-4F6B-A561-D47C65603CB3}"/>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A straight boundary in feature space</a:t>
            </a:r>
          </a:p>
        </p:txBody>
      </p:sp>
      <p:sp>
        <p:nvSpPr>
          <p:cNvPr id="2" name="lead">
            <a:extLst>
              <a:ext uri="{FF2B5EF4-FFF2-40B4-BE49-F238E27FC236}">
                <a16:creationId xmlns:a16="http://schemas.microsoft.com/office/drawing/2014/main" id="{A8B96362-A362-42F9-B309-CD0532DB7AED}"/>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en-GB" sz="2175" b="0" dirty="0">
                <a:solidFill>
                  <a:srgbClr val="FF0000"/>
                </a:solidFill>
                <a:latin typeface="DejaVu Sans"/>
                <a:ea typeface="DejaVu Sans"/>
                <a:cs typeface="DejaVu Sans"/>
              </a:rPr>
              <a:t>Non-affine features </a:t>
            </a:r>
            <a:r>
              <a:rPr lang="en-GB" sz="2175" b="0" dirty="0">
                <a:solidFill>
                  <a:srgbClr val="526276"/>
                </a:solidFill>
                <a:latin typeface="DejaVu Sans"/>
                <a:ea typeface="DejaVu Sans"/>
                <a:cs typeface="DejaVu Sans"/>
              </a:rPr>
              <a:t>allow an affine output to produce</a:t>
            </a:r>
          </a:p>
          <a:p>
            <a:pPr algn="ctr">
              <a:defRPr sz="2175" b="0">
                <a:solidFill>
                  <a:srgbClr val="526276"/>
                </a:solidFill>
                <a:latin typeface="DejaVu Sans"/>
                <a:ea typeface="DejaVu Sans"/>
                <a:cs typeface="DejaVu Sans"/>
              </a:defRPr>
            </a:pPr>
            <a:r>
              <a:rPr lang="en-GB" sz="2175" b="0" dirty="0">
                <a:solidFill>
                  <a:srgbClr val="FF0000"/>
                </a:solidFill>
                <a:latin typeface="DejaVu Sans"/>
                <a:ea typeface="DejaVu Sans"/>
                <a:cs typeface="DejaVu Sans"/>
              </a:rPr>
              <a:t>a nonlinear decision boundary</a:t>
            </a:r>
            <a:r>
              <a:rPr lang="en-GB" sz="2175" b="0" dirty="0">
                <a:solidFill>
                  <a:srgbClr val="526276"/>
                </a:solidFill>
                <a:latin typeface="DejaVu Sans"/>
                <a:ea typeface="DejaVu Sans"/>
                <a:cs typeface="DejaVu Sans"/>
              </a:rPr>
              <a:t> in the original input space.</a:t>
            </a:r>
            <a:endParaRPr sz="2175" b="0" dirty="0">
              <a:solidFill>
                <a:srgbClr val="526276"/>
              </a:solidFill>
              <a:latin typeface="DejaVu Sans"/>
              <a:ea typeface="DejaVu Sans"/>
              <a:cs typeface="DejaVu Sans"/>
            </a:endParaRPr>
          </a:p>
        </p:txBody>
      </p:sp>
      <p:sp>
        <p:nvSpPr>
          <p:cNvPr id="3" name="footer_course">
            <a:extLst>
              <a:ext uri="{FF2B5EF4-FFF2-40B4-BE49-F238E27FC236}">
                <a16:creationId xmlns:a16="http://schemas.microsoft.com/office/drawing/2014/main" id="{89B23693-2891-4047-A9CD-458C96AB1F0D}"/>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B555D3B3-8DEC-4F8E-975C-6690CB307AFB}"/>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33</a:t>
            </a:r>
          </a:p>
        </p:txBody>
      </p:sp>
      <p:sp>
        <p:nvSpPr>
          <p:cNvPr id="5" name="text_1">
            <a:extLst>
              <a:ext uri="{FF2B5EF4-FFF2-40B4-BE49-F238E27FC236}">
                <a16:creationId xmlns:a16="http://schemas.microsoft.com/office/drawing/2014/main" id="{06DAC930-80FC-4E04-9B0D-DC742EDAE187}"/>
              </a:ext>
            </a:extLst>
          </p:cNvPr>
          <p:cNvSpPr>
            <a:spLocks noGrp="1"/>
          </p:cNvSpPr>
          <p:nvPr/>
        </p:nvSpPr>
        <p:spPr>
          <a:xfrm>
            <a:off x="523875" y="1771650"/>
            <a:ext cx="5381625" cy="381000"/>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a:solidFill>
                  <a:srgbClr val="182D45"/>
                </a:solidFill>
                <a:latin typeface="DejaVu Sans"/>
                <a:ea typeface="DejaVu Sans"/>
                <a:cs typeface="DejaVu Sans"/>
              </a:rPr>
              <a:t>Input space</a:t>
            </a:r>
          </a:p>
        </p:txBody>
      </p:sp>
      <p:sp>
        <p:nvSpPr>
          <p:cNvPr id="6" name="text_2">
            <a:extLst>
              <a:ext uri="{FF2B5EF4-FFF2-40B4-BE49-F238E27FC236}">
                <a16:creationId xmlns:a16="http://schemas.microsoft.com/office/drawing/2014/main" id="{D6203F44-797C-4295-A484-985B60C102BE}"/>
              </a:ext>
            </a:extLst>
          </p:cNvPr>
          <p:cNvSpPr>
            <a:spLocks noGrp="1"/>
          </p:cNvSpPr>
          <p:nvPr/>
        </p:nvSpPr>
        <p:spPr>
          <a:xfrm>
            <a:off x="6286500" y="1771650"/>
            <a:ext cx="5381625" cy="381000"/>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a:solidFill>
                  <a:srgbClr val="182D45"/>
                </a:solidFill>
                <a:latin typeface="DejaVu Sans"/>
                <a:ea typeface="DejaVu Sans"/>
                <a:cs typeface="DejaVu Sans"/>
              </a:rPr>
              <a:t>Feature space</a:t>
            </a:r>
          </a:p>
        </p:txBody>
      </p:sp>
      <p:graphicFrame>
        <p:nvGraphicFramePr>
          <p:cNvPr id="25" name="Chart"/>
          <p:cNvGraphicFramePr/>
          <p:nvPr/>
        </p:nvGraphicFramePr>
        <p:xfrm>
          <a:off x="476250" y="2171700"/>
          <a:ext cx="5381625" cy="314325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_3">
            <a:extLst>
              <a:ext uri="{FF2B5EF4-FFF2-40B4-BE49-F238E27FC236}">
                <a16:creationId xmlns:a16="http://schemas.microsoft.com/office/drawing/2014/main" id="{669D035E-688C-4893-BC64-7D06F72D77AF}"/>
              </a:ext>
            </a:extLst>
          </p:cNvPr>
          <p:cNvSpPr>
            <a:spLocks noGrp="1"/>
          </p:cNvSpPr>
          <p:nvPr/>
        </p:nvSpPr>
        <p:spPr>
          <a:xfrm>
            <a:off x="2578894" y="5141595"/>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x₁</a:t>
            </a:r>
          </a:p>
        </p:txBody>
      </p:sp>
      <p:graphicFrame>
        <p:nvGraphicFramePr>
          <p:cNvPr id="27" name="Chart"/>
          <p:cNvGraphicFramePr/>
          <p:nvPr/>
        </p:nvGraphicFramePr>
        <p:xfrm>
          <a:off x="6191250" y="2171700"/>
          <a:ext cx="5381625" cy="314325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_5">
            <a:extLst>
              <a:ext uri="{FF2B5EF4-FFF2-40B4-BE49-F238E27FC236}">
                <a16:creationId xmlns:a16="http://schemas.microsoft.com/office/drawing/2014/main" id="{157AC325-72A0-4D8C-9F6F-07D7B03BE049}"/>
              </a:ext>
            </a:extLst>
          </p:cNvPr>
          <p:cNvSpPr>
            <a:spLocks noGrp="1"/>
          </p:cNvSpPr>
          <p:nvPr/>
        </p:nvSpPr>
        <p:spPr>
          <a:xfrm>
            <a:off x="2931319" y="3467481"/>
            <a:ext cx="1009650" cy="266700"/>
          </a:xfrm>
          <a:prstGeom prst="rect">
            <a:avLst/>
          </a:prstGeom>
          <a:noFill/>
          <a:ln w="0">
            <a:noFill/>
          </a:ln>
        </p:spPr>
        <p:txBody>
          <a:bodyPr anchor="ctr">
            <a:noAutofit/>
          </a:bodyPr>
          <a:lstStyle/>
          <a:p>
            <a:pPr algn="ctr">
              <a:defRPr sz="1425" b="1">
                <a:solidFill>
                  <a:srgbClr val="326CB2"/>
                </a:solidFill>
                <a:latin typeface="DejaVu Sans"/>
                <a:ea typeface="DejaVu Sans"/>
                <a:cs typeface="DejaVu Sans"/>
              </a:defRPr>
            </a:pPr>
            <a:r>
              <a:rPr sz="1425" b="1">
                <a:solidFill>
                  <a:srgbClr val="326CB2"/>
                </a:solidFill>
                <a:latin typeface="DejaVu Sans"/>
                <a:ea typeface="DejaVu Sans"/>
                <a:cs typeface="DejaVu Sans"/>
              </a:rPr>
              <a:t>Class 0</a:t>
            </a:r>
          </a:p>
        </p:txBody>
      </p:sp>
      <p:sp>
        <p:nvSpPr>
          <p:cNvPr id="12" name="text_6">
            <a:extLst>
              <a:ext uri="{FF2B5EF4-FFF2-40B4-BE49-F238E27FC236}">
                <a16:creationId xmlns:a16="http://schemas.microsoft.com/office/drawing/2014/main" id="{FE78F299-58BE-4105-96B6-17D555E4C1E3}"/>
              </a:ext>
            </a:extLst>
          </p:cNvPr>
          <p:cNvSpPr>
            <a:spLocks noGrp="1"/>
          </p:cNvSpPr>
          <p:nvPr/>
        </p:nvSpPr>
        <p:spPr>
          <a:xfrm>
            <a:off x="2284089" y="2411349"/>
            <a:ext cx="1009650" cy="266700"/>
          </a:xfrm>
          <a:prstGeom prst="rect">
            <a:avLst/>
          </a:prstGeom>
          <a:noFill/>
          <a:ln w="0">
            <a:noFill/>
          </a:ln>
        </p:spPr>
        <p:txBody>
          <a:bodyPr anchor="ctr">
            <a:noAutofit/>
          </a:bodyPr>
          <a:lstStyle/>
          <a:p>
            <a:pPr algn="ctr">
              <a:defRPr sz="1425" b="1">
                <a:solidFill>
                  <a:srgbClr val="C45C28"/>
                </a:solidFill>
                <a:latin typeface="DejaVu Sans"/>
                <a:ea typeface="DejaVu Sans"/>
                <a:cs typeface="DejaVu Sans"/>
              </a:defRPr>
            </a:pPr>
            <a:r>
              <a:rPr sz="1425" b="1">
                <a:solidFill>
                  <a:srgbClr val="C45C28"/>
                </a:solidFill>
                <a:latin typeface="DejaVu Sans"/>
                <a:ea typeface="DejaVu Sans"/>
                <a:cs typeface="DejaVu Sans"/>
              </a:rPr>
              <a:t>Class 1</a:t>
            </a:r>
          </a:p>
        </p:txBody>
      </p:sp>
      <p:sp>
        <p:nvSpPr>
          <p:cNvPr id="13" name="text_7">
            <a:extLst>
              <a:ext uri="{FF2B5EF4-FFF2-40B4-BE49-F238E27FC236}">
                <a16:creationId xmlns:a16="http://schemas.microsoft.com/office/drawing/2014/main" id="{79611868-3994-4B9E-A669-16820FC17F0A}"/>
              </a:ext>
            </a:extLst>
          </p:cNvPr>
          <p:cNvSpPr>
            <a:spLocks noGrp="1"/>
          </p:cNvSpPr>
          <p:nvPr/>
        </p:nvSpPr>
        <p:spPr>
          <a:xfrm>
            <a:off x="3666807" y="4355973"/>
            <a:ext cx="1009650" cy="266700"/>
          </a:xfrm>
          <a:prstGeom prst="rect">
            <a:avLst/>
          </a:prstGeom>
          <a:noFill/>
          <a:ln w="0">
            <a:noFill/>
          </a:ln>
        </p:spPr>
        <p:txBody>
          <a:bodyPr anchor="ctr">
            <a:noAutofit/>
          </a:bodyPr>
          <a:lstStyle/>
          <a:p>
            <a:pPr algn="ctr">
              <a:defRPr sz="1425" b="1">
                <a:solidFill>
                  <a:srgbClr val="C45C28"/>
                </a:solidFill>
                <a:latin typeface="DejaVu Sans"/>
                <a:ea typeface="DejaVu Sans"/>
                <a:cs typeface="DejaVu Sans"/>
              </a:defRPr>
            </a:pPr>
            <a:r>
              <a:rPr sz="1425" b="1">
                <a:solidFill>
                  <a:srgbClr val="C45C28"/>
                </a:solidFill>
                <a:latin typeface="DejaVu Sans"/>
                <a:ea typeface="DejaVu Sans"/>
                <a:cs typeface="DejaVu Sans"/>
              </a:rPr>
              <a:t>Class 1</a:t>
            </a:r>
          </a:p>
        </p:txBody>
      </p:sp>
      <p:sp>
        <p:nvSpPr>
          <p:cNvPr id="14" name="text_8">
            <a:extLst>
              <a:ext uri="{FF2B5EF4-FFF2-40B4-BE49-F238E27FC236}">
                <a16:creationId xmlns:a16="http://schemas.microsoft.com/office/drawing/2014/main" id="{B1A53DC3-7C98-4402-9338-8929B3AFE825}"/>
              </a:ext>
            </a:extLst>
          </p:cNvPr>
          <p:cNvSpPr>
            <a:spLocks noGrp="1"/>
          </p:cNvSpPr>
          <p:nvPr/>
        </p:nvSpPr>
        <p:spPr>
          <a:xfrm>
            <a:off x="7410698" y="4037457"/>
            <a:ext cx="1009650" cy="266700"/>
          </a:xfrm>
          <a:prstGeom prst="rect">
            <a:avLst/>
          </a:prstGeom>
          <a:noFill/>
          <a:ln w="0">
            <a:noFill/>
          </a:ln>
        </p:spPr>
        <p:txBody>
          <a:bodyPr anchor="ctr">
            <a:noAutofit/>
          </a:bodyPr>
          <a:lstStyle/>
          <a:p>
            <a:pPr algn="ctr">
              <a:defRPr sz="1425" b="1">
                <a:solidFill>
                  <a:srgbClr val="326CB2"/>
                </a:solidFill>
                <a:latin typeface="DejaVu Sans"/>
                <a:ea typeface="DejaVu Sans"/>
                <a:cs typeface="DejaVu Sans"/>
              </a:defRPr>
            </a:pPr>
            <a:r>
              <a:rPr sz="1425" b="1">
                <a:solidFill>
                  <a:srgbClr val="326CB2"/>
                </a:solidFill>
                <a:latin typeface="DejaVu Sans"/>
                <a:ea typeface="DejaVu Sans"/>
                <a:cs typeface="DejaVu Sans"/>
              </a:rPr>
              <a:t>Class 0</a:t>
            </a:r>
          </a:p>
        </p:txBody>
      </p:sp>
      <p:sp>
        <p:nvSpPr>
          <p:cNvPr id="15" name="text_9">
            <a:extLst>
              <a:ext uri="{FF2B5EF4-FFF2-40B4-BE49-F238E27FC236}">
                <a16:creationId xmlns:a16="http://schemas.microsoft.com/office/drawing/2014/main" id="{77A92B47-12B2-4BF6-ABEC-BD67B7CFBC83}"/>
              </a:ext>
            </a:extLst>
          </p:cNvPr>
          <p:cNvSpPr>
            <a:spLocks noGrp="1"/>
          </p:cNvSpPr>
          <p:nvPr/>
        </p:nvSpPr>
        <p:spPr>
          <a:xfrm>
            <a:off x="9117032" y="3182493"/>
            <a:ext cx="1009650" cy="266700"/>
          </a:xfrm>
          <a:prstGeom prst="rect">
            <a:avLst/>
          </a:prstGeom>
          <a:noFill/>
          <a:ln w="0">
            <a:noFill/>
          </a:ln>
        </p:spPr>
        <p:txBody>
          <a:bodyPr anchor="ctr">
            <a:noAutofit/>
          </a:bodyPr>
          <a:lstStyle/>
          <a:p>
            <a:pPr algn="ctr">
              <a:defRPr sz="1425" b="1">
                <a:solidFill>
                  <a:srgbClr val="C45C28"/>
                </a:solidFill>
                <a:latin typeface="DejaVu Sans"/>
                <a:ea typeface="DejaVu Sans"/>
                <a:cs typeface="DejaVu Sans"/>
              </a:defRPr>
            </a:pPr>
            <a:r>
              <a:rPr sz="1425" b="1">
                <a:solidFill>
                  <a:srgbClr val="C45C28"/>
                </a:solidFill>
                <a:latin typeface="DejaVu Sans"/>
                <a:ea typeface="DejaVu Sans"/>
                <a:cs typeface="DejaVu Sans"/>
              </a:rPr>
              <a:t>Class 1</a:t>
            </a:r>
          </a:p>
        </p:txBody>
      </p:sp>
      <mc:AlternateContent xmlns:mc="http://schemas.openxmlformats.org/markup-compatibility/2006" xmlns:a14="http://schemas.microsoft.com/office/drawing/2010/main">
        <mc:Choice Requires="a14">
          <p:sp>
            <p:nvSpPr>
              <p:cNvPr id="16" name="equation_10" descr="|x_1-x_2|=\frac12">
                <a:extLst>
                  <a:ext uri="{FF2B5EF4-FFF2-40B4-BE49-F238E27FC236}">
                    <a16:creationId xmlns:a16="http://schemas.microsoft.com/office/drawing/2014/main" id="{0A774326-DAF2-4918-8CA1-70E55C9E18F0}"/>
                  </a:ext>
                </a:extLst>
              </p:cNvPr>
              <p:cNvSpPr>
                <a:spLocks noGrp="1"/>
              </p:cNvSpPr>
              <p:nvPr/>
            </p:nvSpPr>
            <p:spPr>
              <a:xfrm>
                <a:off x="666750" y="5553075"/>
                <a:ext cx="51435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begChr m:val="|"/>
                          <m:endChr m:val="|"/>
                          <m:ctrlPr>
                            <a:rPr lang="en-GB" sz="2300" i="1">
                              <a:solidFill>
                                <a:srgbClr val="087F83"/>
                              </a:solidFill>
                              <a:latin typeface="Cambria Math" panose="02040503050406030204" pitchFamily="18" charset="0"/>
                              <a:ea typeface="Cambria Math"/>
                              <a:cs typeface="Cambria Math"/>
                            </a:rPr>
                          </m:ctrlPr>
                        </m:dPr>
                        <m:e>
                          <m:sSub>
                            <m:sSubPr>
                              <m:ctrlPr>
                                <a:rPr lang="en-GB" sz="2300">
                                  <a:solidFill>
                                    <a:srgbClr val="087F83"/>
                                  </a:solidFill>
                                  <a:latin typeface="Cambria Math"/>
                                  <a:ea typeface="Cambria Math"/>
                                  <a:cs typeface="Cambria Math"/>
                                </a:rPr>
                              </m:ctrlPr>
                            </m:sSubPr>
                            <m:e>
                              <m:r>
                                <a:rPr lang="en-GB" sz="2300">
                                  <a:solidFill>
                                    <a:srgbClr val="087F83"/>
                                  </a:solidFill>
                                  <a:latin typeface="Cambria Math"/>
                                  <a:ea typeface="Cambria Math"/>
                                  <a:cs typeface="Cambria Math"/>
                                </a:rPr>
                                <m:t>𝑥</m:t>
                              </m:r>
                            </m:e>
                            <m:sub>
                              <m:r>
                                <a:rPr lang="en-GB" sz="2300">
                                  <a:solidFill>
                                    <a:srgbClr val="087F83"/>
                                  </a:solidFill>
                                  <a:latin typeface="Cambria Math"/>
                                  <a:ea typeface="Cambria Math"/>
                                  <a:cs typeface="Cambria Math"/>
                                </a:rPr>
                                <m:t>1</m:t>
                              </m:r>
                            </m:sub>
                          </m:sSub>
                          <m:r>
                            <a:rPr lang="en-GB" sz="2300">
                              <a:solidFill>
                                <a:srgbClr val="087F83"/>
                              </a:solidFill>
                              <a:latin typeface="Cambria Math"/>
                              <a:ea typeface="Cambria Math"/>
                              <a:cs typeface="Cambria Math"/>
                            </a:rPr>
                            <m:t>−</m:t>
                          </m:r>
                          <m:sSub>
                            <m:sSubPr>
                              <m:ctrlPr>
                                <a:rPr lang="en-GB" sz="2300">
                                  <a:solidFill>
                                    <a:srgbClr val="087F83"/>
                                  </a:solidFill>
                                  <a:latin typeface="Cambria Math"/>
                                  <a:ea typeface="Cambria Math"/>
                                  <a:cs typeface="Cambria Math"/>
                                </a:rPr>
                              </m:ctrlPr>
                            </m:sSubPr>
                            <m:e>
                              <m:r>
                                <a:rPr lang="en-GB" sz="2300">
                                  <a:solidFill>
                                    <a:srgbClr val="087F83"/>
                                  </a:solidFill>
                                  <a:latin typeface="Cambria Math"/>
                                  <a:ea typeface="Cambria Math"/>
                                  <a:cs typeface="Cambria Math"/>
                                </a:rPr>
                                <m:t>𝑥</m:t>
                              </m:r>
                            </m:e>
                            <m:sub>
                              <m:r>
                                <a:rPr lang="en-GB" sz="2300">
                                  <a:solidFill>
                                    <a:srgbClr val="087F83"/>
                                  </a:solidFill>
                                  <a:latin typeface="Cambria Math"/>
                                  <a:ea typeface="Cambria Math"/>
                                  <a:cs typeface="Cambria Math"/>
                                </a:rPr>
                                <m:t>2</m:t>
                              </m:r>
                            </m:sub>
                          </m:sSub>
                        </m:e>
                      </m:d>
                      <m:r>
                        <a:rPr lang="en-GB" sz="2300">
                          <a:solidFill>
                            <a:srgbClr val="087F83"/>
                          </a:solidFill>
                          <a:latin typeface="Cambria Math"/>
                          <a:ea typeface="Cambria Math"/>
                          <a:cs typeface="Cambria Math"/>
                        </a:rPr>
                        <m:t>=</m:t>
                      </m:r>
                      <m:f>
                        <m:fPr>
                          <m:ctrlPr>
                            <a:rPr lang="en-GB" sz="2300">
                              <a:solidFill>
                                <a:srgbClr val="087F83"/>
                              </a:solidFill>
                              <a:latin typeface="Cambria Math"/>
                              <a:ea typeface="Cambria Math"/>
                              <a:cs typeface="Cambria Math"/>
                            </a:rPr>
                          </m:ctrlPr>
                        </m:fPr>
                        <m:num>
                          <m:r>
                            <a:rPr lang="en-GB" sz="2300">
                              <a:solidFill>
                                <a:srgbClr val="087F83"/>
                              </a:solidFill>
                              <a:latin typeface="Cambria Math"/>
                              <a:ea typeface="Cambria Math"/>
                              <a:cs typeface="Cambria Math"/>
                            </a:rPr>
                            <m:t>1</m:t>
                          </m:r>
                        </m:num>
                        <m:den>
                          <m:r>
                            <a:rPr lang="en-GB" sz="2300">
                              <a:solidFill>
                                <a:srgbClr val="087F83"/>
                              </a:solidFill>
                              <a:latin typeface="Cambria Math"/>
                              <a:ea typeface="Cambria Math"/>
                              <a:cs typeface="Cambria Math"/>
                            </a:rPr>
                            <m:t>2</m:t>
                          </m:r>
                        </m:den>
                      </m:f>
                    </m:oMath>
                  </m:oMathPara>
                </a14:m>
                <a:endParaRPr lang="en-GB" sz="2300" dirty="0"/>
              </a:p>
            </p:txBody>
          </p:sp>
        </mc:Choice>
        <mc:Fallback xmlns="">
          <p:sp>
            <p:nvSpPr>
              <p:cNvPr id="16" name="equation_10" descr="|x_1-x_2|=\frac12">
                <a:extLst>
                  <a:ext uri="{FF2B5EF4-FFF2-40B4-BE49-F238E27FC236}">
                    <a16:creationId xmlns:a16="http://schemas.microsoft.com/office/drawing/2014/main" id="{0A774326-DAF2-4918-8CA1-70E55C9E18F0}"/>
                  </a:ext>
                </a:extLst>
              </p:cNvPr>
              <p:cNvSpPr>
                <a:spLocks noGrp="1" noRot="1" noChangeAspect="1" noMove="1" noResize="1" noEditPoints="1" noAdjustHandles="1" noChangeArrowheads="1" noChangeShapeType="1" noTextEdit="1"/>
              </p:cNvSpPr>
              <p:nvPr/>
            </p:nvSpPr>
            <p:spPr>
              <a:xfrm>
                <a:off x="666750" y="5553075"/>
                <a:ext cx="5143500" cy="533400"/>
              </a:xfrm>
              <a:prstGeom prst="rect">
                <a:avLst/>
              </a:prstGeom>
              <a:blipFill>
                <a:blip r:embed="rId5"/>
                <a:stretch>
                  <a:fillRect t="-3448" b="-1264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 name="equation_11" descr="\phi_{1,1}(\bm x)+\phi_{1,2}(\bm x)=\frac12">
                <a:extLst>
                  <a:ext uri="{FF2B5EF4-FFF2-40B4-BE49-F238E27FC236}">
                    <a16:creationId xmlns:a16="http://schemas.microsoft.com/office/drawing/2014/main" id="{3A3A070A-4A4C-4664-95D6-93F892C0FA18}"/>
                  </a:ext>
                </a:extLst>
              </p:cNvPr>
              <p:cNvSpPr>
                <a:spLocks noGrp="1"/>
              </p:cNvSpPr>
              <p:nvPr/>
            </p:nvSpPr>
            <p:spPr>
              <a:xfrm>
                <a:off x="6204452" y="5610225"/>
                <a:ext cx="5381625" cy="4953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𝜙</m:t>
                          </m:r>
                        </m:e>
                        <m:sub>
                          <m:r>
                            <a:rPr lang="en-GB" sz="2500">
                              <a:solidFill>
                                <a:srgbClr val="087F83"/>
                              </a:solidFill>
                              <a:latin typeface="Cambria Math"/>
                              <a:ea typeface="Cambria Math"/>
                              <a:cs typeface="Cambria Math"/>
                            </a:rPr>
                            <m:t>1,1</m:t>
                          </m:r>
                        </m:sub>
                      </m:sSub>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𝐱</m:t>
                      </m:r>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𝜙</m:t>
                          </m:r>
                        </m:e>
                        <m:sub>
                          <m:r>
                            <a:rPr lang="en-GB" sz="2500">
                              <a:solidFill>
                                <a:srgbClr val="087F83"/>
                              </a:solidFill>
                              <a:latin typeface="Cambria Math"/>
                              <a:ea typeface="Cambria Math"/>
                              <a:cs typeface="Cambria Math"/>
                            </a:rPr>
                            <m:t>1,2</m:t>
                          </m:r>
                        </m:sub>
                      </m:sSub>
                      <m:r>
                        <a:rPr lang="en-GB" sz="2500">
                          <a:solidFill>
                            <a:srgbClr val="087F83"/>
                          </a:solidFill>
                          <a:latin typeface="Cambria Math"/>
                          <a:ea typeface="Cambria Math"/>
                          <a:cs typeface="Cambria Math"/>
                        </a:rPr>
                        <m:t>(</m:t>
                      </m:r>
                      <m:r>
                        <a:rPr lang="en-GB" sz="2500">
                          <a:solidFill>
                            <a:srgbClr val="087F83"/>
                          </a:solidFill>
                          <a:latin typeface="Cambria Math"/>
                          <a:ea typeface="Cambria Math"/>
                          <a:cs typeface="Cambria Math"/>
                        </a:rPr>
                        <m:t>𝐱</m:t>
                      </m:r>
                      <m:r>
                        <a:rPr lang="en-GB" sz="2500">
                          <a:solidFill>
                            <a:srgbClr val="087F83"/>
                          </a:solidFill>
                          <a:latin typeface="Cambria Math"/>
                          <a:ea typeface="Cambria Math"/>
                          <a:cs typeface="Cambria Math"/>
                        </a:rPr>
                        <m:t>)=</m:t>
                      </m:r>
                      <m:f>
                        <m:fPr>
                          <m:ctrlPr>
                            <a:rPr lang="en-GB" sz="2500">
                              <a:solidFill>
                                <a:srgbClr val="087F83"/>
                              </a:solidFill>
                              <a:latin typeface="Cambria Math"/>
                              <a:ea typeface="Cambria Math"/>
                              <a:cs typeface="Cambria Math"/>
                            </a:rPr>
                          </m:ctrlPr>
                        </m:fPr>
                        <m:num>
                          <m:r>
                            <a:rPr lang="en-GB" sz="2500">
                              <a:solidFill>
                                <a:srgbClr val="087F83"/>
                              </a:solidFill>
                              <a:latin typeface="Cambria Math"/>
                              <a:ea typeface="Cambria Math"/>
                              <a:cs typeface="Cambria Math"/>
                            </a:rPr>
                            <m:t>1</m:t>
                          </m:r>
                        </m:num>
                        <m:den>
                          <m:r>
                            <a:rPr lang="en-GB" sz="2500">
                              <a:solidFill>
                                <a:srgbClr val="087F83"/>
                              </a:solidFill>
                              <a:latin typeface="Cambria Math"/>
                              <a:ea typeface="Cambria Math"/>
                              <a:cs typeface="Cambria Math"/>
                            </a:rPr>
                            <m:t>2</m:t>
                          </m:r>
                        </m:den>
                      </m:f>
                    </m:oMath>
                  </m:oMathPara>
                </a14:m>
                <a:endParaRPr lang="en-GB" sz="2500"/>
              </a:p>
            </p:txBody>
          </p:sp>
        </mc:Choice>
        <mc:Fallback xmlns="">
          <p:sp>
            <p:nvSpPr>
              <p:cNvPr id="17" name="equation_11" descr="\phi_{1,1}(\bm x)+\phi_{1,2}(\bm x)=\frac12">
                <a:extLst>
                  <a:ext uri="{FF2B5EF4-FFF2-40B4-BE49-F238E27FC236}">
                    <a16:creationId xmlns:a16="http://schemas.microsoft.com/office/drawing/2014/main" id="{3A3A070A-4A4C-4664-95D6-93F892C0FA18}"/>
                  </a:ext>
                </a:extLst>
              </p:cNvPr>
              <p:cNvSpPr>
                <a:spLocks noGrp="1" noRot="1" noChangeAspect="1" noMove="1" noResize="1" noEditPoints="1" noAdjustHandles="1" noChangeArrowheads="1" noChangeShapeType="1" noTextEdit="1"/>
              </p:cNvSpPr>
              <p:nvPr/>
            </p:nvSpPr>
            <p:spPr>
              <a:xfrm>
                <a:off x="6204452" y="5610225"/>
                <a:ext cx="5381625" cy="495300"/>
              </a:xfrm>
              <a:prstGeom prst="rect">
                <a:avLst/>
              </a:prstGeom>
              <a:blipFill>
                <a:blip r:embed="rId6"/>
                <a:stretch>
                  <a:fillRect t="-12195" b="-2195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text_12">
                <a:extLst>
                  <a:ext uri="{FF2B5EF4-FFF2-40B4-BE49-F238E27FC236}">
                    <a16:creationId xmlns:a16="http://schemas.microsoft.com/office/drawing/2014/main" id="{73074A83-FC0B-4B97-967A-EC8E2D62E8E0}"/>
                  </a:ext>
                </a:extLst>
              </p:cNvPr>
              <p:cNvSpPr>
                <a:spLocks noGrp="1"/>
              </p:cNvSpPr>
              <p:nvPr/>
            </p:nvSpPr>
            <p:spPr>
              <a:xfrm>
                <a:off x="6143625" y="6272211"/>
                <a:ext cx="5524500" cy="314325"/>
              </a:xfrm>
              <a:prstGeom prst="rect">
                <a:avLst/>
              </a:prstGeom>
              <a:noFill/>
              <a:ln w="0">
                <a:noFill/>
              </a:ln>
            </p:spPr>
            <p:txBody>
              <a:bodyPr anchor="ctr">
                <a:noAutofit/>
              </a:bodyPr>
              <a:lstStyle/>
              <a:p>
                <a:pPr algn="ctr">
                  <a:defRPr sz="1575" b="0">
                    <a:solidFill>
                      <a:srgbClr val="526276"/>
                    </a:solidFill>
                    <a:latin typeface="DejaVu Sans"/>
                    <a:ea typeface="DejaVu Sans"/>
                    <a:cs typeface="DejaVu Sans"/>
                  </a:defRPr>
                </a:pPr>
                <a14:m>
                  <m:oMath xmlns:m="http://schemas.openxmlformats.org/officeDocument/2006/math">
                    <m:d>
                      <m:dPr>
                        <m:ctrlPr>
                          <a:rPr lang="ar-AE" sz="1575" b="0" i="1" dirty="0" smtClean="0">
                            <a:solidFill>
                              <a:srgbClr val="526276"/>
                            </a:solidFill>
                            <a:latin typeface="Cambria Math" panose="02040503050406030204" pitchFamily="18" charset="0"/>
                            <a:ea typeface="DejaVu Sans"/>
                            <a:cs typeface="DejaVu Sans"/>
                          </a:rPr>
                        </m:ctrlPr>
                      </m:dPr>
                      <m:e>
                        <m:r>
                          <a:rPr lang="ar-AE" sz="1575" b="0" i="1" dirty="0" smtClean="0">
                            <a:solidFill>
                              <a:srgbClr val="526276"/>
                            </a:solidFill>
                            <a:latin typeface="Cambria Math" panose="02040503050406030204" pitchFamily="18" charset="0"/>
                            <a:ea typeface="DejaVu Sans"/>
                            <a:cs typeface="DejaVu Sans"/>
                          </a:rPr>
                          <m:t>0, 0</m:t>
                        </m:r>
                      </m:e>
                    </m:d>
                  </m:oMath>
                </a14:m>
                <a:r>
                  <a:rPr lang="it-IT" sz="1575" b="0" dirty="0">
                    <a:solidFill>
                      <a:srgbClr val="526276"/>
                    </a:solidFill>
                    <a:latin typeface="DejaVu Sans"/>
                    <a:ea typeface="DejaVu Sans"/>
                    <a:cs typeface="DejaVu Sans"/>
                  </a:rPr>
                  <a:t> and </a:t>
                </a:r>
                <a14:m>
                  <m:oMath xmlns:m="http://schemas.openxmlformats.org/officeDocument/2006/math">
                    <m:d>
                      <m:dPr>
                        <m:ctrlPr>
                          <a:rPr lang="it-IT" sz="1575" b="0" i="1" dirty="0" smtClean="0">
                            <a:solidFill>
                              <a:srgbClr val="526276"/>
                            </a:solidFill>
                            <a:latin typeface="Cambria Math" panose="02040503050406030204" pitchFamily="18" charset="0"/>
                            <a:ea typeface="DejaVu Sans"/>
                            <a:cs typeface="DejaVu Sans"/>
                          </a:rPr>
                        </m:ctrlPr>
                      </m:dPr>
                      <m:e>
                        <m:r>
                          <a:rPr lang="it-IT" sz="1575" b="0" i="1" dirty="0" smtClean="0">
                            <a:solidFill>
                              <a:srgbClr val="526276"/>
                            </a:solidFill>
                            <a:latin typeface="Cambria Math" panose="02040503050406030204" pitchFamily="18" charset="0"/>
                            <a:ea typeface="DejaVu Sans"/>
                            <a:cs typeface="DejaVu Sans"/>
                          </a:rPr>
                          <m:t>1, 1</m:t>
                        </m:r>
                      </m:e>
                    </m:d>
                  </m:oMath>
                </a14:m>
                <a:r>
                  <a:rPr lang="it-IT" sz="1575" b="0" dirty="0">
                    <a:solidFill>
                      <a:srgbClr val="526276"/>
                    </a:solidFill>
                    <a:latin typeface="DejaVu Sans"/>
                    <a:ea typeface="DejaVu Sans"/>
                    <a:cs typeface="DejaVu Sans"/>
                  </a:rPr>
                  <a:t> both map to the origin.</a:t>
                </a:r>
                <a:endParaRPr sz="1575" b="0" dirty="0">
                  <a:solidFill>
                    <a:srgbClr val="526276"/>
                  </a:solidFill>
                  <a:latin typeface="DejaVu Sans"/>
                  <a:ea typeface="DejaVu Sans"/>
                  <a:cs typeface="DejaVu Sans"/>
                </a:endParaRPr>
              </a:p>
            </p:txBody>
          </p:sp>
        </mc:Choice>
        <mc:Fallback xmlns="">
          <p:sp>
            <p:nvSpPr>
              <p:cNvPr id="18" name="text_12">
                <a:extLst>
                  <a:ext uri="{FF2B5EF4-FFF2-40B4-BE49-F238E27FC236}">
                    <a16:creationId xmlns:a16="http://schemas.microsoft.com/office/drawing/2014/main" id="{73074A83-FC0B-4B97-967A-EC8E2D62E8E0}"/>
                  </a:ext>
                </a:extLst>
              </p:cNvPr>
              <p:cNvSpPr>
                <a:spLocks noGrp="1" noRot="1" noChangeAspect="1" noMove="1" noResize="1" noEditPoints="1" noAdjustHandles="1" noChangeArrowheads="1" noChangeShapeType="1" noTextEdit="1"/>
              </p:cNvSpPr>
              <p:nvPr/>
            </p:nvSpPr>
            <p:spPr>
              <a:xfrm>
                <a:off x="6143625" y="6272211"/>
                <a:ext cx="5524500" cy="314325"/>
              </a:xfrm>
              <a:prstGeom prst="rect">
                <a:avLst/>
              </a:prstGeom>
              <a:blipFill>
                <a:blip r:embed="rId7"/>
                <a:stretch>
                  <a:fillRect t="-9804" b="-2745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 name="feature_axis_x" descr="\phi_{1,1}(\bm x)">
                <a:extLst>
                  <a:ext uri="{FF2B5EF4-FFF2-40B4-BE49-F238E27FC236}">
                    <a16:creationId xmlns:a16="http://schemas.microsoft.com/office/drawing/2014/main" id="{47A5EAD9-7191-493C-84DF-54158C483253}"/>
                  </a:ext>
                </a:extLst>
              </p:cNvPr>
              <p:cNvSpPr>
                <a:spLocks noGrp="1"/>
              </p:cNvSpPr>
              <p:nvPr/>
            </p:nvSpPr>
            <p:spPr>
              <a:xfrm>
                <a:off x="8239125" y="5200650"/>
                <a:ext cx="171450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182D45"/>
                              </a:solidFill>
                              <a:latin typeface="Cambria Math"/>
                              <a:ea typeface="Cambria Math"/>
                              <a:cs typeface="Cambria Math"/>
                            </a:rPr>
                          </m:ctrlPr>
                        </m:sSubPr>
                        <m:e>
                          <m:r>
                            <a:rPr lang="en-GB" sz="1900">
                              <a:solidFill>
                                <a:srgbClr val="182D45"/>
                              </a:solidFill>
                              <a:latin typeface="Cambria Math"/>
                              <a:ea typeface="Cambria Math"/>
                              <a:cs typeface="Cambria Math"/>
                            </a:rPr>
                            <m:t>𝜙</m:t>
                          </m:r>
                        </m:e>
                        <m:sub>
                          <m:r>
                            <a:rPr lang="en-GB" sz="1900">
                              <a:solidFill>
                                <a:srgbClr val="182D45"/>
                              </a:solidFill>
                              <a:latin typeface="Cambria Math"/>
                              <a:ea typeface="Cambria Math"/>
                              <a:cs typeface="Cambria Math"/>
                            </a:rPr>
                            <m:t>1,1</m:t>
                          </m:r>
                        </m:sub>
                      </m:sSub>
                      <m:r>
                        <a:rPr lang="en-GB" sz="1900">
                          <a:solidFill>
                            <a:srgbClr val="182D45"/>
                          </a:solidFill>
                          <a:latin typeface="Cambria Math"/>
                          <a:ea typeface="Cambria Math"/>
                          <a:cs typeface="Cambria Math"/>
                        </a:rPr>
                        <m:t>(</m:t>
                      </m:r>
                      <m:r>
                        <a:rPr lang="en-GB" sz="1900">
                          <a:solidFill>
                            <a:srgbClr val="182D45"/>
                          </a:solidFill>
                          <a:latin typeface="Cambria Math"/>
                          <a:ea typeface="Cambria Math"/>
                          <a:cs typeface="Cambria Math"/>
                        </a:rPr>
                        <m:t>𝐱</m:t>
                      </m:r>
                      <m:r>
                        <a:rPr lang="en-GB" sz="1900">
                          <a:solidFill>
                            <a:srgbClr val="182D45"/>
                          </a:solidFill>
                          <a:latin typeface="Cambria Math"/>
                          <a:ea typeface="Cambria Math"/>
                          <a:cs typeface="Cambria Math"/>
                        </a:rPr>
                        <m:t>)</m:t>
                      </m:r>
                    </m:oMath>
                  </m:oMathPara>
                </a14:m>
                <a:endParaRPr lang="en-GB" sz="1900"/>
              </a:p>
            </p:txBody>
          </p:sp>
        </mc:Choice>
        <mc:Fallback xmlns="">
          <p:sp>
            <p:nvSpPr>
              <p:cNvPr id="28" name="feature_axis_x" descr="\phi_{1,1}(\bm x)">
                <a:extLst>
                  <a:ext uri="{FF2B5EF4-FFF2-40B4-BE49-F238E27FC236}">
                    <a16:creationId xmlns:a16="http://schemas.microsoft.com/office/drawing/2014/main" id="{47A5EAD9-7191-493C-84DF-54158C483253}"/>
                  </a:ext>
                </a:extLst>
              </p:cNvPr>
              <p:cNvSpPr>
                <a:spLocks noGrp="1" noRot="1" noChangeAspect="1" noMove="1" noResize="1" noEditPoints="1" noAdjustHandles="1" noChangeArrowheads="1" noChangeShapeType="1" noTextEdit="1"/>
              </p:cNvSpPr>
              <p:nvPr/>
            </p:nvSpPr>
            <p:spPr>
              <a:xfrm>
                <a:off x="8239125" y="5200650"/>
                <a:ext cx="1714500" cy="323850"/>
              </a:xfrm>
              <a:prstGeom prst="rect">
                <a:avLst/>
              </a:prstGeom>
              <a:blipFill>
                <a:blip r:embed="rId8"/>
                <a:stretch>
                  <a:fillRect b="-2830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9" name="feature_axis_y" descr="\phi_{1,2}(\bm x)">
                <a:extLst>
                  <a:ext uri="{FF2B5EF4-FFF2-40B4-BE49-F238E27FC236}">
                    <a16:creationId xmlns:a16="http://schemas.microsoft.com/office/drawing/2014/main" id="{C113088A-AB55-4930-BC52-03D2151DB813}"/>
                  </a:ext>
                </a:extLst>
              </p:cNvPr>
              <p:cNvSpPr>
                <a:spLocks noGrp="1"/>
              </p:cNvSpPr>
              <p:nvPr/>
            </p:nvSpPr>
            <p:spPr>
              <a:xfrm rot="16200000">
                <a:off x="5343525" y="3448050"/>
                <a:ext cx="14287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182D45"/>
                              </a:solidFill>
                              <a:latin typeface="Cambria Math"/>
                              <a:ea typeface="Cambria Math"/>
                              <a:cs typeface="Cambria Math"/>
                            </a:rPr>
                          </m:ctrlPr>
                        </m:sSubPr>
                        <m:e>
                          <m:r>
                            <a:rPr lang="en-GB" sz="1900">
                              <a:solidFill>
                                <a:srgbClr val="182D45"/>
                              </a:solidFill>
                              <a:latin typeface="Cambria Math"/>
                              <a:ea typeface="Cambria Math"/>
                              <a:cs typeface="Cambria Math"/>
                            </a:rPr>
                            <m:t>𝜙</m:t>
                          </m:r>
                        </m:e>
                        <m:sub>
                          <m:r>
                            <a:rPr lang="en-GB" sz="1900">
                              <a:solidFill>
                                <a:srgbClr val="182D45"/>
                              </a:solidFill>
                              <a:latin typeface="Cambria Math"/>
                              <a:ea typeface="Cambria Math"/>
                              <a:cs typeface="Cambria Math"/>
                            </a:rPr>
                            <m:t>1,2</m:t>
                          </m:r>
                        </m:sub>
                      </m:sSub>
                      <m:r>
                        <a:rPr lang="en-GB" sz="1900">
                          <a:solidFill>
                            <a:srgbClr val="182D45"/>
                          </a:solidFill>
                          <a:latin typeface="Cambria Math"/>
                          <a:ea typeface="Cambria Math"/>
                          <a:cs typeface="Cambria Math"/>
                        </a:rPr>
                        <m:t>(</m:t>
                      </m:r>
                      <m:r>
                        <a:rPr lang="en-GB" sz="1900">
                          <a:solidFill>
                            <a:srgbClr val="182D45"/>
                          </a:solidFill>
                          <a:latin typeface="Cambria Math"/>
                          <a:ea typeface="Cambria Math"/>
                          <a:cs typeface="Cambria Math"/>
                        </a:rPr>
                        <m:t>𝐱</m:t>
                      </m:r>
                      <m:r>
                        <a:rPr lang="en-GB" sz="1900">
                          <a:solidFill>
                            <a:srgbClr val="182D45"/>
                          </a:solidFill>
                          <a:latin typeface="Cambria Math"/>
                          <a:ea typeface="Cambria Math"/>
                          <a:cs typeface="Cambria Math"/>
                        </a:rPr>
                        <m:t>)</m:t>
                      </m:r>
                    </m:oMath>
                  </m:oMathPara>
                </a14:m>
                <a:endParaRPr lang="en-GB" sz="1900"/>
              </a:p>
            </p:txBody>
          </p:sp>
        </mc:Choice>
        <mc:Fallback xmlns="">
          <p:sp>
            <p:nvSpPr>
              <p:cNvPr id="29" name="feature_axis_y" descr="\phi_{1,2}(\bm x)">
                <a:extLst>
                  <a:ext uri="{FF2B5EF4-FFF2-40B4-BE49-F238E27FC236}">
                    <a16:creationId xmlns:a16="http://schemas.microsoft.com/office/drawing/2014/main" id="{C113088A-AB55-4930-BC52-03D2151DB813}"/>
                  </a:ext>
                </a:extLst>
              </p:cNvPr>
              <p:cNvSpPr>
                <a:spLocks noGrp="1" noRot="1" noChangeAspect="1" noMove="1" noResize="1" noEditPoints="1" noAdjustHandles="1" noChangeArrowheads="1" noChangeShapeType="1" noTextEdit="1"/>
              </p:cNvSpPr>
              <p:nvPr/>
            </p:nvSpPr>
            <p:spPr>
              <a:xfrm rot="16200000">
                <a:off x="5343525" y="3448050"/>
                <a:ext cx="1428750" cy="323850"/>
              </a:xfrm>
              <a:prstGeom prst="rect">
                <a:avLst/>
              </a:prstGeom>
              <a:blipFill>
                <a:blip r:embed="rId9"/>
                <a:stretch>
                  <a:fillRect r="-28302"/>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7164247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9F2F0D33-2964-4B41-A54F-B72C7678C557}"/>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lang="it-IT" sz="3300" b="1" dirty="0" err="1">
                <a:solidFill>
                  <a:srgbClr val="182D45"/>
                </a:solidFill>
                <a:latin typeface="DejaVu Sans"/>
                <a:ea typeface="DejaVu Sans"/>
                <a:cs typeface="DejaVu Sans"/>
              </a:rPr>
              <a:t>Today’s</a:t>
            </a:r>
            <a:r>
              <a:rPr lang="it-IT" sz="3300" b="1" dirty="0">
                <a:solidFill>
                  <a:srgbClr val="182D45"/>
                </a:solidFill>
                <a:latin typeface="DejaVu Sans"/>
                <a:ea typeface="DejaVu Sans"/>
                <a:cs typeface="DejaVu Sans"/>
              </a:rPr>
              <a:t> </a:t>
            </a:r>
            <a:r>
              <a:rPr lang="it-IT" sz="3300" b="1" dirty="0" err="1">
                <a:solidFill>
                  <a:srgbClr val="182D45"/>
                </a:solidFill>
                <a:latin typeface="DejaVu Sans"/>
                <a:ea typeface="DejaVu Sans"/>
                <a:cs typeface="DejaVu Sans"/>
              </a:rPr>
              <a:t>lecture</a:t>
            </a:r>
            <a:endParaRPr lang="it-IT" sz="3300" b="1" dirty="0">
              <a:solidFill>
                <a:srgbClr val="182D45"/>
              </a:solidFill>
              <a:latin typeface="DejaVu Sans"/>
              <a:ea typeface="DejaVu Sans"/>
              <a:cs typeface="DejaVu Sans"/>
            </a:endParaRPr>
          </a:p>
        </p:txBody>
      </p:sp>
      <p:sp>
        <p:nvSpPr>
          <p:cNvPr id="3" name="footer_course">
            <a:extLst>
              <a:ext uri="{FF2B5EF4-FFF2-40B4-BE49-F238E27FC236}">
                <a16:creationId xmlns:a16="http://schemas.microsoft.com/office/drawing/2014/main" id="{743FE78E-8327-4D4C-861C-31D78F3A367A}"/>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8619E3DD-D38E-477D-AE1D-2853900FA166}"/>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dirty="0">
                <a:solidFill>
                  <a:srgbClr val="526276"/>
                </a:solidFill>
                <a:latin typeface="DejaVu Sans"/>
                <a:ea typeface="DejaVu Sans"/>
                <a:cs typeface="DejaVu Sans"/>
              </a:rPr>
              <a:t>3</a:t>
            </a:r>
            <a:r>
              <a:rPr lang="it-IT" sz="1050" b="0" dirty="0">
                <a:solidFill>
                  <a:srgbClr val="526276"/>
                </a:solidFill>
                <a:latin typeface="DejaVu Sans"/>
                <a:ea typeface="DejaVu Sans"/>
                <a:cs typeface="DejaVu Sans"/>
              </a:rPr>
              <a:t>4</a:t>
            </a:r>
            <a:endParaRPr sz="1050" b="0" dirty="0">
              <a:solidFill>
                <a:srgbClr val="526276"/>
              </a:solidFill>
              <a:latin typeface="DejaVu Sans"/>
              <a:ea typeface="DejaVu Sans"/>
              <a:cs typeface="DejaVu Sans"/>
            </a:endParaRPr>
          </a:p>
        </p:txBody>
      </p:sp>
      <p:sp>
        <p:nvSpPr>
          <p:cNvPr id="5" name="text_1">
            <a:extLst>
              <a:ext uri="{FF2B5EF4-FFF2-40B4-BE49-F238E27FC236}">
                <a16:creationId xmlns:a16="http://schemas.microsoft.com/office/drawing/2014/main" id="{22DB1E5C-4512-4B5A-A808-B6C015E03C3C}"/>
              </a:ext>
            </a:extLst>
          </p:cNvPr>
          <p:cNvSpPr>
            <a:spLocks noGrp="1"/>
          </p:cNvSpPr>
          <p:nvPr/>
        </p:nvSpPr>
        <p:spPr>
          <a:xfrm>
            <a:off x="904875" y="2190750"/>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Affine layers and activation functions</a:t>
            </a:r>
          </a:p>
        </p:txBody>
      </p:sp>
      <p:sp>
        <p:nvSpPr>
          <p:cNvPr id="6" name="text_2">
            <a:extLst>
              <a:ext uri="{FF2B5EF4-FFF2-40B4-BE49-F238E27FC236}">
                <a16:creationId xmlns:a16="http://schemas.microsoft.com/office/drawing/2014/main" id="{62AE5310-1DC6-461E-957F-0F54C26236B2}"/>
              </a:ext>
            </a:extLst>
          </p:cNvPr>
          <p:cNvSpPr>
            <a:spLocks noGrp="1"/>
          </p:cNvSpPr>
          <p:nvPr/>
        </p:nvSpPr>
        <p:spPr>
          <a:xfrm>
            <a:off x="904875" y="3190875"/>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Neural networks and the forward pass</a:t>
            </a:r>
          </a:p>
        </p:txBody>
      </p:sp>
      <p:sp>
        <p:nvSpPr>
          <p:cNvPr id="7" name="text_3">
            <a:extLst>
              <a:ext uri="{FF2B5EF4-FFF2-40B4-BE49-F238E27FC236}">
                <a16:creationId xmlns:a16="http://schemas.microsoft.com/office/drawing/2014/main" id="{5C697DE2-F767-4C40-A2F0-222FA9FF872B}"/>
              </a:ext>
            </a:extLst>
          </p:cNvPr>
          <p:cNvSpPr>
            <a:spLocks noGrp="1"/>
          </p:cNvSpPr>
          <p:nvPr/>
        </p:nvSpPr>
        <p:spPr>
          <a:xfrm>
            <a:off x="904875" y="4191000"/>
            <a:ext cx="10382250" cy="619125"/>
          </a:xfrm>
          <a:prstGeom prst="rect">
            <a:avLst/>
          </a:prstGeom>
          <a:noFill/>
          <a:ln w="0">
            <a:noFill/>
          </a:ln>
        </p:spPr>
        <p:txBody>
          <a:bodyPr anchor="ctr">
            <a:noAutofit/>
          </a:bodyPr>
          <a:lstStyle/>
          <a:p>
            <a:pPr algn="ctr">
              <a:defRPr sz="2475" b="0">
                <a:solidFill>
                  <a:srgbClr val="8993A0"/>
                </a:solidFill>
                <a:latin typeface="DejaVu Sans"/>
                <a:ea typeface="DejaVu Sans"/>
                <a:cs typeface="DejaVu Sans"/>
              </a:defRPr>
            </a:pPr>
            <a:r>
              <a:rPr sz="2475" b="0">
                <a:solidFill>
                  <a:srgbClr val="8993A0"/>
                </a:solidFill>
                <a:latin typeface="DejaVu Sans"/>
                <a:ea typeface="DejaVu Sans"/>
                <a:cs typeface="DejaVu Sans"/>
              </a:rPr>
              <a:t>What neural networks can represent</a:t>
            </a:r>
          </a:p>
        </p:txBody>
      </p:sp>
      <p:sp>
        <p:nvSpPr>
          <p:cNvPr id="8" name="text_4">
            <a:extLst>
              <a:ext uri="{FF2B5EF4-FFF2-40B4-BE49-F238E27FC236}">
                <a16:creationId xmlns:a16="http://schemas.microsoft.com/office/drawing/2014/main" id="{B2D663F9-860E-48B8-960F-2003DCE9C3F6}"/>
              </a:ext>
            </a:extLst>
          </p:cNvPr>
          <p:cNvSpPr>
            <a:spLocks noGrp="1"/>
          </p:cNvSpPr>
          <p:nvPr/>
        </p:nvSpPr>
        <p:spPr>
          <a:xfrm>
            <a:off x="904875" y="5191125"/>
            <a:ext cx="10382250" cy="619125"/>
          </a:xfrm>
          <a:prstGeom prst="rect">
            <a:avLst/>
          </a:prstGeom>
          <a:noFill/>
          <a:ln w="0">
            <a:noFill/>
          </a:ln>
        </p:spPr>
        <p:txBody>
          <a:bodyPr anchor="ctr">
            <a:noAutofit/>
          </a:bodyPr>
          <a:lstStyle/>
          <a:p>
            <a:pPr algn="ctr">
              <a:defRPr sz="2475" b="1">
                <a:solidFill>
                  <a:srgbClr val="087F83"/>
                </a:solidFill>
                <a:latin typeface="DejaVu Sans"/>
                <a:ea typeface="DejaVu Sans"/>
                <a:cs typeface="DejaVu Sans"/>
              </a:defRPr>
            </a:pPr>
            <a:r>
              <a:rPr sz="2475" b="1">
                <a:solidFill>
                  <a:srgbClr val="087F83"/>
                </a:solidFill>
                <a:latin typeface="DejaVu Sans"/>
                <a:ea typeface="DejaVu Sans"/>
                <a:cs typeface="DejaVu Sans"/>
              </a:rPr>
              <a:t>Fitting neural networks and local minima</a:t>
            </a:r>
          </a:p>
        </p:txBody>
      </p:sp>
    </p:spTree>
    <p:extLst>
      <p:ext uri="{BB962C8B-B14F-4D97-AF65-F5344CB8AC3E}">
        <p14:creationId xmlns:p14="http://schemas.microsoft.com/office/powerpoint/2010/main" val="19820000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43E7621C-2FC2-4E84-B1AC-8136342A83FF}"/>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Fitting all weights and biases</a:t>
            </a:r>
          </a:p>
        </p:txBody>
      </p:sp>
      <p:sp>
        <p:nvSpPr>
          <p:cNvPr id="2" name="lead">
            <a:extLst>
              <a:ext uri="{FF2B5EF4-FFF2-40B4-BE49-F238E27FC236}">
                <a16:creationId xmlns:a16="http://schemas.microsoft.com/office/drawing/2014/main" id="{7CFEEA11-9C75-4FED-B1ED-E3F285DA3274}"/>
              </a:ext>
            </a:extLst>
          </p:cNvPr>
          <p:cNvSpPr>
            <a:spLocks noGrp="1"/>
          </p:cNvSpPr>
          <p:nvPr/>
        </p:nvSpPr>
        <p:spPr>
          <a:xfrm>
            <a:off x="1285875" y="1514475"/>
            <a:ext cx="4953000" cy="68580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it-IT" sz="2175" b="0" dirty="0" err="1">
                <a:solidFill>
                  <a:srgbClr val="526276"/>
                </a:solidFill>
                <a:latin typeface="DejaVu Sans"/>
                <a:ea typeface="DejaVu Sans"/>
                <a:cs typeface="DejaVu Sans"/>
              </a:rPr>
              <a:t>Regression</a:t>
            </a:r>
            <a:endParaRPr sz="2175" b="0" dirty="0">
              <a:solidFill>
                <a:srgbClr val="526276"/>
              </a:solidFill>
              <a:latin typeface="DejaVu Sans"/>
              <a:ea typeface="DejaVu Sans"/>
              <a:cs typeface="DejaVu Sans"/>
            </a:endParaRPr>
          </a:p>
        </p:txBody>
      </p:sp>
      <p:sp>
        <p:nvSpPr>
          <p:cNvPr id="3" name="footer_course">
            <a:extLst>
              <a:ext uri="{FF2B5EF4-FFF2-40B4-BE49-F238E27FC236}">
                <a16:creationId xmlns:a16="http://schemas.microsoft.com/office/drawing/2014/main" id="{6EFDA82A-5973-4E3C-82B5-3DCE7FB040FA}"/>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D8CF70F7-1F89-4C6E-8640-E629583A0A61}"/>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dirty="0">
                <a:solidFill>
                  <a:srgbClr val="526276"/>
                </a:solidFill>
                <a:latin typeface="DejaVu Sans"/>
                <a:ea typeface="DejaVu Sans"/>
                <a:cs typeface="DejaVu Sans"/>
              </a:rPr>
              <a:t>3</a:t>
            </a:r>
            <a:r>
              <a:rPr lang="it-IT" sz="1050" b="0" dirty="0">
                <a:solidFill>
                  <a:srgbClr val="526276"/>
                </a:solidFill>
                <a:latin typeface="DejaVu Sans"/>
                <a:ea typeface="DejaVu Sans"/>
                <a:cs typeface="DejaVu Sans"/>
              </a:rPr>
              <a:t>5</a:t>
            </a:r>
            <a:endParaRPr sz="1050" b="0" dirty="0">
              <a:solidFill>
                <a:srgbClr val="526276"/>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5" name="equation_1" descr="\mathcal{L}(\boldsymbol{\theta})=\sum_{i=1}^{N}\ell_i(\boldsymbol{\theta})">
                <a:extLst>
                  <a:ext uri="{FF2B5EF4-FFF2-40B4-BE49-F238E27FC236}">
                    <a16:creationId xmlns:a16="http://schemas.microsoft.com/office/drawing/2014/main" id="{2A8E0CC6-0FF5-4880-885A-4ACF4E466FF0}"/>
                  </a:ext>
                </a:extLst>
              </p:cNvPr>
              <p:cNvSpPr>
                <a:spLocks noGrp="1"/>
              </p:cNvSpPr>
              <p:nvPr/>
            </p:nvSpPr>
            <p:spPr>
              <a:xfrm>
                <a:off x="571500" y="2457450"/>
                <a:ext cx="11049000" cy="1028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smtClean="0">
                              <a:solidFill>
                                <a:srgbClr val="087F83"/>
                              </a:solidFill>
                              <a:latin typeface="Cambria Math"/>
                              <a:ea typeface="Cambria Math"/>
                              <a:cs typeface="Cambria Math"/>
                            </a:rPr>
                          </m:ctrlPr>
                        </m:sSubPr>
                        <m:e>
                          <m:r>
                            <a:rPr lang="en-GB" sz="2500" smtClean="0">
                              <a:solidFill>
                                <a:srgbClr val="087F83"/>
                              </a:solidFill>
                              <a:latin typeface="Cambria Math"/>
                              <a:ea typeface="Cambria Math"/>
                              <a:cs typeface="Cambria Math"/>
                            </a:rPr>
                            <m:t>ℒ</m:t>
                          </m:r>
                        </m:e>
                        <m:sub>
                          <m:r>
                            <m:rPr>
                              <m:sty m:val="p"/>
                            </m:rPr>
                            <a:rPr lang="it-IT" sz="2500" b="0" i="0" smtClean="0">
                              <a:solidFill>
                                <a:srgbClr val="087F83"/>
                              </a:solidFill>
                              <a:latin typeface="Cambria Math" panose="02040503050406030204" pitchFamily="18" charset="0"/>
                              <a:ea typeface="Cambria Math"/>
                              <a:cs typeface="Cambria Math"/>
                            </a:rPr>
                            <m:t>sq</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𝛉</m:t>
                          </m:r>
                        </m:e>
                      </m:d>
                      <m:r>
                        <a:rPr lang="en-GB" sz="2500">
                          <a:solidFill>
                            <a:srgbClr val="087F83"/>
                          </a:solidFill>
                          <a:latin typeface="Cambria Math"/>
                          <a:ea typeface="Cambria Math"/>
                          <a:cs typeface="Cambria Math"/>
                        </a:rPr>
                        <m:t>=</m:t>
                      </m:r>
                      <m:nary>
                        <m:naryPr>
                          <m:chr m:val="∑"/>
                          <m:limLoc m:val="undOvr"/>
                          <m:ctrlPr>
                            <a:rPr lang="en-GB" sz="2500">
                              <a:solidFill>
                                <a:srgbClr val="087F83"/>
                              </a:solidFill>
                              <a:latin typeface="Cambria Math"/>
                              <a:ea typeface="Cambria Math"/>
                              <a:cs typeface="Cambria Math"/>
                            </a:rPr>
                          </m:ctrlPr>
                        </m:naryPr>
                        <m:sub>
                          <m:r>
                            <a:rPr lang="en-GB" sz="2500">
                              <a:solidFill>
                                <a:srgbClr val="087F83"/>
                              </a:solidFill>
                              <a:latin typeface="Cambria Math"/>
                              <a:ea typeface="Cambria Math"/>
                              <a:cs typeface="Cambria Math"/>
                            </a:rPr>
                            <m:t>𝑖</m:t>
                          </m:r>
                          <m:r>
                            <a:rPr lang="en-GB" sz="2500">
                              <a:solidFill>
                                <a:srgbClr val="087F83"/>
                              </a:solidFill>
                              <a:latin typeface="Cambria Math"/>
                              <a:ea typeface="Cambria Math"/>
                              <a:cs typeface="Cambria Math"/>
                            </a:rPr>
                            <m:t>=1</m:t>
                          </m:r>
                        </m:sub>
                        <m:sup>
                          <m:r>
                            <a:rPr lang="en-GB" sz="2500">
                              <a:solidFill>
                                <a:srgbClr val="087F83"/>
                              </a:solidFill>
                              <a:latin typeface="Cambria Math"/>
                              <a:ea typeface="Cambria Math"/>
                              <a:cs typeface="Cambria Math"/>
                            </a:rPr>
                            <m:t>𝑁</m:t>
                          </m:r>
                        </m:sup>
                        <m:e>
                          <m:sSub>
                            <m:sSubPr>
                              <m:ctrlPr>
                                <a:rPr lang="en-GB" sz="2500">
                                  <a:solidFill>
                                    <a:srgbClr val="087F83"/>
                                  </a:solidFill>
                                  <a:latin typeface="Cambria Math"/>
                                  <a:ea typeface="Cambria Math"/>
                                  <a:cs typeface="Cambria Math"/>
                                </a:rPr>
                              </m:ctrlPr>
                            </m:sSubPr>
                            <m:e>
                              <m:r>
                                <m:rPr>
                                  <m:sty m:val="p"/>
                                </m:rPr>
                                <a:rPr lang="en-GB" sz="2500">
                                  <a:solidFill>
                                    <a:srgbClr val="087F83"/>
                                  </a:solidFill>
                                  <a:latin typeface="Cambria Math"/>
                                  <a:ea typeface="Cambria Math"/>
                                  <a:cs typeface="Cambria Math"/>
                                </a:rPr>
                                <m:t>ℓ</m:t>
                              </m:r>
                            </m:e>
                            <m:sub>
                              <m:r>
                                <m:rPr>
                                  <m:sty m:val="p"/>
                                </m:rPr>
                                <a:rPr lang="it-IT" sz="2500" b="0" i="0" smtClean="0">
                                  <a:solidFill>
                                    <a:srgbClr val="087F83"/>
                                  </a:solidFill>
                                  <a:latin typeface="Cambria Math" panose="02040503050406030204" pitchFamily="18" charset="0"/>
                                  <a:ea typeface="Cambria Math"/>
                                  <a:cs typeface="Cambria Math"/>
                                </a:rPr>
                                <m:t>sq</m:t>
                              </m:r>
                            </m:sub>
                          </m:sSub>
                          <m:d>
                            <m:dPr>
                              <m:ctrlPr>
                                <a:rPr lang="it-IT" sz="2500" b="0" i="1" smtClean="0">
                                  <a:solidFill>
                                    <a:srgbClr val="087F83"/>
                                  </a:solidFill>
                                  <a:latin typeface="Cambria Math" panose="02040503050406030204" pitchFamily="18" charset="0"/>
                                  <a:ea typeface="Cambria Math"/>
                                  <a:cs typeface="Cambria Math"/>
                                </a:rPr>
                              </m:ctrlPr>
                            </m:dPr>
                            <m:e>
                              <m:sSub>
                                <m:sSubPr>
                                  <m:ctrlPr>
                                    <a:rPr lang="it-IT" sz="2500" b="0" i="1" smtClean="0">
                                      <a:solidFill>
                                        <a:srgbClr val="087F83"/>
                                      </a:solidFill>
                                      <a:latin typeface="Cambria Math" panose="02040503050406030204" pitchFamily="18" charset="0"/>
                                      <a:ea typeface="Cambria Math"/>
                                      <a:cs typeface="Cambria Math"/>
                                    </a:rPr>
                                  </m:ctrlPr>
                                </m:sSubPr>
                                <m:e>
                                  <m:r>
                                    <a:rPr lang="it-IT" sz="2500" b="0" i="1" smtClean="0">
                                      <a:solidFill>
                                        <a:srgbClr val="087F83"/>
                                      </a:solidFill>
                                      <a:latin typeface="Cambria Math" panose="02040503050406030204" pitchFamily="18" charset="0"/>
                                      <a:ea typeface="Cambria Math"/>
                                      <a:cs typeface="Cambria Math"/>
                                    </a:rPr>
                                    <m:t>𝑓</m:t>
                                  </m:r>
                                </m:e>
                                <m:sub>
                                  <m:r>
                                    <a:rPr lang="en-GB" sz="2500">
                                      <a:solidFill>
                                        <a:srgbClr val="087F83"/>
                                      </a:solidFill>
                                      <a:latin typeface="Cambria Math"/>
                                      <a:ea typeface="Cambria Math"/>
                                      <a:cs typeface="Cambria Math"/>
                                    </a:rPr>
                                    <m:t>𝛉</m:t>
                                  </m:r>
                                </m:sub>
                              </m:sSub>
                              <m:d>
                                <m:dPr>
                                  <m:ctrlPr>
                                    <a:rPr lang="it-IT" sz="2500" b="0" i="1" smtClean="0">
                                      <a:solidFill>
                                        <a:srgbClr val="087F83"/>
                                      </a:solidFill>
                                      <a:latin typeface="Cambria Math" panose="02040503050406030204" pitchFamily="18" charset="0"/>
                                      <a:ea typeface="Cambria Math"/>
                                      <a:cs typeface="Cambria Math"/>
                                    </a:rPr>
                                  </m:ctrlPr>
                                </m:dPr>
                                <m:e>
                                  <m:sSub>
                                    <m:sSubPr>
                                      <m:ctrlPr>
                                        <a:rPr lang="it-IT" sz="2500" b="0" i="1" smtClean="0">
                                          <a:solidFill>
                                            <a:srgbClr val="087F83"/>
                                          </a:solidFill>
                                          <a:latin typeface="Cambria Math" panose="02040503050406030204" pitchFamily="18" charset="0"/>
                                          <a:ea typeface="Cambria Math"/>
                                          <a:cs typeface="Cambria Math"/>
                                        </a:rPr>
                                      </m:ctrlPr>
                                    </m:sSubPr>
                                    <m:e>
                                      <m:r>
                                        <a:rPr lang="it-IT" sz="2500" b="0" i="1" smtClean="0">
                                          <a:solidFill>
                                            <a:srgbClr val="087F83"/>
                                          </a:solidFill>
                                          <a:latin typeface="Cambria Math" panose="02040503050406030204" pitchFamily="18" charset="0"/>
                                          <a:ea typeface="Cambria Math"/>
                                          <a:cs typeface="Cambria Math"/>
                                        </a:rPr>
                                        <m:t>𝐱</m:t>
                                      </m:r>
                                    </m:e>
                                    <m:sub>
                                      <m:r>
                                        <a:rPr lang="it-IT" sz="2500" b="0" i="1" smtClean="0">
                                          <a:solidFill>
                                            <a:srgbClr val="087F83"/>
                                          </a:solidFill>
                                          <a:latin typeface="Cambria Math" panose="02040503050406030204" pitchFamily="18" charset="0"/>
                                          <a:ea typeface="Cambria Math"/>
                                          <a:cs typeface="Cambria Math"/>
                                        </a:rPr>
                                        <m:t>𝑖</m:t>
                                      </m:r>
                                    </m:sub>
                                  </m:sSub>
                                </m:e>
                              </m:d>
                              <m:r>
                                <a:rPr lang="it-IT" sz="2500" b="0" i="1" smtClean="0">
                                  <a:solidFill>
                                    <a:srgbClr val="087F83"/>
                                  </a:solidFill>
                                  <a:latin typeface="Cambria Math" panose="02040503050406030204" pitchFamily="18" charset="0"/>
                                  <a:ea typeface="Cambria Math"/>
                                  <a:cs typeface="Cambria Math"/>
                                </a:rPr>
                                <m:t>,</m:t>
                              </m:r>
                              <m:sSub>
                                <m:sSubPr>
                                  <m:ctrlPr>
                                    <a:rPr lang="it-IT" sz="2500" b="0" i="1" smtClean="0">
                                      <a:solidFill>
                                        <a:srgbClr val="087F83"/>
                                      </a:solidFill>
                                      <a:latin typeface="Cambria Math" panose="02040503050406030204" pitchFamily="18" charset="0"/>
                                      <a:ea typeface="Cambria Math"/>
                                      <a:cs typeface="Cambria Math"/>
                                    </a:rPr>
                                  </m:ctrlPr>
                                </m:sSubPr>
                                <m:e>
                                  <m:r>
                                    <a:rPr lang="it-IT" sz="2500" b="0" i="1" smtClean="0">
                                      <a:solidFill>
                                        <a:srgbClr val="087F83"/>
                                      </a:solidFill>
                                      <a:latin typeface="Cambria Math" panose="02040503050406030204" pitchFamily="18" charset="0"/>
                                      <a:ea typeface="Cambria Math"/>
                                      <a:cs typeface="Cambria Math"/>
                                    </a:rPr>
                                    <m:t>𝑦</m:t>
                                  </m:r>
                                </m:e>
                                <m:sub>
                                  <m:r>
                                    <a:rPr lang="it-IT" sz="2500" b="0" i="1" smtClean="0">
                                      <a:solidFill>
                                        <a:srgbClr val="087F83"/>
                                      </a:solidFill>
                                      <a:latin typeface="Cambria Math" panose="02040503050406030204" pitchFamily="18" charset="0"/>
                                      <a:ea typeface="Cambria Math"/>
                                      <a:cs typeface="Cambria Math"/>
                                    </a:rPr>
                                    <m:t>𝑖</m:t>
                                  </m:r>
                                </m:sub>
                              </m:sSub>
                            </m:e>
                          </m:d>
                        </m:e>
                      </m:nary>
                      <m:r>
                        <a:rPr lang="it-IT" sz="2500" b="0" i="1" smtClean="0">
                          <a:solidFill>
                            <a:srgbClr val="087F83"/>
                          </a:solidFill>
                          <a:latin typeface="Cambria Math" panose="02040503050406030204" pitchFamily="18" charset="0"/>
                          <a:ea typeface="Cambria Math"/>
                          <a:cs typeface="Cambria Math"/>
                        </a:rPr>
                        <m:t>,  </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ℒ</m:t>
                          </m:r>
                        </m:e>
                        <m:sub>
                          <m:r>
                            <m:rPr>
                              <m:sty m:val="p"/>
                            </m:rPr>
                            <a:rPr lang="en-GB" sz="2500">
                              <a:solidFill>
                                <a:srgbClr val="087F83"/>
                              </a:solidFill>
                              <a:latin typeface="Cambria Math"/>
                              <a:ea typeface="Cambria Math"/>
                              <a:cs typeface="Cambria Math"/>
                            </a:rPr>
                            <m:t>log</m:t>
                          </m:r>
                        </m:sub>
                      </m:sSub>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𝛉</m:t>
                          </m:r>
                        </m:e>
                      </m:d>
                      <m:r>
                        <a:rPr lang="en-GB" sz="2500">
                          <a:solidFill>
                            <a:srgbClr val="087F83"/>
                          </a:solidFill>
                          <a:latin typeface="Cambria Math"/>
                          <a:ea typeface="Cambria Math"/>
                          <a:cs typeface="Cambria Math"/>
                        </a:rPr>
                        <m:t>=</m:t>
                      </m:r>
                      <m:nary>
                        <m:naryPr>
                          <m:chr m:val="∑"/>
                          <m:limLoc m:val="undOvr"/>
                          <m:ctrlPr>
                            <a:rPr lang="en-GB" sz="2500">
                              <a:solidFill>
                                <a:srgbClr val="087F83"/>
                              </a:solidFill>
                              <a:latin typeface="Cambria Math"/>
                              <a:ea typeface="Cambria Math"/>
                              <a:cs typeface="Cambria Math"/>
                            </a:rPr>
                          </m:ctrlPr>
                        </m:naryPr>
                        <m:sub>
                          <m:r>
                            <a:rPr lang="en-GB" sz="2500">
                              <a:solidFill>
                                <a:srgbClr val="087F83"/>
                              </a:solidFill>
                              <a:latin typeface="Cambria Math"/>
                              <a:ea typeface="Cambria Math"/>
                              <a:cs typeface="Cambria Math"/>
                            </a:rPr>
                            <m:t>𝑖</m:t>
                          </m:r>
                          <m:r>
                            <a:rPr lang="en-GB" sz="2500">
                              <a:solidFill>
                                <a:srgbClr val="087F83"/>
                              </a:solidFill>
                              <a:latin typeface="Cambria Math"/>
                              <a:ea typeface="Cambria Math"/>
                              <a:cs typeface="Cambria Math"/>
                            </a:rPr>
                            <m:t>=1</m:t>
                          </m:r>
                        </m:sub>
                        <m:sup>
                          <m:r>
                            <a:rPr lang="en-GB" sz="2500">
                              <a:solidFill>
                                <a:srgbClr val="087F83"/>
                              </a:solidFill>
                              <a:latin typeface="Cambria Math"/>
                              <a:ea typeface="Cambria Math"/>
                              <a:cs typeface="Cambria Math"/>
                            </a:rPr>
                            <m:t>𝑁</m:t>
                          </m:r>
                        </m:sup>
                        <m:e>
                          <m:sSub>
                            <m:sSubPr>
                              <m:ctrlPr>
                                <a:rPr lang="en-GB" sz="2500">
                                  <a:solidFill>
                                    <a:srgbClr val="087F83"/>
                                  </a:solidFill>
                                  <a:latin typeface="Cambria Math"/>
                                  <a:ea typeface="Cambria Math"/>
                                  <a:cs typeface="Cambria Math"/>
                                </a:rPr>
                              </m:ctrlPr>
                            </m:sSubPr>
                            <m:e>
                              <m:r>
                                <m:rPr>
                                  <m:sty m:val="p"/>
                                </m:rPr>
                                <a:rPr lang="en-GB" sz="2500">
                                  <a:solidFill>
                                    <a:srgbClr val="087F83"/>
                                  </a:solidFill>
                                  <a:latin typeface="Cambria Math"/>
                                  <a:ea typeface="Cambria Math"/>
                                  <a:cs typeface="Cambria Math"/>
                                </a:rPr>
                                <m:t>ℓ</m:t>
                              </m:r>
                            </m:e>
                            <m:sub>
                              <m:r>
                                <m:rPr>
                                  <m:sty m:val="p"/>
                                </m:rPr>
                                <a:rPr lang="en-GB" sz="2500">
                                  <a:solidFill>
                                    <a:srgbClr val="087F83"/>
                                  </a:solidFill>
                                  <a:latin typeface="Cambria Math"/>
                                  <a:ea typeface="Cambria Math"/>
                                  <a:cs typeface="Cambria Math"/>
                                </a:rPr>
                                <m:t>log</m:t>
                              </m:r>
                            </m:sub>
                          </m:sSub>
                          <m:d>
                            <m:dPr>
                              <m:ctrlPr>
                                <a:rPr lang="en-GB" sz="2500" i="1">
                                  <a:solidFill>
                                    <a:srgbClr val="087F83"/>
                                  </a:solidFill>
                                  <a:latin typeface="Cambria Math" panose="02040503050406030204" pitchFamily="18" charset="0"/>
                                  <a:ea typeface="Cambria Math"/>
                                  <a:cs typeface="Cambria Math"/>
                                </a:rPr>
                              </m:ctrlPr>
                            </m:dPr>
                            <m:e>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𝑝</m:t>
                                  </m:r>
                                </m:e>
                                <m:sub>
                                  <m:r>
                                    <a:rPr lang="en-GB" sz="2500">
                                      <a:solidFill>
                                        <a:srgbClr val="087F83"/>
                                      </a:solidFill>
                                      <a:latin typeface="Cambria Math"/>
                                      <a:ea typeface="Cambria Math"/>
                                      <a:cs typeface="Cambria Math"/>
                                    </a:rPr>
                                    <m:t>𝛉</m:t>
                                  </m:r>
                                </m:sub>
                              </m:sSub>
                              <m:d>
                                <m:dPr>
                                  <m:ctrlPr>
                                    <a:rPr lang="en-GB" sz="2500" i="1">
                                      <a:solidFill>
                                        <a:srgbClr val="087F83"/>
                                      </a:solidFill>
                                      <a:latin typeface="Cambria Math" panose="02040503050406030204" pitchFamily="18" charset="0"/>
                                      <a:ea typeface="Cambria Math"/>
                                      <a:cs typeface="Cambria Math"/>
                                    </a:rPr>
                                  </m:ctrlPr>
                                </m:dPr>
                                <m:e>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𝐱</m:t>
                                      </m:r>
                                    </m:e>
                                    <m:sub>
                                      <m:r>
                                        <a:rPr lang="en-GB" sz="2500">
                                          <a:solidFill>
                                            <a:srgbClr val="087F83"/>
                                          </a:solidFill>
                                          <a:latin typeface="Cambria Math"/>
                                          <a:ea typeface="Cambria Math"/>
                                          <a:cs typeface="Cambria Math"/>
                                        </a:rPr>
                                        <m:t>𝑖</m:t>
                                      </m:r>
                                    </m:sub>
                                  </m:sSub>
                                </m:e>
                              </m:d>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𝑦</m:t>
                                  </m:r>
                                </m:e>
                                <m:sub>
                                  <m:r>
                                    <a:rPr lang="en-GB" sz="2500">
                                      <a:solidFill>
                                        <a:srgbClr val="087F83"/>
                                      </a:solidFill>
                                      <a:latin typeface="Cambria Math"/>
                                      <a:ea typeface="Cambria Math"/>
                                      <a:cs typeface="Cambria Math"/>
                                    </a:rPr>
                                    <m:t>𝑖</m:t>
                                  </m:r>
                                </m:sub>
                              </m:sSub>
                            </m:e>
                          </m:d>
                        </m:e>
                      </m:nary>
                      <m:r>
                        <a:rPr lang="en-GB" sz="2500">
                          <a:solidFill>
                            <a:srgbClr val="087F83"/>
                          </a:solidFill>
                          <a:latin typeface="Cambria Math"/>
                          <a:ea typeface="Cambria Math"/>
                          <a:cs typeface="Cambria Math"/>
                        </a:rPr>
                        <m:t>​</m:t>
                      </m:r>
                    </m:oMath>
                  </m:oMathPara>
                </a14:m>
                <a:endParaRPr lang="en-GB" sz="2500" dirty="0"/>
              </a:p>
              <a:p>
                <a:pPr algn="ctr"/>
                <a:endParaRPr lang="en-GB" sz="2500" dirty="0"/>
              </a:p>
            </p:txBody>
          </p:sp>
        </mc:Choice>
        <mc:Fallback xmlns="">
          <p:sp>
            <p:nvSpPr>
              <p:cNvPr id="5" name="equation_1" descr="\mathcal{L}(\boldsymbol{\theta})=\sum_{i=1}^{N}\ell_i(\boldsymbol{\theta})">
                <a:extLst>
                  <a:ext uri="{FF2B5EF4-FFF2-40B4-BE49-F238E27FC236}">
                    <a16:creationId xmlns:a16="http://schemas.microsoft.com/office/drawing/2014/main" id="{2A8E0CC6-0FF5-4880-885A-4ACF4E466FF0}"/>
                  </a:ext>
                </a:extLst>
              </p:cNvPr>
              <p:cNvSpPr>
                <a:spLocks noGrp="1" noRot="1" noChangeAspect="1" noMove="1" noResize="1" noEditPoints="1" noAdjustHandles="1" noChangeArrowheads="1" noChangeShapeType="1" noTextEdit="1"/>
              </p:cNvSpPr>
              <p:nvPr/>
            </p:nvSpPr>
            <p:spPr>
              <a:xfrm>
                <a:off x="571500" y="2457450"/>
                <a:ext cx="11049000" cy="1028700"/>
              </a:xfrm>
              <a:prstGeom prst="rect">
                <a:avLst/>
              </a:prstGeom>
              <a:blipFill>
                <a:blip r:embed="rId3"/>
                <a:stretch>
                  <a:fillRect t="-16568"/>
                </a:stretch>
              </a:blipFill>
              <a:ln w="0">
                <a:noFill/>
              </a:ln>
            </p:spPr>
            <p:txBody>
              <a:bodyPr/>
              <a:lstStyle/>
              <a:p>
                <a:r>
                  <a:rPr lang="it-IT">
                    <a:noFill/>
                  </a:rPr>
                  <a:t> </a:t>
                </a:r>
              </a:p>
            </p:txBody>
          </p:sp>
        </mc:Fallback>
      </mc:AlternateContent>
      <p:sp>
        <p:nvSpPr>
          <p:cNvPr id="6" name="text_2">
            <a:extLst>
              <a:ext uri="{FF2B5EF4-FFF2-40B4-BE49-F238E27FC236}">
                <a16:creationId xmlns:a16="http://schemas.microsoft.com/office/drawing/2014/main" id="{36190696-B368-4CAA-8D2F-19364027A9E4}"/>
              </a:ext>
            </a:extLst>
          </p:cNvPr>
          <p:cNvSpPr>
            <a:spLocks noGrp="1"/>
          </p:cNvSpPr>
          <p:nvPr/>
        </p:nvSpPr>
        <p:spPr>
          <a:xfrm>
            <a:off x="381000" y="3786188"/>
            <a:ext cx="11144250" cy="666750"/>
          </a:xfrm>
          <a:prstGeom prst="rect">
            <a:avLst/>
          </a:prstGeom>
          <a:noFill/>
          <a:ln w="0">
            <a:noFill/>
          </a:ln>
        </p:spPr>
        <p:txBody>
          <a:bodyPr anchor="ctr" wrap="none" lIns="0" rIns="0" tIns="0" bIns="0">
            <a:noAutofit/>
          </a:bodyPr>
          <a:lstStyle/>
          <a:p>
            <a:pPr algn="ctr">
              <a:lnSpc>
                <a:spcPts val="2700"/>
              </a:lnSpc>
            </a:pPr>
            <a:r>
              <a:rPr lang="en-GB" sz="2225" b="0">
                <a:solidFill>
                  <a:srgbClr val="526276"/>
                </a:solidFill>
                <a:latin typeface="DejaVu Sans"/>
              </a:rPr>
              <a:t>Let </a:t>
            </a:r>
            <a14:m xmlns:m="http://schemas.openxmlformats.org/officeDocument/2006/math" xmlns:a14="http://schemas.microsoft.com/office/drawing/2010/main">
              <m:oMath>
                <m:r>
                  <m:rPr>
                    <m:sty m:val="p"/>
                    <m:scr m:val="script"/>
                  </m:rPr>
                  <a:rPr lang="en-GB" sz="2225">
                    <a:solidFill>
                      <a:srgbClr val="526276"/>
                    </a:solidFill>
                    <a:latin typeface="Cambria Math"/>
                    <a:ea typeface="Cambria Math"/>
                    <a:cs typeface="Cambria Math"/>
                  </a:rPr>
                  <m:t>L</m:t>
                </m:r>
              </m:oMath>
            </a14:m>
            <a:r>
              <a:rPr lang="en-GB" sz="2225" b="0">
                <a:solidFill>
                  <a:srgbClr val="526276"/>
                </a:solidFill>
                <a:latin typeface="DejaVu Sans"/>
              </a:rPr>
              <a:t> be the empirical loss for the task.</a:t>
            </a:r>
            <a:endParaRPr lang="en-GB" sz="2225"/>
          </a:p>
          <a:p>
            <a:pPr algn="ctr">
              <a:lnSpc>
                <a:spcPts val="2700"/>
              </a:lnSpc>
            </a:pPr>
            <a:r>
              <a:rPr lang="en-GB" sz="2225" b="0">
                <a:solidFill>
                  <a:srgbClr val="526276"/>
                </a:solidFill>
                <a:latin typeface="DejaVu Sans"/>
              </a:rPr>
              <a:t>Where differentiable, we update the parameters by </a:t>
            </a:r>
            <a:r>
              <a:rPr lang="en-GB" sz="2225" b="0">
                <a:solidFill>
                  <a:srgbClr val="FF0000"/>
                </a:solidFill>
                <a:latin typeface="DejaVu Sans"/>
              </a:rPr>
              <a:t>gradient descent</a:t>
            </a:r>
            <a:r>
              <a:rPr lang="en-GB" sz="2225" b="0">
                <a:solidFill>
                  <a:srgbClr val="526276"/>
                </a:solidFill>
                <a:latin typeface="DejaVu Sans"/>
              </a:rPr>
              <a:t>.</a:t>
            </a:r>
            <a:endParaRPr lang="en-GB" sz="2225"/>
          </a:p>
        </p:txBody>
      </p:sp>
      <mc:AlternateContent xmlns:mc="http://schemas.openxmlformats.org/markup-compatibility/2006" xmlns:a14="http://schemas.microsoft.com/office/drawing/2010/main">
        <mc:Choice Requires="a14">
          <p:sp>
            <p:nvSpPr>
              <p:cNvPr id="7" name="equation_3" descr="\boldsymbol{\theta}^{(t+1)}=\boldsymbol{\theta}^{(t)}-\eta\nabla\mathcal{L}(\boldsymbol{\theta}^{(t)}),\qquad\eta&gt;0">
                <a:extLst>
                  <a:ext uri="{FF2B5EF4-FFF2-40B4-BE49-F238E27FC236}">
                    <a16:creationId xmlns:a16="http://schemas.microsoft.com/office/drawing/2014/main" id="{035145C5-2B38-4D77-A39F-04403708FF05}"/>
                  </a:ext>
                </a:extLst>
              </p:cNvPr>
              <p:cNvSpPr>
                <a:spLocks noGrp="1"/>
              </p:cNvSpPr>
              <p:nvPr/>
            </p:nvSpPr>
            <p:spPr>
              <a:xfrm>
                <a:off x="381000" y="4738687"/>
                <a:ext cx="11430000" cy="1019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3100">
                              <a:solidFill>
                                <a:srgbClr val="087F83"/>
                              </a:solidFill>
                              <a:latin typeface="Cambria Math"/>
                              <a:ea typeface="Cambria Math"/>
                              <a:cs typeface="Cambria Math"/>
                            </a:rPr>
                          </m:ctrlPr>
                        </m:sSupPr>
                        <m:e>
                          <m:r>
                            <a:rPr lang="en-GB" sz="3100">
                              <a:solidFill>
                                <a:srgbClr val="087F83"/>
                              </a:solidFill>
                              <a:latin typeface="Cambria Math"/>
                              <a:ea typeface="Cambria Math"/>
                              <a:cs typeface="Cambria Math"/>
                            </a:rPr>
                            <m:t>𝛉</m:t>
                          </m:r>
                        </m:e>
                        <m:sup>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𝑡</m:t>
                              </m:r>
                              <m:r>
                                <a:rPr lang="en-GB" sz="3100">
                                  <a:solidFill>
                                    <a:srgbClr val="087F83"/>
                                  </a:solidFill>
                                  <a:latin typeface="Cambria Math"/>
                                  <a:ea typeface="Cambria Math"/>
                                  <a:cs typeface="Cambria Math"/>
                                </a:rPr>
                                <m:t>+1</m:t>
                              </m:r>
                            </m:e>
                          </m:d>
                        </m:sup>
                      </m:sSup>
                      <m:r>
                        <a:rPr lang="en-GB" sz="3100">
                          <a:solidFill>
                            <a:srgbClr val="087F83"/>
                          </a:solidFill>
                          <a:latin typeface="Cambria Math"/>
                          <a:ea typeface="Cambria Math"/>
                          <a:cs typeface="Cambria Math"/>
                        </a:rPr>
                        <m:t>=</m:t>
                      </m:r>
                      <m:sSup>
                        <m:sSupPr>
                          <m:ctrlPr>
                            <a:rPr lang="en-GB" sz="3100">
                              <a:solidFill>
                                <a:srgbClr val="087F83"/>
                              </a:solidFill>
                              <a:latin typeface="Cambria Math"/>
                              <a:ea typeface="Cambria Math"/>
                              <a:cs typeface="Cambria Math"/>
                            </a:rPr>
                          </m:ctrlPr>
                        </m:sSupPr>
                        <m:e>
                          <m:r>
                            <a:rPr lang="en-GB" sz="3100">
                              <a:solidFill>
                                <a:srgbClr val="087F83"/>
                              </a:solidFill>
                              <a:latin typeface="Cambria Math"/>
                              <a:ea typeface="Cambria Math"/>
                              <a:cs typeface="Cambria Math"/>
                            </a:rPr>
                            <m:t>𝛉</m:t>
                          </m:r>
                        </m:e>
                        <m:sup>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𝑡</m:t>
                              </m:r>
                            </m:e>
                          </m:d>
                        </m:sup>
                      </m:sSup>
                      <m:r>
                        <a:rPr lang="en-GB" sz="3100">
                          <a:solidFill>
                            <a:srgbClr val="087F83"/>
                          </a:solidFill>
                          <a:latin typeface="Cambria Math"/>
                          <a:ea typeface="Cambria Math"/>
                          <a:cs typeface="Cambria Math"/>
                        </a:rPr>
                        <m:t>−</m:t>
                      </m:r>
                      <m:r>
                        <a:rPr lang="en-GB" sz="3100">
                          <a:solidFill>
                            <a:srgbClr val="087F83"/>
                          </a:solidFill>
                          <a:latin typeface="Cambria Math"/>
                          <a:ea typeface="Cambria Math"/>
                          <a:cs typeface="Cambria Math"/>
                        </a:rPr>
                        <m:t>𝜂</m:t>
                      </m:r>
                      <m:r>
                        <m:rPr>
                          <m:sty m:val="p"/>
                        </m:rPr>
                        <a:rPr lang="en-GB" sz="3100">
                          <a:solidFill>
                            <a:srgbClr val="087F83"/>
                          </a:solidFill>
                          <a:latin typeface="Cambria Math"/>
                          <a:ea typeface="Cambria Math"/>
                          <a:cs typeface="Cambria Math"/>
                        </a:rPr>
                        <m:t>∇</m:t>
                      </m:r>
                      <m:r>
                        <a:rPr lang="en-GB" sz="3100">
                          <a:solidFill>
                            <a:srgbClr val="087F83"/>
                          </a:solidFill>
                          <a:latin typeface="Cambria Math"/>
                          <a:ea typeface="Cambria Math"/>
                          <a:cs typeface="Cambria Math"/>
                        </a:rPr>
                        <m:t>ℒ</m:t>
                      </m:r>
                      <m:d>
                        <m:dPr>
                          <m:ctrlPr>
                            <a:rPr lang="en-GB" sz="3100" i="1">
                              <a:solidFill>
                                <a:srgbClr val="087F83"/>
                              </a:solidFill>
                              <a:latin typeface="Cambria Math" panose="02040503050406030204" pitchFamily="18" charset="0"/>
                              <a:ea typeface="Cambria Math"/>
                              <a:cs typeface="Cambria Math"/>
                            </a:rPr>
                          </m:ctrlPr>
                        </m:dPr>
                        <m:e>
                          <m:sSup>
                            <m:sSupPr>
                              <m:ctrlPr>
                                <a:rPr lang="en-GB" sz="3100">
                                  <a:solidFill>
                                    <a:srgbClr val="087F83"/>
                                  </a:solidFill>
                                  <a:latin typeface="Cambria Math"/>
                                  <a:ea typeface="Cambria Math"/>
                                  <a:cs typeface="Cambria Math"/>
                                </a:rPr>
                              </m:ctrlPr>
                            </m:sSupPr>
                            <m:e>
                              <m:r>
                                <a:rPr lang="en-GB" sz="3100">
                                  <a:solidFill>
                                    <a:srgbClr val="087F83"/>
                                  </a:solidFill>
                                  <a:latin typeface="Cambria Math"/>
                                  <a:ea typeface="Cambria Math"/>
                                  <a:cs typeface="Cambria Math"/>
                                </a:rPr>
                                <m:t>𝛉</m:t>
                              </m:r>
                            </m:e>
                            <m:sup>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𝑡</m:t>
                                  </m:r>
                                </m:e>
                              </m:d>
                            </m:sup>
                          </m:sSup>
                        </m:e>
                      </m:d>
                      <m:r>
                        <a:rPr lang="en-GB" sz="3100">
                          <a:solidFill>
                            <a:srgbClr val="087F83"/>
                          </a:solidFill>
                          <a:latin typeface="Cambria Math"/>
                          <a:ea typeface="Cambria Math"/>
                          <a:cs typeface="Cambria Math"/>
                        </a:rPr>
                        <m:t>,  </m:t>
                      </m:r>
                      <m:r>
                        <a:rPr lang="en-GB" sz="3100">
                          <a:solidFill>
                            <a:srgbClr val="087F83"/>
                          </a:solidFill>
                          <a:latin typeface="Cambria Math"/>
                          <a:ea typeface="Cambria Math"/>
                          <a:cs typeface="Cambria Math"/>
                        </a:rPr>
                        <m:t>𝜂</m:t>
                      </m:r>
                      <m:r>
                        <a:rPr lang="en-GB" sz="3100">
                          <a:solidFill>
                            <a:srgbClr val="087F83"/>
                          </a:solidFill>
                          <a:latin typeface="Cambria Math"/>
                          <a:ea typeface="Cambria Math"/>
                          <a:cs typeface="Cambria Math"/>
                        </a:rPr>
                        <m:t>&gt;0</m:t>
                      </m:r>
                    </m:oMath>
                  </m:oMathPara>
                </a14:m>
                <a:endParaRPr lang="en-GB" sz="3100" dirty="0"/>
              </a:p>
            </p:txBody>
          </p:sp>
        </mc:Choice>
        <mc:Fallback xmlns="">
          <p:sp>
            <p:nvSpPr>
              <p:cNvPr id="7" name="equation_3" descr="\boldsymbol{\theta}^{(t+1)}=\boldsymbol{\theta}^{(t)}-\eta\nabla\mathcal{L}(\boldsymbol{\theta}^{(t)}),\qquad\eta&gt;0">
                <a:extLst>
                  <a:ext uri="{FF2B5EF4-FFF2-40B4-BE49-F238E27FC236}">
                    <a16:creationId xmlns:a16="http://schemas.microsoft.com/office/drawing/2014/main" id="{035145C5-2B38-4D77-A39F-04403708FF05}"/>
                  </a:ext>
                </a:extLst>
              </p:cNvPr>
              <p:cNvSpPr>
                <a:spLocks noGrp="1" noRot="1" noChangeAspect="1" noMove="1" noResize="1" noEditPoints="1" noAdjustHandles="1" noChangeArrowheads="1" noChangeShapeType="1" noTextEdit="1"/>
              </p:cNvSpPr>
              <p:nvPr/>
            </p:nvSpPr>
            <p:spPr>
              <a:xfrm>
                <a:off x="381000" y="4738687"/>
                <a:ext cx="11430000" cy="1019175"/>
              </a:xfrm>
              <a:prstGeom prst="rect">
                <a:avLst/>
              </a:prstGeom>
              <a:blipFill>
                <a:blip r:embed="rId4"/>
                <a:stretch>
                  <a:fillRect/>
                </a:stretch>
              </a:blipFill>
              <a:ln w="0">
                <a:noFill/>
              </a:ln>
            </p:spPr>
            <p:txBody>
              <a:bodyPr/>
              <a:lstStyle/>
              <a:p>
                <a:r>
                  <a:rPr lang="it-IT">
                    <a:noFill/>
                  </a:rPr>
                  <a:t> </a:t>
                </a:r>
              </a:p>
            </p:txBody>
          </p:sp>
        </mc:Fallback>
      </mc:AlternateContent>
      <p:sp>
        <p:nvSpPr>
          <p:cNvPr id="8" name="text_4">
            <a:extLst>
              <a:ext uri="{FF2B5EF4-FFF2-40B4-BE49-F238E27FC236}">
                <a16:creationId xmlns:a16="http://schemas.microsoft.com/office/drawing/2014/main" id="{3DA11924-0ABF-42BA-B4C4-7B1506892CC1}"/>
              </a:ext>
            </a:extLst>
          </p:cNvPr>
          <p:cNvSpPr>
            <a:spLocks noGrp="1"/>
          </p:cNvSpPr>
          <p:nvPr/>
        </p:nvSpPr>
        <p:spPr>
          <a:xfrm>
            <a:off x="571500" y="5705475"/>
            <a:ext cx="11049000" cy="73126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For neural networks</a:t>
            </a:r>
            <a:r>
              <a:rPr lang="it-IT" sz="2100" b="1" dirty="0">
                <a:solidFill>
                  <a:srgbClr val="182D45"/>
                </a:solidFill>
                <a:latin typeface="DejaVu Sans"/>
                <a:ea typeface="DejaVu Sans"/>
                <a:cs typeface="DejaVu Sans"/>
              </a:rPr>
              <a:t>,</a:t>
            </a:r>
          </a:p>
          <a:p>
            <a:pPr algn="ctr">
              <a:defRPr sz="2100" b="1">
                <a:solidFill>
                  <a:srgbClr val="182D45"/>
                </a:solidFill>
                <a:latin typeface="DejaVu Sans"/>
                <a:ea typeface="DejaVu Sans"/>
                <a:cs typeface="DejaVu Sans"/>
              </a:defRPr>
            </a:pPr>
            <a:r>
              <a:rPr lang="it-IT" sz="2100" b="1" dirty="0" err="1">
                <a:solidFill>
                  <a:srgbClr val="182D45"/>
                </a:solidFill>
                <a:latin typeface="DejaVu Sans"/>
                <a:ea typeface="DejaVu Sans"/>
                <a:cs typeface="DejaVu Sans"/>
              </a:rPr>
              <a:t>will</a:t>
            </a:r>
            <a:r>
              <a:rPr lang="it-IT" sz="2100" b="1" dirty="0">
                <a:solidFill>
                  <a:srgbClr val="182D45"/>
                </a:solidFill>
                <a:latin typeface="DejaVu Sans"/>
                <a:ea typeface="DejaVu Sans"/>
                <a:cs typeface="DejaVu Sans"/>
              </a:rPr>
              <a:t> </a:t>
            </a:r>
            <a:r>
              <a:rPr lang="it-IT" sz="2100" b="1" dirty="0" err="1">
                <a:solidFill>
                  <a:srgbClr val="182D45"/>
                </a:solidFill>
                <a:latin typeface="DejaVu Sans"/>
                <a:ea typeface="DejaVu Sans"/>
                <a:cs typeface="DejaVu Sans"/>
              </a:rPr>
              <a:t>gradient</a:t>
            </a:r>
            <a:r>
              <a:rPr lang="it-IT" sz="2100" b="1" dirty="0">
                <a:solidFill>
                  <a:srgbClr val="182D45"/>
                </a:solidFill>
                <a:latin typeface="DejaVu Sans"/>
                <a:ea typeface="DejaVu Sans"/>
                <a:cs typeface="DejaVu Sans"/>
              </a:rPr>
              <a:t> </a:t>
            </a:r>
            <a:r>
              <a:rPr lang="it-IT" sz="2100" b="1" dirty="0" err="1">
                <a:solidFill>
                  <a:srgbClr val="182D45"/>
                </a:solidFill>
                <a:latin typeface="DejaVu Sans"/>
                <a:ea typeface="DejaVu Sans"/>
                <a:cs typeface="DejaVu Sans"/>
              </a:rPr>
              <a:t>descent</a:t>
            </a:r>
            <a:r>
              <a:rPr lang="it-IT" sz="2100" b="1" dirty="0">
                <a:solidFill>
                  <a:srgbClr val="182D45"/>
                </a:solidFill>
                <a:latin typeface="DejaVu Sans"/>
                <a:ea typeface="DejaVu Sans"/>
                <a:cs typeface="DejaVu Sans"/>
              </a:rPr>
              <a:t> converge to a global minimum?</a:t>
            </a:r>
          </a:p>
        </p:txBody>
      </p:sp>
      <p:sp>
        <p:nvSpPr>
          <p:cNvPr id="11" name="lead">
            <a:extLst>
              <a:ext uri="{FF2B5EF4-FFF2-40B4-BE49-F238E27FC236}">
                <a16:creationId xmlns:a16="http://schemas.microsoft.com/office/drawing/2014/main" id="{C9FA2463-165C-736F-B580-46AD9BCA9FC3}"/>
              </a:ext>
            </a:extLst>
          </p:cNvPr>
          <p:cNvSpPr>
            <a:spLocks noGrp="1"/>
          </p:cNvSpPr>
          <p:nvPr/>
        </p:nvSpPr>
        <p:spPr>
          <a:xfrm>
            <a:off x="666750" y="647700"/>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The observations stay fixed. The network parameters vary.</a:t>
            </a:r>
          </a:p>
        </p:txBody>
      </p:sp>
      <p:sp>
        <p:nvSpPr>
          <p:cNvPr id="13" name="lead">
            <a:extLst>
              <a:ext uri="{FF2B5EF4-FFF2-40B4-BE49-F238E27FC236}">
                <a16:creationId xmlns:a16="http://schemas.microsoft.com/office/drawing/2014/main" id="{3681B473-5C24-661B-AE54-BD30A9429EF8}"/>
              </a:ext>
            </a:extLst>
          </p:cNvPr>
          <p:cNvSpPr>
            <a:spLocks noGrp="1"/>
          </p:cNvSpPr>
          <p:nvPr/>
        </p:nvSpPr>
        <p:spPr>
          <a:xfrm>
            <a:off x="5857875" y="1514475"/>
            <a:ext cx="4572000" cy="68580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it-IT" sz="2175" dirty="0" err="1">
                <a:solidFill>
                  <a:srgbClr val="526276"/>
                </a:solidFill>
                <a:latin typeface="DejaVu Sans"/>
                <a:ea typeface="DejaVu Sans"/>
                <a:cs typeface="DejaVu Sans"/>
              </a:rPr>
              <a:t>Binary</a:t>
            </a:r>
            <a:r>
              <a:rPr lang="it-IT" sz="2175" dirty="0">
                <a:solidFill>
                  <a:srgbClr val="526276"/>
                </a:solidFill>
                <a:latin typeface="DejaVu Sans"/>
                <a:ea typeface="DejaVu Sans"/>
                <a:cs typeface="DejaVu Sans"/>
              </a:rPr>
              <a:t> </a:t>
            </a:r>
            <a:r>
              <a:rPr lang="it-IT" sz="2175" dirty="0" err="1">
                <a:solidFill>
                  <a:srgbClr val="526276"/>
                </a:solidFill>
                <a:latin typeface="DejaVu Sans"/>
                <a:ea typeface="DejaVu Sans"/>
                <a:cs typeface="DejaVu Sans"/>
              </a:rPr>
              <a:t>Classification</a:t>
            </a:r>
            <a:endParaRPr sz="2175" b="0" dirty="0">
              <a:solidFill>
                <a:srgbClr val="526276"/>
              </a:solidFill>
              <a:latin typeface="DejaVu Sans"/>
              <a:ea typeface="DejaVu Sans"/>
              <a:cs typeface="DejaVu Sans"/>
            </a:endParaRPr>
          </a:p>
        </p:txBody>
      </p:sp>
    </p:spTree>
    <p:extLst>
      <p:ext uri="{BB962C8B-B14F-4D97-AF65-F5344CB8AC3E}">
        <p14:creationId xmlns:p14="http://schemas.microsoft.com/office/powerpoint/2010/main" val="2828007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853FBC18-9A8F-4F16-B550-E83831C26F55}"/>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A network with one adjustable parameter</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96CF802D-53F6-4B77-9F88-46B1EF7E90FA}"/>
                  </a:ext>
                </a:extLst>
              </p:cNvPr>
              <p:cNvSpPr>
                <a:spLocks noGrp="1"/>
              </p:cNvSpPr>
              <p:nvPr/>
            </p:nvSpPr>
            <p:spPr>
              <a:xfrm>
                <a:off x="428625" y="933450"/>
                <a:ext cx="11334750" cy="695325"/>
              </a:xfrm>
              <a:prstGeom prst="rect">
                <a:avLst/>
              </a:prstGeom>
              <a:noFill/>
              <a:ln w="0">
                <a:noFill/>
              </a:ln>
            </p:spPr>
            <p:txBody>
              <a:bodyPr wrap="none" lIns="0" tIns="0" rIns="0" bIns="0" anchor="ctr">
                <a:noAutofit/>
              </a:bodyPr>
              <a:lstStyle/>
              <a:p>
                <a:pPr algn="ctr">
                  <a:lnSpc>
                    <a:spcPts val="2500"/>
                  </a:lnSpc>
                </a:pPr>
                <a:r>
                  <a:rPr lang="en-GB" sz="2025" b="0">
                    <a:solidFill>
                      <a:srgbClr val="526276"/>
                    </a:solidFill>
                    <a:latin typeface="DejaVu Sans"/>
                  </a:rPr>
                  <a:t>To visualise the empirical loss, we vary only one scalar parameter </a:t>
                </a:r>
                <a14:m>
                  <m:oMath xmlns:m="http://schemas.openxmlformats.org/officeDocument/2006/math">
                    <m:r>
                      <a:rPr lang="en-GB" sz="2025">
                        <a:solidFill>
                          <a:srgbClr val="526276"/>
                        </a:solidFill>
                        <a:latin typeface="Cambria Math"/>
                        <a:ea typeface="Cambria Math"/>
                        <a:cs typeface="Cambria Math"/>
                      </a:rPr>
                      <m:t>𝜃</m:t>
                    </m:r>
                  </m:oMath>
                </a14:m>
                <a:r>
                  <a:rPr lang="en-GB" sz="2025" b="0">
                    <a:solidFill>
                      <a:srgbClr val="526276"/>
                    </a:solidFill>
                    <a:latin typeface="DejaVu Sans"/>
                  </a:rPr>
                  <a:t>.</a:t>
                </a:r>
                <a:endParaRPr lang="en-GB" sz="2025"/>
              </a:p>
              <a:p>
                <a:pPr algn="ctr">
                  <a:lnSpc>
                    <a:spcPts val="2500"/>
                  </a:lnSpc>
                </a:pPr>
                <a:r>
                  <a:rPr lang="en-GB" sz="2025" b="0">
                    <a:solidFill>
                      <a:srgbClr val="526276"/>
                    </a:solidFill>
                    <a:latin typeface="DejaVu Sans"/>
                  </a:rPr>
                  <a:t>The hidden biases are </a:t>
                </a:r>
                <a14:m>
                  <m:oMath xmlns:m="http://schemas.openxmlformats.org/officeDocument/2006/math">
                    <m:r>
                      <a:rPr lang="en-GB" sz="2025">
                        <a:solidFill>
                          <a:srgbClr val="526276"/>
                        </a:solidFill>
                        <a:latin typeface="Cambria Math"/>
                        <a:ea typeface="Cambria Math"/>
                        <a:cs typeface="Cambria Math"/>
                      </a:rPr>
                      <m:t>−</m:t>
                    </m:r>
                    <m:r>
                      <a:rPr lang="en-GB" sz="2025">
                        <a:solidFill>
                          <a:srgbClr val="526276"/>
                        </a:solidFill>
                        <a:latin typeface="Cambria Math"/>
                        <a:ea typeface="Cambria Math"/>
                        <a:cs typeface="Cambria Math"/>
                      </a:rPr>
                      <m:t>𝜃</m:t>
                    </m:r>
                  </m:oMath>
                </a14:m>
                <a:r>
                  <a:rPr lang="en-GB" sz="2025" b="0">
                    <a:solidFill>
                      <a:srgbClr val="526276"/>
                    </a:solidFill>
                    <a:latin typeface="DejaVu Sans"/>
                  </a:rPr>
                  <a:t> and </a:t>
                </a:r>
                <a14:m>
                  <m:oMath xmlns:m="http://schemas.openxmlformats.org/officeDocument/2006/math">
                    <m:r>
                      <a:rPr lang="en-GB" sz="2025">
                        <a:solidFill>
                          <a:srgbClr val="526276"/>
                        </a:solidFill>
                        <a:latin typeface="Cambria Math"/>
                        <a:ea typeface="Cambria Math"/>
                        <a:cs typeface="Cambria Math"/>
                      </a:rPr>
                      <m:t>𝜃</m:t>
                    </m:r>
                  </m:oMath>
                </a14:m>
                <a:r>
                  <a:rPr lang="en-GB" sz="2025" b="0">
                    <a:solidFill>
                      <a:srgbClr val="526276"/>
                    </a:solidFill>
                    <a:latin typeface="DejaVu Sans"/>
                  </a:rPr>
                  <a:t>. All other coefficients stay fixed.</a:t>
                </a:r>
                <a:endParaRPr lang="en-GB" sz="2025"/>
              </a:p>
            </p:txBody>
          </p:sp>
        </mc:Choice>
        <mc:Fallback xmlns="">
          <p:sp>
            <p:nvSpPr>
              <p:cNvPr id="2" name="lead">
                <a:extLst>
                  <a:ext uri="{FF2B5EF4-FFF2-40B4-BE49-F238E27FC236}">
                    <a16:creationId xmlns:a16="http://schemas.microsoft.com/office/drawing/2014/main" id="{96CF802D-53F6-4B77-9F88-46B1EF7E90FA}"/>
                  </a:ext>
                </a:extLst>
              </p:cNvPr>
              <p:cNvSpPr>
                <a:spLocks noGrp="1" noRot="1" noChangeAspect="1" noMove="1" noResize="1" noEditPoints="1" noAdjustHandles="1" noChangeArrowheads="1" noChangeShapeType="1" noTextEdit="1"/>
              </p:cNvSpPr>
              <p:nvPr/>
            </p:nvSpPr>
            <p:spPr>
              <a:xfrm>
                <a:off x="428625" y="933450"/>
                <a:ext cx="11334750" cy="695325"/>
              </a:xfrm>
              <a:prstGeom prst="rect">
                <a:avLst/>
              </a:prstGeom>
              <a:blipFill>
                <a:blip r:embed="rId3"/>
                <a:stretch>
                  <a:fillRect t="-7895" b="-15789"/>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3E7A8790-43E6-4FD7-83E8-0536F073C7C8}"/>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DC6B51FF-9B6F-4AF2-A88F-22374E81EC84}"/>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dirty="0">
                <a:solidFill>
                  <a:srgbClr val="526276"/>
                </a:solidFill>
                <a:latin typeface="DejaVu Sans"/>
                <a:ea typeface="DejaVu Sans"/>
                <a:cs typeface="DejaVu Sans"/>
              </a:rPr>
              <a:t>3</a:t>
            </a:r>
            <a:r>
              <a:rPr lang="it-IT" sz="1050" b="0" dirty="0">
                <a:solidFill>
                  <a:srgbClr val="526276"/>
                </a:solidFill>
                <a:latin typeface="DejaVu Sans"/>
                <a:ea typeface="DejaVu Sans"/>
                <a:cs typeface="DejaVu Sans"/>
              </a:rPr>
              <a:t>6</a:t>
            </a:r>
            <a:endParaRPr sz="1050" b="0" dirty="0">
              <a:solidFill>
                <a:srgbClr val="526276"/>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5" name="equation_1" descr="f_\theta(x)=\operatorname{ReLU}(x-\theta)+\operatorname{ReLU}(\theta-x)-3=|x-\theta|-3">
                <a:extLst>
                  <a:ext uri="{FF2B5EF4-FFF2-40B4-BE49-F238E27FC236}">
                    <a16:creationId xmlns:a16="http://schemas.microsoft.com/office/drawing/2014/main" id="{2631E68B-8315-4002-A444-F808749A2D81}"/>
                  </a:ext>
                </a:extLst>
              </p:cNvPr>
              <p:cNvSpPr>
                <a:spLocks noGrp="1"/>
              </p:cNvSpPr>
              <p:nvPr/>
            </p:nvSpPr>
            <p:spPr>
              <a:xfrm>
                <a:off x="333375" y="2009775"/>
                <a:ext cx="11525250" cy="8001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𝑓</m:t>
                          </m:r>
                        </m:e>
                        <m:sub>
                          <m:r>
                            <a:rPr lang="en-GB" sz="2900">
                              <a:solidFill>
                                <a:srgbClr val="087F83"/>
                              </a:solidFill>
                              <a:latin typeface="Cambria Math"/>
                              <a:ea typeface="Cambria Math"/>
                              <a:cs typeface="Cambria Math"/>
                            </a:rPr>
                            <m:t>𝜃</m:t>
                          </m:r>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𝑥</m:t>
                          </m:r>
                        </m:e>
                      </m:d>
                      <m:r>
                        <a:rPr lang="en-GB" sz="2900">
                          <a:solidFill>
                            <a:srgbClr val="087F83"/>
                          </a:solidFill>
                          <a:latin typeface="Cambria Math"/>
                          <a:ea typeface="Cambria Math"/>
                          <a:cs typeface="Cambria Math"/>
                        </a:rPr>
                        <m:t>=</m:t>
                      </m:r>
                      <m:r>
                        <m:rPr>
                          <m:sty m:val="p"/>
                        </m:rPr>
                        <a:rPr lang="en-GB" sz="2900">
                          <a:solidFill>
                            <a:srgbClr val="087F83"/>
                          </a:solidFill>
                          <a:latin typeface="Cambria Math"/>
                          <a:ea typeface="Cambria Math"/>
                          <a:cs typeface="Cambria Math"/>
                        </a:rPr>
                        <m:t>ReLU</m:t>
                      </m:r>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𝑥</m:t>
                          </m:r>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𝜃</m:t>
                          </m:r>
                        </m:e>
                      </m:d>
                      <m:r>
                        <a:rPr lang="en-GB" sz="2900">
                          <a:solidFill>
                            <a:srgbClr val="087F83"/>
                          </a:solidFill>
                          <a:latin typeface="Cambria Math"/>
                          <a:ea typeface="Cambria Math"/>
                          <a:cs typeface="Cambria Math"/>
                        </a:rPr>
                        <m:t>+</m:t>
                      </m:r>
                      <m:r>
                        <m:rPr>
                          <m:sty m:val="p"/>
                        </m:rPr>
                        <a:rPr lang="en-GB" sz="2900">
                          <a:solidFill>
                            <a:srgbClr val="087F83"/>
                          </a:solidFill>
                          <a:latin typeface="Cambria Math"/>
                          <a:ea typeface="Cambria Math"/>
                          <a:cs typeface="Cambria Math"/>
                        </a:rPr>
                        <m:t>ReLU</m:t>
                      </m:r>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𝜃</m:t>
                          </m:r>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𝑥</m:t>
                          </m:r>
                        </m:e>
                      </m:d>
                      <m:r>
                        <a:rPr lang="en-GB" sz="2900">
                          <a:solidFill>
                            <a:srgbClr val="087F83"/>
                          </a:solidFill>
                          <a:latin typeface="Cambria Math"/>
                          <a:ea typeface="Cambria Math"/>
                          <a:cs typeface="Cambria Math"/>
                        </a:rPr>
                        <m:t>−3=</m:t>
                      </m:r>
                      <m:d>
                        <m:dPr>
                          <m:begChr m:val="|"/>
                          <m:endChr m:val="|"/>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𝑥</m:t>
                          </m:r>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𝜃</m:t>
                          </m:r>
                        </m:e>
                      </m:d>
                      <m:r>
                        <a:rPr lang="en-GB" sz="2900">
                          <a:solidFill>
                            <a:srgbClr val="087F83"/>
                          </a:solidFill>
                          <a:latin typeface="Cambria Math"/>
                          <a:ea typeface="Cambria Math"/>
                          <a:cs typeface="Cambria Math"/>
                        </a:rPr>
                        <m:t>−3</m:t>
                      </m:r>
                    </m:oMath>
                  </m:oMathPara>
                </a14:m>
                <a:endParaRPr lang="en-GB" sz="2900" dirty="0"/>
              </a:p>
            </p:txBody>
          </p:sp>
        </mc:Choice>
        <mc:Fallback xmlns="">
          <p:sp>
            <p:nvSpPr>
              <p:cNvPr id="5" name="equation_1" descr="f_\theta(x)=\operatorname{ReLU}(x-\theta)+\operatorname{ReLU}(\theta-x)-3=|x-\theta|-3">
                <a:extLst>
                  <a:ext uri="{FF2B5EF4-FFF2-40B4-BE49-F238E27FC236}">
                    <a16:creationId xmlns:a16="http://schemas.microsoft.com/office/drawing/2014/main" id="{2631E68B-8315-4002-A444-F808749A2D81}"/>
                  </a:ext>
                </a:extLst>
              </p:cNvPr>
              <p:cNvSpPr>
                <a:spLocks noGrp="1" noRot="1" noChangeAspect="1" noMove="1" noResize="1" noEditPoints="1" noAdjustHandles="1" noChangeArrowheads="1" noChangeShapeType="1" noTextEdit="1"/>
              </p:cNvSpPr>
              <p:nvPr/>
            </p:nvSpPr>
            <p:spPr>
              <a:xfrm>
                <a:off x="333375" y="2009775"/>
                <a:ext cx="11525250" cy="800100"/>
              </a:xfrm>
              <a:prstGeom prst="rect">
                <a:avLst/>
              </a:prstGeom>
              <a:blipFill>
                <a:blip r:embed="rId4"/>
                <a:stretch>
                  <a:fillRect/>
                </a:stretch>
              </a:blipFill>
              <a:ln w="0">
                <a:noFill/>
              </a:ln>
            </p:spPr>
            <p:txBody>
              <a:bodyPr/>
              <a:lstStyle/>
              <a:p>
                <a:r>
                  <a:rPr lang="it-IT">
                    <a:noFill/>
                  </a:rPr>
                  <a:t> </a:t>
                </a:r>
              </a:p>
            </p:txBody>
          </p:sp>
        </mc:Fallback>
      </mc:AlternateContent>
      <p:graphicFrame>
        <p:nvGraphicFramePr>
          <p:cNvPr id="19" name="Chart"/>
          <p:cNvGraphicFramePr/>
          <p:nvPr/>
        </p:nvGraphicFramePr>
        <p:xfrm>
          <a:off x="523875" y="2971800"/>
          <a:ext cx="6953250" cy="2752725"/>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_2">
            <a:extLst>
              <a:ext uri="{FF2B5EF4-FFF2-40B4-BE49-F238E27FC236}">
                <a16:creationId xmlns:a16="http://schemas.microsoft.com/office/drawing/2014/main" id="{62B7B059-2318-4605-8D2A-021CC71A0730}"/>
              </a:ext>
            </a:extLst>
          </p:cNvPr>
          <p:cNvSpPr>
            <a:spLocks noGrp="1"/>
          </p:cNvSpPr>
          <p:nvPr/>
        </p:nvSpPr>
        <p:spPr>
          <a:xfrm>
            <a:off x="3490912" y="5605844"/>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x</a:t>
            </a:r>
          </a:p>
        </p:txBody>
      </p:sp>
      <mc:AlternateContent xmlns:mc="http://schemas.openxmlformats.org/markup-compatibility/2006" xmlns:a14="http://schemas.microsoft.com/office/drawing/2010/main">
        <mc:Choice Requires="a14">
          <p:sp>
            <p:nvSpPr>
              <p:cNvPr id="8" name="text_3">
                <a:extLst>
                  <a:ext uri="{FF2B5EF4-FFF2-40B4-BE49-F238E27FC236}">
                    <a16:creationId xmlns:a16="http://schemas.microsoft.com/office/drawing/2014/main" id="{4809BE71-0C43-4A51-9797-32525EFDA411}"/>
                  </a:ext>
                </a:extLst>
              </p:cNvPr>
              <p:cNvSpPr>
                <a:spLocks noGrp="1"/>
              </p:cNvSpPr>
              <p:nvPr/>
            </p:nvSpPr>
            <p:spPr>
              <a:xfrm>
                <a:off x="1524000" y="2857500"/>
                <a:ext cx="2095500" cy="285750"/>
              </a:xfrm>
              <a:prstGeom prst="rect">
                <a:avLst/>
              </a:prstGeom>
              <a:noFill/>
              <a:ln w="0">
                <a:noFill/>
              </a:ln>
            </p:spPr>
            <p:txBody>
              <a:bodyPr anchor="ctr">
                <a:noAutofit/>
              </a:bodyPr>
              <a:lstStyle/>
              <a:p>
                <a:pPr algn="ctr">
                  <a:defRPr sz="1725" b="1">
                    <a:solidFill>
                      <a:srgbClr val="326CB2"/>
                    </a:solidFill>
                    <a:latin typeface="DejaVu Sans"/>
                    <a:ea typeface="DejaVu Sans"/>
                    <a:cs typeface="DejaVu Sans"/>
                  </a:defRPr>
                </a:pPr>
                <a14:m>
                  <m:oMathPara xmlns:m="http://schemas.openxmlformats.org/officeDocument/2006/math">
                    <m:oMath>
                      <m:r>
                        <a:rPr lang="it-IT" sz="1725" b="1" i="1" dirty="0" smtClean="0">
                          <a:solidFill>
                            <a:srgbClr val="326CB2"/>
                          </a:solidFill>
                          <a:latin typeface="Cambria Math" panose="02040503050406030204" pitchFamily="18" charset="0"/>
                          <a:ea typeface="DejaVu Sans"/>
                          <a:cs typeface="DejaVu Sans"/>
                        </a:rPr>
                        <m:t>𝜽</m:t>
                      </m:r>
                      <m:r>
                        <a:rPr lang="it-IT" sz="1725" b="1" i="1" dirty="0" smtClean="0">
                          <a:solidFill>
                            <a:srgbClr val="326CB2"/>
                          </a:solidFill>
                          <a:latin typeface="Cambria Math" panose="02040503050406030204" pitchFamily="18" charset="0"/>
                          <a:ea typeface="DejaVu Sans"/>
                          <a:cs typeface="DejaVu Sans"/>
                        </a:rPr>
                        <m:t> = −</m:t>
                      </m:r>
                      <m:r>
                        <a:rPr lang="it-IT" sz="1725" b="1" i="1" dirty="0" smtClean="0">
                          <a:solidFill>
                            <a:srgbClr val="326CB2"/>
                          </a:solidFill>
                          <a:latin typeface="Cambria Math" panose="02040503050406030204" pitchFamily="18" charset="0"/>
                          <a:ea typeface="DejaVu Sans"/>
                          <a:cs typeface="DejaVu Sans"/>
                        </a:rPr>
                        <m:t>𝟏</m:t>
                      </m:r>
                    </m:oMath>
                  </m:oMathPara>
                </a14:m>
                <a:endParaRPr/>
              </a:p>
            </p:txBody>
          </p:sp>
        </mc:Choice>
        <mc:Fallback xmlns="">
          <p:sp>
            <p:nvSpPr>
              <p:cNvPr id="8" name="text_3">
                <a:extLst>
                  <a:ext uri="{FF2B5EF4-FFF2-40B4-BE49-F238E27FC236}">
                    <a16:creationId xmlns:a16="http://schemas.microsoft.com/office/drawing/2014/main" id="{4809BE71-0C43-4A51-9797-32525EFDA411}"/>
                  </a:ext>
                </a:extLst>
              </p:cNvPr>
              <p:cNvSpPr>
                <a:spLocks noGrp="1" noRot="1" noChangeAspect="1" noMove="1" noResize="1" noEditPoints="1" noAdjustHandles="1" noChangeArrowheads="1" noChangeShapeType="1" noTextEdit="1"/>
              </p:cNvSpPr>
              <p:nvPr/>
            </p:nvSpPr>
            <p:spPr>
              <a:xfrm>
                <a:off x="1524000" y="2857500"/>
                <a:ext cx="2095500" cy="285750"/>
              </a:xfrm>
              <a:prstGeom prst="rect">
                <a:avLst/>
              </a:prstGeom>
              <a:blipFill>
                <a:blip r:embed="rId6"/>
                <a:stretch>
                  <a:fillRect t="-21277" b="-4255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text_4">
                <a:extLst>
                  <a:ext uri="{FF2B5EF4-FFF2-40B4-BE49-F238E27FC236}">
                    <a16:creationId xmlns:a16="http://schemas.microsoft.com/office/drawing/2014/main" id="{DB09A4AC-539D-4F7B-BCDC-3A79FF2852D7}"/>
                  </a:ext>
                </a:extLst>
              </p:cNvPr>
              <p:cNvSpPr>
                <a:spLocks noGrp="1"/>
              </p:cNvSpPr>
              <p:nvPr/>
            </p:nvSpPr>
            <p:spPr>
              <a:xfrm>
                <a:off x="4095750" y="2857500"/>
                <a:ext cx="2095500" cy="285750"/>
              </a:xfrm>
              <a:prstGeom prst="rect">
                <a:avLst/>
              </a:prstGeom>
              <a:noFill/>
              <a:ln w="0">
                <a:noFill/>
              </a:ln>
            </p:spPr>
            <p:txBody>
              <a:bodyPr anchor="ctr">
                <a:noAutofit/>
              </a:bodyPr>
              <a:lstStyle/>
              <a:p>
                <a:pPr algn="ctr">
                  <a:defRPr sz="1725" b="1">
                    <a:solidFill>
                      <a:srgbClr val="C45C28"/>
                    </a:solidFill>
                    <a:latin typeface="DejaVu Sans"/>
                    <a:ea typeface="DejaVu Sans"/>
                    <a:cs typeface="DejaVu Sans"/>
                  </a:defRPr>
                </a:pPr>
                <a14:m>
                  <m:oMathPara xmlns:m="http://schemas.openxmlformats.org/officeDocument/2006/math">
                    <m:oMath>
                      <m:r>
                        <a:rPr lang="it-IT" sz="1725" b="1" i="1" dirty="0" smtClean="0">
                          <a:solidFill>
                            <a:srgbClr val="C45C28"/>
                          </a:solidFill>
                          <a:latin typeface="Cambria Math" panose="02040503050406030204" pitchFamily="18" charset="0"/>
                          <a:ea typeface="DejaVu Sans"/>
                          <a:cs typeface="DejaVu Sans"/>
                        </a:rPr>
                        <m:t>𝜽</m:t>
                      </m:r>
                      <m:r>
                        <a:rPr lang="it-IT" sz="1725" b="1" i="1" dirty="0" smtClean="0">
                          <a:solidFill>
                            <a:srgbClr val="C45C28"/>
                          </a:solidFill>
                          <a:latin typeface="Cambria Math" panose="02040503050406030204" pitchFamily="18" charset="0"/>
                          <a:ea typeface="DejaVu Sans"/>
                          <a:cs typeface="DejaVu Sans"/>
                        </a:rPr>
                        <m:t> = +</m:t>
                      </m:r>
                      <m:r>
                        <a:rPr lang="it-IT" sz="1725" b="1" i="1" dirty="0" smtClean="0">
                          <a:solidFill>
                            <a:srgbClr val="C45C28"/>
                          </a:solidFill>
                          <a:latin typeface="Cambria Math" panose="02040503050406030204" pitchFamily="18" charset="0"/>
                          <a:ea typeface="DejaVu Sans"/>
                          <a:cs typeface="DejaVu Sans"/>
                        </a:rPr>
                        <m:t>𝟏</m:t>
                      </m:r>
                    </m:oMath>
                  </m:oMathPara>
                </a14:m>
                <a:endParaRPr/>
              </a:p>
            </p:txBody>
          </p:sp>
        </mc:Choice>
        <mc:Fallback xmlns="">
          <p:sp>
            <p:nvSpPr>
              <p:cNvPr id="9" name="text_4">
                <a:extLst>
                  <a:ext uri="{FF2B5EF4-FFF2-40B4-BE49-F238E27FC236}">
                    <a16:creationId xmlns:a16="http://schemas.microsoft.com/office/drawing/2014/main" id="{DB09A4AC-539D-4F7B-BCDC-3A79FF2852D7}"/>
                  </a:ext>
                </a:extLst>
              </p:cNvPr>
              <p:cNvSpPr>
                <a:spLocks noGrp="1" noRot="1" noChangeAspect="1" noMove="1" noResize="1" noEditPoints="1" noAdjustHandles="1" noChangeArrowheads="1" noChangeShapeType="1" noTextEdit="1"/>
              </p:cNvSpPr>
              <p:nvPr/>
            </p:nvSpPr>
            <p:spPr>
              <a:xfrm>
                <a:off x="4095750" y="2857500"/>
                <a:ext cx="2095500" cy="285750"/>
              </a:xfrm>
              <a:prstGeom prst="rect">
                <a:avLst/>
              </a:prstGeom>
              <a:blipFill>
                <a:blip r:embed="rId7"/>
                <a:stretch>
                  <a:fillRect t="-21277" b="-4255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text_5">
                <a:extLst>
                  <a:ext uri="{FF2B5EF4-FFF2-40B4-BE49-F238E27FC236}">
                    <a16:creationId xmlns:a16="http://schemas.microsoft.com/office/drawing/2014/main" id="{A92421AA-C1FE-45D7-8C27-B2F13039C675}"/>
                  </a:ext>
                </a:extLst>
              </p:cNvPr>
              <p:cNvSpPr>
                <a:spLocks noGrp="1"/>
              </p:cNvSpPr>
              <p:nvPr/>
            </p:nvSpPr>
            <p:spPr>
              <a:xfrm>
                <a:off x="7667625" y="3086100"/>
                <a:ext cx="3905250" cy="847725"/>
              </a:xfrm>
              <a:prstGeom prst="rect">
                <a:avLst/>
              </a:prstGeom>
              <a:noFill/>
              <a:ln w="0">
                <a:noFill/>
              </a:ln>
            </p:spPr>
            <p:txBody>
              <a:bodyPr wrap="none" lIns="0" tIns="0" rIns="0" bIns="0" anchor="ctr">
                <a:noAutofit/>
              </a:bodyPr>
              <a:lstStyle/>
              <a:p>
                <a:pPr algn="ctr">
                  <a:lnSpc>
                    <a:spcPts val="3000"/>
                  </a:lnSpc>
                </a:pPr>
                <a:r>
                  <a:rPr lang="en-GB" sz="2200" b="1" dirty="0">
                    <a:solidFill>
                      <a:srgbClr val="182D45"/>
                    </a:solidFill>
                    <a:latin typeface="DejaVu Sans"/>
                  </a:rPr>
                  <a:t>Hidden bias row:</a:t>
                </a:r>
                <a:endParaRPr lang="en-GB" sz="2200" dirty="0"/>
              </a:p>
              <a:p>
                <a:pPr algn="ctr">
                  <a:lnSpc>
                    <a:spcPts val="3000"/>
                  </a:lnSpc>
                </a:pPr>
                <a14:m>
                  <m:oMathPara xmlns:m="http://schemas.openxmlformats.org/officeDocument/2006/math">
                    <m:oMath>
                      <m:sSub>
                        <m:sSubPr>
                          <m:ctrlPr>
                            <a:rPr lang="en-GB" sz="2200">
                              <a:solidFill>
                                <a:srgbClr val="182D45"/>
                              </a:solidFill>
                              <a:latin typeface="Cambria Math"/>
                              <a:ea typeface="Cambria Math"/>
                              <a:cs typeface="Cambria Math"/>
                            </a:rPr>
                          </m:ctrlPr>
                        </m:sSubPr>
                        <m:e>
                          <m:r>
                            <a:rPr lang="en-GB" sz="2200">
                              <a:solidFill>
                                <a:srgbClr val="182D45"/>
                              </a:solidFill>
                              <a:latin typeface="Cambria Math"/>
                              <a:ea typeface="Cambria Math"/>
                              <a:cs typeface="Cambria Math"/>
                            </a:rPr>
                            <m:t>𝐛</m:t>
                          </m:r>
                        </m:e>
                        <m:sub>
                          <m:r>
                            <a:rPr lang="en-GB" sz="2200">
                              <a:solidFill>
                                <a:srgbClr val="182D45"/>
                              </a:solidFill>
                              <a:latin typeface="Cambria Math"/>
                              <a:ea typeface="Cambria Math"/>
                              <a:cs typeface="Cambria Math"/>
                            </a:rPr>
                            <m:t>1</m:t>
                          </m:r>
                        </m:sub>
                      </m:sSub>
                      <m:r>
                        <a:rPr lang="en-GB" sz="2200">
                          <a:solidFill>
                            <a:srgbClr val="182D45"/>
                          </a:solidFill>
                          <a:latin typeface="Cambria Math"/>
                          <a:ea typeface="Cambria Math"/>
                          <a:cs typeface="Cambria Math"/>
                        </a:rPr>
                        <m:t>=</m:t>
                      </m:r>
                      <m:d>
                        <m:dPr>
                          <m:ctrlPr>
                            <a:rPr lang="en-GB" sz="2200">
                              <a:solidFill>
                                <a:srgbClr val="182D45"/>
                              </a:solidFill>
                              <a:latin typeface="Cambria Math"/>
                              <a:ea typeface="Cambria Math"/>
                              <a:cs typeface="Cambria Math"/>
                            </a:rPr>
                          </m:ctrlPr>
                        </m:dPr>
                        <m:e>
                          <m:r>
                            <a:rPr lang="en-GB" sz="2200">
                              <a:solidFill>
                                <a:srgbClr val="182D45"/>
                              </a:solidFill>
                              <a:latin typeface="Cambria Math"/>
                              <a:ea typeface="Cambria Math"/>
                              <a:cs typeface="Cambria Math"/>
                            </a:rPr>
                            <m:t>−</m:t>
                          </m:r>
                          <m:r>
                            <a:rPr lang="en-GB" sz="2200">
                              <a:solidFill>
                                <a:srgbClr val="182D45"/>
                              </a:solidFill>
                              <a:latin typeface="Cambria Math"/>
                              <a:ea typeface="Cambria Math"/>
                              <a:cs typeface="Cambria Math"/>
                            </a:rPr>
                            <m:t>𝜃</m:t>
                          </m:r>
                          <m:r>
                            <a:rPr lang="en-GB" sz="2200">
                              <a:solidFill>
                                <a:srgbClr val="182D45"/>
                              </a:solidFill>
                              <a:latin typeface="Cambria Math"/>
                              <a:ea typeface="Cambria Math"/>
                              <a:cs typeface="Cambria Math"/>
                            </a:rPr>
                            <m:t>,</m:t>
                          </m:r>
                          <m:r>
                            <a:rPr lang="en-GB" sz="2200">
                              <a:solidFill>
                                <a:srgbClr val="182D45"/>
                              </a:solidFill>
                              <a:latin typeface="Cambria Math"/>
                              <a:ea typeface="Cambria Math"/>
                              <a:cs typeface="Cambria Math"/>
                            </a:rPr>
                            <m:t>𝜃</m:t>
                          </m:r>
                        </m:e>
                      </m:d>
                    </m:oMath>
                  </m:oMathPara>
                </a14:m>
                <a:endParaRPr lang="en-GB" sz="2200" dirty="0"/>
              </a:p>
            </p:txBody>
          </p:sp>
        </mc:Choice>
        <mc:Fallback xmlns="">
          <p:sp>
            <p:nvSpPr>
              <p:cNvPr id="10" name="text_5">
                <a:extLst>
                  <a:ext uri="{FF2B5EF4-FFF2-40B4-BE49-F238E27FC236}">
                    <a16:creationId xmlns:a16="http://schemas.microsoft.com/office/drawing/2014/main" id="{A92421AA-C1FE-45D7-8C27-B2F13039C675}"/>
                  </a:ext>
                </a:extLst>
              </p:cNvPr>
              <p:cNvSpPr>
                <a:spLocks noGrp="1" noRot="1" noChangeAspect="1" noMove="1" noResize="1" noEditPoints="1" noAdjustHandles="1" noChangeArrowheads="1" noChangeShapeType="1" noTextEdit="1"/>
              </p:cNvSpPr>
              <p:nvPr/>
            </p:nvSpPr>
            <p:spPr>
              <a:xfrm>
                <a:off x="7667625" y="3086100"/>
                <a:ext cx="3905250" cy="847725"/>
              </a:xfrm>
              <a:prstGeom prst="rect">
                <a:avLst/>
              </a:prstGeom>
              <a:blipFill>
                <a:blip r:embed="rId8"/>
                <a:stretch>
                  <a:fillRect t="-3597"/>
                </a:stretch>
              </a:blipFill>
              <a:ln w="0">
                <a:noFill/>
              </a:ln>
            </p:spPr>
            <p:txBody>
              <a:bodyPr/>
              <a:lstStyle/>
              <a:p>
                <a:r>
                  <a:rPr lang="it-IT">
                    <a:noFill/>
                  </a:rPr>
                  <a:t> </a:t>
                </a:r>
              </a:p>
            </p:txBody>
          </p:sp>
        </mc:Fallback>
      </mc:AlternateContent>
      <p:sp>
        <p:nvSpPr>
          <p:cNvPr id="11" name="text_6">
            <a:extLst>
              <a:ext uri="{FF2B5EF4-FFF2-40B4-BE49-F238E27FC236}">
                <a16:creationId xmlns:a16="http://schemas.microsoft.com/office/drawing/2014/main" id="{7AD47AD6-4B1C-485F-AC2C-15F4A0F6458F}"/>
              </a:ext>
            </a:extLst>
          </p:cNvPr>
          <p:cNvSpPr>
            <a:spLocks noGrp="1"/>
          </p:cNvSpPr>
          <p:nvPr/>
        </p:nvSpPr>
        <p:spPr>
          <a:xfrm>
            <a:off x="7667625" y="4048125"/>
            <a:ext cx="3905250" cy="828675"/>
          </a:xfrm>
          <a:prstGeom prst="rect">
            <a:avLst/>
          </a:prstGeom>
          <a:noFill/>
          <a:ln w="0">
            <a:noFill/>
          </a:ln>
        </p:spPr>
        <p:txBody>
          <a:bodyPr wrap="none" lIns="0" tIns="0" rIns="0" bIns="0" anchor="ctr">
            <a:noAutofit/>
          </a:bodyPr>
          <a:lstStyle/>
          <a:p>
            <a:pPr algn="ctr">
              <a:lnSpc>
                <a:spcPts val="2500"/>
              </a:lnSpc>
            </a:pPr>
            <a:r>
              <a:rPr lang="en-GB" sz="2025" b="0" dirty="0">
                <a:solidFill>
                  <a:srgbClr val="526276"/>
                </a:solidFill>
                <a:latin typeface="DejaVu Sans"/>
              </a:rPr>
              <a:t>The two biases vary together</a:t>
            </a:r>
            <a:endParaRPr lang="en-GB" sz="2025" dirty="0"/>
          </a:p>
          <a:p>
            <a:pPr algn="ctr">
              <a:lnSpc>
                <a:spcPts val="2500"/>
              </a:lnSpc>
            </a:pPr>
            <a:r>
              <a:rPr lang="en-GB" sz="2025" b="0" dirty="0">
                <a:solidFill>
                  <a:srgbClr val="526276"/>
                </a:solidFill>
                <a:latin typeface="DejaVu Sans"/>
              </a:rPr>
              <a:t>and remain opposites.</a:t>
            </a:r>
            <a:endParaRPr lang="en-GB" sz="2025" dirty="0"/>
          </a:p>
        </p:txBody>
      </p:sp>
      <mc:AlternateContent xmlns:mc="http://schemas.openxmlformats.org/markup-compatibility/2006" xmlns:a14="http://schemas.microsoft.com/office/drawing/2010/main">
        <mc:Choice Requires="a14">
          <p:sp>
            <p:nvSpPr>
              <p:cNvPr id="12" name="text_7">
                <a:extLst>
                  <a:ext uri="{FF2B5EF4-FFF2-40B4-BE49-F238E27FC236}">
                    <a16:creationId xmlns:a16="http://schemas.microsoft.com/office/drawing/2014/main" id="{863B7342-9DFD-4342-BDC2-9F396FF6D084}"/>
                  </a:ext>
                </a:extLst>
              </p:cNvPr>
              <p:cNvSpPr>
                <a:spLocks noGrp="1"/>
              </p:cNvSpPr>
              <p:nvPr/>
            </p:nvSpPr>
            <p:spPr>
              <a:xfrm>
                <a:off x="7667625" y="5048250"/>
                <a:ext cx="3905250" cy="790575"/>
              </a:xfrm>
              <a:prstGeom prst="rect">
                <a:avLst/>
              </a:prstGeom>
              <a:noFill/>
              <a:ln w="0">
                <a:noFill/>
              </a:ln>
            </p:spPr>
            <p:txBody>
              <a:bodyPr wrap="none" lIns="0" tIns="0" rIns="0" bIns="0" anchor="ctr">
                <a:noAutofit/>
              </a:bodyPr>
              <a:lstStyle/>
              <a:p>
                <a:pPr algn="ctr">
                  <a:lnSpc>
                    <a:spcPts val="2500"/>
                  </a:lnSpc>
                </a:pPr>
                <a:r>
                  <a:rPr lang="en-GB" sz="2025" b="0">
                    <a:solidFill>
                      <a:srgbClr val="526276"/>
                    </a:solidFill>
                    <a:latin typeface="DejaVu Sans"/>
                  </a:rPr>
                  <a:t>Changing </a:t>
                </a:r>
                <a14:m>
                  <m:oMath xmlns:m="http://schemas.openxmlformats.org/officeDocument/2006/math">
                    <m:r>
                      <a:rPr lang="en-GB" sz="2025">
                        <a:solidFill>
                          <a:srgbClr val="526276"/>
                        </a:solidFill>
                        <a:latin typeface="Cambria Math"/>
                        <a:ea typeface="Cambria Math"/>
                        <a:cs typeface="Cambria Math"/>
                      </a:rPr>
                      <m:t>𝜃</m:t>
                    </m:r>
                  </m:oMath>
                </a14:m>
                <a:r>
                  <a:rPr lang="en-GB" sz="2025" b="0">
                    <a:solidFill>
                      <a:srgbClr val="526276"/>
                    </a:solidFill>
                    <a:latin typeface="DejaVu Sans"/>
                  </a:rPr>
                  <a:t> shifts the</a:t>
                </a:r>
                <a:endParaRPr lang="en-GB" sz="2025"/>
              </a:p>
              <a:p>
                <a:pPr algn="ctr">
                  <a:lnSpc>
                    <a:spcPts val="2500"/>
                  </a:lnSpc>
                </a:pPr>
                <a:r>
                  <a:rPr lang="en-GB" sz="2025" b="0">
                    <a:solidFill>
                      <a:srgbClr val="526276"/>
                    </a:solidFill>
                    <a:latin typeface="DejaVu Sans"/>
                  </a:rPr>
                  <a:t>graph horizontally.</a:t>
                </a:r>
                <a:endParaRPr lang="en-GB" sz="2025"/>
              </a:p>
            </p:txBody>
          </p:sp>
        </mc:Choice>
        <mc:Fallback xmlns="">
          <p:sp>
            <p:nvSpPr>
              <p:cNvPr id="12" name="text_7">
                <a:extLst>
                  <a:ext uri="{FF2B5EF4-FFF2-40B4-BE49-F238E27FC236}">
                    <a16:creationId xmlns:a16="http://schemas.microsoft.com/office/drawing/2014/main" id="{863B7342-9DFD-4342-BDC2-9F396FF6D084}"/>
                  </a:ext>
                </a:extLst>
              </p:cNvPr>
              <p:cNvSpPr>
                <a:spLocks noGrp="1" noRot="1" noChangeAspect="1" noMove="1" noResize="1" noEditPoints="1" noAdjustHandles="1" noChangeArrowheads="1" noChangeShapeType="1" noTextEdit="1"/>
              </p:cNvSpPr>
              <p:nvPr/>
            </p:nvSpPr>
            <p:spPr>
              <a:xfrm>
                <a:off x="7667625" y="5048250"/>
                <a:ext cx="3905250" cy="790575"/>
              </a:xfrm>
              <a:prstGeom prst="rect">
                <a:avLst/>
              </a:prstGeom>
              <a:blipFill>
                <a:blip r:embed="rId9"/>
                <a:stretch>
                  <a:fillRect t="-769" b="-7692"/>
                </a:stretch>
              </a:blipFill>
              <a:ln w="0">
                <a:noFill/>
              </a:ln>
            </p:spPr>
            <p:txBody>
              <a:bodyPr/>
              <a:lstStyle/>
              <a:p>
                <a:r>
                  <a:rPr lang="it-IT">
                    <a:noFill/>
                  </a:rPr>
                  <a:t> </a:t>
                </a:r>
              </a:p>
            </p:txBody>
          </p:sp>
        </mc:Fallback>
      </mc:AlternateContent>
      <p:sp>
        <p:nvSpPr>
          <p:cNvPr id="13" name="text_8">
            <a:extLst>
              <a:ext uri="{FF2B5EF4-FFF2-40B4-BE49-F238E27FC236}">
                <a16:creationId xmlns:a16="http://schemas.microsoft.com/office/drawing/2014/main" id="{1624C763-E68C-426A-8DE6-8711B3FA7CE6}"/>
              </a:ext>
            </a:extLst>
          </p:cNvPr>
          <p:cNvSpPr>
            <a:spLocks noGrp="1"/>
          </p:cNvSpPr>
          <p:nvPr/>
        </p:nvSpPr>
        <p:spPr>
          <a:xfrm>
            <a:off x="571500" y="5895975"/>
            <a:ext cx="11049000" cy="590550"/>
          </a:xfrm>
          <a:prstGeom prst="rect">
            <a:avLst/>
          </a:prstGeom>
          <a:noFill/>
          <a:ln w="0">
            <a:noFill/>
          </a:ln>
        </p:spPr>
        <p:txBody>
          <a:bodyPr wrap="none" lIns="0" tIns="0" rIns="0" bIns="0" anchor="ctr">
            <a:noAutofit/>
          </a:bodyPr>
          <a:lstStyle/>
          <a:p>
            <a:pPr algn="ctr">
              <a:lnSpc>
                <a:spcPts val="2400"/>
              </a:lnSpc>
            </a:pPr>
            <a:r>
              <a:rPr lang="en-GB" sz="2025" b="1" dirty="0">
                <a:solidFill>
                  <a:srgbClr val="182D45"/>
                </a:solidFill>
                <a:latin typeface="DejaVu Sans"/>
              </a:rPr>
              <a:t>Similar optimisation difficulties can also occur</a:t>
            </a:r>
            <a:endParaRPr lang="en-GB" sz="2025" dirty="0"/>
          </a:p>
          <a:p>
            <a:pPr algn="ctr">
              <a:lnSpc>
                <a:spcPts val="2400"/>
              </a:lnSpc>
            </a:pPr>
            <a:r>
              <a:rPr lang="en-GB" sz="2025" b="1" dirty="0">
                <a:solidFill>
                  <a:srgbClr val="182D45"/>
                </a:solidFill>
                <a:latin typeface="DejaVu Sans"/>
              </a:rPr>
              <a:t>in networks where all parameters can vary.</a:t>
            </a:r>
            <a:endParaRPr lang="en-GB" sz="2025" dirty="0"/>
          </a:p>
        </p:txBody>
      </p:sp>
      <mc:AlternateContent xmlns:mc="http://schemas.openxmlformats.org/markup-compatibility/2006" xmlns:a14="http://schemas.microsoft.com/office/drawing/2010/main">
        <mc:Choice Requires="a14">
          <p:sp>
            <p:nvSpPr>
              <p:cNvPr id="20" name="architecture">
                <a:extLst>
                  <a:ext uri="{FF2B5EF4-FFF2-40B4-BE49-F238E27FC236}">
                    <a16:creationId xmlns:a16="http://schemas.microsoft.com/office/drawing/2014/main" id="{96CF802D-53F6-4B77-9F88-46B1EF7E90FA}"/>
                  </a:ext>
                </a:extLst>
              </p:cNvPr>
              <p:cNvSpPr>
                <a:spLocks noGrp="1"/>
              </p:cNvSpPr>
              <p:nvPr/>
            </p:nvSpPr>
            <p:spPr>
              <a:xfrm>
                <a:off x="428625" y="1647825"/>
                <a:ext cx="11334750" cy="333375"/>
              </a:xfrm>
              <a:prstGeom prst="rect">
                <a:avLst/>
              </a:prstGeom>
              <a:noFill/>
              <a:ln w="0">
                <a:noFill/>
              </a:ln>
            </p:spPr>
            <p:txBody>
              <a:bodyPr wrap="none" lIns="0" tIns="0" rIns="0" bIns="0" anchor="ctr">
                <a:noAutofit/>
              </a:bodyPr>
              <a:lstStyle/>
              <a:p>
                <a:pPr algn="ctr"/>
                <a14:m>
                  <m:oMath xmlns:m="http://schemas.openxmlformats.org/officeDocument/2006/math">
                    <m:r>
                      <a:rPr lang="en-GB" sz="1850">
                        <a:solidFill>
                          <a:srgbClr val="526276"/>
                        </a:solidFill>
                        <a:latin typeface="Cambria Math"/>
                        <a:ea typeface="Cambria Math"/>
                        <a:cs typeface="Cambria Math"/>
                      </a:rPr>
                      <m:t>𝐿</m:t>
                    </m:r>
                    <m:r>
                      <a:rPr lang="en-GB" sz="1850">
                        <a:solidFill>
                          <a:srgbClr val="526276"/>
                        </a:solidFill>
                        <a:latin typeface="Cambria Math"/>
                        <a:ea typeface="Cambria Math"/>
                        <a:cs typeface="Cambria Math"/>
                      </a:rPr>
                      <m:t>=2</m:t>
                    </m:r>
                  </m:oMath>
                </a14:m>
                <a:r>
                  <a:rPr lang="en-GB" sz="1850" b="0">
                    <a:solidFill>
                      <a:srgbClr val="526276"/>
                    </a:solidFill>
                    <a:latin typeface="DejaVu Sans"/>
                  </a:rPr>
                  <a:t>, with widths </a:t>
                </a:r>
                <a14:m>
                  <m:oMath xmlns:m="http://schemas.openxmlformats.org/officeDocument/2006/math">
                    <m:sSub>
                      <m:sSubPr>
                        <m:ctrlPr>
                          <a:rPr lang="en-GB" sz="1850">
                            <a:solidFill>
                              <a:srgbClr val="526276"/>
                            </a:solidFill>
                            <a:latin typeface="Cambria Math"/>
                            <a:ea typeface="Cambria Math"/>
                            <a:cs typeface="Cambria Math"/>
                          </a:rPr>
                        </m:ctrlPr>
                      </m:sSubPr>
                      <m:e>
                        <m:r>
                          <a:rPr lang="en-GB" sz="1850">
                            <a:solidFill>
                              <a:srgbClr val="526276"/>
                            </a:solidFill>
                            <a:latin typeface="Cambria Math"/>
                            <a:ea typeface="Cambria Math"/>
                            <a:cs typeface="Cambria Math"/>
                          </a:rPr>
                          <m:t>𝑚</m:t>
                        </m:r>
                      </m:e>
                      <m:sub>
                        <m:r>
                          <a:rPr lang="en-GB" sz="1850">
                            <a:solidFill>
                              <a:srgbClr val="526276"/>
                            </a:solidFill>
                            <a:latin typeface="Cambria Math"/>
                            <a:ea typeface="Cambria Math"/>
                            <a:cs typeface="Cambria Math"/>
                          </a:rPr>
                          <m:t>0</m:t>
                        </m:r>
                      </m:sub>
                    </m:sSub>
                    <m:r>
                      <a:rPr lang="en-GB" sz="1850">
                        <a:solidFill>
                          <a:srgbClr val="526276"/>
                        </a:solidFill>
                        <a:latin typeface="Cambria Math"/>
                        <a:ea typeface="Cambria Math"/>
                        <a:cs typeface="Cambria Math"/>
                      </a:rPr>
                      <m:t>=1</m:t>
                    </m:r>
                  </m:oMath>
                </a14:m>
                <a:r>
                  <a:rPr lang="en-GB" sz="1850" b="0">
                    <a:solidFill>
                      <a:srgbClr val="526276"/>
                    </a:solidFill>
                    <a:latin typeface="DejaVu Sans"/>
                  </a:rPr>
                  <a:t>, </a:t>
                </a:r>
                <a14:m>
                  <m:oMath xmlns:m="http://schemas.openxmlformats.org/officeDocument/2006/math">
                    <m:sSub>
                      <m:sSubPr>
                        <m:ctrlPr>
                          <a:rPr lang="en-GB" sz="1850">
                            <a:solidFill>
                              <a:srgbClr val="526276"/>
                            </a:solidFill>
                            <a:latin typeface="Cambria Math"/>
                            <a:ea typeface="Cambria Math"/>
                            <a:cs typeface="Cambria Math"/>
                          </a:rPr>
                        </m:ctrlPr>
                      </m:sSubPr>
                      <m:e>
                        <m:r>
                          <a:rPr lang="en-GB" sz="1850">
                            <a:solidFill>
                              <a:srgbClr val="526276"/>
                            </a:solidFill>
                            <a:latin typeface="Cambria Math"/>
                            <a:ea typeface="Cambria Math"/>
                            <a:cs typeface="Cambria Math"/>
                          </a:rPr>
                          <m:t>𝑚</m:t>
                        </m:r>
                      </m:e>
                      <m:sub>
                        <m:r>
                          <a:rPr lang="en-GB" sz="1850">
                            <a:solidFill>
                              <a:srgbClr val="526276"/>
                            </a:solidFill>
                            <a:latin typeface="Cambria Math"/>
                            <a:ea typeface="Cambria Math"/>
                            <a:cs typeface="Cambria Math"/>
                          </a:rPr>
                          <m:t>1</m:t>
                        </m:r>
                      </m:sub>
                    </m:sSub>
                    <m:r>
                      <a:rPr lang="en-GB" sz="1850">
                        <a:solidFill>
                          <a:srgbClr val="526276"/>
                        </a:solidFill>
                        <a:latin typeface="Cambria Math"/>
                        <a:ea typeface="Cambria Math"/>
                        <a:cs typeface="Cambria Math"/>
                      </a:rPr>
                      <m:t>=2</m:t>
                    </m:r>
                  </m:oMath>
                </a14:m>
                <a:r>
                  <a:rPr lang="en-GB" sz="1850" b="0">
                    <a:solidFill>
                      <a:srgbClr val="526276"/>
                    </a:solidFill>
                    <a:latin typeface="DejaVu Sans"/>
                  </a:rPr>
                  <a:t> and </a:t>
                </a:r>
                <a14:m>
                  <m:oMath xmlns:m="http://schemas.openxmlformats.org/officeDocument/2006/math">
                    <m:sSub>
                      <m:sSubPr>
                        <m:ctrlPr>
                          <a:rPr lang="en-GB" sz="1850">
                            <a:solidFill>
                              <a:srgbClr val="526276"/>
                            </a:solidFill>
                            <a:latin typeface="Cambria Math"/>
                            <a:ea typeface="Cambria Math"/>
                            <a:cs typeface="Cambria Math"/>
                          </a:rPr>
                        </m:ctrlPr>
                      </m:sSubPr>
                      <m:e>
                        <m:r>
                          <a:rPr lang="en-GB" sz="1850">
                            <a:solidFill>
                              <a:srgbClr val="526276"/>
                            </a:solidFill>
                            <a:latin typeface="Cambria Math"/>
                            <a:ea typeface="Cambria Math"/>
                            <a:cs typeface="Cambria Math"/>
                          </a:rPr>
                          <m:t>𝑚</m:t>
                        </m:r>
                      </m:e>
                      <m:sub>
                        <m:r>
                          <a:rPr lang="en-GB" sz="1850">
                            <a:solidFill>
                              <a:srgbClr val="526276"/>
                            </a:solidFill>
                            <a:latin typeface="Cambria Math"/>
                            <a:ea typeface="Cambria Math"/>
                            <a:cs typeface="Cambria Math"/>
                          </a:rPr>
                          <m:t>2</m:t>
                        </m:r>
                      </m:sub>
                    </m:sSub>
                    <m:r>
                      <a:rPr lang="en-GB" sz="1850">
                        <a:solidFill>
                          <a:srgbClr val="526276"/>
                        </a:solidFill>
                        <a:latin typeface="Cambria Math"/>
                        <a:ea typeface="Cambria Math"/>
                        <a:cs typeface="Cambria Math"/>
                      </a:rPr>
                      <m:t>=1</m:t>
                    </m:r>
                  </m:oMath>
                </a14:m>
                <a:r>
                  <a:rPr lang="en-GB" sz="1850" b="0">
                    <a:solidFill>
                      <a:srgbClr val="526276"/>
                    </a:solidFill>
                    <a:latin typeface="DejaVu Sans"/>
                  </a:rPr>
                  <a:t>.</a:t>
                </a:r>
                <a:endParaRPr lang="en-GB" sz="1850"/>
              </a:p>
            </p:txBody>
          </p:sp>
        </mc:Choice>
        <mc:Fallback xmlns="">
          <p:sp>
            <p:nvSpPr>
              <p:cNvPr id="20" name="architecture">
                <a:extLst>
                  <a:ext uri="{FF2B5EF4-FFF2-40B4-BE49-F238E27FC236}">
                    <a16:creationId xmlns:a16="http://schemas.microsoft.com/office/drawing/2014/main" id="{96CF802D-53F6-4B77-9F88-46B1EF7E90FA}"/>
                  </a:ext>
                </a:extLst>
              </p:cNvPr>
              <p:cNvSpPr>
                <a:spLocks noGrp="1" noRot="1" noChangeAspect="1" noMove="1" noResize="1" noEditPoints="1" noAdjustHandles="1" noChangeArrowheads="1" noChangeShapeType="1" noTextEdit="1"/>
              </p:cNvSpPr>
              <p:nvPr/>
            </p:nvSpPr>
            <p:spPr>
              <a:xfrm>
                <a:off x="428625" y="1647825"/>
                <a:ext cx="11334750" cy="333375"/>
              </a:xfrm>
              <a:prstGeom prst="rect">
                <a:avLst/>
              </a:prstGeom>
              <a:blipFill>
                <a:blip r:embed="rId10"/>
                <a:stretch>
                  <a:fillRect t="-18182" b="-34545"/>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500499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A660202A-1DB5-45AD-B39B-0E9DC2683451}"/>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The regression loss</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5AB79B9A-6A2E-45C3-94F4-CA196602F436}"/>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en-GB" sz="2175" b="0" dirty="0">
                    <a:solidFill>
                      <a:srgbClr val="526276"/>
                    </a:solidFill>
                    <a:latin typeface="DejaVu Sans"/>
                    <a:ea typeface="DejaVu Sans"/>
                    <a:cs typeface="DejaVu Sans"/>
                  </a:rPr>
                  <a:t>Two observations: </a:t>
                </a:r>
                <a14:m>
                  <m:oMath xmlns:m="http://schemas.openxmlformats.org/officeDocument/2006/math">
                    <m:d>
                      <m:dPr>
                        <m:ctrlPr>
                          <a:rPr lang="it-IT" sz="2175" b="0" i="1" dirty="0" smtClean="0">
                            <a:solidFill>
                              <a:srgbClr val="526276"/>
                            </a:solidFill>
                            <a:latin typeface="Cambria Math" panose="02040503050406030204" pitchFamily="18" charset="0"/>
                          </a:rPr>
                        </m:ctrlPr>
                      </m:dPr>
                      <m:e>
                        <m:sSub>
                          <m:sSubPr>
                            <m:ctrlPr>
                              <a:rPr lang="it-IT" sz="2175" b="0" i="1" dirty="0" smtClean="0">
                                <a:solidFill>
                                  <a:srgbClr val="526276"/>
                                </a:solidFill>
                                <a:latin typeface="Cambria Math" panose="02040503050406030204" pitchFamily="18" charset="0"/>
                              </a:rPr>
                            </m:ctrlPr>
                          </m:sSubPr>
                          <m:e>
                            <m:r>
                              <a:rPr lang="it-IT" sz="2175" b="0" i="1" dirty="0" smtClean="0">
                                <a:solidFill>
                                  <a:srgbClr val="526276"/>
                                </a:solidFill>
                                <a:latin typeface="Cambria Math" panose="02040503050406030204" pitchFamily="18" charset="0"/>
                              </a:rPr>
                              <m:t>𝑥</m:t>
                            </m:r>
                          </m:e>
                          <m:sub>
                            <m:r>
                              <a:rPr lang="it-IT" sz="2175" b="0" i="1" dirty="0" smtClean="0">
                                <a:solidFill>
                                  <a:srgbClr val="526276"/>
                                </a:solidFill>
                                <a:latin typeface="Cambria Math" panose="02040503050406030204" pitchFamily="18" charset="0"/>
                              </a:rPr>
                              <m:t>1</m:t>
                            </m:r>
                          </m:sub>
                        </m:sSub>
                        <m:r>
                          <a:rPr lang="it-IT" sz="2175" b="0" i="1" dirty="0" smtClean="0">
                            <a:solidFill>
                              <a:srgbClr val="526276"/>
                            </a:solidFill>
                            <a:latin typeface="Cambria Math" panose="02040503050406030204" pitchFamily="18" charset="0"/>
                          </a:rPr>
                          <m:t>,</m:t>
                        </m:r>
                        <m:sSub>
                          <m:sSubPr>
                            <m:ctrlPr>
                              <a:rPr lang="it-IT" sz="2175" b="0" i="1" dirty="0" smtClean="0">
                                <a:solidFill>
                                  <a:srgbClr val="526276"/>
                                </a:solidFill>
                                <a:latin typeface="Cambria Math" panose="02040503050406030204" pitchFamily="18" charset="0"/>
                              </a:rPr>
                            </m:ctrlPr>
                          </m:sSubPr>
                          <m:e>
                            <m:r>
                              <a:rPr lang="it-IT" sz="2175" b="0" i="1" dirty="0" smtClean="0">
                                <a:solidFill>
                                  <a:srgbClr val="526276"/>
                                </a:solidFill>
                                <a:latin typeface="Cambria Math" panose="02040503050406030204" pitchFamily="18" charset="0"/>
                              </a:rPr>
                              <m:t>𝑦</m:t>
                            </m:r>
                          </m:e>
                          <m:sub>
                            <m:r>
                              <a:rPr lang="it-IT" sz="2175" b="0" i="1" dirty="0" smtClean="0">
                                <a:solidFill>
                                  <a:srgbClr val="526276"/>
                                </a:solidFill>
                                <a:latin typeface="Cambria Math" panose="02040503050406030204" pitchFamily="18" charset="0"/>
                              </a:rPr>
                              <m:t>1</m:t>
                            </m:r>
                          </m:sub>
                        </m:sSub>
                      </m:e>
                    </m:d>
                    <m:r>
                      <a:rPr lang="it-IT" sz="2175" b="0" i="1" dirty="0" smtClean="0">
                        <a:solidFill>
                          <a:srgbClr val="526276"/>
                        </a:solidFill>
                        <a:latin typeface="Cambria Math" panose="02040503050406030204" pitchFamily="18" charset="0"/>
                      </a:rPr>
                      <m:t>=</m:t>
                    </m:r>
                    <m:d>
                      <m:dPr>
                        <m:ctrlPr>
                          <a:rPr lang="en-GB" sz="2175" b="0" i="1" dirty="0" smtClean="0">
                            <a:solidFill>
                              <a:srgbClr val="526276"/>
                            </a:solidFill>
                            <a:latin typeface="Cambria Math" panose="02040503050406030204" pitchFamily="18" charset="0"/>
                            <a:ea typeface="DejaVu Sans"/>
                            <a:cs typeface="DejaVu Sans"/>
                          </a:rPr>
                        </m:ctrlPr>
                      </m:dPr>
                      <m:e>
                        <m:r>
                          <a:rPr lang="en-GB" sz="2175" b="0" i="1" dirty="0" smtClean="0">
                            <a:solidFill>
                              <a:srgbClr val="526276"/>
                            </a:solidFill>
                            <a:latin typeface="Cambria Math" panose="02040503050406030204" pitchFamily="18" charset="0"/>
                            <a:ea typeface="DejaVu Sans"/>
                            <a:cs typeface="DejaVu Sans"/>
                          </a:rPr>
                          <m:t>−1, −1</m:t>
                        </m:r>
                      </m:e>
                    </m:d>
                    <m:r>
                      <a:rPr lang="en-GB" sz="2175" b="0" i="1" dirty="0" smtClean="0">
                        <a:solidFill>
                          <a:srgbClr val="526276"/>
                        </a:solidFill>
                        <a:latin typeface="Cambria Math" panose="02040503050406030204" pitchFamily="18" charset="0"/>
                        <a:ea typeface="DejaVu Sans"/>
                        <a:cs typeface="DejaVu Sans"/>
                      </a:rPr>
                      <m:t> </m:t>
                    </m:r>
                  </m:oMath>
                </a14:m>
                <a:r>
                  <a:rPr lang="en-GB" sz="2175" b="0" dirty="0">
                    <a:solidFill>
                      <a:srgbClr val="526276"/>
                    </a:solidFill>
                    <a:latin typeface="DejaVu Sans"/>
                    <a:ea typeface="DejaVu Sans"/>
                    <a:cs typeface="DejaVu Sans"/>
                  </a:rPr>
                  <a:t>and </a:t>
                </a:r>
                <a14:m>
                  <m:oMath xmlns:m="http://schemas.openxmlformats.org/officeDocument/2006/math">
                    <m:d>
                      <m:dPr>
                        <m:ctrlPr>
                          <a:rPr lang="it-IT" sz="2175" b="0" i="1" dirty="0" smtClean="0">
                            <a:solidFill>
                              <a:srgbClr val="526276"/>
                            </a:solidFill>
                            <a:latin typeface="Cambria Math" panose="02040503050406030204" pitchFamily="18" charset="0"/>
                          </a:rPr>
                        </m:ctrlPr>
                      </m:dPr>
                      <m:e>
                        <m:sSub>
                          <m:sSubPr>
                            <m:ctrlPr>
                              <a:rPr lang="it-IT" sz="2175" b="0" i="1" dirty="0" smtClean="0">
                                <a:solidFill>
                                  <a:srgbClr val="526276"/>
                                </a:solidFill>
                                <a:latin typeface="Cambria Math" panose="02040503050406030204" pitchFamily="18" charset="0"/>
                              </a:rPr>
                            </m:ctrlPr>
                          </m:sSubPr>
                          <m:e>
                            <m:r>
                              <a:rPr lang="it-IT" sz="2175" b="0" i="1" dirty="0" smtClean="0">
                                <a:solidFill>
                                  <a:srgbClr val="526276"/>
                                </a:solidFill>
                                <a:latin typeface="Cambria Math" panose="02040503050406030204" pitchFamily="18" charset="0"/>
                              </a:rPr>
                              <m:t>𝑥</m:t>
                            </m:r>
                          </m:e>
                          <m:sub>
                            <m:r>
                              <a:rPr lang="it-IT" sz="2175" b="0" i="1" dirty="0" smtClean="0">
                                <a:solidFill>
                                  <a:srgbClr val="526276"/>
                                </a:solidFill>
                                <a:latin typeface="Cambria Math" panose="02040503050406030204" pitchFamily="18" charset="0"/>
                              </a:rPr>
                              <m:t>2</m:t>
                            </m:r>
                          </m:sub>
                        </m:sSub>
                        <m:r>
                          <a:rPr lang="it-IT" sz="2175" b="0" i="1" dirty="0" smtClean="0">
                            <a:solidFill>
                              <a:srgbClr val="526276"/>
                            </a:solidFill>
                            <a:latin typeface="Cambria Math" panose="02040503050406030204" pitchFamily="18" charset="0"/>
                          </a:rPr>
                          <m:t>,</m:t>
                        </m:r>
                        <m:sSub>
                          <m:sSubPr>
                            <m:ctrlPr>
                              <a:rPr lang="it-IT" sz="2175" b="0" i="1" dirty="0" smtClean="0">
                                <a:solidFill>
                                  <a:srgbClr val="526276"/>
                                </a:solidFill>
                                <a:latin typeface="Cambria Math" panose="02040503050406030204" pitchFamily="18" charset="0"/>
                              </a:rPr>
                            </m:ctrlPr>
                          </m:sSubPr>
                          <m:e>
                            <m:r>
                              <a:rPr lang="it-IT" sz="2175" b="0" i="1" dirty="0" smtClean="0">
                                <a:solidFill>
                                  <a:srgbClr val="526276"/>
                                </a:solidFill>
                                <a:latin typeface="Cambria Math" panose="02040503050406030204" pitchFamily="18" charset="0"/>
                              </a:rPr>
                              <m:t>𝑦</m:t>
                            </m:r>
                          </m:e>
                          <m:sub>
                            <m:r>
                              <a:rPr lang="it-IT" sz="2175" b="0" i="1" dirty="0" smtClean="0">
                                <a:solidFill>
                                  <a:srgbClr val="526276"/>
                                </a:solidFill>
                                <a:latin typeface="Cambria Math" panose="02040503050406030204" pitchFamily="18" charset="0"/>
                              </a:rPr>
                              <m:t>2</m:t>
                            </m:r>
                          </m:sub>
                        </m:sSub>
                      </m:e>
                    </m:d>
                    <m:r>
                      <a:rPr lang="it-IT" sz="2175" b="0" i="1" dirty="0" smtClean="0">
                        <a:solidFill>
                          <a:srgbClr val="526276"/>
                        </a:solidFill>
                        <a:latin typeface="Cambria Math" panose="02040503050406030204" pitchFamily="18" charset="0"/>
                      </a:rPr>
                      <m:t>=</m:t>
                    </m:r>
                    <m:d>
                      <m:dPr>
                        <m:ctrlPr>
                          <a:rPr lang="en-GB" sz="2175" b="0" i="1" dirty="0" smtClean="0">
                            <a:solidFill>
                              <a:srgbClr val="526276"/>
                            </a:solidFill>
                            <a:latin typeface="Cambria Math" panose="02040503050406030204" pitchFamily="18" charset="0"/>
                            <a:ea typeface="DejaVu Sans"/>
                            <a:cs typeface="DejaVu Sans"/>
                          </a:rPr>
                        </m:ctrlPr>
                      </m:dPr>
                      <m:e>
                        <m:r>
                          <a:rPr lang="en-GB" sz="2175" b="0" i="1" dirty="0" smtClean="0">
                            <a:solidFill>
                              <a:srgbClr val="526276"/>
                            </a:solidFill>
                            <a:latin typeface="Cambria Math" panose="02040503050406030204" pitchFamily="18" charset="0"/>
                            <a:ea typeface="DejaVu Sans"/>
                            <a:cs typeface="DejaVu Sans"/>
                          </a:rPr>
                          <m:t>1, 1</m:t>
                        </m:r>
                      </m:e>
                    </m:d>
                  </m:oMath>
                </a14:m>
                <a:r>
                  <a:rPr lang="en-GB" sz="2175" b="0" dirty="0">
                    <a:solidFill>
                      <a:srgbClr val="526276"/>
                    </a:solidFill>
                    <a:latin typeface="DejaVu Sans"/>
                    <a:ea typeface="DejaVu Sans"/>
                    <a:cs typeface="DejaVu Sans"/>
                  </a:rPr>
                  <a:t>.</a:t>
                </a:r>
                <a:endParaRPr sz="2175" b="0" dirty="0">
                  <a:solidFill>
                    <a:srgbClr val="526276"/>
                  </a:solidFill>
                  <a:latin typeface="DejaVu Sans"/>
                  <a:ea typeface="DejaVu Sans"/>
                  <a:cs typeface="DejaVu Sans"/>
                </a:endParaRPr>
              </a:p>
            </p:txBody>
          </p:sp>
        </mc:Choice>
        <mc:Fallback xmlns="">
          <p:sp>
            <p:nvSpPr>
              <p:cNvPr id="2" name="lead">
                <a:extLst>
                  <a:ext uri="{FF2B5EF4-FFF2-40B4-BE49-F238E27FC236}">
                    <a16:creationId xmlns:a16="http://schemas.microsoft.com/office/drawing/2014/main" id="{5AB79B9A-6A2E-45C3-94F4-CA196602F436}"/>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0C2391E8-8F96-4A6A-A51E-FCED65D77883}"/>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34C36854-928E-44A6-92FE-0A371E6A597A}"/>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dirty="0">
                <a:solidFill>
                  <a:srgbClr val="526276"/>
                </a:solidFill>
                <a:latin typeface="DejaVu Sans"/>
                <a:ea typeface="DejaVu Sans"/>
                <a:cs typeface="DejaVu Sans"/>
              </a:rPr>
              <a:t>3</a:t>
            </a:r>
            <a:r>
              <a:rPr lang="it-IT" sz="1050" b="0" dirty="0">
                <a:solidFill>
                  <a:srgbClr val="526276"/>
                </a:solidFill>
                <a:latin typeface="DejaVu Sans"/>
                <a:ea typeface="DejaVu Sans"/>
                <a:cs typeface="DejaVu Sans"/>
              </a:rPr>
              <a:t>7</a:t>
            </a:r>
            <a:endParaRPr sz="1050" b="0" dirty="0">
              <a:solidFill>
                <a:srgbClr val="526276"/>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5" name="equation_1" descr="\mathcal{L}_{\mathrm{sq}}(\theta)=(f_\theta(-1)+1)^2+(f_\theta(1)-1)^2">
                <a:extLst>
                  <a:ext uri="{FF2B5EF4-FFF2-40B4-BE49-F238E27FC236}">
                    <a16:creationId xmlns:a16="http://schemas.microsoft.com/office/drawing/2014/main" id="{3FA308BF-98E1-4CAE-BD63-03EBF1E7FB82}"/>
                  </a:ext>
                </a:extLst>
              </p:cNvPr>
              <p:cNvSpPr>
                <a:spLocks noGrp="1"/>
              </p:cNvSpPr>
              <p:nvPr/>
            </p:nvSpPr>
            <p:spPr>
              <a:xfrm>
                <a:off x="428625" y="1771650"/>
                <a:ext cx="11334750" cy="8286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ℒ</m:t>
                          </m:r>
                        </m:e>
                        <m:sub>
                          <m:r>
                            <m:rPr>
                              <m:sty m:val="p"/>
                            </m:rPr>
                            <a:rPr lang="en-GB" sz="3000">
                              <a:solidFill>
                                <a:srgbClr val="087F83"/>
                              </a:solidFill>
                              <a:latin typeface="Cambria Math"/>
                              <a:ea typeface="Cambria Math"/>
                              <a:cs typeface="Cambria Math"/>
                            </a:rPr>
                            <m:t>sq</m:t>
                          </m:r>
                        </m:sub>
                      </m:sSub>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𝜃</m:t>
                          </m:r>
                        </m:e>
                      </m:d>
                      <m:r>
                        <a:rPr lang="en-GB" sz="3000">
                          <a:solidFill>
                            <a:srgbClr val="087F83"/>
                          </a:solidFill>
                          <a:latin typeface="Cambria Math"/>
                          <a:ea typeface="Cambria Math"/>
                          <a:cs typeface="Cambria Math"/>
                        </a:rPr>
                        <m:t>=</m:t>
                      </m:r>
                      <m:sSup>
                        <m:sSupPr>
                          <m:ctrlPr>
                            <a:rPr lang="en-GB" sz="3000" i="1">
                              <a:solidFill>
                                <a:srgbClr val="087F83"/>
                              </a:solidFill>
                              <a:latin typeface="Cambria Math" panose="02040503050406030204" pitchFamily="18" charset="0"/>
                              <a:ea typeface="Cambria Math"/>
                              <a:cs typeface="Cambria Math"/>
                            </a:rPr>
                          </m:ctrlPr>
                        </m:sSupPr>
                        <m:e>
                          <m:d>
                            <m:dPr>
                              <m:ctrlPr>
                                <a:rPr lang="en-GB" sz="3000" i="1">
                                  <a:solidFill>
                                    <a:srgbClr val="087F83"/>
                                  </a:solidFill>
                                  <a:latin typeface="Cambria Math" panose="02040503050406030204" pitchFamily="18" charset="0"/>
                                  <a:ea typeface="Cambria Math"/>
                                  <a:cs typeface="Cambria Math"/>
                                </a:rPr>
                              </m:ctrlPr>
                            </m:dPr>
                            <m:e>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𝑓</m:t>
                                  </m:r>
                                </m:e>
                                <m:sub>
                                  <m:r>
                                    <a:rPr lang="en-GB" sz="3000">
                                      <a:solidFill>
                                        <a:srgbClr val="087F83"/>
                                      </a:solidFill>
                                      <a:latin typeface="Cambria Math"/>
                                      <a:ea typeface="Cambria Math"/>
                                      <a:cs typeface="Cambria Math"/>
                                    </a:rPr>
                                    <m:t>𝜃</m:t>
                                  </m:r>
                                </m:sub>
                              </m:sSub>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−1</m:t>
                                  </m:r>
                                </m:e>
                              </m:d>
                              <m:r>
                                <a:rPr lang="en-GB" sz="3000">
                                  <a:solidFill>
                                    <a:srgbClr val="087F83"/>
                                  </a:solidFill>
                                  <a:latin typeface="Cambria Math"/>
                                  <a:ea typeface="Cambria Math"/>
                                  <a:cs typeface="Cambria Math"/>
                                </a:rPr>
                                <m:t>+1</m:t>
                              </m:r>
                            </m:e>
                          </m:d>
                        </m:e>
                        <m:sup>
                          <m:r>
                            <a:rPr lang="en-GB" sz="3000">
                              <a:solidFill>
                                <a:srgbClr val="087F83"/>
                              </a:solidFill>
                              <a:latin typeface="Cambria Math"/>
                              <a:ea typeface="Cambria Math"/>
                              <a:cs typeface="Cambria Math"/>
                            </a:rPr>
                            <m:t>2</m:t>
                          </m:r>
                        </m:sup>
                      </m:sSup>
                      <m:r>
                        <a:rPr lang="en-GB" sz="3000">
                          <a:solidFill>
                            <a:srgbClr val="087F83"/>
                          </a:solidFill>
                          <a:latin typeface="Cambria Math"/>
                          <a:ea typeface="Cambria Math"/>
                          <a:cs typeface="Cambria Math"/>
                        </a:rPr>
                        <m:t>+</m:t>
                      </m:r>
                      <m:sSup>
                        <m:sSupPr>
                          <m:ctrlPr>
                            <a:rPr lang="en-GB" sz="3000" i="1">
                              <a:solidFill>
                                <a:srgbClr val="087F83"/>
                              </a:solidFill>
                              <a:latin typeface="Cambria Math" panose="02040503050406030204" pitchFamily="18" charset="0"/>
                              <a:ea typeface="Cambria Math"/>
                              <a:cs typeface="Cambria Math"/>
                            </a:rPr>
                          </m:ctrlPr>
                        </m:sSupPr>
                        <m:e>
                          <m:d>
                            <m:dPr>
                              <m:ctrlPr>
                                <a:rPr lang="en-GB" sz="3000" i="1">
                                  <a:solidFill>
                                    <a:srgbClr val="087F83"/>
                                  </a:solidFill>
                                  <a:latin typeface="Cambria Math" panose="02040503050406030204" pitchFamily="18" charset="0"/>
                                  <a:ea typeface="Cambria Math"/>
                                  <a:cs typeface="Cambria Math"/>
                                </a:rPr>
                              </m:ctrlPr>
                            </m:dPr>
                            <m:e>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𝑓</m:t>
                                  </m:r>
                                </m:e>
                                <m:sub>
                                  <m:r>
                                    <a:rPr lang="en-GB" sz="3000">
                                      <a:solidFill>
                                        <a:srgbClr val="087F83"/>
                                      </a:solidFill>
                                      <a:latin typeface="Cambria Math"/>
                                      <a:ea typeface="Cambria Math"/>
                                      <a:cs typeface="Cambria Math"/>
                                    </a:rPr>
                                    <m:t>𝜃</m:t>
                                  </m:r>
                                </m:sub>
                              </m:sSub>
                              <m:d>
                                <m:dPr>
                                  <m:ctrlPr>
                                    <a:rPr lang="en-GB" sz="3000">
                                      <a:solidFill>
                                        <a:srgbClr val="087F83"/>
                                      </a:solidFill>
                                      <a:latin typeface="Cambria Math"/>
                                      <a:ea typeface="Cambria Math"/>
                                      <a:cs typeface="Cambria Math"/>
                                    </a:rPr>
                                  </m:ctrlPr>
                                </m:dPr>
                                <m:e>
                                  <m:r>
                                    <a:rPr lang="en-GB" sz="3000">
                                      <a:solidFill>
                                        <a:srgbClr val="087F83"/>
                                      </a:solidFill>
                                      <a:latin typeface="Cambria Math"/>
                                      <a:ea typeface="Cambria Math"/>
                                      <a:cs typeface="Cambria Math"/>
                                    </a:rPr>
                                    <m:t>1</m:t>
                                  </m:r>
                                </m:e>
                              </m:d>
                              <m:r>
                                <a:rPr lang="en-GB" sz="3000">
                                  <a:solidFill>
                                    <a:srgbClr val="087F83"/>
                                  </a:solidFill>
                                  <a:latin typeface="Cambria Math"/>
                                  <a:ea typeface="Cambria Math"/>
                                  <a:cs typeface="Cambria Math"/>
                                </a:rPr>
                                <m:t>−1</m:t>
                              </m:r>
                            </m:e>
                          </m:d>
                        </m:e>
                        <m:sup>
                          <m:r>
                            <a:rPr lang="en-GB" sz="3000">
                              <a:solidFill>
                                <a:srgbClr val="087F83"/>
                              </a:solidFill>
                              <a:latin typeface="Cambria Math"/>
                              <a:ea typeface="Cambria Math"/>
                              <a:cs typeface="Cambria Math"/>
                            </a:rPr>
                            <m:t>2</m:t>
                          </m:r>
                        </m:sup>
                      </m:sSup>
                    </m:oMath>
                  </m:oMathPara>
                </a14:m>
                <a:endParaRPr lang="en-GB" sz="3000" dirty="0"/>
              </a:p>
            </p:txBody>
          </p:sp>
        </mc:Choice>
        <mc:Fallback xmlns="">
          <p:sp>
            <p:nvSpPr>
              <p:cNvPr id="5" name="equation_1" descr="\mathcal{L}_{\mathrm{sq}}(\theta)=(f_\theta(-1)+1)^2+(f_\theta(1)-1)^2">
                <a:extLst>
                  <a:ext uri="{FF2B5EF4-FFF2-40B4-BE49-F238E27FC236}">
                    <a16:creationId xmlns:a16="http://schemas.microsoft.com/office/drawing/2014/main" id="{3FA308BF-98E1-4CAE-BD63-03EBF1E7FB82}"/>
                  </a:ext>
                </a:extLst>
              </p:cNvPr>
              <p:cNvSpPr>
                <a:spLocks noGrp="1" noRot="1" noChangeAspect="1" noMove="1" noResize="1" noEditPoints="1" noAdjustHandles="1" noChangeArrowheads="1" noChangeShapeType="1" noTextEdit="1"/>
              </p:cNvSpPr>
              <p:nvPr/>
            </p:nvSpPr>
            <p:spPr>
              <a:xfrm>
                <a:off x="428625" y="1771650"/>
                <a:ext cx="11334750" cy="828675"/>
              </a:xfrm>
              <a:prstGeom prst="rect">
                <a:avLst/>
              </a:prstGeom>
              <a:blipFill>
                <a:blip r:embed="rId4"/>
                <a:stretch>
                  <a:fillRect/>
                </a:stretch>
              </a:blipFill>
              <a:ln w="0">
                <a:noFill/>
              </a:ln>
            </p:spPr>
            <p:txBody>
              <a:bodyPr/>
              <a:lstStyle/>
              <a:p>
                <a:r>
                  <a:rPr lang="it-IT">
                    <a:noFill/>
                  </a:rPr>
                  <a:t> </a:t>
                </a:r>
              </a:p>
            </p:txBody>
          </p:sp>
        </mc:Fallback>
      </mc:AlternateContent>
      <p:graphicFrame>
        <p:nvGraphicFramePr>
          <p:cNvPr id="15" name="Chart"/>
          <p:cNvGraphicFramePr/>
          <p:nvPr/>
        </p:nvGraphicFramePr>
        <p:xfrm>
          <a:off x="5905500" y="2809875"/>
          <a:ext cx="5619750" cy="2924175"/>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_2">
            <a:extLst>
              <a:ext uri="{FF2B5EF4-FFF2-40B4-BE49-F238E27FC236}">
                <a16:creationId xmlns:a16="http://schemas.microsoft.com/office/drawing/2014/main" id="{3C1D005C-AD57-4CD1-9AEC-82DBAF99AD90}"/>
              </a:ext>
            </a:extLst>
          </p:cNvPr>
          <p:cNvSpPr>
            <a:spLocks noGrp="1"/>
          </p:cNvSpPr>
          <p:nvPr/>
        </p:nvSpPr>
        <p:spPr>
          <a:xfrm>
            <a:off x="8139113" y="5591366"/>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8" name="equation_3" descr="\mathcal{L}_{\mathrm{sq}}(\theta)=\begin{cases}2(\theta+3)^2&amp;\quad\theta\leq-1\\2(\theta+1)^2+8&amp;\quad-1&lt;\theta&lt;1\\2(\theta-3)^2+8&amp;\quad\theta\geq1\end{cases}">
                <a:extLst>
                  <a:ext uri="{FF2B5EF4-FFF2-40B4-BE49-F238E27FC236}">
                    <a16:creationId xmlns:a16="http://schemas.microsoft.com/office/drawing/2014/main" id="{866D331B-2A18-41A5-88FD-3702D037D196}"/>
                  </a:ext>
                </a:extLst>
              </p:cNvPr>
              <p:cNvSpPr>
                <a:spLocks noGrp="1"/>
              </p:cNvSpPr>
              <p:nvPr/>
            </p:nvSpPr>
            <p:spPr>
              <a:xfrm>
                <a:off x="381000" y="3143250"/>
                <a:ext cx="5572125" cy="21336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300">
                              <a:solidFill>
                                <a:srgbClr val="087F83"/>
                              </a:solidFill>
                              <a:latin typeface="Cambria Math"/>
                              <a:ea typeface="Cambria Math"/>
                              <a:cs typeface="Cambria Math"/>
                            </a:rPr>
                          </m:ctrlPr>
                        </m:sSubPr>
                        <m:e>
                          <m:r>
                            <a:rPr lang="en-GB" sz="2300">
                              <a:solidFill>
                                <a:srgbClr val="087F83"/>
                              </a:solidFill>
                              <a:latin typeface="Cambria Math"/>
                              <a:ea typeface="Cambria Math"/>
                              <a:cs typeface="Cambria Math"/>
                            </a:rPr>
                            <m:t>ℒ</m:t>
                          </m:r>
                        </m:e>
                        <m:sub>
                          <m:r>
                            <m:rPr>
                              <m:sty m:val="p"/>
                            </m:rPr>
                            <a:rPr lang="en-GB" sz="2300">
                              <a:solidFill>
                                <a:srgbClr val="087F83"/>
                              </a:solidFill>
                              <a:latin typeface="Cambria Math"/>
                              <a:ea typeface="Cambria Math"/>
                              <a:cs typeface="Cambria Math"/>
                            </a:rPr>
                            <m:t>sq</m:t>
                          </m:r>
                        </m:sub>
                      </m:sSub>
                      <m:r>
                        <a:rPr lang="en-GB" sz="2300">
                          <a:solidFill>
                            <a:srgbClr val="087F83"/>
                          </a:solidFill>
                          <a:latin typeface="Cambria Math"/>
                          <a:ea typeface="Cambria Math"/>
                          <a:cs typeface="Cambria Math"/>
                        </a:rPr>
                        <m:t>(</m:t>
                      </m:r>
                      <m:r>
                        <a:rPr lang="en-GB" sz="2300">
                          <a:solidFill>
                            <a:srgbClr val="087F83"/>
                          </a:solidFill>
                          <a:latin typeface="Cambria Math"/>
                          <a:ea typeface="Cambria Math"/>
                          <a:cs typeface="Cambria Math"/>
                        </a:rPr>
                        <m:t>𝜃</m:t>
                      </m:r>
                      <m:r>
                        <a:rPr lang="en-GB" sz="2300">
                          <a:solidFill>
                            <a:srgbClr val="087F83"/>
                          </a:solidFill>
                          <a:latin typeface="Cambria Math"/>
                          <a:ea typeface="Cambria Math"/>
                          <a:cs typeface="Cambria Math"/>
                        </a:rPr>
                        <m:t>)=</m:t>
                      </m:r>
                      <m:d>
                        <m:dPr>
                          <m:begChr m:val="{"/>
                          <m:endChr m:val=""/>
                          <m:ctrlPr>
                            <a:rPr lang="en-GB" sz="2300" i="1">
                              <a:solidFill>
                                <a:srgbClr val="087F83"/>
                              </a:solidFill>
                              <a:latin typeface="Cambria Math" panose="02040503050406030204" pitchFamily="18" charset="0"/>
                              <a:ea typeface="Cambria Math"/>
                              <a:cs typeface="Cambria Math"/>
                            </a:rPr>
                          </m:ctrlPr>
                        </m:dPr>
                        <m:e>
                          <m:m>
                            <m:mPr>
                              <m:mcs>
                                <m:mc>
                                  <m:mcPr>
                                    <m:count m:val="2"/>
                                    <m:mcJc m:val="center"/>
                                  </m:mcPr>
                                </m:mc>
                              </m:mcs>
                              <m:ctrlPr>
                                <a:rPr lang="en-GB" sz="2300" i="1">
                                  <a:solidFill>
                                    <a:srgbClr val="087F83"/>
                                  </a:solidFill>
                                  <a:latin typeface="Cambria Math" panose="02040503050406030204" pitchFamily="18" charset="0"/>
                                  <a:ea typeface="Cambria Math"/>
                                  <a:cs typeface="Cambria Math"/>
                                </a:rPr>
                              </m:ctrlPr>
                            </m:mPr>
                            <m:mr>
                              <m:e>
                                <m:r>
                                  <a:rPr lang="en-GB" sz="2300">
                                    <a:solidFill>
                                      <a:srgbClr val="087F83"/>
                                    </a:solidFill>
                                    <a:latin typeface="Cambria Math"/>
                                    <a:ea typeface="Cambria Math"/>
                                    <a:cs typeface="Cambria Math"/>
                                  </a:rPr>
                                  <m:t>2</m:t>
                                </m:r>
                                <m:sSup>
                                  <m:sSupPr>
                                    <m:ctrlPr>
                                      <a:rPr lang="en-GB" sz="2300" i="1">
                                        <a:solidFill>
                                          <a:srgbClr val="087F83"/>
                                        </a:solidFill>
                                        <a:latin typeface="Cambria Math" panose="02040503050406030204" pitchFamily="18" charset="0"/>
                                        <a:ea typeface="Cambria Math"/>
                                        <a:cs typeface="Cambria Math"/>
                                      </a:rPr>
                                    </m:ctrlPr>
                                  </m:sSupPr>
                                  <m:e>
                                    <m:d>
                                      <m:dPr>
                                        <m:ctrlPr>
                                          <a:rPr lang="en-GB" sz="2300">
                                            <a:solidFill>
                                              <a:srgbClr val="087F83"/>
                                            </a:solidFill>
                                            <a:latin typeface="Cambria Math"/>
                                            <a:ea typeface="Cambria Math"/>
                                            <a:cs typeface="Cambria Math"/>
                                          </a:rPr>
                                        </m:ctrlPr>
                                      </m:dPr>
                                      <m:e>
                                        <m:r>
                                          <a:rPr lang="en-GB" sz="2300">
                                            <a:solidFill>
                                              <a:srgbClr val="087F83"/>
                                            </a:solidFill>
                                            <a:latin typeface="Cambria Math"/>
                                            <a:ea typeface="Cambria Math"/>
                                            <a:cs typeface="Cambria Math"/>
                                          </a:rPr>
                                          <m:t>𝜃</m:t>
                                        </m:r>
                                        <m:r>
                                          <a:rPr lang="en-GB" sz="2300">
                                            <a:solidFill>
                                              <a:srgbClr val="087F83"/>
                                            </a:solidFill>
                                            <a:latin typeface="Cambria Math"/>
                                            <a:ea typeface="Cambria Math"/>
                                            <a:cs typeface="Cambria Math"/>
                                          </a:rPr>
                                          <m:t>+3</m:t>
                                        </m:r>
                                      </m:e>
                                    </m:d>
                                  </m:e>
                                  <m:sup>
                                    <m:r>
                                      <a:rPr lang="en-GB" sz="2300">
                                        <a:solidFill>
                                          <a:srgbClr val="087F83"/>
                                        </a:solidFill>
                                        <a:latin typeface="Cambria Math"/>
                                        <a:ea typeface="Cambria Math"/>
                                        <a:cs typeface="Cambria Math"/>
                                      </a:rPr>
                                      <m:t>2</m:t>
                                    </m:r>
                                  </m:sup>
                                </m:sSup>
                              </m:e>
                              <m:e>
                                <m:r>
                                  <a:rPr lang="en-GB" sz="2300">
                                    <a:solidFill>
                                      <a:srgbClr val="087F83"/>
                                    </a:solidFill>
                                    <a:latin typeface="Cambria Math"/>
                                    <a:ea typeface="Cambria Math"/>
                                    <a:cs typeface="Cambria Math"/>
                                  </a:rPr>
                                  <m:t> </m:t>
                                </m:r>
                                <m:r>
                                  <a:rPr lang="en-GB" sz="2300">
                                    <a:solidFill>
                                      <a:srgbClr val="087F83"/>
                                    </a:solidFill>
                                    <a:latin typeface="Cambria Math"/>
                                    <a:ea typeface="Cambria Math"/>
                                    <a:cs typeface="Cambria Math"/>
                                  </a:rPr>
                                  <m:t>𝜃</m:t>
                                </m:r>
                                <m:r>
                                  <a:rPr lang="en-GB" sz="2300">
                                    <a:solidFill>
                                      <a:srgbClr val="087F83"/>
                                    </a:solidFill>
                                    <a:latin typeface="Cambria Math"/>
                                    <a:ea typeface="Cambria Math"/>
                                    <a:cs typeface="Cambria Math"/>
                                  </a:rPr>
                                  <m:t>≤−1</m:t>
                                </m:r>
                              </m:e>
                            </m:mr>
                            <m:mr>
                              <m:e>
                                <m:r>
                                  <a:rPr lang="en-GB" sz="2300">
                                    <a:solidFill>
                                      <a:srgbClr val="087F83"/>
                                    </a:solidFill>
                                    <a:latin typeface="Cambria Math"/>
                                    <a:ea typeface="Cambria Math"/>
                                    <a:cs typeface="Cambria Math"/>
                                  </a:rPr>
                                  <m:t>2</m:t>
                                </m:r>
                                <m:sSup>
                                  <m:sSupPr>
                                    <m:ctrlPr>
                                      <a:rPr lang="en-GB" sz="2300" i="1">
                                        <a:solidFill>
                                          <a:srgbClr val="087F83"/>
                                        </a:solidFill>
                                        <a:latin typeface="Cambria Math" panose="02040503050406030204" pitchFamily="18" charset="0"/>
                                        <a:ea typeface="Cambria Math"/>
                                        <a:cs typeface="Cambria Math"/>
                                      </a:rPr>
                                    </m:ctrlPr>
                                  </m:sSupPr>
                                  <m:e>
                                    <m:d>
                                      <m:dPr>
                                        <m:ctrlPr>
                                          <a:rPr lang="en-GB" sz="2300">
                                            <a:solidFill>
                                              <a:srgbClr val="087F83"/>
                                            </a:solidFill>
                                            <a:latin typeface="Cambria Math"/>
                                            <a:ea typeface="Cambria Math"/>
                                            <a:cs typeface="Cambria Math"/>
                                          </a:rPr>
                                        </m:ctrlPr>
                                      </m:dPr>
                                      <m:e>
                                        <m:r>
                                          <a:rPr lang="en-GB" sz="2300">
                                            <a:solidFill>
                                              <a:srgbClr val="087F83"/>
                                            </a:solidFill>
                                            <a:latin typeface="Cambria Math"/>
                                            <a:ea typeface="Cambria Math"/>
                                            <a:cs typeface="Cambria Math"/>
                                          </a:rPr>
                                          <m:t>𝜃</m:t>
                                        </m:r>
                                        <m:r>
                                          <a:rPr lang="en-GB" sz="2300">
                                            <a:solidFill>
                                              <a:srgbClr val="087F83"/>
                                            </a:solidFill>
                                            <a:latin typeface="Cambria Math"/>
                                            <a:ea typeface="Cambria Math"/>
                                            <a:cs typeface="Cambria Math"/>
                                          </a:rPr>
                                          <m:t>+1</m:t>
                                        </m:r>
                                      </m:e>
                                    </m:d>
                                  </m:e>
                                  <m:sup>
                                    <m:r>
                                      <a:rPr lang="en-GB" sz="2300">
                                        <a:solidFill>
                                          <a:srgbClr val="087F83"/>
                                        </a:solidFill>
                                        <a:latin typeface="Cambria Math"/>
                                        <a:ea typeface="Cambria Math"/>
                                        <a:cs typeface="Cambria Math"/>
                                      </a:rPr>
                                      <m:t>2</m:t>
                                    </m:r>
                                  </m:sup>
                                </m:sSup>
                                <m:r>
                                  <a:rPr lang="en-GB" sz="2300">
                                    <a:solidFill>
                                      <a:srgbClr val="087F83"/>
                                    </a:solidFill>
                                    <a:latin typeface="Cambria Math"/>
                                    <a:ea typeface="Cambria Math"/>
                                    <a:cs typeface="Cambria Math"/>
                                  </a:rPr>
                                  <m:t>+8</m:t>
                                </m:r>
                              </m:e>
                              <m:e>
                                <m:r>
                                  <a:rPr lang="en-GB" sz="2300">
                                    <a:solidFill>
                                      <a:srgbClr val="087F83"/>
                                    </a:solidFill>
                                    <a:latin typeface="Cambria Math"/>
                                    <a:ea typeface="Cambria Math"/>
                                    <a:cs typeface="Cambria Math"/>
                                  </a:rPr>
                                  <m:t> −1&lt;</m:t>
                                </m:r>
                                <m:r>
                                  <a:rPr lang="en-GB" sz="2300">
                                    <a:solidFill>
                                      <a:srgbClr val="087F83"/>
                                    </a:solidFill>
                                    <a:latin typeface="Cambria Math"/>
                                    <a:ea typeface="Cambria Math"/>
                                    <a:cs typeface="Cambria Math"/>
                                  </a:rPr>
                                  <m:t>𝜃</m:t>
                                </m:r>
                                <m:r>
                                  <a:rPr lang="en-GB" sz="2300">
                                    <a:solidFill>
                                      <a:srgbClr val="087F83"/>
                                    </a:solidFill>
                                    <a:latin typeface="Cambria Math"/>
                                    <a:ea typeface="Cambria Math"/>
                                    <a:cs typeface="Cambria Math"/>
                                  </a:rPr>
                                  <m:t>&lt;1</m:t>
                                </m:r>
                              </m:e>
                            </m:mr>
                            <m:mr>
                              <m:e>
                                <m:r>
                                  <a:rPr lang="en-GB" sz="2300">
                                    <a:solidFill>
                                      <a:srgbClr val="087F83"/>
                                    </a:solidFill>
                                    <a:latin typeface="Cambria Math"/>
                                    <a:ea typeface="Cambria Math"/>
                                    <a:cs typeface="Cambria Math"/>
                                  </a:rPr>
                                  <m:t>2</m:t>
                                </m:r>
                                <m:sSup>
                                  <m:sSupPr>
                                    <m:ctrlPr>
                                      <a:rPr lang="en-GB" sz="2300" i="1">
                                        <a:solidFill>
                                          <a:srgbClr val="087F83"/>
                                        </a:solidFill>
                                        <a:latin typeface="Cambria Math" panose="02040503050406030204" pitchFamily="18" charset="0"/>
                                        <a:ea typeface="Cambria Math"/>
                                        <a:cs typeface="Cambria Math"/>
                                      </a:rPr>
                                    </m:ctrlPr>
                                  </m:sSupPr>
                                  <m:e>
                                    <m:d>
                                      <m:dPr>
                                        <m:ctrlPr>
                                          <a:rPr lang="en-GB" sz="2300">
                                            <a:solidFill>
                                              <a:srgbClr val="087F83"/>
                                            </a:solidFill>
                                            <a:latin typeface="Cambria Math"/>
                                            <a:ea typeface="Cambria Math"/>
                                            <a:cs typeface="Cambria Math"/>
                                          </a:rPr>
                                        </m:ctrlPr>
                                      </m:dPr>
                                      <m:e>
                                        <m:r>
                                          <a:rPr lang="en-GB" sz="2300">
                                            <a:solidFill>
                                              <a:srgbClr val="087F83"/>
                                            </a:solidFill>
                                            <a:latin typeface="Cambria Math"/>
                                            <a:ea typeface="Cambria Math"/>
                                            <a:cs typeface="Cambria Math"/>
                                          </a:rPr>
                                          <m:t>𝜃</m:t>
                                        </m:r>
                                        <m:r>
                                          <a:rPr lang="en-GB" sz="2300">
                                            <a:solidFill>
                                              <a:srgbClr val="087F83"/>
                                            </a:solidFill>
                                            <a:latin typeface="Cambria Math"/>
                                            <a:ea typeface="Cambria Math"/>
                                            <a:cs typeface="Cambria Math"/>
                                          </a:rPr>
                                          <m:t>−3</m:t>
                                        </m:r>
                                      </m:e>
                                    </m:d>
                                  </m:e>
                                  <m:sup>
                                    <m:r>
                                      <a:rPr lang="en-GB" sz="2300">
                                        <a:solidFill>
                                          <a:srgbClr val="087F83"/>
                                        </a:solidFill>
                                        <a:latin typeface="Cambria Math"/>
                                        <a:ea typeface="Cambria Math"/>
                                        <a:cs typeface="Cambria Math"/>
                                      </a:rPr>
                                      <m:t>2</m:t>
                                    </m:r>
                                  </m:sup>
                                </m:sSup>
                                <m:r>
                                  <a:rPr lang="en-GB" sz="2300">
                                    <a:solidFill>
                                      <a:srgbClr val="087F83"/>
                                    </a:solidFill>
                                    <a:latin typeface="Cambria Math"/>
                                    <a:ea typeface="Cambria Math"/>
                                    <a:cs typeface="Cambria Math"/>
                                  </a:rPr>
                                  <m:t>+8</m:t>
                                </m:r>
                              </m:e>
                              <m:e>
                                <m:r>
                                  <a:rPr lang="en-GB" sz="2300">
                                    <a:solidFill>
                                      <a:srgbClr val="087F83"/>
                                    </a:solidFill>
                                    <a:latin typeface="Cambria Math"/>
                                    <a:ea typeface="Cambria Math"/>
                                    <a:cs typeface="Cambria Math"/>
                                  </a:rPr>
                                  <m:t> </m:t>
                                </m:r>
                                <m:r>
                                  <a:rPr lang="en-GB" sz="2300">
                                    <a:solidFill>
                                      <a:srgbClr val="087F83"/>
                                    </a:solidFill>
                                    <a:latin typeface="Cambria Math"/>
                                    <a:ea typeface="Cambria Math"/>
                                    <a:cs typeface="Cambria Math"/>
                                  </a:rPr>
                                  <m:t>𝜃</m:t>
                                </m:r>
                                <m:r>
                                  <a:rPr lang="en-GB" sz="2300">
                                    <a:solidFill>
                                      <a:srgbClr val="087F83"/>
                                    </a:solidFill>
                                    <a:latin typeface="Cambria Math"/>
                                    <a:ea typeface="Cambria Math"/>
                                    <a:cs typeface="Cambria Math"/>
                                  </a:rPr>
                                  <m:t>≥1</m:t>
                                </m:r>
                              </m:e>
                            </m:mr>
                          </m:m>
                        </m:e>
                      </m:d>
                    </m:oMath>
                  </m:oMathPara>
                </a14:m>
                <a:endParaRPr lang="en-GB" sz="2300" dirty="0"/>
              </a:p>
            </p:txBody>
          </p:sp>
        </mc:Choice>
        <mc:Fallback xmlns="">
          <p:sp>
            <p:nvSpPr>
              <p:cNvPr id="8" name="equation_3" descr="\mathcal{L}_{\mathrm{sq}}(\theta)=\begin{cases}2(\theta+3)^2&amp;\quad\theta\leq-1\\2(\theta+1)^2+8&amp;\quad-1&lt;\theta&lt;1\\2(\theta-3)^2+8&amp;\quad\theta\geq1\end{cases}">
                <a:extLst>
                  <a:ext uri="{FF2B5EF4-FFF2-40B4-BE49-F238E27FC236}">
                    <a16:creationId xmlns:a16="http://schemas.microsoft.com/office/drawing/2014/main" id="{866D331B-2A18-41A5-88FD-3702D037D196}"/>
                  </a:ext>
                </a:extLst>
              </p:cNvPr>
              <p:cNvSpPr>
                <a:spLocks noGrp="1" noRot="1" noChangeAspect="1" noMove="1" noResize="1" noEditPoints="1" noAdjustHandles="1" noChangeArrowheads="1" noChangeShapeType="1" noTextEdit="1"/>
              </p:cNvSpPr>
              <p:nvPr/>
            </p:nvSpPr>
            <p:spPr>
              <a:xfrm>
                <a:off x="381000" y="3143250"/>
                <a:ext cx="5572125" cy="2133600"/>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text_4">
                <a:extLst>
                  <a:ext uri="{FF2B5EF4-FFF2-40B4-BE49-F238E27FC236}">
                    <a16:creationId xmlns:a16="http://schemas.microsoft.com/office/drawing/2014/main" id="{D6B2AA6C-9ABC-4954-980F-7D678F998C01}"/>
                  </a:ext>
                </a:extLst>
              </p:cNvPr>
              <p:cNvSpPr>
                <a:spLocks noGrp="1"/>
              </p:cNvSpPr>
              <p:nvPr/>
            </p:nvSpPr>
            <p:spPr>
              <a:xfrm>
                <a:off x="571500" y="5876925"/>
                <a:ext cx="11049000" cy="5048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The loss is a function of </a:t>
                </a:r>
                <a14:m>
                  <m:oMath xmlns:m="http://schemas.openxmlformats.org/officeDocument/2006/math">
                    <m:r>
                      <a:rPr lang="it-IT" sz="2100" b="1" i="1" dirty="0" smtClean="0">
                        <a:solidFill>
                          <a:srgbClr val="182D45"/>
                        </a:solidFill>
                        <a:latin typeface="Cambria Math" panose="02040503050406030204" pitchFamily="18" charset="0"/>
                        <a:ea typeface="DejaVu Sans"/>
                        <a:cs typeface="DejaVu Sans"/>
                      </a:rPr>
                      <m:t>𝜽</m:t>
                    </m:r>
                  </m:oMath>
                </a14:m>
                <a:r>
                  <a:rPr sz="2100" b="1" dirty="0">
                    <a:solidFill>
                      <a:srgbClr val="182D45"/>
                    </a:solidFill>
                    <a:latin typeface="DejaVu Sans"/>
                    <a:ea typeface="DejaVu Sans"/>
                    <a:cs typeface="DejaVu Sans"/>
                  </a:rPr>
                  <a:t>. Its graph has two valleys.</a:t>
                </a:r>
              </a:p>
            </p:txBody>
          </p:sp>
        </mc:Choice>
        <mc:Fallback xmlns="">
          <p:sp>
            <p:nvSpPr>
              <p:cNvPr id="9" name="text_4">
                <a:extLst>
                  <a:ext uri="{FF2B5EF4-FFF2-40B4-BE49-F238E27FC236}">
                    <a16:creationId xmlns:a16="http://schemas.microsoft.com/office/drawing/2014/main" id="{D6B2AA6C-9ABC-4954-980F-7D678F998C01}"/>
                  </a:ext>
                </a:extLst>
              </p:cNvPr>
              <p:cNvSpPr>
                <a:spLocks noGrp="1" noRot="1" noChangeAspect="1" noMove="1" noResize="1" noEditPoints="1" noAdjustHandles="1" noChangeArrowheads="1" noChangeShapeType="1" noTextEdit="1"/>
              </p:cNvSpPr>
              <p:nvPr/>
            </p:nvSpPr>
            <p:spPr>
              <a:xfrm>
                <a:off x="571500" y="5876925"/>
                <a:ext cx="11049000" cy="504825"/>
              </a:xfrm>
              <a:prstGeom prst="rect">
                <a:avLst/>
              </a:prstGeom>
              <a:blipFill>
                <a:blip r:embed="rId7"/>
                <a:stretch>
                  <a:fillRect b="-13253"/>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4896891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00CE0BE9-8B48-4F41-B022-95E6C94EA23D}"/>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Two stationary points, different losses</a:t>
            </a:r>
          </a:p>
        </p:txBody>
      </p:sp>
      <p:sp>
        <p:nvSpPr>
          <p:cNvPr id="2" name="lead">
            <a:extLst>
              <a:ext uri="{FF2B5EF4-FFF2-40B4-BE49-F238E27FC236}">
                <a16:creationId xmlns:a16="http://schemas.microsoft.com/office/drawing/2014/main" id="{16E8EE2B-2BC5-492F-888E-F110AD52A1D5}"/>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Both points have derivative zero, but their losses are different.</a:t>
            </a:r>
          </a:p>
        </p:txBody>
      </p:sp>
      <p:sp>
        <p:nvSpPr>
          <p:cNvPr id="3" name="footer_course">
            <a:extLst>
              <a:ext uri="{FF2B5EF4-FFF2-40B4-BE49-F238E27FC236}">
                <a16:creationId xmlns:a16="http://schemas.microsoft.com/office/drawing/2014/main" id="{E080796A-6591-4E81-8F4E-2F2DFEC7F780}"/>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95450C62-D3A3-4D21-BF11-DC23A2FA5743}"/>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dirty="0">
                <a:solidFill>
                  <a:srgbClr val="526276"/>
                </a:solidFill>
                <a:latin typeface="DejaVu Sans"/>
                <a:ea typeface="DejaVu Sans"/>
                <a:cs typeface="DejaVu Sans"/>
              </a:rPr>
              <a:t>3</a:t>
            </a:r>
            <a:r>
              <a:rPr lang="it-IT" sz="1050" b="0" dirty="0">
                <a:solidFill>
                  <a:srgbClr val="526276"/>
                </a:solidFill>
                <a:latin typeface="DejaVu Sans"/>
                <a:ea typeface="DejaVu Sans"/>
                <a:cs typeface="DejaVu Sans"/>
              </a:rPr>
              <a:t>8</a:t>
            </a:r>
            <a:endParaRPr sz="1050" b="0" dirty="0">
              <a:solidFill>
                <a:srgbClr val="526276"/>
              </a:solidFill>
              <a:latin typeface="DejaVu Sans"/>
              <a:ea typeface="DejaVu Sans"/>
              <a:cs typeface="DejaVu Sans"/>
            </a:endParaRPr>
          </a:p>
        </p:txBody>
      </p:sp>
      <mc:AlternateContent xmlns:mc="http://schemas.openxmlformats.org/markup-compatibility/2006" xmlns:a14="http://schemas.microsoft.com/office/drawing/2010/main">
        <mc:Choice Requires="a14">
          <p:graphicFrame>
            <p:nvGraphicFramePr>
              <p:cNvPr id="14" name="Tabella 13"/>
              <p:cNvGraphicFramePr/>
              <p:nvPr>
                <p:extLst>
                  <p:ext uri="{D42A27DB-BD31-4B8C-83A1-F6EECF244321}">
                    <p14:modId xmlns:p14="http://schemas.microsoft.com/office/powerpoint/2010/main" val="273218583"/>
                  </p:ext>
                </p:extLst>
              </p:nvPr>
            </p:nvGraphicFramePr>
            <p:xfrm>
              <a:off x="809625" y="2095500"/>
              <a:ext cx="10572750" cy="1971675"/>
            </p:xfrm>
            <a:graphic>
              <a:graphicData uri="http://schemas.openxmlformats.org/drawingml/2006/table">
                <a:tbl>
                  <a:tblPr/>
                  <a:tblGrid>
                    <a:gridCol w="2524125">
                      <a:extLst>
                        <a:ext uri="{9D8B030D-6E8A-4147-A177-3AD203B41FA5}">
                          <a16:colId xmlns:a16="http://schemas.microsoft.com/office/drawing/2014/main" val="20000"/>
                        </a:ext>
                      </a:extLst>
                    </a:gridCol>
                    <a:gridCol w="5524500">
                      <a:extLst>
                        <a:ext uri="{9D8B030D-6E8A-4147-A177-3AD203B41FA5}">
                          <a16:colId xmlns:a16="http://schemas.microsoft.com/office/drawing/2014/main" val="20001"/>
                        </a:ext>
                      </a:extLst>
                    </a:gridCol>
                    <a:gridCol w="2524125">
                      <a:extLst>
                        <a:ext uri="{9D8B030D-6E8A-4147-A177-3AD203B41FA5}">
                          <a16:colId xmlns:a16="http://schemas.microsoft.com/office/drawing/2014/main" val="20002"/>
                        </a:ext>
                      </a:extLst>
                    </a:gridCol>
                  </a:tblGrid>
                  <a:tr h="657225">
                    <a:tc>
                      <a:txBody>
                        <a:bodyPr/>
                        <a:lstStyle/>
                        <a:p>
                          <a:pPr algn="ctr"/>
                          <a:r>
                            <a:rPr sz="2100" b="1">
                              <a:solidFill>
                                <a:srgbClr val="182D45"/>
                              </a:solidFill>
                              <a:latin typeface="DejaVu Sans"/>
                              <a:ea typeface="DejaVu Sans"/>
                              <a:cs typeface="DejaVu Sans"/>
                            </a:rPr>
                            <a:t>Parameter</a:t>
                          </a:r>
                        </a:p>
                      </a:txBody>
                      <a:tcPr marL="95250" marR="95250" marT="66675" marB="66675" anchor="ctr">
                        <a:solidFill>
                          <a:srgbClr val="EDF3F5"/>
                        </a:solidFill>
                      </a:tcPr>
                    </a:tc>
                    <a:tc>
                      <a:txBody>
                        <a:bodyPr/>
                        <a:lstStyle/>
                        <a:p>
                          <a:pPr algn="ctr"/>
                          <a:r>
                            <a:rPr lang="en-GB" sz="2100" b="1" dirty="0">
                              <a:solidFill>
                                <a:srgbClr val="182D45"/>
                              </a:solidFill>
                              <a:latin typeface="DejaVu Sans"/>
                              <a:ea typeface="DejaVu Sans"/>
                              <a:cs typeface="DejaVu Sans"/>
                            </a:rPr>
                            <a:t>Predictions at </a:t>
                          </a:r>
                          <a14:m>
                            <m:oMath xmlns:m="http://schemas.openxmlformats.org/officeDocument/2006/math">
                              <m:r>
                                <a:rPr lang="en-GB" sz="2100" b="1" i="1" dirty="0" smtClean="0">
                                  <a:solidFill>
                                    <a:srgbClr val="182D45"/>
                                  </a:solidFill>
                                  <a:latin typeface="Cambria Math" panose="02040503050406030204" pitchFamily="18" charset="0"/>
                                  <a:ea typeface="DejaVu Sans"/>
                                  <a:cs typeface="DejaVu Sans"/>
                                </a:rPr>
                                <m:t>𝒙</m:t>
                              </m:r>
                              <m:r>
                                <a:rPr lang="en-GB" sz="2100" b="1" i="1" dirty="0" smtClean="0">
                                  <a:solidFill>
                                    <a:srgbClr val="182D45"/>
                                  </a:solidFill>
                                  <a:latin typeface="Cambria Math" panose="02040503050406030204" pitchFamily="18" charset="0"/>
                                  <a:ea typeface="DejaVu Sans"/>
                                  <a:cs typeface="DejaVu Sans"/>
                                </a:rPr>
                                <m:t> = −</m:t>
                              </m:r>
                              <m:r>
                                <a:rPr lang="en-GB" sz="2100" b="1" i="1" dirty="0" smtClean="0">
                                  <a:solidFill>
                                    <a:srgbClr val="182D45"/>
                                  </a:solidFill>
                                  <a:latin typeface="Cambria Math" panose="02040503050406030204" pitchFamily="18" charset="0"/>
                                  <a:ea typeface="DejaVu Sans"/>
                                  <a:cs typeface="DejaVu Sans"/>
                                </a:rPr>
                                <m:t>𝟏</m:t>
                              </m:r>
                            </m:oMath>
                          </a14:m>
                          <a:r>
                            <a:rPr lang="it-IT" sz="2100" b="1" dirty="0">
                              <a:solidFill>
                                <a:srgbClr val="182D45"/>
                              </a:solidFill>
                              <a:latin typeface="DejaVu Sans"/>
                              <a:ea typeface="DejaVu Sans"/>
                              <a:cs typeface="DejaVu Sans"/>
                            </a:rPr>
                            <a:t> and </a:t>
                          </a:r>
                          <a14:m>
                            <m:oMath xmlns:m="http://schemas.openxmlformats.org/officeDocument/2006/math">
                              <m:r>
                                <a:rPr lang="en-GB" sz="2100" b="1" i="1" dirty="0" smtClean="0">
                                  <a:solidFill>
                                    <a:srgbClr val="182D45"/>
                                  </a:solidFill>
                                  <a:latin typeface="Cambria Math" panose="02040503050406030204" pitchFamily="18" charset="0"/>
                                  <a:ea typeface="DejaVu Sans"/>
                                  <a:cs typeface="DejaVu Sans"/>
                                </a:rPr>
                                <m:t>𝟏</m:t>
                              </m:r>
                            </m:oMath>
                          </a14:m>
                          <a:endParaRPr sz="2100" b="1" dirty="0">
                            <a:solidFill>
                              <a:srgbClr val="182D45"/>
                            </a:solidFill>
                            <a:latin typeface="DejaVu Sans"/>
                            <a:ea typeface="DejaVu Sans"/>
                            <a:cs typeface="DejaVu Sans"/>
                          </a:endParaRPr>
                        </a:p>
                      </a:txBody>
                      <a:tcPr marL="95250" marR="95250" marT="66675" marB="66675" anchor="ctr">
                        <a:solidFill>
                          <a:srgbClr val="EDF3F5"/>
                        </a:solidFill>
                      </a:tcPr>
                    </a:tc>
                    <a:tc>
                      <a:txBody>
                        <a:bodyPr/>
                        <a:lstStyle/>
                        <a:p>
                          <a:pPr algn="ctr"/>
                          <a:r>
                            <a:rPr sz="2100" b="1" dirty="0">
                              <a:solidFill>
                                <a:srgbClr val="182D45"/>
                              </a:solidFill>
                              <a:latin typeface="DejaVu Sans"/>
                              <a:ea typeface="DejaVu Sans"/>
                              <a:cs typeface="DejaVu Sans"/>
                            </a:rPr>
                            <a:t>Squared loss</a:t>
                          </a:r>
                        </a:p>
                      </a:txBody>
                      <a:tcPr marL="95250" marR="95250" marT="66675" marB="66675" anchor="ctr">
                        <a:solidFill>
                          <a:srgbClr val="EDF3F5"/>
                        </a:solidFill>
                      </a:tcPr>
                    </a:tc>
                    <a:extLst>
                      <a:ext uri="{0D108BD9-81ED-4DB2-BD59-A6C34878D82A}">
                        <a16:rowId xmlns:a16="http://schemas.microsoft.com/office/drawing/2014/main" val="10000"/>
                      </a:ext>
                    </a:extLst>
                  </a:tr>
                  <a:tr h="657225">
                    <a:tc>
                      <a:txBody>
                        <a:bodyPr/>
                        <a:lstStyle/>
                        <a:p>
                          <a:pPr algn="ctr"/>
                          <a14:m>
                            <m:oMathPara xmlns:m="http://schemas.openxmlformats.org/officeDocument/2006/math">
                              <m:oMath>
                                <m:r>
                                  <a:rPr lang="it-IT" sz="2100" i="1" dirty="0" smtClean="0">
                                    <a:solidFill>
                                      <a:srgbClr val="182D45"/>
                                    </a:solidFill>
                                    <a:latin typeface="Cambria Math" panose="02040503050406030204" pitchFamily="18" charset="0"/>
                                    <a:ea typeface="DejaVu Sans"/>
                                    <a:cs typeface="DejaVu Sans"/>
                                  </a:rPr>
                                  <m:t>𝜃</m:t>
                                </m:r>
                                <m:r>
                                  <a:rPr lang="it-IT" sz="2100" i="1" dirty="0" smtClean="0">
                                    <a:solidFill>
                                      <a:srgbClr val="182D45"/>
                                    </a:solidFill>
                                    <a:latin typeface="Cambria Math" panose="02040503050406030204" pitchFamily="18" charset="0"/>
                                    <a:ea typeface="DejaVu Sans"/>
                                    <a:cs typeface="DejaVu Sans"/>
                                  </a:rPr>
                                  <m:t> = −3</m:t>
                                </m:r>
                              </m:oMath>
                            </m:oMathPara>
                          </a14:m>
                          <a:endParaRPr sz="2100" dirty="0">
                            <a:solidFill>
                              <a:srgbClr val="182D45"/>
                            </a:solidFill>
                            <a:latin typeface="DejaVu Sans"/>
                            <a:ea typeface="DejaVu Sans"/>
                            <a:cs typeface="DejaVu Sans"/>
                          </a:endParaRPr>
                        </a:p>
                      </a:txBody>
                      <a:tcPr marL="95250" marR="95250" marT="66675" marB="66675" anchor="ctr">
                        <a:solidFill>
                          <a:srgbClr val="FFFFFF"/>
                        </a:solidFill>
                      </a:tcPr>
                    </a:tc>
                    <a:tc>
                      <a:txBody>
                        <a:bodyPr/>
                        <a:lstStyle/>
                        <a:p>
                          <a:pPr algn="ctr"/>
                          <a14:m>
                            <m:oMath xmlns:m="http://schemas.openxmlformats.org/officeDocument/2006/math">
                              <m:r>
                                <a:rPr lang="it-IT" sz="2100" i="1" dirty="0" smtClean="0">
                                  <a:solidFill>
                                    <a:srgbClr val="182D45"/>
                                  </a:solidFill>
                                  <a:latin typeface="Cambria Math" panose="02040503050406030204" pitchFamily="18" charset="0"/>
                                  <a:ea typeface="DejaVu Sans"/>
                                  <a:cs typeface="DejaVu Sans"/>
                                </a:rPr>
                                <m:t>−1</m:t>
                              </m:r>
                            </m:oMath>
                          </a14:m>
                          <a:r>
                            <a:rPr lang="it-IT" sz="2100" dirty="0"/>
                            <a:t> and </a:t>
                          </a:r>
                          <a14:m>
                            <m:oMath xmlns:m="http://schemas.openxmlformats.org/officeDocument/2006/math">
                              <m:r>
                                <a:rPr lang="it-IT" sz="2100" b="0" i="1" dirty="0" smtClean="0">
                                  <a:solidFill>
                                    <a:srgbClr val="182D45"/>
                                  </a:solidFill>
                                  <a:latin typeface="Cambria Math" panose="02040503050406030204" pitchFamily="18" charset="0"/>
                                  <a:ea typeface="DejaVu Sans"/>
                                  <a:cs typeface="DejaVu Sans"/>
                                </a:rPr>
                                <m:t>1</m:t>
                              </m:r>
                            </m:oMath>
                          </a14:m>
                          <a:endParaRPr sz="2100" dirty="0"/>
                        </a:p>
                      </a:txBody>
                      <a:tcPr marL="95250" marR="95250" marT="66675" marB="66675" anchor="ctr">
                        <a:solidFill>
                          <a:srgbClr val="FFFFFF"/>
                        </a:solidFill>
                      </a:tcPr>
                    </a:tc>
                    <a:tc>
                      <a:txBody>
                        <a:bodyPr/>
                        <a:lstStyle/>
                        <a:p>
                          <a:pPr algn="ctr"/>
                          <a14:m>
                            <m:oMathPara xmlns:m="http://schemas.openxmlformats.org/officeDocument/2006/math">
                              <m:oMath>
                                <m:r>
                                  <a:rPr lang="it-IT" sz="2100" i="1" dirty="0" smtClean="0">
                                    <a:solidFill>
                                      <a:srgbClr val="182D45"/>
                                    </a:solidFill>
                                    <a:latin typeface="Cambria Math" panose="02040503050406030204" pitchFamily="18" charset="0"/>
                                    <a:ea typeface="DejaVu Sans"/>
                                    <a:cs typeface="DejaVu Sans"/>
                                  </a:rPr>
                                  <m:t>0</m:t>
                                </m:r>
                              </m:oMath>
                            </m:oMathPara>
                          </a14:m>
                          <a:endParaRPr dirty="0"/>
                        </a:p>
                      </a:txBody>
                      <a:tcPr marL="95250" marR="95250" marT="66675" marB="66675" anchor="ctr">
                        <a:solidFill>
                          <a:srgbClr val="FFFFFF"/>
                        </a:solidFill>
                      </a:tcPr>
                    </a:tc>
                    <a:extLst>
                      <a:ext uri="{0D108BD9-81ED-4DB2-BD59-A6C34878D82A}">
                        <a16:rowId xmlns:a16="http://schemas.microsoft.com/office/drawing/2014/main" val="10001"/>
                      </a:ext>
                    </a:extLst>
                  </a:tr>
                  <a:tr h="657225">
                    <a:tc>
                      <a:txBody>
                        <a:bodyPr/>
                        <a:lstStyle/>
                        <a:p>
                          <a:pPr algn="ctr"/>
                          <a14:m>
                            <m:oMathPara xmlns:m="http://schemas.openxmlformats.org/officeDocument/2006/math">
                              <m:oMath>
                                <m:r>
                                  <a:rPr lang="it-IT" sz="2100" i="1" dirty="0" smtClean="0">
                                    <a:solidFill>
                                      <a:srgbClr val="182D45"/>
                                    </a:solidFill>
                                    <a:latin typeface="Cambria Math" panose="02040503050406030204" pitchFamily="18" charset="0"/>
                                    <a:ea typeface="DejaVu Sans"/>
                                    <a:cs typeface="DejaVu Sans"/>
                                  </a:rPr>
                                  <m:t>𝜃</m:t>
                                </m:r>
                                <m:r>
                                  <a:rPr lang="it-IT" sz="2100" i="1" dirty="0" smtClean="0">
                                    <a:solidFill>
                                      <a:srgbClr val="182D45"/>
                                    </a:solidFill>
                                    <a:latin typeface="Cambria Math" panose="02040503050406030204" pitchFamily="18" charset="0"/>
                                    <a:ea typeface="DejaVu Sans"/>
                                    <a:cs typeface="DejaVu Sans"/>
                                  </a:rPr>
                                  <m:t> = +3</m:t>
                                </m:r>
                              </m:oMath>
                            </m:oMathPara>
                          </a14:m>
                          <a:endParaRPr/>
                        </a:p>
                      </a:txBody>
                      <a:tcPr marL="95250" marR="95250" marT="66675" marB="66675" anchor="ctr">
                        <a:solidFill>
                          <a:srgbClr val="FFFFFF"/>
                        </a:solidFill>
                      </a:tcPr>
                    </a:tc>
                    <a:tc>
                      <a:txBody>
                        <a:bodyPr/>
                        <a:lstStyle/>
                        <a:p>
                          <a:pPr algn="ctr"/>
                          <a14:m>
                            <m:oMath xmlns:m="http://schemas.openxmlformats.org/officeDocument/2006/math">
                              <m:r>
                                <a:rPr lang="it-IT" sz="2100" i="1" dirty="0" smtClean="0">
                                  <a:solidFill>
                                    <a:srgbClr val="182D45"/>
                                  </a:solidFill>
                                  <a:latin typeface="Cambria Math" panose="02040503050406030204" pitchFamily="18" charset="0"/>
                                  <a:ea typeface="DejaVu Sans"/>
                                  <a:cs typeface="DejaVu Sans"/>
                                </a:rPr>
                                <m:t>1</m:t>
                              </m:r>
                            </m:oMath>
                          </a14:m>
                          <a:r>
                            <a:rPr lang="it-IT" sz="2100" dirty="0"/>
                            <a:t> and </a:t>
                          </a:r>
                          <a14:m>
                            <m:oMath xmlns:m="http://schemas.openxmlformats.org/officeDocument/2006/math">
                              <m:r>
                                <a:rPr lang="it-IT" sz="2100" b="0" i="0" dirty="0" smtClean="0">
                                  <a:solidFill>
                                    <a:srgbClr val="182D45"/>
                                  </a:solidFill>
                                  <a:latin typeface="Cambria Math" panose="02040503050406030204" pitchFamily="18" charset="0"/>
                                  <a:ea typeface="DejaVu Sans"/>
                                  <a:cs typeface="DejaVu Sans"/>
                                </a:rPr>
                                <m:t>−1</m:t>
                              </m:r>
                            </m:oMath>
                          </a14:m>
                          <a:endParaRPr sz="2100" dirty="0"/>
                        </a:p>
                      </a:txBody>
                      <a:tcPr marL="95250" marR="95250" marT="66675" marB="66675" anchor="ctr">
                        <a:solidFill>
                          <a:srgbClr val="FFFFFF"/>
                        </a:solidFill>
                      </a:tcPr>
                    </a:tc>
                    <a:tc>
                      <a:txBody>
                        <a:bodyPr/>
                        <a:lstStyle/>
                        <a:p>
                          <a:pPr algn="ctr"/>
                          <a14:m>
                            <m:oMathPara xmlns:m="http://schemas.openxmlformats.org/officeDocument/2006/math">
                              <m:oMath>
                                <m:r>
                                  <a:rPr lang="it-IT" sz="2100" i="1" dirty="0" smtClean="0">
                                    <a:solidFill>
                                      <a:srgbClr val="182D45"/>
                                    </a:solidFill>
                                    <a:latin typeface="Cambria Math" panose="02040503050406030204" pitchFamily="18" charset="0"/>
                                    <a:ea typeface="DejaVu Sans"/>
                                    <a:cs typeface="DejaVu Sans"/>
                                  </a:rPr>
                                  <m:t>8</m:t>
                                </m:r>
                              </m:oMath>
                            </m:oMathPara>
                          </a14:m>
                          <a:endParaRPr dirty="0"/>
                        </a:p>
                      </a:txBody>
                      <a:tcPr marL="95250" marR="95250" marT="66675" marB="66675" anchor="ctr">
                        <a:solidFill>
                          <a:srgbClr val="FFFFFF"/>
                        </a:solidFill>
                      </a:tcPr>
                    </a:tc>
                    <a:extLst>
                      <a:ext uri="{0D108BD9-81ED-4DB2-BD59-A6C34878D82A}">
                        <a16:rowId xmlns:a16="http://schemas.microsoft.com/office/drawing/2014/main" val="10002"/>
                      </a:ext>
                    </a:extLst>
                  </a:tr>
                </a:tbl>
              </a:graphicData>
            </a:graphic>
          </p:graphicFrame>
        </mc:Choice>
        <mc:Fallback xmlns="">
          <p:graphicFrame>
            <p:nvGraphicFramePr>
              <p:cNvPr id="14" name="Tabella 13"/>
              <p:cNvGraphicFramePr/>
              <p:nvPr>
                <p:extLst>
                  <p:ext uri="{D42A27DB-BD31-4B8C-83A1-F6EECF244321}">
                    <p14:modId xmlns:p14="http://schemas.microsoft.com/office/powerpoint/2010/main" val="273218583"/>
                  </p:ext>
                </p:extLst>
              </p:nvPr>
            </p:nvGraphicFramePr>
            <p:xfrm>
              <a:off x="809625" y="2095500"/>
              <a:ext cx="10572750" cy="1971675"/>
            </p:xfrm>
            <a:graphic>
              <a:graphicData uri="http://schemas.openxmlformats.org/drawingml/2006/table">
                <a:tbl>
                  <a:tblPr/>
                  <a:tblGrid>
                    <a:gridCol w="2524125">
                      <a:extLst>
                        <a:ext uri="{9D8B030D-6E8A-4147-A177-3AD203B41FA5}">
                          <a16:colId xmlns:a16="http://schemas.microsoft.com/office/drawing/2014/main" val="20000"/>
                        </a:ext>
                      </a:extLst>
                    </a:gridCol>
                    <a:gridCol w="5524500">
                      <a:extLst>
                        <a:ext uri="{9D8B030D-6E8A-4147-A177-3AD203B41FA5}">
                          <a16:colId xmlns:a16="http://schemas.microsoft.com/office/drawing/2014/main" val="20001"/>
                        </a:ext>
                      </a:extLst>
                    </a:gridCol>
                    <a:gridCol w="2524125">
                      <a:extLst>
                        <a:ext uri="{9D8B030D-6E8A-4147-A177-3AD203B41FA5}">
                          <a16:colId xmlns:a16="http://schemas.microsoft.com/office/drawing/2014/main" val="20002"/>
                        </a:ext>
                      </a:extLst>
                    </a:gridCol>
                  </a:tblGrid>
                  <a:tr h="657225">
                    <a:tc>
                      <a:txBody>
                        <a:bodyPr/>
                        <a:lstStyle/>
                        <a:p>
                          <a:pPr algn="ctr"/>
                          <a:r>
                            <a:rPr sz="2100" b="1">
                              <a:solidFill>
                                <a:srgbClr val="182D45"/>
                              </a:solidFill>
                              <a:latin typeface="DejaVu Sans"/>
                              <a:ea typeface="DejaVu Sans"/>
                              <a:cs typeface="DejaVu Sans"/>
                            </a:rPr>
                            <a:t>Parameter</a:t>
                          </a:r>
                        </a:p>
                      </a:txBody>
                      <a:tcPr marL="95250" marR="95250" marT="66675" marB="66675" anchor="ctr">
                        <a:solidFill>
                          <a:srgbClr val="EDF3F5"/>
                        </a:solidFill>
                      </a:tcPr>
                    </a:tc>
                    <a:tc>
                      <a:txBody>
                        <a:bodyPr/>
                        <a:lstStyle/>
                        <a:p>
                          <a:endParaRPr lang="it-IT"/>
                        </a:p>
                      </a:txBody>
                      <a:tcPr marL="95250" marR="95250" marT="66675" marB="66675" anchor="ctr">
                        <a:blipFill>
                          <a:blip r:embed="rId3"/>
                          <a:stretch>
                            <a:fillRect l="-45705" t="-926" r="-45815" b="-202778"/>
                          </a:stretch>
                        </a:blipFill>
                      </a:tcPr>
                    </a:tc>
                    <a:tc>
                      <a:txBody>
                        <a:bodyPr/>
                        <a:lstStyle/>
                        <a:p>
                          <a:pPr algn="ctr"/>
                          <a:r>
                            <a:rPr sz="2100" b="1" dirty="0">
                              <a:solidFill>
                                <a:srgbClr val="182D45"/>
                              </a:solidFill>
                              <a:latin typeface="DejaVu Sans"/>
                              <a:ea typeface="DejaVu Sans"/>
                              <a:cs typeface="DejaVu Sans"/>
                            </a:rPr>
                            <a:t>Squared loss</a:t>
                          </a:r>
                        </a:p>
                      </a:txBody>
                      <a:tcPr marL="95250" marR="95250" marT="66675" marB="66675" anchor="ctr">
                        <a:solidFill>
                          <a:srgbClr val="EDF3F5"/>
                        </a:solidFill>
                      </a:tcPr>
                    </a:tc>
                    <a:extLst>
                      <a:ext uri="{0D108BD9-81ED-4DB2-BD59-A6C34878D82A}">
                        <a16:rowId xmlns:a16="http://schemas.microsoft.com/office/drawing/2014/main" val="10000"/>
                      </a:ext>
                    </a:extLst>
                  </a:tr>
                  <a:tr h="657225">
                    <a:tc>
                      <a:txBody>
                        <a:bodyPr/>
                        <a:lstStyle/>
                        <a:p>
                          <a:endParaRPr lang="it-IT"/>
                        </a:p>
                      </a:txBody>
                      <a:tcPr marL="95250" marR="95250" marT="66675" marB="66675" anchor="ctr">
                        <a:blipFill>
                          <a:blip r:embed="rId3"/>
                          <a:stretch>
                            <a:fillRect l="-242" t="-100000" r="-319807" b="-100917"/>
                          </a:stretch>
                        </a:blipFill>
                      </a:tcPr>
                    </a:tc>
                    <a:tc>
                      <a:txBody>
                        <a:bodyPr/>
                        <a:lstStyle/>
                        <a:p>
                          <a:endParaRPr lang="it-IT"/>
                        </a:p>
                      </a:txBody>
                      <a:tcPr marL="95250" marR="95250" marT="66675" marB="66675" anchor="ctr">
                        <a:blipFill>
                          <a:blip r:embed="rId3"/>
                          <a:stretch>
                            <a:fillRect l="-45705" t="-100000" r="-45815" b="-100917"/>
                          </a:stretch>
                        </a:blipFill>
                      </a:tcPr>
                    </a:tc>
                    <a:tc>
                      <a:txBody>
                        <a:bodyPr/>
                        <a:lstStyle/>
                        <a:p>
                          <a:endParaRPr lang="it-IT"/>
                        </a:p>
                      </a:txBody>
                      <a:tcPr marL="95250" marR="95250" marT="66675" marB="66675" anchor="ctr">
                        <a:blipFill>
                          <a:blip r:embed="rId3"/>
                          <a:stretch>
                            <a:fillRect l="-319565" t="-100000" r="-483" b="-100917"/>
                          </a:stretch>
                        </a:blipFill>
                      </a:tcPr>
                    </a:tc>
                    <a:extLst>
                      <a:ext uri="{0D108BD9-81ED-4DB2-BD59-A6C34878D82A}">
                        <a16:rowId xmlns:a16="http://schemas.microsoft.com/office/drawing/2014/main" val="10001"/>
                      </a:ext>
                    </a:extLst>
                  </a:tr>
                  <a:tr h="657225">
                    <a:tc>
                      <a:txBody>
                        <a:bodyPr/>
                        <a:lstStyle/>
                        <a:p>
                          <a:endParaRPr lang="it-IT"/>
                        </a:p>
                      </a:txBody>
                      <a:tcPr marL="95250" marR="95250" marT="66675" marB="66675" anchor="ctr">
                        <a:blipFill>
                          <a:blip r:embed="rId3"/>
                          <a:stretch>
                            <a:fillRect l="-242" t="-201852" r="-319807" b="-1852"/>
                          </a:stretch>
                        </a:blipFill>
                      </a:tcPr>
                    </a:tc>
                    <a:tc>
                      <a:txBody>
                        <a:bodyPr/>
                        <a:lstStyle/>
                        <a:p>
                          <a:endParaRPr lang="it-IT"/>
                        </a:p>
                      </a:txBody>
                      <a:tcPr marL="95250" marR="95250" marT="66675" marB="66675" anchor="ctr">
                        <a:blipFill>
                          <a:blip r:embed="rId3"/>
                          <a:stretch>
                            <a:fillRect l="-45705" t="-201852" r="-45815" b="-1852"/>
                          </a:stretch>
                        </a:blipFill>
                      </a:tcPr>
                    </a:tc>
                    <a:tc>
                      <a:txBody>
                        <a:bodyPr/>
                        <a:lstStyle/>
                        <a:p>
                          <a:endParaRPr lang="it-IT"/>
                        </a:p>
                      </a:txBody>
                      <a:tcPr marL="95250" marR="95250" marT="66675" marB="66675" anchor="ctr">
                        <a:blipFill>
                          <a:blip r:embed="rId3"/>
                          <a:stretch>
                            <a:fillRect l="-319565" t="-201852" r="-483" b="-1852"/>
                          </a:stretch>
                        </a:blip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sp>
            <p:nvSpPr>
              <p:cNvPr id="6" name="text_1">
                <a:extLst>
                  <a:ext uri="{FF2B5EF4-FFF2-40B4-BE49-F238E27FC236}">
                    <a16:creationId xmlns:a16="http://schemas.microsoft.com/office/drawing/2014/main" id="{813F44E7-530E-49EC-ABCC-C3D86A0BB034}"/>
                  </a:ext>
                </a:extLst>
              </p:cNvPr>
              <p:cNvSpPr>
                <a:spLocks noGrp="1"/>
              </p:cNvSpPr>
              <p:nvPr/>
            </p:nvSpPr>
            <p:spPr>
              <a:xfrm>
                <a:off x="666750" y="4552950"/>
                <a:ext cx="5238750" cy="504825"/>
              </a:xfrm>
              <a:prstGeom prst="rect">
                <a:avLst/>
              </a:prstGeom>
              <a:noFill/>
              <a:ln w="0">
                <a:noFill/>
              </a:ln>
            </p:spPr>
            <p:txBody>
              <a:bodyPr anchor="ctr">
                <a:noAutofit/>
              </a:bodyPr>
              <a:lstStyle/>
              <a:p>
                <a:pPr algn="ctr">
                  <a:defRPr sz="2175" b="1">
                    <a:solidFill>
                      <a:srgbClr val="167B32"/>
                    </a:solidFill>
                    <a:latin typeface="DejaVu Sans"/>
                    <a:ea typeface="DejaVu Sans"/>
                    <a:cs typeface="DejaVu Sans"/>
                  </a:defRPr>
                </a:pPr>
                <a:r>
                  <a:rPr sz="2175" b="1" dirty="0">
                    <a:solidFill>
                      <a:srgbClr val="167B32"/>
                    </a:solidFill>
                    <a:latin typeface="DejaVu Sans"/>
                    <a:ea typeface="DejaVu Sans"/>
                    <a:cs typeface="DejaVu Sans"/>
                  </a:rPr>
                  <a:t>Global minimum at </a:t>
                </a:r>
                <a14:m>
                  <m:oMath xmlns:m="http://schemas.openxmlformats.org/officeDocument/2006/math">
                    <m:r>
                      <a:rPr lang="it-IT" sz="2175" b="1" i="1" dirty="0" smtClean="0">
                        <a:solidFill>
                          <a:srgbClr val="167B32"/>
                        </a:solidFill>
                        <a:latin typeface="Cambria Math" panose="02040503050406030204" pitchFamily="18" charset="0"/>
                        <a:ea typeface="DejaVu Sans"/>
                        <a:cs typeface="DejaVu Sans"/>
                      </a:rPr>
                      <m:t>𝜽</m:t>
                    </m:r>
                    <m:r>
                      <a:rPr lang="it-IT" sz="2175" b="1" i="1" dirty="0" smtClean="0">
                        <a:solidFill>
                          <a:srgbClr val="167B32"/>
                        </a:solidFill>
                        <a:latin typeface="Cambria Math" panose="02040503050406030204" pitchFamily="18" charset="0"/>
                        <a:ea typeface="DejaVu Sans"/>
                        <a:cs typeface="DejaVu Sans"/>
                      </a:rPr>
                      <m:t> = −</m:t>
                    </m:r>
                    <m:r>
                      <a:rPr lang="it-IT" sz="2175" b="1" i="1" dirty="0" smtClean="0">
                        <a:solidFill>
                          <a:srgbClr val="167B32"/>
                        </a:solidFill>
                        <a:latin typeface="Cambria Math" panose="02040503050406030204" pitchFamily="18" charset="0"/>
                        <a:ea typeface="DejaVu Sans"/>
                        <a:cs typeface="DejaVu Sans"/>
                      </a:rPr>
                      <m:t>𝟑</m:t>
                    </m:r>
                  </m:oMath>
                </a14:m>
                <a:endParaRPr sz="2175" b="1" dirty="0">
                  <a:solidFill>
                    <a:srgbClr val="167B32"/>
                  </a:solidFill>
                  <a:latin typeface="DejaVu Sans"/>
                  <a:ea typeface="DejaVu Sans"/>
                  <a:cs typeface="DejaVu Sans"/>
                </a:endParaRPr>
              </a:p>
            </p:txBody>
          </p:sp>
        </mc:Choice>
        <mc:Fallback xmlns="">
          <p:sp>
            <p:nvSpPr>
              <p:cNvPr id="6" name="text_1">
                <a:extLst>
                  <a:ext uri="{FF2B5EF4-FFF2-40B4-BE49-F238E27FC236}">
                    <a16:creationId xmlns:a16="http://schemas.microsoft.com/office/drawing/2014/main" id="{813F44E7-530E-49EC-ABCC-C3D86A0BB034}"/>
                  </a:ext>
                </a:extLst>
              </p:cNvPr>
              <p:cNvSpPr>
                <a:spLocks noGrp="1" noRot="1" noChangeAspect="1" noMove="1" noResize="1" noEditPoints="1" noAdjustHandles="1" noChangeArrowheads="1" noChangeShapeType="1" noTextEdit="1"/>
              </p:cNvSpPr>
              <p:nvPr/>
            </p:nvSpPr>
            <p:spPr>
              <a:xfrm>
                <a:off x="666750" y="4552950"/>
                <a:ext cx="5238750" cy="504825"/>
              </a:xfrm>
              <a:prstGeom prst="rect">
                <a:avLst/>
              </a:prstGeom>
              <a:blipFill>
                <a:blip r:embed="rId4"/>
                <a:stretch>
                  <a:fillRect t="-1205" b="-1445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text_2">
                <a:extLst>
                  <a:ext uri="{FF2B5EF4-FFF2-40B4-BE49-F238E27FC236}">
                    <a16:creationId xmlns:a16="http://schemas.microsoft.com/office/drawing/2014/main" id="{5B1CDCE0-D463-4C62-9142-767C0A25158D}"/>
                  </a:ext>
                </a:extLst>
              </p:cNvPr>
              <p:cNvSpPr>
                <a:spLocks noGrp="1"/>
              </p:cNvSpPr>
              <p:nvPr/>
            </p:nvSpPr>
            <p:spPr>
              <a:xfrm>
                <a:off x="6334125" y="4552950"/>
                <a:ext cx="5238750" cy="504825"/>
              </a:xfrm>
              <a:prstGeom prst="rect">
                <a:avLst/>
              </a:prstGeom>
              <a:noFill/>
              <a:ln w="0">
                <a:noFill/>
              </a:ln>
            </p:spPr>
            <p:txBody>
              <a:bodyPr anchor="ctr">
                <a:noAutofit/>
              </a:bodyPr>
              <a:lstStyle/>
              <a:p>
                <a:pPr algn="ctr">
                  <a:defRPr sz="2175" b="1">
                    <a:solidFill>
                      <a:srgbClr val="C45C28"/>
                    </a:solidFill>
                    <a:latin typeface="DejaVu Sans"/>
                    <a:ea typeface="DejaVu Sans"/>
                    <a:cs typeface="DejaVu Sans"/>
                  </a:defRPr>
                </a:pPr>
                <a:r>
                  <a:rPr sz="2175" b="1" dirty="0">
                    <a:solidFill>
                      <a:srgbClr val="C45C28"/>
                    </a:solidFill>
                    <a:latin typeface="DejaVu Sans"/>
                    <a:ea typeface="DejaVu Sans"/>
                    <a:cs typeface="DejaVu Sans"/>
                  </a:rPr>
                  <a:t>Local minimum at </a:t>
                </a:r>
                <a14:m>
                  <m:oMath xmlns:m="http://schemas.openxmlformats.org/officeDocument/2006/math">
                    <m:r>
                      <a:rPr lang="it-IT" sz="2175" b="1" i="1" dirty="0" smtClean="0">
                        <a:solidFill>
                          <a:srgbClr val="C45C28"/>
                        </a:solidFill>
                        <a:latin typeface="Cambria Math" panose="02040503050406030204" pitchFamily="18" charset="0"/>
                        <a:ea typeface="DejaVu Sans"/>
                        <a:cs typeface="DejaVu Sans"/>
                      </a:rPr>
                      <m:t>𝜽</m:t>
                    </m:r>
                    <m:r>
                      <a:rPr lang="it-IT" sz="2175" b="1" i="1" dirty="0" smtClean="0">
                        <a:solidFill>
                          <a:srgbClr val="C45C28"/>
                        </a:solidFill>
                        <a:latin typeface="Cambria Math" panose="02040503050406030204" pitchFamily="18" charset="0"/>
                        <a:ea typeface="DejaVu Sans"/>
                        <a:cs typeface="DejaVu Sans"/>
                      </a:rPr>
                      <m:t> = +</m:t>
                    </m:r>
                    <m:r>
                      <a:rPr lang="it-IT" sz="2175" b="1" i="1" dirty="0" smtClean="0">
                        <a:solidFill>
                          <a:srgbClr val="C45C28"/>
                        </a:solidFill>
                        <a:latin typeface="Cambria Math" panose="02040503050406030204" pitchFamily="18" charset="0"/>
                        <a:ea typeface="DejaVu Sans"/>
                        <a:cs typeface="DejaVu Sans"/>
                      </a:rPr>
                      <m:t>𝟑</m:t>
                    </m:r>
                  </m:oMath>
                </a14:m>
                <a:endParaRPr sz="2175" b="1" dirty="0">
                  <a:solidFill>
                    <a:srgbClr val="C45C28"/>
                  </a:solidFill>
                  <a:latin typeface="DejaVu Sans"/>
                  <a:ea typeface="DejaVu Sans"/>
                  <a:cs typeface="DejaVu Sans"/>
                </a:endParaRPr>
              </a:p>
            </p:txBody>
          </p:sp>
        </mc:Choice>
        <mc:Fallback xmlns="">
          <p:sp>
            <p:nvSpPr>
              <p:cNvPr id="7" name="text_2">
                <a:extLst>
                  <a:ext uri="{FF2B5EF4-FFF2-40B4-BE49-F238E27FC236}">
                    <a16:creationId xmlns:a16="http://schemas.microsoft.com/office/drawing/2014/main" id="{5B1CDCE0-D463-4C62-9142-767C0A25158D}"/>
                  </a:ext>
                </a:extLst>
              </p:cNvPr>
              <p:cNvSpPr>
                <a:spLocks noGrp="1" noRot="1" noChangeAspect="1" noMove="1" noResize="1" noEditPoints="1" noAdjustHandles="1" noChangeArrowheads="1" noChangeShapeType="1" noTextEdit="1"/>
              </p:cNvSpPr>
              <p:nvPr/>
            </p:nvSpPr>
            <p:spPr>
              <a:xfrm>
                <a:off x="6334125" y="4552950"/>
                <a:ext cx="5238750" cy="504825"/>
              </a:xfrm>
              <a:prstGeom prst="rect">
                <a:avLst/>
              </a:prstGeom>
              <a:blipFill>
                <a:blip r:embed="rId5"/>
                <a:stretch>
                  <a:fillRect t="-1205" b="-14458"/>
                </a:stretch>
              </a:blipFill>
              <a:ln w="0">
                <a:noFill/>
              </a:ln>
            </p:spPr>
            <p:txBody>
              <a:bodyPr/>
              <a:lstStyle/>
              <a:p>
                <a:r>
                  <a:rPr lang="it-IT">
                    <a:noFill/>
                  </a:rPr>
                  <a:t> </a:t>
                </a:r>
              </a:p>
            </p:txBody>
          </p:sp>
        </mc:Fallback>
      </mc:AlternateContent>
      <p:sp>
        <p:nvSpPr>
          <p:cNvPr id="8" name="text_3">
            <a:extLst>
              <a:ext uri="{FF2B5EF4-FFF2-40B4-BE49-F238E27FC236}">
                <a16:creationId xmlns:a16="http://schemas.microsoft.com/office/drawing/2014/main" id="{93709E9E-EB21-4C61-A3F9-D561B9B15260}"/>
              </a:ext>
            </a:extLst>
          </p:cNvPr>
          <p:cNvSpPr>
            <a:spLocks noGrp="1"/>
          </p:cNvSpPr>
          <p:nvPr/>
        </p:nvSpPr>
        <p:spPr>
          <a:xfrm>
            <a:off x="809625" y="5143500"/>
            <a:ext cx="4953000" cy="800100"/>
          </a:xfrm>
          <a:prstGeom prst="rect">
            <a:avLst/>
          </a:prstGeom>
          <a:noFill/>
          <a:ln w="0">
            <a:noFill/>
          </a:ln>
        </p:spPr>
        <p:txBody>
          <a:bodyPr anchor="ctr">
            <a:noAutofit/>
          </a:bodyPr>
          <a:lstStyle/>
          <a:p>
            <a:pPr algn="ctr">
              <a:defRPr sz="2025" b="0">
                <a:solidFill>
                  <a:srgbClr val="526276"/>
                </a:solidFill>
                <a:latin typeface="DejaVu Sans"/>
                <a:ea typeface="DejaVu Sans"/>
                <a:cs typeface="DejaVu Sans"/>
              </a:defRPr>
            </a:pPr>
            <a:r>
              <a:rPr sz="2025" b="0">
                <a:solidFill>
                  <a:srgbClr val="526276"/>
                </a:solidFill>
                <a:latin typeface="DejaVu Sans"/>
                <a:ea typeface="DejaVu Sans"/>
                <a:cs typeface="DejaVu Sans"/>
              </a:rPr>
              <a:t>No parameter value</a:t>
            </a:r>
          </a:p>
          <a:p>
            <a:pPr algn="ctr">
              <a:defRPr sz="2025" b="0">
                <a:solidFill>
                  <a:srgbClr val="526276"/>
                </a:solidFill>
                <a:latin typeface="DejaVu Sans"/>
                <a:ea typeface="DejaVu Sans"/>
                <a:cs typeface="DejaVu Sans"/>
              </a:defRPr>
            </a:pPr>
            <a:r>
              <a:rPr sz="2025" b="0">
                <a:solidFill>
                  <a:srgbClr val="526276"/>
                </a:solidFill>
                <a:latin typeface="DejaVu Sans"/>
                <a:ea typeface="DejaVu Sans"/>
                <a:cs typeface="DejaVu Sans"/>
              </a:rPr>
              <a:t>has a smaller loss.</a:t>
            </a:r>
          </a:p>
        </p:txBody>
      </p:sp>
      <p:sp>
        <p:nvSpPr>
          <p:cNvPr id="9" name="text_4">
            <a:extLst>
              <a:ext uri="{FF2B5EF4-FFF2-40B4-BE49-F238E27FC236}">
                <a16:creationId xmlns:a16="http://schemas.microsoft.com/office/drawing/2014/main" id="{B1D6504E-CE7C-4361-8535-92226932CE91}"/>
              </a:ext>
            </a:extLst>
          </p:cNvPr>
          <p:cNvSpPr>
            <a:spLocks noGrp="1"/>
          </p:cNvSpPr>
          <p:nvPr/>
        </p:nvSpPr>
        <p:spPr>
          <a:xfrm>
            <a:off x="6477000" y="5143500"/>
            <a:ext cx="4953000" cy="800100"/>
          </a:xfrm>
          <a:prstGeom prst="rect">
            <a:avLst/>
          </a:prstGeom>
          <a:noFill/>
          <a:ln w="0">
            <a:noFill/>
          </a:ln>
        </p:spPr>
        <p:txBody>
          <a:bodyPr anchor="ctr">
            <a:noAutofit/>
          </a:bodyPr>
          <a:lstStyle/>
          <a:p>
            <a:pPr algn="ctr">
              <a:defRPr sz="2025" b="0">
                <a:solidFill>
                  <a:srgbClr val="526276"/>
                </a:solidFill>
                <a:latin typeface="DejaVu Sans"/>
                <a:ea typeface="DejaVu Sans"/>
                <a:cs typeface="DejaVu Sans"/>
              </a:defRPr>
            </a:pPr>
            <a:r>
              <a:rPr sz="2025" b="0">
                <a:solidFill>
                  <a:srgbClr val="526276"/>
                </a:solidFill>
                <a:latin typeface="DejaVu Sans"/>
                <a:ea typeface="DejaVu Sans"/>
                <a:cs typeface="DejaVu Sans"/>
              </a:rPr>
              <a:t>No sufficiently small change</a:t>
            </a:r>
          </a:p>
          <a:p>
            <a:pPr algn="ctr">
              <a:defRPr sz="2025" b="0">
                <a:solidFill>
                  <a:srgbClr val="526276"/>
                </a:solidFill>
                <a:latin typeface="DejaVu Sans"/>
                <a:ea typeface="DejaVu Sans"/>
                <a:cs typeface="DejaVu Sans"/>
              </a:defRPr>
            </a:pPr>
            <a:r>
              <a:rPr sz="2025" b="0">
                <a:solidFill>
                  <a:srgbClr val="526276"/>
                </a:solidFill>
                <a:latin typeface="DejaVu Sans"/>
                <a:ea typeface="DejaVu Sans"/>
                <a:cs typeface="DejaVu Sans"/>
              </a:rPr>
              <a:t>improves the loss.</a:t>
            </a:r>
          </a:p>
        </p:txBody>
      </p:sp>
    </p:spTree>
    <p:extLst>
      <p:ext uri="{BB962C8B-B14F-4D97-AF65-F5344CB8AC3E}">
        <p14:creationId xmlns:p14="http://schemas.microsoft.com/office/powerpoint/2010/main" val="11579324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0E467B15-5A7B-4DEF-ACA3-76D2C5BD614B}"/>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The same difficulty in classification</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25DCE019-CB50-4C13-A95D-97811814475D}"/>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en-GB" sz="2175" dirty="0">
                    <a:solidFill>
                      <a:srgbClr val="526276"/>
                    </a:solidFill>
                    <a:latin typeface="DejaVu Sans"/>
                    <a:ea typeface="DejaVu Sans"/>
                    <a:cs typeface="DejaVu Sans"/>
                  </a:rPr>
                  <a:t>Two observations: </a:t>
                </a:r>
                <a14:m>
                  <m:oMath xmlns:m="http://schemas.openxmlformats.org/officeDocument/2006/math">
                    <m:d>
                      <m:dPr>
                        <m:ctrlPr>
                          <a:rPr lang="it-IT" sz="2175" i="1" dirty="0">
                            <a:solidFill>
                              <a:srgbClr val="526276"/>
                            </a:solidFill>
                            <a:latin typeface="Cambria Math" panose="02040503050406030204" pitchFamily="18" charset="0"/>
                          </a:rPr>
                        </m:ctrlPr>
                      </m:dPr>
                      <m:e>
                        <m:sSub>
                          <m:sSubPr>
                            <m:ctrlPr>
                              <a:rPr lang="it-IT" sz="2175" i="1" dirty="0">
                                <a:solidFill>
                                  <a:srgbClr val="526276"/>
                                </a:solidFill>
                                <a:latin typeface="Cambria Math" panose="02040503050406030204" pitchFamily="18" charset="0"/>
                              </a:rPr>
                            </m:ctrlPr>
                          </m:sSubPr>
                          <m:e>
                            <m:r>
                              <a:rPr lang="it-IT" sz="2175" i="1" dirty="0">
                                <a:solidFill>
                                  <a:srgbClr val="526276"/>
                                </a:solidFill>
                                <a:latin typeface="Cambria Math" panose="02040503050406030204" pitchFamily="18" charset="0"/>
                              </a:rPr>
                              <m:t>𝑥</m:t>
                            </m:r>
                          </m:e>
                          <m:sub>
                            <m:r>
                              <a:rPr lang="it-IT" sz="2175" i="1" dirty="0">
                                <a:solidFill>
                                  <a:srgbClr val="526276"/>
                                </a:solidFill>
                                <a:latin typeface="Cambria Math" panose="02040503050406030204" pitchFamily="18" charset="0"/>
                              </a:rPr>
                              <m:t>1</m:t>
                            </m:r>
                          </m:sub>
                        </m:sSub>
                        <m:r>
                          <a:rPr lang="it-IT" sz="2175" i="1" dirty="0">
                            <a:solidFill>
                              <a:srgbClr val="526276"/>
                            </a:solidFill>
                            <a:latin typeface="Cambria Math" panose="02040503050406030204" pitchFamily="18" charset="0"/>
                          </a:rPr>
                          <m:t>,</m:t>
                        </m:r>
                        <m:sSub>
                          <m:sSubPr>
                            <m:ctrlPr>
                              <a:rPr lang="it-IT" sz="2175" i="1" dirty="0">
                                <a:solidFill>
                                  <a:srgbClr val="526276"/>
                                </a:solidFill>
                                <a:latin typeface="Cambria Math" panose="02040503050406030204" pitchFamily="18" charset="0"/>
                              </a:rPr>
                            </m:ctrlPr>
                          </m:sSubPr>
                          <m:e>
                            <m:r>
                              <a:rPr lang="it-IT" sz="2175" i="1" dirty="0">
                                <a:solidFill>
                                  <a:srgbClr val="526276"/>
                                </a:solidFill>
                                <a:latin typeface="Cambria Math" panose="02040503050406030204" pitchFamily="18" charset="0"/>
                              </a:rPr>
                              <m:t>𝑦</m:t>
                            </m:r>
                          </m:e>
                          <m:sub>
                            <m:r>
                              <a:rPr lang="it-IT" sz="2175" i="1" dirty="0">
                                <a:solidFill>
                                  <a:srgbClr val="526276"/>
                                </a:solidFill>
                                <a:latin typeface="Cambria Math" panose="02040503050406030204" pitchFamily="18" charset="0"/>
                              </a:rPr>
                              <m:t>1</m:t>
                            </m:r>
                          </m:sub>
                        </m:sSub>
                      </m:e>
                    </m:d>
                    <m:r>
                      <a:rPr lang="it-IT" sz="2175" i="1" dirty="0">
                        <a:solidFill>
                          <a:srgbClr val="526276"/>
                        </a:solidFill>
                        <a:latin typeface="Cambria Math" panose="02040503050406030204" pitchFamily="18" charset="0"/>
                      </a:rPr>
                      <m:t>= </m:t>
                    </m:r>
                    <m:d>
                      <m:dPr>
                        <m:ctrlPr>
                          <a:rPr lang="ar-AE" sz="2175" i="1" dirty="0">
                            <a:solidFill>
                              <a:srgbClr val="526276"/>
                            </a:solidFill>
                            <a:latin typeface="Cambria Math" panose="02040503050406030204" pitchFamily="18" charset="0"/>
                            <a:ea typeface="DejaVu Sans"/>
                            <a:cs typeface="DejaVu Sans"/>
                          </a:rPr>
                        </m:ctrlPr>
                      </m:dPr>
                      <m:e>
                        <m:r>
                          <a:rPr lang="ar-AE" sz="2175" i="1" dirty="0">
                            <a:solidFill>
                              <a:srgbClr val="526276"/>
                            </a:solidFill>
                            <a:latin typeface="Cambria Math" panose="02040503050406030204" pitchFamily="18" charset="0"/>
                            <a:ea typeface="DejaVu Sans"/>
                            <a:cs typeface="DejaVu Sans"/>
                          </a:rPr>
                          <m:t>−1, </m:t>
                        </m:r>
                        <m:r>
                          <a:rPr lang="it-IT" sz="2175" b="0" i="1" dirty="0" smtClean="0">
                            <a:solidFill>
                              <a:srgbClr val="526276"/>
                            </a:solidFill>
                            <a:latin typeface="Cambria Math" panose="02040503050406030204" pitchFamily="18" charset="0"/>
                            <a:ea typeface="DejaVu Sans"/>
                            <a:cs typeface="DejaVu Sans"/>
                          </a:rPr>
                          <m:t>0</m:t>
                        </m:r>
                      </m:e>
                    </m:d>
                    <m:r>
                      <a:rPr lang="ar-AE" sz="2175" i="1" dirty="0">
                        <a:solidFill>
                          <a:srgbClr val="526276"/>
                        </a:solidFill>
                        <a:latin typeface="Cambria Math" panose="02040503050406030204" pitchFamily="18" charset="0"/>
                        <a:ea typeface="DejaVu Sans"/>
                        <a:cs typeface="DejaVu Sans"/>
                      </a:rPr>
                      <m:t> </m:t>
                    </m:r>
                  </m:oMath>
                </a14:m>
                <a:r>
                  <a:rPr lang="en-GB" sz="2175" dirty="0">
                    <a:solidFill>
                      <a:srgbClr val="526276"/>
                    </a:solidFill>
                    <a:latin typeface="DejaVu Sans"/>
                    <a:ea typeface="DejaVu Sans"/>
                    <a:cs typeface="DejaVu Sans"/>
                  </a:rPr>
                  <a:t>and </a:t>
                </a:r>
                <a14:m>
                  <m:oMath xmlns:m="http://schemas.openxmlformats.org/officeDocument/2006/math">
                    <m:d>
                      <m:dPr>
                        <m:ctrlPr>
                          <a:rPr lang="it-IT" sz="2175" i="1" dirty="0">
                            <a:solidFill>
                              <a:srgbClr val="526276"/>
                            </a:solidFill>
                            <a:latin typeface="Cambria Math" panose="02040503050406030204" pitchFamily="18" charset="0"/>
                          </a:rPr>
                        </m:ctrlPr>
                      </m:dPr>
                      <m:e>
                        <m:sSub>
                          <m:sSubPr>
                            <m:ctrlPr>
                              <a:rPr lang="it-IT" sz="2175" i="1" dirty="0">
                                <a:solidFill>
                                  <a:srgbClr val="526276"/>
                                </a:solidFill>
                                <a:latin typeface="Cambria Math" panose="02040503050406030204" pitchFamily="18" charset="0"/>
                              </a:rPr>
                            </m:ctrlPr>
                          </m:sSubPr>
                          <m:e>
                            <m:r>
                              <a:rPr lang="it-IT" sz="2175" i="1" dirty="0">
                                <a:solidFill>
                                  <a:srgbClr val="526276"/>
                                </a:solidFill>
                                <a:latin typeface="Cambria Math" panose="02040503050406030204" pitchFamily="18" charset="0"/>
                              </a:rPr>
                              <m:t>𝑥</m:t>
                            </m:r>
                          </m:e>
                          <m:sub>
                            <m:r>
                              <a:rPr lang="it-IT" sz="2175" i="1" dirty="0">
                                <a:solidFill>
                                  <a:srgbClr val="526276"/>
                                </a:solidFill>
                                <a:latin typeface="Cambria Math" panose="02040503050406030204" pitchFamily="18" charset="0"/>
                              </a:rPr>
                              <m:t>2</m:t>
                            </m:r>
                          </m:sub>
                        </m:sSub>
                        <m:r>
                          <a:rPr lang="it-IT" sz="2175" i="1" dirty="0">
                            <a:solidFill>
                              <a:srgbClr val="526276"/>
                            </a:solidFill>
                            <a:latin typeface="Cambria Math" panose="02040503050406030204" pitchFamily="18" charset="0"/>
                          </a:rPr>
                          <m:t>,</m:t>
                        </m:r>
                        <m:sSub>
                          <m:sSubPr>
                            <m:ctrlPr>
                              <a:rPr lang="it-IT" sz="2175" i="1" dirty="0">
                                <a:solidFill>
                                  <a:srgbClr val="526276"/>
                                </a:solidFill>
                                <a:latin typeface="Cambria Math" panose="02040503050406030204" pitchFamily="18" charset="0"/>
                              </a:rPr>
                            </m:ctrlPr>
                          </m:sSubPr>
                          <m:e>
                            <m:r>
                              <a:rPr lang="it-IT" sz="2175" i="1" dirty="0">
                                <a:solidFill>
                                  <a:srgbClr val="526276"/>
                                </a:solidFill>
                                <a:latin typeface="Cambria Math" panose="02040503050406030204" pitchFamily="18" charset="0"/>
                              </a:rPr>
                              <m:t>𝑦</m:t>
                            </m:r>
                          </m:e>
                          <m:sub>
                            <m:r>
                              <a:rPr lang="it-IT" sz="2175" i="1" dirty="0">
                                <a:solidFill>
                                  <a:srgbClr val="526276"/>
                                </a:solidFill>
                                <a:latin typeface="Cambria Math" panose="02040503050406030204" pitchFamily="18" charset="0"/>
                              </a:rPr>
                              <m:t>2</m:t>
                            </m:r>
                          </m:sub>
                        </m:sSub>
                      </m:e>
                    </m:d>
                    <m:r>
                      <a:rPr lang="it-IT" sz="2175" i="1" dirty="0">
                        <a:solidFill>
                          <a:srgbClr val="526276"/>
                        </a:solidFill>
                        <a:latin typeface="Cambria Math" panose="02040503050406030204" pitchFamily="18" charset="0"/>
                      </a:rPr>
                      <m:t>= </m:t>
                    </m:r>
                    <m:d>
                      <m:dPr>
                        <m:ctrlPr>
                          <a:rPr lang="ar-AE" sz="2175" i="1" dirty="0">
                            <a:solidFill>
                              <a:srgbClr val="526276"/>
                            </a:solidFill>
                            <a:latin typeface="Cambria Math" panose="02040503050406030204" pitchFamily="18" charset="0"/>
                            <a:ea typeface="DejaVu Sans"/>
                            <a:cs typeface="DejaVu Sans"/>
                          </a:rPr>
                        </m:ctrlPr>
                      </m:dPr>
                      <m:e>
                        <m:r>
                          <a:rPr lang="ar-AE" sz="2175" i="1" dirty="0">
                            <a:solidFill>
                              <a:srgbClr val="526276"/>
                            </a:solidFill>
                            <a:latin typeface="Cambria Math" panose="02040503050406030204" pitchFamily="18" charset="0"/>
                            <a:ea typeface="DejaVu Sans"/>
                            <a:cs typeface="DejaVu Sans"/>
                          </a:rPr>
                          <m:t>1, 1</m:t>
                        </m:r>
                      </m:e>
                    </m:d>
                  </m:oMath>
                </a14:m>
                <a:r>
                  <a:rPr lang="ar-AE" sz="2175" dirty="0">
                    <a:solidFill>
                      <a:srgbClr val="526276"/>
                    </a:solidFill>
                    <a:latin typeface="DejaVu Sans"/>
                    <a:ea typeface="DejaVu Sans"/>
                    <a:cs typeface="DejaVu Sans"/>
                  </a:rPr>
                  <a:t>.</a:t>
                </a:r>
              </a:p>
            </p:txBody>
          </p:sp>
        </mc:Choice>
        <mc:Fallback xmlns="">
          <p:sp>
            <p:nvSpPr>
              <p:cNvPr id="2" name="lead">
                <a:extLst>
                  <a:ext uri="{FF2B5EF4-FFF2-40B4-BE49-F238E27FC236}">
                    <a16:creationId xmlns:a16="http://schemas.microsoft.com/office/drawing/2014/main" id="{25DCE019-CB50-4C13-A95D-97811814475D}"/>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05377677-CB25-4F42-8A0F-999A25D9FFD5}"/>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F430FBED-D755-4769-A551-006D7A5533D5}"/>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lang="it-IT" sz="1050" b="0" dirty="0">
                <a:solidFill>
                  <a:srgbClr val="526276"/>
                </a:solidFill>
                <a:latin typeface="DejaVu Sans"/>
                <a:ea typeface="DejaVu Sans"/>
                <a:cs typeface="DejaVu Sans"/>
              </a:rPr>
              <a:t>39</a:t>
            </a:r>
            <a:endParaRPr sz="1050" b="0" dirty="0">
              <a:solidFill>
                <a:srgbClr val="526276"/>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5" name="equation_1" descr="p_\theta(x)=\sigma(f_\theta(x)),\qquad\mathcal{L}_{\mathrm{log}}(\theta)=-\log(1-p_\theta(-1))-\log p_\theta(1)">
                <a:extLst>
                  <a:ext uri="{FF2B5EF4-FFF2-40B4-BE49-F238E27FC236}">
                    <a16:creationId xmlns:a16="http://schemas.microsoft.com/office/drawing/2014/main" id="{8BDA9944-DF7E-4A63-9942-4C1EE93211AE}"/>
                  </a:ext>
                </a:extLst>
              </p:cNvPr>
              <p:cNvSpPr>
                <a:spLocks noGrp="1"/>
              </p:cNvSpPr>
              <p:nvPr/>
            </p:nvSpPr>
            <p:spPr>
              <a:xfrm>
                <a:off x="285750" y="1809750"/>
                <a:ext cx="11620500" cy="8667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𝑝</m:t>
                          </m:r>
                        </m:e>
                        <m:sub>
                          <m:r>
                            <a:rPr lang="en-GB" sz="2600">
                              <a:solidFill>
                                <a:srgbClr val="087F83"/>
                              </a:solidFill>
                              <a:latin typeface="Cambria Math"/>
                              <a:ea typeface="Cambria Math"/>
                              <a:cs typeface="Cambria Math"/>
                            </a:rPr>
                            <m:t>𝜃</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r>
                        <a:rPr lang="en-GB" sz="2600">
                          <a:solidFill>
                            <a:srgbClr val="087F83"/>
                          </a:solidFill>
                          <a:latin typeface="Cambria Math"/>
                          <a:ea typeface="Cambria Math"/>
                          <a:cs typeface="Cambria Math"/>
                        </a:rPr>
                        <m:t>=</m:t>
                      </m:r>
                      <m:r>
                        <a:rPr lang="en-GB" sz="2600">
                          <a:solidFill>
                            <a:srgbClr val="087F83"/>
                          </a:solidFill>
                          <a:latin typeface="Cambria Math"/>
                          <a:ea typeface="Cambria Math"/>
                          <a:cs typeface="Cambria Math"/>
                        </a:rPr>
                        <m:t>𝜎</m:t>
                      </m:r>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𝑓</m:t>
                              </m:r>
                            </m:e>
                            <m:sub>
                              <m:r>
                                <a:rPr lang="en-GB" sz="2600">
                                  <a:solidFill>
                                    <a:srgbClr val="087F83"/>
                                  </a:solidFill>
                                  <a:latin typeface="Cambria Math"/>
                                  <a:ea typeface="Cambria Math"/>
                                  <a:cs typeface="Cambria Math"/>
                                </a:rPr>
                                <m:t>𝜃</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e>
                      </m:d>
                      <m:r>
                        <a:rPr lang="en-GB" sz="2600">
                          <a:solidFill>
                            <a:srgbClr val="087F83"/>
                          </a:solidFill>
                          <a:latin typeface="Cambria Math"/>
                          <a:ea typeface="Cambria Math"/>
                          <a:cs typeface="Cambria Math"/>
                        </a:rPr>
                        <m:t>,  </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ℒ</m:t>
                          </m:r>
                        </m:e>
                        <m:sub>
                          <m:r>
                            <m:rPr>
                              <m:sty m:val="p"/>
                            </m:rPr>
                            <a:rPr lang="en-GB" sz="2600">
                              <a:solidFill>
                                <a:srgbClr val="087F83"/>
                              </a:solidFill>
                              <a:latin typeface="Cambria Math"/>
                              <a:ea typeface="Cambria Math"/>
                              <a:cs typeface="Cambria Math"/>
                            </a:rPr>
                            <m:t>log</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𝜃</m:t>
                          </m:r>
                        </m:e>
                      </m:d>
                      <m:r>
                        <a:rPr lang="en-GB" sz="2600">
                          <a:solidFill>
                            <a:srgbClr val="087F83"/>
                          </a:solidFill>
                          <a:latin typeface="Cambria Math"/>
                          <a:ea typeface="Cambria Math"/>
                          <a:cs typeface="Cambria Math"/>
                        </a:rPr>
                        <m:t>=−</m:t>
                      </m:r>
                      <m:r>
                        <m:rPr>
                          <m:sty m:val="p"/>
                        </m:rPr>
                        <a:rPr lang="en-GB" sz="2600">
                          <a:solidFill>
                            <a:srgbClr val="087F83"/>
                          </a:solidFill>
                          <a:latin typeface="Cambria Math"/>
                          <a:ea typeface="Cambria Math"/>
                          <a:cs typeface="Cambria Math"/>
                        </a:rPr>
                        <m:t>log</m:t>
                      </m:r>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1−</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𝑝</m:t>
                              </m:r>
                            </m:e>
                            <m:sub>
                              <m:r>
                                <a:rPr lang="en-GB" sz="2600">
                                  <a:solidFill>
                                    <a:srgbClr val="087F83"/>
                                  </a:solidFill>
                                  <a:latin typeface="Cambria Math"/>
                                  <a:ea typeface="Cambria Math"/>
                                  <a:cs typeface="Cambria Math"/>
                                </a:rPr>
                                <m:t>𝜃</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−1</m:t>
                              </m:r>
                            </m:e>
                          </m:d>
                        </m:e>
                      </m:d>
                      <m:r>
                        <a:rPr lang="en-GB" sz="2600">
                          <a:solidFill>
                            <a:srgbClr val="087F83"/>
                          </a:solidFill>
                          <a:latin typeface="Cambria Math"/>
                          <a:ea typeface="Cambria Math"/>
                          <a:cs typeface="Cambria Math"/>
                        </a:rPr>
                        <m:t>−</m:t>
                      </m:r>
                      <m:r>
                        <m:rPr>
                          <m:sty m:val="p"/>
                        </m:rPr>
                        <a:rPr lang="en-GB" sz="2600">
                          <a:solidFill>
                            <a:srgbClr val="087F83"/>
                          </a:solidFill>
                          <a:latin typeface="Cambria Math"/>
                          <a:ea typeface="Cambria Math"/>
                          <a:cs typeface="Cambria Math"/>
                        </a:rPr>
                        <m:t>log</m:t>
                      </m:r>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𝑝</m:t>
                              </m:r>
                            </m:e>
                            <m:sub>
                              <m:r>
                                <a:rPr lang="en-GB" sz="2600">
                                  <a:solidFill>
                                    <a:srgbClr val="087F83"/>
                                  </a:solidFill>
                                  <a:latin typeface="Cambria Math"/>
                                  <a:ea typeface="Cambria Math"/>
                                  <a:cs typeface="Cambria Math"/>
                                </a:rPr>
                                <m:t>𝜃</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1</m:t>
                              </m:r>
                            </m:e>
                          </m:d>
                        </m:e>
                      </m:d>
                    </m:oMath>
                  </m:oMathPara>
                </a14:m>
                <a:endParaRPr lang="en-GB" sz="2600" dirty="0"/>
              </a:p>
            </p:txBody>
          </p:sp>
        </mc:Choice>
        <mc:Fallback xmlns="">
          <p:sp>
            <p:nvSpPr>
              <p:cNvPr id="5" name="equation_1" descr="p_\theta(x)=\sigma(f_\theta(x)),\qquad\mathcal{L}_{\mathrm{log}}(\theta)=-\log(1-p_\theta(-1))-\log p_\theta(1)">
                <a:extLst>
                  <a:ext uri="{FF2B5EF4-FFF2-40B4-BE49-F238E27FC236}">
                    <a16:creationId xmlns:a16="http://schemas.microsoft.com/office/drawing/2014/main" id="{8BDA9944-DF7E-4A63-9942-4C1EE93211AE}"/>
                  </a:ext>
                </a:extLst>
              </p:cNvPr>
              <p:cNvSpPr>
                <a:spLocks noGrp="1" noRot="1" noChangeAspect="1" noMove="1" noResize="1" noEditPoints="1" noAdjustHandles="1" noChangeArrowheads="1" noChangeShapeType="1" noTextEdit="1"/>
              </p:cNvSpPr>
              <p:nvPr/>
            </p:nvSpPr>
            <p:spPr>
              <a:xfrm>
                <a:off x="285750" y="1809750"/>
                <a:ext cx="11620500" cy="866775"/>
              </a:xfrm>
              <a:prstGeom prst="rect">
                <a:avLst/>
              </a:prstGeom>
              <a:blipFill>
                <a:blip r:embed="rId4"/>
                <a:stretch>
                  <a:fillRect/>
                </a:stretch>
              </a:blipFill>
              <a:ln w="0">
                <a:noFill/>
              </a:ln>
            </p:spPr>
            <p:txBody>
              <a:bodyPr/>
              <a:lstStyle/>
              <a:p>
                <a:r>
                  <a:rPr lang="it-IT">
                    <a:noFill/>
                  </a:rPr>
                  <a:t> </a:t>
                </a:r>
              </a:p>
            </p:txBody>
          </p:sp>
        </mc:Fallback>
      </mc:AlternateContent>
      <p:graphicFrame>
        <p:nvGraphicFramePr>
          <p:cNvPr id="15" name="Chart"/>
          <p:cNvGraphicFramePr/>
          <p:nvPr/>
        </p:nvGraphicFramePr>
        <p:xfrm>
          <a:off x="504825" y="2714625"/>
          <a:ext cx="5876925" cy="2971800"/>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_2">
            <a:extLst>
              <a:ext uri="{FF2B5EF4-FFF2-40B4-BE49-F238E27FC236}">
                <a16:creationId xmlns:a16="http://schemas.microsoft.com/office/drawing/2014/main" id="{3D397354-333E-4F57-A11B-BFF6678E45F3}"/>
              </a:ext>
            </a:extLst>
          </p:cNvPr>
          <p:cNvSpPr>
            <a:spLocks noGrp="1"/>
          </p:cNvSpPr>
          <p:nvPr/>
        </p:nvSpPr>
        <p:spPr>
          <a:xfrm>
            <a:off x="2879884" y="5537073"/>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p:graphicFrame>
        <p:nvGraphicFramePr>
          <p:cNvPr id="17" name="Tabella 16"/>
          <p:cNvGraphicFramePr/>
          <p:nvPr/>
        </p:nvGraphicFramePr>
        <p:xfrm>
          <a:off x="6810375" y="3352800"/>
          <a:ext cx="4667250" cy="1933575"/>
        </p:xfrm>
        <a:graphic>
          <a:graphicData uri="http://schemas.openxmlformats.org/drawingml/2006/table">
            <a:tbl>
              <a:tblPr/>
              <a:tblGrid>
                <a:gridCol w="952500">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tblGrid>
              <a:tr h="644525">
                <a:tc>
                  <a:txBody>
                    <a:bodyPr/>
                    <a:lstStyle/>
                    <a:p>
                      <a:pPr algn="ctr"/>
                      <a:r>
                        <a:rPr sz="1800" b="1">
                          <a:solidFill>
                            <a:srgbClr val="182D45"/>
                          </a:solidFill>
                          <a:latin typeface="DejaVu Sans"/>
                          <a:ea typeface="DejaVu Sans"/>
                          <a:cs typeface="DejaVu Sans"/>
                        </a:rPr>
                        <a:t>θ</a:t>
                      </a:r>
                    </a:p>
                  </a:txBody>
                  <a:tcPr marL="95250" marR="95250" marT="66675" marB="66675" anchor="ctr">
                    <a:solidFill>
                      <a:srgbClr val="EDF3F5"/>
                    </a:solidFill>
                  </a:tcPr>
                </a:tc>
                <a:tc>
                  <a:txBody>
                    <a:bodyPr/>
                    <a:lstStyle/>
                    <a:p>
                      <a:pPr algn="ctr"/>
                      <a:r>
                        <a:rPr sz="1800" b="1">
                          <a:solidFill>
                            <a:srgbClr val="182D45"/>
                          </a:solidFill>
                          <a:latin typeface="DejaVu Sans"/>
                          <a:ea typeface="DejaVu Sans"/>
                          <a:cs typeface="DejaVu Sans"/>
                        </a:rPr>
                        <a:t>Logistic loss</a:t>
                      </a:r>
                    </a:p>
                  </a:txBody>
                  <a:tcPr marL="95250" marR="95250" marT="66675" marB="66675" anchor="ctr">
                    <a:solidFill>
                      <a:srgbClr val="EDF3F5"/>
                    </a:solidFill>
                  </a:tcPr>
                </a:tc>
                <a:tc>
                  <a:txBody>
                    <a:bodyPr/>
                    <a:lstStyle/>
                    <a:p>
                      <a:pPr algn="ctr"/>
                      <a:r>
                        <a:rPr sz="1800" b="1">
                          <a:solidFill>
                            <a:srgbClr val="182D45"/>
                          </a:solidFill>
                          <a:latin typeface="DejaVu Sans"/>
                          <a:ea typeface="DejaVu Sans"/>
                          <a:cs typeface="DejaVu Sans"/>
                        </a:rPr>
                        <a:t>Mistakes</a:t>
                      </a:r>
                    </a:p>
                  </a:txBody>
                  <a:tcPr marL="95250" marR="95250" marT="66675" marB="66675" anchor="ctr">
                    <a:solidFill>
                      <a:srgbClr val="EDF3F5"/>
                    </a:solidFill>
                  </a:tcPr>
                </a:tc>
                <a:extLst>
                  <a:ext uri="{0D108BD9-81ED-4DB2-BD59-A6C34878D82A}">
                    <a16:rowId xmlns:a16="http://schemas.microsoft.com/office/drawing/2014/main" val="10000"/>
                  </a:ext>
                </a:extLst>
              </a:tr>
              <a:tr h="644525">
                <a:tc>
                  <a:txBody>
                    <a:bodyPr/>
                    <a:lstStyle/>
                    <a:p>
                      <a:pPr algn="ctr"/>
                      <a:r>
                        <a:rPr sz="1800">
                          <a:solidFill>
                            <a:srgbClr val="182D45"/>
                          </a:solidFill>
                          <a:latin typeface="DejaVu Sans"/>
                          <a:ea typeface="DejaVu Sans"/>
                          <a:cs typeface="DejaVu Sans"/>
                        </a:rPr>
                        <a:t>−3</a:t>
                      </a:r>
                    </a:p>
                  </a:txBody>
                  <a:tcPr marL="95250" marR="95250" marT="66675" marB="66675" anchor="ctr">
                    <a:solidFill>
                      <a:srgbClr val="FFFFFF"/>
                    </a:solidFill>
                  </a:tcPr>
                </a:tc>
                <a:tc>
                  <a:txBody>
                    <a:bodyPr/>
                    <a:lstStyle/>
                    <a:p>
                      <a:pPr algn="ctr"/>
                      <a:r>
                        <a:rPr sz="1800" dirty="0">
                          <a:solidFill>
                            <a:srgbClr val="182D45"/>
                          </a:solidFill>
                          <a:latin typeface="DejaVu Sans"/>
                          <a:ea typeface="DejaVu Sans"/>
                          <a:cs typeface="DejaVu Sans"/>
                        </a:rPr>
                        <a:t>0.627</a:t>
                      </a:r>
                    </a:p>
                  </a:txBody>
                  <a:tcPr marL="95250" marR="95250" marT="66675" marB="66675" anchor="ctr">
                    <a:solidFill>
                      <a:srgbClr val="FFFFFF"/>
                    </a:solidFill>
                  </a:tcPr>
                </a:tc>
                <a:tc>
                  <a:txBody>
                    <a:bodyPr/>
                    <a:lstStyle/>
                    <a:p>
                      <a:pPr algn="ctr"/>
                      <a:r>
                        <a:rPr sz="1800">
                          <a:solidFill>
                            <a:srgbClr val="182D45"/>
                          </a:solidFill>
                          <a:latin typeface="DejaVu Sans"/>
                          <a:ea typeface="DejaVu Sans"/>
                          <a:cs typeface="DejaVu Sans"/>
                        </a:rPr>
                        <a:t>0 of 2</a:t>
                      </a:r>
                    </a:p>
                  </a:txBody>
                  <a:tcPr marL="95250" marR="95250" marT="66675" marB="66675" anchor="ctr">
                    <a:solidFill>
                      <a:srgbClr val="FFFFFF"/>
                    </a:solidFill>
                  </a:tcPr>
                </a:tc>
                <a:extLst>
                  <a:ext uri="{0D108BD9-81ED-4DB2-BD59-A6C34878D82A}">
                    <a16:rowId xmlns:a16="http://schemas.microsoft.com/office/drawing/2014/main" val="10001"/>
                  </a:ext>
                </a:extLst>
              </a:tr>
              <a:tr h="644525">
                <a:tc>
                  <a:txBody>
                    <a:bodyPr/>
                    <a:lstStyle/>
                    <a:p>
                      <a:pPr algn="ctr"/>
                      <a:r>
                        <a:rPr sz="1800">
                          <a:solidFill>
                            <a:srgbClr val="182D45"/>
                          </a:solidFill>
                          <a:latin typeface="DejaVu Sans"/>
                          <a:ea typeface="DejaVu Sans"/>
                          <a:cs typeface="DejaVu Sans"/>
                        </a:rPr>
                        <a:t>+3</a:t>
                      </a:r>
                    </a:p>
                  </a:txBody>
                  <a:tcPr marL="95250" marR="95250" marT="66675" marB="66675" anchor="ctr">
                    <a:solidFill>
                      <a:srgbClr val="FFFFFF"/>
                    </a:solidFill>
                  </a:tcPr>
                </a:tc>
                <a:tc>
                  <a:txBody>
                    <a:bodyPr/>
                    <a:lstStyle/>
                    <a:p>
                      <a:pPr algn="ctr"/>
                      <a:r>
                        <a:rPr sz="1800">
                          <a:solidFill>
                            <a:srgbClr val="182D45"/>
                          </a:solidFill>
                          <a:latin typeface="DejaVu Sans"/>
                          <a:ea typeface="DejaVu Sans"/>
                          <a:cs typeface="DejaVu Sans"/>
                        </a:rPr>
                        <a:t>2.627</a:t>
                      </a:r>
                    </a:p>
                  </a:txBody>
                  <a:tcPr marL="95250" marR="95250" marT="66675" marB="66675" anchor="ctr">
                    <a:solidFill>
                      <a:srgbClr val="FFFFFF"/>
                    </a:solidFill>
                  </a:tcPr>
                </a:tc>
                <a:tc>
                  <a:txBody>
                    <a:bodyPr/>
                    <a:lstStyle/>
                    <a:p>
                      <a:pPr algn="ctr"/>
                      <a:r>
                        <a:rPr sz="1800" dirty="0">
                          <a:solidFill>
                            <a:srgbClr val="182D45"/>
                          </a:solidFill>
                          <a:latin typeface="DejaVu Sans"/>
                          <a:ea typeface="DejaVu Sans"/>
                          <a:cs typeface="DejaVu Sans"/>
                        </a:rPr>
                        <a:t>2 of 2</a:t>
                      </a:r>
                    </a:p>
                  </a:txBody>
                  <a:tcPr marL="95250" marR="95250" marT="66675" marB="66675" anchor="ctr">
                    <a:solidFill>
                      <a:srgbClr val="FFFFFF"/>
                    </a:solidFill>
                  </a:tcPr>
                </a:tc>
                <a:extLst>
                  <a:ext uri="{0D108BD9-81ED-4DB2-BD59-A6C34878D82A}">
                    <a16:rowId xmlns:a16="http://schemas.microsoft.com/office/drawing/2014/main" val="10002"/>
                  </a:ext>
                </a:extLst>
              </a:tr>
            </a:tbl>
          </a:graphicData>
        </a:graphic>
      </p:graphicFrame>
      <p:sp>
        <p:nvSpPr>
          <p:cNvPr id="9" name="text_3">
            <a:extLst>
              <a:ext uri="{FF2B5EF4-FFF2-40B4-BE49-F238E27FC236}">
                <a16:creationId xmlns:a16="http://schemas.microsoft.com/office/drawing/2014/main" id="{94A55510-6958-4FB1-9E49-CCFB9487BAD4}"/>
              </a:ext>
            </a:extLst>
          </p:cNvPr>
          <p:cNvSpPr>
            <a:spLocks noGrp="1"/>
          </p:cNvSpPr>
          <p:nvPr/>
        </p:nvSpPr>
        <p:spPr>
          <a:xfrm>
            <a:off x="571500" y="5876925"/>
            <a:ext cx="11049000" cy="504825"/>
          </a:xfrm>
          <a:prstGeom prst="rect">
            <a:avLst/>
          </a:prstGeom>
          <a:noFill/>
          <a:ln w="0">
            <a:noFill/>
          </a:ln>
        </p:spPr>
        <p:txBody>
          <a:bodyPr anchor="ctr">
            <a:noAutofit/>
          </a:bodyPr>
          <a:lstStyle/>
          <a:p>
            <a:pPr algn="ctr">
              <a:defRPr sz="2100" b="1">
                <a:solidFill>
                  <a:srgbClr val="182D45"/>
                </a:solidFill>
                <a:latin typeface="DejaVu Sans"/>
                <a:ea typeface="DejaVu Sans"/>
                <a:cs typeface="DejaVu Sans"/>
              </a:defRPr>
            </a:pPr>
            <a:r>
              <a:rPr sz="2000" b="1" dirty="0">
                <a:solidFill>
                  <a:srgbClr val="182D45"/>
                </a:solidFill>
                <a:latin typeface="DejaVu Sans"/>
                <a:ea typeface="DejaVu Sans"/>
                <a:cs typeface="DejaVu Sans"/>
              </a:rPr>
              <a:t>The local minimum can give much worse predictions </a:t>
            </a:r>
            <a:r>
              <a:rPr lang="it-IT" sz="2000" b="1" dirty="0" err="1">
                <a:solidFill>
                  <a:srgbClr val="182D45"/>
                </a:solidFill>
                <a:latin typeface="DejaVu Sans"/>
                <a:ea typeface="DejaVu Sans"/>
                <a:cs typeface="DejaVu Sans"/>
              </a:rPr>
              <a:t>than</a:t>
            </a:r>
            <a:r>
              <a:rPr lang="it-IT" sz="2000" b="1" dirty="0">
                <a:solidFill>
                  <a:srgbClr val="182D45"/>
                </a:solidFill>
                <a:latin typeface="DejaVu Sans"/>
                <a:ea typeface="DejaVu Sans"/>
                <a:cs typeface="DejaVu Sans"/>
              </a:rPr>
              <a:t> the global one</a:t>
            </a:r>
            <a:r>
              <a:rPr sz="2000" b="1" dirty="0">
                <a:solidFill>
                  <a:srgbClr val="182D45"/>
                </a:solidFill>
                <a:latin typeface="DejaVu Sans"/>
                <a:ea typeface="DejaVu Sans"/>
                <a:cs typeface="DejaVu Sans"/>
              </a:rPr>
              <a:t>.</a:t>
            </a:r>
          </a:p>
        </p:txBody>
      </p:sp>
    </p:spTree>
    <p:extLst>
      <p:ext uri="{BB962C8B-B14F-4D97-AF65-F5344CB8AC3E}">
        <p14:creationId xmlns:p14="http://schemas.microsoft.com/office/powerpoint/2010/main" val="15000750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38024916-BF83-4B7F-81F8-ADA58A86F020}"/>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Gradient descent: two starting points</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3C8AEACA-C994-48D3-9BFB-44E48B577A23}"/>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it-IT" sz="2175" b="0" dirty="0">
                    <a:solidFill>
                      <a:srgbClr val="526276"/>
                    </a:solidFill>
                    <a:latin typeface="DejaVu Sans"/>
                    <a:ea typeface="DejaVu Sans"/>
                    <a:cs typeface="DejaVu Sans"/>
                  </a:rPr>
                  <a:t>Initial values </a:t>
                </a:r>
                <a14:m>
                  <m:oMath xmlns:m="http://schemas.openxmlformats.org/officeDocument/2006/math">
                    <m:sSup>
                      <m:sSupPr>
                        <m:ctrlPr>
                          <a:rPr lang="ar-AE" sz="2175" b="0" i="1" dirty="0" smtClean="0">
                            <a:solidFill>
                              <a:srgbClr val="526276"/>
                            </a:solidFill>
                            <a:latin typeface="Cambria Math" panose="02040503050406030204" pitchFamily="18" charset="0"/>
                            <a:ea typeface="DejaVu Sans"/>
                            <a:cs typeface="DejaVu Sans"/>
                          </a:rPr>
                        </m:ctrlPr>
                      </m:sSupPr>
                      <m:e>
                        <m:r>
                          <a:rPr lang="ar-AE" sz="2175" b="0" i="1" dirty="0" smtClean="0">
                            <a:solidFill>
                              <a:srgbClr val="526276"/>
                            </a:solidFill>
                            <a:latin typeface="Cambria Math" panose="02040503050406030204" pitchFamily="18" charset="0"/>
                            <a:ea typeface="DejaVu Sans"/>
                            <a:cs typeface="DejaVu Sans"/>
                          </a:rPr>
                          <m:t>𝜃</m:t>
                        </m:r>
                      </m:e>
                      <m:sup>
                        <m:r>
                          <a:rPr lang="ar-AE" sz="2175" b="0" i="1" dirty="0" smtClean="0">
                            <a:solidFill>
                              <a:srgbClr val="526276"/>
                            </a:solidFill>
                            <a:latin typeface="Cambria Math" panose="02040503050406030204" pitchFamily="18" charset="0"/>
                            <a:ea typeface="DejaVu Sans"/>
                            <a:cs typeface="DejaVu Sans"/>
                          </a:rPr>
                          <m:t>(0)</m:t>
                        </m:r>
                      </m:sup>
                    </m:sSup>
                    <m:r>
                      <a:rPr lang="ar-AE" sz="2175" b="0" i="1" dirty="0" smtClean="0">
                        <a:solidFill>
                          <a:srgbClr val="526276"/>
                        </a:solidFill>
                        <a:latin typeface="Cambria Math" panose="02040503050406030204" pitchFamily="18" charset="0"/>
                        <a:ea typeface="DejaVu Sans"/>
                        <a:cs typeface="DejaVu Sans"/>
                      </a:rPr>
                      <m:t> </m:t>
                    </m:r>
                    <m:r>
                      <a:rPr lang="ar-AE" sz="2175" b="0" i="1" dirty="0">
                        <a:solidFill>
                          <a:srgbClr val="526276"/>
                        </a:solidFill>
                        <a:latin typeface="Cambria Math" panose="02040503050406030204" pitchFamily="18" charset="0"/>
                        <a:ea typeface="DejaVu Sans"/>
                        <a:cs typeface="DejaVu Sans"/>
                      </a:rPr>
                      <m:t>= −1.5</m:t>
                    </m:r>
                  </m:oMath>
                </a14:m>
                <a:r>
                  <a:rPr lang="ar-AE" sz="2175" b="0" dirty="0">
                    <a:solidFill>
                      <a:srgbClr val="526276"/>
                    </a:solidFill>
                    <a:latin typeface="DejaVu Sans"/>
                    <a:ea typeface="DejaVu Sans"/>
                    <a:cs typeface="DejaVu Sans"/>
                  </a:rPr>
                  <a:t> </a:t>
                </a:r>
                <a:r>
                  <a:rPr lang="it-IT" sz="2175" b="0" dirty="0">
                    <a:solidFill>
                      <a:srgbClr val="526276"/>
                    </a:solidFill>
                    <a:latin typeface="DejaVu Sans"/>
                    <a:ea typeface="DejaVu Sans"/>
                    <a:cs typeface="DejaVu Sans"/>
                  </a:rPr>
                  <a:t>and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+1.5</m:t>
                    </m:r>
                  </m:oMath>
                </a14:m>
                <a:r>
                  <a:rPr lang="it-IT" sz="2175" b="0" dirty="0">
                    <a:solidFill>
                      <a:srgbClr val="526276"/>
                    </a:solidFill>
                    <a:latin typeface="DejaVu Sans"/>
                    <a:ea typeface="DejaVu Sans"/>
                    <a:cs typeface="DejaVu Sans"/>
                  </a:rPr>
                  <a:t>. Learning rate </a:t>
                </a:r>
                <a14:m>
                  <m:oMath xmlns:m="http://schemas.openxmlformats.org/officeDocument/2006/math">
                    <m:r>
                      <a:rPr lang="el-GR" sz="2175" b="0" i="1" dirty="0" smtClean="0">
                        <a:solidFill>
                          <a:srgbClr val="526276"/>
                        </a:solidFill>
                        <a:latin typeface="Cambria Math" panose="02040503050406030204" pitchFamily="18" charset="0"/>
                        <a:ea typeface="DejaVu Sans"/>
                        <a:cs typeface="DejaVu Sans"/>
                      </a:rPr>
                      <m:t>𝜂</m:t>
                    </m:r>
                    <m:r>
                      <a:rPr lang="el-GR" sz="2175" b="0" i="1" dirty="0" smtClean="0">
                        <a:solidFill>
                          <a:srgbClr val="526276"/>
                        </a:solidFill>
                        <a:latin typeface="Cambria Math" panose="02040503050406030204" pitchFamily="18" charset="0"/>
                        <a:ea typeface="DejaVu Sans"/>
                        <a:cs typeface="DejaVu Sans"/>
                      </a:rPr>
                      <m:t> = 0.05</m:t>
                    </m:r>
                  </m:oMath>
                </a14:m>
                <a:r>
                  <a:rPr lang="el-GR" sz="2175" b="0" dirty="0">
                    <a:solidFill>
                      <a:srgbClr val="526276"/>
                    </a:solidFill>
                    <a:latin typeface="DejaVu Sans"/>
                    <a:ea typeface="DejaVu Sans"/>
                    <a:cs typeface="DejaVu Sans"/>
                  </a:rPr>
                  <a:t>.</a:t>
                </a:r>
                <a:endParaRPr sz="2175" b="0" dirty="0">
                  <a:solidFill>
                    <a:srgbClr val="526276"/>
                  </a:solidFill>
                  <a:latin typeface="DejaVu Sans"/>
                  <a:ea typeface="DejaVu Sans"/>
                  <a:cs typeface="DejaVu Sans"/>
                </a:endParaRPr>
              </a:p>
            </p:txBody>
          </p:sp>
        </mc:Choice>
        <mc:Fallback xmlns="">
          <p:sp>
            <p:nvSpPr>
              <p:cNvPr id="2" name="lead">
                <a:extLst>
                  <a:ext uri="{FF2B5EF4-FFF2-40B4-BE49-F238E27FC236}">
                    <a16:creationId xmlns:a16="http://schemas.microsoft.com/office/drawing/2014/main" id="{3C8AEACA-C994-48D3-9BFB-44E48B577A23}"/>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57E984C0-C004-484B-BDA9-07E37BC4EFAE}"/>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EB03AC8B-BB2D-4ACC-B65F-C4A8246D5866}"/>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lang="it-IT" sz="1050" b="0" dirty="0">
                <a:solidFill>
                  <a:srgbClr val="526276"/>
                </a:solidFill>
                <a:latin typeface="DejaVu Sans"/>
                <a:ea typeface="DejaVu Sans"/>
                <a:cs typeface="DejaVu Sans"/>
              </a:rPr>
              <a:t>40</a:t>
            </a:r>
            <a:endParaRPr sz="1050" b="0" dirty="0">
              <a:solidFill>
                <a:srgbClr val="526276"/>
              </a:solidFill>
              <a:latin typeface="DejaVu Sans"/>
              <a:ea typeface="DejaVu Sans"/>
              <a:cs typeface="DejaVu Sans"/>
            </a:endParaRPr>
          </a:p>
        </p:txBody>
      </p:sp>
      <p:sp>
        <p:nvSpPr>
          <p:cNvPr id="6" name="text_1">
            <a:extLst>
              <a:ext uri="{FF2B5EF4-FFF2-40B4-BE49-F238E27FC236}">
                <a16:creationId xmlns:a16="http://schemas.microsoft.com/office/drawing/2014/main" id="{26C1E4F8-1FA5-4C9E-B30E-128BCF8B5B7F}"/>
              </a:ext>
            </a:extLst>
          </p:cNvPr>
          <p:cNvSpPr>
            <a:spLocks noGrp="1"/>
          </p:cNvSpPr>
          <p:nvPr/>
        </p:nvSpPr>
        <p:spPr>
          <a:xfrm>
            <a:off x="5781675" y="5152073"/>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7" name="text_2">
                <a:extLst>
                  <a:ext uri="{FF2B5EF4-FFF2-40B4-BE49-F238E27FC236}">
                    <a16:creationId xmlns:a16="http://schemas.microsoft.com/office/drawing/2014/main" id="{E1A2184B-AEEB-4EE0-8A7B-81AAA00087D4}"/>
                  </a:ext>
                </a:extLst>
              </p:cNvPr>
              <p:cNvSpPr>
                <a:spLocks noGrp="1"/>
              </p:cNvSpPr>
              <p:nvPr/>
            </p:nvSpPr>
            <p:spPr>
              <a:xfrm>
                <a:off x="762000" y="5457825"/>
                <a:ext cx="5143500" cy="428625"/>
              </a:xfrm>
              <a:prstGeom prst="rect">
                <a:avLst/>
              </a:prstGeom>
              <a:noFill/>
              <a:ln w="0">
                <a:noFill/>
              </a:ln>
            </p:spPr>
            <p:txBody>
              <a:bodyPr anchor="ctr">
                <a:noAutofit/>
              </a:bodyPr>
              <a:lstStyle/>
              <a:p>
                <a:pPr algn="ctr">
                  <a:defRPr sz="2025" b="1">
                    <a:solidFill>
                      <a:srgbClr val="326CB2"/>
                    </a:solidFill>
                    <a:latin typeface="DejaVu Sans"/>
                    <a:ea typeface="DejaVu Sans"/>
                    <a:cs typeface="DejaVu Sans"/>
                  </a:defRPr>
                </a:pPr>
                <a:r>
                  <a:rPr sz="2025" b="1">
                    <a:solidFill>
                      <a:srgbClr val="326CB2"/>
                    </a:solidFill>
                    <a:latin typeface="DejaVu Sans"/>
                    <a:ea typeface="DejaVu Sans"/>
                    <a:cs typeface="DejaVu Sans"/>
                  </a:rPr>
                  <a:t>Start at </a:t>
                </a:r>
                <a14:m>
                  <m:oMath xmlns:m="http://schemas.openxmlformats.org/officeDocument/2006/math">
                    <m:r>
                      <a:rPr lang="it-IT" sz="2025" b="1" i="0" dirty="0" smtClean="0">
                        <a:solidFill>
                          <a:srgbClr val="326CB2"/>
                        </a:solidFill>
                        <a:latin typeface="Cambria Math" panose="02040503050406030204" pitchFamily="18" charset="0"/>
                        <a:ea typeface="DejaVu Sans"/>
                        <a:cs typeface="DejaVu Sans"/>
                      </a:rPr>
                      <m:t>−1.5</m:t>
                    </m:r>
                  </m:oMath>
                </a14:m>
                <a:endParaRPr sz="2025" b="1">
                  <a:solidFill>
                    <a:srgbClr val="326CB2"/>
                  </a:solidFill>
                  <a:latin typeface="DejaVu Sans"/>
                  <a:ea typeface="DejaVu Sans"/>
                  <a:cs typeface="DejaVu Sans"/>
                </a:endParaRPr>
              </a:p>
            </p:txBody>
          </p:sp>
        </mc:Choice>
        <mc:Fallback xmlns="">
          <p:sp>
            <p:nvSpPr>
              <p:cNvPr id="7" name="text_2">
                <a:extLst>
                  <a:ext uri="{FF2B5EF4-FFF2-40B4-BE49-F238E27FC236}">
                    <a16:creationId xmlns:a16="http://schemas.microsoft.com/office/drawing/2014/main" id="{E1A2184B-AEEB-4EE0-8A7B-81AAA00087D4}"/>
                  </a:ext>
                </a:extLst>
              </p:cNvPr>
              <p:cNvSpPr>
                <a:spLocks noGrp="1" noRot="1" noChangeAspect="1" noMove="1" noResize="1" noEditPoints="1" noAdjustHandles="1" noChangeArrowheads="1" noChangeShapeType="1" noTextEdit="1"/>
              </p:cNvSpPr>
              <p:nvPr/>
            </p:nvSpPr>
            <p:spPr>
              <a:xfrm>
                <a:off x="762000" y="5457825"/>
                <a:ext cx="5143500" cy="428625"/>
              </a:xfrm>
              <a:prstGeom prst="rect">
                <a:avLst/>
              </a:prstGeom>
              <a:blipFill>
                <a:blip r:embed="rId4"/>
                <a:stretch>
                  <a:fillRect t="-4225" b="-2112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text_3">
                <a:extLst>
                  <a:ext uri="{FF2B5EF4-FFF2-40B4-BE49-F238E27FC236}">
                    <a16:creationId xmlns:a16="http://schemas.microsoft.com/office/drawing/2014/main" id="{059FD6A3-3C18-41F5-B318-81B22850EB34}"/>
                  </a:ext>
                </a:extLst>
              </p:cNvPr>
              <p:cNvSpPr>
                <a:spLocks noGrp="1"/>
              </p:cNvSpPr>
              <p:nvPr/>
            </p:nvSpPr>
            <p:spPr>
              <a:xfrm>
                <a:off x="6334125" y="5457825"/>
                <a:ext cx="5095875" cy="428625"/>
              </a:xfrm>
              <a:prstGeom prst="rect">
                <a:avLst/>
              </a:prstGeom>
              <a:noFill/>
              <a:ln w="0">
                <a:noFill/>
              </a:ln>
            </p:spPr>
            <p:txBody>
              <a:bodyPr anchor="ctr">
                <a:noAutofit/>
              </a:bodyPr>
              <a:lstStyle/>
              <a:p>
                <a:pPr algn="ctr">
                  <a:defRPr sz="2025" b="1">
                    <a:solidFill>
                      <a:srgbClr val="C45C28"/>
                    </a:solidFill>
                    <a:latin typeface="DejaVu Sans"/>
                    <a:ea typeface="DejaVu Sans"/>
                    <a:cs typeface="DejaVu Sans"/>
                  </a:defRPr>
                </a:pPr>
                <a:r>
                  <a:rPr sz="2025" b="1">
                    <a:solidFill>
                      <a:srgbClr val="C45C28"/>
                    </a:solidFill>
                    <a:latin typeface="DejaVu Sans"/>
                    <a:ea typeface="DejaVu Sans"/>
                    <a:cs typeface="DejaVu Sans"/>
                  </a:rPr>
                  <a:t>Start at </a:t>
                </a:r>
                <a14:m>
                  <m:oMath xmlns:m="http://schemas.openxmlformats.org/officeDocument/2006/math">
                    <m:r>
                      <a:rPr lang="it-IT" sz="2025" b="1" i="0" dirty="0" smtClean="0">
                        <a:solidFill>
                          <a:srgbClr val="C45C28"/>
                        </a:solidFill>
                        <a:latin typeface="Cambria Math" panose="02040503050406030204" pitchFamily="18" charset="0"/>
                        <a:ea typeface="DejaVu Sans"/>
                        <a:cs typeface="DejaVu Sans"/>
                      </a:rPr>
                      <m:t>+1.5</m:t>
                    </m:r>
                  </m:oMath>
                </a14:m>
                <a:endParaRPr sz="2025" b="1">
                  <a:solidFill>
                    <a:srgbClr val="C45C28"/>
                  </a:solidFill>
                  <a:latin typeface="DejaVu Sans"/>
                  <a:ea typeface="DejaVu Sans"/>
                  <a:cs typeface="DejaVu Sans"/>
                </a:endParaRPr>
              </a:p>
            </p:txBody>
          </p:sp>
        </mc:Choice>
        <mc:Fallback xmlns="">
          <p:sp>
            <p:nvSpPr>
              <p:cNvPr id="8" name="text_3">
                <a:extLst>
                  <a:ext uri="{FF2B5EF4-FFF2-40B4-BE49-F238E27FC236}">
                    <a16:creationId xmlns:a16="http://schemas.microsoft.com/office/drawing/2014/main" id="{059FD6A3-3C18-41F5-B318-81B22850EB34}"/>
                  </a:ext>
                </a:extLst>
              </p:cNvPr>
              <p:cNvSpPr>
                <a:spLocks noGrp="1" noRot="1" noChangeAspect="1" noMove="1" noResize="1" noEditPoints="1" noAdjustHandles="1" noChangeArrowheads="1" noChangeShapeType="1" noTextEdit="1"/>
              </p:cNvSpPr>
              <p:nvPr/>
            </p:nvSpPr>
            <p:spPr>
              <a:xfrm>
                <a:off x="6334125" y="5457825"/>
                <a:ext cx="5095875" cy="428625"/>
              </a:xfrm>
              <a:prstGeom prst="rect">
                <a:avLst/>
              </a:prstGeom>
              <a:blipFill>
                <a:blip r:embed="rId5"/>
                <a:stretch>
                  <a:fillRect t="-4225" b="-21127"/>
                </a:stretch>
              </a:blipFill>
              <a:ln w="0">
                <a:noFill/>
              </a:ln>
            </p:spPr>
            <p:txBody>
              <a:bodyPr/>
              <a:lstStyle/>
              <a:p>
                <a:r>
                  <a:rPr lang="it-IT">
                    <a:noFill/>
                  </a:rPr>
                  <a:t> </a:t>
                </a:r>
              </a:p>
            </p:txBody>
          </p:sp>
        </mc:Fallback>
      </mc:AlternateContent>
      <p:graphicFrame>
        <p:nvGraphicFramePr>
          <p:cNvPr id="12" name="gd_state_0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6"/>
          </a:graphicData>
        </a:graphic>
      </p:graphicFrame>
      <mc:AlternateContent xmlns:mc="http://schemas.openxmlformats.org/markup-compatibility/2006" xmlns:a14="http://schemas.microsoft.com/office/drawing/2010/main">
        <mc:Choice Requires="a14">
          <p:sp>
            <p:nvSpPr>
              <p:cNvPr id="13" name="gd_state_0_iteration">
                <a:extLst>
                  <a:ext uri="{FF2B5EF4-FFF2-40B4-BE49-F238E27FC236}">
                    <a16:creationId xmlns:a16="http://schemas.microsoft.com/office/drawing/2014/main" id="{16DDEAE5-ACF3-4A9E-9750-CED5553BEF97}"/>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𝟎</m:t>
                      </m:r>
                    </m:oMath>
                  </m:oMathPara>
                </a14:m>
                <a:endParaRPr/>
              </a:p>
            </p:txBody>
          </p:sp>
        </mc:Choice>
        <mc:Fallback xmlns="">
          <p:sp>
            <p:nvSpPr>
              <p:cNvPr id="13" name="gd_state_0_iteration">
                <a:extLst>
                  <a:ext uri="{FF2B5EF4-FFF2-40B4-BE49-F238E27FC236}">
                    <a16:creationId xmlns:a16="http://schemas.microsoft.com/office/drawing/2014/main" id="{16DDEAE5-ACF3-4A9E-9750-CED5553BEF97}"/>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7"/>
                <a:stretch>
                  <a:fillRect b="-3279"/>
                </a:stretch>
              </a:blipFill>
              <a:ln w="0">
                <a:noFill/>
              </a:ln>
            </p:spPr>
            <p:txBody>
              <a:bodyPr/>
              <a:lstStyle/>
              <a:p>
                <a:r>
                  <a:rPr lang="it-IT">
                    <a:noFill/>
                  </a:rPr>
                  <a:t> </a:t>
                </a:r>
              </a:p>
            </p:txBody>
          </p:sp>
        </mc:Fallback>
      </mc:AlternateContent>
      <p:sp>
        <p:nvSpPr>
          <p:cNvPr id="14" name="gd_state_0_x_axis">
            <a:extLst>
              <a:ext uri="{FF2B5EF4-FFF2-40B4-BE49-F238E27FC236}">
                <a16:creationId xmlns:a16="http://schemas.microsoft.com/office/drawing/2014/main" id="{72ED6694-6582-457D-AA4D-F1BE1F5A24D1}"/>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mc:Choice xmlns:a14="http://schemas.microsoft.com/office/drawing/2010/main" Requires="a14">
          <p:sp>
            <p:nvSpPr>
              <p:cNvPr id="15" name="gd_state_0_left_readout" descr="\theta^{(0)}\approx-1.5000,\quad\mathcal{L}_{\mathrm{sq}}\left(\theta^{(0)}\right)\approx4.5000">
                <a:extLst>
                  <a:ext uri="{FF2B5EF4-FFF2-40B4-BE49-F238E27FC236}">
                    <a16:creationId xmlns:a16="http://schemas.microsoft.com/office/drawing/2014/main" id="{CE528721-9CB6-426F-B702-CA87643A5AC2}"/>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(0)</m:t>
                          </m:r>
                        </m:sup>
                      </m:sSup>
                      <m:r>
                        <a:rPr lang="en-GB" sz="2400">
                          <a:solidFill>
                            <a:srgbClr val="326CB2"/>
                          </a:solidFill>
                          <a:latin typeface="Cambria Math"/>
                          <a:ea typeface="Cambria Math"/>
                          <a:cs typeface="Cambria Math"/>
                        </a:rPr>
                        <m:t>≈−1.5000, 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sq</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(0)</m:t>
                              </m:r>
                            </m:sup>
                          </m:sSup>
                        </m:e>
                      </m:d>
                      <m:r>
                        <a:rPr lang="en-GB" sz="2400">
                          <a:solidFill>
                            <a:srgbClr val="326CB2"/>
                          </a:solidFill>
                          <a:latin typeface="Cambria Math"/>
                          <a:ea typeface="Cambria Math"/>
                          <a:cs typeface="Cambria Math"/>
                        </a:rPr>
                        <m:t>≈4.5000</m:t>
                      </m:r>
                    </m:oMath>
                  </m:oMathPara>
                </a14:m>
                <a:endParaRPr lang="en-GB" sz="2400"/>
              </a:p>
            </p:txBody>
          </p:sp>
        </mc:Choice>
        <mc:Fallback>
          <p:sp>
            <p:nvSpPr>
              <p:cNvPr id="15" name="gd_state_0_left_readout" descr="\theta^{(0)}\approx-1.5000,\quad\mathcal{L}_{\mathrm{sq}}\left(\theta^{(0)}\right)\approx4.5000">
                <a:extLst>
                  <a:ext uri="{FF2B5EF4-FFF2-40B4-BE49-F238E27FC236}">
                    <a16:creationId xmlns:a16="http://schemas.microsoft.com/office/drawing/2014/main" id="{CE528721-9CB6-426F-B702-CA87643A5AC2}"/>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6" name="gd_state_0_right_readout" descr="\theta^{(0)}\approx1.5000,\quad\mathcal{L}_{\mathrm{sq}}\left(\theta^{(0)}\right)\approx12.5000">
                <a:extLst>
                  <a:ext uri="{FF2B5EF4-FFF2-40B4-BE49-F238E27FC236}">
                    <a16:creationId xmlns:a16="http://schemas.microsoft.com/office/drawing/2014/main" id="{542B873D-C4E0-473C-BFEB-848E8C8B1714}"/>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(0)</m:t>
                          </m:r>
                        </m:sup>
                      </m:sSup>
                      <m:r>
                        <a:rPr lang="en-GB" sz="2400">
                          <a:solidFill>
                            <a:srgbClr val="C45C28"/>
                          </a:solidFill>
                          <a:latin typeface="Cambria Math"/>
                          <a:ea typeface="Cambria Math"/>
                          <a:cs typeface="Cambria Math"/>
                        </a:rPr>
                        <m:t>≈1.5000, 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sq</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(0)</m:t>
                              </m:r>
                            </m:sup>
                          </m:sSup>
                        </m:e>
                      </m:d>
                      <m:r>
                        <a:rPr lang="en-GB" sz="2400">
                          <a:solidFill>
                            <a:srgbClr val="C45C28"/>
                          </a:solidFill>
                          <a:latin typeface="Cambria Math"/>
                          <a:ea typeface="Cambria Math"/>
                          <a:cs typeface="Cambria Math"/>
                        </a:rPr>
                        <m:t>≈12.5000</m:t>
                      </m:r>
                    </m:oMath>
                  </m:oMathPara>
                </a14:m>
                <a:endParaRPr lang="en-GB" sz="2400"/>
              </a:p>
            </p:txBody>
          </p:sp>
        </mc:Choice>
        <mc:Fallback>
          <p:sp>
            <p:nvSpPr>
              <p:cNvPr id="16" name="gd_state_0_right_readout" descr="\theta^{(0)}\approx1.5000,\quad\mathcal{L}_{\mathrm{sq}}\left(\theta^{(0)}\right)\approx12.5000">
                <a:extLst>
                  <a:ext uri="{FF2B5EF4-FFF2-40B4-BE49-F238E27FC236}">
                    <a16:creationId xmlns:a16="http://schemas.microsoft.com/office/drawing/2014/main" id="{542B873D-C4E0-473C-BFEB-848E8C8B1714}"/>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9"/>
                <a:stretch>
                  <a:fillRect/>
                </a:stretch>
              </a:blipFill>
              <a:ln w="0">
                <a:noFill/>
              </a:ln>
            </p:spPr>
            <p:txBody>
              <a:bodyPr/>
              <a:lstStyle/>
              <a:p>
                <a:r>
                  <a:rPr lang="it-IT">
                    <a:noFill/>
                  </a:rPr>
                  <a:t> </a:t>
                </a:r>
              </a:p>
            </p:txBody>
          </p:sp>
        </mc:Fallback>
      </mc:AlternateContent>
      <p:graphicFrame>
        <p:nvGraphicFramePr>
          <p:cNvPr id="17" name="gd_state_1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10"/>
          </a:graphicData>
        </a:graphic>
      </p:graphicFrame>
      <mc:AlternateContent xmlns:mc="http://schemas.openxmlformats.org/markup-compatibility/2006" xmlns:a14="http://schemas.microsoft.com/office/drawing/2010/main">
        <mc:Choice Requires="a14">
          <p:sp>
            <p:nvSpPr>
              <p:cNvPr id="18" name="gd_state_1_iteration">
                <a:extLst>
                  <a:ext uri="{FF2B5EF4-FFF2-40B4-BE49-F238E27FC236}">
                    <a16:creationId xmlns:a16="http://schemas.microsoft.com/office/drawing/2014/main" id="{BF233E8A-3219-4BFC-B0F8-0EF9A639C600}"/>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𝟏</m:t>
                      </m:r>
                    </m:oMath>
                  </m:oMathPara>
                </a14:m>
                <a:endParaRPr/>
              </a:p>
            </p:txBody>
          </p:sp>
        </mc:Choice>
        <mc:Fallback xmlns="">
          <p:sp>
            <p:nvSpPr>
              <p:cNvPr id="18" name="gd_state_1_iteration">
                <a:extLst>
                  <a:ext uri="{FF2B5EF4-FFF2-40B4-BE49-F238E27FC236}">
                    <a16:creationId xmlns:a16="http://schemas.microsoft.com/office/drawing/2014/main" id="{BF233E8A-3219-4BFC-B0F8-0EF9A639C600}"/>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11"/>
                <a:stretch>
                  <a:fillRect b="-3279"/>
                </a:stretch>
              </a:blipFill>
              <a:ln w="0">
                <a:noFill/>
              </a:ln>
            </p:spPr>
            <p:txBody>
              <a:bodyPr/>
              <a:lstStyle/>
              <a:p>
                <a:r>
                  <a:rPr lang="it-IT">
                    <a:noFill/>
                  </a:rPr>
                  <a:t> </a:t>
                </a:r>
              </a:p>
            </p:txBody>
          </p:sp>
        </mc:Fallback>
      </mc:AlternateContent>
      <p:sp>
        <p:nvSpPr>
          <p:cNvPr id="19" name="gd_state_1_x_axis">
            <a:extLst>
              <a:ext uri="{FF2B5EF4-FFF2-40B4-BE49-F238E27FC236}">
                <a16:creationId xmlns:a16="http://schemas.microsoft.com/office/drawing/2014/main" id="{AF081915-8944-476F-A971-4EE78565396C}"/>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mc:Choice xmlns:a14="http://schemas.microsoft.com/office/drawing/2010/main" Requires="a14">
          <p:sp>
            <p:nvSpPr>
              <p:cNvPr id="20" name="gd_state_1_left_readout" descr="\theta^{(1)}\approx-1.8000,\quad\mathcal{L}_{\mathrm{sq}}\left(\theta^{(1)}\right)\approx2.8800">
                <a:extLst>
                  <a:ext uri="{FF2B5EF4-FFF2-40B4-BE49-F238E27FC236}">
                    <a16:creationId xmlns:a16="http://schemas.microsoft.com/office/drawing/2014/main" id="{2986B634-4EA4-445C-A7C3-8AE08C4988CA}"/>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(1)</m:t>
                          </m:r>
                        </m:sup>
                      </m:sSup>
                      <m:r>
                        <a:rPr lang="en-GB" sz="2400">
                          <a:solidFill>
                            <a:srgbClr val="326CB2"/>
                          </a:solidFill>
                          <a:latin typeface="Cambria Math"/>
                          <a:ea typeface="Cambria Math"/>
                          <a:cs typeface="Cambria Math"/>
                        </a:rPr>
                        <m:t>≈−1.8000, 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sq</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(1)</m:t>
                              </m:r>
                            </m:sup>
                          </m:sSup>
                        </m:e>
                      </m:d>
                      <m:r>
                        <a:rPr lang="en-GB" sz="2400">
                          <a:solidFill>
                            <a:srgbClr val="326CB2"/>
                          </a:solidFill>
                          <a:latin typeface="Cambria Math"/>
                          <a:ea typeface="Cambria Math"/>
                          <a:cs typeface="Cambria Math"/>
                        </a:rPr>
                        <m:t>≈2.8800</m:t>
                      </m:r>
                    </m:oMath>
                  </m:oMathPara>
                </a14:m>
                <a:endParaRPr lang="en-GB" sz="2400"/>
              </a:p>
            </p:txBody>
          </p:sp>
        </mc:Choice>
        <mc:Fallback>
          <p:sp>
            <p:nvSpPr>
              <p:cNvPr id="20" name="gd_state_1_left_readout" descr="\theta^{(1)}\approx-1.8000,\quad\mathcal{L}_{\mathrm{sq}}\left(\theta^{(1)}\right)\approx2.8800">
                <a:extLst>
                  <a:ext uri="{FF2B5EF4-FFF2-40B4-BE49-F238E27FC236}">
                    <a16:creationId xmlns:a16="http://schemas.microsoft.com/office/drawing/2014/main" id="{2986B634-4EA4-445C-A7C3-8AE08C4988CA}"/>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12"/>
                <a:stretch>
                  <a:fillRect/>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21" name="gd_state_1_right_readout" descr="\theta^{(1)}\approx1.8000,\quad\mathcal{L}_{\mathrm{sq}}\left(\theta^{(1)}\right)\approx10.8800">
                <a:extLst>
                  <a:ext uri="{FF2B5EF4-FFF2-40B4-BE49-F238E27FC236}">
                    <a16:creationId xmlns:a16="http://schemas.microsoft.com/office/drawing/2014/main" id="{FF8F7051-66A4-4159-91CD-00FDF8A7E17F}"/>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(1)</m:t>
                          </m:r>
                        </m:sup>
                      </m:sSup>
                      <m:r>
                        <a:rPr lang="en-GB" sz="2400">
                          <a:solidFill>
                            <a:srgbClr val="C45C28"/>
                          </a:solidFill>
                          <a:latin typeface="Cambria Math"/>
                          <a:ea typeface="Cambria Math"/>
                          <a:cs typeface="Cambria Math"/>
                        </a:rPr>
                        <m:t>≈1.8000, 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sq</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(1)</m:t>
                              </m:r>
                            </m:sup>
                          </m:sSup>
                        </m:e>
                      </m:d>
                      <m:r>
                        <a:rPr lang="en-GB" sz="2400">
                          <a:solidFill>
                            <a:srgbClr val="C45C28"/>
                          </a:solidFill>
                          <a:latin typeface="Cambria Math"/>
                          <a:ea typeface="Cambria Math"/>
                          <a:cs typeface="Cambria Math"/>
                        </a:rPr>
                        <m:t>≈10.8800</m:t>
                      </m:r>
                    </m:oMath>
                  </m:oMathPara>
                </a14:m>
                <a:endParaRPr lang="en-GB" sz="2400"/>
              </a:p>
            </p:txBody>
          </p:sp>
        </mc:Choice>
        <mc:Fallback>
          <p:sp>
            <p:nvSpPr>
              <p:cNvPr id="21" name="gd_state_1_right_readout" descr="\theta^{(1)}\approx1.8000,\quad\mathcal{L}_{\mathrm{sq}}\left(\theta^{(1)}\right)\approx10.8800">
                <a:extLst>
                  <a:ext uri="{FF2B5EF4-FFF2-40B4-BE49-F238E27FC236}">
                    <a16:creationId xmlns:a16="http://schemas.microsoft.com/office/drawing/2014/main" id="{FF8F7051-66A4-4159-91CD-00FDF8A7E17F}"/>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13"/>
                <a:stretch>
                  <a:fillRect/>
                </a:stretch>
              </a:blipFill>
              <a:ln w="0">
                <a:noFill/>
              </a:ln>
            </p:spPr>
            <p:txBody>
              <a:bodyPr/>
              <a:lstStyle/>
              <a:p>
                <a:r>
                  <a:rPr lang="it-IT">
                    <a:noFill/>
                  </a:rPr>
                  <a:t> </a:t>
                </a:r>
              </a:p>
            </p:txBody>
          </p:sp>
        </mc:Fallback>
      </mc:AlternateContent>
      <p:cxnSp>
        <p:nvCxnSpPr>
          <p:cNvPr id="22" name="gd_state_1_gd_left_step_0" descr="Gradient descent update: [-1.5, 4.5] to [-1.8, 2.880000000000001]"/>
          <p:cNvCxnSpPr/>
          <p:nvPr/>
        </p:nvCxnSpPr>
        <p:spPr>
          <a:xfrm flipH="1">
            <a:off x="4858131" y="4190048"/>
            <a:ext cx="296799" cy="250317"/>
          </a:xfrm>
          <a:prstGeom prst="line">
            <a:avLst/>
          </a:prstGeom>
          <a:ln w="17145" cap="rnd">
            <a:solidFill>
              <a:srgbClr val="326CB2"/>
            </a:solidFill>
            <a:headEnd type="none" w="sm" len="sm"/>
            <a:tailEnd type="triangle" w="sm" len="sm"/>
          </a:ln>
        </p:spPr>
      </p:cxnSp>
      <p:cxnSp>
        <p:nvCxnSpPr>
          <p:cNvPr id="23" name="gd_state_1_gd_right_step_0" descr="Gradient descent update: [1.5, 12.5] to [1.8, 10.880000000000003]"/>
          <p:cNvCxnSpPr/>
          <p:nvPr/>
        </p:nvCxnSpPr>
        <p:spPr>
          <a:xfrm>
            <a:off x="8122920" y="2953914"/>
            <a:ext cx="296799" cy="250317"/>
          </a:xfrm>
          <a:prstGeom prst="line">
            <a:avLst/>
          </a:prstGeom>
          <a:ln w="17145" cap="rnd">
            <a:solidFill>
              <a:srgbClr val="C45C28"/>
            </a:solidFill>
            <a:headEnd type="none" w="sm" len="sm"/>
            <a:tailEnd type="triangle" w="sm" len="sm"/>
          </a:ln>
        </p:spPr>
      </p:cxnSp>
      <p:graphicFrame>
        <p:nvGraphicFramePr>
          <p:cNvPr id="24" name="gd_state_2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14"/>
          </a:graphicData>
        </a:graphic>
      </p:graphicFrame>
      <mc:AlternateContent xmlns:mc="http://schemas.openxmlformats.org/markup-compatibility/2006" xmlns:a14="http://schemas.microsoft.com/office/drawing/2010/main">
        <mc:Choice Requires="a14">
          <p:sp>
            <p:nvSpPr>
              <p:cNvPr id="25" name="gd_state_2_iteration">
                <a:extLst>
                  <a:ext uri="{FF2B5EF4-FFF2-40B4-BE49-F238E27FC236}">
                    <a16:creationId xmlns:a16="http://schemas.microsoft.com/office/drawing/2014/main" id="{239E7536-A7C8-4C42-B633-165C3F16F8D6}"/>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𝟐</m:t>
                      </m:r>
                    </m:oMath>
                  </m:oMathPara>
                </a14:m>
                <a:endParaRPr/>
              </a:p>
            </p:txBody>
          </p:sp>
        </mc:Choice>
        <mc:Fallback xmlns="">
          <p:sp>
            <p:nvSpPr>
              <p:cNvPr id="25" name="gd_state_2_iteration">
                <a:extLst>
                  <a:ext uri="{FF2B5EF4-FFF2-40B4-BE49-F238E27FC236}">
                    <a16:creationId xmlns:a16="http://schemas.microsoft.com/office/drawing/2014/main" id="{239E7536-A7C8-4C42-B633-165C3F16F8D6}"/>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15"/>
                <a:stretch>
                  <a:fillRect b="-3279"/>
                </a:stretch>
              </a:blipFill>
              <a:ln w="0">
                <a:noFill/>
              </a:ln>
            </p:spPr>
            <p:txBody>
              <a:bodyPr/>
              <a:lstStyle/>
              <a:p>
                <a:r>
                  <a:rPr lang="it-IT">
                    <a:noFill/>
                  </a:rPr>
                  <a:t> </a:t>
                </a:r>
              </a:p>
            </p:txBody>
          </p:sp>
        </mc:Fallback>
      </mc:AlternateContent>
      <p:sp>
        <p:nvSpPr>
          <p:cNvPr id="26" name="gd_state_2_x_axis">
            <a:extLst>
              <a:ext uri="{FF2B5EF4-FFF2-40B4-BE49-F238E27FC236}">
                <a16:creationId xmlns:a16="http://schemas.microsoft.com/office/drawing/2014/main" id="{7F35995F-4B6D-424A-B962-1B0E3DB382CB}"/>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mc:Choice xmlns:a14="http://schemas.microsoft.com/office/drawing/2010/main" Requires="a14">
          <p:sp>
            <p:nvSpPr>
              <p:cNvPr id="27" name="gd_state_2_left_readout" descr="\theta^{(2)}\approx-2.0400,\quad\mathcal{L}_{\mathrm{sq}}\left(\theta^{(2)}\right)\approx1.8432">
                <a:extLst>
                  <a:ext uri="{FF2B5EF4-FFF2-40B4-BE49-F238E27FC236}">
                    <a16:creationId xmlns:a16="http://schemas.microsoft.com/office/drawing/2014/main" id="{F2E78FEE-226F-473C-973A-3A02DEF98386}"/>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(2)</m:t>
                          </m:r>
                        </m:sup>
                      </m:sSup>
                      <m:r>
                        <a:rPr lang="en-GB" sz="2400">
                          <a:solidFill>
                            <a:srgbClr val="326CB2"/>
                          </a:solidFill>
                          <a:latin typeface="Cambria Math"/>
                          <a:ea typeface="Cambria Math"/>
                          <a:cs typeface="Cambria Math"/>
                        </a:rPr>
                        <m:t>≈−2.0400, 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sq</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(2)</m:t>
                              </m:r>
                            </m:sup>
                          </m:sSup>
                        </m:e>
                      </m:d>
                      <m:r>
                        <a:rPr lang="en-GB" sz="2400">
                          <a:solidFill>
                            <a:srgbClr val="326CB2"/>
                          </a:solidFill>
                          <a:latin typeface="Cambria Math"/>
                          <a:ea typeface="Cambria Math"/>
                          <a:cs typeface="Cambria Math"/>
                        </a:rPr>
                        <m:t>≈1.8432</m:t>
                      </m:r>
                    </m:oMath>
                  </m:oMathPara>
                </a14:m>
                <a:endParaRPr lang="en-GB" sz="2400"/>
              </a:p>
            </p:txBody>
          </p:sp>
        </mc:Choice>
        <mc:Fallback>
          <p:sp>
            <p:nvSpPr>
              <p:cNvPr id="27" name="gd_state_2_left_readout" descr="\theta^{(2)}\approx-2.0400,\quad\mathcal{L}_{\mathrm{sq}}\left(\theta^{(2)}\right)\approx1.8432">
                <a:extLst>
                  <a:ext uri="{FF2B5EF4-FFF2-40B4-BE49-F238E27FC236}">
                    <a16:creationId xmlns:a16="http://schemas.microsoft.com/office/drawing/2014/main" id="{F2E78FEE-226F-473C-973A-3A02DEF98386}"/>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16"/>
                <a:stretch>
                  <a:fillRect/>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28" name="gd_state_2_right_readout" descr="\theta^{(2)}\approx2.0400,\quad\mathcal{L}_{\mathrm{sq}}\left(\theta^{(2)}\right)\approx9.8432">
                <a:extLst>
                  <a:ext uri="{FF2B5EF4-FFF2-40B4-BE49-F238E27FC236}">
                    <a16:creationId xmlns:a16="http://schemas.microsoft.com/office/drawing/2014/main" id="{58205133-1C52-40B8-93A1-7515059E312D}"/>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(2)</m:t>
                          </m:r>
                        </m:sup>
                      </m:sSup>
                      <m:r>
                        <a:rPr lang="en-GB" sz="2400">
                          <a:solidFill>
                            <a:srgbClr val="C45C28"/>
                          </a:solidFill>
                          <a:latin typeface="Cambria Math"/>
                          <a:ea typeface="Cambria Math"/>
                          <a:cs typeface="Cambria Math"/>
                        </a:rPr>
                        <m:t>≈2.0400, 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sq</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(2)</m:t>
                              </m:r>
                            </m:sup>
                          </m:sSup>
                        </m:e>
                      </m:d>
                      <m:r>
                        <a:rPr lang="en-GB" sz="2400">
                          <a:solidFill>
                            <a:srgbClr val="C45C28"/>
                          </a:solidFill>
                          <a:latin typeface="Cambria Math"/>
                          <a:ea typeface="Cambria Math"/>
                          <a:cs typeface="Cambria Math"/>
                        </a:rPr>
                        <m:t>≈9.8432</m:t>
                      </m:r>
                    </m:oMath>
                  </m:oMathPara>
                </a14:m>
                <a:endParaRPr lang="en-GB" sz="2400"/>
              </a:p>
            </p:txBody>
          </p:sp>
        </mc:Choice>
        <mc:Fallback>
          <p:sp>
            <p:nvSpPr>
              <p:cNvPr id="28" name="gd_state_2_right_readout" descr="\theta^{(2)}\approx2.0400,\quad\mathcal{L}_{\mathrm{sq}}\left(\theta^{(2)}\right)\approx9.8432">
                <a:extLst>
                  <a:ext uri="{FF2B5EF4-FFF2-40B4-BE49-F238E27FC236}">
                    <a16:creationId xmlns:a16="http://schemas.microsoft.com/office/drawing/2014/main" id="{58205133-1C52-40B8-93A1-7515059E312D}"/>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17"/>
                <a:stretch>
                  <a:fillRect/>
                </a:stretch>
              </a:blipFill>
              <a:ln w="0">
                <a:noFill/>
              </a:ln>
            </p:spPr>
            <p:txBody>
              <a:bodyPr/>
              <a:lstStyle/>
              <a:p>
                <a:r>
                  <a:rPr lang="it-IT">
                    <a:noFill/>
                  </a:rPr>
                  <a:t> </a:t>
                </a:r>
              </a:p>
            </p:txBody>
          </p:sp>
        </mc:Fallback>
      </mc:AlternateContent>
      <p:cxnSp>
        <p:nvCxnSpPr>
          <p:cNvPr id="29" name="gd_state_2_gd_left_step_0" descr="Gradient descent update: [-1.5, 4.5] to [-1.8, 2.880000000000001]"/>
          <p:cNvCxnSpPr/>
          <p:nvPr/>
        </p:nvCxnSpPr>
        <p:spPr>
          <a:xfrm flipH="1">
            <a:off x="4858131" y="4190048"/>
            <a:ext cx="296799" cy="250317"/>
          </a:xfrm>
          <a:prstGeom prst="line">
            <a:avLst/>
          </a:prstGeom>
          <a:ln w="17145" cap="rnd">
            <a:solidFill>
              <a:srgbClr val="326CB2"/>
            </a:solidFill>
            <a:headEnd type="none" w="sm" len="sm"/>
            <a:tailEnd type="triangle" w="sm" len="sm"/>
          </a:ln>
        </p:spPr>
      </p:cxnSp>
      <p:cxnSp>
        <p:nvCxnSpPr>
          <p:cNvPr id="30" name="gd_state_2_gd_left_step_1" descr="Gradient descent update: [-1.8, 2.880000000000001] to [-2.04, 1.8432]"/>
          <p:cNvCxnSpPr/>
          <p:nvPr/>
        </p:nvCxnSpPr>
        <p:spPr>
          <a:xfrm flipH="1">
            <a:off x="4620692" y="4440364"/>
            <a:ext cx="237439" cy="160203"/>
          </a:xfrm>
          <a:prstGeom prst="line">
            <a:avLst/>
          </a:prstGeom>
          <a:ln w="17145" cap="rnd">
            <a:solidFill>
              <a:srgbClr val="326CB2"/>
            </a:solidFill>
            <a:headEnd type="none" w="sm" len="sm"/>
            <a:tailEnd type="triangle" w="sm" len="sm"/>
          </a:ln>
        </p:spPr>
      </p:cxnSp>
      <p:cxnSp>
        <p:nvCxnSpPr>
          <p:cNvPr id="31" name="gd_state_2_gd_right_step_0" descr="Gradient descent update: [1.5, 12.5] to [1.8, 10.880000000000003]"/>
          <p:cNvCxnSpPr/>
          <p:nvPr/>
        </p:nvCxnSpPr>
        <p:spPr>
          <a:xfrm>
            <a:off x="8122920" y="2953914"/>
            <a:ext cx="296799" cy="250317"/>
          </a:xfrm>
          <a:prstGeom prst="line">
            <a:avLst/>
          </a:prstGeom>
          <a:ln w="17145" cap="rnd">
            <a:solidFill>
              <a:srgbClr val="C45C28"/>
            </a:solidFill>
            <a:headEnd type="none" w="sm" len="sm"/>
            <a:tailEnd type="triangle" w="sm" len="sm"/>
          </a:ln>
        </p:spPr>
      </p:cxnSp>
      <p:cxnSp>
        <p:nvCxnSpPr>
          <p:cNvPr id="32" name="gd_state_2_gd_right_step_1" descr="Gradient descent update: [1.8, 10.880000000000003] to [2.04, 9.8432]"/>
          <p:cNvCxnSpPr/>
          <p:nvPr/>
        </p:nvCxnSpPr>
        <p:spPr>
          <a:xfrm>
            <a:off x="8419719" y="3204231"/>
            <a:ext cx="237439" cy="160203"/>
          </a:xfrm>
          <a:prstGeom prst="line">
            <a:avLst/>
          </a:prstGeom>
          <a:ln w="17145" cap="rnd">
            <a:solidFill>
              <a:srgbClr val="C45C28"/>
            </a:solidFill>
            <a:headEnd type="none" w="sm" len="sm"/>
            <a:tailEnd type="triangle" w="sm" len="sm"/>
          </a:ln>
        </p:spPr>
      </p:cxnSp>
      <p:graphicFrame>
        <p:nvGraphicFramePr>
          <p:cNvPr id="33" name="gd_state_5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18"/>
          </a:graphicData>
        </a:graphic>
      </p:graphicFrame>
      <mc:AlternateContent xmlns:mc="http://schemas.openxmlformats.org/markup-compatibility/2006" xmlns:a14="http://schemas.microsoft.com/office/drawing/2010/main">
        <mc:Choice Requires="a14">
          <p:sp>
            <p:nvSpPr>
              <p:cNvPr id="34" name="gd_state_5_iteration">
                <a:extLst>
                  <a:ext uri="{FF2B5EF4-FFF2-40B4-BE49-F238E27FC236}">
                    <a16:creationId xmlns:a16="http://schemas.microsoft.com/office/drawing/2014/main" id="{60B43031-5DA1-4E4D-8551-A5B651E35A81}"/>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𝟓</m:t>
                      </m:r>
                    </m:oMath>
                  </m:oMathPara>
                </a14:m>
                <a:endParaRPr/>
              </a:p>
            </p:txBody>
          </p:sp>
        </mc:Choice>
        <mc:Fallback xmlns="">
          <p:sp>
            <p:nvSpPr>
              <p:cNvPr id="34" name="gd_state_5_iteration">
                <a:extLst>
                  <a:ext uri="{FF2B5EF4-FFF2-40B4-BE49-F238E27FC236}">
                    <a16:creationId xmlns:a16="http://schemas.microsoft.com/office/drawing/2014/main" id="{60B43031-5DA1-4E4D-8551-A5B651E35A81}"/>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19"/>
                <a:stretch>
                  <a:fillRect b="-3279"/>
                </a:stretch>
              </a:blipFill>
              <a:ln w="0">
                <a:noFill/>
              </a:ln>
            </p:spPr>
            <p:txBody>
              <a:bodyPr/>
              <a:lstStyle/>
              <a:p>
                <a:r>
                  <a:rPr lang="it-IT">
                    <a:noFill/>
                  </a:rPr>
                  <a:t> </a:t>
                </a:r>
              </a:p>
            </p:txBody>
          </p:sp>
        </mc:Fallback>
      </mc:AlternateContent>
      <p:sp>
        <p:nvSpPr>
          <p:cNvPr id="35" name="gd_state_5_x_axis">
            <a:extLst>
              <a:ext uri="{FF2B5EF4-FFF2-40B4-BE49-F238E27FC236}">
                <a16:creationId xmlns:a16="http://schemas.microsoft.com/office/drawing/2014/main" id="{05F0052B-06B7-4F12-AD51-48D7979385AC}"/>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mc:Choice xmlns:a14="http://schemas.microsoft.com/office/drawing/2010/main" Requires="a14">
          <p:sp>
            <p:nvSpPr>
              <p:cNvPr id="36" name="gd_state_5_left_readout" descr="\theta^{(5)}\approx-2.5085,\quad\mathcal{L}_{\mathrm{sq}}\left(\theta^{(5)}\right)\approx0.4832">
                <a:extLst>
                  <a:ext uri="{FF2B5EF4-FFF2-40B4-BE49-F238E27FC236}">
                    <a16:creationId xmlns:a16="http://schemas.microsoft.com/office/drawing/2014/main" id="{C9883D52-44B4-4916-9557-F4F1D5840A20}"/>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(5)</m:t>
                          </m:r>
                        </m:sup>
                      </m:sSup>
                      <m:r>
                        <a:rPr lang="en-GB" sz="2400">
                          <a:solidFill>
                            <a:srgbClr val="326CB2"/>
                          </a:solidFill>
                          <a:latin typeface="Cambria Math"/>
                          <a:ea typeface="Cambria Math"/>
                          <a:cs typeface="Cambria Math"/>
                        </a:rPr>
                        <m:t>≈−2.5085, 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sq</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(5)</m:t>
                              </m:r>
                            </m:sup>
                          </m:sSup>
                        </m:e>
                      </m:d>
                      <m:r>
                        <a:rPr lang="en-GB" sz="2400">
                          <a:solidFill>
                            <a:srgbClr val="326CB2"/>
                          </a:solidFill>
                          <a:latin typeface="Cambria Math"/>
                          <a:ea typeface="Cambria Math"/>
                          <a:cs typeface="Cambria Math"/>
                        </a:rPr>
                        <m:t>≈0.4832</m:t>
                      </m:r>
                    </m:oMath>
                  </m:oMathPara>
                </a14:m>
                <a:endParaRPr lang="en-GB" sz="2400"/>
              </a:p>
            </p:txBody>
          </p:sp>
        </mc:Choice>
        <mc:Fallback>
          <p:sp>
            <p:nvSpPr>
              <p:cNvPr id="36" name="gd_state_5_left_readout" descr="\theta^{(5)}\approx-2.5085,\quad\mathcal{L}_{\mathrm{sq}}\left(\theta^{(5)}\right)\approx0.4832">
                <a:extLst>
                  <a:ext uri="{FF2B5EF4-FFF2-40B4-BE49-F238E27FC236}">
                    <a16:creationId xmlns:a16="http://schemas.microsoft.com/office/drawing/2014/main" id="{C9883D52-44B4-4916-9557-F4F1D5840A20}"/>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20"/>
                <a:stretch>
                  <a:fillRect/>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37" name="gd_state_5_right_readout" descr="\theta^{(5)}\approx2.5085,\quad\mathcal{L}_{\mathrm{sq}}\left(\theta^{(5)}\right)\approx8.4832">
                <a:extLst>
                  <a:ext uri="{FF2B5EF4-FFF2-40B4-BE49-F238E27FC236}">
                    <a16:creationId xmlns:a16="http://schemas.microsoft.com/office/drawing/2014/main" id="{1EDEAA0B-8E3D-41D5-B914-7BC72AEBBCB9}"/>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(5)</m:t>
                          </m:r>
                        </m:sup>
                      </m:sSup>
                      <m:r>
                        <a:rPr lang="en-GB" sz="2400">
                          <a:solidFill>
                            <a:srgbClr val="C45C28"/>
                          </a:solidFill>
                          <a:latin typeface="Cambria Math"/>
                          <a:ea typeface="Cambria Math"/>
                          <a:cs typeface="Cambria Math"/>
                        </a:rPr>
                        <m:t>≈2.5085, 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sq</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(5)</m:t>
                              </m:r>
                            </m:sup>
                          </m:sSup>
                        </m:e>
                      </m:d>
                      <m:r>
                        <a:rPr lang="en-GB" sz="2400">
                          <a:solidFill>
                            <a:srgbClr val="C45C28"/>
                          </a:solidFill>
                          <a:latin typeface="Cambria Math"/>
                          <a:ea typeface="Cambria Math"/>
                          <a:cs typeface="Cambria Math"/>
                        </a:rPr>
                        <m:t>≈8.4832</m:t>
                      </m:r>
                    </m:oMath>
                  </m:oMathPara>
                </a14:m>
                <a:endParaRPr lang="en-GB" sz="2400"/>
              </a:p>
            </p:txBody>
          </p:sp>
        </mc:Choice>
        <mc:Fallback>
          <p:sp>
            <p:nvSpPr>
              <p:cNvPr id="37" name="gd_state_5_right_readout" descr="\theta^{(5)}\approx2.5085,\quad\mathcal{L}_{\mathrm{sq}}\left(\theta^{(5)}\right)\approx8.4832">
                <a:extLst>
                  <a:ext uri="{FF2B5EF4-FFF2-40B4-BE49-F238E27FC236}">
                    <a16:creationId xmlns:a16="http://schemas.microsoft.com/office/drawing/2014/main" id="{1EDEAA0B-8E3D-41D5-B914-7BC72AEBBCB9}"/>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21"/>
                <a:stretch>
                  <a:fillRect/>
                </a:stretch>
              </a:blipFill>
              <a:ln w="0">
                <a:noFill/>
              </a:ln>
            </p:spPr>
            <p:txBody>
              <a:bodyPr/>
              <a:lstStyle/>
              <a:p>
                <a:r>
                  <a:rPr lang="it-IT">
                    <a:noFill/>
                  </a:rPr>
                  <a:t> </a:t>
                </a:r>
              </a:p>
            </p:txBody>
          </p:sp>
        </mc:Fallback>
      </mc:AlternateContent>
      <p:cxnSp>
        <p:nvCxnSpPr>
          <p:cNvPr id="38" name="gd_state_5_gd_left_step_0" descr="Gradient descent update: [-1.5, 4.5] to [-1.8, 2.880000000000001]"/>
          <p:cNvCxnSpPr/>
          <p:nvPr/>
        </p:nvCxnSpPr>
        <p:spPr>
          <a:xfrm flipH="1">
            <a:off x="4858131" y="4190048"/>
            <a:ext cx="296799" cy="250317"/>
          </a:xfrm>
          <a:prstGeom prst="line">
            <a:avLst/>
          </a:prstGeom>
          <a:ln w="17145" cap="rnd">
            <a:solidFill>
              <a:srgbClr val="326CB2"/>
            </a:solidFill>
            <a:headEnd type="none" w="sm" len="sm"/>
            <a:tailEnd type="triangle" w="sm" len="sm"/>
          </a:ln>
        </p:spPr>
      </p:cxnSp>
      <p:cxnSp>
        <p:nvCxnSpPr>
          <p:cNvPr id="39" name="gd_state_5_gd_left_step_1" descr="Gradient descent update: [-1.8, 2.880000000000001] to [-2.04, 1.8432]"/>
          <p:cNvCxnSpPr/>
          <p:nvPr/>
        </p:nvCxnSpPr>
        <p:spPr>
          <a:xfrm flipH="1">
            <a:off x="4620692" y="4440364"/>
            <a:ext cx="237439" cy="160203"/>
          </a:xfrm>
          <a:prstGeom prst="line">
            <a:avLst/>
          </a:prstGeom>
          <a:ln w="17145" cap="rnd">
            <a:solidFill>
              <a:srgbClr val="326CB2"/>
            </a:solidFill>
            <a:headEnd type="none" w="sm" len="sm"/>
            <a:tailEnd type="triangle" w="sm" len="sm"/>
          </a:ln>
        </p:spPr>
      </p:cxnSp>
      <p:cxnSp>
        <p:nvCxnSpPr>
          <p:cNvPr id="40" name="gd_state_5_gd_left_step_2" descr="Gradient descent update: [-2.04, 1.8432] to [-2.232, 1.1796479999999994]"/>
          <p:cNvCxnSpPr/>
          <p:nvPr/>
        </p:nvCxnSpPr>
        <p:spPr>
          <a:xfrm flipH="1">
            <a:off x="4430740" y="4600567"/>
            <a:ext cx="189951" cy="102530"/>
          </a:xfrm>
          <a:prstGeom prst="line">
            <a:avLst/>
          </a:prstGeom>
          <a:ln w="17145" cap="rnd">
            <a:solidFill>
              <a:srgbClr val="326CB2"/>
            </a:solidFill>
            <a:headEnd type="none" w="sm" len="sm"/>
            <a:tailEnd type="triangle" w="sm" len="sm"/>
          </a:ln>
        </p:spPr>
      </p:cxnSp>
      <p:cxnSp>
        <p:nvCxnSpPr>
          <p:cNvPr id="41" name="gd_state_5_gd_left_step_3" descr="Gradient descent update: [-2.232, 1.1796479999999994] to [-2.3856, 0.7549747199999995]"/>
          <p:cNvCxnSpPr/>
          <p:nvPr/>
        </p:nvCxnSpPr>
        <p:spPr>
          <a:xfrm flipH="1">
            <a:off x="4278779" y="4703097"/>
            <a:ext cx="151961" cy="65619"/>
          </a:xfrm>
          <a:prstGeom prst="line">
            <a:avLst/>
          </a:prstGeom>
          <a:ln w="17145" cap="rnd">
            <a:solidFill>
              <a:srgbClr val="326CB2"/>
            </a:solidFill>
            <a:headEnd type="none" w="sm" len="sm"/>
            <a:tailEnd type="triangle" w="sm" len="sm"/>
          </a:ln>
        </p:spPr>
      </p:cxnSp>
      <p:cxnSp>
        <p:nvCxnSpPr>
          <p:cNvPr id="42" name="gd_state_5_gd_left_step_4" descr="Gradient descent update: [-2.3856, 0.7549747199999995] to [-2.50848, 0.48318382079999994]"/>
          <p:cNvCxnSpPr/>
          <p:nvPr/>
        </p:nvCxnSpPr>
        <p:spPr>
          <a:xfrm flipH="1">
            <a:off x="4157210" y="4768716"/>
            <a:ext cx="121569" cy="41996"/>
          </a:xfrm>
          <a:prstGeom prst="line">
            <a:avLst/>
          </a:prstGeom>
          <a:ln w="17145" cap="rnd">
            <a:solidFill>
              <a:srgbClr val="326CB2"/>
            </a:solidFill>
            <a:headEnd type="none" w="sm" len="sm"/>
            <a:tailEnd type="triangle" w="sm" len="sm"/>
          </a:ln>
        </p:spPr>
      </p:cxnSp>
      <p:cxnSp>
        <p:nvCxnSpPr>
          <p:cNvPr id="43" name="gd_state_5_gd_right_step_0" descr="Gradient descent update: [1.5, 12.5] to [1.8, 10.880000000000003]"/>
          <p:cNvCxnSpPr/>
          <p:nvPr/>
        </p:nvCxnSpPr>
        <p:spPr>
          <a:xfrm>
            <a:off x="8122920" y="2953914"/>
            <a:ext cx="296799" cy="250317"/>
          </a:xfrm>
          <a:prstGeom prst="line">
            <a:avLst/>
          </a:prstGeom>
          <a:ln w="17145" cap="rnd">
            <a:solidFill>
              <a:srgbClr val="C45C28"/>
            </a:solidFill>
            <a:headEnd type="none" w="sm" len="sm"/>
            <a:tailEnd type="triangle" w="sm" len="sm"/>
          </a:ln>
        </p:spPr>
      </p:cxnSp>
      <p:cxnSp>
        <p:nvCxnSpPr>
          <p:cNvPr id="44" name="gd_state_5_gd_right_step_1" descr="Gradient descent update: [1.8, 10.880000000000003] to [2.04, 9.8432]"/>
          <p:cNvCxnSpPr/>
          <p:nvPr/>
        </p:nvCxnSpPr>
        <p:spPr>
          <a:xfrm>
            <a:off x="8419719" y="3204231"/>
            <a:ext cx="237439" cy="160203"/>
          </a:xfrm>
          <a:prstGeom prst="line">
            <a:avLst/>
          </a:prstGeom>
          <a:ln w="17145" cap="rnd">
            <a:solidFill>
              <a:srgbClr val="C45C28"/>
            </a:solidFill>
            <a:headEnd type="none" w="sm" len="sm"/>
            <a:tailEnd type="triangle" w="sm" len="sm"/>
          </a:ln>
        </p:spPr>
      </p:cxnSp>
      <p:cxnSp>
        <p:nvCxnSpPr>
          <p:cNvPr id="45" name="gd_state_5_gd_right_step_2" descr="Gradient descent update: [2.04, 9.8432] to [2.232, 9.179648]"/>
          <p:cNvCxnSpPr/>
          <p:nvPr/>
        </p:nvCxnSpPr>
        <p:spPr>
          <a:xfrm>
            <a:off x="8657158" y="3364434"/>
            <a:ext cx="189951" cy="102530"/>
          </a:xfrm>
          <a:prstGeom prst="line">
            <a:avLst/>
          </a:prstGeom>
          <a:ln w="17145" cap="rnd">
            <a:solidFill>
              <a:srgbClr val="C45C28"/>
            </a:solidFill>
            <a:headEnd type="none" w="sm" len="sm"/>
            <a:tailEnd type="triangle" w="sm" len="sm"/>
          </a:ln>
        </p:spPr>
      </p:cxnSp>
      <p:cxnSp>
        <p:nvCxnSpPr>
          <p:cNvPr id="46" name="gd_state_5_gd_right_step_3" descr="Gradient descent update: [2.232, 9.179648] to [2.3856, 8.75497472]"/>
          <p:cNvCxnSpPr/>
          <p:nvPr/>
        </p:nvCxnSpPr>
        <p:spPr>
          <a:xfrm>
            <a:off x="8847110" y="3466964"/>
            <a:ext cx="151961" cy="65619"/>
          </a:xfrm>
          <a:prstGeom prst="line">
            <a:avLst/>
          </a:prstGeom>
          <a:ln w="17145" cap="rnd">
            <a:solidFill>
              <a:srgbClr val="C45C28"/>
            </a:solidFill>
            <a:headEnd type="none" w="sm" len="sm"/>
            <a:tailEnd type="triangle" w="sm" len="sm"/>
          </a:ln>
        </p:spPr>
      </p:cxnSp>
      <p:cxnSp>
        <p:nvCxnSpPr>
          <p:cNvPr id="47" name="gd_state_5_gd_right_step_4" descr="Gradient descent update: [2.3856, 8.75497472] to [2.50848, 8.4831838208]"/>
          <p:cNvCxnSpPr/>
          <p:nvPr/>
        </p:nvCxnSpPr>
        <p:spPr>
          <a:xfrm>
            <a:off x="8999071" y="3532583"/>
            <a:ext cx="121569" cy="41996"/>
          </a:xfrm>
          <a:prstGeom prst="line">
            <a:avLst/>
          </a:prstGeom>
          <a:ln w="17145" cap="rnd">
            <a:solidFill>
              <a:srgbClr val="C45C28"/>
            </a:solidFill>
            <a:headEnd type="none" w="sm" len="sm"/>
            <a:tailEnd type="triangle" w="sm" len="sm"/>
          </a:ln>
        </p:spPr>
      </p:cxnSp>
      <p:graphicFrame>
        <p:nvGraphicFramePr>
          <p:cNvPr id="48" name="gd_state_10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22"/>
          </a:graphicData>
        </a:graphic>
      </p:graphicFrame>
      <mc:AlternateContent xmlns:mc="http://schemas.openxmlformats.org/markup-compatibility/2006" xmlns:a14="http://schemas.microsoft.com/office/drawing/2010/main">
        <mc:Choice Requires="a14">
          <p:sp>
            <p:nvSpPr>
              <p:cNvPr id="49" name="gd_state_10_iteration">
                <a:extLst>
                  <a:ext uri="{FF2B5EF4-FFF2-40B4-BE49-F238E27FC236}">
                    <a16:creationId xmlns:a16="http://schemas.microsoft.com/office/drawing/2014/main" id="{90333312-3ECE-4793-A31C-9507394C6CB5}"/>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𝟏𝟎</m:t>
                      </m:r>
                    </m:oMath>
                  </m:oMathPara>
                </a14:m>
                <a:endParaRPr/>
              </a:p>
            </p:txBody>
          </p:sp>
        </mc:Choice>
        <mc:Fallback xmlns="">
          <p:sp>
            <p:nvSpPr>
              <p:cNvPr id="49" name="gd_state_10_iteration">
                <a:extLst>
                  <a:ext uri="{FF2B5EF4-FFF2-40B4-BE49-F238E27FC236}">
                    <a16:creationId xmlns:a16="http://schemas.microsoft.com/office/drawing/2014/main" id="{90333312-3ECE-4793-A31C-9507394C6CB5}"/>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23"/>
                <a:stretch>
                  <a:fillRect b="-3279"/>
                </a:stretch>
              </a:blipFill>
              <a:ln w="0">
                <a:noFill/>
              </a:ln>
            </p:spPr>
            <p:txBody>
              <a:bodyPr/>
              <a:lstStyle/>
              <a:p>
                <a:r>
                  <a:rPr lang="it-IT">
                    <a:noFill/>
                  </a:rPr>
                  <a:t> </a:t>
                </a:r>
              </a:p>
            </p:txBody>
          </p:sp>
        </mc:Fallback>
      </mc:AlternateContent>
      <p:sp>
        <p:nvSpPr>
          <p:cNvPr id="50" name="gd_state_10_x_axis">
            <a:extLst>
              <a:ext uri="{FF2B5EF4-FFF2-40B4-BE49-F238E27FC236}">
                <a16:creationId xmlns:a16="http://schemas.microsoft.com/office/drawing/2014/main" id="{1141A245-9A33-4AD5-8531-A8BC08BE9EFB}"/>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mc:Choice xmlns:a14="http://schemas.microsoft.com/office/drawing/2010/main" Requires="a14">
          <p:sp>
            <p:nvSpPr>
              <p:cNvPr id="51" name="gd_state_10_left_readout" descr="\theta^{(10)}\approx-2.8389,\quad\mathcal{L}_{\mathrm{sq}}\left(\theta^{(10)}\right)\approx0.0519">
                <a:extLst>
                  <a:ext uri="{FF2B5EF4-FFF2-40B4-BE49-F238E27FC236}">
                    <a16:creationId xmlns:a16="http://schemas.microsoft.com/office/drawing/2014/main" id="{6BB82FB0-4B42-4B6D-923F-9526731E4924}"/>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(10)</m:t>
                          </m:r>
                        </m:sup>
                      </m:sSup>
                      <m:r>
                        <a:rPr lang="en-GB" sz="2400">
                          <a:solidFill>
                            <a:srgbClr val="326CB2"/>
                          </a:solidFill>
                          <a:latin typeface="Cambria Math"/>
                          <a:ea typeface="Cambria Math"/>
                          <a:cs typeface="Cambria Math"/>
                        </a:rPr>
                        <m:t>≈−2.8389, 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sq</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(10)</m:t>
                              </m:r>
                            </m:sup>
                          </m:sSup>
                        </m:e>
                      </m:d>
                      <m:r>
                        <a:rPr lang="en-GB" sz="2400">
                          <a:solidFill>
                            <a:srgbClr val="326CB2"/>
                          </a:solidFill>
                          <a:latin typeface="Cambria Math"/>
                          <a:ea typeface="Cambria Math"/>
                          <a:cs typeface="Cambria Math"/>
                        </a:rPr>
                        <m:t>≈0.0519</m:t>
                      </m:r>
                    </m:oMath>
                  </m:oMathPara>
                </a14:m>
                <a:endParaRPr lang="en-GB" sz="2400"/>
              </a:p>
            </p:txBody>
          </p:sp>
        </mc:Choice>
        <mc:Fallback>
          <p:sp>
            <p:nvSpPr>
              <p:cNvPr id="51" name="gd_state_10_left_readout" descr="\theta^{(10)}\approx-2.8389,\quad\mathcal{L}_{\mathrm{sq}}\left(\theta^{(10)}\right)\approx0.0519">
                <a:extLst>
                  <a:ext uri="{FF2B5EF4-FFF2-40B4-BE49-F238E27FC236}">
                    <a16:creationId xmlns:a16="http://schemas.microsoft.com/office/drawing/2014/main" id="{6BB82FB0-4B42-4B6D-923F-9526731E4924}"/>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24"/>
                <a:stretch>
                  <a:fillRect/>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2" name="gd_state_10_right_readout" descr="\theta^{(10)}\approx2.8389,\quad\mathcal{L}_{\mathrm{sq}}\left(\theta^{(10)}\right)\approx8.0519">
                <a:extLst>
                  <a:ext uri="{FF2B5EF4-FFF2-40B4-BE49-F238E27FC236}">
                    <a16:creationId xmlns:a16="http://schemas.microsoft.com/office/drawing/2014/main" id="{AAA8C2D6-C01A-4ACA-9544-EAD968FC615D}"/>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(10)</m:t>
                          </m:r>
                        </m:sup>
                      </m:sSup>
                      <m:r>
                        <a:rPr lang="en-GB" sz="2400">
                          <a:solidFill>
                            <a:srgbClr val="C45C28"/>
                          </a:solidFill>
                          <a:latin typeface="Cambria Math"/>
                          <a:ea typeface="Cambria Math"/>
                          <a:cs typeface="Cambria Math"/>
                        </a:rPr>
                        <m:t>≈2.8389, 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sq</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(10)</m:t>
                              </m:r>
                            </m:sup>
                          </m:sSup>
                        </m:e>
                      </m:d>
                      <m:r>
                        <a:rPr lang="en-GB" sz="2400">
                          <a:solidFill>
                            <a:srgbClr val="C45C28"/>
                          </a:solidFill>
                          <a:latin typeface="Cambria Math"/>
                          <a:ea typeface="Cambria Math"/>
                          <a:cs typeface="Cambria Math"/>
                        </a:rPr>
                        <m:t>≈8.0519</m:t>
                      </m:r>
                    </m:oMath>
                  </m:oMathPara>
                </a14:m>
                <a:endParaRPr lang="en-GB" sz="2400"/>
              </a:p>
            </p:txBody>
          </p:sp>
        </mc:Choice>
        <mc:Fallback>
          <p:sp>
            <p:nvSpPr>
              <p:cNvPr id="52" name="gd_state_10_right_readout" descr="\theta^{(10)}\approx2.8389,\quad\mathcal{L}_{\mathrm{sq}}\left(\theta^{(10)}\right)\approx8.0519">
                <a:extLst>
                  <a:ext uri="{FF2B5EF4-FFF2-40B4-BE49-F238E27FC236}">
                    <a16:creationId xmlns:a16="http://schemas.microsoft.com/office/drawing/2014/main" id="{AAA8C2D6-C01A-4ACA-9544-EAD968FC615D}"/>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25"/>
                <a:stretch>
                  <a:fillRect/>
                </a:stretch>
              </a:blipFill>
              <a:ln w="0">
                <a:noFill/>
              </a:ln>
            </p:spPr>
            <p:txBody>
              <a:bodyPr/>
              <a:lstStyle/>
              <a:p>
                <a:r>
                  <a:rPr lang="it-IT">
                    <a:noFill/>
                  </a:rPr>
                  <a:t> </a:t>
                </a:r>
              </a:p>
            </p:txBody>
          </p:sp>
        </mc:Fallback>
      </mc:AlternateContent>
      <p:cxnSp>
        <p:nvCxnSpPr>
          <p:cNvPr id="53" name="gd_state_10_gd_left_step_0" descr="Gradient descent update: [-1.5, 4.5] to [-1.8, 2.880000000000001]"/>
          <p:cNvCxnSpPr/>
          <p:nvPr/>
        </p:nvCxnSpPr>
        <p:spPr>
          <a:xfrm flipH="1">
            <a:off x="4858131" y="4190048"/>
            <a:ext cx="296799" cy="250317"/>
          </a:xfrm>
          <a:prstGeom prst="line">
            <a:avLst/>
          </a:prstGeom>
          <a:ln w="17145" cap="rnd">
            <a:solidFill>
              <a:srgbClr val="326CB2"/>
            </a:solidFill>
            <a:headEnd type="none" w="sm" len="sm"/>
            <a:tailEnd type="triangle" w="sm" len="sm"/>
          </a:ln>
        </p:spPr>
      </p:cxnSp>
      <p:cxnSp>
        <p:nvCxnSpPr>
          <p:cNvPr id="54" name="gd_state_10_gd_left_step_1" descr="Gradient descent update: [-1.8, 2.880000000000001] to [-2.04, 1.8432]"/>
          <p:cNvCxnSpPr/>
          <p:nvPr/>
        </p:nvCxnSpPr>
        <p:spPr>
          <a:xfrm flipH="1">
            <a:off x="4620692" y="4440364"/>
            <a:ext cx="237439" cy="160203"/>
          </a:xfrm>
          <a:prstGeom prst="line">
            <a:avLst/>
          </a:prstGeom>
          <a:ln w="17145" cap="rnd">
            <a:solidFill>
              <a:srgbClr val="326CB2"/>
            </a:solidFill>
            <a:headEnd type="none" w="sm" len="sm"/>
            <a:tailEnd type="triangle" w="sm" len="sm"/>
          </a:ln>
        </p:spPr>
      </p:cxnSp>
      <p:cxnSp>
        <p:nvCxnSpPr>
          <p:cNvPr id="55" name="gd_state_10_gd_left_step_2" descr="Gradient descent update: [-2.04, 1.8432] to [-2.232, 1.1796479999999994]"/>
          <p:cNvCxnSpPr/>
          <p:nvPr/>
        </p:nvCxnSpPr>
        <p:spPr>
          <a:xfrm flipH="1">
            <a:off x="4430740" y="4600567"/>
            <a:ext cx="189951" cy="102530"/>
          </a:xfrm>
          <a:prstGeom prst="line">
            <a:avLst/>
          </a:prstGeom>
          <a:ln w="17145" cap="rnd">
            <a:solidFill>
              <a:srgbClr val="326CB2"/>
            </a:solidFill>
            <a:headEnd type="none" w="sm" len="sm"/>
            <a:tailEnd type="triangle" w="sm" len="sm"/>
          </a:ln>
        </p:spPr>
      </p:cxnSp>
      <p:cxnSp>
        <p:nvCxnSpPr>
          <p:cNvPr id="56" name="gd_state_10_gd_left_step_3" descr="Gradient descent update: [-2.232, 1.1796479999999994] to [-2.3856, 0.7549747199999995]"/>
          <p:cNvCxnSpPr/>
          <p:nvPr/>
        </p:nvCxnSpPr>
        <p:spPr>
          <a:xfrm flipH="1">
            <a:off x="4278779" y="4703097"/>
            <a:ext cx="151961" cy="65619"/>
          </a:xfrm>
          <a:prstGeom prst="line">
            <a:avLst/>
          </a:prstGeom>
          <a:ln w="17145" cap="rnd">
            <a:solidFill>
              <a:srgbClr val="326CB2"/>
            </a:solidFill>
            <a:headEnd type="none" w="sm" len="sm"/>
            <a:tailEnd type="triangle" w="sm" len="sm"/>
          </a:ln>
        </p:spPr>
      </p:cxnSp>
      <p:cxnSp>
        <p:nvCxnSpPr>
          <p:cNvPr id="57" name="gd_state_10_gd_left_step_4" descr="Gradient descent update: [-2.3856, 0.7549747199999995] to [-2.50848, 0.48318382079999994]"/>
          <p:cNvCxnSpPr/>
          <p:nvPr/>
        </p:nvCxnSpPr>
        <p:spPr>
          <a:xfrm flipH="1">
            <a:off x="4157210" y="4768716"/>
            <a:ext cx="121569" cy="41996"/>
          </a:xfrm>
          <a:prstGeom prst="line">
            <a:avLst/>
          </a:prstGeom>
          <a:ln w="17145" cap="rnd">
            <a:solidFill>
              <a:srgbClr val="326CB2"/>
            </a:solidFill>
            <a:headEnd type="none" w="sm" len="sm"/>
            <a:tailEnd type="triangle" w="sm" len="sm"/>
          </a:ln>
        </p:spPr>
      </p:cxnSp>
      <p:cxnSp>
        <p:nvCxnSpPr>
          <p:cNvPr id="58" name="gd_state_10_gd_left_step_5" descr="Gradient descent update: [-2.50848, 0.48318382079999994] to [-2.606784, 0.30923764531199965]"/>
          <p:cNvCxnSpPr/>
          <p:nvPr/>
        </p:nvCxnSpPr>
        <p:spPr>
          <a:xfrm flipH="1">
            <a:off x="4059955" y="4810713"/>
            <a:ext cx="97255" cy="26878"/>
          </a:xfrm>
          <a:prstGeom prst="line">
            <a:avLst/>
          </a:prstGeom>
          <a:ln w="17145" cap="rnd">
            <a:solidFill>
              <a:srgbClr val="326CB2"/>
            </a:solidFill>
            <a:headEnd type="none" w="sm" len="sm"/>
            <a:tailEnd type="triangle" w="sm" len="sm"/>
          </a:ln>
        </p:spPr>
      </p:cxnSp>
      <p:cxnSp>
        <p:nvCxnSpPr>
          <p:cNvPr id="59" name="gd_state_10_gd_left_step_6" descr="Gradient descent update: [-2.606784, 0.30923764531199965] to [-2.6854272000000003, 0.19791209299967957]"/>
          <p:cNvCxnSpPr/>
          <p:nvPr/>
        </p:nvCxnSpPr>
        <p:spPr>
          <a:xfrm flipH="1">
            <a:off x="3982151" y="4837590"/>
            <a:ext cx="77804" cy="17202"/>
          </a:xfrm>
          <a:prstGeom prst="line">
            <a:avLst/>
          </a:prstGeom>
          <a:ln w="17145" cap="rnd">
            <a:solidFill>
              <a:srgbClr val="326CB2"/>
            </a:solidFill>
            <a:headEnd type="none" w="sm" len="sm"/>
            <a:tailEnd type="triangle" w="sm" len="sm"/>
          </a:ln>
        </p:spPr>
      </p:cxnSp>
      <p:cxnSp>
        <p:nvCxnSpPr>
          <p:cNvPr id="60" name="gd_state_10_gd_left_step_7" descr="Gradient descent update: [-2.6854272000000003, 0.19791209299967957] to [-2.74834176, 0.126663739519795]"/>
          <p:cNvCxnSpPr/>
          <p:nvPr/>
        </p:nvCxnSpPr>
        <p:spPr>
          <a:xfrm flipH="1">
            <a:off x="3919908" y="4854792"/>
            <a:ext cx="62243" cy="11009"/>
          </a:xfrm>
          <a:prstGeom prst="line">
            <a:avLst/>
          </a:prstGeom>
          <a:ln w="17145" cap="rnd">
            <a:solidFill>
              <a:srgbClr val="326CB2"/>
            </a:solidFill>
            <a:headEnd type="none" w="sm" len="sm"/>
            <a:tailEnd type="triangle" w="sm" len="sm"/>
          </a:ln>
        </p:spPr>
      </p:cxnSp>
      <p:cxnSp>
        <p:nvCxnSpPr>
          <p:cNvPr id="61" name="gd_state_10_gd_left_step_8" descr="Gradient descent update: [-2.74834176, 0.126663739519795] to [-2.798673408, 0.08106479329266895]"/>
          <p:cNvCxnSpPr/>
          <p:nvPr/>
        </p:nvCxnSpPr>
        <p:spPr>
          <a:xfrm flipH="1">
            <a:off x="3870113" y="4865801"/>
            <a:ext cx="49795" cy="7046"/>
          </a:xfrm>
          <a:prstGeom prst="line">
            <a:avLst/>
          </a:prstGeom>
          <a:ln w="17145" cap="rnd">
            <a:solidFill>
              <a:srgbClr val="326CB2"/>
            </a:solidFill>
            <a:headEnd type="none" w="sm" len="sm"/>
            <a:tailEnd type="triangle" w="sm" len="sm"/>
          </a:ln>
        </p:spPr>
      </p:cxnSp>
      <p:cxnSp>
        <p:nvCxnSpPr>
          <p:cNvPr id="62" name="gd_state_10_gd_left_step_9" descr="Gradient descent update: [-2.798673408, 0.08106479329266895] to [-2.8389387264, 0.051881467707308185]"/>
          <p:cNvCxnSpPr/>
          <p:nvPr/>
        </p:nvCxnSpPr>
        <p:spPr>
          <a:xfrm flipH="1">
            <a:off x="3830278" y="4872847"/>
            <a:ext cx="39836" cy="4509"/>
          </a:xfrm>
          <a:prstGeom prst="line">
            <a:avLst/>
          </a:prstGeom>
          <a:ln w="17145" cap="rnd">
            <a:solidFill>
              <a:srgbClr val="326CB2"/>
            </a:solidFill>
            <a:headEnd type="none" w="sm" len="sm"/>
            <a:tailEnd type="triangle" w="sm" len="sm"/>
          </a:ln>
        </p:spPr>
      </p:cxnSp>
      <p:cxnSp>
        <p:nvCxnSpPr>
          <p:cNvPr id="63" name="gd_state_10_gd_right_step_0" descr="Gradient descent update: [1.5, 12.5] to [1.8, 10.880000000000003]"/>
          <p:cNvCxnSpPr/>
          <p:nvPr/>
        </p:nvCxnSpPr>
        <p:spPr>
          <a:xfrm>
            <a:off x="8122920" y="2953914"/>
            <a:ext cx="296799" cy="250317"/>
          </a:xfrm>
          <a:prstGeom prst="line">
            <a:avLst/>
          </a:prstGeom>
          <a:ln w="17145" cap="rnd">
            <a:solidFill>
              <a:srgbClr val="C45C28"/>
            </a:solidFill>
            <a:headEnd type="none" w="sm" len="sm"/>
            <a:tailEnd type="triangle" w="sm" len="sm"/>
          </a:ln>
        </p:spPr>
      </p:cxnSp>
      <p:cxnSp>
        <p:nvCxnSpPr>
          <p:cNvPr id="64" name="gd_state_10_gd_right_step_1" descr="Gradient descent update: [1.8, 10.880000000000003] to [2.04, 9.8432]"/>
          <p:cNvCxnSpPr/>
          <p:nvPr/>
        </p:nvCxnSpPr>
        <p:spPr>
          <a:xfrm>
            <a:off x="8419719" y="3204231"/>
            <a:ext cx="237439" cy="160203"/>
          </a:xfrm>
          <a:prstGeom prst="line">
            <a:avLst/>
          </a:prstGeom>
          <a:ln w="17145" cap="rnd">
            <a:solidFill>
              <a:srgbClr val="C45C28"/>
            </a:solidFill>
            <a:headEnd type="none" w="sm" len="sm"/>
            <a:tailEnd type="triangle" w="sm" len="sm"/>
          </a:ln>
        </p:spPr>
      </p:cxnSp>
      <p:cxnSp>
        <p:nvCxnSpPr>
          <p:cNvPr id="65" name="gd_state_10_gd_right_step_2" descr="Gradient descent update: [2.04, 9.8432] to [2.232, 9.179648]"/>
          <p:cNvCxnSpPr/>
          <p:nvPr/>
        </p:nvCxnSpPr>
        <p:spPr>
          <a:xfrm>
            <a:off x="8657158" y="3364434"/>
            <a:ext cx="189951" cy="102530"/>
          </a:xfrm>
          <a:prstGeom prst="line">
            <a:avLst/>
          </a:prstGeom>
          <a:ln w="17145" cap="rnd">
            <a:solidFill>
              <a:srgbClr val="C45C28"/>
            </a:solidFill>
            <a:headEnd type="none" w="sm" len="sm"/>
            <a:tailEnd type="triangle" w="sm" len="sm"/>
          </a:ln>
        </p:spPr>
      </p:cxnSp>
      <p:cxnSp>
        <p:nvCxnSpPr>
          <p:cNvPr id="66" name="gd_state_10_gd_right_step_3" descr="Gradient descent update: [2.232, 9.179648] to [2.3856, 8.75497472]"/>
          <p:cNvCxnSpPr/>
          <p:nvPr/>
        </p:nvCxnSpPr>
        <p:spPr>
          <a:xfrm>
            <a:off x="8847110" y="3466964"/>
            <a:ext cx="151961" cy="65619"/>
          </a:xfrm>
          <a:prstGeom prst="line">
            <a:avLst/>
          </a:prstGeom>
          <a:ln w="17145" cap="rnd">
            <a:solidFill>
              <a:srgbClr val="C45C28"/>
            </a:solidFill>
            <a:headEnd type="none" w="sm" len="sm"/>
            <a:tailEnd type="triangle" w="sm" len="sm"/>
          </a:ln>
        </p:spPr>
      </p:cxnSp>
      <p:cxnSp>
        <p:nvCxnSpPr>
          <p:cNvPr id="67" name="gd_state_10_gd_right_step_4" descr="Gradient descent update: [2.3856, 8.75497472] to [2.50848, 8.4831838208]"/>
          <p:cNvCxnSpPr/>
          <p:nvPr/>
        </p:nvCxnSpPr>
        <p:spPr>
          <a:xfrm>
            <a:off x="8999071" y="3532583"/>
            <a:ext cx="121569" cy="41996"/>
          </a:xfrm>
          <a:prstGeom prst="line">
            <a:avLst/>
          </a:prstGeom>
          <a:ln w="17145" cap="rnd">
            <a:solidFill>
              <a:srgbClr val="C45C28"/>
            </a:solidFill>
            <a:headEnd type="none" w="sm" len="sm"/>
            <a:tailEnd type="triangle" w="sm" len="sm"/>
          </a:ln>
        </p:spPr>
      </p:cxnSp>
      <p:cxnSp>
        <p:nvCxnSpPr>
          <p:cNvPr id="68" name="gd_state_10_gd_right_step_5" descr="Gradient descent update: [2.50848, 8.4831838208] to [2.606784, 8.309237645311999]"/>
          <p:cNvCxnSpPr/>
          <p:nvPr/>
        </p:nvCxnSpPr>
        <p:spPr>
          <a:xfrm>
            <a:off x="9120640" y="3574579"/>
            <a:ext cx="97255" cy="26878"/>
          </a:xfrm>
          <a:prstGeom prst="line">
            <a:avLst/>
          </a:prstGeom>
          <a:ln w="17145" cap="rnd">
            <a:solidFill>
              <a:srgbClr val="C45C28"/>
            </a:solidFill>
            <a:headEnd type="none" w="sm" len="sm"/>
            <a:tailEnd type="triangle" w="sm" len="sm"/>
          </a:ln>
        </p:spPr>
      </p:cxnSp>
      <p:cxnSp>
        <p:nvCxnSpPr>
          <p:cNvPr id="69" name="gd_state_10_gd_right_step_6" descr="Gradient descent update: [2.606784, 8.309237645311999] to [2.6854272000000003, 8.19791209299968]"/>
          <p:cNvCxnSpPr/>
          <p:nvPr/>
        </p:nvCxnSpPr>
        <p:spPr>
          <a:xfrm>
            <a:off x="9217895" y="3601457"/>
            <a:ext cx="77804" cy="17202"/>
          </a:xfrm>
          <a:prstGeom prst="line">
            <a:avLst/>
          </a:prstGeom>
          <a:ln w="17145" cap="rnd">
            <a:solidFill>
              <a:srgbClr val="C45C28"/>
            </a:solidFill>
            <a:headEnd type="none" w="sm" len="sm"/>
            <a:tailEnd type="triangle" w="sm" len="sm"/>
          </a:ln>
        </p:spPr>
      </p:cxnSp>
      <p:cxnSp>
        <p:nvCxnSpPr>
          <p:cNvPr id="70" name="gd_state_10_gd_right_step_7" descr="Gradient descent update: [2.6854272000000003, 8.19791209299968] to [2.74834176, 8.126663739519795]"/>
          <p:cNvCxnSpPr/>
          <p:nvPr/>
        </p:nvCxnSpPr>
        <p:spPr>
          <a:xfrm>
            <a:off x="9295699" y="3618658"/>
            <a:ext cx="62243" cy="11009"/>
          </a:xfrm>
          <a:prstGeom prst="line">
            <a:avLst/>
          </a:prstGeom>
          <a:ln w="17145" cap="rnd">
            <a:solidFill>
              <a:srgbClr val="C45C28"/>
            </a:solidFill>
            <a:headEnd type="none" w="sm" len="sm"/>
            <a:tailEnd type="triangle" w="sm" len="sm"/>
          </a:ln>
        </p:spPr>
      </p:cxnSp>
      <p:cxnSp>
        <p:nvCxnSpPr>
          <p:cNvPr id="71" name="gd_state_10_gd_right_step_8" descr="Gradient descent update: [2.74834176, 8.126663739519795] to [2.798673408, 8.081064793292668]"/>
          <p:cNvCxnSpPr/>
          <p:nvPr/>
        </p:nvCxnSpPr>
        <p:spPr>
          <a:xfrm>
            <a:off x="9357942" y="3629668"/>
            <a:ext cx="49795" cy="7046"/>
          </a:xfrm>
          <a:prstGeom prst="line">
            <a:avLst/>
          </a:prstGeom>
          <a:ln w="17145" cap="rnd">
            <a:solidFill>
              <a:srgbClr val="C45C28"/>
            </a:solidFill>
            <a:headEnd type="none" w="sm" len="sm"/>
            <a:tailEnd type="triangle" w="sm" len="sm"/>
          </a:ln>
        </p:spPr>
      </p:cxnSp>
      <p:cxnSp>
        <p:nvCxnSpPr>
          <p:cNvPr id="72" name="gd_state_10_gd_right_step_9" descr="Gradient descent update: [2.798673408, 8.081064793292668] to [2.8389387264, 8.051881467707307]"/>
          <p:cNvCxnSpPr/>
          <p:nvPr/>
        </p:nvCxnSpPr>
        <p:spPr>
          <a:xfrm>
            <a:off x="9407737" y="3636713"/>
            <a:ext cx="39836" cy="4509"/>
          </a:xfrm>
          <a:prstGeom prst="line">
            <a:avLst/>
          </a:prstGeom>
          <a:ln w="17145" cap="rnd">
            <a:solidFill>
              <a:srgbClr val="C45C28"/>
            </a:solidFill>
            <a:headEnd type="none" w="sm" len="sm"/>
            <a:tailEnd type="triangle" w="sm" len="sm"/>
          </a:ln>
        </p:spPr>
      </p:cxnSp>
      <p:graphicFrame>
        <p:nvGraphicFramePr>
          <p:cNvPr id="73" name="gd_state_20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26"/>
          </a:graphicData>
        </a:graphic>
      </p:graphicFrame>
      <mc:AlternateContent xmlns:mc="http://schemas.openxmlformats.org/markup-compatibility/2006" xmlns:a14="http://schemas.microsoft.com/office/drawing/2010/main">
        <mc:Choice Requires="a14">
          <p:sp>
            <p:nvSpPr>
              <p:cNvPr id="74" name="gd_state_20_iteration">
                <a:extLst>
                  <a:ext uri="{FF2B5EF4-FFF2-40B4-BE49-F238E27FC236}">
                    <a16:creationId xmlns:a16="http://schemas.microsoft.com/office/drawing/2014/main" id="{7884F3AF-693B-4B49-BDD1-730A11D6B1CD}"/>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𝟐𝟎</m:t>
                      </m:r>
                    </m:oMath>
                  </m:oMathPara>
                </a14:m>
                <a:endParaRPr/>
              </a:p>
            </p:txBody>
          </p:sp>
        </mc:Choice>
        <mc:Fallback xmlns="">
          <p:sp>
            <p:nvSpPr>
              <p:cNvPr id="74" name="gd_state_20_iteration">
                <a:extLst>
                  <a:ext uri="{FF2B5EF4-FFF2-40B4-BE49-F238E27FC236}">
                    <a16:creationId xmlns:a16="http://schemas.microsoft.com/office/drawing/2014/main" id="{7884F3AF-693B-4B49-BDD1-730A11D6B1CD}"/>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27"/>
                <a:stretch>
                  <a:fillRect b="-3279"/>
                </a:stretch>
              </a:blipFill>
              <a:ln w="0">
                <a:noFill/>
              </a:ln>
            </p:spPr>
            <p:txBody>
              <a:bodyPr/>
              <a:lstStyle/>
              <a:p>
                <a:r>
                  <a:rPr lang="it-IT">
                    <a:noFill/>
                  </a:rPr>
                  <a:t> </a:t>
                </a:r>
              </a:p>
            </p:txBody>
          </p:sp>
        </mc:Fallback>
      </mc:AlternateContent>
      <p:sp>
        <p:nvSpPr>
          <p:cNvPr id="75" name="gd_state_20_x_axis">
            <a:extLst>
              <a:ext uri="{FF2B5EF4-FFF2-40B4-BE49-F238E27FC236}">
                <a16:creationId xmlns:a16="http://schemas.microsoft.com/office/drawing/2014/main" id="{4A1045FF-9744-490E-A3EF-EC8A9BB8D830}"/>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mc:Choice xmlns:a14="http://schemas.microsoft.com/office/drawing/2010/main" Requires="a14">
          <p:sp>
            <p:nvSpPr>
              <p:cNvPr id="76" name="gd_state_20_left_readout" descr="\theta^{(20)}\approx-2.9827,\quad\mathcal{L}_{\mathrm{sq}}\approx0.0006">
                <a:extLst>
                  <a:ext uri="{FF2B5EF4-FFF2-40B4-BE49-F238E27FC236}">
                    <a16:creationId xmlns:a16="http://schemas.microsoft.com/office/drawing/2014/main" id="{9D127C11-2709-427D-9CF4-A3F69CE9A160}"/>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(20)</m:t>
                          </m:r>
                        </m:sup>
                      </m:sSup>
                      <m:r>
                        <a:rPr lang="en-GB" sz="2400">
                          <a:solidFill>
                            <a:srgbClr val="326CB2"/>
                          </a:solidFill>
                          <a:latin typeface="Cambria Math"/>
                          <a:ea typeface="Cambria Math"/>
                          <a:cs typeface="Cambria Math"/>
                        </a:rPr>
                        <m:t>≈−2.9827, </m:t>
                      </m:r>
                      <m:sSub>
                        <m:sSubPr>
                          <m:ctrlPr>
                            <a:rPr lang="en-GB" sz="2400" smtClean="0">
                              <a:solidFill>
                                <a:srgbClr val="326CB2"/>
                              </a:solidFill>
                              <a:latin typeface="Cambria Math"/>
                              <a:ea typeface="Cambria Math"/>
                              <a:cs typeface="Cambria Math"/>
                            </a:rPr>
                          </m:ctrlPr>
                        </m:sSubPr>
                        <m:e>
                          <m:r>
                            <a:rPr lang="en-GB" sz="2400" smtClean="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sq</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(20)</m:t>
                              </m:r>
                            </m:sup>
                          </m:sSup>
                        </m:e>
                      </m:d>
                      <m:r>
                        <a:rPr lang="en-GB" sz="2400">
                          <a:solidFill>
                            <a:srgbClr val="326CB2"/>
                          </a:solidFill>
                          <a:latin typeface="Cambria Math"/>
                          <a:ea typeface="Cambria Math"/>
                          <a:cs typeface="Cambria Math"/>
                        </a:rPr>
                        <m:t>≈0.0006</m:t>
                      </m:r>
                    </m:oMath>
                  </m:oMathPara>
                </a14:m>
                <a:endParaRPr lang="en-GB" sz="2400" dirty="0"/>
              </a:p>
            </p:txBody>
          </p:sp>
        </mc:Choice>
        <mc:Fallback>
          <p:sp>
            <p:nvSpPr>
              <p:cNvPr id="76" name="gd_state_20_left_readout" descr="\theta^{(20)}\approx-2.9827,\quad\mathcal{L}_{\mathrm{sq}}\approx0.0006">
                <a:extLst>
                  <a:ext uri="{FF2B5EF4-FFF2-40B4-BE49-F238E27FC236}">
                    <a16:creationId xmlns:a16="http://schemas.microsoft.com/office/drawing/2014/main" id="{9D127C11-2709-427D-9CF4-A3F69CE9A160}"/>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28"/>
                <a:stretch>
                  <a:fillRect/>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77" name="gd_state_20_right_readout" descr="\theta^{(20)}\approx2.9827,\quad\mathcal{L}_{\mathrm{sq}}\approx8.0006">
                <a:extLst>
                  <a:ext uri="{FF2B5EF4-FFF2-40B4-BE49-F238E27FC236}">
                    <a16:creationId xmlns:a16="http://schemas.microsoft.com/office/drawing/2014/main" id="{65101272-3E9D-4762-89D2-4822FC4C9106}"/>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(20)</m:t>
                          </m:r>
                        </m:sup>
                      </m:sSup>
                      <m:r>
                        <a:rPr lang="en-GB" sz="2400">
                          <a:solidFill>
                            <a:srgbClr val="C45C28"/>
                          </a:solidFill>
                          <a:latin typeface="Cambria Math"/>
                          <a:ea typeface="Cambria Math"/>
                          <a:cs typeface="Cambria Math"/>
                        </a:rPr>
                        <m:t>≈2.9827, 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sq</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(20)</m:t>
                              </m:r>
                            </m:sup>
                          </m:sSup>
                        </m:e>
                      </m:d>
                      <m:r>
                        <a:rPr lang="en-GB" sz="2400">
                          <a:solidFill>
                            <a:srgbClr val="C45C28"/>
                          </a:solidFill>
                          <a:latin typeface="Cambria Math"/>
                          <a:ea typeface="Cambria Math"/>
                          <a:cs typeface="Cambria Math"/>
                        </a:rPr>
                        <m:t>≈8.0006</m:t>
                      </m:r>
                    </m:oMath>
                  </m:oMathPara>
                </a14:m>
                <a:endParaRPr lang="en-GB" sz="2400" dirty="0"/>
              </a:p>
            </p:txBody>
          </p:sp>
        </mc:Choice>
        <mc:Fallback>
          <p:sp>
            <p:nvSpPr>
              <p:cNvPr id="77" name="gd_state_20_right_readout" descr="\theta^{(20)}\approx2.9827,\quad\mathcal{L}_{\mathrm{sq}}\approx8.0006">
                <a:extLst>
                  <a:ext uri="{FF2B5EF4-FFF2-40B4-BE49-F238E27FC236}">
                    <a16:creationId xmlns:a16="http://schemas.microsoft.com/office/drawing/2014/main" id="{65101272-3E9D-4762-89D2-4822FC4C9106}"/>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29"/>
                <a:stretch>
                  <a:fillRect/>
                </a:stretch>
              </a:blipFill>
              <a:ln w="0">
                <a:noFill/>
              </a:ln>
            </p:spPr>
            <p:txBody>
              <a:bodyPr/>
              <a:lstStyle/>
              <a:p>
                <a:r>
                  <a:rPr lang="it-IT">
                    <a:noFill/>
                  </a:rPr>
                  <a:t> </a:t>
                </a:r>
              </a:p>
            </p:txBody>
          </p:sp>
        </mc:Fallback>
      </mc:AlternateContent>
      <p:cxnSp>
        <p:nvCxnSpPr>
          <p:cNvPr id="78" name="gd_state_20_gd_left_step_0" descr="Gradient descent update: [-1.5, 4.5] to [-1.8, 2.880000000000001]"/>
          <p:cNvCxnSpPr/>
          <p:nvPr/>
        </p:nvCxnSpPr>
        <p:spPr>
          <a:xfrm flipH="1">
            <a:off x="4858131" y="4190048"/>
            <a:ext cx="296799" cy="250317"/>
          </a:xfrm>
          <a:prstGeom prst="line">
            <a:avLst/>
          </a:prstGeom>
          <a:ln w="17145" cap="rnd">
            <a:solidFill>
              <a:srgbClr val="326CB2"/>
            </a:solidFill>
            <a:headEnd type="none" w="sm" len="sm"/>
            <a:tailEnd type="triangle" w="sm" len="sm"/>
          </a:ln>
        </p:spPr>
      </p:cxnSp>
      <p:cxnSp>
        <p:nvCxnSpPr>
          <p:cNvPr id="79" name="gd_state_20_gd_left_step_1" descr="Gradient descent update: [-1.8, 2.880000000000001] to [-2.04, 1.8432]"/>
          <p:cNvCxnSpPr/>
          <p:nvPr/>
        </p:nvCxnSpPr>
        <p:spPr>
          <a:xfrm flipH="1">
            <a:off x="4620692" y="4440364"/>
            <a:ext cx="237439" cy="160203"/>
          </a:xfrm>
          <a:prstGeom prst="line">
            <a:avLst/>
          </a:prstGeom>
          <a:ln w="17145" cap="rnd">
            <a:solidFill>
              <a:srgbClr val="326CB2"/>
            </a:solidFill>
            <a:headEnd type="none" w="sm" len="sm"/>
            <a:tailEnd type="triangle" w="sm" len="sm"/>
          </a:ln>
        </p:spPr>
      </p:cxnSp>
      <p:cxnSp>
        <p:nvCxnSpPr>
          <p:cNvPr id="80" name="gd_state_20_gd_left_step_2" descr="Gradient descent update: [-2.04, 1.8432] to [-2.232, 1.1796479999999994]"/>
          <p:cNvCxnSpPr/>
          <p:nvPr/>
        </p:nvCxnSpPr>
        <p:spPr>
          <a:xfrm flipH="1">
            <a:off x="4430740" y="4600567"/>
            <a:ext cx="189951" cy="102530"/>
          </a:xfrm>
          <a:prstGeom prst="line">
            <a:avLst/>
          </a:prstGeom>
          <a:ln w="17145" cap="rnd">
            <a:solidFill>
              <a:srgbClr val="326CB2"/>
            </a:solidFill>
            <a:headEnd type="none" w="sm" len="sm"/>
            <a:tailEnd type="triangle" w="sm" len="sm"/>
          </a:ln>
        </p:spPr>
      </p:cxnSp>
      <p:cxnSp>
        <p:nvCxnSpPr>
          <p:cNvPr id="81" name="gd_state_20_gd_left_step_3" descr="Gradient descent update: [-2.232, 1.1796479999999994] to [-2.3856, 0.7549747199999995]"/>
          <p:cNvCxnSpPr/>
          <p:nvPr/>
        </p:nvCxnSpPr>
        <p:spPr>
          <a:xfrm flipH="1">
            <a:off x="4278779" y="4703097"/>
            <a:ext cx="151961" cy="65619"/>
          </a:xfrm>
          <a:prstGeom prst="line">
            <a:avLst/>
          </a:prstGeom>
          <a:ln w="17145" cap="rnd">
            <a:solidFill>
              <a:srgbClr val="326CB2"/>
            </a:solidFill>
            <a:headEnd type="none" w="sm" len="sm"/>
            <a:tailEnd type="triangle" w="sm" len="sm"/>
          </a:ln>
        </p:spPr>
      </p:cxnSp>
      <p:cxnSp>
        <p:nvCxnSpPr>
          <p:cNvPr id="82" name="gd_state_20_gd_left_step_4" descr="Gradient descent update: [-2.3856, 0.7549747199999995] to [-2.50848, 0.48318382079999994]"/>
          <p:cNvCxnSpPr/>
          <p:nvPr/>
        </p:nvCxnSpPr>
        <p:spPr>
          <a:xfrm flipH="1">
            <a:off x="4157210" y="4768716"/>
            <a:ext cx="121569" cy="41996"/>
          </a:xfrm>
          <a:prstGeom prst="line">
            <a:avLst/>
          </a:prstGeom>
          <a:ln w="17145" cap="rnd">
            <a:solidFill>
              <a:srgbClr val="326CB2"/>
            </a:solidFill>
            <a:headEnd type="none" w="sm" len="sm"/>
            <a:tailEnd type="triangle" w="sm" len="sm"/>
          </a:ln>
        </p:spPr>
      </p:cxnSp>
      <p:cxnSp>
        <p:nvCxnSpPr>
          <p:cNvPr id="83" name="gd_state_20_gd_left_step_5" descr="Gradient descent update: [-2.50848, 0.48318382079999994] to [-2.606784, 0.30923764531199965]"/>
          <p:cNvCxnSpPr/>
          <p:nvPr/>
        </p:nvCxnSpPr>
        <p:spPr>
          <a:xfrm flipH="1">
            <a:off x="4059955" y="4810713"/>
            <a:ext cx="97255" cy="26878"/>
          </a:xfrm>
          <a:prstGeom prst="line">
            <a:avLst/>
          </a:prstGeom>
          <a:ln w="17145" cap="rnd">
            <a:solidFill>
              <a:srgbClr val="326CB2"/>
            </a:solidFill>
            <a:headEnd type="none" w="sm" len="sm"/>
            <a:tailEnd type="triangle" w="sm" len="sm"/>
          </a:ln>
        </p:spPr>
      </p:cxnSp>
      <p:cxnSp>
        <p:nvCxnSpPr>
          <p:cNvPr id="84" name="gd_state_20_gd_left_step_6" descr="Gradient descent update: [-2.606784, 0.30923764531199965] to [-2.6854272000000003, 0.19791209299967957]"/>
          <p:cNvCxnSpPr/>
          <p:nvPr/>
        </p:nvCxnSpPr>
        <p:spPr>
          <a:xfrm flipH="1">
            <a:off x="3982151" y="4837590"/>
            <a:ext cx="77804" cy="17202"/>
          </a:xfrm>
          <a:prstGeom prst="line">
            <a:avLst/>
          </a:prstGeom>
          <a:ln w="17145" cap="rnd">
            <a:solidFill>
              <a:srgbClr val="326CB2"/>
            </a:solidFill>
            <a:headEnd type="none" w="sm" len="sm"/>
            <a:tailEnd type="triangle" w="sm" len="sm"/>
          </a:ln>
        </p:spPr>
      </p:cxnSp>
      <p:cxnSp>
        <p:nvCxnSpPr>
          <p:cNvPr id="85" name="gd_state_20_gd_left_step_7" descr="Gradient descent update: [-2.6854272000000003, 0.19791209299967957] to [-2.74834176, 0.126663739519795]"/>
          <p:cNvCxnSpPr/>
          <p:nvPr/>
        </p:nvCxnSpPr>
        <p:spPr>
          <a:xfrm flipH="1">
            <a:off x="3919908" y="4854792"/>
            <a:ext cx="62243" cy="11009"/>
          </a:xfrm>
          <a:prstGeom prst="line">
            <a:avLst/>
          </a:prstGeom>
          <a:ln w="17145" cap="rnd">
            <a:solidFill>
              <a:srgbClr val="326CB2"/>
            </a:solidFill>
            <a:headEnd type="none" w="sm" len="sm"/>
            <a:tailEnd type="triangle" w="sm" len="sm"/>
          </a:ln>
        </p:spPr>
      </p:cxnSp>
      <p:cxnSp>
        <p:nvCxnSpPr>
          <p:cNvPr id="86" name="gd_state_20_gd_left_step_8" descr="Gradient descent update: [-2.74834176, 0.126663739519795] to [-2.798673408, 0.08106479329266895]"/>
          <p:cNvCxnSpPr/>
          <p:nvPr/>
        </p:nvCxnSpPr>
        <p:spPr>
          <a:xfrm flipH="1">
            <a:off x="3870113" y="4865801"/>
            <a:ext cx="49795" cy="7046"/>
          </a:xfrm>
          <a:prstGeom prst="line">
            <a:avLst/>
          </a:prstGeom>
          <a:ln w="17145" cap="rnd">
            <a:solidFill>
              <a:srgbClr val="326CB2"/>
            </a:solidFill>
            <a:headEnd type="none" w="sm" len="sm"/>
            <a:tailEnd type="triangle" w="sm" len="sm"/>
          </a:ln>
        </p:spPr>
      </p:cxnSp>
      <p:cxnSp>
        <p:nvCxnSpPr>
          <p:cNvPr id="87" name="gd_state_20_gd_left_step_9" descr="Gradient descent update: [-2.798673408, 0.08106479329266895] to [-2.8389387264, 0.051881467707308185]"/>
          <p:cNvCxnSpPr/>
          <p:nvPr/>
        </p:nvCxnSpPr>
        <p:spPr>
          <a:xfrm flipH="1">
            <a:off x="3830278" y="4872847"/>
            <a:ext cx="39836" cy="4509"/>
          </a:xfrm>
          <a:prstGeom prst="line">
            <a:avLst/>
          </a:prstGeom>
          <a:ln w="17145" cap="rnd">
            <a:solidFill>
              <a:srgbClr val="326CB2"/>
            </a:solidFill>
            <a:headEnd type="none" w="sm" len="sm"/>
            <a:tailEnd type="triangle" w="sm" len="sm"/>
          </a:ln>
        </p:spPr>
      </p:cxnSp>
      <p:cxnSp>
        <p:nvCxnSpPr>
          <p:cNvPr id="88" name="gd_state_20_gd_left_step_10" descr="Gradient descent update: [-2.8389387264, 0.051881467707308185] to [-2.87115098112, 0.03320413933267719]"/>
          <p:cNvCxnSpPr/>
          <p:nvPr/>
        </p:nvCxnSpPr>
        <p:spPr>
          <a:xfrm flipH="1">
            <a:off x="3798409" y="4877356"/>
            <a:ext cx="31869" cy="2886"/>
          </a:xfrm>
          <a:prstGeom prst="line">
            <a:avLst/>
          </a:prstGeom>
          <a:ln w="17145" cap="rnd">
            <a:solidFill>
              <a:srgbClr val="326CB2"/>
            </a:solidFill>
            <a:headEnd type="none" w="sm" len="sm"/>
            <a:tailEnd type="triangle" w="sm" len="sm"/>
          </a:ln>
        </p:spPr>
      </p:cxnSp>
      <p:cxnSp>
        <p:nvCxnSpPr>
          <p:cNvPr id="89" name="gd_state_20_gd_left_step_11" descr="Gradient descent update: [-2.87115098112, 0.03320413933267719] to [-2.896920784896, 0.02125064917291344]"/>
          <p:cNvCxnSpPr/>
          <p:nvPr/>
        </p:nvCxnSpPr>
        <p:spPr>
          <a:xfrm flipH="1">
            <a:off x="3772914" y="4880242"/>
            <a:ext cx="25495" cy="1847"/>
          </a:xfrm>
          <a:prstGeom prst="line">
            <a:avLst/>
          </a:prstGeom>
          <a:ln w="17145" cap="rnd">
            <a:solidFill>
              <a:srgbClr val="326CB2"/>
            </a:solidFill>
            <a:headEnd type="none" w="sm" len="sm"/>
            <a:tailEnd type="triangle" w="sm" len="sm"/>
          </a:ln>
        </p:spPr>
      </p:cxnSp>
      <p:cxnSp>
        <p:nvCxnSpPr>
          <p:cNvPr id="90" name="gd_state_20_gd_left_step_12" descr="Gradient descent update: [-2.896920784896, 0.02125064917291344] to [-2.9175366279168, 0.013600415470664573]"/>
          <p:cNvCxnSpPr/>
          <p:nvPr/>
        </p:nvCxnSpPr>
        <p:spPr>
          <a:xfrm flipH="1">
            <a:off x="3752518" y="4882089"/>
            <a:ext cx="20396" cy="1182"/>
          </a:xfrm>
          <a:prstGeom prst="line">
            <a:avLst/>
          </a:prstGeom>
          <a:ln w="17145" cap="rnd">
            <a:solidFill>
              <a:srgbClr val="326CB2"/>
            </a:solidFill>
            <a:headEnd type="none" w="sm" len="sm"/>
            <a:tailEnd type="triangle" w="sm" len="sm"/>
          </a:ln>
        </p:spPr>
      </p:cxnSp>
      <p:cxnSp>
        <p:nvCxnSpPr>
          <p:cNvPr id="91" name="gd_state_20_gd_left_step_13" descr="Gradient descent update: [-2.9175366279168, 0.013600415470664573] to [-2.93402930233344, 0.008704265901225373]"/>
          <p:cNvCxnSpPr/>
          <p:nvPr/>
        </p:nvCxnSpPr>
        <p:spPr>
          <a:xfrm flipH="1">
            <a:off x="3736202" y="4883271"/>
            <a:ext cx="16317" cy="757"/>
          </a:xfrm>
          <a:prstGeom prst="line">
            <a:avLst/>
          </a:prstGeom>
          <a:ln w="17145" cap="rnd">
            <a:solidFill>
              <a:srgbClr val="326CB2"/>
            </a:solidFill>
            <a:headEnd type="none" w="sm" len="sm"/>
            <a:tailEnd type="triangle" w="sm" len="sm"/>
          </a:ln>
        </p:spPr>
      </p:cxnSp>
      <p:cxnSp>
        <p:nvCxnSpPr>
          <p:cNvPr id="92" name="gd_state_20_gd_left_step_14" descr="Gradient descent update: [-2.93402930233344, 0.008704265901225373] to [-2.947223441866752, 0.005570730176784258]"/>
          <p:cNvCxnSpPr/>
          <p:nvPr/>
        </p:nvCxnSpPr>
        <p:spPr>
          <a:xfrm flipH="1">
            <a:off x="3723148" y="4884028"/>
            <a:ext cx="13053" cy="484"/>
          </a:xfrm>
          <a:prstGeom prst="line">
            <a:avLst/>
          </a:prstGeom>
          <a:ln w="17145" cap="rnd">
            <a:solidFill>
              <a:srgbClr val="326CB2"/>
            </a:solidFill>
            <a:headEnd type="none" w="sm" len="sm"/>
            <a:tailEnd type="triangle" w="sm" len="sm"/>
          </a:ln>
        </p:spPr>
      </p:cxnSp>
      <p:cxnSp>
        <p:nvCxnSpPr>
          <p:cNvPr id="93" name="gd_state_20_gd_left_step_15" descr="Gradient descent update: [-2.947223441866752, 0.005570730176784258] to [-2.9577787534934012, 0.0035652673131419546]"/>
          <p:cNvCxnSpPr/>
          <p:nvPr/>
        </p:nvCxnSpPr>
        <p:spPr>
          <a:xfrm flipH="1">
            <a:off x="3712706" y="4884512"/>
            <a:ext cx="10443" cy="310"/>
          </a:xfrm>
          <a:prstGeom prst="line">
            <a:avLst/>
          </a:prstGeom>
          <a:ln w="17145" cap="rnd">
            <a:solidFill>
              <a:srgbClr val="326CB2"/>
            </a:solidFill>
            <a:headEnd type="none" w="sm" len="sm"/>
            <a:tailEnd type="triangle" w="sm" len="sm"/>
          </a:ln>
        </p:spPr>
      </p:cxnSp>
      <p:cxnSp>
        <p:nvCxnSpPr>
          <p:cNvPr id="94" name="gd_state_20_gd_left_step_16" descr="Gradient descent update: [-2.9577787534934012, 0.0035652673131419546] to [-2.966223002794721, 0.002281771080410827]"/>
          <p:cNvCxnSpPr/>
          <p:nvPr/>
        </p:nvCxnSpPr>
        <p:spPr>
          <a:xfrm flipH="1">
            <a:off x="3704352" y="4884822"/>
            <a:ext cx="8354" cy="198"/>
          </a:xfrm>
          <a:prstGeom prst="line">
            <a:avLst/>
          </a:prstGeom>
          <a:ln w="17145" cap="rnd">
            <a:solidFill>
              <a:srgbClr val="326CB2"/>
            </a:solidFill>
            <a:headEnd type="none" w="sm" len="sm"/>
            <a:tailEnd type="triangle" w="sm" len="sm"/>
          </a:ln>
        </p:spPr>
      </p:cxnSp>
      <p:cxnSp>
        <p:nvCxnSpPr>
          <p:cNvPr id="95" name="gd_state_20_gd_left_step_17" descr="Gradient descent update: [-2.966223002794721, 0.002281771080410827] to [-2.972978402235777, 0.0014603334914629197]"/>
          <p:cNvCxnSpPr/>
          <p:nvPr/>
        </p:nvCxnSpPr>
        <p:spPr>
          <a:xfrm flipH="1">
            <a:off x="3697668" y="4885020"/>
            <a:ext cx="6683" cy="127"/>
          </a:xfrm>
          <a:prstGeom prst="line">
            <a:avLst/>
          </a:prstGeom>
          <a:ln w="17145" cap="rnd">
            <a:solidFill>
              <a:srgbClr val="326CB2"/>
            </a:solidFill>
            <a:headEnd type="none" w="sm" len="sm"/>
            <a:tailEnd type="triangle" w="sm" len="sm"/>
          </a:ln>
        </p:spPr>
      </p:cxnSp>
      <p:cxnSp>
        <p:nvCxnSpPr>
          <p:cNvPr id="96" name="gd_state_20_gd_left_step_18" descr="Gradient descent update: [-2.972978402235777, 0.0014603334914629197] to [-2.9783827217886216, 0.0009346134345362687]"/>
          <p:cNvCxnSpPr/>
          <p:nvPr/>
        </p:nvCxnSpPr>
        <p:spPr>
          <a:xfrm flipH="1">
            <a:off x="3692322" y="4885147"/>
            <a:ext cx="5347" cy="81"/>
          </a:xfrm>
          <a:prstGeom prst="line">
            <a:avLst/>
          </a:prstGeom>
          <a:ln w="17145" cap="rnd">
            <a:solidFill>
              <a:srgbClr val="326CB2"/>
            </a:solidFill>
            <a:headEnd type="none" w="sm" len="sm"/>
            <a:tailEnd type="triangle" w="sm" len="sm"/>
          </a:ln>
        </p:spPr>
      </p:cxnSp>
      <p:cxnSp>
        <p:nvCxnSpPr>
          <p:cNvPr id="97" name="gd_state_20_gd_left_step_19" descr="Gradient descent update: [-2.9783827217886216, 0.0009346134345362687] to [-2.9827061774308974, 0.0005981525981032058]"/>
          <p:cNvCxnSpPr/>
          <p:nvPr/>
        </p:nvCxnSpPr>
        <p:spPr>
          <a:xfrm flipH="1">
            <a:off x="3688044" y="4885228"/>
            <a:ext cx="4277" cy="52"/>
          </a:xfrm>
          <a:prstGeom prst="line">
            <a:avLst/>
          </a:prstGeom>
          <a:ln w="17145" cap="rnd">
            <a:solidFill>
              <a:srgbClr val="326CB2"/>
            </a:solidFill>
            <a:headEnd type="none" w="sm" len="sm"/>
            <a:tailEnd type="triangle" w="sm" len="sm"/>
          </a:ln>
        </p:spPr>
      </p:cxnSp>
      <p:cxnSp>
        <p:nvCxnSpPr>
          <p:cNvPr id="98" name="gd_state_20_gd_right_step_0" descr="Gradient descent update: [1.5, 12.5] to [1.8, 10.880000000000003]"/>
          <p:cNvCxnSpPr/>
          <p:nvPr/>
        </p:nvCxnSpPr>
        <p:spPr>
          <a:xfrm>
            <a:off x="8122920" y="2953914"/>
            <a:ext cx="296799" cy="250317"/>
          </a:xfrm>
          <a:prstGeom prst="line">
            <a:avLst/>
          </a:prstGeom>
          <a:ln w="17145" cap="rnd">
            <a:solidFill>
              <a:srgbClr val="C45C28"/>
            </a:solidFill>
            <a:headEnd type="none" w="sm" len="sm"/>
            <a:tailEnd type="triangle" w="sm" len="sm"/>
          </a:ln>
        </p:spPr>
      </p:cxnSp>
      <p:cxnSp>
        <p:nvCxnSpPr>
          <p:cNvPr id="99" name="gd_state_20_gd_right_step_1" descr="Gradient descent update: [1.8, 10.880000000000003] to [2.04, 9.8432]"/>
          <p:cNvCxnSpPr/>
          <p:nvPr/>
        </p:nvCxnSpPr>
        <p:spPr>
          <a:xfrm>
            <a:off x="8419719" y="3204231"/>
            <a:ext cx="237439" cy="160203"/>
          </a:xfrm>
          <a:prstGeom prst="line">
            <a:avLst/>
          </a:prstGeom>
          <a:ln w="17145" cap="rnd">
            <a:solidFill>
              <a:srgbClr val="C45C28"/>
            </a:solidFill>
            <a:headEnd type="none" w="sm" len="sm"/>
            <a:tailEnd type="triangle" w="sm" len="sm"/>
          </a:ln>
        </p:spPr>
      </p:cxnSp>
      <p:cxnSp>
        <p:nvCxnSpPr>
          <p:cNvPr id="100" name="gd_state_20_gd_right_step_2" descr="Gradient descent update: [2.04, 9.8432] to [2.232, 9.179648]"/>
          <p:cNvCxnSpPr/>
          <p:nvPr/>
        </p:nvCxnSpPr>
        <p:spPr>
          <a:xfrm>
            <a:off x="8657158" y="3364434"/>
            <a:ext cx="189951" cy="102530"/>
          </a:xfrm>
          <a:prstGeom prst="line">
            <a:avLst/>
          </a:prstGeom>
          <a:ln w="17145" cap="rnd">
            <a:solidFill>
              <a:srgbClr val="C45C28"/>
            </a:solidFill>
            <a:headEnd type="none" w="sm" len="sm"/>
            <a:tailEnd type="triangle" w="sm" len="sm"/>
          </a:ln>
        </p:spPr>
      </p:cxnSp>
      <p:cxnSp>
        <p:nvCxnSpPr>
          <p:cNvPr id="101" name="gd_state_20_gd_right_step_3" descr="Gradient descent update: [2.232, 9.179648] to [2.3856, 8.75497472]"/>
          <p:cNvCxnSpPr/>
          <p:nvPr/>
        </p:nvCxnSpPr>
        <p:spPr>
          <a:xfrm>
            <a:off x="8847110" y="3466964"/>
            <a:ext cx="151961" cy="65619"/>
          </a:xfrm>
          <a:prstGeom prst="line">
            <a:avLst/>
          </a:prstGeom>
          <a:ln w="17145" cap="rnd">
            <a:solidFill>
              <a:srgbClr val="C45C28"/>
            </a:solidFill>
            <a:headEnd type="none" w="sm" len="sm"/>
            <a:tailEnd type="triangle" w="sm" len="sm"/>
          </a:ln>
        </p:spPr>
      </p:cxnSp>
      <p:cxnSp>
        <p:nvCxnSpPr>
          <p:cNvPr id="102" name="gd_state_20_gd_right_step_4" descr="Gradient descent update: [2.3856, 8.75497472] to [2.50848, 8.4831838208]"/>
          <p:cNvCxnSpPr/>
          <p:nvPr/>
        </p:nvCxnSpPr>
        <p:spPr>
          <a:xfrm>
            <a:off x="8999071" y="3532583"/>
            <a:ext cx="121569" cy="41996"/>
          </a:xfrm>
          <a:prstGeom prst="line">
            <a:avLst/>
          </a:prstGeom>
          <a:ln w="17145" cap="rnd">
            <a:solidFill>
              <a:srgbClr val="C45C28"/>
            </a:solidFill>
            <a:headEnd type="none" w="sm" len="sm"/>
            <a:tailEnd type="triangle" w="sm" len="sm"/>
          </a:ln>
        </p:spPr>
      </p:cxnSp>
      <p:cxnSp>
        <p:nvCxnSpPr>
          <p:cNvPr id="103" name="gd_state_20_gd_right_step_5" descr="Gradient descent update: [2.50848, 8.4831838208] to [2.606784, 8.309237645311999]"/>
          <p:cNvCxnSpPr/>
          <p:nvPr/>
        </p:nvCxnSpPr>
        <p:spPr>
          <a:xfrm>
            <a:off x="9120640" y="3574579"/>
            <a:ext cx="97255" cy="26878"/>
          </a:xfrm>
          <a:prstGeom prst="line">
            <a:avLst/>
          </a:prstGeom>
          <a:ln w="17145" cap="rnd">
            <a:solidFill>
              <a:srgbClr val="C45C28"/>
            </a:solidFill>
            <a:headEnd type="none" w="sm" len="sm"/>
            <a:tailEnd type="triangle" w="sm" len="sm"/>
          </a:ln>
        </p:spPr>
      </p:cxnSp>
      <p:cxnSp>
        <p:nvCxnSpPr>
          <p:cNvPr id="104" name="gd_state_20_gd_right_step_6" descr="Gradient descent update: [2.606784, 8.309237645311999] to [2.6854272000000003, 8.19791209299968]"/>
          <p:cNvCxnSpPr/>
          <p:nvPr/>
        </p:nvCxnSpPr>
        <p:spPr>
          <a:xfrm>
            <a:off x="9217895" y="3601457"/>
            <a:ext cx="77804" cy="17202"/>
          </a:xfrm>
          <a:prstGeom prst="line">
            <a:avLst/>
          </a:prstGeom>
          <a:ln w="17145" cap="rnd">
            <a:solidFill>
              <a:srgbClr val="C45C28"/>
            </a:solidFill>
            <a:headEnd type="none" w="sm" len="sm"/>
            <a:tailEnd type="triangle" w="sm" len="sm"/>
          </a:ln>
        </p:spPr>
      </p:cxnSp>
      <p:cxnSp>
        <p:nvCxnSpPr>
          <p:cNvPr id="105" name="gd_state_20_gd_right_step_7" descr="Gradient descent update: [2.6854272000000003, 8.19791209299968] to [2.74834176, 8.126663739519795]"/>
          <p:cNvCxnSpPr/>
          <p:nvPr/>
        </p:nvCxnSpPr>
        <p:spPr>
          <a:xfrm>
            <a:off x="9295699" y="3618658"/>
            <a:ext cx="62243" cy="11009"/>
          </a:xfrm>
          <a:prstGeom prst="line">
            <a:avLst/>
          </a:prstGeom>
          <a:ln w="17145" cap="rnd">
            <a:solidFill>
              <a:srgbClr val="C45C28"/>
            </a:solidFill>
            <a:headEnd type="none" w="sm" len="sm"/>
            <a:tailEnd type="triangle" w="sm" len="sm"/>
          </a:ln>
        </p:spPr>
      </p:cxnSp>
      <p:cxnSp>
        <p:nvCxnSpPr>
          <p:cNvPr id="106" name="gd_state_20_gd_right_step_8" descr="Gradient descent update: [2.74834176, 8.126663739519795] to [2.798673408, 8.081064793292668]"/>
          <p:cNvCxnSpPr/>
          <p:nvPr/>
        </p:nvCxnSpPr>
        <p:spPr>
          <a:xfrm>
            <a:off x="9357942" y="3629668"/>
            <a:ext cx="49795" cy="7046"/>
          </a:xfrm>
          <a:prstGeom prst="line">
            <a:avLst/>
          </a:prstGeom>
          <a:ln w="17145" cap="rnd">
            <a:solidFill>
              <a:srgbClr val="C45C28"/>
            </a:solidFill>
            <a:headEnd type="none" w="sm" len="sm"/>
            <a:tailEnd type="triangle" w="sm" len="sm"/>
          </a:ln>
        </p:spPr>
      </p:cxnSp>
      <p:cxnSp>
        <p:nvCxnSpPr>
          <p:cNvPr id="107" name="gd_state_20_gd_right_step_9" descr="Gradient descent update: [2.798673408, 8.081064793292668] to [2.8389387264, 8.051881467707307]"/>
          <p:cNvCxnSpPr/>
          <p:nvPr/>
        </p:nvCxnSpPr>
        <p:spPr>
          <a:xfrm>
            <a:off x="9407737" y="3636713"/>
            <a:ext cx="39836" cy="4509"/>
          </a:xfrm>
          <a:prstGeom prst="line">
            <a:avLst/>
          </a:prstGeom>
          <a:ln w="17145" cap="rnd">
            <a:solidFill>
              <a:srgbClr val="C45C28"/>
            </a:solidFill>
            <a:headEnd type="none" w="sm" len="sm"/>
            <a:tailEnd type="triangle" w="sm" len="sm"/>
          </a:ln>
        </p:spPr>
      </p:cxnSp>
      <p:cxnSp>
        <p:nvCxnSpPr>
          <p:cNvPr id="108" name="gd_state_20_gd_right_step_10" descr="Gradient descent update: [2.8389387264, 8.051881467707307] to [2.87115098112, 8.033204139332677]"/>
          <p:cNvCxnSpPr/>
          <p:nvPr/>
        </p:nvCxnSpPr>
        <p:spPr>
          <a:xfrm>
            <a:off x="9447572" y="3641223"/>
            <a:ext cx="31869" cy="2886"/>
          </a:xfrm>
          <a:prstGeom prst="line">
            <a:avLst/>
          </a:prstGeom>
          <a:ln w="17145" cap="rnd">
            <a:solidFill>
              <a:srgbClr val="C45C28"/>
            </a:solidFill>
            <a:headEnd type="none" w="sm" len="sm"/>
            <a:tailEnd type="triangle" w="sm" len="sm"/>
          </a:ln>
        </p:spPr>
      </p:cxnSp>
      <p:cxnSp>
        <p:nvCxnSpPr>
          <p:cNvPr id="109" name="gd_state_20_gd_right_step_11" descr="Gradient descent update: [2.87115098112, 8.033204139332677] to [2.896920784896, 8.021250649172913]"/>
          <p:cNvCxnSpPr/>
          <p:nvPr/>
        </p:nvCxnSpPr>
        <p:spPr>
          <a:xfrm>
            <a:off x="9479441" y="3644109"/>
            <a:ext cx="25495" cy="1847"/>
          </a:xfrm>
          <a:prstGeom prst="line">
            <a:avLst/>
          </a:prstGeom>
          <a:ln w="17145" cap="rnd">
            <a:solidFill>
              <a:srgbClr val="C45C28"/>
            </a:solidFill>
            <a:headEnd type="none" w="sm" len="sm"/>
            <a:tailEnd type="triangle" w="sm" len="sm"/>
          </a:ln>
        </p:spPr>
      </p:cxnSp>
      <p:cxnSp>
        <p:nvCxnSpPr>
          <p:cNvPr id="110" name="gd_state_20_gd_right_step_12" descr="Gradient descent update: [2.896920784896, 8.021250649172913] to [2.9175366279168, 8.013600415470664]"/>
          <p:cNvCxnSpPr/>
          <p:nvPr/>
        </p:nvCxnSpPr>
        <p:spPr>
          <a:xfrm>
            <a:off x="9504936" y="3645956"/>
            <a:ext cx="20396" cy="1182"/>
          </a:xfrm>
          <a:prstGeom prst="line">
            <a:avLst/>
          </a:prstGeom>
          <a:ln w="17145" cap="rnd">
            <a:solidFill>
              <a:srgbClr val="C45C28"/>
            </a:solidFill>
            <a:headEnd type="none" w="sm" len="sm"/>
            <a:tailEnd type="triangle" w="sm" len="sm"/>
          </a:ln>
        </p:spPr>
      </p:cxnSp>
      <p:cxnSp>
        <p:nvCxnSpPr>
          <p:cNvPr id="111" name="gd_state_20_gd_right_step_13" descr="Gradient descent update: [2.9175366279168, 8.013600415470664] to [2.93402930233344, 8.008704265901226]"/>
          <p:cNvCxnSpPr/>
          <p:nvPr/>
        </p:nvCxnSpPr>
        <p:spPr>
          <a:xfrm>
            <a:off x="9525332" y="3647138"/>
            <a:ext cx="16317" cy="757"/>
          </a:xfrm>
          <a:prstGeom prst="line">
            <a:avLst/>
          </a:prstGeom>
          <a:ln w="17145" cap="rnd">
            <a:solidFill>
              <a:srgbClr val="C45C28"/>
            </a:solidFill>
            <a:headEnd type="none" w="sm" len="sm"/>
            <a:tailEnd type="triangle" w="sm" len="sm"/>
          </a:ln>
        </p:spPr>
      </p:cxnSp>
      <p:cxnSp>
        <p:nvCxnSpPr>
          <p:cNvPr id="112" name="gd_state_20_gd_right_step_14" descr="Gradient descent update: [2.93402930233344, 8.008704265901226] to [2.947223441866752, 8.005570730176784]"/>
          <p:cNvCxnSpPr/>
          <p:nvPr/>
        </p:nvCxnSpPr>
        <p:spPr>
          <a:xfrm>
            <a:off x="9541648" y="3647894"/>
            <a:ext cx="13053" cy="484"/>
          </a:xfrm>
          <a:prstGeom prst="line">
            <a:avLst/>
          </a:prstGeom>
          <a:ln w="17145" cap="rnd">
            <a:solidFill>
              <a:srgbClr val="C45C28"/>
            </a:solidFill>
            <a:headEnd type="none" w="sm" len="sm"/>
            <a:tailEnd type="triangle" w="sm" len="sm"/>
          </a:ln>
        </p:spPr>
      </p:cxnSp>
      <p:cxnSp>
        <p:nvCxnSpPr>
          <p:cNvPr id="113" name="gd_state_20_gd_right_step_15" descr="Gradient descent update: [2.947223441866752, 8.005570730176784] to [2.9577787534934012, 8.003565267313142]"/>
          <p:cNvCxnSpPr/>
          <p:nvPr/>
        </p:nvCxnSpPr>
        <p:spPr>
          <a:xfrm>
            <a:off x="9554702" y="3648378"/>
            <a:ext cx="10443" cy="310"/>
          </a:xfrm>
          <a:prstGeom prst="line">
            <a:avLst/>
          </a:prstGeom>
          <a:ln w="17145" cap="rnd">
            <a:solidFill>
              <a:srgbClr val="C45C28"/>
            </a:solidFill>
            <a:headEnd type="none" w="sm" len="sm"/>
            <a:tailEnd type="triangle" w="sm" len="sm"/>
          </a:ln>
        </p:spPr>
      </p:cxnSp>
      <p:cxnSp>
        <p:nvCxnSpPr>
          <p:cNvPr id="114" name="gd_state_20_gd_right_step_16" descr="Gradient descent update: [2.9577787534934012, 8.003565267313142] to [2.966223002794721, 8.00228177108041]"/>
          <p:cNvCxnSpPr/>
          <p:nvPr/>
        </p:nvCxnSpPr>
        <p:spPr>
          <a:xfrm>
            <a:off x="9565144" y="3648688"/>
            <a:ext cx="8354" cy="198"/>
          </a:xfrm>
          <a:prstGeom prst="line">
            <a:avLst/>
          </a:prstGeom>
          <a:ln w="17145" cap="rnd">
            <a:solidFill>
              <a:srgbClr val="C45C28"/>
            </a:solidFill>
            <a:headEnd type="none" w="sm" len="sm"/>
            <a:tailEnd type="triangle" w="sm" len="sm"/>
          </a:ln>
        </p:spPr>
      </p:cxnSp>
      <p:cxnSp>
        <p:nvCxnSpPr>
          <p:cNvPr id="115" name="gd_state_20_gd_right_step_17" descr="Gradient descent update: [2.966223002794721, 8.00228177108041] to [2.972978402235777, 8.001460333491464]"/>
          <p:cNvCxnSpPr/>
          <p:nvPr/>
        </p:nvCxnSpPr>
        <p:spPr>
          <a:xfrm>
            <a:off x="9573498" y="3648887"/>
            <a:ext cx="6683" cy="127"/>
          </a:xfrm>
          <a:prstGeom prst="line">
            <a:avLst/>
          </a:prstGeom>
          <a:ln w="17145" cap="rnd">
            <a:solidFill>
              <a:srgbClr val="C45C28"/>
            </a:solidFill>
            <a:headEnd type="none" w="sm" len="sm"/>
            <a:tailEnd type="triangle" w="sm" len="sm"/>
          </a:ln>
        </p:spPr>
      </p:cxnSp>
      <p:cxnSp>
        <p:nvCxnSpPr>
          <p:cNvPr id="116" name="gd_state_20_gd_right_step_18" descr="Gradient descent update: [2.972978402235777, 8.001460333491464] to [2.9783827217886216, 8.000934613434536]"/>
          <p:cNvCxnSpPr/>
          <p:nvPr/>
        </p:nvCxnSpPr>
        <p:spPr>
          <a:xfrm>
            <a:off x="9580182" y="3649014"/>
            <a:ext cx="5347" cy="81"/>
          </a:xfrm>
          <a:prstGeom prst="line">
            <a:avLst/>
          </a:prstGeom>
          <a:ln w="17145" cap="rnd">
            <a:solidFill>
              <a:srgbClr val="C45C28"/>
            </a:solidFill>
            <a:headEnd type="none" w="sm" len="sm"/>
            <a:tailEnd type="triangle" w="sm" len="sm"/>
          </a:ln>
        </p:spPr>
      </p:cxnSp>
      <p:cxnSp>
        <p:nvCxnSpPr>
          <p:cNvPr id="117" name="gd_state_20_gd_right_step_19" descr="Gradient descent update: [2.9783827217886216, 8.000934613434536] to [2.9827061774308974, 8.000598152598103]"/>
          <p:cNvCxnSpPr/>
          <p:nvPr/>
        </p:nvCxnSpPr>
        <p:spPr>
          <a:xfrm>
            <a:off x="9585528" y="3649095"/>
            <a:ext cx="4277" cy="52"/>
          </a:xfrm>
          <a:prstGeom prst="line">
            <a:avLst/>
          </a:prstGeom>
          <a:ln w="17145" cap="rnd">
            <a:solidFill>
              <a:srgbClr val="C45C28"/>
            </a:solidFill>
            <a:headEnd type="none" w="sm" len="sm"/>
            <a:tailEnd type="triangle" w="sm" len="sm"/>
          </a:ln>
        </p:spPr>
      </p:cxnSp>
    </p:spTree>
    <p:extLst>
      <p:ext uri="{BB962C8B-B14F-4D97-AF65-F5344CB8AC3E}">
        <p14:creationId xmlns:p14="http://schemas.microsoft.com/office/powerpoint/2010/main" val="123095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9"/>
                                          </p:stCondLst>
                                        </p:cTn>
                                        <p:tgtEl>
                                          <p:spTgt spid="12"/>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9"/>
                                          </p:stCondLst>
                                        </p:cTn>
                                        <p:tgtEl>
                                          <p:spTgt spid="13"/>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9"/>
                                          </p:stCondLst>
                                        </p:cTn>
                                        <p:tgtEl>
                                          <p:spTgt spid="14"/>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9"/>
                                          </p:stCondLst>
                                        </p:cTn>
                                        <p:tgtEl>
                                          <p:spTgt spid="15"/>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9"/>
                                          </p:stCondLst>
                                        </p:cTn>
                                        <p:tgtEl>
                                          <p:spTgt spid="16"/>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9"/>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9"/>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9"/>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9"/>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9"/>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9"/>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9"/>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9"/>
                                          </p:stCondLst>
                                        </p:cTn>
                                        <p:tgtEl>
                                          <p:spTgt spid="17"/>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9"/>
                                          </p:stCondLst>
                                        </p:cTn>
                                        <p:tgtEl>
                                          <p:spTgt spid="18"/>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9"/>
                                          </p:stCondLst>
                                        </p:cTn>
                                        <p:tgtEl>
                                          <p:spTgt spid="19"/>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9"/>
                                          </p:stCondLst>
                                        </p:cTn>
                                        <p:tgtEl>
                                          <p:spTgt spid="20"/>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9"/>
                                          </p:stCondLst>
                                        </p:cTn>
                                        <p:tgtEl>
                                          <p:spTgt spid="21"/>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9"/>
                                          </p:stCondLst>
                                        </p:cTn>
                                        <p:tgtEl>
                                          <p:spTgt spid="22"/>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9"/>
                                          </p:stCondLst>
                                        </p:cTn>
                                        <p:tgtEl>
                                          <p:spTgt spid="23"/>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9"/>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9"/>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9"/>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9"/>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9"/>
                                          </p:stCondLst>
                                        </p:cTn>
                                        <p:tgtEl>
                                          <p:spTgt spid="2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9"/>
                                          </p:stCondLst>
                                        </p:cTn>
                                        <p:tgtEl>
                                          <p:spTgt spid="2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9"/>
                                          </p:stCondLst>
                                        </p:cTn>
                                        <p:tgtEl>
                                          <p:spTgt spid="3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9"/>
                                          </p:stCondLst>
                                        </p:cTn>
                                        <p:tgtEl>
                                          <p:spTgt spid="3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9"/>
                                          </p:stCondLst>
                                        </p:cTn>
                                        <p:tgtEl>
                                          <p:spTgt spid="3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9"/>
                                          </p:stCondLst>
                                        </p:cTn>
                                        <p:tgtEl>
                                          <p:spTgt spid="24"/>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9"/>
                                          </p:stCondLst>
                                        </p:cTn>
                                        <p:tgtEl>
                                          <p:spTgt spid="25"/>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9"/>
                                          </p:stCondLst>
                                        </p:cTn>
                                        <p:tgtEl>
                                          <p:spTgt spid="26"/>
                                        </p:tgtEl>
                                        <p:attrNameLst>
                                          <p:attrName>style.visibility</p:attrName>
                                        </p:attrNameLst>
                                      </p:cBhvr>
                                      <p:to>
                                        <p:strVal val="hidden"/>
                                      </p:to>
                                    </p:set>
                                  </p:childTnLst>
                                </p:cTn>
                              </p:par>
                              <p:par>
                                <p:cTn id="71" presetID="1" presetClass="exit" presetSubtype="0" fill="hold" grpId="1" nodeType="withEffect">
                                  <p:stCondLst>
                                    <p:cond delay="0"/>
                                  </p:stCondLst>
                                  <p:childTnLst>
                                    <p:set>
                                      <p:cBhvr>
                                        <p:cTn id="72" dur="1" fill="hold">
                                          <p:stCondLst>
                                            <p:cond delay="9"/>
                                          </p:stCondLst>
                                        </p:cTn>
                                        <p:tgtEl>
                                          <p:spTgt spid="27"/>
                                        </p:tgtEl>
                                        <p:attrNameLst>
                                          <p:attrName>style.visibility</p:attrName>
                                        </p:attrNameLst>
                                      </p:cBhvr>
                                      <p:to>
                                        <p:strVal val="hidden"/>
                                      </p:to>
                                    </p:set>
                                  </p:childTnLst>
                                </p:cTn>
                              </p:par>
                              <p:par>
                                <p:cTn id="73" presetID="1" presetClass="exit" presetSubtype="0" fill="hold" grpId="1" nodeType="withEffect">
                                  <p:stCondLst>
                                    <p:cond delay="0"/>
                                  </p:stCondLst>
                                  <p:childTnLst>
                                    <p:set>
                                      <p:cBhvr>
                                        <p:cTn id="74" dur="1" fill="hold">
                                          <p:stCondLst>
                                            <p:cond delay="9"/>
                                          </p:stCondLst>
                                        </p:cTn>
                                        <p:tgtEl>
                                          <p:spTgt spid="28"/>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9"/>
                                          </p:stCondLst>
                                        </p:cTn>
                                        <p:tgtEl>
                                          <p:spTgt spid="29"/>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9"/>
                                          </p:stCondLst>
                                        </p:cTn>
                                        <p:tgtEl>
                                          <p:spTgt spid="30"/>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9"/>
                                          </p:stCondLst>
                                        </p:cTn>
                                        <p:tgtEl>
                                          <p:spTgt spid="31"/>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9"/>
                                          </p:stCondLst>
                                        </p:cTn>
                                        <p:tgtEl>
                                          <p:spTgt spid="32"/>
                                        </p:tgtEl>
                                        <p:attrNameLst>
                                          <p:attrName>style.visibility</p:attrName>
                                        </p:attrNameLst>
                                      </p:cBhvr>
                                      <p:to>
                                        <p:strVal val="hidden"/>
                                      </p:to>
                                    </p:set>
                                  </p:childTnLst>
                                </p:cTn>
                              </p:par>
                              <p:par>
                                <p:cTn id="83" presetID="1" presetClass="entr" presetSubtype="0" fill="hold" grpId="0" nodeType="withEffect">
                                  <p:stCondLst>
                                    <p:cond delay="0"/>
                                  </p:stCondLst>
                                  <p:childTnLst>
                                    <p:set>
                                      <p:cBhvr>
                                        <p:cTn id="84" dur="1" fill="hold">
                                          <p:stCondLst>
                                            <p:cond delay="9"/>
                                          </p:stCondLst>
                                        </p:cTn>
                                        <p:tgtEl>
                                          <p:spTgt spid="3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9"/>
                                          </p:stCondLst>
                                        </p:cTn>
                                        <p:tgtEl>
                                          <p:spTgt spid="3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9"/>
                                          </p:stCondLst>
                                        </p:cTn>
                                        <p:tgtEl>
                                          <p:spTgt spid="3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9"/>
                                          </p:stCondLst>
                                        </p:cTn>
                                        <p:tgtEl>
                                          <p:spTgt spid="3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9"/>
                                          </p:stCondLst>
                                        </p:cTn>
                                        <p:tgtEl>
                                          <p:spTgt spid="37"/>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9"/>
                                          </p:stCondLst>
                                        </p:cTn>
                                        <p:tgtEl>
                                          <p:spTgt spid="38"/>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9"/>
                                          </p:stCondLst>
                                        </p:cTn>
                                        <p:tgtEl>
                                          <p:spTgt spid="39"/>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9"/>
                                          </p:stCondLst>
                                        </p:cTn>
                                        <p:tgtEl>
                                          <p:spTgt spid="4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9"/>
                                          </p:stCondLst>
                                        </p:cTn>
                                        <p:tgtEl>
                                          <p:spTgt spid="41"/>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9"/>
                                          </p:stCondLst>
                                        </p:cTn>
                                        <p:tgtEl>
                                          <p:spTgt spid="42"/>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9"/>
                                          </p:stCondLst>
                                        </p:cTn>
                                        <p:tgtEl>
                                          <p:spTgt spid="43"/>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9"/>
                                          </p:stCondLst>
                                        </p:cTn>
                                        <p:tgtEl>
                                          <p:spTgt spid="44"/>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9"/>
                                          </p:stCondLst>
                                        </p:cTn>
                                        <p:tgtEl>
                                          <p:spTgt spid="45"/>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9"/>
                                          </p:stCondLst>
                                        </p:cTn>
                                        <p:tgtEl>
                                          <p:spTgt spid="46"/>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9"/>
                                          </p:stCondLst>
                                        </p:cTn>
                                        <p:tgtEl>
                                          <p:spTgt spid="47"/>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xit" presetSubtype="0" fill="hold" grpId="1" nodeType="clickEffect">
                                  <p:stCondLst>
                                    <p:cond delay="0"/>
                                  </p:stCondLst>
                                  <p:childTnLst>
                                    <p:set>
                                      <p:cBhvr>
                                        <p:cTn id="116" dur="1" fill="hold">
                                          <p:stCondLst>
                                            <p:cond delay="9"/>
                                          </p:stCondLst>
                                        </p:cTn>
                                        <p:tgtEl>
                                          <p:spTgt spid="33"/>
                                        </p:tgtEl>
                                        <p:attrNameLst>
                                          <p:attrName>style.visibility</p:attrName>
                                        </p:attrNameLst>
                                      </p:cBhvr>
                                      <p:to>
                                        <p:strVal val="hidden"/>
                                      </p:to>
                                    </p:set>
                                  </p:childTnLst>
                                </p:cTn>
                              </p:par>
                              <p:par>
                                <p:cTn id="117" presetID="1" presetClass="exit" presetSubtype="0" fill="hold" grpId="1" nodeType="withEffect">
                                  <p:stCondLst>
                                    <p:cond delay="0"/>
                                  </p:stCondLst>
                                  <p:childTnLst>
                                    <p:set>
                                      <p:cBhvr>
                                        <p:cTn id="118" dur="1" fill="hold">
                                          <p:stCondLst>
                                            <p:cond delay="9"/>
                                          </p:stCondLst>
                                        </p:cTn>
                                        <p:tgtEl>
                                          <p:spTgt spid="34"/>
                                        </p:tgtEl>
                                        <p:attrNameLst>
                                          <p:attrName>style.visibility</p:attrName>
                                        </p:attrNameLst>
                                      </p:cBhvr>
                                      <p:to>
                                        <p:strVal val="hidden"/>
                                      </p:to>
                                    </p:set>
                                  </p:childTnLst>
                                </p:cTn>
                              </p:par>
                              <p:par>
                                <p:cTn id="119" presetID="1" presetClass="exit" presetSubtype="0" fill="hold" grpId="1" nodeType="withEffect">
                                  <p:stCondLst>
                                    <p:cond delay="0"/>
                                  </p:stCondLst>
                                  <p:childTnLst>
                                    <p:set>
                                      <p:cBhvr>
                                        <p:cTn id="120" dur="1" fill="hold">
                                          <p:stCondLst>
                                            <p:cond delay="9"/>
                                          </p:stCondLst>
                                        </p:cTn>
                                        <p:tgtEl>
                                          <p:spTgt spid="35"/>
                                        </p:tgtEl>
                                        <p:attrNameLst>
                                          <p:attrName>style.visibility</p:attrName>
                                        </p:attrNameLst>
                                      </p:cBhvr>
                                      <p:to>
                                        <p:strVal val="hidden"/>
                                      </p:to>
                                    </p:set>
                                  </p:childTnLst>
                                </p:cTn>
                              </p:par>
                              <p:par>
                                <p:cTn id="121" presetID="1" presetClass="exit" presetSubtype="0" fill="hold" grpId="1" nodeType="withEffect">
                                  <p:stCondLst>
                                    <p:cond delay="0"/>
                                  </p:stCondLst>
                                  <p:childTnLst>
                                    <p:set>
                                      <p:cBhvr>
                                        <p:cTn id="122" dur="1" fill="hold">
                                          <p:stCondLst>
                                            <p:cond delay="9"/>
                                          </p:stCondLst>
                                        </p:cTn>
                                        <p:tgtEl>
                                          <p:spTgt spid="36"/>
                                        </p:tgtEl>
                                        <p:attrNameLst>
                                          <p:attrName>style.visibility</p:attrName>
                                        </p:attrNameLst>
                                      </p:cBhvr>
                                      <p:to>
                                        <p:strVal val="hidden"/>
                                      </p:to>
                                    </p:set>
                                  </p:childTnLst>
                                </p:cTn>
                              </p:par>
                              <p:par>
                                <p:cTn id="123" presetID="1" presetClass="exit" presetSubtype="0" fill="hold" grpId="1" nodeType="withEffect">
                                  <p:stCondLst>
                                    <p:cond delay="0"/>
                                  </p:stCondLst>
                                  <p:childTnLst>
                                    <p:set>
                                      <p:cBhvr>
                                        <p:cTn id="124" dur="1" fill="hold">
                                          <p:stCondLst>
                                            <p:cond delay="9"/>
                                          </p:stCondLst>
                                        </p:cTn>
                                        <p:tgtEl>
                                          <p:spTgt spid="37"/>
                                        </p:tgtEl>
                                        <p:attrNameLst>
                                          <p:attrName>style.visibility</p:attrName>
                                        </p:attrNameLst>
                                      </p:cBhvr>
                                      <p:to>
                                        <p:strVal val="hidden"/>
                                      </p:to>
                                    </p:set>
                                  </p:childTnLst>
                                </p:cTn>
                              </p:par>
                              <p:par>
                                <p:cTn id="125" presetID="1" presetClass="exit" presetSubtype="0" fill="hold" nodeType="withEffect">
                                  <p:stCondLst>
                                    <p:cond delay="0"/>
                                  </p:stCondLst>
                                  <p:childTnLst>
                                    <p:set>
                                      <p:cBhvr>
                                        <p:cTn id="126" dur="1" fill="hold">
                                          <p:stCondLst>
                                            <p:cond delay="9"/>
                                          </p:stCondLst>
                                        </p:cTn>
                                        <p:tgtEl>
                                          <p:spTgt spid="38"/>
                                        </p:tgtEl>
                                        <p:attrNameLst>
                                          <p:attrName>style.visibility</p:attrName>
                                        </p:attrNameLst>
                                      </p:cBhvr>
                                      <p:to>
                                        <p:strVal val="hidden"/>
                                      </p:to>
                                    </p:set>
                                  </p:childTnLst>
                                </p:cTn>
                              </p:par>
                              <p:par>
                                <p:cTn id="127" presetID="1" presetClass="exit" presetSubtype="0" fill="hold" nodeType="withEffect">
                                  <p:stCondLst>
                                    <p:cond delay="0"/>
                                  </p:stCondLst>
                                  <p:childTnLst>
                                    <p:set>
                                      <p:cBhvr>
                                        <p:cTn id="128" dur="1" fill="hold">
                                          <p:stCondLst>
                                            <p:cond delay="9"/>
                                          </p:stCondLst>
                                        </p:cTn>
                                        <p:tgtEl>
                                          <p:spTgt spid="39"/>
                                        </p:tgtEl>
                                        <p:attrNameLst>
                                          <p:attrName>style.visibility</p:attrName>
                                        </p:attrNameLst>
                                      </p:cBhvr>
                                      <p:to>
                                        <p:strVal val="hidden"/>
                                      </p:to>
                                    </p:set>
                                  </p:childTnLst>
                                </p:cTn>
                              </p:par>
                              <p:par>
                                <p:cTn id="129" presetID="1" presetClass="exit" presetSubtype="0" fill="hold" nodeType="withEffect">
                                  <p:stCondLst>
                                    <p:cond delay="0"/>
                                  </p:stCondLst>
                                  <p:childTnLst>
                                    <p:set>
                                      <p:cBhvr>
                                        <p:cTn id="130" dur="1" fill="hold">
                                          <p:stCondLst>
                                            <p:cond delay="9"/>
                                          </p:stCondLst>
                                        </p:cTn>
                                        <p:tgtEl>
                                          <p:spTgt spid="40"/>
                                        </p:tgtEl>
                                        <p:attrNameLst>
                                          <p:attrName>style.visibility</p:attrName>
                                        </p:attrNameLst>
                                      </p:cBhvr>
                                      <p:to>
                                        <p:strVal val="hidden"/>
                                      </p:to>
                                    </p:set>
                                  </p:childTnLst>
                                </p:cTn>
                              </p:par>
                              <p:par>
                                <p:cTn id="131" presetID="1" presetClass="exit" presetSubtype="0" fill="hold" nodeType="withEffect">
                                  <p:stCondLst>
                                    <p:cond delay="0"/>
                                  </p:stCondLst>
                                  <p:childTnLst>
                                    <p:set>
                                      <p:cBhvr>
                                        <p:cTn id="132" dur="1" fill="hold">
                                          <p:stCondLst>
                                            <p:cond delay="9"/>
                                          </p:stCondLst>
                                        </p:cTn>
                                        <p:tgtEl>
                                          <p:spTgt spid="41"/>
                                        </p:tgtEl>
                                        <p:attrNameLst>
                                          <p:attrName>style.visibility</p:attrName>
                                        </p:attrNameLst>
                                      </p:cBhvr>
                                      <p:to>
                                        <p:strVal val="hidden"/>
                                      </p:to>
                                    </p:set>
                                  </p:childTnLst>
                                </p:cTn>
                              </p:par>
                              <p:par>
                                <p:cTn id="133" presetID="1" presetClass="exit" presetSubtype="0" fill="hold" nodeType="withEffect">
                                  <p:stCondLst>
                                    <p:cond delay="0"/>
                                  </p:stCondLst>
                                  <p:childTnLst>
                                    <p:set>
                                      <p:cBhvr>
                                        <p:cTn id="134" dur="1" fill="hold">
                                          <p:stCondLst>
                                            <p:cond delay="9"/>
                                          </p:stCondLst>
                                        </p:cTn>
                                        <p:tgtEl>
                                          <p:spTgt spid="42"/>
                                        </p:tgtEl>
                                        <p:attrNameLst>
                                          <p:attrName>style.visibility</p:attrName>
                                        </p:attrNameLst>
                                      </p:cBhvr>
                                      <p:to>
                                        <p:strVal val="hidden"/>
                                      </p:to>
                                    </p:set>
                                  </p:childTnLst>
                                </p:cTn>
                              </p:par>
                              <p:par>
                                <p:cTn id="135" presetID="1" presetClass="exit" presetSubtype="0" fill="hold" nodeType="withEffect">
                                  <p:stCondLst>
                                    <p:cond delay="0"/>
                                  </p:stCondLst>
                                  <p:childTnLst>
                                    <p:set>
                                      <p:cBhvr>
                                        <p:cTn id="136" dur="1" fill="hold">
                                          <p:stCondLst>
                                            <p:cond delay="9"/>
                                          </p:stCondLst>
                                        </p:cTn>
                                        <p:tgtEl>
                                          <p:spTgt spid="43"/>
                                        </p:tgtEl>
                                        <p:attrNameLst>
                                          <p:attrName>style.visibility</p:attrName>
                                        </p:attrNameLst>
                                      </p:cBhvr>
                                      <p:to>
                                        <p:strVal val="hidden"/>
                                      </p:to>
                                    </p:set>
                                  </p:childTnLst>
                                </p:cTn>
                              </p:par>
                              <p:par>
                                <p:cTn id="137" presetID="1" presetClass="exit" presetSubtype="0" fill="hold" nodeType="withEffect">
                                  <p:stCondLst>
                                    <p:cond delay="0"/>
                                  </p:stCondLst>
                                  <p:childTnLst>
                                    <p:set>
                                      <p:cBhvr>
                                        <p:cTn id="138" dur="1" fill="hold">
                                          <p:stCondLst>
                                            <p:cond delay="9"/>
                                          </p:stCondLst>
                                        </p:cTn>
                                        <p:tgtEl>
                                          <p:spTgt spid="44"/>
                                        </p:tgtEl>
                                        <p:attrNameLst>
                                          <p:attrName>style.visibility</p:attrName>
                                        </p:attrNameLst>
                                      </p:cBhvr>
                                      <p:to>
                                        <p:strVal val="hidden"/>
                                      </p:to>
                                    </p:set>
                                  </p:childTnLst>
                                </p:cTn>
                              </p:par>
                              <p:par>
                                <p:cTn id="139" presetID="1" presetClass="exit" presetSubtype="0" fill="hold" nodeType="withEffect">
                                  <p:stCondLst>
                                    <p:cond delay="0"/>
                                  </p:stCondLst>
                                  <p:childTnLst>
                                    <p:set>
                                      <p:cBhvr>
                                        <p:cTn id="140" dur="1" fill="hold">
                                          <p:stCondLst>
                                            <p:cond delay="9"/>
                                          </p:stCondLst>
                                        </p:cTn>
                                        <p:tgtEl>
                                          <p:spTgt spid="45"/>
                                        </p:tgtEl>
                                        <p:attrNameLst>
                                          <p:attrName>style.visibility</p:attrName>
                                        </p:attrNameLst>
                                      </p:cBhvr>
                                      <p:to>
                                        <p:strVal val="hidden"/>
                                      </p:to>
                                    </p:set>
                                  </p:childTnLst>
                                </p:cTn>
                              </p:par>
                              <p:par>
                                <p:cTn id="141" presetID="1" presetClass="exit" presetSubtype="0" fill="hold" nodeType="withEffect">
                                  <p:stCondLst>
                                    <p:cond delay="0"/>
                                  </p:stCondLst>
                                  <p:childTnLst>
                                    <p:set>
                                      <p:cBhvr>
                                        <p:cTn id="142" dur="1" fill="hold">
                                          <p:stCondLst>
                                            <p:cond delay="9"/>
                                          </p:stCondLst>
                                        </p:cTn>
                                        <p:tgtEl>
                                          <p:spTgt spid="46"/>
                                        </p:tgtEl>
                                        <p:attrNameLst>
                                          <p:attrName>style.visibility</p:attrName>
                                        </p:attrNameLst>
                                      </p:cBhvr>
                                      <p:to>
                                        <p:strVal val="hidden"/>
                                      </p:to>
                                    </p:set>
                                  </p:childTnLst>
                                </p:cTn>
                              </p:par>
                              <p:par>
                                <p:cTn id="143" presetID="1" presetClass="exit" presetSubtype="0" fill="hold" nodeType="withEffect">
                                  <p:stCondLst>
                                    <p:cond delay="0"/>
                                  </p:stCondLst>
                                  <p:childTnLst>
                                    <p:set>
                                      <p:cBhvr>
                                        <p:cTn id="144" dur="1" fill="hold">
                                          <p:stCondLst>
                                            <p:cond delay="9"/>
                                          </p:stCondLst>
                                        </p:cTn>
                                        <p:tgtEl>
                                          <p:spTgt spid="47"/>
                                        </p:tgtEl>
                                        <p:attrNameLst>
                                          <p:attrName>style.visibility</p:attrName>
                                        </p:attrNameLst>
                                      </p:cBhvr>
                                      <p:to>
                                        <p:strVal val="hidden"/>
                                      </p:to>
                                    </p:set>
                                  </p:childTnLst>
                                </p:cTn>
                              </p:par>
                              <p:par>
                                <p:cTn id="145" presetID="1" presetClass="entr" presetSubtype="0" fill="hold" grpId="0" nodeType="withEffect">
                                  <p:stCondLst>
                                    <p:cond delay="0"/>
                                  </p:stCondLst>
                                  <p:childTnLst>
                                    <p:set>
                                      <p:cBhvr>
                                        <p:cTn id="146" dur="1" fill="hold">
                                          <p:stCondLst>
                                            <p:cond delay="9"/>
                                          </p:stCondLst>
                                        </p:cTn>
                                        <p:tgtEl>
                                          <p:spTgt spid="48"/>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9"/>
                                          </p:stCondLst>
                                        </p:cTn>
                                        <p:tgtEl>
                                          <p:spTgt spid="49"/>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9"/>
                                          </p:stCondLst>
                                        </p:cTn>
                                        <p:tgtEl>
                                          <p:spTgt spid="50"/>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9"/>
                                          </p:stCondLst>
                                        </p:cTn>
                                        <p:tgtEl>
                                          <p:spTgt spid="51"/>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9"/>
                                          </p:stCondLst>
                                        </p:cTn>
                                        <p:tgtEl>
                                          <p:spTgt spid="52"/>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9"/>
                                          </p:stCondLst>
                                        </p:cTn>
                                        <p:tgtEl>
                                          <p:spTgt spid="53"/>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9"/>
                                          </p:stCondLst>
                                        </p:cTn>
                                        <p:tgtEl>
                                          <p:spTgt spid="54"/>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9"/>
                                          </p:stCondLst>
                                        </p:cTn>
                                        <p:tgtEl>
                                          <p:spTgt spid="55"/>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9"/>
                                          </p:stCondLst>
                                        </p:cTn>
                                        <p:tgtEl>
                                          <p:spTgt spid="56"/>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9"/>
                                          </p:stCondLst>
                                        </p:cTn>
                                        <p:tgtEl>
                                          <p:spTgt spid="57"/>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9"/>
                                          </p:stCondLst>
                                        </p:cTn>
                                        <p:tgtEl>
                                          <p:spTgt spid="58"/>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9"/>
                                          </p:stCondLst>
                                        </p:cTn>
                                        <p:tgtEl>
                                          <p:spTgt spid="59"/>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9"/>
                                          </p:stCondLst>
                                        </p:cTn>
                                        <p:tgtEl>
                                          <p:spTgt spid="60"/>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9"/>
                                          </p:stCondLst>
                                        </p:cTn>
                                        <p:tgtEl>
                                          <p:spTgt spid="61"/>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9"/>
                                          </p:stCondLst>
                                        </p:cTn>
                                        <p:tgtEl>
                                          <p:spTgt spid="62"/>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9"/>
                                          </p:stCondLst>
                                        </p:cTn>
                                        <p:tgtEl>
                                          <p:spTgt spid="63"/>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9"/>
                                          </p:stCondLst>
                                        </p:cTn>
                                        <p:tgtEl>
                                          <p:spTgt spid="64"/>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9"/>
                                          </p:stCondLst>
                                        </p:cTn>
                                        <p:tgtEl>
                                          <p:spTgt spid="65"/>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9"/>
                                          </p:stCondLst>
                                        </p:cTn>
                                        <p:tgtEl>
                                          <p:spTgt spid="66"/>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9"/>
                                          </p:stCondLst>
                                        </p:cTn>
                                        <p:tgtEl>
                                          <p:spTgt spid="67"/>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9"/>
                                          </p:stCondLst>
                                        </p:cTn>
                                        <p:tgtEl>
                                          <p:spTgt spid="68"/>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9"/>
                                          </p:stCondLst>
                                        </p:cTn>
                                        <p:tgtEl>
                                          <p:spTgt spid="69"/>
                                        </p:tgtEl>
                                        <p:attrNameLst>
                                          <p:attrName>style.visibility</p:attrName>
                                        </p:attrNameLst>
                                      </p:cBhvr>
                                      <p:to>
                                        <p:strVal val="visible"/>
                                      </p:to>
                                    </p:set>
                                  </p:childTnLst>
                                </p:cTn>
                              </p:par>
                              <p:par>
                                <p:cTn id="189" presetID="1" presetClass="entr" presetSubtype="0" fill="hold" nodeType="withEffect">
                                  <p:stCondLst>
                                    <p:cond delay="0"/>
                                  </p:stCondLst>
                                  <p:childTnLst>
                                    <p:set>
                                      <p:cBhvr>
                                        <p:cTn id="190" dur="1" fill="hold">
                                          <p:stCondLst>
                                            <p:cond delay="9"/>
                                          </p:stCondLst>
                                        </p:cTn>
                                        <p:tgtEl>
                                          <p:spTgt spid="70"/>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9"/>
                                          </p:stCondLst>
                                        </p:cTn>
                                        <p:tgtEl>
                                          <p:spTgt spid="71"/>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9"/>
                                          </p:stCondLst>
                                        </p:cTn>
                                        <p:tgtEl>
                                          <p:spTgt spid="72"/>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xit" presetSubtype="0" fill="hold" grpId="1" nodeType="clickEffect">
                                  <p:stCondLst>
                                    <p:cond delay="0"/>
                                  </p:stCondLst>
                                  <p:childTnLst>
                                    <p:set>
                                      <p:cBhvr>
                                        <p:cTn id="198" dur="1" fill="hold">
                                          <p:stCondLst>
                                            <p:cond delay="9"/>
                                          </p:stCondLst>
                                        </p:cTn>
                                        <p:tgtEl>
                                          <p:spTgt spid="48"/>
                                        </p:tgtEl>
                                        <p:attrNameLst>
                                          <p:attrName>style.visibility</p:attrName>
                                        </p:attrNameLst>
                                      </p:cBhvr>
                                      <p:to>
                                        <p:strVal val="hidden"/>
                                      </p:to>
                                    </p:set>
                                  </p:childTnLst>
                                </p:cTn>
                              </p:par>
                              <p:par>
                                <p:cTn id="199" presetID="1" presetClass="exit" presetSubtype="0" fill="hold" grpId="1" nodeType="withEffect">
                                  <p:stCondLst>
                                    <p:cond delay="0"/>
                                  </p:stCondLst>
                                  <p:childTnLst>
                                    <p:set>
                                      <p:cBhvr>
                                        <p:cTn id="200" dur="1" fill="hold">
                                          <p:stCondLst>
                                            <p:cond delay="9"/>
                                          </p:stCondLst>
                                        </p:cTn>
                                        <p:tgtEl>
                                          <p:spTgt spid="49"/>
                                        </p:tgtEl>
                                        <p:attrNameLst>
                                          <p:attrName>style.visibility</p:attrName>
                                        </p:attrNameLst>
                                      </p:cBhvr>
                                      <p:to>
                                        <p:strVal val="hidden"/>
                                      </p:to>
                                    </p:set>
                                  </p:childTnLst>
                                </p:cTn>
                              </p:par>
                              <p:par>
                                <p:cTn id="201" presetID="1" presetClass="exit" presetSubtype="0" fill="hold" grpId="1" nodeType="withEffect">
                                  <p:stCondLst>
                                    <p:cond delay="0"/>
                                  </p:stCondLst>
                                  <p:childTnLst>
                                    <p:set>
                                      <p:cBhvr>
                                        <p:cTn id="202" dur="1" fill="hold">
                                          <p:stCondLst>
                                            <p:cond delay="9"/>
                                          </p:stCondLst>
                                        </p:cTn>
                                        <p:tgtEl>
                                          <p:spTgt spid="50"/>
                                        </p:tgtEl>
                                        <p:attrNameLst>
                                          <p:attrName>style.visibility</p:attrName>
                                        </p:attrNameLst>
                                      </p:cBhvr>
                                      <p:to>
                                        <p:strVal val="hidden"/>
                                      </p:to>
                                    </p:set>
                                  </p:childTnLst>
                                </p:cTn>
                              </p:par>
                              <p:par>
                                <p:cTn id="203" presetID="1" presetClass="exit" presetSubtype="0" fill="hold" grpId="1" nodeType="withEffect">
                                  <p:stCondLst>
                                    <p:cond delay="0"/>
                                  </p:stCondLst>
                                  <p:childTnLst>
                                    <p:set>
                                      <p:cBhvr>
                                        <p:cTn id="204" dur="1" fill="hold">
                                          <p:stCondLst>
                                            <p:cond delay="9"/>
                                          </p:stCondLst>
                                        </p:cTn>
                                        <p:tgtEl>
                                          <p:spTgt spid="51"/>
                                        </p:tgtEl>
                                        <p:attrNameLst>
                                          <p:attrName>style.visibility</p:attrName>
                                        </p:attrNameLst>
                                      </p:cBhvr>
                                      <p:to>
                                        <p:strVal val="hidden"/>
                                      </p:to>
                                    </p:set>
                                  </p:childTnLst>
                                </p:cTn>
                              </p:par>
                              <p:par>
                                <p:cTn id="205" presetID="1" presetClass="exit" presetSubtype="0" fill="hold" grpId="1" nodeType="withEffect">
                                  <p:stCondLst>
                                    <p:cond delay="0"/>
                                  </p:stCondLst>
                                  <p:childTnLst>
                                    <p:set>
                                      <p:cBhvr>
                                        <p:cTn id="206" dur="1" fill="hold">
                                          <p:stCondLst>
                                            <p:cond delay="9"/>
                                          </p:stCondLst>
                                        </p:cTn>
                                        <p:tgtEl>
                                          <p:spTgt spid="52"/>
                                        </p:tgtEl>
                                        <p:attrNameLst>
                                          <p:attrName>style.visibility</p:attrName>
                                        </p:attrNameLst>
                                      </p:cBhvr>
                                      <p:to>
                                        <p:strVal val="hidden"/>
                                      </p:to>
                                    </p:set>
                                  </p:childTnLst>
                                </p:cTn>
                              </p:par>
                              <p:par>
                                <p:cTn id="207" presetID="1" presetClass="exit" presetSubtype="0" fill="hold" nodeType="withEffect">
                                  <p:stCondLst>
                                    <p:cond delay="0"/>
                                  </p:stCondLst>
                                  <p:childTnLst>
                                    <p:set>
                                      <p:cBhvr>
                                        <p:cTn id="208" dur="1" fill="hold">
                                          <p:stCondLst>
                                            <p:cond delay="9"/>
                                          </p:stCondLst>
                                        </p:cTn>
                                        <p:tgtEl>
                                          <p:spTgt spid="53"/>
                                        </p:tgtEl>
                                        <p:attrNameLst>
                                          <p:attrName>style.visibility</p:attrName>
                                        </p:attrNameLst>
                                      </p:cBhvr>
                                      <p:to>
                                        <p:strVal val="hidden"/>
                                      </p:to>
                                    </p:set>
                                  </p:childTnLst>
                                </p:cTn>
                              </p:par>
                              <p:par>
                                <p:cTn id="209" presetID="1" presetClass="exit" presetSubtype="0" fill="hold" nodeType="withEffect">
                                  <p:stCondLst>
                                    <p:cond delay="0"/>
                                  </p:stCondLst>
                                  <p:childTnLst>
                                    <p:set>
                                      <p:cBhvr>
                                        <p:cTn id="210" dur="1" fill="hold">
                                          <p:stCondLst>
                                            <p:cond delay="9"/>
                                          </p:stCondLst>
                                        </p:cTn>
                                        <p:tgtEl>
                                          <p:spTgt spid="54"/>
                                        </p:tgtEl>
                                        <p:attrNameLst>
                                          <p:attrName>style.visibility</p:attrName>
                                        </p:attrNameLst>
                                      </p:cBhvr>
                                      <p:to>
                                        <p:strVal val="hidden"/>
                                      </p:to>
                                    </p:set>
                                  </p:childTnLst>
                                </p:cTn>
                              </p:par>
                              <p:par>
                                <p:cTn id="211" presetID="1" presetClass="exit" presetSubtype="0" fill="hold" nodeType="withEffect">
                                  <p:stCondLst>
                                    <p:cond delay="0"/>
                                  </p:stCondLst>
                                  <p:childTnLst>
                                    <p:set>
                                      <p:cBhvr>
                                        <p:cTn id="212" dur="1" fill="hold">
                                          <p:stCondLst>
                                            <p:cond delay="9"/>
                                          </p:stCondLst>
                                        </p:cTn>
                                        <p:tgtEl>
                                          <p:spTgt spid="55"/>
                                        </p:tgtEl>
                                        <p:attrNameLst>
                                          <p:attrName>style.visibility</p:attrName>
                                        </p:attrNameLst>
                                      </p:cBhvr>
                                      <p:to>
                                        <p:strVal val="hidden"/>
                                      </p:to>
                                    </p:set>
                                  </p:childTnLst>
                                </p:cTn>
                              </p:par>
                              <p:par>
                                <p:cTn id="213" presetID="1" presetClass="exit" presetSubtype="0" fill="hold" nodeType="withEffect">
                                  <p:stCondLst>
                                    <p:cond delay="0"/>
                                  </p:stCondLst>
                                  <p:childTnLst>
                                    <p:set>
                                      <p:cBhvr>
                                        <p:cTn id="214" dur="1" fill="hold">
                                          <p:stCondLst>
                                            <p:cond delay="9"/>
                                          </p:stCondLst>
                                        </p:cTn>
                                        <p:tgtEl>
                                          <p:spTgt spid="56"/>
                                        </p:tgtEl>
                                        <p:attrNameLst>
                                          <p:attrName>style.visibility</p:attrName>
                                        </p:attrNameLst>
                                      </p:cBhvr>
                                      <p:to>
                                        <p:strVal val="hidden"/>
                                      </p:to>
                                    </p:set>
                                  </p:childTnLst>
                                </p:cTn>
                              </p:par>
                              <p:par>
                                <p:cTn id="215" presetID="1" presetClass="exit" presetSubtype="0" fill="hold" nodeType="withEffect">
                                  <p:stCondLst>
                                    <p:cond delay="0"/>
                                  </p:stCondLst>
                                  <p:childTnLst>
                                    <p:set>
                                      <p:cBhvr>
                                        <p:cTn id="216" dur="1" fill="hold">
                                          <p:stCondLst>
                                            <p:cond delay="9"/>
                                          </p:stCondLst>
                                        </p:cTn>
                                        <p:tgtEl>
                                          <p:spTgt spid="57"/>
                                        </p:tgtEl>
                                        <p:attrNameLst>
                                          <p:attrName>style.visibility</p:attrName>
                                        </p:attrNameLst>
                                      </p:cBhvr>
                                      <p:to>
                                        <p:strVal val="hidden"/>
                                      </p:to>
                                    </p:set>
                                  </p:childTnLst>
                                </p:cTn>
                              </p:par>
                              <p:par>
                                <p:cTn id="217" presetID="1" presetClass="exit" presetSubtype="0" fill="hold" nodeType="withEffect">
                                  <p:stCondLst>
                                    <p:cond delay="0"/>
                                  </p:stCondLst>
                                  <p:childTnLst>
                                    <p:set>
                                      <p:cBhvr>
                                        <p:cTn id="218" dur="1" fill="hold">
                                          <p:stCondLst>
                                            <p:cond delay="9"/>
                                          </p:stCondLst>
                                        </p:cTn>
                                        <p:tgtEl>
                                          <p:spTgt spid="58"/>
                                        </p:tgtEl>
                                        <p:attrNameLst>
                                          <p:attrName>style.visibility</p:attrName>
                                        </p:attrNameLst>
                                      </p:cBhvr>
                                      <p:to>
                                        <p:strVal val="hidden"/>
                                      </p:to>
                                    </p:set>
                                  </p:childTnLst>
                                </p:cTn>
                              </p:par>
                              <p:par>
                                <p:cTn id="219" presetID="1" presetClass="exit" presetSubtype="0" fill="hold" nodeType="withEffect">
                                  <p:stCondLst>
                                    <p:cond delay="0"/>
                                  </p:stCondLst>
                                  <p:childTnLst>
                                    <p:set>
                                      <p:cBhvr>
                                        <p:cTn id="220" dur="1" fill="hold">
                                          <p:stCondLst>
                                            <p:cond delay="9"/>
                                          </p:stCondLst>
                                        </p:cTn>
                                        <p:tgtEl>
                                          <p:spTgt spid="59"/>
                                        </p:tgtEl>
                                        <p:attrNameLst>
                                          <p:attrName>style.visibility</p:attrName>
                                        </p:attrNameLst>
                                      </p:cBhvr>
                                      <p:to>
                                        <p:strVal val="hidden"/>
                                      </p:to>
                                    </p:set>
                                  </p:childTnLst>
                                </p:cTn>
                              </p:par>
                              <p:par>
                                <p:cTn id="221" presetID="1" presetClass="exit" presetSubtype="0" fill="hold" nodeType="withEffect">
                                  <p:stCondLst>
                                    <p:cond delay="0"/>
                                  </p:stCondLst>
                                  <p:childTnLst>
                                    <p:set>
                                      <p:cBhvr>
                                        <p:cTn id="222" dur="1" fill="hold">
                                          <p:stCondLst>
                                            <p:cond delay="9"/>
                                          </p:stCondLst>
                                        </p:cTn>
                                        <p:tgtEl>
                                          <p:spTgt spid="60"/>
                                        </p:tgtEl>
                                        <p:attrNameLst>
                                          <p:attrName>style.visibility</p:attrName>
                                        </p:attrNameLst>
                                      </p:cBhvr>
                                      <p:to>
                                        <p:strVal val="hidden"/>
                                      </p:to>
                                    </p:set>
                                  </p:childTnLst>
                                </p:cTn>
                              </p:par>
                              <p:par>
                                <p:cTn id="223" presetID="1" presetClass="exit" presetSubtype="0" fill="hold" nodeType="withEffect">
                                  <p:stCondLst>
                                    <p:cond delay="0"/>
                                  </p:stCondLst>
                                  <p:childTnLst>
                                    <p:set>
                                      <p:cBhvr>
                                        <p:cTn id="224" dur="1" fill="hold">
                                          <p:stCondLst>
                                            <p:cond delay="9"/>
                                          </p:stCondLst>
                                        </p:cTn>
                                        <p:tgtEl>
                                          <p:spTgt spid="61"/>
                                        </p:tgtEl>
                                        <p:attrNameLst>
                                          <p:attrName>style.visibility</p:attrName>
                                        </p:attrNameLst>
                                      </p:cBhvr>
                                      <p:to>
                                        <p:strVal val="hidden"/>
                                      </p:to>
                                    </p:set>
                                  </p:childTnLst>
                                </p:cTn>
                              </p:par>
                              <p:par>
                                <p:cTn id="225" presetID="1" presetClass="exit" presetSubtype="0" fill="hold" nodeType="withEffect">
                                  <p:stCondLst>
                                    <p:cond delay="0"/>
                                  </p:stCondLst>
                                  <p:childTnLst>
                                    <p:set>
                                      <p:cBhvr>
                                        <p:cTn id="226" dur="1" fill="hold">
                                          <p:stCondLst>
                                            <p:cond delay="9"/>
                                          </p:stCondLst>
                                        </p:cTn>
                                        <p:tgtEl>
                                          <p:spTgt spid="62"/>
                                        </p:tgtEl>
                                        <p:attrNameLst>
                                          <p:attrName>style.visibility</p:attrName>
                                        </p:attrNameLst>
                                      </p:cBhvr>
                                      <p:to>
                                        <p:strVal val="hidden"/>
                                      </p:to>
                                    </p:set>
                                  </p:childTnLst>
                                </p:cTn>
                              </p:par>
                              <p:par>
                                <p:cTn id="227" presetID="1" presetClass="exit" presetSubtype="0" fill="hold" nodeType="withEffect">
                                  <p:stCondLst>
                                    <p:cond delay="0"/>
                                  </p:stCondLst>
                                  <p:childTnLst>
                                    <p:set>
                                      <p:cBhvr>
                                        <p:cTn id="228" dur="1" fill="hold">
                                          <p:stCondLst>
                                            <p:cond delay="9"/>
                                          </p:stCondLst>
                                        </p:cTn>
                                        <p:tgtEl>
                                          <p:spTgt spid="63"/>
                                        </p:tgtEl>
                                        <p:attrNameLst>
                                          <p:attrName>style.visibility</p:attrName>
                                        </p:attrNameLst>
                                      </p:cBhvr>
                                      <p:to>
                                        <p:strVal val="hidden"/>
                                      </p:to>
                                    </p:set>
                                  </p:childTnLst>
                                </p:cTn>
                              </p:par>
                              <p:par>
                                <p:cTn id="229" presetID="1" presetClass="exit" presetSubtype="0" fill="hold" nodeType="withEffect">
                                  <p:stCondLst>
                                    <p:cond delay="0"/>
                                  </p:stCondLst>
                                  <p:childTnLst>
                                    <p:set>
                                      <p:cBhvr>
                                        <p:cTn id="230" dur="1" fill="hold">
                                          <p:stCondLst>
                                            <p:cond delay="9"/>
                                          </p:stCondLst>
                                        </p:cTn>
                                        <p:tgtEl>
                                          <p:spTgt spid="64"/>
                                        </p:tgtEl>
                                        <p:attrNameLst>
                                          <p:attrName>style.visibility</p:attrName>
                                        </p:attrNameLst>
                                      </p:cBhvr>
                                      <p:to>
                                        <p:strVal val="hidden"/>
                                      </p:to>
                                    </p:set>
                                  </p:childTnLst>
                                </p:cTn>
                              </p:par>
                              <p:par>
                                <p:cTn id="231" presetID="1" presetClass="exit" presetSubtype="0" fill="hold" nodeType="withEffect">
                                  <p:stCondLst>
                                    <p:cond delay="0"/>
                                  </p:stCondLst>
                                  <p:childTnLst>
                                    <p:set>
                                      <p:cBhvr>
                                        <p:cTn id="232" dur="1" fill="hold">
                                          <p:stCondLst>
                                            <p:cond delay="9"/>
                                          </p:stCondLst>
                                        </p:cTn>
                                        <p:tgtEl>
                                          <p:spTgt spid="65"/>
                                        </p:tgtEl>
                                        <p:attrNameLst>
                                          <p:attrName>style.visibility</p:attrName>
                                        </p:attrNameLst>
                                      </p:cBhvr>
                                      <p:to>
                                        <p:strVal val="hidden"/>
                                      </p:to>
                                    </p:set>
                                  </p:childTnLst>
                                </p:cTn>
                              </p:par>
                              <p:par>
                                <p:cTn id="233" presetID="1" presetClass="exit" presetSubtype="0" fill="hold" nodeType="withEffect">
                                  <p:stCondLst>
                                    <p:cond delay="0"/>
                                  </p:stCondLst>
                                  <p:childTnLst>
                                    <p:set>
                                      <p:cBhvr>
                                        <p:cTn id="234" dur="1" fill="hold">
                                          <p:stCondLst>
                                            <p:cond delay="9"/>
                                          </p:stCondLst>
                                        </p:cTn>
                                        <p:tgtEl>
                                          <p:spTgt spid="66"/>
                                        </p:tgtEl>
                                        <p:attrNameLst>
                                          <p:attrName>style.visibility</p:attrName>
                                        </p:attrNameLst>
                                      </p:cBhvr>
                                      <p:to>
                                        <p:strVal val="hidden"/>
                                      </p:to>
                                    </p:set>
                                  </p:childTnLst>
                                </p:cTn>
                              </p:par>
                              <p:par>
                                <p:cTn id="235" presetID="1" presetClass="exit" presetSubtype="0" fill="hold" nodeType="withEffect">
                                  <p:stCondLst>
                                    <p:cond delay="0"/>
                                  </p:stCondLst>
                                  <p:childTnLst>
                                    <p:set>
                                      <p:cBhvr>
                                        <p:cTn id="236" dur="1" fill="hold">
                                          <p:stCondLst>
                                            <p:cond delay="9"/>
                                          </p:stCondLst>
                                        </p:cTn>
                                        <p:tgtEl>
                                          <p:spTgt spid="67"/>
                                        </p:tgtEl>
                                        <p:attrNameLst>
                                          <p:attrName>style.visibility</p:attrName>
                                        </p:attrNameLst>
                                      </p:cBhvr>
                                      <p:to>
                                        <p:strVal val="hidden"/>
                                      </p:to>
                                    </p:set>
                                  </p:childTnLst>
                                </p:cTn>
                              </p:par>
                              <p:par>
                                <p:cTn id="237" presetID="1" presetClass="exit" presetSubtype="0" fill="hold" nodeType="withEffect">
                                  <p:stCondLst>
                                    <p:cond delay="0"/>
                                  </p:stCondLst>
                                  <p:childTnLst>
                                    <p:set>
                                      <p:cBhvr>
                                        <p:cTn id="238" dur="1" fill="hold">
                                          <p:stCondLst>
                                            <p:cond delay="9"/>
                                          </p:stCondLst>
                                        </p:cTn>
                                        <p:tgtEl>
                                          <p:spTgt spid="68"/>
                                        </p:tgtEl>
                                        <p:attrNameLst>
                                          <p:attrName>style.visibility</p:attrName>
                                        </p:attrNameLst>
                                      </p:cBhvr>
                                      <p:to>
                                        <p:strVal val="hidden"/>
                                      </p:to>
                                    </p:set>
                                  </p:childTnLst>
                                </p:cTn>
                              </p:par>
                              <p:par>
                                <p:cTn id="239" presetID="1" presetClass="exit" presetSubtype="0" fill="hold" nodeType="withEffect">
                                  <p:stCondLst>
                                    <p:cond delay="0"/>
                                  </p:stCondLst>
                                  <p:childTnLst>
                                    <p:set>
                                      <p:cBhvr>
                                        <p:cTn id="240" dur="1" fill="hold">
                                          <p:stCondLst>
                                            <p:cond delay="9"/>
                                          </p:stCondLst>
                                        </p:cTn>
                                        <p:tgtEl>
                                          <p:spTgt spid="69"/>
                                        </p:tgtEl>
                                        <p:attrNameLst>
                                          <p:attrName>style.visibility</p:attrName>
                                        </p:attrNameLst>
                                      </p:cBhvr>
                                      <p:to>
                                        <p:strVal val="hidden"/>
                                      </p:to>
                                    </p:set>
                                  </p:childTnLst>
                                </p:cTn>
                              </p:par>
                              <p:par>
                                <p:cTn id="241" presetID="1" presetClass="exit" presetSubtype="0" fill="hold" nodeType="withEffect">
                                  <p:stCondLst>
                                    <p:cond delay="0"/>
                                  </p:stCondLst>
                                  <p:childTnLst>
                                    <p:set>
                                      <p:cBhvr>
                                        <p:cTn id="242" dur="1" fill="hold">
                                          <p:stCondLst>
                                            <p:cond delay="9"/>
                                          </p:stCondLst>
                                        </p:cTn>
                                        <p:tgtEl>
                                          <p:spTgt spid="70"/>
                                        </p:tgtEl>
                                        <p:attrNameLst>
                                          <p:attrName>style.visibility</p:attrName>
                                        </p:attrNameLst>
                                      </p:cBhvr>
                                      <p:to>
                                        <p:strVal val="hidden"/>
                                      </p:to>
                                    </p:set>
                                  </p:childTnLst>
                                </p:cTn>
                              </p:par>
                              <p:par>
                                <p:cTn id="243" presetID="1" presetClass="exit" presetSubtype="0" fill="hold" nodeType="withEffect">
                                  <p:stCondLst>
                                    <p:cond delay="0"/>
                                  </p:stCondLst>
                                  <p:childTnLst>
                                    <p:set>
                                      <p:cBhvr>
                                        <p:cTn id="244" dur="1" fill="hold">
                                          <p:stCondLst>
                                            <p:cond delay="9"/>
                                          </p:stCondLst>
                                        </p:cTn>
                                        <p:tgtEl>
                                          <p:spTgt spid="71"/>
                                        </p:tgtEl>
                                        <p:attrNameLst>
                                          <p:attrName>style.visibility</p:attrName>
                                        </p:attrNameLst>
                                      </p:cBhvr>
                                      <p:to>
                                        <p:strVal val="hidden"/>
                                      </p:to>
                                    </p:set>
                                  </p:childTnLst>
                                </p:cTn>
                              </p:par>
                              <p:par>
                                <p:cTn id="245" presetID="1" presetClass="exit" presetSubtype="0" fill="hold" nodeType="withEffect">
                                  <p:stCondLst>
                                    <p:cond delay="0"/>
                                  </p:stCondLst>
                                  <p:childTnLst>
                                    <p:set>
                                      <p:cBhvr>
                                        <p:cTn id="246" dur="1" fill="hold">
                                          <p:stCondLst>
                                            <p:cond delay="9"/>
                                          </p:stCondLst>
                                        </p:cTn>
                                        <p:tgtEl>
                                          <p:spTgt spid="72"/>
                                        </p:tgtEl>
                                        <p:attrNameLst>
                                          <p:attrName>style.visibility</p:attrName>
                                        </p:attrNameLst>
                                      </p:cBhvr>
                                      <p:to>
                                        <p:strVal val="hidden"/>
                                      </p:to>
                                    </p:set>
                                  </p:childTnLst>
                                </p:cTn>
                              </p:par>
                              <p:par>
                                <p:cTn id="247" presetID="1" presetClass="entr" presetSubtype="0" fill="hold" grpId="0" nodeType="withEffect">
                                  <p:stCondLst>
                                    <p:cond delay="0"/>
                                  </p:stCondLst>
                                  <p:childTnLst>
                                    <p:set>
                                      <p:cBhvr>
                                        <p:cTn id="248" dur="1" fill="hold">
                                          <p:stCondLst>
                                            <p:cond delay="9"/>
                                          </p:stCondLst>
                                        </p:cTn>
                                        <p:tgtEl>
                                          <p:spTgt spid="73"/>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9"/>
                                          </p:stCondLst>
                                        </p:cTn>
                                        <p:tgtEl>
                                          <p:spTgt spid="74"/>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9"/>
                                          </p:stCondLst>
                                        </p:cTn>
                                        <p:tgtEl>
                                          <p:spTgt spid="75"/>
                                        </p:tgtEl>
                                        <p:attrNameLst>
                                          <p:attrName>style.visibility</p:attrName>
                                        </p:attrNameLst>
                                      </p:cBhvr>
                                      <p:to>
                                        <p:strVal val="visible"/>
                                      </p:to>
                                    </p:set>
                                  </p:childTnLst>
                                </p:cTn>
                              </p:par>
                              <p:par>
                                <p:cTn id="253" presetID="1" presetClass="entr" presetSubtype="0" fill="hold" grpId="0" nodeType="withEffect">
                                  <p:stCondLst>
                                    <p:cond delay="0"/>
                                  </p:stCondLst>
                                  <p:childTnLst>
                                    <p:set>
                                      <p:cBhvr>
                                        <p:cTn id="254" dur="1" fill="hold">
                                          <p:stCondLst>
                                            <p:cond delay="9"/>
                                          </p:stCondLst>
                                        </p:cTn>
                                        <p:tgtEl>
                                          <p:spTgt spid="76"/>
                                        </p:tgtEl>
                                        <p:attrNameLst>
                                          <p:attrName>style.visibility</p:attrName>
                                        </p:attrNameLst>
                                      </p:cBhvr>
                                      <p:to>
                                        <p:strVal val="visible"/>
                                      </p:to>
                                    </p:set>
                                  </p:childTnLst>
                                </p:cTn>
                              </p:par>
                              <p:par>
                                <p:cTn id="255" presetID="1" presetClass="entr" presetSubtype="0" fill="hold" grpId="0" nodeType="withEffect">
                                  <p:stCondLst>
                                    <p:cond delay="0"/>
                                  </p:stCondLst>
                                  <p:childTnLst>
                                    <p:set>
                                      <p:cBhvr>
                                        <p:cTn id="256" dur="1" fill="hold">
                                          <p:stCondLst>
                                            <p:cond delay="9"/>
                                          </p:stCondLst>
                                        </p:cTn>
                                        <p:tgtEl>
                                          <p:spTgt spid="77"/>
                                        </p:tgtEl>
                                        <p:attrNameLst>
                                          <p:attrName>style.visibility</p:attrName>
                                        </p:attrNameLst>
                                      </p:cBhvr>
                                      <p:to>
                                        <p:strVal val="visible"/>
                                      </p:to>
                                    </p:set>
                                  </p:childTnLst>
                                </p:cTn>
                              </p:par>
                              <p:par>
                                <p:cTn id="257" presetID="1" presetClass="entr" presetSubtype="0" fill="hold" nodeType="withEffect">
                                  <p:stCondLst>
                                    <p:cond delay="0"/>
                                  </p:stCondLst>
                                  <p:childTnLst>
                                    <p:set>
                                      <p:cBhvr>
                                        <p:cTn id="258" dur="1" fill="hold">
                                          <p:stCondLst>
                                            <p:cond delay="9"/>
                                          </p:stCondLst>
                                        </p:cTn>
                                        <p:tgtEl>
                                          <p:spTgt spid="78"/>
                                        </p:tgtEl>
                                        <p:attrNameLst>
                                          <p:attrName>style.visibility</p:attrName>
                                        </p:attrNameLst>
                                      </p:cBhvr>
                                      <p:to>
                                        <p:strVal val="visible"/>
                                      </p:to>
                                    </p:set>
                                  </p:childTnLst>
                                </p:cTn>
                              </p:par>
                              <p:par>
                                <p:cTn id="259" presetID="1" presetClass="entr" presetSubtype="0" fill="hold" nodeType="withEffect">
                                  <p:stCondLst>
                                    <p:cond delay="0"/>
                                  </p:stCondLst>
                                  <p:childTnLst>
                                    <p:set>
                                      <p:cBhvr>
                                        <p:cTn id="260" dur="1" fill="hold">
                                          <p:stCondLst>
                                            <p:cond delay="9"/>
                                          </p:stCondLst>
                                        </p:cTn>
                                        <p:tgtEl>
                                          <p:spTgt spid="79"/>
                                        </p:tgtEl>
                                        <p:attrNameLst>
                                          <p:attrName>style.visibility</p:attrName>
                                        </p:attrNameLst>
                                      </p:cBhvr>
                                      <p:to>
                                        <p:strVal val="visible"/>
                                      </p:to>
                                    </p:set>
                                  </p:childTnLst>
                                </p:cTn>
                              </p:par>
                              <p:par>
                                <p:cTn id="261" presetID="1" presetClass="entr" presetSubtype="0" fill="hold" nodeType="withEffect">
                                  <p:stCondLst>
                                    <p:cond delay="0"/>
                                  </p:stCondLst>
                                  <p:childTnLst>
                                    <p:set>
                                      <p:cBhvr>
                                        <p:cTn id="262" dur="1" fill="hold">
                                          <p:stCondLst>
                                            <p:cond delay="9"/>
                                          </p:stCondLst>
                                        </p:cTn>
                                        <p:tgtEl>
                                          <p:spTgt spid="80"/>
                                        </p:tgtEl>
                                        <p:attrNameLst>
                                          <p:attrName>style.visibility</p:attrName>
                                        </p:attrNameLst>
                                      </p:cBhvr>
                                      <p:to>
                                        <p:strVal val="visible"/>
                                      </p:to>
                                    </p:set>
                                  </p:childTnLst>
                                </p:cTn>
                              </p:par>
                              <p:par>
                                <p:cTn id="263" presetID="1" presetClass="entr" presetSubtype="0" fill="hold" nodeType="withEffect">
                                  <p:stCondLst>
                                    <p:cond delay="0"/>
                                  </p:stCondLst>
                                  <p:childTnLst>
                                    <p:set>
                                      <p:cBhvr>
                                        <p:cTn id="264" dur="1" fill="hold">
                                          <p:stCondLst>
                                            <p:cond delay="9"/>
                                          </p:stCondLst>
                                        </p:cTn>
                                        <p:tgtEl>
                                          <p:spTgt spid="81"/>
                                        </p:tgtEl>
                                        <p:attrNameLst>
                                          <p:attrName>style.visibility</p:attrName>
                                        </p:attrNameLst>
                                      </p:cBhvr>
                                      <p:to>
                                        <p:strVal val="visible"/>
                                      </p:to>
                                    </p:set>
                                  </p:childTnLst>
                                </p:cTn>
                              </p:par>
                              <p:par>
                                <p:cTn id="265" presetID="1" presetClass="entr" presetSubtype="0" fill="hold" nodeType="withEffect">
                                  <p:stCondLst>
                                    <p:cond delay="0"/>
                                  </p:stCondLst>
                                  <p:childTnLst>
                                    <p:set>
                                      <p:cBhvr>
                                        <p:cTn id="266" dur="1" fill="hold">
                                          <p:stCondLst>
                                            <p:cond delay="9"/>
                                          </p:stCondLst>
                                        </p:cTn>
                                        <p:tgtEl>
                                          <p:spTgt spid="82"/>
                                        </p:tgtEl>
                                        <p:attrNameLst>
                                          <p:attrName>style.visibility</p:attrName>
                                        </p:attrNameLst>
                                      </p:cBhvr>
                                      <p:to>
                                        <p:strVal val="visible"/>
                                      </p:to>
                                    </p:set>
                                  </p:childTnLst>
                                </p:cTn>
                              </p:par>
                              <p:par>
                                <p:cTn id="267" presetID="1" presetClass="entr" presetSubtype="0" fill="hold" nodeType="withEffect">
                                  <p:stCondLst>
                                    <p:cond delay="0"/>
                                  </p:stCondLst>
                                  <p:childTnLst>
                                    <p:set>
                                      <p:cBhvr>
                                        <p:cTn id="268" dur="1" fill="hold">
                                          <p:stCondLst>
                                            <p:cond delay="9"/>
                                          </p:stCondLst>
                                        </p:cTn>
                                        <p:tgtEl>
                                          <p:spTgt spid="83"/>
                                        </p:tgtEl>
                                        <p:attrNameLst>
                                          <p:attrName>style.visibility</p:attrName>
                                        </p:attrNameLst>
                                      </p:cBhvr>
                                      <p:to>
                                        <p:strVal val="visible"/>
                                      </p:to>
                                    </p:set>
                                  </p:childTnLst>
                                </p:cTn>
                              </p:par>
                              <p:par>
                                <p:cTn id="269" presetID="1" presetClass="entr" presetSubtype="0" fill="hold" nodeType="withEffect">
                                  <p:stCondLst>
                                    <p:cond delay="0"/>
                                  </p:stCondLst>
                                  <p:childTnLst>
                                    <p:set>
                                      <p:cBhvr>
                                        <p:cTn id="270" dur="1" fill="hold">
                                          <p:stCondLst>
                                            <p:cond delay="9"/>
                                          </p:stCondLst>
                                        </p:cTn>
                                        <p:tgtEl>
                                          <p:spTgt spid="84"/>
                                        </p:tgtEl>
                                        <p:attrNameLst>
                                          <p:attrName>style.visibility</p:attrName>
                                        </p:attrNameLst>
                                      </p:cBhvr>
                                      <p:to>
                                        <p:strVal val="visible"/>
                                      </p:to>
                                    </p:set>
                                  </p:childTnLst>
                                </p:cTn>
                              </p:par>
                              <p:par>
                                <p:cTn id="271" presetID="1" presetClass="entr" presetSubtype="0" fill="hold" nodeType="withEffect">
                                  <p:stCondLst>
                                    <p:cond delay="0"/>
                                  </p:stCondLst>
                                  <p:childTnLst>
                                    <p:set>
                                      <p:cBhvr>
                                        <p:cTn id="272" dur="1" fill="hold">
                                          <p:stCondLst>
                                            <p:cond delay="9"/>
                                          </p:stCondLst>
                                        </p:cTn>
                                        <p:tgtEl>
                                          <p:spTgt spid="85"/>
                                        </p:tgtEl>
                                        <p:attrNameLst>
                                          <p:attrName>style.visibility</p:attrName>
                                        </p:attrNameLst>
                                      </p:cBhvr>
                                      <p:to>
                                        <p:strVal val="visible"/>
                                      </p:to>
                                    </p:set>
                                  </p:childTnLst>
                                </p:cTn>
                              </p:par>
                              <p:par>
                                <p:cTn id="273" presetID="1" presetClass="entr" presetSubtype="0" fill="hold" nodeType="withEffect">
                                  <p:stCondLst>
                                    <p:cond delay="0"/>
                                  </p:stCondLst>
                                  <p:childTnLst>
                                    <p:set>
                                      <p:cBhvr>
                                        <p:cTn id="274" dur="1" fill="hold">
                                          <p:stCondLst>
                                            <p:cond delay="9"/>
                                          </p:stCondLst>
                                        </p:cTn>
                                        <p:tgtEl>
                                          <p:spTgt spid="86"/>
                                        </p:tgtEl>
                                        <p:attrNameLst>
                                          <p:attrName>style.visibility</p:attrName>
                                        </p:attrNameLst>
                                      </p:cBhvr>
                                      <p:to>
                                        <p:strVal val="visible"/>
                                      </p:to>
                                    </p:set>
                                  </p:childTnLst>
                                </p:cTn>
                              </p:par>
                              <p:par>
                                <p:cTn id="275" presetID="1" presetClass="entr" presetSubtype="0" fill="hold" nodeType="withEffect">
                                  <p:stCondLst>
                                    <p:cond delay="0"/>
                                  </p:stCondLst>
                                  <p:childTnLst>
                                    <p:set>
                                      <p:cBhvr>
                                        <p:cTn id="276" dur="1" fill="hold">
                                          <p:stCondLst>
                                            <p:cond delay="9"/>
                                          </p:stCondLst>
                                        </p:cTn>
                                        <p:tgtEl>
                                          <p:spTgt spid="87"/>
                                        </p:tgtEl>
                                        <p:attrNameLst>
                                          <p:attrName>style.visibility</p:attrName>
                                        </p:attrNameLst>
                                      </p:cBhvr>
                                      <p:to>
                                        <p:strVal val="visible"/>
                                      </p:to>
                                    </p:set>
                                  </p:childTnLst>
                                </p:cTn>
                              </p:par>
                              <p:par>
                                <p:cTn id="277" presetID="1" presetClass="entr" presetSubtype="0" fill="hold" nodeType="withEffect">
                                  <p:stCondLst>
                                    <p:cond delay="0"/>
                                  </p:stCondLst>
                                  <p:childTnLst>
                                    <p:set>
                                      <p:cBhvr>
                                        <p:cTn id="278" dur="1" fill="hold">
                                          <p:stCondLst>
                                            <p:cond delay="9"/>
                                          </p:stCondLst>
                                        </p:cTn>
                                        <p:tgtEl>
                                          <p:spTgt spid="88"/>
                                        </p:tgtEl>
                                        <p:attrNameLst>
                                          <p:attrName>style.visibility</p:attrName>
                                        </p:attrNameLst>
                                      </p:cBhvr>
                                      <p:to>
                                        <p:strVal val="visible"/>
                                      </p:to>
                                    </p:set>
                                  </p:childTnLst>
                                </p:cTn>
                              </p:par>
                              <p:par>
                                <p:cTn id="279" presetID="1" presetClass="entr" presetSubtype="0" fill="hold" nodeType="withEffect">
                                  <p:stCondLst>
                                    <p:cond delay="0"/>
                                  </p:stCondLst>
                                  <p:childTnLst>
                                    <p:set>
                                      <p:cBhvr>
                                        <p:cTn id="280" dur="1" fill="hold">
                                          <p:stCondLst>
                                            <p:cond delay="9"/>
                                          </p:stCondLst>
                                        </p:cTn>
                                        <p:tgtEl>
                                          <p:spTgt spid="89"/>
                                        </p:tgtEl>
                                        <p:attrNameLst>
                                          <p:attrName>style.visibility</p:attrName>
                                        </p:attrNameLst>
                                      </p:cBhvr>
                                      <p:to>
                                        <p:strVal val="visible"/>
                                      </p:to>
                                    </p:set>
                                  </p:childTnLst>
                                </p:cTn>
                              </p:par>
                              <p:par>
                                <p:cTn id="281" presetID="1" presetClass="entr" presetSubtype="0" fill="hold" nodeType="withEffect">
                                  <p:stCondLst>
                                    <p:cond delay="0"/>
                                  </p:stCondLst>
                                  <p:childTnLst>
                                    <p:set>
                                      <p:cBhvr>
                                        <p:cTn id="282" dur="1" fill="hold">
                                          <p:stCondLst>
                                            <p:cond delay="9"/>
                                          </p:stCondLst>
                                        </p:cTn>
                                        <p:tgtEl>
                                          <p:spTgt spid="90"/>
                                        </p:tgtEl>
                                        <p:attrNameLst>
                                          <p:attrName>style.visibility</p:attrName>
                                        </p:attrNameLst>
                                      </p:cBhvr>
                                      <p:to>
                                        <p:strVal val="visible"/>
                                      </p:to>
                                    </p:set>
                                  </p:childTnLst>
                                </p:cTn>
                              </p:par>
                              <p:par>
                                <p:cTn id="283" presetID="1" presetClass="entr" presetSubtype="0" fill="hold" nodeType="withEffect">
                                  <p:stCondLst>
                                    <p:cond delay="0"/>
                                  </p:stCondLst>
                                  <p:childTnLst>
                                    <p:set>
                                      <p:cBhvr>
                                        <p:cTn id="284" dur="1" fill="hold">
                                          <p:stCondLst>
                                            <p:cond delay="9"/>
                                          </p:stCondLst>
                                        </p:cTn>
                                        <p:tgtEl>
                                          <p:spTgt spid="91"/>
                                        </p:tgtEl>
                                        <p:attrNameLst>
                                          <p:attrName>style.visibility</p:attrName>
                                        </p:attrNameLst>
                                      </p:cBhvr>
                                      <p:to>
                                        <p:strVal val="visible"/>
                                      </p:to>
                                    </p:set>
                                  </p:childTnLst>
                                </p:cTn>
                              </p:par>
                              <p:par>
                                <p:cTn id="285" presetID="1" presetClass="entr" presetSubtype="0" fill="hold" nodeType="withEffect">
                                  <p:stCondLst>
                                    <p:cond delay="0"/>
                                  </p:stCondLst>
                                  <p:childTnLst>
                                    <p:set>
                                      <p:cBhvr>
                                        <p:cTn id="286" dur="1" fill="hold">
                                          <p:stCondLst>
                                            <p:cond delay="9"/>
                                          </p:stCondLst>
                                        </p:cTn>
                                        <p:tgtEl>
                                          <p:spTgt spid="92"/>
                                        </p:tgtEl>
                                        <p:attrNameLst>
                                          <p:attrName>style.visibility</p:attrName>
                                        </p:attrNameLst>
                                      </p:cBhvr>
                                      <p:to>
                                        <p:strVal val="visible"/>
                                      </p:to>
                                    </p:set>
                                  </p:childTnLst>
                                </p:cTn>
                              </p:par>
                              <p:par>
                                <p:cTn id="287" presetID="1" presetClass="entr" presetSubtype="0" fill="hold" nodeType="withEffect">
                                  <p:stCondLst>
                                    <p:cond delay="0"/>
                                  </p:stCondLst>
                                  <p:childTnLst>
                                    <p:set>
                                      <p:cBhvr>
                                        <p:cTn id="288" dur="1" fill="hold">
                                          <p:stCondLst>
                                            <p:cond delay="9"/>
                                          </p:stCondLst>
                                        </p:cTn>
                                        <p:tgtEl>
                                          <p:spTgt spid="93"/>
                                        </p:tgtEl>
                                        <p:attrNameLst>
                                          <p:attrName>style.visibility</p:attrName>
                                        </p:attrNameLst>
                                      </p:cBhvr>
                                      <p:to>
                                        <p:strVal val="visible"/>
                                      </p:to>
                                    </p:set>
                                  </p:childTnLst>
                                </p:cTn>
                              </p:par>
                              <p:par>
                                <p:cTn id="289" presetID="1" presetClass="entr" presetSubtype="0" fill="hold" nodeType="withEffect">
                                  <p:stCondLst>
                                    <p:cond delay="0"/>
                                  </p:stCondLst>
                                  <p:childTnLst>
                                    <p:set>
                                      <p:cBhvr>
                                        <p:cTn id="290" dur="1" fill="hold">
                                          <p:stCondLst>
                                            <p:cond delay="9"/>
                                          </p:stCondLst>
                                        </p:cTn>
                                        <p:tgtEl>
                                          <p:spTgt spid="94"/>
                                        </p:tgtEl>
                                        <p:attrNameLst>
                                          <p:attrName>style.visibility</p:attrName>
                                        </p:attrNameLst>
                                      </p:cBhvr>
                                      <p:to>
                                        <p:strVal val="visible"/>
                                      </p:to>
                                    </p:set>
                                  </p:childTnLst>
                                </p:cTn>
                              </p:par>
                              <p:par>
                                <p:cTn id="291" presetID="1" presetClass="entr" presetSubtype="0" fill="hold" nodeType="withEffect">
                                  <p:stCondLst>
                                    <p:cond delay="0"/>
                                  </p:stCondLst>
                                  <p:childTnLst>
                                    <p:set>
                                      <p:cBhvr>
                                        <p:cTn id="292" dur="1" fill="hold">
                                          <p:stCondLst>
                                            <p:cond delay="9"/>
                                          </p:stCondLst>
                                        </p:cTn>
                                        <p:tgtEl>
                                          <p:spTgt spid="95"/>
                                        </p:tgtEl>
                                        <p:attrNameLst>
                                          <p:attrName>style.visibility</p:attrName>
                                        </p:attrNameLst>
                                      </p:cBhvr>
                                      <p:to>
                                        <p:strVal val="visible"/>
                                      </p:to>
                                    </p:set>
                                  </p:childTnLst>
                                </p:cTn>
                              </p:par>
                              <p:par>
                                <p:cTn id="293" presetID="1" presetClass="entr" presetSubtype="0" fill="hold" nodeType="withEffect">
                                  <p:stCondLst>
                                    <p:cond delay="0"/>
                                  </p:stCondLst>
                                  <p:childTnLst>
                                    <p:set>
                                      <p:cBhvr>
                                        <p:cTn id="294" dur="1" fill="hold">
                                          <p:stCondLst>
                                            <p:cond delay="9"/>
                                          </p:stCondLst>
                                        </p:cTn>
                                        <p:tgtEl>
                                          <p:spTgt spid="96"/>
                                        </p:tgtEl>
                                        <p:attrNameLst>
                                          <p:attrName>style.visibility</p:attrName>
                                        </p:attrNameLst>
                                      </p:cBhvr>
                                      <p:to>
                                        <p:strVal val="visible"/>
                                      </p:to>
                                    </p:set>
                                  </p:childTnLst>
                                </p:cTn>
                              </p:par>
                              <p:par>
                                <p:cTn id="295" presetID="1" presetClass="entr" presetSubtype="0" fill="hold" nodeType="withEffect">
                                  <p:stCondLst>
                                    <p:cond delay="0"/>
                                  </p:stCondLst>
                                  <p:childTnLst>
                                    <p:set>
                                      <p:cBhvr>
                                        <p:cTn id="296" dur="1" fill="hold">
                                          <p:stCondLst>
                                            <p:cond delay="9"/>
                                          </p:stCondLst>
                                        </p:cTn>
                                        <p:tgtEl>
                                          <p:spTgt spid="97"/>
                                        </p:tgtEl>
                                        <p:attrNameLst>
                                          <p:attrName>style.visibility</p:attrName>
                                        </p:attrNameLst>
                                      </p:cBhvr>
                                      <p:to>
                                        <p:strVal val="visible"/>
                                      </p:to>
                                    </p:set>
                                  </p:childTnLst>
                                </p:cTn>
                              </p:par>
                              <p:par>
                                <p:cTn id="297" presetID="1" presetClass="entr" presetSubtype="0" fill="hold" nodeType="withEffect">
                                  <p:stCondLst>
                                    <p:cond delay="0"/>
                                  </p:stCondLst>
                                  <p:childTnLst>
                                    <p:set>
                                      <p:cBhvr>
                                        <p:cTn id="298" dur="1" fill="hold">
                                          <p:stCondLst>
                                            <p:cond delay="9"/>
                                          </p:stCondLst>
                                        </p:cTn>
                                        <p:tgtEl>
                                          <p:spTgt spid="98"/>
                                        </p:tgtEl>
                                        <p:attrNameLst>
                                          <p:attrName>style.visibility</p:attrName>
                                        </p:attrNameLst>
                                      </p:cBhvr>
                                      <p:to>
                                        <p:strVal val="visible"/>
                                      </p:to>
                                    </p:set>
                                  </p:childTnLst>
                                </p:cTn>
                              </p:par>
                              <p:par>
                                <p:cTn id="299" presetID="1" presetClass="entr" presetSubtype="0" fill="hold" nodeType="withEffect">
                                  <p:stCondLst>
                                    <p:cond delay="0"/>
                                  </p:stCondLst>
                                  <p:childTnLst>
                                    <p:set>
                                      <p:cBhvr>
                                        <p:cTn id="300" dur="1" fill="hold">
                                          <p:stCondLst>
                                            <p:cond delay="9"/>
                                          </p:stCondLst>
                                        </p:cTn>
                                        <p:tgtEl>
                                          <p:spTgt spid="99"/>
                                        </p:tgtEl>
                                        <p:attrNameLst>
                                          <p:attrName>style.visibility</p:attrName>
                                        </p:attrNameLst>
                                      </p:cBhvr>
                                      <p:to>
                                        <p:strVal val="visible"/>
                                      </p:to>
                                    </p:set>
                                  </p:childTnLst>
                                </p:cTn>
                              </p:par>
                              <p:par>
                                <p:cTn id="301" presetID="1" presetClass="entr" presetSubtype="0" fill="hold" nodeType="withEffect">
                                  <p:stCondLst>
                                    <p:cond delay="0"/>
                                  </p:stCondLst>
                                  <p:childTnLst>
                                    <p:set>
                                      <p:cBhvr>
                                        <p:cTn id="302" dur="1" fill="hold">
                                          <p:stCondLst>
                                            <p:cond delay="9"/>
                                          </p:stCondLst>
                                        </p:cTn>
                                        <p:tgtEl>
                                          <p:spTgt spid="100"/>
                                        </p:tgtEl>
                                        <p:attrNameLst>
                                          <p:attrName>style.visibility</p:attrName>
                                        </p:attrNameLst>
                                      </p:cBhvr>
                                      <p:to>
                                        <p:strVal val="visible"/>
                                      </p:to>
                                    </p:set>
                                  </p:childTnLst>
                                </p:cTn>
                              </p:par>
                              <p:par>
                                <p:cTn id="303" presetID="1" presetClass="entr" presetSubtype="0" fill="hold" nodeType="withEffect">
                                  <p:stCondLst>
                                    <p:cond delay="0"/>
                                  </p:stCondLst>
                                  <p:childTnLst>
                                    <p:set>
                                      <p:cBhvr>
                                        <p:cTn id="304" dur="1" fill="hold">
                                          <p:stCondLst>
                                            <p:cond delay="9"/>
                                          </p:stCondLst>
                                        </p:cTn>
                                        <p:tgtEl>
                                          <p:spTgt spid="101"/>
                                        </p:tgtEl>
                                        <p:attrNameLst>
                                          <p:attrName>style.visibility</p:attrName>
                                        </p:attrNameLst>
                                      </p:cBhvr>
                                      <p:to>
                                        <p:strVal val="visible"/>
                                      </p:to>
                                    </p:set>
                                  </p:childTnLst>
                                </p:cTn>
                              </p:par>
                              <p:par>
                                <p:cTn id="305" presetID="1" presetClass="entr" presetSubtype="0" fill="hold" nodeType="withEffect">
                                  <p:stCondLst>
                                    <p:cond delay="0"/>
                                  </p:stCondLst>
                                  <p:childTnLst>
                                    <p:set>
                                      <p:cBhvr>
                                        <p:cTn id="306" dur="1" fill="hold">
                                          <p:stCondLst>
                                            <p:cond delay="9"/>
                                          </p:stCondLst>
                                        </p:cTn>
                                        <p:tgtEl>
                                          <p:spTgt spid="102"/>
                                        </p:tgtEl>
                                        <p:attrNameLst>
                                          <p:attrName>style.visibility</p:attrName>
                                        </p:attrNameLst>
                                      </p:cBhvr>
                                      <p:to>
                                        <p:strVal val="visible"/>
                                      </p:to>
                                    </p:set>
                                  </p:childTnLst>
                                </p:cTn>
                              </p:par>
                              <p:par>
                                <p:cTn id="307" presetID="1" presetClass="entr" presetSubtype="0" fill="hold" nodeType="withEffect">
                                  <p:stCondLst>
                                    <p:cond delay="0"/>
                                  </p:stCondLst>
                                  <p:childTnLst>
                                    <p:set>
                                      <p:cBhvr>
                                        <p:cTn id="308" dur="1" fill="hold">
                                          <p:stCondLst>
                                            <p:cond delay="9"/>
                                          </p:stCondLst>
                                        </p:cTn>
                                        <p:tgtEl>
                                          <p:spTgt spid="103"/>
                                        </p:tgtEl>
                                        <p:attrNameLst>
                                          <p:attrName>style.visibility</p:attrName>
                                        </p:attrNameLst>
                                      </p:cBhvr>
                                      <p:to>
                                        <p:strVal val="visible"/>
                                      </p:to>
                                    </p:set>
                                  </p:childTnLst>
                                </p:cTn>
                              </p:par>
                              <p:par>
                                <p:cTn id="309" presetID="1" presetClass="entr" presetSubtype="0" fill="hold" nodeType="withEffect">
                                  <p:stCondLst>
                                    <p:cond delay="0"/>
                                  </p:stCondLst>
                                  <p:childTnLst>
                                    <p:set>
                                      <p:cBhvr>
                                        <p:cTn id="310" dur="1" fill="hold">
                                          <p:stCondLst>
                                            <p:cond delay="9"/>
                                          </p:stCondLst>
                                        </p:cTn>
                                        <p:tgtEl>
                                          <p:spTgt spid="104"/>
                                        </p:tgtEl>
                                        <p:attrNameLst>
                                          <p:attrName>style.visibility</p:attrName>
                                        </p:attrNameLst>
                                      </p:cBhvr>
                                      <p:to>
                                        <p:strVal val="visible"/>
                                      </p:to>
                                    </p:set>
                                  </p:childTnLst>
                                </p:cTn>
                              </p:par>
                              <p:par>
                                <p:cTn id="311" presetID="1" presetClass="entr" presetSubtype="0" fill="hold" nodeType="withEffect">
                                  <p:stCondLst>
                                    <p:cond delay="0"/>
                                  </p:stCondLst>
                                  <p:childTnLst>
                                    <p:set>
                                      <p:cBhvr>
                                        <p:cTn id="312" dur="1" fill="hold">
                                          <p:stCondLst>
                                            <p:cond delay="9"/>
                                          </p:stCondLst>
                                        </p:cTn>
                                        <p:tgtEl>
                                          <p:spTgt spid="105"/>
                                        </p:tgtEl>
                                        <p:attrNameLst>
                                          <p:attrName>style.visibility</p:attrName>
                                        </p:attrNameLst>
                                      </p:cBhvr>
                                      <p:to>
                                        <p:strVal val="visible"/>
                                      </p:to>
                                    </p:set>
                                  </p:childTnLst>
                                </p:cTn>
                              </p:par>
                              <p:par>
                                <p:cTn id="313" presetID="1" presetClass="entr" presetSubtype="0" fill="hold" nodeType="withEffect">
                                  <p:stCondLst>
                                    <p:cond delay="0"/>
                                  </p:stCondLst>
                                  <p:childTnLst>
                                    <p:set>
                                      <p:cBhvr>
                                        <p:cTn id="314" dur="1" fill="hold">
                                          <p:stCondLst>
                                            <p:cond delay="9"/>
                                          </p:stCondLst>
                                        </p:cTn>
                                        <p:tgtEl>
                                          <p:spTgt spid="106"/>
                                        </p:tgtEl>
                                        <p:attrNameLst>
                                          <p:attrName>style.visibility</p:attrName>
                                        </p:attrNameLst>
                                      </p:cBhvr>
                                      <p:to>
                                        <p:strVal val="visible"/>
                                      </p:to>
                                    </p:set>
                                  </p:childTnLst>
                                </p:cTn>
                              </p:par>
                              <p:par>
                                <p:cTn id="315" presetID="1" presetClass="entr" presetSubtype="0" fill="hold" nodeType="withEffect">
                                  <p:stCondLst>
                                    <p:cond delay="0"/>
                                  </p:stCondLst>
                                  <p:childTnLst>
                                    <p:set>
                                      <p:cBhvr>
                                        <p:cTn id="316" dur="1" fill="hold">
                                          <p:stCondLst>
                                            <p:cond delay="9"/>
                                          </p:stCondLst>
                                        </p:cTn>
                                        <p:tgtEl>
                                          <p:spTgt spid="107"/>
                                        </p:tgtEl>
                                        <p:attrNameLst>
                                          <p:attrName>style.visibility</p:attrName>
                                        </p:attrNameLst>
                                      </p:cBhvr>
                                      <p:to>
                                        <p:strVal val="visible"/>
                                      </p:to>
                                    </p:set>
                                  </p:childTnLst>
                                </p:cTn>
                              </p:par>
                              <p:par>
                                <p:cTn id="317" presetID="1" presetClass="entr" presetSubtype="0" fill="hold" nodeType="withEffect">
                                  <p:stCondLst>
                                    <p:cond delay="0"/>
                                  </p:stCondLst>
                                  <p:childTnLst>
                                    <p:set>
                                      <p:cBhvr>
                                        <p:cTn id="318" dur="1" fill="hold">
                                          <p:stCondLst>
                                            <p:cond delay="9"/>
                                          </p:stCondLst>
                                        </p:cTn>
                                        <p:tgtEl>
                                          <p:spTgt spid="108"/>
                                        </p:tgtEl>
                                        <p:attrNameLst>
                                          <p:attrName>style.visibility</p:attrName>
                                        </p:attrNameLst>
                                      </p:cBhvr>
                                      <p:to>
                                        <p:strVal val="visible"/>
                                      </p:to>
                                    </p:set>
                                  </p:childTnLst>
                                </p:cTn>
                              </p:par>
                              <p:par>
                                <p:cTn id="319" presetID="1" presetClass="entr" presetSubtype="0" fill="hold" nodeType="withEffect">
                                  <p:stCondLst>
                                    <p:cond delay="0"/>
                                  </p:stCondLst>
                                  <p:childTnLst>
                                    <p:set>
                                      <p:cBhvr>
                                        <p:cTn id="320" dur="1" fill="hold">
                                          <p:stCondLst>
                                            <p:cond delay="9"/>
                                          </p:stCondLst>
                                        </p:cTn>
                                        <p:tgtEl>
                                          <p:spTgt spid="109"/>
                                        </p:tgtEl>
                                        <p:attrNameLst>
                                          <p:attrName>style.visibility</p:attrName>
                                        </p:attrNameLst>
                                      </p:cBhvr>
                                      <p:to>
                                        <p:strVal val="visible"/>
                                      </p:to>
                                    </p:set>
                                  </p:childTnLst>
                                </p:cTn>
                              </p:par>
                              <p:par>
                                <p:cTn id="321" presetID="1" presetClass="entr" presetSubtype="0" fill="hold" nodeType="withEffect">
                                  <p:stCondLst>
                                    <p:cond delay="0"/>
                                  </p:stCondLst>
                                  <p:childTnLst>
                                    <p:set>
                                      <p:cBhvr>
                                        <p:cTn id="322" dur="1" fill="hold">
                                          <p:stCondLst>
                                            <p:cond delay="9"/>
                                          </p:stCondLst>
                                        </p:cTn>
                                        <p:tgtEl>
                                          <p:spTgt spid="110"/>
                                        </p:tgtEl>
                                        <p:attrNameLst>
                                          <p:attrName>style.visibility</p:attrName>
                                        </p:attrNameLst>
                                      </p:cBhvr>
                                      <p:to>
                                        <p:strVal val="visible"/>
                                      </p:to>
                                    </p:set>
                                  </p:childTnLst>
                                </p:cTn>
                              </p:par>
                              <p:par>
                                <p:cTn id="323" presetID="1" presetClass="entr" presetSubtype="0" fill="hold" nodeType="withEffect">
                                  <p:stCondLst>
                                    <p:cond delay="0"/>
                                  </p:stCondLst>
                                  <p:childTnLst>
                                    <p:set>
                                      <p:cBhvr>
                                        <p:cTn id="324" dur="1" fill="hold">
                                          <p:stCondLst>
                                            <p:cond delay="9"/>
                                          </p:stCondLst>
                                        </p:cTn>
                                        <p:tgtEl>
                                          <p:spTgt spid="111"/>
                                        </p:tgtEl>
                                        <p:attrNameLst>
                                          <p:attrName>style.visibility</p:attrName>
                                        </p:attrNameLst>
                                      </p:cBhvr>
                                      <p:to>
                                        <p:strVal val="visible"/>
                                      </p:to>
                                    </p:set>
                                  </p:childTnLst>
                                </p:cTn>
                              </p:par>
                              <p:par>
                                <p:cTn id="325" presetID="1" presetClass="entr" presetSubtype="0" fill="hold" nodeType="withEffect">
                                  <p:stCondLst>
                                    <p:cond delay="0"/>
                                  </p:stCondLst>
                                  <p:childTnLst>
                                    <p:set>
                                      <p:cBhvr>
                                        <p:cTn id="326" dur="1" fill="hold">
                                          <p:stCondLst>
                                            <p:cond delay="9"/>
                                          </p:stCondLst>
                                        </p:cTn>
                                        <p:tgtEl>
                                          <p:spTgt spid="112"/>
                                        </p:tgtEl>
                                        <p:attrNameLst>
                                          <p:attrName>style.visibility</p:attrName>
                                        </p:attrNameLst>
                                      </p:cBhvr>
                                      <p:to>
                                        <p:strVal val="visible"/>
                                      </p:to>
                                    </p:set>
                                  </p:childTnLst>
                                </p:cTn>
                              </p:par>
                              <p:par>
                                <p:cTn id="327" presetID="1" presetClass="entr" presetSubtype="0" fill="hold" nodeType="withEffect">
                                  <p:stCondLst>
                                    <p:cond delay="0"/>
                                  </p:stCondLst>
                                  <p:childTnLst>
                                    <p:set>
                                      <p:cBhvr>
                                        <p:cTn id="328" dur="1" fill="hold">
                                          <p:stCondLst>
                                            <p:cond delay="9"/>
                                          </p:stCondLst>
                                        </p:cTn>
                                        <p:tgtEl>
                                          <p:spTgt spid="113"/>
                                        </p:tgtEl>
                                        <p:attrNameLst>
                                          <p:attrName>style.visibility</p:attrName>
                                        </p:attrNameLst>
                                      </p:cBhvr>
                                      <p:to>
                                        <p:strVal val="visible"/>
                                      </p:to>
                                    </p:set>
                                  </p:childTnLst>
                                </p:cTn>
                              </p:par>
                              <p:par>
                                <p:cTn id="329" presetID="1" presetClass="entr" presetSubtype="0" fill="hold" nodeType="withEffect">
                                  <p:stCondLst>
                                    <p:cond delay="0"/>
                                  </p:stCondLst>
                                  <p:childTnLst>
                                    <p:set>
                                      <p:cBhvr>
                                        <p:cTn id="330" dur="1" fill="hold">
                                          <p:stCondLst>
                                            <p:cond delay="9"/>
                                          </p:stCondLst>
                                        </p:cTn>
                                        <p:tgtEl>
                                          <p:spTgt spid="114"/>
                                        </p:tgtEl>
                                        <p:attrNameLst>
                                          <p:attrName>style.visibility</p:attrName>
                                        </p:attrNameLst>
                                      </p:cBhvr>
                                      <p:to>
                                        <p:strVal val="visible"/>
                                      </p:to>
                                    </p:set>
                                  </p:childTnLst>
                                </p:cTn>
                              </p:par>
                              <p:par>
                                <p:cTn id="331" presetID="1" presetClass="entr" presetSubtype="0" fill="hold" nodeType="withEffect">
                                  <p:stCondLst>
                                    <p:cond delay="0"/>
                                  </p:stCondLst>
                                  <p:childTnLst>
                                    <p:set>
                                      <p:cBhvr>
                                        <p:cTn id="332" dur="1" fill="hold">
                                          <p:stCondLst>
                                            <p:cond delay="9"/>
                                          </p:stCondLst>
                                        </p:cTn>
                                        <p:tgtEl>
                                          <p:spTgt spid="115"/>
                                        </p:tgtEl>
                                        <p:attrNameLst>
                                          <p:attrName>style.visibility</p:attrName>
                                        </p:attrNameLst>
                                      </p:cBhvr>
                                      <p:to>
                                        <p:strVal val="visible"/>
                                      </p:to>
                                    </p:set>
                                  </p:childTnLst>
                                </p:cTn>
                              </p:par>
                              <p:par>
                                <p:cTn id="333" presetID="1" presetClass="entr" presetSubtype="0" fill="hold" nodeType="withEffect">
                                  <p:stCondLst>
                                    <p:cond delay="0"/>
                                  </p:stCondLst>
                                  <p:childTnLst>
                                    <p:set>
                                      <p:cBhvr>
                                        <p:cTn id="334" dur="1" fill="hold">
                                          <p:stCondLst>
                                            <p:cond delay="9"/>
                                          </p:stCondLst>
                                        </p:cTn>
                                        <p:tgtEl>
                                          <p:spTgt spid="116"/>
                                        </p:tgtEl>
                                        <p:attrNameLst>
                                          <p:attrName>style.visibility</p:attrName>
                                        </p:attrNameLst>
                                      </p:cBhvr>
                                      <p:to>
                                        <p:strVal val="visible"/>
                                      </p:to>
                                    </p:set>
                                  </p:childTnLst>
                                </p:cTn>
                              </p:par>
                              <p:par>
                                <p:cTn id="335" presetID="1" presetClass="entr" presetSubtype="0" fill="hold" nodeType="withEffect">
                                  <p:stCondLst>
                                    <p:cond delay="0"/>
                                  </p:stCondLst>
                                  <p:childTnLst>
                                    <p:set>
                                      <p:cBhvr>
                                        <p:cTn id="336" dur="1" fill="hold">
                                          <p:stCondLst>
                                            <p:cond delay="9"/>
                                          </p:stCondLst>
                                        </p:cTn>
                                        <p:tgtEl>
                                          <p:spTgt spid="1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P spid="13" grpId="0" animBg="1"/>
      <p:bldP spid="14" grpId="0" animBg="1"/>
      <p:bldP spid="15" grpId="0" animBg="1"/>
      <p:bldP spid="16" grpId="0" animBg="1"/>
      <p:bldGraphic spid="17" grpId="0">
        <p:bldAsOne/>
      </p:bldGraphic>
      <p:bldGraphic spid="17" grpId="1">
        <p:bldAsOne/>
      </p:bldGraphic>
      <p:bldP spid="18" grpId="0" animBg="1"/>
      <p:bldP spid="18" grpId="1" animBg="1"/>
      <p:bldP spid="19" grpId="0" animBg="1"/>
      <p:bldP spid="19" grpId="1" animBg="1"/>
      <p:bldP spid="20" grpId="0" animBg="1"/>
      <p:bldP spid="20" grpId="1" animBg="1"/>
      <p:bldP spid="21" grpId="0" animBg="1"/>
      <p:bldP spid="21" grpId="1" animBg="1"/>
      <p:bldGraphic spid="24" grpId="0">
        <p:bldAsOne/>
      </p:bldGraphic>
      <p:bldGraphic spid="24" grpId="1">
        <p:bldAsOne/>
      </p:bldGraphic>
      <p:bldP spid="25" grpId="0" animBg="1"/>
      <p:bldP spid="25" grpId="1" animBg="1"/>
      <p:bldP spid="26" grpId="0" animBg="1"/>
      <p:bldP spid="26" grpId="1" animBg="1"/>
      <p:bldP spid="27" grpId="0" animBg="1"/>
      <p:bldP spid="27" grpId="1" animBg="1"/>
      <p:bldP spid="28" grpId="0" animBg="1"/>
      <p:bldP spid="28" grpId="1" animBg="1"/>
      <p:bldGraphic spid="33" grpId="0">
        <p:bldAsOne/>
      </p:bldGraphic>
      <p:bldGraphic spid="33" grpId="1">
        <p:bldAsOne/>
      </p:bldGraphic>
      <p:bldP spid="34" grpId="0" animBg="1"/>
      <p:bldP spid="34" grpId="1" animBg="1"/>
      <p:bldP spid="35" grpId="0" animBg="1"/>
      <p:bldP spid="35" grpId="1" animBg="1"/>
      <p:bldP spid="36" grpId="0" animBg="1"/>
      <p:bldP spid="36" grpId="1" animBg="1"/>
      <p:bldP spid="37" grpId="0" animBg="1"/>
      <p:bldP spid="37" grpId="1" animBg="1"/>
      <p:bldGraphic spid="48" grpId="0">
        <p:bldAsOne/>
      </p:bldGraphic>
      <p:bldGraphic spid="48" grpId="1">
        <p:bldAsOne/>
      </p:bldGraphic>
      <p:bldP spid="49" grpId="0" animBg="1"/>
      <p:bldP spid="49" grpId="1" animBg="1"/>
      <p:bldP spid="50" grpId="0" animBg="1"/>
      <p:bldP spid="50" grpId="1" animBg="1"/>
      <p:bldP spid="51" grpId="0" animBg="1"/>
      <p:bldP spid="51" grpId="1" animBg="1"/>
      <p:bldP spid="52" grpId="0" animBg="1"/>
      <p:bldP spid="52" grpId="1" animBg="1"/>
      <p:bldGraphic spid="73" grpId="0">
        <p:bldAsOne/>
      </p:bldGraphic>
      <p:bldP spid="74" grpId="0" animBg="1"/>
      <p:bldP spid="75" grpId="0" animBg="1"/>
      <p:bldP spid="76" grpId="0" animBg="1"/>
      <p:bldP spid="7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CD9F0353-1D76-4510-A3B0-479CDE6BD5DA}"/>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Gradient descent with logistic loss</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495C4C43-988F-4E74-90EE-F29FE6A3A2E8}"/>
                  </a:ext>
                </a:extLst>
              </p:cNvPr>
              <p:cNvSpPr>
                <a:spLocks noGrp="1"/>
              </p:cNvSpPr>
              <p:nvPr/>
            </p:nvSpPr>
            <p:spPr>
              <a:xfrm>
                <a:off x="523875" y="1000125"/>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lang="it-IT" sz="2175" b="0" dirty="0">
                    <a:solidFill>
                      <a:srgbClr val="526276"/>
                    </a:solidFill>
                    <a:latin typeface="DejaVu Sans"/>
                    <a:ea typeface="DejaVu Sans"/>
                    <a:cs typeface="DejaVu Sans"/>
                  </a:rPr>
                  <a:t>Initial values </a:t>
                </a:r>
                <a14:m>
                  <m:oMath xmlns:m="http://schemas.openxmlformats.org/officeDocument/2006/math">
                    <m:sSup>
                      <m:sSupPr>
                        <m:ctrlPr>
                          <a:rPr lang="ar-AE" sz="2175" b="0" i="1" dirty="0" smtClean="0">
                            <a:solidFill>
                              <a:srgbClr val="526276"/>
                            </a:solidFill>
                            <a:latin typeface="Cambria Math" panose="02040503050406030204" pitchFamily="18" charset="0"/>
                            <a:ea typeface="DejaVu Sans"/>
                            <a:cs typeface="DejaVu Sans"/>
                          </a:rPr>
                        </m:ctrlPr>
                      </m:sSupPr>
                      <m:e>
                        <m:r>
                          <a:rPr lang="ar-AE" sz="2175" b="0" i="1" dirty="0" smtClean="0">
                            <a:solidFill>
                              <a:srgbClr val="526276"/>
                            </a:solidFill>
                            <a:latin typeface="Cambria Math" panose="02040503050406030204" pitchFamily="18" charset="0"/>
                            <a:ea typeface="DejaVu Sans"/>
                            <a:cs typeface="DejaVu Sans"/>
                          </a:rPr>
                          <m:t>𝜃</m:t>
                        </m:r>
                      </m:e>
                      <m:sup>
                        <m:r>
                          <a:rPr lang="ar-AE" sz="2175" b="0" i="1" dirty="0" smtClean="0">
                            <a:solidFill>
                              <a:srgbClr val="526276"/>
                            </a:solidFill>
                            <a:latin typeface="Cambria Math" panose="02040503050406030204" pitchFamily="18" charset="0"/>
                            <a:ea typeface="DejaVu Sans"/>
                            <a:cs typeface="DejaVu Sans"/>
                          </a:rPr>
                          <m:t>(0)</m:t>
                        </m:r>
                      </m:sup>
                    </m:sSup>
                    <m:r>
                      <a:rPr lang="ar-AE" sz="2175" b="0" i="1" dirty="0" smtClean="0">
                        <a:solidFill>
                          <a:srgbClr val="526276"/>
                        </a:solidFill>
                        <a:latin typeface="Cambria Math" panose="02040503050406030204" pitchFamily="18" charset="0"/>
                        <a:ea typeface="DejaVu Sans"/>
                        <a:cs typeface="DejaVu Sans"/>
                      </a:rPr>
                      <m:t> = −1.5 </m:t>
                    </m:r>
                  </m:oMath>
                </a14:m>
                <a:r>
                  <a:rPr lang="it-IT" sz="2175" b="0" dirty="0">
                    <a:solidFill>
                      <a:srgbClr val="526276"/>
                    </a:solidFill>
                    <a:latin typeface="DejaVu Sans"/>
                    <a:ea typeface="DejaVu Sans"/>
                    <a:cs typeface="DejaVu Sans"/>
                  </a:rPr>
                  <a:t>and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+1.5</m:t>
                    </m:r>
                  </m:oMath>
                </a14:m>
                <a:r>
                  <a:rPr lang="it-IT" sz="2175" b="0" dirty="0">
                    <a:solidFill>
                      <a:srgbClr val="526276"/>
                    </a:solidFill>
                    <a:latin typeface="DejaVu Sans"/>
                    <a:ea typeface="DejaVu Sans"/>
                    <a:cs typeface="DejaVu Sans"/>
                  </a:rPr>
                  <a:t>. Learning rate </a:t>
                </a:r>
                <a14:m>
                  <m:oMath xmlns:m="http://schemas.openxmlformats.org/officeDocument/2006/math">
                    <m:r>
                      <a:rPr lang="el-GR" sz="2175" b="0" i="1" dirty="0" smtClean="0">
                        <a:solidFill>
                          <a:srgbClr val="526276"/>
                        </a:solidFill>
                        <a:latin typeface="Cambria Math" panose="02040503050406030204" pitchFamily="18" charset="0"/>
                        <a:ea typeface="DejaVu Sans"/>
                        <a:cs typeface="DejaVu Sans"/>
                      </a:rPr>
                      <m:t>𝜂</m:t>
                    </m:r>
                    <m:r>
                      <a:rPr lang="el-GR" sz="2175" b="0" i="1" dirty="0" smtClean="0">
                        <a:solidFill>
                          <a:srgbClr val="526276"/>
                        </a:solidFill>
                        <a:latin typeface="Cambria Math" panose="02040503050406030204" pitchFamily="18" charset="0"/>
                        <a:ea typeface="DejaVu Sans"/>
                        <a:cs typeface="DejaVu Sans"/>
                      </a:rPr>
                      <m:t> = 0.5</m:t>
                    </m:r>
                  </m:oMath>
                </a14:m>
                <a:r>
                  <a:rPr lang="el-GR" sz="2175" b="0" dirty="0">
                    <a:solidFill>
                      <a:srgbClr val="526276"/>
                    </a:solidFill>
                    <a:latin typeface="DejaVu Sans"/>
                    <a:ea typeface="DejaVu Sans"/>
                    <a:cs typeface="DejaVu Sans"/>
                  </a:rPr>
                  <a:t>.</a:t>
                </a:r>
                <a:endParaRPr sz="2175" b="0" dirty="0">
                  <a:solidFill>
                    <a:srgbClr val="526276"/>
                  </a:solidFill>
                  <a:latin typeface="DejaVu Sans"/>
                  <a:ea typeface="DejaVu Sans"/>
                  <a:cs typeface="DejaVu Sans"/>
                </a:endParaRPr>
              </a:p>
            </p:txBody>
          </p:sp>
        </mc:Choice>
        <mc:Fallback xmlns="">
          <p:sp>
            <p:nvSpPr>
              <p:cNvPr id="2" name="lead">
                <a:extLst>
                  <a:ext uri="{FF2B5EF4-FFF2-40B4-BE49-F238E27FC236}">
                    <a16:creationId xmlns:a16="http://schemas.microsoft.com/office/drawing/2014/main" id="{495C4C43-988F-4E74-90EE-F29FE6A3A2E8}"/>
                  </a:ext>
                </a:extLst>
              </p:cNvPr>
              <p:cNvSpPr>
                <a:spLocks noGrp="1" noRot="1" noChangeAspect="1" noMove="1" noResize="1" noEditPoints="1" noAdjustHandles="1" noChangeArrowheads="1" noChangeShapeType="1" noTextEdit="1"/>
              </p:cNvSpPr>
              <p:nvPr/>
            </p:nvSpPr>
            <p:spPr>
              <a:xfrm>
                <a:off x="523875" y="1000125"/>
                <a:ext cx="11144250" cy="7810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FD6C8F8A-2C77-49AB-9008-AE916D2F41A9}"/>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4C9C630D-9F9C-4144-8AAE-F7ACAC2D0968}"/>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lang="it-IT" sz="1050" b="0" dirty="0">
                <a:solidFill>
                  <a:srgbClr val="526276"/>
                </a:solidFill>
                <a:latin typeface="DejaVu Sans"/>
                <a:ea typeface="DejaVu Sans"/>
                <a:cs typeface="DejaVu Sans"/>
              </a:rPr>
              <a:t>41</a:t>
            </a:r>
            <a:endParaRPr sz="1050" b="0" dirty="0">
              <a:solidFill>
                <a:srgbClr val="526276"/>
              </a:solidFill>
              <a:latin typeface="DejaVu Sans"/>
              <a:ea typeface="DejaVu Sans"/>
              <a:cs typeface="DejaVu Sans"/>
            </a:endParaRPr>
          </a:p>
        </p:txBody>
      </p:sp>
      <p:sp>
        <p:nvSpPr>
          <p:cNvPr id="6" name="text_1">
            <a:extLst>
              <a:ext uri="{FF2B5EF4-FFF2-40B4-BE49-F238E27FC236}">
                <a16:creationId xmlns:a16="http://schemas.microsoft.com/office/drawing/2014/main" id="{D1C37075-0D99-4D72-B572-0C892C2317C0}"/>
              </a:ext>
            </a:extLst>
          </p:cNvPr>
          <p:cNvSpPr>
            <a:spLocks noGrp="1"/>
          </p:cNvSpPr>
          <p:nvPr/>
        </p:nvSpPr>
        <p:spPr>
          <a:xfrm>
            <a:off x="5781675" y="5152073"/>
            <a:ext cx="1714500" cy="266700"/>
          </a:xfrm>
          <a:prstGeom prst="rect">
            <a:avLst/>
          </a:prstGeom>
          <a:no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xmlns:a14="http://schemas.microsoft.com/office/drawing/2010/main">
        <mc:Choice Requires="a14">
          <p:sp>
            <p:nvSpPr>
              <p:cNvPr id="7" name="text_2">
                <a:extLst>
                  <a:ext uri="{FF2B5EF4-FFF2-40B4-BE49-F238E27FC236}">
                    <a16:creationId xmlns:a16="http://schemas.microsoft.com/office/drawing/2014/main" id="{BB83CB7F-11A7-4FE1-B189-B3E206B70257}"/>
                  </a:ext>
                </a:extLst>
              </p:cNvPr>
              <p:cNvSpPr>
                <a:spLocks noGrp="1"/>
              </p:cNvSpPr>
              <p:nvPr/>
            </p:nvSpPr>
            <p:spPr>
              <a:xfrm>
                <a:off x="762000" y="5457825"/>
                <a:ext cx="5143500" cy="428625"/>
              </a:xfrm>
              <a:prstGeom prst="rect">
                <a:avLst/>
              </a:prstGeom>
              <a:noFill/>
              <a:ln w="0">
                <a:noFill/>
              </a:ln>
            </p:spPr>
            <p:txBody>
              <a:bodyPr anchor="ctr">
                <a:noAutofit/>
              </a:bodyPr>
              <a:lstStyle/>
              <a:p>
                <a:pPr algn="ctr">
                  <a:defRPr sz="2025" b="1">
                    <a:solidFill>
                      <a:srgbClr val="326CB2"/>
                    </a:solidFill>
                    <a:latin typeface="DejaVu Sans"/>
                    <a:ea typeface="DejaVu Sans"/>
                    <a:cs typeface="DejaVu Sans"/>
                  </a:defRPr>
                </a:pPr>
                <a:r>
                  <a:rPr sz="2025" b="1">
                    <a:solidFill>
                      <a:srgbClr val="326CB2"/>
                    </a:solidFill>
                    <a:latin typeface="DejaVu Sans"/>
                    <a:ea typeface="DejaVu Sans"/>
                    <a:cs typeface="DejaVu Sans"/>
                  </a:rPr>
                  <a:t>Start at </a:t>
                </a:r>
                <a14:m>
                  <m:oMath xmlns:m="http://schemas.openxmlformats.org/officeDocument/2006/math">
                    <m:r>
                      <a:rPr lang="it-IT" sz="2025" b="1" i="0" dirty="0" smtClean="0">
                        <a:solidFill>
                          <a:srgbClr val="326CB2"/>
                        </a:solidFill>
                        <a:latin typeface="Cambria Math" panose="02040503050406030204" pitchFamily="18" charset="0"/>
                        <a:ea typeface="DejaVu Sans"/>
                        <a:cs typeface="DejaVu Sans"/>
                      </a:rPr>
                      <m:t>−1.5</m:t>
                    </m:r>
                  </m:oMath>
                </a14:m>
                <a:endParaRPr sz="2025" b="1">
                  <a:solidFill>
                    <a:srgbClr val="326CB2"/>
                  </a:solidFill>
                  <a:latin typeface="DejaVu Sans"/>
                  <a:ea typeface="DejaVu Sans"/>
                  <a:cs typeface="DejaVu Sans"/>
                </a:endParaRPr>
              </a:p>
            </p:txBody>
          </p:sp>
        </mc:Choice>
        <mc:Fallback xmlns="">
          <p:sp>
            <p:nvSpPr>
              <p:cNvPr id="7" name="text_2">
                <a:extLst>
                  <a:ext uri="{FF2B5EF4-FFF2-40B4-BE49-F238E27FC236}">
                    <a16:creationId xmlns:a16="http://schemas.microsoft.com/office/drawing/2014/main" id="{BB83CB7F-11A7-4FE1-B189-B3E206B70257}"/>
                  </a:ext>
                </a:extLst>
              </p:cNvPr>
              <p:cNvSpPr>
                <a:spLocks noGrp="1" noRot="1" noChangeAspect="1" noMove="1" noResize="1" noEditPoints="1" noAdjustHandles="1" noChangeArrowheads="1" noChangeShapeType="1" noTextEdit="1"/>
              </p:cNvSpPr>
              <p:nvPr/>
            </p:nvSpPr>
            <p:spPr>
              <a:xfrm>
                <a:off x="762000" y="5457825"/>
                <a:ext cx="5143500" cy="428625"/>
              </a:xfrm>
              <a:prstGeom prst="rect">
                <a:avLst/>
              </a:prstGeom>
              <a:blipFill>
                <a:blip r:embed="rId4"/>
                <a:stretch>
                  <a:fillRect t="-4225" b="-2112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text_3">
                <a:extLst>
                  <a:ext uri="{FF2B5EF4-FFF2-40B4-BE49-F238E27FC236}">
                    <a16:creationId xmlns:a16="http://schemas.microsoft.com/office/drawing/2014/main" id="{1D31F602-8E28-4D2A-9240-28A9105B5E50}"/>
                  </a:ext>
                </a:extLst>
              </p:cNvPr>
              <p:cNvSpPr>
                <a:spLocks noGrp="1"/>
              </p:cNvSpPr>
              <p:nvPr/>
            </p:nvSpPr>
            <p:spPr>
              <a:xfrm>
                <a:off x="6334125" y="5457825"/>
                <a:ext cx="5095875" cy="428625"/>
              </a:xfrm>
              <a:prstGeom prst="rect">
                <a:avLst/>
              </a:prstGeom>
              <a:noFill/>
              <a:ln w="0">
                <a:noFill/>
              </a:ln>
            </p:spPr>
            <p:txBody>
              <a:bodyPr anchor="ctr">
                <a:noAutofit/>
              </a:bodyPr>
              <a:lstStyle/>
              <a:p>
                <a:pPr algn="ctr">
                  <a:defRPr sz="2025" b="1">
                    <a:solidFill>
                      <a:srgbClr val="C45C28"/>
                    </a:solidFill>
                    <a:latin typeface="DejaVu Sans"/>
                    <a:ea typeface="DejaVu Sans"/>
                    <a:cs typeface="DejaVu Sans"/>
                  </a:defRPr>
                </a:pPr>
                <a:r>
                  <a:rPr sz="2025" b="1">
                    <a:solidFill>
                      <a:srgbClr val="C45C28"/>
                    </a:solidFill>
                    <a:latin typeface="DejaVu Sans"/>
                    <a:ea typeface="DejaVu Sans"/>
                    <a:cs typeface="DejaVu Sans"/>
                  </a:rPr>
                  <a:t>Start at </a:t>
                </a:r>
                <a14:m>
                  <m:oMath xmlns:m="http://schemas.openxmlformats.org/officeDocument/2006/math">
                    <m:r>
                      <a:rPr lang="it-IT" sz="2025" b="1" i="0" dirty="0" smtClean="0">
                        <a:solidFill>
                          <a:srgbClr val="C45C28"/>
                        </a:solidFill>
                        <a:latin typeface="Cambria Math" panose="02040503050406030204" pitchFamily="18" charset="0"/>
                        <a:ea typeface="DejaVu Sans"/>
                        <a:cs typeface="DejaVu Sans"/>
                      </a:rPr>
                      <m:t>+1.5</m:t>
                    </m:r>
                  </m:oMath>
                </a14:m>
                <a:endParaRPr sz="2025" b="1">
                  <a:solidFill>
                    <a:srgbClr val="C45C28"/>
                  </a:solidFill>
                  <a:latin typeface="DejaVu Sans"/>
                  <a:ea typeface="DejaVu Sans"/>
                  <a:cs typeface="DejaVu Sans"/>
                </a:endParaRPr>
              </a:p>
            </p:txBody>
          </p:sp>
        </mc:Choice>
        <mc:Fallback xmlns="">
          <p:sp>
            <p:nvSpPr>
              <p:cNvPr id="8" name="text_3">
                <a:extLst>
                  <a:ext uri="{FF2B5EF4-FFF2-40B4-BE49-F238E27FC236}">
                    <a16:creationId xmlns:a16="http://schemas.microsoft.com/office/drawing/2014/main" id="{1D31F602-8E28-4D2A-9240-28A9105B5E50}"/>
                  </a:ext>
                </a:extLst>
              </p:cNvPr>
              <p:cNvSpPr>
                <a:spLocks noGrp="1" noRot="1" noChangeAspect="1" noMove="1" noResize="1" noEditPoints="1" noAdjustHandles="1" noChangeArrowheads="1" noChangeShapeType="1" noTextEdit="1"/>
              </p:cNvSpPr>
              <p:nvPr/>
            </p:nvSpPr>
            <p:spPr>
              <a:xfrm>
                <a:off x="6334125" y="5457825"/>
                <a:ext cx="5095875" cy="428625"/>
              </a:xfrm>
              <a:prstGeom prst="rect">
                <a:avLst/>
              </a:prstGeom>
              <a:blipFill>
                <a:blip r:embed="rId5"/>
                <a:stretch>
                  <a:fillRect t="-4225" b="-21127"/>
                </a:stretch>
              </a:blipFill>
              <a:ln w="0">
                <a:noFill/>
              </a:ln>
            </p:spPr>
            <p:txBody>
              <a:bodyPr/>
              <a:lstStyle/>
              <a:p>
                <a:r>
                  <a:rPr lang="it-IT">
                    <a:noFill/>
                  </a:rPr>
                  <a:t> </a:t>
                </a:r>
              </a:p>
            </p:txBody>
          </p:sp>
        </mc:Fallback>
      </mc:AlternateContent>
      <p:graphicFrame>
        <p:nvGraphicFramePr>
          <p:cNvPr id="12" name="gd_state_0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6"/>
          </a:graphicData>
        </a:graphic>
      </p:graphicFrame>
      <mc:AlternateContent xmlns:mc="http://schemas.openxmlformats.org/markup-compatibility/2006" xmlns:a14="http://schemas.microsoft.com/office/drawing/2010/main">
        <mc:Choice Requires="a14">
          <p:sp>
            <p:nvSpPr>
              <p:cNvPr id="13" name="gd_state_0_iteration">
                <a:extLst>
                  <a:ext uri="{FF2B5EF4-FFF2-40B4-BE49-F238E27FC236}">
                    <a16:creationId xmlns:a16="http://schemas.microsoft.com/office/drawing/2014/main" id="{D6F33400-0116-42E5-9BD8-0210AF83C3EB}"/>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𝟎</m:t>
                      </m:r>
                    </m:oMath>
                  </m:oMathPara>
                </a14:m>
                <a:endParaRPr/>
              </a:p>
            </p:txBody>
          </p:sp>
        </mc:Choice>
        <mc:Fallback xmlns="">
          <p:sp>
            <p:nvSpPr>
              <p:cNvPr id="13" name="gd_state_0_iteration">
                <a:extLst>
                  <a:ext uri="{FF2B5EF4-FFF2-40B4-BE49-F238E27FC236}">
                    <a16:creationId xmlns:a16="http://schemas.microsoft.com/office/drawing/2014/main" id="{D6F33400-0116-42E5-9BD8-0210AF83C3EB}"/>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7"/>
                <a:stretch>
                  <a:fillRect b="-3279"/>
                </a:stretch>
              </a:blipFill>
              <a:ln w="0">
                <a:noFill/>
              </a:ln>
            </p:spPr>
            <p:txBody>
              <a:bodyPr/>
              <a:lstStyle/>
              <a:p>
                <a:r>
                  <a:rPr lang="it-IT">
                    <a:noFill/>
                  </a:rPr>
                  <a:t> </a:t>
                </a:r>
              </a:p>
            </p:txBody>
          </p:sp>
        </mc:Fallback>
      </mc:AlternateContent>
      <p:sp>
        <p:nvSpPr>
          <p:cNvPr id="14" name="gd_state_0_x_axis">
            <a:extLst>
              <a:ext uri="{FF2B5EF4-FFF2-40B4-BE49-F238E27FC236}">
                <a16:creationId xmlns:a16="http://schemas.microsoft.com/office/drawing/2014/main" id="{F8B29D35-3867-4F63-9F3F-94139258B5EA}"/>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mc:Choice xmlns:a14="http://schemas.microsoft.com/office/drawing/2010/main" Requires="a14">
          <p:sp>
            <p:nvSpPr>
              <p:cNvPr id="15" name="gd_state_0_left_readout" descr="\theta^{(0)}\approx-1.5000,\quad\mathcal{L}_{\mathrm{log}}\left(\theta^{(0)}\right)\approx1.0530">
                <a:extLst>
                  <a:ext uri="{FF2B5EF4-FFF2-40B4-BE49-F238E27FC236}">
                    <a16:creationId xmlns:a16="http://schemas.microsoft.com/office/drawing/2014/main" id="{F311835E-8AF1-4431-AE75-63BEE5E7F323}"/>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(0)</m:t>
                          </m:r>
                        </m:sup>
                      </m:sSup>
                      <m:r>
                        <a:rPr lang="en-GB" sz="2400">
                          <a:solidFill>
                            <a:srgbClr val="326CB2"/>
                          </a:solidFill>
                          <a:latin typeface="Cambria Math"/>
                          <a:ea typeface="Cambria Math"/>
                          <a:cs typeface="Cambria Math"/>
                        </a:rPr>
                        <m:t>≈−1.5000, 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log</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(0)</m:t>
                              </m:r>
                            </m:sup>
                          </m:sSup>
                        </m:e>
                      </m:d>
                      <m:r>
                        <a:rPr lang="en-GB" sz="2400">
                          <a:solidFill>
                            <a:srgbClr val="326CB2"/>
                          </a:solidFill>
                          <a:latin typeface="Cambria Math"/>
                          <a:ea typeface="Cambria Math"/>
                          <a:cs typeface="Cambria Math"/>
                        </a:rPr>
                        <m:t>≈1.0530</m:t>
                      </m:r>
                    </m:oMath>
                  </m:oMathPara>
                </a14:m>
                <a:endParaRPr lang="en-GB" sz="2400"/>
              </a:p>
            </p:txBody>
          </p:sp>
        </mc:Choice>
        <mc:Fallback>
          <p:sp>
            <p:nvSpPr>
              <p:cNvPr id="15" name="gd_state_0_left_readout" descr="\theta^{(0)}\approx-1.5000,\quad\mathcal{L}_{\mathrm{log}}\left(\theta^{(0)}\right)\approx1.0530">
                <a:extLst>
                  <a:ext uri="{FF2B5EF4-FFF2-40B4-BE49-F238E27FC236}">
                    <a16:creationId xmlns:a16="http://schemas.microsoft.com/office/drawing/2014/main" id="{F311835E-8AF1-4431-AE75-63BEE5E7F323}"/>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6" name="gd_state_0_right_readout" descr="\theta^{(0)}\approx1.5000,\quad\mathcal{L}_{\mathrm{log}}\left(\theta^{(0)}\right)\approx3.0530">
                <a:extLst>
                  <a:ext uri="{FF2B5EF4-FFF2-40B4-BE49-F238E27FC236}">
                    <a16:creationId xmlns:a16="http://schemas.microsoft.com/office/drawing/2014/main" id="{AF3A733F-BBDA-411E-8C3A-37291447E503}"/>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(0)</m:t>
                          </m:r>
                        </m:sup>
                      </m:sSup>
                      <m:r>
                        <a:rPr lang="en-GB" sz="2400">
                          <a:solidFill>
                            <a:srgbClr val="C45C28"/>
                          </a:solidFill>
                          <a:latin typeface="Cambria Math"/>
                          <a:ea typeface="Cambria Math"/>
                          <a:cs typeface="Cambria Math"/>
                        </a:rPr>
                        <m:t>≈1.5000, 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log</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(0)</m:t>
                              </m:r>
                            </m:sup>
                          </m:sSup>
                        </m:e>
                      </m:d>
                      <m:r>
                        <a:rPr lang="en-GB" sz="2400">
                          <a:solidFill>
                            <a:srgbClr val="C45C28"/>
                          </a:solidFill>
                          <a:latin typeface="Cambria Math"/>
                          <a:ea typeface="Cambria Math"/>
                          <a:cs typeface="Cambria Math"/>
                        </a:rPr>
                        <m:t>≈3.0530</m:t>
                      </m:r>
                    </m:oMath>
                  </m:oMathPara>
                </a14:m>
                <a:endParaRPr lang="en-GB" sz="2400"/>
              </a:p>
            </p:txBody>
          </p:sp>
        </mc:Choice>
        <mc:Fallback>
          <p:sp>
            <p:nvSpPr>
              <p:cNvPr id="16" name="gd_state_0_right_readout" descr="\theta^{(0)}\approx1.5000,\quad\mathcal{L}_{\mathrm{log}}\left(\theta^{(0)}\right)\approx3.0530">
                <a:extLst>
                  <a:ext uri="{FF2B5EF4-FFF2-40B4-BE49-F238E27FC236}">
                    <a16:creationId xmlns:a16="http://schemas.microsoft.com/office/drawing/2014/main" id="{AF3A733F-BBDA-411E-8C3A-37291447E503}"/>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9"/>
                <a:stretch>
                  <a:fillRect/>
                </a:stretch>
              </a:blipFill>
              <a:ln w="0">
                <a:noFill/>
              </a:ln>
            </p:spPr>
            <p:txBody>
              <a:bodyPr/>
              <a:lstStyle/>
              <a:p>
                <a:r>
                  <a:rPr lang="it-IT">
                    <a:noFill/>
                  </a:rPr>
                  <a:t> </a:t>
                </a:r>
              </a:p>
            </p:txBody>
          </p:sp>
        </mc:Fallback>
      </mc:AlternateContent>
      <p:graphicFrame>
        <p:nvGraphicFramePr>
          <p:cNvPr id="17" name="gd_state_1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10"/>
          </a:graphicData>
        </a:graphic>
      </p:graphicFrame>
      <mc:AlternateContent xmlns:mc="http://schemas.openxmlformats.org/markup-compatibility/2006" xmlns:a14="http://schemas.microsoft.com/office/drawing/2010/main">
        <mc:Choice Requires="a14">
          <p:sp>
            <p:nvSpPr>
              <p:cNvPr id="18" name="gd_state_1_iteration">
                <a:extLst>
                  <a:ext uri="{FF2B5EF4-FFF2-40B4-BE49-F238E27FC236}">
                    <a16:creationId xmlns:a16="http://schemas.microsoft.com/office/drawing/2014/main" id="{29C6A537-3FF8-4767-9C15-647824D86F20}"/>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𝟏</m:t>
                      </m:r>
                    </m:oMath>
                  </m:oMathPara>
                </a14:m>
                <a:endParaRPr/>
              </a:p>
            </p:txBody>
          </p:sp>
        </mc:Choice>
        <mc:Fallback xmlns="">
          <p:sp>
            <p:nvSpPr>
              <p:cNvPr id="18" name="gd_state_1_iteration">
                <a:extLst>
                  <a:ext uri="{FF2B5EF4-FFF2-40B4-BE49-F238E27FC236}">
                    <a16:creationId xmlns:a16="http://schemas.microsoft.com/office/drawing/2014/main" id="{29C6A537-3FF8-4767-9C15-647824D86F20}"/>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11"/>
                <a:stretch>
                  <a:fillRect b="-3279"/>
                </a:stretch>
              </a:blipFill>
              <a:ln w="0">
                <a:noFill/>
              </a:ln>
            </p:spPr>
            <p:txBody>
              <a:bodyPr/>
              <a:lstStyle/>
              <a:p>
                <a:r>
                  <a:rPr lang="it-IT">
                    <a:noFill/>
                  </a:rPr>
                  <a:t> </a:t>
                </a:r>
              </a:p>
            </p:txBody>
          </p:sp>
        </mc:Fallback>
      </mc:AlternateContent>
      <p:sp>
        <p:nvSpPr>
          <p:cNvPr id="19" name="gd_state_1_x_axis">
            <a:extLst>
              <a:ext uri="{FF2B5EF4-FFF2-40B4-BE49-F238E27FC236}">
                <a16:creationId xmlns:a16="http://schemas.microsoft.com/office/drawing/2014/main" id="{A56A5545-04F6-4BAF-BE9F-47B45980ADEA}"/>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mc:Choice xmlns:a14="http://schemas.microsoft.com/office/drawing/2010/main" Requires="a14">
          <p:sp>
            <p:nvSpPr>
              <p:cNvPr id="20" name="gd_state_1_left_readout" descr="\theta^{(1)}\approx-1.7733,\quad\mathcal{L}_{\mathrm{log}}\left(\theta^{(1)}\right)\approx0.9154">
                <a:extLst>
                  <a:ext uri="{FF2B5EF4-FFF2-40B4-BE49-F238E27FC236}">
                    <a16:creationId xmlns:a16="http://schemas.microsoft.com/office/drawing/2014/main" id="{BC068C33-4CAB-4369-9D74-EB8C61CDF359}"/>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(1)</m:t>
                          </m:r>
                        </m:sup>
                      </m:sSup>
                      <m:r>
                        <a:rPr lang="en-GB" sz="2400">
                          <a:solidFill>
                            <a:srgbClr val="326CB2"/>
                          </a:solidFill>
                          <a:latin typeface="Cambria Math"/>
                          <a:ea typeface="Cambria Math"/>
                          <a:cs typeface="Cambria Math"/>
                        </a:rPr>
                        <m:t>≈−1.7733, 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log</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(1)</m:t>
                              </m:r>
                            </m:sup>
                          </m:sSup>
                        </m:e>
                      </m:d>
                      <m:r>
                        <a:rPr lang="en-GB" sz="2400">
                          <a:solidFill>
                            <a:srgbClr val="326CB2"/>
                          </a:solidFill>
                          <a:latin typeface="Cambria Math"/>
                          <a:ea typeface="Cambria Math"/>
                          <a:cs typeface="Cambria Math"/>
                        </a:rPr>
                        <m:t>≈0.9154</m:t>
                      </m:r>
                    </m:oMath>
                  </m:oMathPara>
                </a14:m>
                <a:endParaRPr lang="en-GB" sz="2400"/>
              </a:p>
            </p:txBody>
          </p:sp>
        </mc:Choice>
        <mc:Fallback>
          <p:sp>
            <p:nvSpPr>
              <p:cNvPr id="20" name="gd_state_1_left_readout" descr="\theta^{(1)}\approx-1.7733,\quad\mathcal{L}_{\mathrm{log}}\left(\theta^{(1)}\right)\approx0.9154">
                <a:extLst>
                  <a:ext uri="{FF2B5EF4-FFF2-40B4-BE49-F238E27FC236}">
                    <a16:creationId xmlns:a16="http://schemas.microsoft.com/office/drawing/2014/main" id="{BC068C33-4CAB-4369-9D74-EB8C61CDF359}"/>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12"/>
                <a:stretch>
                  <a:fillRect/>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21" name="gd_state_1_right_readout" descr="\theta^{(1)}\approx1.7733,\quad\mathcal{L}_{\mathrm{log}}\left(\theta^{(1)}\right)\approx2.9154">
                <a:extLst>
                  <a:ext uri="{FF2B5EF4-FFF2-40B4-BE49-F238E27FC236}">
                    <a16:creationId xmlns:a16="http://schemas.microsoft.com/office/drawing/2014/main" id="{EC06F454-B7DE-4A9C-B679-A263DAD77753}"/>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(1)</m:t>
                          </m:r>
                        </m:sup>
                      </m:sSup>
                      <m:r>
                        <a:rPr lang="en-GB" sz="2400">
                          <a:solidFill>
                            <a:srgbClr val="C45C28"/>
                          </a:solidFill>
                          <a:latin typeface="Cambria Math"/>
                          <a:ea typeface="Cambria Math"/>
                          <a:cs typeface="Cambria Math"/>
                        </a:rPr>
                        <m:t>≈1.7733, 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log</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(1)</m:t>
                              </m:r>
                            </m:sup>
                          </m:sSup>
                        </m:e>
                      </m:d>
                      <m:r>
                        <a:rPr lang="en-GB" sz="2400">
                          <a:solidFill>
                            <a:srgbClr val="C45C28"/>
                          </a:solidFill>
                          <a:latin typeface="Cambria Math"/>
                          <a:ea typeface="Cambria Math"/>
                          <a:cs typeface="Cambria Math"/>
                        </a:rPr>
                        <m:t>≈2.9154</m:t>
                      </m:r>
                    </m:oMath>
                  </m:oMathPara>
                </a14:m>
                <a:endParaRPr lang="en-GB" sz="2400"/>
              </a:p>
            </p:txBody>
          </p:sp>
        </mc:Choice>
        <mc:Fallback>
          <p:sp>
            <p:nvSpPr>
              <p:cNvPr id="21" name="gd_state_1_right_readout" descr="\theta^{(1)}\approx1.7733,\quad\mathcal{L}_{\mathrm{log}}\left(\theta^{(1)}\right)\approx2.9154">
                <a:extLst>
                  <a:ext uri="{FF2B5EF4-FFF2-40B4-BE49-F238E27FC236}">
                    <a16:creationId xmlns:a16="http://schemas.microsoft.com/office/drawing/2014/main" id="{EC06F454-B7DE-4A9C-B679-A263DAD77753}"/>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13"/>
                <a:stretch>
                  <a:fillRect/>
                </a:stretch>
              </a:blipFill>
              <a:ln w="0">
                <a:noFill/>
              </a:ln>
            </p:spPr>
            <p:txBody>
              <a:bodyPr/>
              <a:lstStyle/>
              <a:p>
                <a:r>
                  <a:rPr lang="it-IT">
                    <a:noFill/>
                  </a:rPr>
                  <a:t> </a:t>
                </a:r>
              </a:p>
            </p:txBody>
          </p:sp>
        </mc:Fallback>
      </mc:AlternateContent>
      <p:cxnSp>
        <p:nvCxnSpPr>
          <p:cNvPr id="22" name="gd_state_1_gd_left_step_0" descr="Gradient descent update: [-1.5, 1.0529667184726563] to [-1.7733005755903055, 0.9153590815492127]"/>
          <p:cNvCxnSpPr/>
          <p:nvPr/>
        </p:nvCxnSpPr>
        <p:spPr>
          <a:xfrm flipH="1">
            <a:off x="4884546" y="4153218"/>
            <a:ext cx="270384" cy="95682"/>
          </a:xfrm>
          <a:prstGeom prst="line">
            <a:avLst/>
          </a:prstGeom>
          <a:ln w="17145" cap="rnd">
            <a:solidFill>
              <a:srgbClr val="326CB2"/>
            </a:solidFill>
            <a:headEnd type="none" w="sm" len="sm"/>
            <a:tailEnd type="triangle" w="sm" len="sm"/>
          </a:ln>
        </p:spPr>
      </p:cxnSp>
      <p:cxnSp>
        <p:nvCxnSpPr>
          <p:cNvPr id="23" name="gd_state_1_gd_right_step_0" descr="Gradient descent update: [1.5, 3.052966718472656] to [1.7733005755903055, 2.9153590815492127]"/>
          <p:cNvCxnSpPr/>
          <p:nvPr/>
        </p:nvCxnSpPr>
        <p:spPr>
          <a:xfrm>
            <a:off x="8122920" y="2762568"/>
            <a:ext cx="270384" cy="95682"/>
          </a:xfrm>
          <a:prstGeom prst="line">
            <a:avLst/>
          </a:prstGeom>
          <a:ln w="17145" cap="rnd">
            <a:solidFill>
              <a:srgbClr val="C45C28"/>
            </a:solidFill>
            <a:headEnd type="none" w="sm" len="sm"/>
            <a:tailEnd type="triangle" w="sm" len="sm"/>
          </a:ln>
        </p:spPr>
      </p:cxnSp>
      <p:graphicFrame>
        <p:nvGraphicFramePr>
          <p:cNvPr id="24" name="gd_state_2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14"/>
          </a:graphicData>
        </a:graphic>
      </p:graphicFrame>
      <mc:AlternateContent xmlns:mc="http://schemas.openxmlformats.org/markup-compatibility/2006" xmlns:a14="http://schemas.microsoft.com/office/drawing/2010/main">
        <mc:Choice Requires="a14">
          <p:sp>
            <p:nvSpPr>
              <p:cNvPr id="25" name="gd_state_2_iteration">
                <a:extLst>
                  <a:ext uri="{FF2B5EF4-FFF2-40B4-BE49-F238E27FC236}">
                    <a16:creationId xmlns:a16="http://schemas.microsoft.com/office/drawing/2014/main" id="{6C18C8FC-470D-4E5C-9227-C9B16FC13224}"/>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𝟐</m:t>
                      </m:r>
                    </m:oMath>
                  </m:oMathPara>
                </a14:m>
                <a:endParaRPr/>
              </a:p>
            </p:txBody>
          </p:sp>
        </mc:Choice>
        <mc:Fallback xmlns="">
          <p:sp>
            <p:nvSpPr>
              <p:cNvPr id="25" name="gd_state_2_iteration">
                <a:extLst>
                  <a:ext uri="{FF2B5EF4-FFF2-40B4-BE49-F238E27FC236}">
                    <a16:creationId xmlns:a16="http://schemas.microsoft.com/office/drawing/2014/main" id="{6C18C8FC-470D-4E5C-9227-C9B16FC13224}"/>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15"/>
                <a:stretch>
                  <a:fillRect b="-3279"/>
                </a:stretch>
              </a:blipFill>
              <a:ln w="0">
                <a:noFill/>
              </a:ln>
            </p:spPr>
            <p:txBody>
              <a:bodyPr/>
              <a:lstStyle/>
              <a:p>
                <a:r>
                  <a:rPr lang="it-IT">
                    <a:noFill/>
                  </a:rPr>
                  <a:t> </a:t>
                </a:r>
              </a:p>
            </p:txBody>
          </p:sp>
        </mc:Fallback>
      </mc:AlternateContent>
      <p:sp>
        <p:nvSpPr>
          <p:cNvPr id="26" name="gd_state_2_x_axis">
            <a:extLst>
              <a:ext uri="{FF2B5EF4-FFF2-40B4-BE49-F238E27FC236}">
                <a16:creationId xmlns:a16="http://schemas.microsoft.com/office/drawing/2014/main" id="{DB276A39-331C-4E2E-9F63-BCB88C504964}"/>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mc:Choice xmlns:a14="http://schemas.microsoft.com/office/drawing/2010/main" Requires="a14">
          <p:sp>
            <p:nvSpPr>
              <p:cNvPr id="27" name="gd_state_2_left_readout" descr="\theta^{(2)}\approx-2.0028,\quad\mathcal{L}_{\mathrm{log}}\left(\theta^{(2)}\right)\approx0.8190">
                <a:extLst>
                  <a:ext uri="{FF2B5EF4-FFF2-40B4-BE49-F238E27FC236}">
                    <a16:creationId xmlns:a16="http://schemas.microsoft.com/office/drawing/2014/main" id="{037D03C2-E52A-46C4-AF3F-8478869E2D01}"/>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(2)</m:t>
                          </m:r>
                        </m:sup>
                      </m:sSup>
                      <m:r>
                        <a:rPr lang="en-GB" sz="2400">
                          <a:solidFill>
                            <a:srgbClr val="326CB2"/>
                          </a:solidFill>
                          <a:latin typeface="Cambria Math"/>
                          <a:ea typeface="Cambria Math"/>
                          <a:cs typeface="Cambria Math"/>
                        </a:rPr>
                        <m:t>≈−2.0028, 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log</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(2)</m:t>
                              </m:r>
                            </m:sup>
                          </m:sSup>
                        </m:e>
                      </m:d>
                      <m:r>
                        <a:rPr lang="en-GB" sz="2400">
                          <a:solidFill>
                            <a:srgbClr val="326CB2"/>
                          </a:solidFill>
                          <a:latin typeface="Cambria Math"/>
                          <a:ea typeface="Cambria Math"/>
                          <a:cs typeface="Cambria Math"/>
                        </a:rPr>
                        <m:t>≈0.8190</m:t>
                      </m:r>
                    </m:oMath>
                  </m:oMathPara>
                </a14:m>
                <a:endParaRPr lang="en-GB" sz="2400"/>
              </a:p>
            </p:txBody>
          </p:sp>
        </mc:Choice>
        <mc:Fallback>
          <p:sp>
            <p:nvSpPr>
              <p:cNvPr id="27" name="gd_state_2_left_readout" descr="\theta^{(2)}\approx-2.0028,\quad\mathcal{L}_{\mathrm{log}}\left(\theta^{(2)}\right)\approx0.8190">
                <a:extLst>
                  <a:ext uri="{FF2B5EF4-FFF2-40B4-BE49-F238E27FC236}">
                    <a16:creationId xmlns:a16="http://schemas.microsoft.com/office/drawing/2014/main" id="{037D03C2-E52A-46C4-AF3F-8478869E2D01}"/>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16"/>
                <a:stretch>
                  <a:fillRect/>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28" name="gd_state_2_right_readout" descr="\theta^{(2)}\approx2.0028,\quad\mathcal{L}_{\mathrm{log}}\left(\theta^{(2)}\right)\approx2.8190">
                <a:extLst>
                  <a:ext uri="{FF2B5EF4-FFF2-40B4-BE49-F238E27FC236}">
                    <a16:creationId xmlns:a16="http://schemas.microsoft.com/office/drawing/2014/main" id="{5CD1EF02-7570-4726-B76B-82E9CDE32E5A}"/>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(2)</m:t>
                          </m:r>
                        </m:sup>
                      </m:sSup>
                      <m:r>
                        <a:rPr lang="en-GB" sz="2400">
                          <a:solidFill>
                            <a:srgbClr val="C45C28"/>
                          </a:solidFill>
                          <a:latin typeface="Cambria Math"/>
                          <a:ea typeface="Cambria Math"/>
                          <a:cs typeface="Cambria Math"/>
                        </a:rPr>
                        <m:t>≈2.0028, 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log</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(2)</m:t>
                              </m:r>
                            </m:sup>
                          </m:sSup>
                        </m:e>
                      </m:d>
                      <m:r>
                        <a:rPr lang="en-GB" sz="2400">
                          <a:solidFill>
                            <a:srgbClr val="C45C28"/>
                          </a:solidFill>
                          <a:latin typeface="Cambria Math"/>
                          <a:ea typeface="Cambria Math"/>
                          <a:cs typeface="Cambria Math"/>
                        </a:rPr>
                        <m:t>≈2.8190</m:t>
                      </m:r>
                    </m:oMath>
                  </m:oMathPara>
                </a14:m>
                <a:endParaRPr lang="en-GB" sz="2400"/>
              </a:p>
            </p:txBody>
          </p:sp>
        </mc:Choice>
        <mc:Fallback>
          <p:sp>
            <p:nvSpPr>
              <p:cNvPr id="28" name="gd_state_2_right_readout" descr="\theta^{(2)}\approx2.0028,\quad\mathcal{L}_{\mathrm{log}}\left(\theta^{(2)}\right)\approx2.8190">
                <a:extLst>
                  <a:ext uri="{FF2B5EF4-FFF2-40B4-BE49-F238E27FC236}">
                    <a16:creationId xmlns:a16="http://schemas.microsoft.com/office/drawing/2014/main" id="{5CD1EF02-7570-4726-B76B-82E9CDE32E5A}"/>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17"/>
                <a:stretch>
                  <a:fillRect/>
                </a:stretch>
              </a:blipFill>
              <a:ln w="0">
                <a:noFill/>
              </a:ln>
            </p:spPr>
            <p:txBody>
              <a:bodyPr/>
              <a:lstStyle/>
              <a:p>
                <a:r>
                  <a:rPr lang="it-IT">
                    <a:noFill/>
                  </a:rPr>
                  <a:t> </a:t>
                </a:r>
              </a:p>
            </p:txBody>
          </p:sp>
        </mc:Fallback>
      </mc:AlternateContent>
      <p:cxnSp>
        <p:nvCxnSpPr>
          <p:cNvPr id="29" name="gd_state_2_gd_left_step_0" descr="Gradient descent update: [-1.5, 1.0529667184726563] to [-1.7733005755903055, 0.9153590815492127]"/>
          <p:cNvCxnSpPr/>
          <p:nvPr/>
        </p:nvCxnSpPr>
        <p:spPr>
          <a:xfrm flipH="1">
            <a:off x="4884546" y="4153218"/>
            <a:ext cx="270384" cy="95682"/>
          </a:xfrm>
          <a:prstGeom prst="line">
            <a:avLst/>
          </a:prstGeom>
          <a:ln w="17145" cap="rnd">
            <a:solidFill>
              <a:srgbClr val="326CB2"/>
            </a:solidFill>
            <a:headEnd type="none" w="sm" len="sm"/>
            <a:tailEnd type="triangle" w="sm" len="sm"/>
          </a:ln>
        </p:spPr>
      </p:cxnSp>
      <p:cxnSp>
        <p:nvCxnSpPr>
          <p:cNvPr id="30" name="gd_state_2_gd_left_step_1" descr="Gradient descent update: [-1.7733005755903055, 0.9153590815492127] to [-2.0028280816253523, 0.8189996863123741]"/>
          <p:cNvCxnSpPr/>
          <p:nvPr/>
        </p:nvCxnSpPr>
        <p:spPr>
          <a:xfrm flipH="1">
            <a:off x="4657467" y="4248900"/>
            <a:ext cx="227078" cy="67001"/>
          </a:xfrm>
          <a:prstGeom prst="line">
            <a:avLst/>
          </a:prstGeom>
          <a:ln w="17145" cap="rnd">
            <a:solidFill>
              <a:srgbClr val="326CB2"/>
            </a:solidFill>
            <a:headEnd type="none" w="sm" len="sm"/>
            <a:tailEnd type="triangle" w="sm" len="sm"/>
          </a:ln>
        </p:spPr>
      </p:cxnSp>
      <p:cxnSp>
        <p:nvCxnSpPr>
          <p:cNvPr id="31" name="gd_state_2_gd_right_step_0" descr="Gradient descent update: [1.5, 3.052966718472656] to [1.7733005755903055, 2.9153590815492127]"/>
          <p:cNvCxnSpPr/>
          <p:nvPr/>
        </p:nvCxnSpPr>
        <p:spPr>
          <a:xfrm>
            <a:off x="8122920" y="2762568"/>
            <a:ext cx="270384" cy="95682"/>
          </a:xfrm>
          <a:prstGeom prst="line">
            <a:avLst/>
          </a:prstGeom>
          <a:ln w="17145" cap="rnd">
            <a:solidFill>
              <a:srgbClr val="C45C28"/>
            </a:solidFill>
            <a:headEnd type="none" w="sm" len="sm"/>
            <a:tailEnd type="triangle" w="sm" len="sm"/>
          </a:ln>
        </p:spPr>
      </p:cxnSp>
      <p:cxnSp>
        <p:nvCxnSpPr>
          <p:cNvPr id="32" name="gd_state_2_gd_right_step_1" descr="Gradient descent update: [1.7733005755903055, 2.9153590815492127] to [2.0028280816253523, 2.818999686312374]"/>
          <p:cNvCxnSpPr/>
          <p:nvPr/>
        </p:nvCxnSpPr>
        <p:spPr>
          <a:xfrm>
            <a:off x="8393304" y="2858250"/>
            <a:ext cx="227078" cy="67001"/>
          </a:xfrm>
          <a:prstGeom prst="line">
            <a:avLst/>
          </a:prstGeom>
          <a:ln w="17145" cap="rnd">
            <a:solidFill>
              <a:srgbClr val="C45C28"/>
            </a:solidFill>
            <a:headEnd type="none" w="sm" len="sm"/>
            <a:tailEnd type="triangle" w="sm" len="sm"/>
          </a:ln>
        </p:spPr>
      </p:cxnSp>
      <p:graphicFrame>
        <p:nvGraphicFramePr>
          <p:cNvPr id="33" name="gd_state_5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18"/>
          </a:graphicData>
        </a:graphic>
      </p:graphicFrame>
      <mc:AlternateContent xmlns:mc="http://schemas.openxmlformats.org/markup-compatibility/2006" xmlns:a14="http://schemas.microsoft.com/office/drawing/2010/main">
        <mc:Choice Requires="a14">
          <p:sp>
            <p:nvSpPr>
              <p:cNvPr id="34" name="gd_state_5_iteration">
                <a:extLst>
                  <a:ext uri="{FF2B5EF4-FFF2-40B4-BE49-F238E27FC236}">
                    <a16:creationId xmlns:a16="http://schemas.microsoft.com/office/drawing/2014/main" id="{FB7920A3-FFEB-4A3D-BA3C-E97EEF4525E0}"/>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𝟓</m:t>
                      </m:r>
                    </m:oMath>
                  </m:oMathPara>
                </a14:m>
                <a:endParaRPr/>
              </a:p>
            </p:txBody>
          </p:sp>
        </mc:Choice>
        <mc:Fallback xmlns="">
          <p:sp>
            <p:nvSpPr>
              <p:cNvPr id="34" name="gd_state_5_iteration">
                <a:extLst>
                  <a:ext uri="{FF2B5EF4-FFF2-40B4-BE49-F238E27FC236}">
                    <a16:creationId xmlns:a16="http://schemas.microsoft.com/office/drawing/2014/main" id="{FB7920A3-FFEB-4A3D-BA3C-E97EEF4525E0}"/>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19"/>
                <a:stretch>
                  <a:fillRect b="-3279"/>
                </a:stretch>
              </a:blipFill>
              <a:ln w="0">
                <a:noFill/>
              </a:ln>
            </p:spPr>
            <p:txBody>
              <a:bodyPr/>
              <a:lstStyle/>
              <a:p>
                <a:r>
                  <a:rPr lang="it-IT">
                    <a:noFill/>
                  </a:rPr>
                  <a:t> </a:t>
                </a:r>
              </a:p>
            </p:txBody>
          </p:sp>
        </mc:Fallback>
      </mc:AlternateContent>
      <p:sp>
        <p:nvSpPr>
          <p:cNvPr id="35" name="gd_state_5_x_axis">
            <a:extLst>
              <a:ext uri="{FF2B5EF4-FFF2-40B4-BE49-F238E27FC236}">
                <a16:creationId xmlns:a16="http://schemas.microsoft.com/office/drawing/2014/main" id="{08CB810E-A511-46E5-9D99-58CBA770A9EC}"/>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mc:Choice xmlns:a14="http://schemas.microsoft.com/office/drawing/2010/main" Requires="a14">
          <p:sp>
            <p:nvSpPr>
              <p:cNvPr id="36" name="gd_state_5_left_readout" descr="\theta^{(5)}\approx-2.4747,\quad\mathcal{L}_{\mathrm{log}}\left(\theta^{(5)}\right)\approx0.6806">
                <a:extLst>
                  <a:ext uri="{FF2B5EF4-FFF2-40B4-BE49-F238E27FC236}">
                    <a16:creationId xmlns:a16="http://schemas.microsoft.com/office/drawing/2014/main" id="{BB3CB381-3E40-466E-996B-FAA253742593}"/>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(5)</m:t>
                          </m:r>
                        </m:sup>
                      </m:sSup>
                      <m:r>
                        <a:rPr lang="en-GB" sz="2400">
                          <a:solidFill>
                            <a:srgbClr val="326CB2"/>
                          </a:solidFill>
                          <a:latin typeface="Cambria Math"/>
                          <a:ea typeface="Cambria Math"/>
                          <a:cs typeface="Cambria Math"/>
                        </a:rPr>
                        <m:t>≈−2.4747, 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log</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(5)</m:t>
                              </m:r>
                            </m:sup>
                          </m:sSup>
                        </m:e>
                      </m:d>
                      <m:r>
                        <a:rPr lang="en-GB" sz="2400">
                          <a:solidFill>
                            <a:srgbClr val="326CB2"/>
                          </a:solidFill>
                          <a:latin typeface="Cambria Math"/>
                          <a:ea typeface="Cambria Math"/>
                          <a:cs typeface="Cambria Math"/>
                        </a:rPr>
                        <m:t>≈0.6806</m:t>
                      </m:r>
                    </m:oMath>
                  </m:oMathPara>
                </a14:m>
                <a:endParaRPr lang="en-GB" sz="2400"/>
              </a:p>
            </p:txBody>
          </p:sp>
        </mc:Choice>
        <mc:Fallback>
          <p:sp>
            <p:nvSpPr>
              <p:cNvPr id="36" name="gd_state_5_left_readout" descr="\theta^{(5)}\approx-2.4747,\quad\mathcal{L}_{\mathrm{log}}\left(\theta^{(5)}\right)\approx0.6806">
                <a:extLst>
                  <a:ext uri="{FF2B5EF4-FFF2-40B4-BE49-F238E27FC236}">
                    <a16:creationId xmlns:a16="http://schemas.microsoft.com/office/drawing/2014/main" id="{BB3CB381-3E40-466E-996B-FAA253742593}"/>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20"/>
                <a:stretch>
                  <a:fillRect/>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37" name="gd_state_5_right_readout" descr="\theta^{(5)}\approx2.4747,\quad\mathcal{L}_{\mathrm{log}}\left(\theta^{(5)}\right)\approx2.6806">
                <a:extLst>
                  <a:ext uri="{FF2B5EF4-FFF2-40B4-BE49-F238E27FC236}">
                    <a16:creationId xmlns:a16="http://schemas.microsoft.com/office/drawing/2014/main" id="{8353AE20-778A-431E-BC9B-9D15D6BF5FFF}"/>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(5)</m:t>
                          </m:r>
                        </m:sup>
                      </m:sSup>
                      <m:r>
                        <a:rPr lang="en-GB" sz="2400">
                          <a:solidFill>
                            <a:srgbClr val="C45C28"/>
                          </a:solidFill>
                          <a:latin typeface="Cambria Math"/>
                          <a:ea typeface="Cambria Math"/>
                          <a:cs typeface="Cambria Math"/>
                        </a:rPr>
                        <m:t>≈2.4747, 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log</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(5)</m:t>
                              </m:r>
                            </m:sup>
                          </m:sSup>
                        </m:e>
                      </m:d>
                      <m:r>
                        <a:rPr lang="en-GB" sz="2400">
                          <a:solidFill>
                            <a:srgbClr val="C45C28"/>
                          </a:solidFill>
                          <a:latin typeface="Cambria Math"/>
                          <a:ea typeface="Cambria Math"/>
                          <a:cs typeface="Cambria Math"/>
                        </a:rPr>
                        <m:t>≈2.6806</m:t>
                      </m:r>
                    </m:oMath>
                  </m:oMathPara>
                </a14:m>
                <a:endParaRPr lang="en-GB" sz="2400"/>
              </a:p>
            </p:txBody>
          </p:sp>
        </mc:Choice>
        <mc:Fallback>
          <p:sp>
            <p:nvSpPr>
              <p:cNvPr id="37" name="gd_state_5_right_readout" descr="\theta^{(5)}\approx2.4747,\quad\mathcal{L}_{\mathrm{log}}\left(\theta^{(5)}\right)\approx2.6806">
                <a:extLst>
                  <a:ext uri="{FF2B5EF4-FFF2-40B4-BE49-F238E27FC236}">
                    <a16:creationId xmlns:a16="http://schemas.microsoft.com/office/drawing/2014/main" id="{8353AE20-778A-431E-BC9B-9D15D6BF5FFF}"/>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21"/>
                <a:stretch>
                  <a:fillRect/>
                </a:stretch>
              </a:blipFill>
              <a:ln w="0">
                <a:noFill/>
              </a:ln>
            </p:spPr>
            <p:txBody>
              <a:bodyPr/>
              <a:lstStyle/>
              <a:p>
                <a:r>
                  <a:rPr lang="it-IT">
                    <a:noFill/>
                  </a:rPr>
                  <a:t> </a:t>
                </a:r>
              </a:p>
            </p:txBody>
          </p:sp>
        </mc:Fallback>
      </mc:AlternateContent>
      <p:cxnSp>
        <p:nvCxnSpPr>
          <p:cNvPr id="38" name="gd_state_5_gd_left_step_0" descr="Gradient descent update: [-1.5, 1.0529667184726563] to [-1.7733005755903055, 0.9153590815492127]"/>
          <p:cNvCxnSpPr/>
          <p:nvPr/>
        </p:nvCxnSpPr>
        <p:spPr>
          <a:xfrm flipH="1">
            <a:off x="4884546" y="4153218"/>
            <a:ext cx="270384" cy="95682"/>
          </a:xfrm>
          <a:prstGeom prst="line">
            <a:avLst/>
          </a:prstGeom>
          <a:ln w="17145" cap="rnd">
            <a:solidFill>
              <a:srgbClr val="326CB2"/>
            </a:solidFill>
            <a:headEnd type="none" w="sm" len="sm"/>
            <a:tailEnd type="triangle" w="sm" len="sm"/>
          </a:ln>
        </p:spPr>
      </p:cxnSp>
      <p:cxnSp>
        <p:nvCxnSpPr>
          <p:cNvPr id="39" name="gd_state_5_gd_left_step_1" descr="Gradient descent update: [-1.7733005755903055, 0.9153590815492127] to [-2.0028280816253523, 0.8189996863123741]"/>
          <p:cNvCxnSpPr/>
          <p:nvPr/>
        </p:nvCxnSpPr>
        <p:spPr>
          <a:xfrm flipH="1">
            <a:off x="4657467" y="4248900"/>
            <a:ext cx="227078" cy="67001"/>
          </a:xfrm>
          <a:prstGeom prst="line">
            <a:avLst/>
          </a:prstGeom>
          <a:ln w="17145" cap="rnd">
            <a:solidFill>
              <a:srgbClr val="326CB2"/>
            </a:solidFill>
            <a:headEnd type="none" w="sm" len="sm"/>
            <a:tailEnd type="triangle" w="sm" len="sm"/>
          </a:ln>
        </p:spPr>
      </p:cxnSp>
      <p:cxnSp>
        <p:nvCxnSpPr>
          <p:cNvPr id="40" name="gd_state_5_gd_left_step_2" descr="Gradient descent update: [-2.0028280816253523, 0.8189996863123741] to [-2.1927244854727714, 0.7533693983606518]"/>
          <p:cNvCxnSpPr/>
          <p:nvPr/>
        </p:nvCxnSpPr>
        <p:spPr>
          <a:xfrm flipH="1">
            <a:off x="4469597" y="4315902"/>
            <a:ext cx="187870" cy="45634"/>
          </a:xfrm>
          <a:prstGeom prst="line">
            <a:avLst/>
          </a:prstGeom>
          <a:ln w="17145" cap="rnd">
            <a:solidFill>
              <a:srgbClr val="326CB2"/>
            </a:solidFill>
            <a:headEnd type="none" w="sm" len="sm"/>
            <a:tailEnd type="triangle" w="sm" len="sm"/>
          </a:ln>
        </p:spPr>
      </p:cxnSp>
      <p:cxnSp>
        <p:nvCxnSpPr>
          <p:cNvPr id="41" name="gd_state_5_gd_left_step_3" descr="Gradient descent update: [-2.1927244854727714, 0.7533693983606518] to [-2.3482243511572736, 0.7095051372373071]"/>
          <p:cNvCxnSpPr/>
          <p:nvPr/>
        </p:nvCxnSpPr>
        <p:spPr>
          <a:xfrm flipH="1">
            <a:off x="4315756" y="4361536"/>
            <a:ext cx="153841" cy="30500"/>
          </a:xfrm>
          <a:prstGeom prst="line">
            <a:avLst/>
          </a:prstGeom>
          <a:ln w="17145" cap="rnd">
            <a:solidFill>
              <a:srgbClr val="326CB2"/>
            </a:solidFill>
            <a:headEnd type="none" w="sm" len="sm"/>
            <a:tailEnd type="triangle" w="sm" len="sm"/>
          </a:ln>
        </p:spPr>
      </p:cxnSp>
      <p:cxnSp>
        <p:nvCxnSpPr>
          <p:cNvPr id="42" name="gd_state_5_gd_left_step_4" descr="Gradient descent update: [-2.3482243511572736, 0.7095051372373071] to [-2.4746963348938356, 0.6805502696548813]"/>
          <p:cNvCxnSpPr/>
          <p:nvPr/>
        </p:nvCxnSpPr>
        <p:spPr>
          <a:xfrm flipH="1">
            <a:off x="4190634" y="4392036"/>
            <a:ext cx="125123" cy="20133"/>
          </a:xfrm>
          <a:prstGeom prst="line">
            <a:avLst/>
          </a:prstGeom>
          <a:ln w="17145" cap="rnd">
            <a:solidFill>
              <a:srgbClr val="326CB2"/>
            </a:solidFill>
            <a:headEnd type="none" w="sm" len="sm"/>
            <a:tailEnd type="triangle" w="sm" len="sm"/>
          </a:ln>
        </p:spPr>
      </p:cxnSp>
      <p:cxnSp>
        <p:nvCxnSpPr>
          <p:cNvPr id="43" name="gd_state_5_gd_right_step_0" descr="Gradient descent update: [1.5, 3.052966718472656] to [1.7733005755903055, 2.9153590815492127]"/>
          <p:cNvCxnSpPr/>
          <p:nvPr/>
        </p:nvCxnSpPr>
        <p:spPr>
          <a:xfrm>
            <a:off x="8122920" y="2762568"/>
            <a:ext cx="270384" cy="95682"/>
          </a:xfrm>
          <a:prstGeom prst="line">
            <a:avLst/>
          </a:prstGeom>
          <a:ln w="17145" cap="rnd">
            <a:solidFill>
              <a:srgbClr val="C45C28"/>
            </a:solidFill>
            <a:headEnd type="none" w="sm" len="sm"/>
            <a:tailEnd type="triangle" w="sm" len="sm"/>
          </a:ln>
        </p:spPr>
      </p:cxnSp>
      <p:cxnSp>
        <p:nvCxnSpPr>
          <p:cNvPr id="44" name="gd_state_5_gd_right_step_1" descr="Gradient descent update: [1.7733005755903055, 2.9153590815492127] to [2.0028280816253523, 2.818999686312374]"/>
          <p:cNvCxnSpPr/>
          <p:nvPr/>
        </p:nvCxnSpPr>
        <p:spPr>
          <a:xfrm>
            <a:off x="8393304" y="2858250"/>
            <a:ext cx="227078" cy="67001"/>
          </a:xfrm>
          <a:prstGeom prst="line">
            <a:avLst/>
          </a:prstGeom>
          <a:ln w="17145" cap="rnd">
            <a:solidFill>
              <a:srgbClr val="C45C28"/>
            </a:solidFill>
            <a:headEnd type="none" w="sm" len="sm"/>
            <a:tailEnd type="triangle" w="sm" len="sm"/>
          </a:ln>
        </p:spPr>
      </p:cxnSp>
      <p:cxnSp>
        <p:nvCxnSpPr>
          <p:cNvPr id="45" name="gd_state_5_gd_right_step_2" descr="Gradient descent update: [2.0028280816253523, 2.818999686312374] to [2.1927244854727714, 2.7533693983606518]"/>
          <p:cNvCxnSpPr/>
          <p:nvPr/>
        </p:nvCxnSpPr>
        <p:spPr>
          <a:xfrm>
            <a:off x="8620383" y="2925252"/>
            <a:ext cx="187870" cy="45634"/>
          </a:xfrm>
          <a:prstGeom prst="line">
            <a:avLst/>
          </a:prstGeom>
          <a:ln w="17145" cap="rnd">
            <a:solidFill>
              <a:srgbClr val="C45C28"/>
            </a:solidFill>
            <a:headEnd type="none" w="sm" len="sm"/>
            <a:tailEnd type="triangle" w="sm" len="sm"/>
          </a:ln>
        </p:spPr>
      </p:cxnSp>
      <p:cxnSp>
        <p:nvCxnSpPr>
          <p:cNvPr id="46" name="gd_state_5_gd_right_step_3" descr="Gradient descent update: [2.1927244854727714, 2.7533693983606518] to [2.3482243511572736, 2.709505137237307]"/>
          <p:cNvCxnSpPr/>
          <p:nvPr/>
        </p:nvCxnSpPr>
        <p:spPr>
          <a:xfrm>
            <a:off x="8808253" y="2970886"/>
            <a:ext cx="153841" cy="30500"/>
          </a:xfrm>
          <a:prstGeom prst="line">
            <a:avLst/>
          </a:prstGeom>
          <a:ln w="17145" cap="rnd">
            <a:solidFill>
              <a:srgbClr val="C45C28"/>
            </a:solidFill>
            <a:headEnd type="none" w="sm" len="sm"/>
            <a:tailEnd type="triangle" w="sm" len="sm"/>
          </a:ln>
        </p:spPr>
      </p:cxnSp>
      <p:cxnSp>
        <p:nvCxnSpPr>
          <p:cNvPr id="47" name="gd_state_5_gd_right_step_4" descr="Gradient descent update: [2.3482243511572736, 2.709505137237307] to [2.4746963348938356, 2.6805502696548813]"/>
          <p:cNvCxnSpPr/>
          <p:nvPr/>
        </p:nvCxnSpPr>
        <p:spPr>
          <a:xfrm>
            <a:off x="8962094" y="3001386"/>
            <a:ext cx="125123" cy="20133"/>
          </a:xfrm>
          <a:prstGeom prst="line">
            <a:avLst/>
          </a:prstGeom>
          <a:ln w="17145" cap="rnd">
            <a:solidFill>
              <a:srgbClr val="C45C28"/>
            </a:solidFill>
            <a:headEnd type="none" w="sm" len="sm"/>
            <a:tailEnd type="triangle" w="sm" len="sm"/>
          </a:ln>
        </p:spPr>
      </p:cxnSp>
      <p:graphicFrame>
        <p:nvGraphicFramePr>
          <p:cNvPr id="48" name="gd_state_10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22"/>
          </a:graphicData>
        </a:graphic>
      </p:graphicFrame>
      <mc:AlternateContent xmlns:mc="http://schemas.openxmlformats.org/markup-compatibility/2006" xmlns:a14="http://schemas.microsoft.com/office/drawing/2010/main">
        <mc:Choice Requires="a14">
          <p:sp>
            <p:nvSpPr>
              <p:cNvPr id="49" name="gd_state_10_iteration">
                <a:extLst>
                  <a:ext uri="{FF2B5EF4-FFF2-40B4-BE49-F238E27FC236}">
                    <a16:creationId xmlns:a16="http://schemas.microsoft.com/office/drawing/2014/main" id="{54E53238-0247-42F7-B9C0-CF379317F790}"/>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𝟏𝟎</m:t>
                      </m:r>
                    </m:oMath>
                  </m:oMathPara>
                </a14:m>
                <a:endParaRPr/>
              </a:p>
            </p:txBody>
          </p:sp>
        </mc:Choice>
        <mc:Fallback xmlns="">
          <p:sp>
            <p:nvSpPr>
              <p:cNvPr id="49" name="gd_state_10_iteration">
                <a:extLst>
                  <a:ext uri="{FF2B5EF4-FFF2-40B4-BE49-F238E27FC236}">
                    <a16:creationId xmlns:a16="http://schemas.microsoft.com/office/drawing/2014/main" id="{54E53238-0247-42F7-B9C0-CF379317F790}"/>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23"/>
                <a:stretch>
                  <a:fillRect b="-3279"/>
                </a:stretch>
              </a:blipFill>
              <a:ln w="0">
                <a:noFill/>
              </a:ln>
            </p:spPr>
            <p:txBody>
              <a:bodyPr/>
              <a:lstStyle/>
              <a:p>
                <a:r>
                  <a:rPr lang="it-IT">
                    <a:noFill/>
                  </a:rPr>
                  <a:t> </a:t>
                </a:r>
              </a:p>
            </p:txBody>
          </p:sp>
        </mc:Fallback>
      </mc:AlternateContent>
      <p:sp>
        <p:nvSpPr>
          <p:cNvPr id="50" name="gd_state_10_x_axis">
            <a:extLst>
              <a:ext uri="{FF2B5EF4-FFF2-40B4-BE49-F238E27FC236}">
                <a16:creationId xmlns:a16="http://schemas.microsoft.com/office/drawing/2014/main" id="{D7A43D3E-41F9-4A29-841F-6F25A58DD555}"/>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mc:Choice xmlns:a14="http://schemas.microsoft.com/office/drawing/2010/main" Requires="a14">
          <p:sp>
            <p:nvSpPr>
              <p:cNvPr id="51" name="gd_state_10_left_readout" descr="\theta^{(10)}\approx-2.8233,\quad\mathcal{L}_{\mathrm{log}}\left(\theta^{(10)}\right)\approx0.6327">
                <a:extLst>
                  <a:ext uri="{FF2B5EF4-FFF2-40B4-BE49-F238E27FC236}">
                    <a16:creationId xmlns:a16="http://schemas.microsoft.com/office/drawing/2014/main" id="{68ECB609-062F-4ADE-A190-E961964C0226}"/>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(10)</m:t>
                          </m:r>
                        </m:sup>
                      </m:sSup>
                      <m:r>
                        <a:rPr lang="en-GB" sz="2400">
                          <a:solidFill>
                            <a:srgbClr val="326CB2"/>
                          </a:solidFill>
                          <a:latin typeface="Cambria Math"/>
                          <a:ea typeface="Cambria Math"/>
                          <a:cs typeface="Cambria Math"/>
                        </a:rPr>
                        <m:t>≈−2.8233, 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log</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(10)</m:t>
                              </m:r>
                            </m:sup>
                          </m:sSup>
                        </m:e>
                      </m:d>
                      <m:r>
                        <a:rPr lang="en-GB" sz="2400">
                          <a:solidFill>
                            <a:srgbClr val="326CB2"/>
                          </a:solidFill>
                          <a:latin typeface="Cambria Math"/>
                          <a:ea typeface="Cambria Math"/>
                          <a:cs typeface="Cambria Math"/>
                        </a:rPr>
                        <m:t>≈0.6327</m:t>
                      </m:r>
                    </m:oMath>
                  </m:oMathPara>
                </a14:m>
                <a:endParaRPr lang="en-GB" sz="2400"/>
              </a:p>
            </p:txBody>
          </p:sp>
        </mc:Choice>
        <mc:Fallback>
          <p:sp>
            <p:nvSpPr>
              <p:cNvPr id="51" name="gd_state_10_left_readout" descr="\theta^{(10)}\approx-2.8233,\quad\mathcal{L}_{\mathrm{log}}\left(\theta^{(10)}\right)\approx0.6327">
                <a:extLst>
                  <a:ext uri="{FF2B5EF4-FFF2-40B4-BE49-F238E27FC236}">
                    <a16:creationId xmlns:a16="http://schemas.microsoft.com/office/drawing/2014/main" id="{68ECB609-062F-4ADE-A190-E961964C0226}"/>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24"/>
                <a:stretch>
                  <a:fillRect/>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2" name="gd_state_10_right_readout" descr="\theta^{(10)}\approx2.8233,\quad\mathcal{L}_{\mathrm{log}}\left(\theta^{(10)}\right)\approx2.6327">
                <a:extLst>
                  <a:ext uri="{FF2B5EF4-FFF2-40B4-BE49-F238E27FC236}">
                    <a16:creationId xmlns:a16="http://schemas.microsoft.com/office/drawing/2014/main" id="{A45CD2BC-8F30-4E53-B48E-0ADB2BD9F252}"/>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(10)</m:t>
                          </m:r>
                        </m:sup>
                      </m:sSup>
                      <m:r>
                        <a:rPr lang="en-GB" sz="2400">
                          <a:solidFill>
                            <a:srgbClr val="C45C28"/>
                          </a:solidFill>
                          <a:latin typeface="Cambria Math"/>
                          <a:ea typeface="Cambria Math"/>
                          <a:cs typeface="Cambria Math"/>
                        </a:rPr>
                        <m:t>≈2.8233, 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log</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(10)</m:t>
                              </m:r>
                            </m:sup>
                          </m:sSup>
                        </m:e>
                      </m:d>
                      <m:r>
                        <a:rPr lang="en-GB" sz="2400">
                          <a:solidFill>
                            <a:srgbClr val="C45C28"/>
                          </a:solidFill>
                          <a:latin typeface="Cambria Math"/>
                          <a:ea typeface="Cambria Math"/>
                          <a:cs typeface="Cambria Math"/>
                        </a:rPr>
                        <m:t>≈2.6327</m:t>
                      </m:r>
                    </m:oMath>
                  </m:oMathPara>
                </a14:m>
                <a:endParaRPr lang="en-GB" sz="2400"/>
              </a:p>
            </p:txBody>
          </p:sp>
        </mc:Choice>
        <mc:Fallback>
          <p:sp>
            <p:nvSpPr>
              <p:cNvPr id="52" name="gd_state_10_right_readout" descr="\theta^{(10)}\approx2.8233,\quad\mathcal{L}_{\mathrm{log}}\left(\theta^{(10)}\right)\approx2.6327">
                <a:extLst>
                  <a:ext uri="{FF2B5EF4-FFF2-40B4-BE49-F238E27FC236}">
                    <a16:creationId xmlns:a16="http://schemas.microsoft.com/office/drawing/2014/main" id="{A45CD2BC-8F30-4E53-B48E-0ADB2BD9F252}"/>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25"/>
                <a:stretch>
                  <a:fillRect/>
                </a:stretch>
              </a:blipFill>
              <a:ln w="0">
                <a:noFill/>
              </a:ln>
            </p:spPr>
            <p:txBody>
              <a:bodyPr/>
              <a:lstStyle/>
              <a:p>
                <a:r>
                  <a:rPr lang="it-IT">
                    <a:noFill/>
                  </a:rPr>
                  <a:t> </a:t>
                </a:r>
              </a:p>
            </p:txBody>
          </p:sp>
        </mc:Fallback>
      </mc:AlternateContent>
      <p:cxnSp>
        <p:nvCxnSpPr>
          <p:cNvPr id="53" name="gd_state_10_gd_left_step_0" descr="Gradient descent update: [-1.5, 1.0529667184726563] to [-1.7733005755903055, 0.9153590815492127]"/>
          <p:cNvCxnSpPr/>
          <p:nvPr/>
        </p:nvCxnSpPr>
        <p:spPr>
          <a:xfrm flipH="1">
            <a:off x="4884546" y="4153218"/>
            <a:ext cx="270384" cy="95682"/>
          </a:xfrm>
          <a:prstGeom prst="line">
            <a:avLst/>
          </a:prstGeom>
          <a:ln w="17145" cap="rnd">
            <a:solidFill>
              <a:srgbClr val="326CB2"/>
            </a:solidFill>
            <a:headEnd type="none" w="sm" len="sm"/>
            <a:tailEnd type="triangle" w="sm" len="sm"/>
          </a:ln>
        </p:spPr>
      </p:cxnSp>
      <p:cxnSp>
        <p:nvCxnSpPr>
          <p:cNvPr id="54" name="gd_state_10_gd_left_step_1" descr="Gradient descent update: [-1.7733005755903055, 0.9153590815492127] to [-2.0028280816253523, 0.8189996863123741]"/>
          <p:cNvCxnSpPr/>
          <p:nvPr/>
        </p:nvCxnSpPr>
        <p:spPr>
          <a:xfrm flipH="1">
            <a:off x="4657467" y="4248900"/>
            <a:ext cx="227078" cy="67001"/>
          </a:xfrm>
          <a:prstGeom prst="line">
            <a:avLst/>
          </a:prstGeom>
          <a:ln w="17145" cap="rnd">
            <a:solidFill>
              <a:srgbClr val="326CB2"/>
            </a:solidFill>
            <a:headEnd type="none" w="sm" len="sm"/>
            <a:tailEnd type="triangle" w="sm" len="sm"/>
          </a:ln>
        </p:spPr>
      </p:cxnSp>
      <p:cxnSp>
        <p:nvCxnSpPr>
          <p:cNvPr id="55" name="gd_state_10_gd_left_step_2" descr="Gradient descent update: [-2.0028280816253523, 0.8189996863123741] to [-2.1927244854727714, 0.7533693983606518]"/>
          <p:cNvCxnSpPr/>
          <p:nvPr/>
        </p:nvCxnSpPr>
        <p:spPr>
          <a:xfrm flipH="1">
            <a:off x="4469597" y="4315902"/>
            <a:ext cx="187870" cy="45634"/>
          </a:xfrm>
          <a:prstGeom prst="line">
            <a:avLst/>
          </a:prstGeom>
          <a:ln w="17145" cap="rnd">
            <a:solidFill>
              <a:srgbClr val="326CB2"/>
            </a:solidFill>
            <a:headEnd type="none" w="sm" len="sm"/>
            <a:tailEnd type="triangle" w="sm" len="sm"/>
          </a:ln>
        </p:spPr>
      </p:cxnSp>
      <p:cxnSp>
        <p:nvCxnSpPr>
          <p:cNvPr id="56" name="gd_state_10_gd_left_step_3" descr="Gradient descent update: [-2.1927244854727714, 0.7533693983606518] to [-2.3482243511572736, 0.7095051372373071]"/>
          <p:cNvCxnSpPr/>
          <p:nvPr/>
        </p:nvCxnSpPr>
        <p:spPr>
          <a:xfrm flipH="1">
            <a:off x="4315756" y="4361536"/>
            <a:ext cx="153841" cy="30500"/>
          </a:xfrm>
          <a:prstGeom prst="line">
            <a:avLst/>
          </a:prstGeom>
          <a:ln w="17145" cap="rnd">
            <a:solidFill>
              <a:srgbClr val="326CB2"/>
            </a:solidFill>
            <a:headEnd type="none" w="sm" len="sm"/>
            <a:tailEnd type="triangle" w="sm" len="sm"/>
          </a:ln>
        </p:spPr>
      </p:cxnSp>
      <p:cxnSp>
        <p:nvCxnSpPr>
          <p:cNvPr id="57" name="gd_state_10_gd_left_step_4" descr="Gradient descent update: [-2.3482243511572736, 0.7095051372373071] to [-2.4746963348938356, 0.6805502696548813]"/>
          <p:cNvCxnSpPr/>
          <p:nvPr/>
        </p:nvCxnSpPr>
        <p:spPr>
          <a:xfrm flipH="1">
            <a:off x="4190634" y="4392036"/>
            <a:ext cx="125123" cy="20133"/>
          </a:xfrm>
          <a:prstGeom prst="line">
            <a:avLst/>
          </a:prstGeom>
          <a:ln w="17145" cap="rnd">
            <a:solidFill>
              <a:srgbClr val="326CB2"/>
            </a:solidFill>
            <a:headEnd type="none" w="sm" len="sm"/>
            <a:tailEnd type="triangle" w="sm" len="sm"/>
          </a:ln>
        </p:spPr>
      </p:cxnSp>
      <p:cxnSp>
        <p:nvCxnSpPr>
          <p:cNvPr id="58" name="gd_state_10_gd_left_step_5" descr="Gradient descent update: [-2.4746963348938356, 0.6805502696548813] to [-2.577108051456927, 0.6615900472966363]"/>
          <p:cNvCxnSpPr/>
          <p:nvPr/>
        </p:nvCxnSpPr>
        <p:spPr>
          <a:xfrm flipH="1">
            <a:off x="4089315" y="4412169"/>
            <a:ext cx="101319" cy="13184"/>
          </a:xfrm>
          <a:prstGeom prst="line">
            <a:avLst/>
          </a:prstGeom>
          <a:ln w="17145" cap="rnd">
            <a:solidFill>
              <a:srgbClr val="326CB2"/>
            </a:solidFill>
            <a:headEnd type="none" w="sm" len="sm"/>
            <a:tailEnd type="triangle" w="sm" len="sm"/>
          </a:ln>
        </p:spPr>
      </p:cxnSp>
      <p:cxnSp>
        <p:nvCxnSpPr>
          <p:cNvPr id="59" name="gd_state_10_gd_left_step_6" descr="Gradient descent update: [-2.577108051456927, 0.6615900472966363] to [-2.659802893713609, 0.6492384293288612]"/>
          <p:cNvCxnSpPr/>
          <p:nvPr/>
        </p:nvCxnSpPr>
        <p:spPr>
          <a:xfrm flipH="1">
            <a:off x="4007502" y="4425352"/>
            <a:ext cx="81812" cy="8588"/>
          </a:xfrm>
          <a:prstGeom prst="line">
            <a:avLst/>
          </a:prstGeom>
          <a:ln w="17145" cap="rnd">
            <a:solidFill>
              <a:srgbClr val="326CB2"/>
            </a:solidFill>
            <a:headEnd type="none" w="sm" len="sm"/>
            <a:tailEnd type="triangle" w="sm" len="sm"/>
          </a:ln>
        </p:spPr>
      </p:cxnSp>
      <p:cxnSp>
        <p:nvCxnSpPr>
          <p:cNvPr id="60" name="gd_state_10_gd_left_step_7" descr="Gradient descent update: [-2.659802893713609, 0.6492384293288612] to [-2.726456015593546, 0.6412185799893094]"/>
          <p:cNvCxnSpPr/>
          <p:nvPr/>
        </p:nvCxnSpPr>
        <p:spPr>
          <a:xfrm flipH="1">
            <a:off x="3941560" y="4433941"/>
            <a:ext cx="65942" cy="5576"/>
          </a:xfrm>
          <a:prstGeom prst="line">
            <a:avLst/>
          </a:prstGeom>
          <a:ln w="17145" cap="rnd">
            <a:solidFill>
              <a:srgbClr val="326CB2"/>
            </a:solidFill>
            <a:headEnd type="none" w="sm" len="sm"/>
            <a:tailEnd type="triangle" w="sm" len="sm"/>
          </a:ln>
        </p:spPr>
      </p:cxnSp>
      <p:cxnSp>
        <p:nvCxnSpPr>
          <p:cNvPr id="61" name="gd_state_10_gd_left_step_8" descr="Gradient descent update: [-2.726456015593546, 0.6412185799893094] to [-2.7801168794122764, 0.6360223868871784]"/>
          <p:cNvCxnSpPr/>
          <p:nvPr/>
        </p:nvCxnSpPr>
        <p:spPr>
          <a:xfrm flipH="1">
            <a:off x="3888472" y="4439517"/>
            <a:ext cx="53088" cy="3613"/>
          </a:xfrm>
          <a:prstGeom prst="line">
            <a:avLst/>
          </a:prstGeom>
          <a:ln w="17145" cap="rnd">
            <a:solidFill>
              <a:srgbClr val="326CB2"/>
            </a:solidFill>
            <a:headEnd type="none" w="sm" len="sm"/>
            <a:tailEnd type="triangle" w="sm" len="sm"/>
          </a:ln>
        </p:spPr>
      </p:cxnSp>
      <p:cxnSp>
        <p:nvCxnSpPr>
          <p:cNvPr id="62" name="gd_state_10_gd_left_step_9" descr="Gradient descent update: [-2.7801168794122764, 0.6360223868871784] to [-2.823285717705432, 0.6326602851760501]"/>
          <p:cNvCxnSpPr/>
          <p:nvPr/>
        </p:nvCxnSpPr>
        <p:spPr>
          <a:xfrm flipH="1">
            <a:off x="3845764" y="4443130"/>
            <a:ext cx="42708" cy="2338"/>
          </a:xfrm>
          <a:prstGeom prst="line">
            <a:avLst/>
          </a:prstGeom>
          <a:ln w="17145" cap="rnd">
            <a:solidFill>
              <a:srgbClr val="326CB2"/>
            </a:solidFill>
            <a:headEnd type="none" w="sm" len="sm"/>
            <a:tailEnd type="triangle" w="sm" len="sm"/>
          </a:ln>
        </p:spPr>
      </p:cxnSp>
      <p:cxnSp>
        <p:nvCxnSpPr>
          <p:cNvPr id="63" name="gd_state_10_gd_right_step_0" descr="Gradient descent update: [1.5, 3.052966718472656] to [1.7733005755903055, 2.9153590815492127]"/>
          <p:cNvCxnSpPr/>
          <p:nvPr/>
        </p:nvCxnSpPr>
        <p:spPr>
          <a:xfrm>
            <a:off x="8122920" y="2762568"/>
            <a:ext cx="270384" cy="95682"/>
          </a:xfrm>
          <a:prstGeom prst="line">
            <a:avLst/>
          </a:prstGeom>
          <a:ln w="17145" cap="rnd">
            <a:solidFill>
              <a:srgbClr val="C45C28"/>
            </a:solidFill>
            <a:headEnd type="none" w="sm" len="sm"/>
            <a:tailEnd type="triangle" w="sm" len="sm"/>
          </a:ln>
        </p:spPr>
      </p:cxnSp>
      <p:cxnSp>
        <p:nvCxnSpPr>
          <p:cNvPr id="64" name="gd_state_10_gd_right_step_1" descr="Gradient descent update: [1.7733005755903055, 2.9153590815492127] to [2.0028280816253523, 2.818999686312374]"/>
          <p:cNvCxnSpPr/>
          <p:nvPr/>
        </p:nvCxnSpPr>
        <p:spPr>
          <a:xfrm>
            <a:off x="8393304" y="2858250"/>
            <a:ext cx="227078" cy="67001"/>
          </a:xfrm>
          <a:prstGeom prst="line">
            <a:avLst/>
          </a:prstGeom>
          <a:ln w="17145" cap="rnd">
            <a:solidFill>
              <a:srgbClr val="C45C28"/>
            </a:solidFill>
            <a:headEnd type="none" w="sm" len="sm"/>
            <a:tailEnd type="triangle" w="sm" len="sm"/>
          </a:ln>
        </p:spPr>
      </p:cxnSp>
      <p:cxnSp>
        <p:nvCxnSpPr>
          <p:cNvPr id="65" name="gd_state_10_gd_right_step_2" descr="Gradient descent update: [2.0028280816253523, 2.818999686312374] to [2.1927244854727714, 2.7533693983606518]"/>
          <p:cNvCxnSpPr/>
          <p:nvPr/>
        </p:nvCxnSpPr>
        <p:spPr>
          <a:xfrm>
            <a:off x="8620383" y="2925252"/>
            <a:ext cx="187870" cy="45634"/>
          </a:xfrm>
          <a:prstGeom prst="line">
            <a:avLst/>
          </a:prstGeom>
          <a:ln w="17145" cap="rnd">
            <a:solidFill>
              <a:srgbClr val="C45C28"/>
            </a:solidFill>
            <a:headEnd type="none" w="sm" len="sm"/>
            <a:tailEnd type="triangle" w="sm" len="sm"/>
          </a:ln>
        </p:spPr>
      </p:cxnSp>
      <p:cxnSp>
        <p:nvCxnSpPr>
          <p:cNvPr id="66" name="gd_state_10_gd_right_step_3" descr="Gradient descent update: [2.1927244854727714, 2.7533693983606518] to [2.3482243511572736, 2.709505137237307]"/>
          <p:cNvCxnSpPr/>
          <p:nvPr/>
        </p:nvCxnSpPr>
        <p:spPr>
          <a:xfrm>
            <a:off x="8808253" y="2970886"/>
            <a:ext cx="153841" cy="30500"/>
          </a:xfrm>
          <a:prstGeom prst="line">
            <a:avLst/>
          </a:prstGeom>
          <a:ln w="17145" cap="rnd">
            <a:solidFill>
              <a:srgbClr val="C45C28"/>
            </a:solidFill>
            <a:headEnd type="none" w="sm" len="sm"/>
            <a:tailEnd type="triangle" w="sm" len="sm"/>
          </a:ln>
        </p:spPr>
      </p:cxnSp>
      <p:cxnSp>
        <p:nvCxnSpPr>
          <p:cNvPr id="67" name="gd_state_10_gd_right_step_4" descr="Gradient descent update: [2.3482243511572736, 2.709505137237307] to [2.4746963348938356, 2.6805502696548813]"/>
          <p:cNvCxnSpPr/>
          <p:nvPr/>
        </p:nvCxnSpPr>
        <p:spPr>
          <a:xfrm>
            <a:off x="8962094" y="3001386"/>
            <a:ext cx="125123" cy="20133"/>
          </a:xfrm>
          <a:prstGeom prst="line">
            <a:avLst/>
          </a:prstGeom>
          <a:ln w="17145" cap="rnd">
            <a:solidFill>
              <a:srgbClr val="C45C28"/>
            </a:solidFill>
            <a:headEnd type="none" w="sm" len="sm"/>
            <a:tailEnd type="triangle" w="sm" len="sm"/>
          </a:ln>
        </p:spPr>
      </p:cxnSp>
      <p:cxnSp>
        <p:nvCxnSpPr>
          <p:cNvPr id="68" name="gd_state_10_gd_right_step_5" descr="Gradient descent update: [2.4746963348938356, 2.6805502696548813] to [2.577108051456927, 2.6615900472966363]"/>
          <p:cNvCxnSpPr/>
          <p:nvPr/>
        </p:nvCxnSpPr>
        <p:spPr>
          <a:xfrm>
            <a:off x="9087216" y="3021519"/>
            <a:ext cx="101319" cy="13184"/>
          </a:xfrm>
          <a:prstGeom prst="line">
            <a:avLst/>
          </a:prstGeom>
          <a:ln w="17145" cap="rnd">
            <a:solidFill>
              <a:srgbClr val="C45C28"/>
            </a:solidFill>
            <a:headEnd type="none" w="sm" len="sm"/>
            <a:tailEnd type="triangle" w="sm" len="sm"/>
          </a:ln>
        </p:spPr>
      </p:cxnSp>
      <p:cxnSp>
        <p:nvCxnSpPr>
          <p:cNvPr id="69" name="gd_state_10_gd_right_step_6" descr="Gradient descent update: [2.577108051456927, 2.6615900472966363] to [2.659802893713609, 2.6492384293288613]"/>
          <p:cNvCxnSpPr/>
          <p:nvPr/>
        </p:nvCxnSpPr>
        <p:spPr>
          <a:xfrm>
            <a:off x="9188535" y="3034702"/>
            <a:ext cx="81812" cy="8588"/>
          </a:xfrm>
          <a:prstGeom prst="line">
            <a:avLst/>
          </a:prstGeom>
          <a:ln w="17145" cap="rnd">
            <a:solidFill>
              <a:srgbClr val="C45C28"/>
            </a:solidFill>
            <a:headEnd type="none" w="sm" len="sm"/>
            <a:tailEnd type="triangle" w="sm" len="sm"/>
          </a:ln>
        </p:spPr>
      </p:cxnSp>
      <p:cxnSp>
        <p:nvCxnSpPr>
          <p:cNvPr id="70" name="gd_state_10_gd_right_step_7" descr="Gradient descent update: [2.659802893713609, 2.6492384293288613] to [2.7264560155935453, 2.6412185799893093]"/>
          <p:cNvCxnSpPr/>
          <p:nvPr/>
        </p:nvCxnSpPr>
        <p:spPr>
          <a:xfrm>
            <a:off x="9270348" y="3043291"/>
            <a:ext cx="65942" cy="5576"/>
          </a:xfrm>
          <a:prstGeom prst="line">
            <a:avLst/>
          </a:prstGeom>
          <a:ln w="17145" cap="rnd">
            <a:solidFill>
              <a:srgbClr val="C45C28"/>
            </a:solidFill>
            <a:headEnd type="none" w="sm" len="sm"/>
            <a:tailEnd type="triangle" w="sm" len="sm"/>
          </a:ln>
        </p:spPr>
      </p:cxnSp>
      <p:cxnSp>
        <p:nvCxnSpPr>
          <p:cNvPr id="71" name="gd_state_10_gd_right_step_8" descr="Gradient descent update: [2.7264560155935453, 2.6412185799893093] to [2.780116879412276, 2.6360223868871784]"/>
          <p:cNvCxnSpPr/>
          <p:nvPr/>
        </p:nvCxnSpPr>
        <p:spPr>
          <a:xfrm>
            <a:off x="9336290" y="3048867"/>
            <a:ext cx="53088" cy="3613"/>
          </a:xfrm>
          <a:prstGeom prst="line">
            <a:avLst/>
          </a:prstGeom>
          <a:ln w="17145" cap="rnd">
            <a:solidFill>
              <a:srgbClr val="C45C28"/>
            </a:solidFill>
            <a:headEnd type="none" w="sm" len="sm"/>
            <a:tailEnd type="triangle" w="sm" len="sm"/>
          </a:ln>
        </p:spPr>
      </p:cxnSp>
      <p:cxnSp>
        <p:nvCxnSpPr>
          <p:cNvPr id="72" name="gd_state_10_gd_right_step_9" descr="Gradient descent update: [2.780116879412276, 2.6360223868871784] to [2.8232857177054314, 2.63266028517605]"/>
          <p:cNvCxnSpPr/>
          <p:nvPr/>
        </p:nvCxnSpPr>
        <p:spPr>
          <a:xfrm>
            <a:off x="9389378" y="3052480"/>
            <a:ext cx="42708" cy="2338"/>
          </a:xfrm>
          <a:prstGeom prst="line">
            <a:avLst/>
          </a:prstGeom>
          <a:ln w="17145" cap="rnd">
            <a:solidFill>
              <a:srgbClr val="C45C28"/>
            </a:solidFill>
            <a:headEnd type="none" w="sm" len="sm"/>
            <a:tailEnd type="triangle" w="sm" len="sm"/>
          </a:ln>
        </p:spPr>
      </p:cxnSp>
      <p:graphicFrame>
        <p:nvGraphicFramePr>
          <p:cNvPr id="73" name="gd_state_20_Chart"/>
          <p:cNvGraphicFramePr/>
          <p:nvPr/>
        </p:nvGraphicFramePr>
        <p:xfrm>
          <a:off x="666750" y="1895475"/>
          <a:ext cx="10858500" cy="3476625"/>
        </p:xfrm>
        <a:graphic>
          <a:graphicData uri="http://schemas.openxmlformats.org/drawingml/2006/chart">
            <c:chart xmlns:c="http://schemas.openxmlformats.org/drawingml/2006/chart" xmlns:r="http://schemas.openxmlformats.org/officeDocument/2006/relationships" r:id="rId26"/>
          </a:graphicData>
        </a:graphic>
      </p:graphicFrame>
      <mc:AlternateContent xmlns:mc="http://schemas.openxmlformats.org/markup-compatibility/2006" xmlns:a14="http://schemas.microsoft.com/office/drawing/2010/main">
        <mc:Choice Requires="a14">
          <p:sp>
            <p:nvSpPr>
              <p:cNvPr id="74" name="gd_state_20_iteration">
                <a:extLst>
                  <a:ext uri="{FF2B5EF4-FFF2-40B4-BE49-F238E27FC236}">
                    <a16:creationId xmlns:a16="http://schemas.microsoft.com/office/drawing/2014/main" id="{3B70A569-AEB2-431D-B8C7-00717BE01753}"/>
                  </a:ext>
                </a:extLst>
              </p:cNvPr>
              <p:cNvSpPr>
                <a:spLocks noGrp="1"/>
              </p:cNvSpPr>
              <p:nvPr/>
            </p:nvSpPr>
            <p:spPr>
              <a:xfrm>
                <a:off x="9906000" y="1657350"/>
                <a:ext cx="1638300" cy="371475"/>
              </a:xfrm>
              <a:prstGeom prst="rect">
                <a:avLst/>
              </a:prstGeom>
              <a:solidFill>
                <a:srgbClr val="FFFFFF"/>
              </a:solidFill>
              <a:ln w="0">
                <a:noFill/>
              </a:ln>
            </p:spPr>
            <p:txBody>
              <a:bodyPr anchor="ctr">
                <a:noAutofit/>
              </a:bodyPr>
              <a:lstStyle/>
              <a:p>
                <a:pPr algn="ctr">
                  <a:defRPr sz="2175" b="1">
                    <a:solidFill>
                      <a:srgbClr val="182D45"/>
                    </a:solidFill>
                    <a:latin typeface="DejaVu Sans"/>
                    <a:ea typeface="DejaVu Sans"/>
                    <a:cs typeface="DejaVu Sans"/>
                  </a:defRPr>
                </a:pPr>
                <a14:m>
                  <m:oMathPara xmlns:m="http://schemas.openxmlformats.org/officeDocument/2006/math">
                    <m:oMath>
                      <m:r>
                        <a:rPr lang="it-IT" sz="2175" b="1" i="1" dirty="0" smtClean="0">
                          <a:solidFill>
                            <a:srgbClr val="182D45"/>
                          </a:solidFill>
                          <a:latin typeface="Cambria Math" panose="02040503050406030204" pitchFamily="18" charset="0"/>
                          <a:ea typeface="DejaVu Sans"/>
                          <a:cs typeface="DejaVu Sans"/>
                        </a:rPr>
                        <m:t>𝒕</m:t>
                      </m:r>
                      <m:r>
                        <a:rPr lang="it-IT" sz="2175" b="1" i="1" dirty="0" smtClean="0">
                          <a:solidFill>
                            <a:srgbClr val="182D45"/>
                          </a:solidFill>
                          <a:latin typeface="Cambria Math" panose="02040503050406030204" pitchFamily="18" charset="0"/>
                          <a:ea typeface="DejaVu Sans"/>
                          <a:cs typeface="DejaVu Sans"/>
                        </a:rPr>
                        <m:t> = </m:t>
                      </m:r>
                      <m:r>
                        <a:rPr lang="it-IT" sz="2175" b="1" i="1" dirty="0" smtClean="0">
                          <a:solidFill>
                            <a:srgbClr val="182D45"/>
                          </a:solidFill>
                          <a:latin typeface="Cambria Math" panose="02040503050406030204" pitchFamily="18" charset="0"/>
                          <a:ea typeface="DejaVu Sans"/>
                          <a:cs typeface="DejaVu Sans"/>
                        </a:rPr>
                        <m:t>𝟐𝟎</m:t>
                      </m:r>
                    </m:oMath>
                  </m:oMathPara>
                </a14:m>
                <a:endParaRPr/>
              </a:p>
            </p:txBody>
          </p:sp>
        </mc:Choice>
        <mc:Fallback xmlns="">
          <p:sp>
            <p:nvSpPr>
              <p:cNvPr id="74" name="gd_state_20_iteration">
                <a:extLst>
                  <a:ext uri="{FF2B5EF4-FFF2-40B4-BE49-F238E27FC236}">
                    <a16:creationId xmlns:a16="http://schemas.microsoft.com/office/drawing/2014/main" id="{3B70A569-AEB2-431D-B8C7-00717BE01753}"/>
                  </a:ext>
                </a:extLst>
              </p:cNvPr>
              <p:cNvSpPr>
                <a:spLocks noGrp="1" noRot="1" noChangeAspect="1" noMove="1" noResize="1" noEditPoints="1" noAdjustHandles="1" noChangeArrowheads="1" noChangeShapeType="1" noTextEdit="1"/>
              </p:cNvSpPr>
              <p:nvPr/>
            </p:nvSpPr>
            <p:spPr>
              <a:xfrm>
                <a:off x="9906000" y="1657350"/>
                <a:ext cx="1638300" cy="371475"/>
              </a:xfrm>
              <a:prstGeom prst="rect">
                <a:avLst/>
              </a:prstGeom>
              <a:blipFill>
                <a:blip r:embed="rId27"/>
                <a:stretch>
                  <a:fillRect t="-18033" b="-39344"/>
                </a:stretch>
              </a:blipFill>
              <a:ln w="0">
                <a:noFill/>
              </a:ln>
            </p:spPr>
            <p:txBody>
              <a:bodyPr/>
              <a:lstStyle/>
              <a:p>
                <a:r>
                  <a:rPr lang="it-IT">
                    <a:noFill/>
                  </a:rPr>
                  <a:t> </a:t>
                </a:r>
              </a:p>
            </p:txBody>
          </p:sp>
        </mc:Fallback>
      </mc:AlternateContent>
      <p:sp>
        <p:nvSpPr>
          <p:cNvPr id="75" name="gd_state_20_x_axis">
            <a:extLst>
              <a:ext uri="{FF2B5EF4-FFF2-40B4-BE49-F238E27FC236}">
                <a16:creationId xmlns:a16="http://schemas.microsoft.com/office/drawing/2014/main" id="{2E36BC53-F0B1-4FDB-ACA2-6D57AF969A8A}"/>
              </a:ext>
            </a:extLst>
          </p:cNvPr>
          <p:cNvSpPr>
            <a:spLocks noGrp="1"/>
          </p:cNvSpPr>
          <p:nvPr/>
        </p:nvSpPr>
        <p:spPr>
          <a:xfrm>
            <a:off x="5781675" y="5153025"/>
            <a:ext cx="1714500" cy="266700"/>
          </a:xfrm>
          <a:prstGeom prst="rect">
            <a:avLst/>
          </a:prstGeom>
          <a:solidFill>
            <a:srgbClr val="FFFFFF"/>
          </a:solidFill>
          <a:ln w="0">
            <a:noFill/>
          </a:ln>
        </p:spPr>
        <p:txBody>
          <a:bodyPr anchor="ctr">
            <a:noAutofit/>
          </a:bodyPr>
          <a:lstStyle/>
          <a:p>
            <a:pPr algn="ctr">
              <a:defRPr sz="1650" b="0">
                <a:solidFill>
                  <a:srgbClr val="182D45"/>
                </a:solidFill>
                <a:latin typeface="DejaVu Sans"/>
                <a:ea typeface="DejaVu Sans"/>
                <a:cs typeface="DejaVu Sans"/>
              </a:defRPr>
            </a:pPr>
            <a:r>
              <a:rPr sz="1650" b="0">
                <a:solidFill>
                  <a:srgbClr val="182D45"/>
                </a:solidFill>
                <a:latin typeface="DejaVu Sans"/>
                <a:ea typeface="DejaVu Sans"/>
                <a:cs typeface="DejaVu Sans"/>
              </a:rPr>
              <a:t>θ</a:t>
            </a:r>
          </a:p>
        </p:txBody>
      </p:sp>
      <mc:AlternateContent xmlns:mc="http://schemas.openxmlformats.org/markup-compatibility/2006">
        <mc:Choice xmlns:a14="http://schemas.microsoft.com/office/drawing/2010/main" Requires="a14">
          <p:sp>
            <p:nvSpPr>
              <p:cNvPr id="76" name="gd_state_20_left_readout" descr="\theta^{(20)}\approx-2.9802,\quad\mathcal{L}_{\mathrm{log}}\left(\theta^{(20)}\right)\approx0.6266">
                <a:extLst>
                  <a:ext uri="{FF2B5EF4-FFF2-40B4-BE49-F238E27FC236}">
                    <a16:creationId xmlns:a16="http://schemas.microsoft.com/office/drawing/2014/main" id="{935744EC-DED2-4745-BF09-E1B9AD139CD3}"/>
                  </a:ext>
                </a:extLst>
              </p:cNvPr>
              <p:cNvSpPr>
                <a:spLocks noGrp="1"/>
              </p:cNvSpPr>
              <p:nvPr/>
            </p:nvSpPr>
            <p:spPr>
              <a:xfrm>
                <a:off x="428625"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(20)</m:t>
                          </m:r>
                        </m:sup>
                      </m:sSup>
                      <m:r>
                        <a:rPr lang="en-GB" sz="2400">
                          <a:solidFill>
                            <a:srgbClr val="326CB2"/>
                          </a:solidFill>
                          <a:latin typeface="Cambria Math"/>
                          <a:ea typeface="Cambria Math"/>
                          <a:cs typeface="Cambria Math"/>
                        </a:rPr>
                        <m:t>≈−2.9802, </m:t>
                      </m:r>
                      <m:sSub>
                        <m:sSubPr>
                          <m:ctrlPr>
                            <a:rPr lang="en-GB" sz="2400">
                              <a:solidFill>
                                <a:srgbClr val="326CB2"/>
                              </a:solidFill>
                              <a:latin typeface="Cambria Math"/>
                              <a:ea typeface="Cambria Math"/>
                              <a:cs typeface="Cambria Math"/>
                            </a:rPr>
                          </m:ctrlPr>
                        </m:sSubPr>
                        <m:e>
                          <m:r>
                            <a:rPr lang="en-GB" sz="2400">
                              <a:solidFill>
                                <a:srgbClr val="326CB2"/>
                              </a:solidFill>
                              <a:latin typeface="Cambria Math"/>
                              <a:ea typeface="Cambria Math"/>
                              <a:cs typeface="Cambria Math"/>
                            </a:rPr>
                            <m:t>ℒ</m:t>
                          </m:r>
                        </m:e>
                        <m:sub>
                          <m:r>
                            <m:rPr>
                              <m:sty m:val="p"/>
                            </m:rPr>
                            <a:rPr lang="en-GB" sz="2400">
                              <a:solidFill>
                                <a:srgbClr val="326CB2"/>
                              </a:solidFill>
                              <a:latin typeface="Cambria Math"/>
                              <a:ea typeface="Cambria Math"/>
                              <a:cs typeface="Cambria Math"/>
                            </a:rPr>
                            <m:t>log</m:t>
                          </m:r>
                        </m:sub>
                      </m:sSub>
                      <m:d>
                        <m:dPr>
                          <m:ctrlPr>
                            <a:rPr lang="en-GB" sz="2400" i="1">
                              <a:solidFill>
                                <a:srgbClr val="326CB2"/>
                              </a:solidFill>
                              <a:latin typeface="Cambria Math" panose="02040503050406030204" pitchFamily="18" charset="0"/>
                              <a:ea typeface="Cambria Math"/>
                              <a:cs typeface="Cambria Math"/>
                            </a:rPr>
                          </m:ctrlPr>
                        </m:dPr>
                        <m:e>
                          <m:sSup>
                            <m:sSupPr>
                              <m:ctrlPr>
                                <a:rPr lang="en-GB" sz="2400">
                                  <a:solidFill>
                                    <a:srgbClr val="326CB2"/>
                                  </a:solidFill>
                                  <a:latin typeface="Cambria Math"/>
                                  <a:ea typeface="Cambria Math"/>
                                  <a:cs typeface="Cambria Math"/>
                                </a:rPr>
                              </m:ctrlPr>
                            </m:sSupPr>
                            <m:e>
                              <m:r>
                                <a:rPr lang="en-GB" sz="2400">
                                  <a:solidFill>
                                    <a:srgbClr val="326CB2"/>
                                  </a:solidFill>
                                  <a:latin typeface="Cambria Math"/>
                                  <a:ea typeface="Cambria Math"/>
                                  <a:cs typeface="Cambria Math"/>
                                </a:rPr>
                                <m:t>𝜃</m:t>
                              </m:r>
                            </m:e>
                            <m:sup>
                              <m:r>
                                <a:rPr lang="en-GB" sz="2400">
                                  <a:solidFill>
                                    <a:srgbClr val="326CB2"/>
                                  </a:solidFill>
                                  <a:latin typeface="Cambria Math"/>
                                  <a:ea typeface="Cambria Math"/>
                                  <a:cs typeface="Cambria Math"/>
                                </a:rPr>
                                <m:t>(20)</m:t>
                              </m:r>
                            </m:sup>
                          </m:sSup>
                        </m:e>
                      </m:d>
                      <m:r>
                        <a:rPr lang="en-GB" sz="2400">
                          <a:solidFill>
                            <a:srgbClr val="326CB2"/>
                          </a:solidFill>
                          <a:latin typeface="Cambria Math"/>
                          <a:ea typeface="Cambria Math"/>
                          <a:cs typeface="Cambria Math"/>
                        </a:rPr>
                        <m:t>≈0.6266</m:t>
                      </m:r>
                    </m:oMath>
                  </m:oMathPara>
                </a14:m>
                <a:endParaRPr lang="en-GB" sz="2400"/>
              </a:p>
            </p:txBody>
          </p:sp>
        </mc:Choice>
        <mc:Fallback>
          <p:sp>
            <p:nvSpPr>
              <p:cNvPr id="76" name="gd_state_20_left_readout" descr="\theta^{(20)}\approx-2.9802,\quad\mathcal{L}_{\mathrm{log}}\left(\theta^{(20)}\right)\approx0.6266">
                <a:extLst>
                  <a:ext uri="{FF2B5EF4-FFF2-40B4-BE49-F238E27FC236}">
                    <a16:creationId xmlns:a16="http://schemas.microsoft.com/office/drawing/2014/main" id="{935744EC-DED2-4745-BF09-E1B9AD139CD3}"/>
                  </a:ext>
                </a:extLst>
              </p:cNvPr>
              <p:cNvSpPr>
                <a:spLocks noGrp="1" noRot="1" noChangeAspect="1" noMove="1" noResize="1" noEditPoints="1" noAdjustHandles="1" noChangeArrowheads="1" noChangeShapeType="1" noTextEdit="1"/>
              </p:cNvSpPr>
              <p:nvPr/>
            </p:nvSpPr>
            <p:spPr>
              <a:xfrm>
                <a:off x="428625" y="5895975"/>
                <a:ext cx="5572125" cy="485775"/>
              </a:xfrm>
              <a:prstGeom prst="rect">
                <a:avLst/>
              </a:prstGeom>
              <a:blipFill>
                <a:blip r:embed="rId28"/>
                <a:stretch>
                  <a:fillRect/>
                </a:stretch>
              </a:blipFill>
              <a:ln w="0">
                <a:noFill/>
              </a:ln>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77" name="gd_state_20_right_readout" descr="\theta^{(20)}\approx2.9802,\quad\mathcal{L}_{\mathrm{log}}\left(\theta^{(20)}\right)\approx2.6266">
                <a:extLst>
                  <a:ext uri="{FF2B5EF4-FFF2-40B4-BE49-F238E27FC236}">
                    <a16:creationId xmlns:a16="http://schemas.microsoft.com/office/drawing/2014/main" id="{1A550BAD-167A-485E-A9B1-BADDB4CE5AFA}"/>
                  </a:ext>
                </a:extLst>
              </p:cNvPr>
              <p:cNvSpPr>
                <a:spLocks noGrp="1"/>
              </p:cNvSpPr>
              <p:nvPr/>
            </p:nvSpPr>
            <p:spPr>
              <a:xfrm>
                <a:off x="6191250" y="5895975"/>
                <a:ext cx="5572125" cy="485775"/>
              </a:xfrm>
              <a:prstGeom prst="rect">
                <a:avLst/>
              </a:prstGeom>
              <a:solidFill>
                <a:srgbClr val="FFFFFF"/>
              </a:solid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(20)</m:t>
                          </m:r>
                        </m:sup>
                      </m:sSup>
                      <m:r>
                        <a:rPr lang="en-GB" sz="2400">
                          <a:solidFill>
                            <a:srgbClr val="C45C28"/>
                          </a:solidFill>
                          <a:latin typeface="Cambria Math"/>
                          <a:ea typeface="Cambria Math"/>
                          <a:cs typeface="Cambria Math"/>
                        </a:rPr>
                        <m:t>≈2.9802, </m:t>
                      </m:r>
                      <m:sSub>
                        <m:sSubPr>
                          <m:ctrlPr>
                            <a:rPr lang="en-GB" sz="2400">
                              <a:solidFill>
                                <a:srgbClr val="C45C28"/>
                              </a:solidFill>
                              <a:latin typeface="Cambria Math"/>
                              <a:ea typeface="Cambria Math"/>
                              <a:cs typeface="Cambria Math"/>
                            </a:rPr>
                          </m:ctrlPr>
                        </m:sSubPr>
                        <m:e>
                          <m:r>
                            <a:rPr lang="en-GB" sz="2400">
                              <a:solidFill>
                                <a:srgbClr val="C45C28"/>
                              </a:solidFill>
                              <a:latin typeface="Cambria Math"/>
                              <a:ea typeface="Cambria Math"/>
                              <a:cs typeface="Cambria Math"/>
                            </a:rPr>
                            <m:t>ℒ</m:t>
                          </m:r>
                        </m:e>
                        <m:sub>
                          <m:r>
                            <m:rPr>
                              <m:sty m:val="p"/>
                            </m:rPr>
                            <a:rPr lang="en-GB" sz="2400">
                              <a:solidFill>
                                <a:srgbClr val="C45C28"/>
                              </a:solidFill>
                              <a:latin typeface="Cambria Math"/>
                              <a:ea typeface="Cambria Math"/>
                              <a:cs typeface="Cambria Math"/>
                            </a:rPr>
                            <m:t>log</m:t>
                          </m:r>
                        </m:sub>
                      </m:sSub>
                      <m:d>
                        <m:dPr>
                          <m:ctrlPr>
                            <a:rPr lang="en-GB" sz="2400" i="1">
                              <a:solidFill>
                                <a:srgbClr val="C45C28"/>
                              </a:solidFill>
                              <a:latin typeface="Cambria Math" panose="02040503050406030204" pitchFamily="18" charset="0"/>
                              <a:ea typeface="Cambria Math"/>
                              <a:cs typeface="Cambria Math"/>
                            </a:rPr>
                          </m:ctrlPr>
                        </m:dPr>
                        <m:e>
                          <m:sSup>
                            <m:sSupPr>
                              <m:ctrlPr>
                                <a:rPr lang="en-GB" sz="2400">
                                  <a:solidFill>
                                    <a:srgbClr val="C45C28"/>
                                  </a:solidFill>
                                  <a:latin typeface="Cambria Math"/>
                                  <a:ea typeface="Cambria Math"/>
                                  <a:cs typeface="Cambria Math"/>
                                </a:rPr>
                              </m:ctrlPr>
                            </m:sSupPr>
                            <m:e>
                              <m:r>
                                <a:rPr lang="en-GB" sz="2400">
                                  <a:solidFill>
                                    <a:srgbClr val="C45C28"/>
                                  </a:solidFill>
                                  <a:latin typeface="Cambria Math"/>
                                  <a:ea typeface="Cambria Math"/>
                                  <a:cs typeface="Cambria Math"/>
                                </a:rPr>
                                <m:t>𝜃</m:t>
                              </m:r>
                            </m:e>
                            <m:sup>
                              <m:r>
                                <a:rPr lang="en-GB" sz="2400">
                                  <a:solidFill>
                                    <a:srgbClr val="C45C28"/>
                                  </a:solidFill>
                                  <a:latin typeface="Cambria Math"/>
                                  <a:ea typeface="Cambria Math"/>
                                  <a:cs typeface="Cambria Math"/>
                                </a:rPr>
                                <m:t>(20)</m:t>
                              </m:r>
                            </m:sup>
                          </m:sSup>
                        </m:e>
                      </m:d>
                      <m:r>
                        <a:rPr lang="en-GB" sz="2400">
                          <a:solidFill>
                            <a:srgbClr val="C45C28"/>
                          </a:solidFill>
                          <a:latin typeface="Cambria Math"/>
                          <a:ea typeface="Cambria Math"/>
                          <a:cs typeface="Cambria Math"/>
                        </a:rPr>
                        <m:t>≈2.6266</m:t>
                      </m:r>
                    </m:oMath>
                  </m:oMathPara>
                </a14:m>
                <a:endParaRPr lang="en-GB" sz="2400"/>
              </a:p>
            </p:txBody>
          </p:sp>
        </mc:Choice>
        <mc:Fallback>
          <p:sp>
            <p:nvSpPr>
              <p:cNvPr id="77" name="gd_state_20_right_readout" descr="\theta^{(20)}\approx2.9802,\quad\mathcal{L}_{\mathrm{log}}\left(\theta^{(20)}\right)\approx2.6266">
                <a:extLst>
                  <a:ext uri="{FF2B5EF4-FFF2-40B4-BE49-F238E27FC236}">
                    <a16:creationId xmlns:a16="http://schemas.microsoft.com/office/drawing/2014/main" id="{1A550BAD-167A-485E-A9B1-BADDB4CE5AFA}"/>
                  </a:ext>
                </a:extLst>
              </p:cNvPr>
              <p:cNvSpPr>
                <a:spLocks noGrp="1" noRot="1" noChangeAspect="1" noMove="1" noResize="1" noEditPoints="1" noAdjustHandles="1" noChangeArrowheads="1" noChangeShapeType="1" noTextEdit="1"/>
              </p:cNvSpPr>
              <p:nvPr/>
            </p:nvSpPr>
            <p:spPr>
              <a:xfrm>
                <a:off x="6191250" y="5895975"/>
                <a:ext cx="5572125" cy="485775"/>
              </a:xfrm>
              <a:prstGeom prst="rect">
                <a:avLst/>
              </a:prstGeom>
              <a:blipFill>
                <a:blip r:embed="rId29"/>
                <a:stretch>
                  <a:fillRect/>
                </a:stretch>
              </a:blipFill>
              <a:ln w="0">
                <a:noFill/>
              </a:ln>
            </p:spPr>
            <p:txBody>
              <a:bodyPr/>
              <a:lstStyle/>
              <a:p>
                <a:r>
                  <a:rPr lang="it-IT">
                    <a:noFill/>
                  </a:rPr>
                  <a:t> </a:t>
                </a:r>
              </a:p>
            </p:txBody>
          </p:sp>
        </mc:Fallback>
      </mc:AlternateContent>
      <p:cxnSp>
        <p:nvCxnSpPr>
          <p:cNvPr id="78" name="gd_state_20_gd_left_step_0" descr="Gradient descent update: [-1.5, 1.0529667184726563] to [-1.7733005755903055, 0.9153590815492127]"/>
          <p:cNvCxnSpPr/>
          <p:nvPr/>
        </p:nvCxnSpPr>
        <p:spPr>
          <a:xfrm flipH="1">
            <a:off x="4884546" y="4153218"/>
            <a:ext cx="270384" cy="95682"/>
          </a:xfrm>
          <a:prstGeom prst="line">
            <a:avLst/>
          </a:prstGeom>
          <a:ln w="17145" cap="rnd">
            <a:solidFill>
              <a:srgbClr val="326CB2"/>
            </a:solidFill>
            <a:headEnd type="none" w="sm" len="sm"/>
            <a:tailEnd type="triangle" w="sm" len="sm"/>
          </a:ln>
        </p:spPr>
      </p:cxnSp>
      <p:cxnSp>
        <p:nvCxnSpPr>
          <p:cNvPr id="79" name="gd_state_20_gd_left_step_1" descr="Gradient descent update: [-1.7733005755903055, 0.9153590815492127] to [-2.0028280816253523, 0.8189996863123741]"/>
          <p:cNvCxnSpPr/>
          <p:nvPr/>
        </p:nvCxnSpPr>
        <p:spPr>
          <a:xfrm flipH="1">
            <a:off x="4657467" y="4248900"/>
            <a:ext cx="227078" cy="67001"/>
          </a:xfrm>
          <a:prstGeom prst="line">
            <a:avLst/>
          </a:prstGeom>
          <a:ln w="17145" cap="rnd">
            <a:solidFill>
              <a:srgbClr val="326CB2"/>
            </a:solidFill>
            <a:headEnd type="none" w="sm" len="sm"/>
            <a:tailEnd type="triangle" w="sm" len="sm"/>
          </a:ln>
        </p:spPr>
      </p:cxnSp>
      <p:cxnSp>
        <p:nvCxnSpPr>
          <p:cNvPr id="80" name="gd_state_20_gd_left_step_2" descr="Gradient descent update: [-2.0028280816253523, 0.8189996863123741] to [-2.1927244854727714, 0.7533693983606518]"/>
          <p:cNvCxnSpPr/>
          <p:nvPr/>
        </p:nvCxnSpPr>
        <p:spPr>
          <a:xfrm flipH="1">
            <a:off x="4469597" y="4315902"/>
            <a:ext cx="187870" cy="45634"/>
          </a:xfrm>
          <a:prstGeom prst="line">
            <a:avLst/>
          </a:prstGeom>
          <a:ln w="17145" cap="rnd">
            <a:solidFill>
              <a:srgbClr val="326CB2"/>
            </a:solidFill>
            <a:headEnd type="none" w="sm" len="sm"/>
            <a:tailEnd type="triangle" w="sm" len="sm"/>
          </a:ln>
        </p:spPr>
      </p:cxnSp>
      <p:cxnSp>
        <p:nvCxnSpPr>
          <p:cNvPr id="81" name="gd_state_20_gd_left_step_3" descr="Gradient descent update: [-2.1927244854727714, 0.7533693983606518] to [-2.3482243511572736, 0.7095051372373071]"/>
          <p:cNvCxnSpPr/>
          <p:nvPr/>
        </p:nvCxnSpPr>
        <p:spPr>
          <a:xfrm flipH="1">
            <a:off x="4315756" y="4361536"/>
            <a:ext cx="153841" cy="30500"/>
          </a:xfrm>
          <a:prstGeom prst="line">
            <a:avLst/>
          </a:prstGeom>
          <a:ln w="17145" cap="rnd">
            <a:solidFill>
              <a:srgbClr val="326CB2"/>
            </a:solidFill>
            <a:headEnd type="none" w="sm" len="sm"/>
            <a:tailEnd type="triangle" w="sm" len="sm"/>
          </a:ln>
        </p:spPr>
      </p:cxnSp>
      <p:cxnSp>
        <p:nvCxnSpPr>
          <p:cNvPr id="82" name="gd_state_20_gd_left_step_4" descr="Gradient descent update: [-2.3482243511572736, 0.7095051372373071] to [-2.4746963348938356, 0.6805502696548813]"/>
          <p:cNvCxnSpPr/>
          <p:nvPr/>
        </p:nvCxnSpPr>
        <p:spPr>
          <a:xfrm flipH="1">
            <a:off x="4190634" y="4392036"/>
            <a:ext cx="125123" cy="20133"/>
          </a:xfrm>
          <a:prstGeom prst="line">
            <a:avLst/>
          </a:prstGeom>
          <a:ln w="17145" cap="rnd">
            <a:solidFill>
              <a:srgbClr val="326CB2"/>
            </a:solidFill>
            <a:headEnd type="none" w="sm" len="sm"/>
            <a:tailEnd type="triangle" w="sm" len="sm"/>
          </a:ln>
        </p:spPr>
      </p:cxnSp>
      <p:cxnSp>
        <p:nvCxnSpPr>
          <p:cNvPr id="83" name="gd_state_20_gd_left_step_5" descr="Gradient descent update: [-2.4746963348938356, 0.6805502696548813] to [-2.577108051456927, 0.6615900472966363]"/>
          <p:cNvCxnSpPr/>
          <p:nvPr/>
        </p:nvCxnSpPr>
        <p:spPr>
          <a:xfrm flipH="1">
            <a:off x="4089315" y="4412169"/>
            <a:ext cx="101319" cy="13184"/>
          </a:xfrm>
          <a:prstGeom prst="line">
            <a:avLst/>
          </a:prstGeom>
          <a:ln w="17145" cap="rnd">
            <a:solidFill>
              <a:srgbClr val="326CB2"/>
            </a:solidFill>
            <a:headEnd type="none" w="sm" len="sm"/>
            <a:tailEnd type="triangle" w="sm" len="sm"/>
          </a:ln>
        </p:spPr>
      </p:cxnSp>
      <p:cxnSp>
        <p:nvCxnSpPr>
          <p:cNvPr id="84" name="gd_state_20_gd_left_step_6" descr="Gradient descent update: [-2.577108051456927, 0.6615900472966363] to [-2.659802893713609, 0.6492384293288612]"/>
          <p:cNvCxnSpPr/>
          <p:nvPr/>
        </p:nvCxnSpPr>
        <p:spPr>
          <a:xfrm flipH="1">
            <a:off x="4007502" y="4425352"/>
            <a:ext cx="81812" cy="8588"/>
          </a:xfrm>
          <a:prstGeom prst="line">
            <a:avLst/>
          </a:prstGeom>
          <a:ln w="17145" cap="rnd">
            <a:solidFill>
              <a:srgbClr val="326CB2"/>
            </a:solidFill>
            <a:headEnd type="none" w="sm" len="sm"/>
            <a:tailEnd type="triangle" w="sm" len="sm"/>
          </a:ln>
        </p:spPr>
      </p:cxnSp>
      <p:cxnSp>
        <p:nvCxnSpPr>
          <p:cNvPr id="85" name="gd_state_20_gd_left_step_7" descr="Gradient descent update: [-2.659802893713609, 0.6492384293288612] to [-2.726456015593546, 0.6412185799893094]"/>
          <p:cNvCxnSpPr/>
          <p:nvPr/>
        </p:nvCxnSpPr>
        <p:spPr>
          <a:xfrm flipH="1">
            <a:off x="3941560" y="4433941"/>
            <a:ext cx="65942" cy="5576"/>
          </a:xfrm>
          <a:prstGeom prst="line">
            <a:avLst/>
          </a:prstGeom>
          <a:ln w="17145" cap="rnd">
            <a:solidFill>
              <a:srgbClr val="326CB2"/>
            </a:solidFill>
            <a:headEnd type="none" w="sm" len="sm"/>
            <a:tailEnd type="triangle" w="sm" len="sm"/>
          </a:ln>
        </p:spPr>
      </p:cxnSp>
      <p:cxnSp>
        <p:nvCxnSpPr>
          <p:cNvPr id="86" name="gd_state_20_gd_left_step_8" descr="Gradient descent update: [-2.726456015593546, 0.6412185799893094] to [-2.7801168794122764, 0.6360223868871784]"/>
          <p:cNvCxnSpPr/>
          <p:nvPr/>
        </p:nvCxnSpPr>
        <p:spPr>
          <a:xfrm flipH="1">
            <a:off x="3888472" y="4439517"/>
            <a:ext cx="53088" cy="3613"/>
          </a:xfrm>
          <a:prstGeom prst="line">
            <a:avLst/>
          </a:prstGeom>
          <a:ln w="17145" cap="rnd">
            <a:solidFill>
              <a:srgbClr val="326CB2"/>
            </a:solidFill>
            <a:headEnd type="none" w="sm" len="sm"/>
            <a:tailEnd type="triangle" w="sm" len="sm"/>
          </a:ln>
        </p:spPr>
      </p:cxnSp>
      <p:cxnSp>
        <p:nvCxnSpPr>
          <p:cNvPr id="87" name="gd_state_20_gd_left_step_9" descr="Gradient descent update: [-2.7801168794122764, 0.6360223868871784] to [-2.823285717705432, 0.6326602851760501]"/>
          <p:cNvCxnSpPr/>
          <p:nvPr/>
        </p:nvCxnSpPr>
        <p:spPr>
          <a:xfrm flipH="1">
            <a:off x="3845764" y="4443130"/>
            <a:ext cx="42708" cy="2338"/>
          </a:xfrm>
          <a:prstGeom prst="line">
            <a:avLst/>
          </a:prstGeom>
          <a:ln w="17145" cap="rnd">
            <a:solidFill>
              <a:srgbClr val="326CB2"/>
            </a:solidFill>
            <a:headEnd type="none" w="sm" len="sm"/>
            <a:tailEnd type="triangle" w="sm" len="sm"/>
          </a:ln>
        </p:spPr>
      </p:cxnSp>
      <p:cxnSp>
        <p:nvCxnSpPr>
          <p:cNvPr id="88" name="gd_state_20_gd_left_step_10" descr="Gradient descent update: [-2.823285717705432, 0.6326602851760501] to [-2.85799729143087, 0.6304868111411903]"/>
          <p:cNvCxnSpPr/>
          <p:nvPr/>
        </p:nvCxnSpPr>
        <p:spPr>
          <a:xfrm flipH="1">
            <a:off x="3811423" y="4445468"/>
            <a:ext cx="34341" cy="1511"/>
          </a:xfrm>
          <a:prstGeom prst="line">
            <a:avLst/>
          </a:prstGeom>
          <a:ln w="17145" cap="rnd">
            <a:solidFill>
              <a:srgbClr val="326CB2"/>
            </a:solidFill>
            <a:headEnd type="none" w="sm" len="sm"/>
            <a:tailEnd type="triangle" w="sm" len="sm"/>
          </a:ln>
        </p:spPr>
      </p:cxnSp>
      <p:cxnSp>
        <p:nvCxnSpPr>
          <p:cNvPr id="89" name="gd_state_20_gd_left_step_11" descr="Gradient descent update: [-2.85799729143087, 0.6304868111411903] to [-2.8858998352080794, 0.6290825365751509]"/>
          <p:cNvCxnSpPr/>
          <p:nvPr/>
        </p:nvCxnSpPr>
        <p:spPr>
          <a:xfrm flipH="1">
            <a:off x="3783818" y="4446979"/>
            <a:ext cx="27605" cy="976"/>
          </a:xfrm>
          <a:prstGeom prst="line">
            <a:avLst/>
          </a:prstGeom>
          <a:ln w="17145" cap="rnd">
            <a:solidFill>
              <a:srgbClr val="326CB2"/>
            </a:solidFill>
            <a:headEnd type="none" w="sm" len="sm"/>
            <a:tailEnd type="triangle" w="sm" len="sm"/>
          </a:ln>
        </p:spPr>
      </p:cxnSp>
      <p:cxnSp>
        <p:nvCxnSpPr>
          <p:cNvPr id="90" name="gd_state_20_gd_left_step_12" descr="Gradient descent update: [-2.8858998352080794, 0.6290825365751509] to [-2.908324535247046, 0.6281755705511063]"/>
          <p:cNvCxnSpPr/>
          <p:nvPr/>
        </p:nvCxnSpPr>
        <p:spPr>
          <a:xfrm flipH="1">
            <a:off x="3761632" y="4447956"/>
            <a:ext cx="22185" cy="631"/>
          </a:xfrm>
          <a:prstGeom prst="line">
            <a:avLst/>
          </a:prstGeom>
          <a:ln w="17145" cap="rnd">
            <a:solidFill>
              <a:srgbClr val="326CB2"/>
            </a:solidFill>
            <a:headEnd type="none" w="sm" len="sm"/>
            <a:tailEnd type="triangle" w="sm" len="sm"/>
          </a:ln>
        </p:spPr>
      </p:cxnSp>
      <p:cxnSp>
        <p:nvCxnSpPr>
          <p:cNvPr id="91" name="gd_state_20_gd_left_step_13" descr="Gradient descent update: [-2.908324535247046, 0.6281755705511063] to [-2.9263444866001436, 0.6275899345841608]"/>
          <p:cNvCxnSpPr/>
          <p:nvPr/>
        </p:nvCxnSpPr>
        <p:spPr>
          <a:xfrm flipH="1">
            <a:off x="3743805" y="4448586"/>
            <a:ext cx="17828" cy="407"/>
          </a:xfrm>
          <a:prstGeom prst="line">
            <a:avLst/>
          </a:prstGeom>
          <a:ln w="17145" cap="rnd">
            <a:solidFill>
              <a:srgbClr val="326CB2"/>
            </a:solidFill>
            <a:headEnd type="none" w="sm" len="sm"/>
            <a:tailEnd type="triangle" w="sm" len="sm"/>
          </a:ln>
        </p:spPr>
      </p:cxnSp>
      <p:cxnSp>
        <p:nvCxnSpPr>
          <p:cNvPr id="92" name="gd_state_20_gd_left_step_14" descr="Gradient descent update: [-2.9263444866001436, 0.6275899345841608] to [-2.9408236859316736, 0.6272118417056848]"/>
          <p:cNvCxnSpPr/>
          <p:nvPr/>
        </p:nvCxnSpPr>
        <p:spPr>
          <a:xfrm flipH="1">
            <a:off x="3729480" y="4448994"/>
            <a:ext cx="14325" cy="263"/>
          </a:xfrm>
          <a:prstGeom prst="line">
            <a:avLst/>
          </a:prstGeom>
          <a:ln w="17145" cap="rnd">
            <a:solidFill>
              <a:srgbClr val="326CB2"/>
            </a:solidFill>
            <a:headEnd type="none" w="sm" len="sm"/>
            <a:tailEnd type="triangle" w="sm" len="sm"/>
          </a:ln>
        </p:spPr>
      </p:cxnSp>
      <p:cxnSp>
        <p:nvCxnSpPr>
          <p:cNvPr id="93" name="gd_state_20_gd_left_step_15" descr="Gradient descent update: [-2.9408236859316736, 0.6272118417056848] to [-2.9524572350726865, 0.6269677647978555]"/>
          <p:cNvCxnSpPr/>
          <p:nvPr/>
        </p:nvCxnSpPr>
        <p:spPr>
          <a:xfrm flipH="1">
            <a:off x="3717970" y="4449256"/>
            <a:ext cx="11509" cy="170"/>
          </a:xfrm>
          <a:prstGeom prst="line">
            <a:avLst/>
          </a:prstGeom>
          <a:ln w="17145" cap="rnd">
            <a:solidFill>
              <a:srgbClr val="326CB2"/>
            </a:solidFill>
            <a:headEnd type="none" w="sm" len="sm"/>
            <a:tailEnd type="triangle" w="sm" len="sm"/>
          </a:ln>
        </p:spPr>
      </p:cxnSp>
      <p:cxnSp>
        <p:nvCxnSpPr>
          <p:cNvPr id="94" name="gd_state_20_gd_left_step_16" descr="Gradient descent update: [-2.9524572350726865, 0.6269677647978555] to [-2.9618040772028644, 0.6268102115266608]"/>
          <p:cNvCxnSpPr/>
          <p:nvPr/>
        </p:nvCxnSpPr>
        <p:spPr>
          <a:xfrm flipH="1">
            <a:off x="3708723" y="4449426"/>
            <a:ext cx="9247" cy="110"/>
          </a:xfrm>
          <a:prstGeom prst="line">
            <a:avLst/>
          </a:prstGeom>
          <a:ln w="17145" cap="rnd">
            <a:solidFill>
              <a:srgbClr val="326CB2"/>
            </a:solidFill>
            <a:headEnd type="none" w="sm" len="sm"/>
            <a:tailEnd type="triangle" w="sm" len="sm"/>
          </a:ln>
        </p:spPr>
      </p:cxnSp>
      <p:cxnSp>
        <p:nvCxnSpPr>
          <p:cNvPr id="95" name="gd_state_20_gd_left_step_17" descr="Gradient descent update: [-2.9618040772028644, 0.6268102115266608] to [-2.9693135233043426, 0.626708513989949]"/>
          <p:cNvCxnSpPr/>
          <p:nvPr/>
        </p:nvCxnSpPr>
        <p:spPr>
          <a:xfrm flipH="1">
            <a:off x="3701294" y="4449536"/>
            <a:ext cx="7429" cy="71"/>
          </a:xfrm>
          <a:prstGeom prst="line">
            <a:avLst/>
          </a:prstGeom>
          <a:ln w="17145" cap="rnd">
            <a:solidFill>
              <a:srgbClr val="326CB2"/>
            </a:solidFill>
            <a:headEnd type="none" w="sm" len="sm"/>
            <a:tailEnd type="triangle" w="sm" len="sm"/>
          </a:ln>
        </p:spPr>
      </p:cxnSp>
      <p:cxnSp>
        <p:nvCxnSpPr>
          <p:cNvPr id="96" name="gd_state_20_gd_left_step_18" descr="Gradient descent update: [-2.9693135233043426, 0.626708513989949] to [-2.975346680670965, 0.6266428719596864]"/>
          <p:cNvCxnSpPr/>
          <p:nvPr/>
        </p:nvCxnSpPr>
        <p:spPr>
          <a:xfrm flipH="1">
            <a:off x="3695325" y="4449606"/>
            <a:ext cx="5969" cy="46"/>
          </a:xfrm>
          <a:prstGeom prst="line">
            <a:avLst/>
          </a:prstGeom>
          <a:ln w="17145" cap="rnd">
            <a:solidFill>
              <a:srgbClr val="326CB2"/>
            </a:solidFill>
            <a:headEnd type="none" w="sm" len="sm"/>
            <a:tailEnd type="triangle" w="sm" len="sm"/>
          </a:ln>
        </p:spPr>
      </p:cxnSp>
      <p:cxnSp>
        <p:nvCxnSpPr>
          <p:cNvPr id="97" name="gd_state_20_gd_left_step_19" descr="Gradient descent update: [-2.975346680670965, 0.6266428719596864] to [-2.9801937292217606, 0.6266005031566841]"/>
          <p:cNvCxnSpPr/>
          <p:nvPr/>
        </p:nvCxnSpPr>
        <p:spPr>
          <a:xfrm flipH="1">
            <a:off x="3690530" y="4449652"/>
            <a:ext cx="4795" cy="29"/>
          </a:xfrm>
          <a:prstGeom prst="line">
            <a:avLst/>
          </a:prstGeom>
          <a:ln w="17145" cap="rnd">
            <a:solidFill>
              <a:srgbClr val="326CB2"/>
            </a:solidFill>
            <a:headEnd type="none" w="sm" len="sm"/>
            <a:tailEnd type="triangle" w="sm" len="sm"/>
          </a:ln>
        </p:spPr>
      </p:cxnSp>
      <p:cxnSp>
        <p:nvCxnSpPr>
          <p:cNvPr id="98" name="gd_state_20_gd_right_step_0" descr="Gradient descent update: [1.5, 3.052966718472656] to [1.7733005755903055, 2.9153590815492127]"/>
          <p:cNvCxnSpPr/>
          <p:nvPr/>
        </p:nvCxnSpPr>
        <p:spPr>
          <a:xfrm>
            <a:off x="8122920" y="2762568"/>
            <a:ext cx="270384" cy="95682"/>
          </a:xfrm>
          <a:prstGeom prst="line">
            <a:avLst/>
          </a:prstGeom>
          <a:ln w="17145" cap="rnd">
            <a:solidFill>
              <a:srgbClr val="C45C28"/>
            </a:solidFill>
            <a:headEnd type="none" w="sm" len="sm"/>
            <a:tailEnd type="triangle" w="sm" len="sm"/>
          </a:ln>
        </p:spPr>
      </p:cxnSp>
      <p:cxnSp>
        <p:nvCxnSpPr>
          <p:cNvPr id="99" name="gd_state_20_gd_right_step_1" descr="Gradient descent update: [1.7733005755903055, 2.9153590815492127] to [2.0028280816253523, 2.818999686312374]"/>
          <p:cNvCxnSpPr/>
          <p:nvPr/>
        </p:nvCxnSpPr>
        <p:spPr>
          <a:xfrm>
            <a:off x="8393304" y="2858250"/>
            <a:ext cx="227078" cy="67001"/>
          </a:xfrm>
          <a:prstGeom prst="line">
            <a:avLst/>
          </a:prstGeom>
          <a:ln w="17145" cap="rnd">
            <a:solidFill>
              <a:srgbClr val="C45C28"/>
            </a:solidFill>
            <a:headEnd type="none" w="sm" len="sm"/>
            <a:tailEnd type="triangle" w="sm" len="sm"/>
          </a:ln>
        </p:spPr>
      </p:cxnSp>
      <p:cxnSp>
        <p:nvCxnSpPr>
          <p:cNvPr id="100" name="gd_state_20_gd_right_step_2" descr="Gradient descent update: [2.0028280816253523, 2.818999686312374] to [2.1927244854727714, 2.7533693983606518]"/>
          <p:cNvCxnSpPr/>
          <p:nvPr/>
        </p:nvCxnSpPr>
        <p:spPr>
          <a:xfrm>
            <a:off x="8620383" y="2925252"/>
            <a:ext cx="187870" cy="45634"/>
          </a:xfrm>
          <a:prstGeom prst="line">
            <a:avLst/>
          </a:prstGeom>
          <a:ln w="17145" cap="rnd">
            <a:solidFill>
              <a:srgbClr val="C45C28"/>
            </a:solidFill>
            <a:headEnd type="none" w="sm" len="sm"/>
            <a:tailEnd type="triangle" w="sm" len="sm"/>
          </a:ln>
        </p:spPr>
      </p:cxnSp>
      <p:cxnSp>
        <p:nvCxnSpPr>
          <p:cNvPr id="101" name="gd_state_20_gd_right_step_3" descr="Gradient descent update: [2.1927244854727714, 2.7533693983606518] to [2.3482243511572736, 2.709505137237307]"/>
          <p:cNvCxnSpPr/>
          <p:nvPr/>
        </p:nvCxnSpPr>
        <p:spPr>
          <a:xfrm>
            <a:off x="8808253" y="2970886"/>
            <a:ext cx="153841" cy="30500"/>
          </a:xfrm>
          <a:prstGeom prst="line">
            <a:avLst/>
          </a:prstGeom>
          <a:ln w="17145" cap="rnd">
            <a:solidFill>
              <a:srgbClr val="C45C28"/>
            </a:solidFill>
            <a:headEnd type="none" w="sm" len="sm"/>
            <a:tailEnd type="triangle" w="sm" len="sm"/>
          </a:ln>
        </p:spPr>
      </p:cxnSp>
      <p:cxnSp>
        <p:nvCxnSpPr>
          <p:cNvPr id="102" name="gd_state_20_gd_right_step_4" descr="Gradient descent update: [2.3482243511572736, 2.709505137237307] to [2.4746963348938356, 2.6805502696548813]"/>
          <p:cNvCxnSpPr/>
          <p:nvPr/>
        </p:nvCxnSpPr>
        <p:spPr>
          <a:xfrm>
            <a:off x="8962094" y="3001386"/>
            <a:ext cx="125123" cy="20133"/>
          </a:xfrm>
          <a:prstGeom prst="line">
            <a:avLst/>
          </a:prstGeom>
          <a:ln w="17145" cap="rnd">
            <a:solidFill>
              <a:srgbClr val="C45C28"/>
            </a:solidFill>
            <a:headEnd type="none" w="sm" len="sm"/>
            <a:tailEnd type="triangle" w="sm" len="sm"/>
          </a:ln>
        </p:spPr>
      </p:cxnSp>
      <p:cxnSp>
        <p:nvCxnSpPr>
          <p:cNvPr id="103" name="gd_state_20_gd_right_step_5" descr="Gradient descent update: [2.4746963348938356, 2.6805502696548813] to [2.577108051456927, 2.6615900472966363]"/>
          <p:cNvCxnSpPr/>
          <p:nvPr/>
        </p:nvCxnSpPr>
        <p:spPr>
          <a:xfrm>
            <a:off x="9087216" y="3021519"/>
            <a:ext cx="101319" cy="13184"/>
          </a:xfrm>
          <a:prstGeom prst="line">
            <a:avLst/>
          </a:prstGeom>
          <a:ln w="17145" cap="rnd">
            <a:solidFill>
              <a:srgbClr val="C45C28"/>
            </a:solidFill>
            <a:headEnd type="none" w="sm" len="sm"/>
            <a:tailEnd type="triangle" w="sm" len="sm"/>
          </a:ln>
        </p:spPr>
      </p:cxnSp>
      <p:cxnSp>
        <p:nvCxnSpPr>
          <p:cNvPr id="104" name="gd_state_20_gd_right_step_6" descr="Gradient descent update: [2.577108051456927, 2.6615900472966363] to [2.659802893713609, 2.6492384293288613]"/>
          <p:cNvCxnSpPr/>
          <p:nvPr/>
        </p:nvCxnSpPr>
        <p:spPr>
          <a:xfrm>
            <a:off x="9188535" y="3034702"/>
            <a:ext cx="81812" cy="8588"/>
          </a:xfrm>
          <a:prstGeom prst="line">
            <a:avLst/>
          </a:prstGeom>
          <a:ln w="17145" cap="rnd">
            <a:solidFill>
              <a:srgbClr val="C45C28"/>
            </a:solidFill>
            <a:headEnd type="none" w="sm" len="sm"/>
            <a:tailEnd type="triangle" w="sm" len="sm"/>
          </a:ln>
        </p:spPr>
      </p:cxnSp>
      <p:cxnSp>
        <p:nvCxnSpPr>
          <p:cNvPr id="105" name="gd_state_20_gd_right_step_7" descr="Gradient descent update: [2.659802893713609, 2.6492384293288613] to [2.7264560155935453, 2.6412185799893093]"/>
          <p:cNvCxnSpPr/>
          <p:nvPr/>
        </p:nvCxnSpPr>
        <p:spPr>
          <a:xfrm>
            <a:off x="9270348" y="3043291"/>
            <a:ext cx="65942" cy="5576"/>
          </a:xfrm>
          <a:prstGeom prst="line">
            <a:avLst/>
          </a:prstGeom>
          <a:ln w="17145" cap="rnd">
            <a:solidFill>
              <a:srgbClr val="C45C28"/>
            </a:solidFill>
            <a:headEnd type="none" w="sm" len="sm"/>
            <a:tailEnd type="triangle" w="sm" len="sm"/>
          </a:ln>
        </p:spPr>
      </p:cxnSp>
      <p:cxnSp>
        <p:nvCxnSpPr>
          <p:cNvPr id="106" name="gd_state_20_gd_right_step_8" descr="Gradient descent update: [2.7264560155935453, 2.6412185799893093] to [2.780116879412276, 2.6360223868871784]"/>
          <p:cNvCxnSpPr/>
          <p:nvPr/>
        </p:nvCxnSpPr>
        <p:spPr>
          <a:xfrm>
            <a:off x="9336290" y="3048867"/>
            <a:ext cx="53088" cy="3613"/>
          </a:xfrm>
          <a:prstGeom prst="line">
            <a:avLst/>
          </a:prstGeom>
          <a:ln w="17145" cap="rnd">
            <a:solidFill>
              <a:srgbClr val="C45C28"/>
            </a:solidFill>
            <a:headEnd type="none" w="sm" len="sm"/>
            <a:tailEnd type="triangle" w="sm" len="sm"/>
          </a:ln>
        </p:spPr>
      </p:cxnSp>
      <p:cxnSp>
        <p:nvCxnSpPr>
          <p:cNvPr id="107" name="gd_state_20_gd_right_step_9" descr="Gradient descent update: [2.780116879412276, 2.6360223868871784] to [2.8232857177054314, 2.63266028517605]"/>
          <p:cNvCxnSpPr/>
          <p:nvPr/>
        </p:nvCxnSpPr>
        <p:spPr>
          <a:xfrm>
            <a:off x="9389378" y="3052480"/>
            <a:ext cx="42708" cy="2338"/>
          </a:xfrm>
          <a:prstGeom prst="line">
            <a:avLst/>
          </a:prstGeom>
          <a:ln w="17145" cap="rnd">
            <a:solidFill>
              <a:srgbClr val="C45C28"/>
            </a:solidFill>
            <a:headEnd type="none" w="sm" len="sm"/>
            <a:tailEnd type="triangle" w="sm" len="sm"/>
          </a:ln>
        </p:spPr>
      </p:cxnSp>
      <p:cxnSp>
        <p:nvCxnSpPr>
          <p:cNvPr id="108" name="gd_state_20_gd_right_step_10" descr="Gradient descent update: [2.8232857177054314, 2.63266028517605] to [2.85799729143087, 2.63048681114119]"/>
          <p:cNvCxnSpPr/>
          <p:nvPr/>
        </p:nvCxnSpPr>
        <p:spPr>
          <a:xfrm>
            <a:off x="9432086" y="3054818"/>
            <a:ext cx="34341" cy="1511"/>
          </a:xfrm>
          <a:prstGeom prst="line">
            <a:avLst/>
          </a:prstGeom>
          <a:ln w="17145" cap="rnd">
            <a:solidFill>
              <a:srgbClr val="C45C28"/>
            </a:solidFill>
            <a:headEnd type="none" w="sm" len="sm"/>
            <a:tailEnd type="triangle" w="sm" len="sm"/>
          </a:ln>
        </p:spPr>
      </p:cxnSp>
      <p:cxnSp>
        <p:nvCxnSpPr>
          <p:cNvPr id="109" name="gd_state_20_gd_right_step_11" descr="Gradient descent update: [2.85799729143087, 2.63048681114119] to [2.8858998352080794, 2.629082536575151]"/>
          <p:cNvCxnSpPr/>
          <p:nvPr/>
        </p:nvCxnSpPr>
        <p:spPr>
          <a:xfrm>
            <a:off x="9466427" y="3056329"/>
            <a:ext cx="27605" cy="976"/>
          </a:xfrm>
          <a:prstGeom prst="line">
            <a:avLst/>
          </a:prstGeom>
          <a:ln w="17145" cap="rnd">
            <a:solidFill>
              <a:srgbClr val="C45C28"/>
            </a:solidFill>
            <a:headEnd type="none" w="sm" len="sm"/>
            <a:tailEnd type="triangle" w="sm" len="sm"/>
          </a:ln>
        </p:spPr>
      </p:cxnSp>
      <p:cxnSp>
        <p:nvCxnSpPr>
          <p:cNvPr id="110" name="gd_state_20_gd_right_step_12" descr="Gradient descent update: [2.8858998352080794, 2.629082536575151] to [2.908324535247046, 2.6281755705511065]"/>
          <p:cNvCxnSpPr/>
          <p:nvPr/>
        </p:nvCxnSpPr>
        <p:spPr>
          <a:xfrm>
            <a:off x="9494032" y="3057306"/>
            <a:ext cx="22185" cy="631"/>
          </a:xfrm>
          <a:prstGeom prst="line">
            <a:avLst/>
          </a:prstGeom>
          <a:ln w="17145" cap="rnd">
            <a:solidFill>
              <a:srgbClr val="C45C28"/>
            </a:solidFill>
            <a:headEnd type="none" w="sm" len="sm"/>
            <a:tailEnd type="triangle" w="sm" len="sm"/>
          </a:ln>
        </p:spPr>
      </p:cxnSp>
      <p:cxnSp>
        <p:nvCxnSpPr>
          <p:cNvPr id="111" name="gd_state_20_gd_right_step_13" descr="Gradient descent update: [2.908324535247046, 2.6281755705511065] to [2.9263444866001436, 2.6275899345841607]"/>
          <p:cNvCxnSpPr/>
          <p:nvPr/>
        </p:nvCxnSpPr>
        <p:spPr>
          <a:xfrm>
            <a:off x="9516218" y="3057936"/>
            <a:ext cx="17828" cy="407"/>
          </a:xfrm>
          <a:prstGeom prst="line">
            <a:avLst/>
          </a:prstGeom>
          <a:ln w="17145" cap="rnd">
            <a:solidFill>
              <a:srgbClr val="C45C28"/>
            </a:solidFill>
            <a:headEnd type="none" w="sm" len="sm"/>
            <a:tailEnd type="triangle" w="sm" len="sm"/>
          </a:ln>
        </p:spPr>
      </p:cxnSp>
      <p:cxnSp>
        <p:nvCxnSpPr>
          <p:cNvPr id="112" name="gd_state_20_gd_right_step_14" descr="Gradient descent update: [2.9263444866001436, 2.6275899345841607] to [2.940823685931673, 2.6272118417056847]"/>
          <p:cNvCxnSpPr/>
          <p:nvPr/>
        </p:nvCxnSpPr>
        <p:spPr>
          <a:xfrm>
            <a:off x="9534045" y="3058344"/>
            <a:ext cx="14325" cy="263"/>
          </a:xfrm>
          <a:prstGeom prst="line">
            <a:avLst/>
          </a:prstGeom>
          <a:ln w="17145" cap="rnd">
            <a:solidFill>
              <a:srgbClr val="C45C28"/>
            </a:solidFill>
            <a:headEnd type="none" w="sm" len="sm"/>
            <a:tailEnd type="triangle" w="sm" len="sm"/>
          </a:ln>
        </p:spPr>
      </p:cxnSp>
      <p:cxnSp>
        <p:nvCxnSpPr>
          <p:cNvPr id="113" name="gd_state_20_gd_right_step_15" descr="Gradient descent update: [2.940823685931673, 2.6272118417056847] to [2.952457235072686, 2.6269677647978558]"/>
          <p:cNvCxnSpPr/>
          <p:nvPr/>
        </p:nvCxnSpPr>
        <p:spPr>
          <a:xfrm>
            <a:off x="9548370" y="3058606"/>
            <a:ext cx="11509" cy="170"/>
          </a:xfrm>
          <a:prstGeom prst="line">
            <a:avLst/>
          </a:prstGeom>
          <a:ln w="17145" cap="rnd">
            <a:solidFill>
              <a:srgbClr val="C45C28"/>
            </a:solidFill>
            <a:headEnd type="none" w="sm" len="sm"/>
            <a:tailEnd type="triangle" w="sm" len="sm"/>
          </a:ln>
        </p:spPr>
      </p:cxnSp>
      <p:cxnSp>
        <p:nvCxnSpPr>
          <p:cNvPr id="114" name="gd_state_20_gd_right_step_16" descr="Gradient descent update: [2.952457235072686, 2.6269677647978558] to [2.961804077202864, 2.626810211526661]"/>
          <p:cNvCxnSpPr/>
          <p:nvPr/>
        </p:nvCxnSpPr>
        <p:spPr>
          <a:xfrm>
            <a:off x="9559880" y="3058776"/>
            <a:ext cx="9247" cy="110"/>
          </a:xfrm>
          <a:prstGeom prst="line">
            <a:avLst/>
          </a:prstGeom>
          <a:ln w="17145" cap="rnd">
            <a:solidFill>
              <a:srgbClr val="C45C28"/>
            </a:solidFill>
            <a:headEnd type="none" w="sm" len="sm"/>
            <a:tailEnd type="triangle" w="sm" len="sm"/>
          </a:ln>
        </p:spPr>
      </p:cxnSp>
      <p:cxnSp>
        <p:nvCxnSpPr>
          <p:cNvPr id="115" name="gd_state_20_gd_right_step_17" descr="Gradient descent update: [2.961804077202864, 2.626810211526661] to [2.969313523304342, 2.626708513989949]"/>
          <p:cNvCxnSpPr/>
          <p:nvPr/>
        </p:nvCxnSpPr>
        <p:spPr>
          <a:xfrm>
            <a:off x="9569127" y="3058886"/>
            <a:ext cx="7429" cy="71"/>
          </a:xfrm>
          <a:prstGeom prst="line">
            <a:avLst/>
          </a:prstGeom>
          <a:ln w="17145" cap="rnd">
            <a:solidFill>
              <a:srgbClr val="C45C28"/>
            </a:solidFill>
            <a:headEnd type="none" w="sm" len="sm"/>
            <a:tailEnd type="triangle" w="sm" len="sm"/>
          </a:ln>
        </p:spPr>
      </p:cxnSp>
      <p:cxnSp>
        <p:nvCxnSpPr>
          <p:cNvPr id="116" name="gd_state_20_gd_right_step_18" descr="Gradient descent update: [2.969313523304342, 2.626708513989949] to [2.9753466806709645, 2.626642871959686]"/>
          <p:cNvCxnSpPr/>
          <p:nvPr/>
        </p:nvCxnSpPr>
        <p:spPr>
          <a:xfrm>
            <a:off x="9576556" y="3058956"/>
            <a:ext cx="5969" cy="46"/>
          </a:xfrm>
          <a:prstGeom prst="line">
            <a:avLst/>
          </a:prstGeom>
          <a:ln w="17145" cap="rnd">
            <a:solidFill>
              <a:srgbClr val="C45C28"/>
            </a:solidFill>
            <a:headEnd type="none" w="sm" len="sm"/>
            <a:tailEnd type="triangle" w="sm" len="sm"/>
          </a:ln>
        </p:spPr>
      </p:cxnSp>
      <p:cxnSp>
        <p:nvCxnSpPr>
          <p:cNvPr id="117" name="gd_state_20_gd_right_step_19" descr="Gradient descent update: [2.9753466806709645, 2.626642871959686] to [2.98019372922176, 2.626600503156684]"/>
          <p:cNvCxnSpPr/>
          <p:nvPr/>
        </p:nvCxnSpPr>
        <p:spPr>
          <a:xfrm>
            <a:off x="9582525" y="3059002"/>
            <a:ext cx="4795" cy="29"/>
          </a:xfrm>
          <a:prstGeom prst="line">
            <a:avLst/>
          </a:prstGeom>
          <a:ln w="17145" cap="rnd">
            <a:solidFill>
              <a:srgbClr val="C45C28"/>
            </a:solidFill>
            <a:headEnd type="none" w="sm" len="sm"/>
            <a:tailEnd type="triangle" w="sm" len="sm"/>
          </a:ln>
        </p:spPr>
      </p:cxnSp>
    </p:spTree>
    <p:extLst>
      <p:ext uri="{BB962C8B-B14F-4D97-AF65-F5344CB8AC3E}">
        <p14:creationId xmlns:p14="http://schemas.microsoft.com/office/powerpoint/2010/main" val="1812233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9"/>
                                          </p:stCondLst>
                                        </p:cTn>
                                        <p:tgtEl>
                                          <p:spTgt spid="12"/>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9"/>
                                          </p:stCondLst>
                                        </p:cTn>
                                        <p:tgtEl>
                                          <p:spTgt spid="13"/>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9"/>
                                          </p:stCondLst>
                                        </p:cTn>
                                        <p:tgtEl>
                                          <p:spTgt spid="14"/>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9"/>
                                          </p:stCondLst>
                                        </p:cTn>
                                        <p:tgtEl>
                                          <p:spTgt spid="15"/>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9"/>
                                          </p:stCondLst>
                                        </p:cTn>
                                        <p:tgtEl>
                                          <p:spTgt spid="16"/>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9"/>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9"/>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9"/>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9"/>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9"/>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9"/>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9"/>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9"/>
                                          </p:stCondLst>
                                        </p:cTn>
                                        <p:tgtEl>
                                          <p:spTgt spid="17"/>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9"/>
                                          </p:stCondLst>
                                        </p:cTn>
                                        <p:tgtEl>
                                          <p:spTgt spid="18"/>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9"/>
                                          </p:stCondLst>
                                        </p:cTn>
                                        <p:tgtEl>
                                          <p:spTgt spid="19"/>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9"/>
                                          </p:stCondLst>
                                        </p:cTn>
                                        <p:tgtEl>
                                          <p:spTgt spid="20"/>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9"/>
                                          </p:stCondLst>
                                        </p:cTn>
                                        <p:tgtEl>
                                          <p:spTgt spid="21"/>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9"/>
                                          </p:stCondLst>
                                        </p:cTn>
                                        <p:tgtEl>
                                          <p:spTgt spid="22"/>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9"/>
                                          </p:stCondLst>
                                        </p:cTn>
                                        <p:tgtEl>
                                          <p:spTgt spid="23"/>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9"/>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9"/>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9"/>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9"/>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9"/>
                                          </p:stCondLst>
                                        </p:cTn>
                                        <p:tgtEl>
                                          <p:spTgt spid="2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9"/>
                                          </p:stCondLst>
                                        </p:cTn>
                                        <p:tgtEl>
                                          <p:spTgt spid="2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9"/>
                                          </p:stCondLst>
                                        </p:cTn>
                                        <p:tgtEl>
                                          <p:spTgt spid="3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9"/>
                                          </p:stCondLst>
                                        </p:cTn>
                                        <p:tgtEl>
                                          <p:spTgt spid="3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9"/>
                                          </p:stCondLst>
                                        </p:cTn>
                                        <p:tgtEl>
                                          <p:spTgt spid="3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9"/>
                                          </p:stCondLst>
                                        </p:cTn>
                                        <p:tgtEl>
                                          <p:spTgt spid="24"/>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9"/>
                                          </p:stCondLst>
                                        </p:cTn>
                                        <p:tgtEl>
                                          <p:spTgt spid="25"/>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9"/>
                                          </p:stCondLst>
                                        </p:cTn>
                                        <p:tgtEl>
                                          <p:spTgt spid="26"/>
                                        </p:tgtEl>
                                        <p:attrNameLst>
                                          <p:attrName>style.visibility</p:attrName>
                                        </p:attrNameLst>
                                      </p:cBhvr>
                                      <p:to>
                                        <p:strVal val="hidden"/>
                                      </p:to>
                                    </p:set>
                                  </p:childTnLst>
                                </p:cTn>
                              </p:par>
                              <p:par>
                                <p:cTn id="71" presetID="1" presetClass="exit" presetSubtype="0" fill="hold" grpId="1" nodeType="withEffect">
                                  <p:stCondLst>
                                    <p:cond delay="0"/>
                                  </p:stCondLst>
                                  <p:childTnLst>
                                    <p:set>
                                      <p:cBhvr>
                                        <p:cTn id="72" dur="1" fill="hold">
                                          <p:stCondLst>
                                            <p:cond delay="9"/>
                                          </p:stCondLst>
                                        </p:cTn>
                                        <p:tgtEl>
                                          <p:spTgt spid="27"/>
                                        </p:tgtEl>
                                        <p:attrNameLst>
                                          <p:attrName>style.visibility</p:attrName>
                                        </p:attrNameLst>
                                      </p:cBhvr>
                                      <p:to>
                                        <p:strVal val="hidden"/>
                                      </p:to>
                                    </p:set>
                                  </p:childTnLst>
                                </p:cTn>
                              </p:par>
                              <p:par>
                                <p:cTn id="73" presetID="1" presetClass="exit" presetSubtype="0" fill="hold" grpId="1" nodeType="withEffect">
                                  <p:stCondLst>
                                    <p:cond delay="0"/>
                                  </p:stCondLst>
                                  <p:childTnLst>
                                    <p:set>
                                      <p:cBhvr>
                                        <p:cTn id="74" dur="1" fill="hold">
                                          <p:stCondLst>
                                            <p:cond delay="9"/>
                                          </p:stCondLst>
                                        </p:cTn>
                                        <p:tgtEl>
                                          <p:spTgt spid="28"/>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9"/>
                                          </p:stCondLst>
                                        </p:cTn>
                                        <p:tgtEl>
                                          <p:spTgt spid="29"/>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9"/>
                                          </p:stCondLst>
                                        </p:cTn>
                                        <p:tgtEl>
                                          <p:spTgt spid="30"/>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9"/>
                                          </p:stCondLst>
                                        </p:cTn>
                                        <p:tgtEl>
                                          <p:spTgt spid="31"/>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9"/>
                                          </p:stCondLst>
                                        </p:cTn>
                                        <p:tgtEl>
                                          <p:spTgt spid="32"/>
                                        </p:tgtEl>
                                        <p:attrNameLst>
                                          <p:attrName>style.visibility</p:attrName>
                                        </p:attrNameLst>
                                      </p:cBhvr>
                                      <p:to>
                                        <p:strVal val="hidden"/>
                                      </p:to>
                                    </p:set>
                                  </p:childTnLst>
                                </p:cTn>
                              </p:par>
                              <p:par>
                                <p:cTn id="83" presetID="1" presetClass="entr" presetSubtype="0" fill="hold" grpId="0" nodeType="withEffect">
                                  <p:stCondLst>
                                    <p:cond delay="0"/>
                                  </p:stCondLst>
                                  <p:childTnLst>
                                    <p:set>
                                      <p:cBhvr>
                                        <p:cTn id="84" dur="1" fill="hold">
                                          <p:stCondLst>
                                            <p:cond delay="9"/>
                                          </p:stCondLst>
                                        </p:cTn>
                                        <p:tgtEl>
                                          <p:spTgt spid="3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9"/>
                                          </p:stCondLst>
                                        </p:cTn>
                                        <p:tgtEl>
                                          <p:spTgt spid="3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9"/>
                                          </p:stCondLst>
                                        </p:cTn>
                                        <p:tgtEl>
                                          <p:spTgt spid="3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9"/>
                                          </p:stCondLst>
                                        </p:cTn>
                                        <p:tgtEl>
                                          <p:spTgt spid="3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9"/>
                                          </p:stCondLst>
                                        </p:cTn>
                                        <p:tgtEl>
                                          <p:spTgt spid="37"/>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9"/>
                                          </p:stCondLst>
                                        </p:cTn>
                                        <p:tgtEl>
                                          <p:spTgt spid="38"/>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9"/>
                                          </p:stCondLst>
                                        </p:cTn>
                                        <p:tgtEl>
                                          <p:spTgt spid="39"/>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9"/>
                                          </p:stCondLst>
                                        </p:cTn>
                                        <p:tgtEl>
                                          <p:spTgt spid="4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9"/>
                                          </p:stCondLst>
                                        </p:cTn>
                                        <p:tgtEl>
                                          <p:spTgt spid="41"/>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9"/>
                                          </p:stCondLst>
                                        </p:cTn>
                                        <p:tgtEl>
                                          <p:spTgt spid="42"/>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9"/>
                                          </p:stCondLst>
                                        </p:cTn>
                                        <p:tgtEl>
                                          <p:spTgt spid="43"/>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9"/>
                                          </p:stCondLst>
                                        </p:cTn>
                                        <p:tgtEl>
                                          <p:spTgt spid="44"/>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9"/>
                                          </p:stCondLst>
                                        </p:cTn>
                                        <p:tgtEl>
                                          <p:spTgt spid="45"/>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9"/>
                                          </p:stCondLst>
                                        </p:cTn>
                                        <p:tgtEl>
                                          <p:spTgt spid="46"/>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9"/>
                                          </p:stCondLst>
                                        </p:cTn>
                                        <p:tgtEl>
                                          <p:spTgt spid="47"/>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xit" presetSubtype="0" fill="hold" grpId="1" nodeType="clickEffect">
                                  <p:stCondLst>
                                    <p:cond delay="0"/>
                                  </p:stCondLst>
                                  <p:childTnLst>
                                    <p:set>
                                      <p:cBhvr>
                                        <p:cTn id="116" dur="1" fill="hold">
                                          <p:stCondLst>
                                            <p:cond delay="9"/>
                                          </p:stCondLst>
                                        </p:cTn>
                                        <p:tgtEl>
                                          <p:spTgt spid="33"/>
                                        </p:tgtEl>
                                        <p:attrNameLst>
                                          <p:attrName>style.visibility</p:attrName>
                                        </p:attrNameLst>
                                      </p:cBhvr>
                                      <p:to>
                                        <p:strVal val="hidden"/>
                                      </p:to>
                                    </p:set>
                                  </p:childTnLst>
                                </p:cTn>
                              </p:par>
                              <p:par>
                                <p:cTn id="117" presetID="1" presetClass="exit" presetSubtype="0" fill="hold" grpId="1" nodeType="withEffect">
                                  <p:stCondLst>
                                    <p:cond delay="0"/>
                                  </p:stCondLst>
                                  <p:childTnLst>
                                    <p:set>
                                      <p:cBhvr>
                                        <p:cTn id="118" dur="1" fill="hold">
                                          <p:stCondLst>
                                            <p:cond delay="9"/>
                                          </p:stCondLst>
                                        </p:cTn>
                                        <p:tgtEl>
                                          <p:spTgt spid="34"/>
                                        </p:tgtEl>
                                        <p:attrNameLst>
                                          <p:attrName>style.visibility</p:attrName>
                                        </p:attrNameLst>
                                      </p:cBhvr>
                                      <p:to>
                                        <p:strVal val="hidden"/>
                                      </p:to>
                                    </p:set>
                                  </p:childTnLst>
                                </p:cTn>
                              </p:par>
                              <p:par>
                                <p:cTn id="119" presetID="1" presetClass="exit" presetSubtype="0" fill="hold" grpId="1" nodeType="withEffect">
                                  <p:stCondLst>
                                    <p:cond delay="0"/>
                                  </p:stCondLst>
                                  <p:childTnLst>
                                    <p:set>
                                      <p:cBhvr>
                                        <p:cTn id="120" dur="1" fill="hold">
                                          <p:stCondLst>
                                            <p:cond delay="9"/>
                                          </p:stCondLst>
                                        </p:cTn>
                                        <p:tgtEl>
                                          <p:spTgt spid="35"/>
                                        </p:tgtEl>
                                        <p:attrNameLst>
                                          <p:attrName>style.visibility</p:attrName>
                                        </p:attrNameLst>
                                      </p:cBhvr>
                                      <p:to>
                                        <p:strVal val="hidden"/>
                                      </p:to>
                                    </p:set>
                                  </p:childTnLst>
                                </p:cTn>
                              </p:par>
                              <p:par>
                                <p:cTn id="121" presetID="1" presetClass="exit" presetSubtype="0" fill="hold" grpId="1" nodeType="withEffect">
                                  <p:stCondLst>
                                    <p:cond delay="0"/>
                                  </p:stCondLst>
                                  <p:childTnLst>
                                    <p:set>
                                      <p:cBhvr>
                                        <p:cTn id="122" dur="1" fill="hold">
                                          <p:stCondLst>
                                            <p:cond delay="9"/>
                                          </p:stCondLst>
                                        </p:cTn>
                                        <p:tgtEl>
                                          <p:spTgt spid="36"/>
                                        </p:tgtEl>
                                        <p:attrNameLst>
                                          <p:attrName>style.visibility</p:attrName>
                                        </p:attrNameLst>
                                      </p:cBhvr>
                                      <p:to>
                                        <p:strVal val="hidden"/>
                                      </p:to>
                                    </p:set>
                                  </p:childTnLst>
                                </p:cTn>
                              </p:par>
                              <p:par>
                                <p:cTn id="123" presetID="1" presetClass="exit" presetSubtype="0" fill="hold" grpId="1" nodeType="withEffect">
                                  <p:stCondLst>
                                    <p:cond delay="0"/>
                                  </p:stCondLst>
                                  <p:childTnLst>
                                    <p:set>
                                      <p:cBhvr>
                                        <p:cTn id="124" dur="1" fill="hold">
                                          <p:stCondLst>
                                            <p:cond delay="9"/>
                                          </p:stCondLst>
                                        </p:cTn>
                                        <p:tgtEl>
                                          <p:spTgt spid="37"/>
                                        </p:tgtEl>
                                        <p:attrNameLst>
                                          <p:attrName>style.visibility</p:attrName>
                                        </p:attrNameLst>
                                      </p:cBhvr>
                                      <p:to>
                                        <p:strVal val="hidden"/>
                                      </p:to>
                                    </p:set>
                                  </p:childTnLst>
                                </p:cTn>
                              </p:par>
                              <p:par>
                                <p:cTn id="125" presetID="1" presetClass="exit" presetSubtype="0" fill="hold" nodeType="withEffect">
                                  <p:stCondLst>
                                    <p:cond delay="0"/>
                                  </p:stCondLst>
                                  <p:childTnLst>
                                    <p:set>
                                      <p:cBhvr>
                                        <p:cTn id="126" dur="1" fill="hold">
                                          <p:stCondLst>
                                            <p:cond delay="9"/>
                                          </p:stCondLst>
                                        </p:cTn>
                                        <p:tgtEl>
                                          <p:spTgt spid="38"/>
                                        </p:tgtEl>
                                        <p:attrNameLst>
                                          <p:attrName>style.visibility</p:attrName>
                                        </p:attrNameLst>
                                      </p:cBhvr>
                                      <p:to>
                                        <p:strVal val="hidden"/>
                                      </p:to>
                                    </p:set>
                                  </p:childTnLst>
                                </p:cTn>
                              </p:par>
                              <p:par>
                                <p:cTn id="127" presetID="1" presetClass="exit" presetSubtype="0" fill="hold" nodeType="withEffect">
                                  <p:stCondLst>
                                    <p:cond delay="0"/>
                                  </p:stCondLst>
                                  <p:childTnLst>
                                    <p:set>
                                      <p:cBhvr>
                                        <p:cTn id="128" dur="1" fill="hold">
                                          <p:stCondLst>
                                            <p:cond delay="9"/>
                                          </p:stCondLst>
                                        </p:cTn>
                                        <p:tgtEl>
                                          <p:spTgt spid="39"/>
                                        </p:tgtEl>
                                        <p:attrNameLst>
                                          <p:attrName>style.visibility</p:attrName>
                                        </p:attrNameLst>
                                      </p:cBhvr>
                                      <p:to>
                                        <p:strVal val="hidden"/>
                                      </p:to>
                                    </p:set>
                                  </p:childTnLst>
                                </p:cTn>
                              </p:par>
                              <p:par>
                                <p:cTn id="129" presetID="1" presetClass="exit" presetSubtype="0" fill="hold" nodeType="withEffect">
                                  <p:stCondLst>
                                    <p:cond delay="0"/>
                                  </p:stCondLst>
                                  <p:childTnLst>
                                    <p:set>
                                      <p:cBhvr>
                                        <p:cTn id="130" dur="1" fill="hold">
                                          <p:stCondLst>
                                            <p:cond delay="9"/>
                                          </p:stCondLst>
                                        </p:cTn>
                                        <p:tgtEl>
                                          <p:spTgt spid="40"/>
                                        </p:tgtEl>
                                        <p:attrNameLst>
                                          <p:attrName>style.visibility</p:attrName>
                                        </p:attrNameLst>
                                      </p:cBhvr>
                                      <p:to>
                                        <p:strVal val="hidden"/>
                                      </p:to>
                                    </p:set>
                                  </p:childTnLst>
                                </p:cTn>
                              </p:par>
                              <p:par>
                                <p:cTn id="131" presetID="1" presetClass="exit" presetSubtype="0" fill="hold" nodeType="withEffect">
                                  <p:stCondLst>
                                    <p:cond delay="0"/>
                                  </p:stCondLst>
                                  <p:childTnLst>
                                    <p:set>
                                      <p:cBhvr>
                                        <p:cTn id="132" dur="1" fill="hold">
                                          <p:stCondLst>
                                            <p:cond delay="9"/>
                                          </p:stCondLst>
                                        </p:cTn>
                                        <p:tgtEl>
                                          <p:spTgt spid="41"/>
                                        </p:tgtEl>
                                        <p:attrNameLst>
                                          <p:attrName>style.visibility</p:attrName>
                                        </p:attrNameLst>
                                      </p:cBhvr>
                                      <p:to>
                                        <p:strVal val="hidden"/>
                                      </p:to>
                                    </p:set>
                                  </p:childTnLst>
                                </p:cTn>
                              </p:par>
                              <p:par>
                                <p:cTn id="133" presetID="1" presetClass="exit" presetSubtype="0" fill="hold" nodeType="withEffect">
                                  <p:stCondLst>
                                    <p:cond delay="0"/>
                                  </p:stCondLst>
                                  <p:childTnLst>
                                    <p:set>
                                      <p:cBhvr>
                                        <p:cTn id="134" dur="1" fill="hold">
                                          <p:stCondLst>
                                            <p:cond delay="9"/>
                                          </p:stCondLst>
                                        </p:cTn>
                                        <p:tgtEl>
                                          <p:spTgt spid="42"/>
                                        </p:tgtEl>
                                        <p:attrNameLst>
                                          <p:attrName>style.visibility</p:attrName>
                                        </p:attrNameLst>
                                      </p:cBhvr>
                                      <p:to>
                                        <p:strVal val="hidden"/>
                                      </p:to>
                                    </p:set>
                                  </p:childTnLst>
                                </p:cTn>
                              </p:par>
                              <p:par>
                                <p:cTn id="135" presetID="1" presetClass="exit" presetSubtype="0" fill="hold" nodeType="withEffect">
                                  <p:stCondLst>
                                    <p:cond delay="0"/>
                                  </p:stCondLst>
                                  <p:childTnLst>
                                    <p:set>
                                      <p:cBhvr>
                                        <p:cTn id="136" dur="1" fill="hold">
                                          <p:stCondLst>
                                            <p:cond delay="9"/>
                                          </p:stCondLst>
                                        </p:cTn>
                                        <p:tgtEl>
                                          <p:spTgt spid="43"/>
                                        </p:tgtEl>
                                        <p:attrNameLst>
                                          <p:attrName>style.visibility</p:attrName>
                                        </p:attrNameLst>
                                      </p:cBhvr>
                                      <p:to>
                                        <p:strVal val="hidden"/>
                                      </p:to>
                                    </p:set>
                                  </p:childTnLst>
                                </p:cTn>
                              </p:par>
                              <p:par>
                                <p:cTn id="137" presetID="1" presetClass="exit" presetSubtype="0" fill="hold" nodeType="withEffect">
                                  <p:stCondLst>
                                    <p:cond delay="0"/>
                                  </p:stCondLst>
                                  <p:childTnLst>
                                    <p:set>
                                      <p:cBhvr>
                                        <p:cTn id="138" dur="1" fill="hold">
                                          <p:stCondLst>
                                            <p:cond delay="9"/>
                                          </p:stCondLst>
                                        </p:cTn>
                                        <p:tgtEl>
                                          <p:spTgt spid="44"/>
                                        </p:tgtEl>
                                        <p:attrNameLst>
                                          <p:attrName>style.visibility</p:attrName>
                                        </p:attrNameLst>
                                      </p:cBhvr>
                                      <p:to>
                                        <p:strVal val="hidden"/>
                                      </p:to>
                                    </p:set>
                                  </p:childTnLst>
                                </p:cTn>
                              </p:par>
                              <p:par>
                                <p:cTn id="139" presetID="1" presetClass="exit" presetSubtype="0" fill="hold" nodeType="withEffect">
                                  <p:stCondLst>
                                    <p:cond delay="0"/>
                                  </p:stCondLst>
                                  <p:childTnLst>
                                    <p:set>
                                      <p:cBhvr>
                                        <p:cTn id="140" dur="1" fill="hold">
                                          <p:stCondLst>
                                            <p:cond delay="9"/>
                                          </p:stCondLst>
                                        </p:cTn>
                                        <p:tgtEl>
                                          <p:spTgt spid="45"/>
                                        </p:tgtEl>
                                        <p:attrNameLst>
                                          <p:attrName>style.visibility</p:attrName>
                                        </p:attrNameLst>
                                      </p:cBhvr>
                                      <p:to>
                                        <p:strVal val="hidden"/>
                                      </p:to>
                                    </p:set>
                                  </p:childTnLst>
                                </p:cTn>
                              </p:par>
                              <p:par>
                                <p:cTn id="141" presetID="1" presetClass="exit" presetSubtype="0" fill="hold" nodeType="withEffect">
                                  <p:stCondLst>
                                    <p:cond delay="0"/>
                                  </p:stCondLst>
                                  <p:childTnLst>
                                    <p:set>
                                      <p:cBhvr>
                                        <p:cTn id="142" dur="1" fill="hold">
                                          <p:stCondLst>
                                            <p:cond delay="9"/>
                                          </p:stCondLst>
                                        </p:cTn>
                                        <p:tgtEl>
                                          <p:spTgt spid="46"/>
                                        </p:tgtEl>
                                        <p:attrNameLst>
                                          <p:attrName>style.visibility</p:attrName>
                                        </p:attrNameLst>
                                      </p:cBhvr>
                                      <p:to>
                                        <p:strVal val="hidden"/>
                                      </p:to>
                                    </p:set>
                                  </p:childTnLst>
                                </p:cTn>
                              </p:par>
                              <p:par>
                                <p:cTn id="143" presetID="1" presetClass="exit" presetSubtype="0" fill="hold" nodeType="withEffect">
                                  <p:stCondLst>
                                    <p:cond delay="0"/>
                                  </p:stCondLst>
                                  <p:childTnLst>
                                    <p:set>
                                      <p:cBhvr>
                                        <p:cTn id="144" dur="1" fill="hold">
                                          <p:stCondLst>
                                            <p:cond delay="9"/>
                                          </p:stCondLst>
                                        </p:cTn>
                                        <p:tgtEl>
                                          <p:spTgt spid="47"/>
                                        </p:tgtEl>
                                        <p:attrNameLst>
                                          <p:attrName>style.visibility</p:attrName>
                                        </p:attrNameLst>
                                      </p:cBhvr>
                                      <p:to>
                                        <p:strVal val="hidden"/>
                                      </p:to>
                                    </p:set>
                                  </p:childTnLst>
                                </p:cTn>
                              </p:par>
                              <p:par>
                                <p:cTn id="145" presetID="1" presetClass="entr" presetSubtype="0" fill="hold" grpId="0" nodeType="withEffect">
                                  <p:stCondLst>
                                    <p:cond delay="0"/>
                                  </p:stCondLst>
                                  <p:childTnLst>
                                    <p:set>
                                      <p:cBhvr>
                                        <p:cTn id="146" dur="1" fill="hold">
                                          <p:stCondLst>
                                            <p:cond delay="9"/>
                                          </p:stCondLst>
                                        </p:cTn>
                                        <p:tgtEl>
                                          <p:spTgt spid="48"/>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9"/>
                                          </p:stCondLst>
                                        </p:cTn>
                                        <p:tgtEl>
                                          <p:spTgt spid="49"/>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9"/>
                                          </p:stCondLst>
                                        </p:cTn>
                                        <p:tgtEl>
                                          <p:spTgt spid="50"/>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9"/>
                                          </p:stCondLst>
                                        </p:cTn>
                                        <p:tgtEl>
                                          <p:spTgt spid="51"/>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9"/>
                                          </p:stCondLst>
                                        </p:cTn>
                                        <p:tgtEl>
                                          <p:spTgt spid="52"/>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9"/>
                                          </p:stCondLst>
                                        </p:cTn>
                                        <p:tgtEl>
                                          <p:spTgt spid="53"/>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9"/>
                                          </p:stCondLst>
                                        </p:cTn>
                                        <p:tgtEl>
                                          <p:spTgt spid="54"/>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9"/>
                                          </p:stCondLst>
                                        </p:cTn>
                                        <p:tgtEl>
                                          <p:spTgt spid="55"/>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9"/>
                                          </p:stCondLst>
                                        </p:cTn>
                                        <p:tgtEl>
                                          <p:spTgt spid="56"/>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9"/>
                                          </p:stCondLst>
                                        </p:cTn>
                                        <p:tgtEl>
                                          <p:spTgt spid="57"/>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9"/>
                                          </p:stCondLst>
                                        </p:cTn>
                                        <p:tgtEl>
                                          <p:spTgt spid="58"/>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9"/>
                                          </p:stCondLst>
                                        </p:cTn>
                                        <p:tgtEl>
                                          <p:spTgt spid="59"/>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9"/>
                                          </p:stCondLst>
                                        </p:cTn>
                                        <p:tgtEl>
                                          <p:spTgt spid="60"/>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9"/>
                                          </p:stCondLst>
                                        </p:cTn>
                                        <p:tgtEl>
                                          <p:spTgt spid="61"/>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9"/>
                                          </p:stCondLst>
                                        </p:cTn>
                                        <p:tgtEl>
                                          <p:spTgt spid="62"/>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9"/>
                                          </p:stCondLst>
                                        </p:cTn>
                                        <p:tgtEl>
                                          <p:spTgt spid="63"/>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9"/>
                                          </p:stCondLst>
                                        </p:cTn>
                                        <p:tgtEl>
                                          <p:spTgt spid="64"/>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9"/>
                                          </p:stCondLst>
                                        </p:cTn>
                                        <p:tgtEl>
                                          <p:spTgt spid="65"/>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9"/>
                                          </p:stCondLst>
                                        </p:cTn>
                                        <p:tgtEl>
                                          <p:spTgt spid="66"/>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9"/>
                                          </p:stCondLst>
                                        </p:cTn>
                                        <p:tgtEl>
                                          <p:spTgt spid="67"/>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9"/>
                                          </p:stCondLst>
                                        </p:cTn>
                                        <p:tgtEl>
                                          <p:spTgt spid="68"/>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9"/>
                                          </p:stCondLst>
                                        </p:cTn>
                                        <p:tgtEl>
                                          <p:spTgt spid="69"/>
                                        </p:tgtEl>
                                        <p:attrNameLst>
                                          <p:attrName>style.visibility</p:attrName>
                                        </p:attrNameLst>
                                      </p:cBhvr>
                                      <p:to>
                                        <p:strVal val="visible"/>
                                      </p:to>
                                    </p:set>
                                  </p:childTnLst>
                                </p:cTn>
                              </p:par>
                              <p:par>
                                <p:cTn id="189" presetID="1" presetClass="entr" presetSubtype="0" fill="hold" nodeType="withEffect">
                                  <p:stCondLst>
                                    <p:cond delay="0"/>
                                  </p:stCondLst>
                                  <p:childTnLst>
                                    <p:set>
                                      <p:cBhvr>
                                        <p:cTn id="190" dur="1" fill="hold">
                                          <p:stCondLst>
                                            <p:cond delay="9"/>
                                          </p:stCondLst>
                                        </p:cTn>
                                        <p:tgtEl>
                                          <p:spTgt spid="70"/>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9"/>
                                          </p:stCondLst>
                                        </p:cTn>
                                        <p:tgtEl>
                                          <p:spTgt spid="71"/>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9"/>
                                          </p:stCondLst>
                                        </p:cTn>
                                        <p:tgtEl>
                                          <p:spTgt spid="72"/>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xit" presetSubtype="0" fill="hold" grpId="1" nodeType="clickEffect">
                                  <p:stCondLst>
                                    <p:cond delay="0"/>
                                  </p:stCondLst>
                                  <p:childTnLst>
                                    <p:set>
                                      <p:cBhvr>
                                        <p:cTn id="198" dur="1" fill="hold">
                                          <p:stCondLst>
                                            <p:cond delay="9"/>
                                          </p:stCondLst>
                                        </p:cTn>
                                        <p:tgtEl>
                                          <p:spTgt spid="48"/>
                                        </p:tgtEl>
                                        <p:attrNameLst>
                                          <p:attrName>style.visibility</p:attrName>
                                        </p:attrNameLst>
                                      </p:cBhvr>
                                      <p:to>
                                        <p:strVal val="hidden"/>
                                      </p:to>
                                    </p:set>
                                  </p:childTnLst>
                                </p:cTn>
                              </p:par>
                              <p:par>
                                <p:cTn id="199" presetID="1" presetClass="exit" presetSubtype="0" fill="hold" grpId="1" nodeType="withEffect">
                                  <p:stCondLst>
                                    <p:cond delay="0"/>
                                  </p:stCondLst>
                                  <p:childTnLst>
                                    <p:set>
                                      <p:cBhvr>
                                        <p:cTn id="200" dur="1" fill="hold">
                                          <p:stCondLst>
                                            <p:cond delay="9"/>
                                          </p:stCondLst>
                                        </p:cTn>
                                        <p:tgtEl>
                                          <p:spTgt spid="49"/>
                                        </p:tgtEl>
                                        <p:attrNameLst>
                                          <p:attrName>style.visibility</p:attrName>
                                        </p:attrNameLst>
                                      </p:cBhvr>
                                      <p:to>
                                        <p:strVal val="hidden"/>
                                      </p:to>
                                    </p:set>
                                  </p:childTnLst>
                                </p:cTn>
                              </p:par>
                              <p:par>
                                <p:cTn id="201" presetID="1" presetClass="exit" presetSubtype="0" fill="hold" grpId="1" nodeType="withEffect">
                                  <p:stCondLst>
                                    <p:cond delay="0"/>
                                  </p:stCondLst>
                                  <p:childTnLst>
                                    <p:set>
                                      <p:cBhvr>
                                        <p:cTn id="202" dur="1" fill="hold">
                                          <p:stCondLst>
                                            <p:cond delay="9"/>
                                          </p:stCondLst>
                                        </p:cTn>
                                        <p:tgtEl>
                                          <p:spTgt spid="50"/>
                                        </p:tgtEl>
                                        <p:attrNameLst>
                                          <p:attrName>style.visibility</p:attrName>
                                        </p:attrNameLst>
                                      </p:cBhvr>
                                      <p:to>
                                        <p:strVal val="hidden"/>
                                      </p:to>
                                    </p:set>
                                  </p:childTnLst>
                                </p:cTn>
                              </p:par>
                              <p:par>
                                <p:cTn id="203" presetID="1" presetClass="exit" presetSubtype="0" fill="hold" grpId="1" nodeType="withEffect">
                                  <p:stCondLst>
                                    <p:cond delay="0"/>
                                  </p:stCondLst>
                                  <p:childTnLst>
                                    <p:set>
                                      <p:cBhvr>
                                        <p:cTn id="204" dur="1" fill="hold">
                                          <p:stCondLst>
                                            <p:cond delay="9"/>
                                          </p:stCondLst>
                                        </p:cTn>
                                        <p:tgtEl>
                                          <p:spTgt spid="51"/>
                                        </p:tgtEl>
                                        <p:attrNameLst>
                                          <p:attrName>style.visibility</p:attrName>
                                        </p:attrNameLst>
                                      </p:cBhvr>
                                      <p:to>
                                        <p:strVal val="hidden"/>
                                      </p:to>
                                    </p:set>
                                  </p:childTnLst>
                                </p:cTn>
                              </p:par>
                              <p:par>
                                <p:cTn id="205" presetID="1" presetClass="exit" presetSubtype="0" fill="hold" grpId="1" nodeType="withEffect">
                                  <p:stCondLst>
                                    <p:cond delay="0"/>
                                  </p:stCondLst>
                                  <p:childTnLst>
                                    <p:set>
                                      <p:cBhvr>
                                        <p:cTn id="206" dur="1" fill="hold">
                                          <p:stCondLst>
                                            <p:cond delay="9"/>
                                          </p:stCondLst>
                                        </p:cTn>
                                        <p:tgtEl>
                                          <p:spTgt spid="52"/>
                                        </p:tgtEl>
                                        <p:attrNameLst>
                                          <p:attrName>style.visibility</p:attrName>
                                        </p:attrNameLst>
                                      </p:cBhvr>
                                      <p:to>
                                        <p:strVal val="hidden"/>
                                      </p:to>
                                    </p:set>
                                  </p:childTnLst>
                                </p:cTn>
                              </p:par>
                              <p:par>
                                <p:cTn id="207" presetID="1" presetClass="exit" presetSubtype="0" fill="hold" nodeType="withEffect">
                                  <p:stCondLst>
                                    <p:cond delay="0"/>
                                  </p:stCondLst>
                                  <p:childTnLst>
                                    <p:set>
                                      <p:cBhvr>
                                        <p:cTn id="208" dur="1" fill="hold">
                                          <p:stCondLst>
                                            <p:cond delay="9"/>
                                          </p:stCondLst>
                                        </p:cTn>
                                        <p:tgtEl>
                                          <p:spTgt spid="53"/>
                                        </p:tgtEl>
                                        <p:attrNameLst>
                                          <p:attrName>style.visibility</p:attrName>
                                        </p:attrNameLst>
                                      </p:cBhvr>
                                      <p:to>
                                        <p:strVal val="hidden"/>
                                      </p:to>
                                    </p:set>
                                  </p:childTnLst>
                                </p:cTn>
                              </p:par>
                              <p:par>
                                <p:cTn id="209" presetID="1" presetClass="exit" presetSubtype="0" fill="hold" nodeType="withEffect">
                                  <p:stCondLst>
                                    <p:cond delay="0"/>
                                  </p:stCondLst>
                                  <p:childTnLst>
                                    <p:set>
                                      <p:cBhvr>
                                        <p:cTn id="210" dur="1" fill="hold">
                                          <p:stCondLst>
                                            <p:cond delay="9"/>
                                          </p:stCondLst>
                                        </p:cTn>
                                        <p:tgtEl>
                                          <p:spTgt spid="54"/>
                                        </p:tgtEl>
                                        <p:attrNameLst>
                                          <p:attrName>style.visibility</p:attrName>
                                        </p:attrNameLst>
                                      </p:cBhvr>
                                      <p:to>
                                        <p:strVal val="hidden"/>
                                      </p:to>
                                    </p:set>
                                  </p:childTnLst>
                                </p:cTn>
                              </p:par>
                              <p:par>
                                <p:cTn id="211" presetID="1" presetClass="exit" presetSubtype="0" fill="hold" nodeType="withEffect">
                                  <p:stCondLst>
                                    <p:cond delay="0"/>
                                  </p:stCondLst>
                                  <p:childTnLst>
                                    <p:set>
                                      <p:cBhvr>
                                        <p:cTn id="212" dur="1" fill="hold">
                                          <p:stCondLst>
                                            <p:cond delay="9"/>
                                          </p:stCondLst>
                                        </p:cTn>
                                        <p:tgtEl>
                                          <p:spTgt spid="55"/>
                                        </p:tgtEl>
                                        <p:attrNameLst>
                                          <p:attrName>style.visibility</p:attrName>
                                        </p:attrNameLst>
                                      </p:cBhvr>
                                      <p:to>
                                        <p:strVal val="hidden"/>
                                      </p:to>
                                    </p:set>
                                  </p:childTnLst>
                                </p:cTn>
                              </p:par>
                              <p:par>
                                <p:cTn id="213" presetID="1" presetClass="exit" presetSubtype="0" fill="hold" nodeType="withEffect">
                                  <p:stCondLst>
                                    <p:cond delay="0"/>
                                  </p:stCondLst>
                                  <p:childTnLst>
                                    <p:set>
                                      <p:cBhvr>
                                        <p:cTn id="214" dur="1" fill="hold">
                                          <p:stCondLst>
                                            <p:cond delay="9"/>
                                          </p:stCondLst>
                                        </p:cTn>
                                        <p:tgtEl>
                                          <p:spTgt spid="56"/>
                                        </p:tgtEl>
                                        <p:attrNameLst>
                                          <p:attrName>style.visibility</p:attrName>
                                        </p:attrNameLst>
                                      </p:cBhvr>
                                      <p:to>
                                        <p:strVal val="hidden"/>
                                      </p:to>
                                    </p:set>
                                  </p:childTnLst>
                                </p:cTn>
                              </p:par>
                              <p:par>
                                <p:cTn id="215" presetID="1" presetClass="exit" presetSubtype="0" fill="hold" nodeType="withEffect">
                                  <p:stCondLst>
                                    <p:cond delay="0"/>
                                  </p:stCondLst>
                                  <p:childTnLst>
                                    <p:set>
                                      <p:cBhvr>
                                        <p:cTn id="216" dur="1" fill="hold">
                                          <p:stCondLst>
                                            <p:cond delay="9"/>
                                          </p:stCondLst>
                                        </p:cTn>
                                        <p:tgtEl>
                                          <p:spTgt spid="57"/>
                                        </p:tgtEl>
                                        <p:attrNameLst>
                                          <p:attrName>style.visibility</p:attrName>
                                        </p:attrNameLst>
                                      </p:cBhvr>
                                      <p:to>
                                        <p:strVal val="hidden"/>
                                      </p:to>
                                    </p:set>
                                  </p:childTnLst>
                                </p:cTn>
                              </p:par>
                              <p:par>
                                <p:cTn id="217" presetID="1" presetClass="exit" presetSubtype="0" fill="hold" nodeType="withEffect">
                                  <p:stCondLst>
                                    <p:cond delay="0"/>
                                  </p:stCondLst>
                                  <p:childTnLst>
                                    <p:set>
                                      <p:cBhvr>
                                        <p:cTn id="218" dur="1" fill="hold">
                                          <p:stCondLst>
                                            <p:cond delay="9"/>
                                          </p:stCondLst>
                                        </p:cTn>
                                        <p:tgtEl>
                                          <p:spTgt spid="58"/>
                                        </p:tgtEl>
                                        <p:attrNameLst>
                                          <p:attrName>style.visibility</p:attrName>
                                        </p:attrNameLst>
                                      </p:cBhvr>
                                      <p:to>
                                        <p:strVal val="hidden"/>
                                      </p:to>
                                    </p:set>
                                  </p:childTnLst>
                                </p:cTn>
                              </p:par>
                              <p:par>
                                <p:cTn id="219" presetID="1" presetClass="exit" presetSubtype="0" fill="hold" nodeType="withEffect">
                                  <p:stCondLst>
                                    <p:cond delay="0"/>
                                  </p:stCondLst>
                                  <p:childTnLst>
                                    <p:set>
                                      <p:cBhvr>
                                        <p:cTn id="220" dur="1" fill="hold">
                                          <p:stCondLst>
                                            <p:cond delay="9"/>
                                          </p:stCondLst>
                                        </p:cTn>
                                        <p:tgtEl>
                                          <p:spTgt spid="59"/>
                                        </p:tgtEl>
                                        <p:attrNameLst>
                                          <p:attrName>style.visibility</p:attrName>
                                        </p:attrNameLst>
                                      </p:cBhvr>
                                      <p:to>
                                        <p:strVal val="hidden"/>
                                      </p:to>
                                    </p:set>
                                  </p:childTnLst>
                                </p:cTn>
                              </p:par>
                              <p:par>
                                <p:cTn id="221" presetID="1" presetClass="exit" presetSubtype="0" fill="hold" nodeType="withEffect">
                                  <p:stCondLst>
                                    <p:cond delay="0"/>
                                  </p:stCondLst>
                                  <p:childTnLst>
                                    <p:set>
                                      <p:cBhvr>
                                        <p:cTn id="222" dur="1" fill="hold">
                                          <p:stCondLst>
                                            <p:cond delay="9"/>
                                          </p:stCondLst>
                                        </p:cTn>
                                        <p:tgtEl>
                                          <p:spTgt spid="60"/>
                                        </p:tgtEl>
                                        <p:attrNameLst>
                                          <p:attrName>style.visibility</p:attrName>
                                        </p:attrNameLst>
                                      </p:cBhvr>
                                      <p:to>
                                        <p:strVal val="hidden"/>
                                      </p:to>
                                    </p:set>
                                  </p:childTnLst>
                                </p:cTn>
                              </p:par>
                              <p:par>
                                <p:cTn id="223" presetID="1" presetClass="exit" presetSubtype="0" fill="hold" nodeType="withEffect">
                                  <p:stCondLst>
                                    <p:cond delay="0"/>
                                  </p:stCondLst>
                                  <p:childTnLst>
                                    <p:set>
                                      <p:cBhvr>
                                        <p:cTn id="224" dur="1" fill="hold">
                                          <p:stCondLst>
                                            <p:cond delay="9"/>
                                          </p:stCondLst>
                                        </p:cTn>
                                        <p:tgtEl>
                                          <p:spTgt spid="61"/>
                                        </p:tgtEl>
                                        <p:attrNameLst>
                                          <p:attrName>style.visibility</p:attrName>
                                        </p:attrNameLst>
                                      </p:cBhvr>
                                      <p:to>
                                        <p:strVal val="hidden"/>
                                      </p:to>
                                    </p:set>
                                  </p:childTnLst>
                                </p:cTn>
                              </p:par>
                              <p:par>
                                <p:cTn id="225" presetID="1" presetClass="exit" presetSubtype="0" fill="hold" nodeType="withEffect">
                                  <p:stCondLst>
                                    <p:cond delay="0"/>
                                  </p:stCondLst>
                                  <p:childTnLst>
                                    <p:set>
                                      <p:cBhvr>
                                        <p:cTn id="226" dur="1" fill="hold">
                                          <p:stCondLst>
                                            <p:cond delay="9"/>
                                          </p:stCondLst>
                                        </p:cTn>
                                        <p:tgtEl>
                                          <p:spTgt spid="62"/>
                                        </p:tgtEl>
                                        <p:attrNameLst>
                                          <p:attrName>style.visibility</p:attrName>
                                        </p:attrNameLst>
                                      </p:cBhvr>
                                      <p:to>
                                        <p:strVal val="hidden"/>
                                      </p:to>
                                    </p:set>
                                  </p:childTnLst>
                                </p:cTn>
                              </p:par>
                              <p:par>
                                <p:cTn id="227" presetID="1" presetClass="exit" presetSubtype="0" fill="hold" nodeType="withEffect">
                                  <p:stCondLst>
                                    <p:cond delay="0"/>
                                  </p:stCondLst>
                                  <p:childTnLst>
                                    <p:set>
                                      <p:cBhvr>
                                        <p:cTn id="228" dur="1" fill="hold">
                                          <p:stCondLst>
                                            <p:cond delay="9"/>
                                          </p:stCondLst>
                                        </p:cTn>
                                        <p:tgtEl>
                                          <p:spTgt spid="63"/>
                                        </p:tgtEl>
                                        <p:attrNameLst>
                                          <p:attrName>style.visibility</p:attrName>
                                        </p:attrNameLst>
                                      </p:cBhvr>
                                      <p:to>
                                        <p:strVal val="hidden"/>
                                      </p:to>
                                    </p:set>
                                  </p:childTnLst>
                                </p:cTn>
                              </p:par>
                              <p:par>
                                <p:cTn id="229" presetID="1" presetClass="exit" presetSubtype="0" fill="hold" nodeType="withEffect">
                                  <p:stCondLst>
                                    <p:cond delay="0"/>
                                  </p:stCondLst>
                                  <p:childTnLst>
                                    <p:set>
                                      <p:cBhvr>
                                        <p:cTn id="230" dur="1" fill="hold">
                                          <p:stCondLst>
                                            <p:cond delay="9"/>
                                          </p:stCondLst>
                                        </p:cTn>
                                        <p:tgtEl>
                                          <p:spTgt spid="64"/>
                                        </p:tgtEl>
                                        <p:attrNameLst>
                                          <p:attrName>style.visibility</p:attrName>
                                        </p:attrNameLst>
                                      </p:cBhvr>
                                      <p:to>
                                        <p:strVal val="hidden"/>
                                      </p:to>
                                    </p:set>
                                  </p:childTnLst>
                                </p:cTn>
                              </p:par>
                              <p:par>
                                <p:cTn id="231" presetID="1" presetClass="exit" presetSubtype="0" fill="hold" nodeType="withEffect">
                                  <p:stCondLst>
                                    <p:cond delay="0"/>
                                  </p:stCondLst>
                                  <p:childTnLst>
                                    <p:set>
                                      <p:cBhvr>
                                        <p:cTn id="232" dur="1" fill="hold">
                                          <p:stCondLst>
                                            <p:cond delay="9"/>
                                          </p:stCondLst>
                                        </p:cTn>
                                        <p:tgtEl>
                                          <p:spTgt spid="65"/>
                                        </p:tgtEl>
                                        <p:attrNameLst>
                                          <p:attrName>style.visibility</p:attrName>
                                        </p:attrNameLst>
                                      </p:cBhvr>
                                      <p:to>
                                        <p:strVal val="hidden"/>
                                      </p:to>
                                    </p:set>
                                  </p:childTnLst>
                                </p:cTn>
                              </p:par>
                              <p:par>
                                <p:cTn id="233" presetID="1" presetClass="exit" presetSubtype="0" fill="hold" nodeType="withEffect">
                                  <p:stCondLst>
                                    <p:cond delay="0"/>
                                  </p:stCondLst>
                                  <p:childTnLst>
                                    <p:set>
                                      <p:cBhvr>
                                        <p:cTn id="234" dur="1" fill="hold">
                                          <p:stCondLst>
                                            <p:cond delay="9"/>
                                          </p:stCondLst>
                                        </p:cTn>
                                        <p:tgtEl>
                                          <p:spTgt spid="66"/>
                                        </p:tgtEl>
                                        <p:attrNameLst>
                                          <p:attrName>style.visibility</p:attrName>
                                        </p:attrNameLst>
                                      </p:cBhvr>
                                      <p:to>
                                        <p:strVal val="hidden"/>
                                      </p:to>
                                    </p:set>
                                  </p:childTnLst>
                                </p:cTn>
                              </p:par>
                              <p:par>
                                <p:cTn id="235" presetID="1" presetClass="exit" presetSubtype="0" fill="hold" nodeType="withEffect">
                                  <p:stCondLst>
                                    <p:cond delay="0"/>
                                  </p:stCondLst>
                                  <p:childTnLst>
                                    <p:set>
                                      <p:cBhvr>
                                        <p:cTn id="236" dur="1" fill="hold">
                                          <p:stCondLst>
                                            <p:cond delay="9"/>
                                          </p:stCondLst>
                                        </p:cTn>
                                        <p:tgtEl>
                                          <p:spTgt spid="67"/>
                                        </p:tgtEl>
                                        <p:attrNameLst>
                                          <p:attrName>style.visibility</p:attrName>
                                        </p:attrNameLst>
                                      </p:cBhvr>
                                      <p:to>
                                        <p:strVal val="hidden"/>
                                      </p:to>
                                    </p:set>
                                  </p:childTnLst>
                                </p:cTn>
                              </p:par>
                              <p:par>
                                <p:cTn id="237" presetID="1" presetClass="exit" presetSubtype="0" fill="hold" nodeType="withEffect">
                                  <p:stCondLst>
                                    <p:cond delay="0"/>
                                  </p:stCondLst>
                                  <p:childTnLst>
                                    <p:set>
                                      <p:cBhvr>
                                        <p:cTn id="238" dur="1" fill="hold">
                                          <p:stCondLst>
                                            <p:cond delay="9"/>
                                          </p:stCondLst>
                                        </p:cTn>
                                        <p:tgtEl>
                                          <p:spTgt spid="68"/>
                                        </p:tgtEl>
                                        <p:attrNameLst>
                                          <p:attrName>style.visibility</p:attrName>
                                        </p:attrNameLst>
                                      </p:cBhvr>
                                      <p:to>
                                        <p:strVal val="hidden"/>
                                      </p:to>
                                    </p:set>
                                  </p:childTnLst>
                                </p:cTn>
                              </p:par>
                              <p:par>
                                <p:cTn id="239" presetID="1" presetClass="exit" presetSubtype="0" fill="hold" nodeType="withEffect">
                                  <p:stCondLst>
                                    <p:cond delay="0"/>
                                  </p:stCondLst>
                                  <p:childTnLst>
                                    <p:set>
                                      <p:cBhvr>
                                        <p:cTn id="240" dur="1" fill="hold">
                                          <p:stCondLst>
                                            <p:cond delay="9"/>
                                          </p:stCondLst>
                                        </p:cTn>
                                        <p:tgtEl>
                                          <p:spTgt spid="69"/>
                                        </p:tgtEl>
                                        <p:attrNameLst>
                                          <p:attrName>style.visibility</p:attrName>
                                        </p:attrNameLst>
                                      </p:cBhvr>
                                      <p:to>
                                        <p:strVal val="hidden"/>
                                      </p:to>
                                    </p:set>
                                  </p:childTnLst>
                                </p:cTn>
                              </p:par>
                              <p:par>
                                <p:cTn id="241" presetID="1" presetClass="exit" presetSubtype="0" fill="hold" nodeType="withEffect">
                                  <p:stCondLst>
                                    <p:cond delay="0"/>
                                  </p:stCondLst>
                                  <p:childTnLst>
                                    <p:set>
                                      <p:cBhvr>
                                        <p:cTn id="242" dur="1" fill="hold">
                                          <p:stCondLst>
                                            <p:cond delay="9"/>
                                          </p:stCondLst>
                                        </p:cTn>
                                        <p:tgtEl>
                                          <p:spTgt spid="70"/>
                                        </p:tgtEl>
                                        <p:attrNameLst>
                                          <p:attrName>style.visibility</p:attrName>
                                        </p:attrNameLst>
                                      </p:cBhvr>
                                      <p:to>
                                        <p:strVal val="hidden"/>
                                      </p:to>
                                    </p:set>
                                  </p:childTnLst>
                                </p:cTn>
                              </p:par>
                              <p:par>
                                <p:cTn id="243" presetID="1" presetClass="exit" presetSubtype="0" fill="hold" nodeType="withEffect">
                                  <p:stCondLst>
                                    <p:cond delay="0"/>
                                  </p:stCondLst>
                                  <p:childTnLst>
                                    <p:set>
                                      <p:cBhvr>
                                        <p:cTn id="244" dur="1" fill="hold">
                                          <p:stCondLst>
                                            <p:cond delay="9"/>
                                          </p:stCondLst>
                                        </p:cTn>
                                        <p:tgtEl>
                                          <p:spTgt spid="71"/>
                                        </p:tgtEl>
                                        <p:attrNameLst>
                                          <p:attrName>style.visibility</p:attrName>
                                        </p:attrNameLst>
                                      </p:cBhvr>
                                      <p:to>
                                        <p:strVal val="hidden"/>
                                      </p:to>
                                    </p:set>
                                  </p:childTnLst>
                                </p:cTn>
                              </p:par>
                              <p:par>
                                <p:cTn id="245" presetID="1" presetClass="exit" presetSubtype="0" fill="hold" nodeType="withEffect">
                                  <p:stCondLst>
                                    <p:cond delay="0"/>
                                  </p:stCondLst>
                                  <p:childTnLst>
                                    <p:set>
                                      <p:cBhvr>
                                        <p:cTn id="246" dur="1" fill="hold">
                                          <p:stCondLst>
                                            <p:cond delay="9"/>
                                          </p:stCondLst>
                                        </p:cTn>
                                        <p:tgtEl>
                                          <p:spTgt spid="72"/>
                                        </p:tgtEl>
                                        <p:attrNameLst>
                                          <p:attrName>style.visibility</p:attrName>
                                        </p:attrNameLst>
                                      </p:cBhvr>
                                      <p:to>
                                        <p:strVal val="hidden"/>
                                      </p:to>
                                    </p:set>
                                  </p:childTnLst>
                                </p:cTn>
                              </p:par>
                              <p:par>
                                <p:cTn id="247" presetID="1" presetClass="entr" presetSubtype="0" fill="hold" grpId="0" nodeType="withEffect">
                                  <p:stCondLst>
                                    <p:cond delay="0"/>
                                  </p:stCondLst>
                                  <p:childTnLst>
                                    <p:set>
                                      <p:cBhvr>
                                        <p:cTn id="248" dur="1" fill="hold">
                                          <p:stCondLst>
                                            <p:cond delay="9"/>
                                          </p:stCondLst>
                                        </p:cTn>
                                        <p:tgtEl>
                                          <p:spTgt spid="73"/>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9"/>
                                          </p:stCondLst>
                                        </p:cTn>
                                        <p:tgtEl>
                                          <p:spTgt spid="74"/>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9"/>
                                          </p:stCondLst>
                                        </p:cTn>
                                        <p:tgtEl>
                                          <p:spTgt spid="75"/>
                                        </p:tgtEl>
                                        <p:attrNameLst>
                                          <p:attrName>style.visibility</p:attrName>
                                        </p:attrNameLst>
                                      </p:cBhvr>
                                      <p:to>
                                        <p:strVal val="visible"/>
                                      </p:to>
                                    </p:set>
                                  </p:childTnLst>
                                </p:cTn>
                              </p:par>
                              <p:par>
                                <p:cTn id="253" presetID="1" presetClass="entr" presetSubtype="0" fill="hold" grpId="0" nodeType="withEffect">
                                  <p:stCondLst>
                                    <p:cond delay="0"/>
                                  </p:stCondLst>
                                  <p:childTnLst>
                                    <p:set>
                                      <p:cBhvr>
                                        <p:cTn id="254" dur="1" fill="hold">
                                          <p:stCondLst>
                                            <p:cond delay="9"/>
                                          </p:stCondLst>
                                        </p:cTn>
                                        <p:tgtEl>
                                          <p:spTgt spid="76"/>
                                        </p:tgtEl>
                                        <p:attrNameLst>
                                          <p:attrName>style.visibility</p:attrName>
                                        </p:attrNameLst>
                                      </p:cBhvr>
                                      <p:to>
                                        <p:strVal val="visible"/>
                                      </p:to>
                                    </p:set>
                                  </p:childTnLst>
                                </p:cTn>
                              </p:par>
                              <p:par>
                                <p:cTn id="255" presetID="1" presetClass="entr" presetSubtype="0" fill="hold" grpId="0" nodeType="withEffect">
                                  <p:stCondLst>
                                    <p:cond delay="0"/>
                                  </p:stCondLst>
                                  <p:childTnLst>
                                    <p:set>
                                      <p:cBhvr>
                                        <p:cTn id="256" dur="1" fill="hold">
                                          <p:stCondLst>
                                            <p:cond delay="9"/>
                                          </p:stCondLst>
                                        </p:cTn>
                                        <p:tgtEl>
                                          <p:spTgt spid="77"/>
                                        </p:tgtEl>
                                        <p:attrNameLst>
                                          <p:attrName>style.visibility</p:attrName>
                                        </p:attrNameLst>
                                      </p:cBhvr>
                                      <p:to>
                                        <p:strVal val="visible"/>
                                      </p:to>
                                    </p:set>
                                  </p:childTnLst>
                                </p:cTn>
                              </p:par>
                              <p:par>
                                <p:cTn id="257" presetID="1" presetClass="entr" presetSubtype="0" fill="hold" nodeType="withEffect">
                                  <p:stCondLst>
                                    <p:cond delay="0"/>
                                  </p:stCondLst>
                                  <p:childTnLst>
                                    <p:set>
                                      <p:cBhvr>
                                        <p:cTn id="258" dur="1" fill="hold">
                                          <p:stCondLst>
                                            <p:cond delay="9"/>
                                          </p:stCondLst>
                                        </p:cTn>
                                        <p:tgtEl>
                                          <p:spTgt spid="78"/>
                                        </p:tgtEl>
                                        <p:attrNameLst>
                                          <p:attrName>style.visibility</p:attrName>
                                        </p:attrNameLst>
                                      </p:cBhvr>
                                      <p:to>
                                        <p:strVal val="visible"/>
                                      </p:to>
                                    </p:set>
                                  </p:childTnLst>
                                </p:cTn>
                              </p:par>
                              <p:par>
                                <p:cTn id="259" presetID="1" presetClass="entr" presetSubtype="0" fill="hold" nodeType="withEffect">
                                  <p:stCondLst>
                                    <p:cond delay="0"/>
                                  </p:stCondLst>
                                  <p:childTnLst>
                                    <p:set>
                                      <p:cBhvr>
                                        <p:cTn id="260" dur="1" fill="hold">
                                          <p:stCondLst>
                                            <p:cond delay="9"/>
                                          </p:stCondLst>
                                        </p:cTn>
                                        <p:tgtEl>
                                          <p:spTgt spid="79"/>
                                        </p:tgtEl>
                                        <p:attrNameLst>
                                          <p:attrName>style.visibility</p:attrName>
                                        </p:attrNameLst>
                                      </p:cBhvr>
                                      <p:to>
                                        <p:strVal val="visible"/>
                                      </p:to>
                                    </p:set>
                                  </p:childTnLst>
                                </p:cTn>
                              </p:par>
                              <p:par>
                                <p:cTn id="261" presetID="1" presetClass="entr" presetSubtype="0" fill="hold" nodeType="withEffect">
                                  <p:stCondLst>
                                    <p:cond delay="0"/>
                                  </p:stCondLst>
                                  <p:childTnLst>
                                    <p:set>
                                      <p:cBhvr>
                                        <p:cTn id="262" dur="1" fill="hold">
                                          <p:stCondLst>
                                            <p:cond delay="9"/>
                                          </p:stCondLst>
                                        </p:cTn>
                                        <p:tgtEl>
                                          <p:spTgt spid="80"/>
                                        </p:tgtEl>
                                        <p:attrNameLst>
                                          <p:attrName>style.visibility</p:attrName>
                                        </p:attrNameLst>
                                      </p:cBhvr>
                                      <p:to>
                                        <p:strVal val="visible"/>
                                      </p:to>
                                    </p:set>
                                  </p:childTnLst>
                                </p:cTn>
                              </p:par>
                              <p:par>
                                <p:cTn id="263" presetID="1" presetClass="entr" presetSubtype="0" fill="hold" nodeType="withEffect">
                                  <p:stCondLst>
                                    <p:cond delay="0"/>
                                  </p:stCondLst>
                                  <p:childTnLst>
                                    <p:set>
                                      <p:cBhvr>
                                        <p:cTn id="264" dur="1" fill="hold">
                                          <p:stCondLst>
                                            <p:cond delay="9"/>
                                          </p:stCondLst>
                                        </p:cTn>
                                        <p:tgtEl>
                                          <p:spTgt spid="81"/>
                                        </p:tgtEl>
                                        <p:attrNameLst>
                                          <p:attrName>style.visibility</p:attrName>
                                        </p:attrNameLst>
                                      </p:cBhvr>
                                      <p:to>
                                        <p:strVal val="visible"/>
                                      </p:to>
                                    </p:set>
                                  </p:childTnLst>
                                </p:cTn>
                              </p:par>
                              <p:par>
                                <p:cTn id="265" presetID="1" presetClass="entr" presetSubtype="0" fill="hold" nodeType="withEffect">
                                  <p:stCondLst>
                                    <p:cond delay="0"/>
                                  </p:stCondLst>
                                  <p:childTnLst>
                                    <p:set>
                                      <p:cBhvr>
                                        <p:cTn id="266" dur="1" fill="hold">
                                          <p:stCondLst>
                                            <p:cond delay="9"/>
                                          </p:stCondLst>
                                        </p:cTn>
                                        <p:tgtEl>
                                          <p:spTgt spid="82"/>
                                        </p:tgtEl>
                                        <p:attrNameLst>
                                          <p:attrName>style.visibility</p:attrName>
                                        </p:attrNameLst>
                                      </p:cBhvr>
                                      <p:to>
                                        <p:strVal val="visible"/>
                                      </p:to>
                                    </p:set>
                                  </p:childTnLst>
                                </p:cTn>
                              </p:par>
                              <p:par>
                                <p:cTn id="267" presetID="1" presetClass="entr" presetSubtype="0" fill="hold" nodeType="withEffect">
                                  <p:stCondLst>
                                    <p:cond delay="0"/>
                                  </p:stCondLst>
                                  <p:childTnLst>
                                    <p:set>
                                      <p:cBhvr>
                                        <p:cTn id="268" dur="1" fill="hold">
                                          <p:stCondLst>
                                            <p:cond delay="9"/>
                                          </p:stCondLst>
                                        </p:cTn>
                                        <p:tgtEl>
                                          <p:spTgt spid="83"/>
                                        </p:tgtEl>
                                        <p:attrNameLst>
                                          <p:attrName>style.visibility</p:attrName>
                                        </p:attrNameLst>
                                      </p:cBhvr>
                                      <p:to>
                                        <p:strVal val="visible"/>
                                      </p:to>
                                    </p:set>
                                  </p:childTnLst>
                                </p:cTn>
                              </p:par>
                              <p:par>
                                <p:cTn id="269" presetID="1" presetClass="entr" presetSubtype="0" fill="hold" nodeType="withEffect">
                                  <p:stCondLst>
                                    <p:cond delay="0"/>
                                  </p:stCondLst>
                                  <p:childTnLst>
                                    <p:set>
                                      <p:cBhvr>
                                        <p:cTn id="270" dur="1" fill="hold">
                                          <p:stCondLst>
                                            <p:cond delay="9"/>
                                          </p:stCondLst>
                                        </p:cTn>
                                        <p:tgtEl>
                                          <p:spTgt spid="84"/>
                                        </p:tgtEl>
                                        <p:attrNameLst>
                                          <p:attrName>style.visibility</p:attrName>
                                        </p:attrNameLst>
                                      </p:cBhvr>
                                      <p:to>
                                        <p:strVal val="visible"/>
                                      </p:to>
                                    </p:set>
                                  </p:childTnLst>
                                </p:cTn>
                              </p:par>
                              <p:par>
                                <p:cTn id="271" presetID="1" presetClass="entr" presetSubtype="0" fill="hold" nodeType="withEffect">
                                  <p:stCondLst>
                                    <p:cond delay="0"/>
                                  </p:stCondLst>
                                  <p:childTnLst>
                                    <p:set>
                                      <p:cBhvr>
                                        <p:cTn id="272" dur="1" fill="hold">
                                          <p:stCondLst>
                                            <p:cond delay="9"/>
                                          </p:stCondLst>
                                        </p:cTn>
                                        <p:tgtEl>
                                          <p:spTgt spid="85"/>
                                        </p:tgtEl>
                                        <p:attrNameLst>
                                          <p:attrName>style.visibility</p:attrName>
                                        </p:attrNameLst>
                                      </p:cBhvr>
                                      <p:to>
                                        <p:strVal val="visible"/>
                                      </p:to>
                                    </p:set>
                                  </p:childTnLst>
                                </p:cTn>
                              </p:par>
                              <p:par>
                                <p:cTn id="273" presetID="1" presetClass="entr" presetSubtype="0" fill="hold" nodeType="withEffect">
                                  <p:stCondLst>
                                    <p:cond delay="0"/>
                                  </p:stCondLst>
                                  <p:childTnLst>
                                    <p:set>
                                      <p:cBhvr>
                                        <p:cTn id="274" dur="1" fill="hold">
                                          <p:stCondLst>
                                            <p:cond delay="9"/>
                                          </p:stCondLst>
                                        </p:cTn>
                                        <p:tgtEl>
                                          <p:spTgt spid="86"/>
                                        </p:tgtEl>
                                        <p:attrNameLst>
                                          <p:attrName>style.visibility</p:attrName>
                                        </p:attrNameLst>
                                      </p:cBhvr>
                                      <p:to>
                                        <p:strVal val="visible"/>
                                      </p:to>
                                    </p:set>
                                  </p:childTnLst>
                                </p:cTn>
                              </p:par>
                              <p:par>
                                <p:cTn id="275" presetID="1" presetClass="entr" presetSubtype="0" fill="hold" nodeType="withEffect">
                                  <p:stCondLst>
                                    <p:cond delay="0"/>
                                  </p:stCondLst>
                                  <p:childTnLst>
                                    <p:set>
                                      <p:cBhvr>
                                        <p:cTn id="276" dur="1" fill="hold">
                                          <p:stCondLst>
                                            <p:cond delay="9"/>
                                          </p:stCondLst>
                                        </p:cTn>
                                        <p:tgtEl>
                                          <p:spTgt spid="87"/>
                                        </p:tgtEl>
                                        <p:attrNameLst>
                                          <p:attrName>style.visibility</p:attrName>
                                        </p:attrNameLst>
                                      </p:cBhvr>
                                      <p:to>
                                        <p:strVal val="visible"/>
                                      </p:to>
                                    </p:set>
                                  </p:childTnLst>
                                </p:cTn>
                              </p:par>
                              <p:par>
                                <p:cTn id="277" presetID="1" presetClass="entr" presetSubtype="0" fill="hold" nodeType="withEffect">
                                  <p:stCondLst>
                                    <p:cond delay="0"/>
                                  </p:stCondLst>
                                  <p:childTnLst>
                                    <p:set>
                                      <p:cBhvr>
                                        <p:cTn id="278" dur="1" fill="hold">
                                          <p:stCondLst>
                                            <p:cond delay="9"/>
                                          </p:stCondLst>
                                        </p:cTn>
                                        <p:tgtEl>
                                          <p:spTgt spid="88"/>
                                        </p:tgtEl>
                                        <p:attrNameLst>
                                          <p:attrName>style.visibility</p:attrName>
                                        </p:attrNameLst>
                                      </p:cBhvr>
                                      <p:to>
                                        <p:strVal val="visible"/>
                                      </p:to>
                                    </p:set>
                                  </p:childTnLst>
                                </p:cTn>
                              </p:par>
                              <p:par>
                                <p:cTn id="279" presetID="1" presetClass="entr" presetSubtype="0" fill="hold" nodeType="withEffect">
                                  <p:stCondLst>
                                    <p:cond delay="0"/>
                                  </p:stCondLst>
                                  <p:childTnLst>
                                    <p:set>
                                      <p:cBhvr>
                                        <p:cTn id="280" dur="1" fill="hold">
                                          <p:stCondLst>
                                            <p:cond delay="9"/>
                                          </p:stCondLst>
                                        </p:cTn>
                                        <p:tgtEl>
                                          <p:spTgt spid="89"/>
                                        </p:tgtEl>
                                        <p:attrNameLst>
                                          <p:attrName>style.visibility</p:attrName>
                                        </p:attrNameLst>
                                      </p:cBhvr>
                                      <p:to>
                                        <p:strVal val="visible"/>
                                      </p:to>
                                    </p:set>
                                  </p:childTnLst>
                                </p:cTn>
                              </p:par>
                              <p:par>
                                <p:cTn id="281" presetID="1" presetClass="entr" presetSubtype="0" fill="hold" nodeType="withEffect">
                                  <p:stCondLst>
                                    <p:cond delay="0"/>
                                  </p:stCondLst>
                                  <p:childTnLst>
                                    <p:set>
                                      <p:cBhvr>
                                        <p:cTn id="282" dur="1" fill="hold">
                                          <p:stCondLst>
                                            <p:cond delay="9"/>
                                          </p:stCondLst>
                                        </p:cTn>
                                        <p:tgtEl>
                                          <p:spTgt spid="90"/>
                                        </p:tgtEl>
                                        <p:attrNameLst>
                                          <p:attrName>style.visibility</p:attrName>
                                        </p:attrNameLst>
                                      </p:cBhvr>
                                      <p:to>
                                        <p:strVal val="visible"/>
                                      </p:to>
                                    </p:set>
                                  </p:childTnLst>
                                </p:cTn>
                              </p:par>
                              <p:par>
                                <p:cTn id="283" presetID="1" presetClass="entr" presetSubtype="0" fill="hold" nodeType="withEffect">
                                  <p:stCondLst>
                                    <p:cond delay="0"/>
                                  </p:stCondLst>
                                  <p:childTnLst>
                                    <p:set>
                                      <p:cBhvr>
                                        <p:cTn id="284" dur="1" fill="hold">
                                          <p:stCondLst>
                                            <p:cond delay="9"/>
                                          </p:stCondLst>
                                        </p:cTn>
                                        <p:tgtEl>
                                          <p:spTgt spid="91"/>
                                        </p:tgtEl>
                                        <p:attrNameLst>
                                          <p:attrName>style.visibility</p:attrName>
                                        </p:attrNameLst>
                                      </p:cBhvr>
                                      <p:to>
                                        <p:strVal val="visible"/>
                                      </p:to>
                                    </p:set>
                                  </p:childTnLst>
                                </p:cTn>
                              </p:par>
                              <p:par>
                                <p:cTn id="285" presetID="1" presetClass="entr" presetSubtype="0" fill="hold" nodeType="withEffect">
                                  <p:stCondLst>
                                    <p:cond delay="0"/>
                                  </p:stCondLst>
                                  <p:childTnLst>
                                    <p:set>
                                      <p:cBhvr>
                                        <p:cTn id="286" dur="1" fill="hold">
                                          <p:stCondLst>
                                            <p:cond delay="9"/>
                                          </p:stCondLst>
                                        </p:cTn>
                                        <p:tgtEl>
                                          <p:spTgt spid="92"/>
                                        </p:tgtEl>
                                        <p:attrNameLst>
                                          <p:attrName>style.visibility</p:attrName>
                                        </p:attrNameLst>
                                      </p:cBhvr>
                                      <p:to>
                                        <p:strVal val="visible"/>
                                      </p:to>
                                    </p:set>
                                  </p:childTnLst>
                                </p:cTn>
                              </p:par>
                              <p:par>
                                <p:cTn id="287" presetID="1" presetClass="entr" presetSubtype="0" fill="hold" nodeType="withEffect">
                                  <p:stCondLst>
                                    <p:cond delay="0"/>
                                  </p:stCondLst>
                                  <p:childTnLst>
                                    <p:set>
                                      <p:cBhvr>
                                        <p:cTn id="288" dur="1" fill="hold">
                                          <p:stCondLst>
                                            <p:cond delay="9"/>
                                          </p:stCondLst>
                                        </p:cTn>
                                        <p:tgtEl>
                                          <p:spTgt spid="93"/>
                                        </p:tgtEl>
                                        <p:attrNameLst>
                                          <p:attrName>style.visibility</p:attrName>
                                        </p:attrNameLst>
                                      </p:cBhvr>
                                      <p:to>
                                        <p:strVal val="visible"/>
                                      </p:to>
                                    </p:set>
                                  </p:childTnLst>
                                </p:cTn>
                              </p:par>
                              <p:par>
                                <p:cTn id="289" presetID="1" presetClass="entr" presetSubtype="0" fill="hold" nodeType="withEffect">
                                  <p:stCondLst>
                                    <p:cond delay="0"/>
                                  </p:stCondLst>
                                  <p:childTnLst>
                                    <p:set>
                                      <p:cBhvr>
                                        <p:cTn id="290" dur="1" fill="hold">
                                          <p:stCondLst>
                                            <p:cond delay="9"/>
                                          </p:stCondLst>
                                        </p:cTn>
                                        <p:tgtEl>
                                          <p:spTgt spid="94"/>
                                        </p:tgtEl>
                                        <p:attrNameLst>
                                          <p:attrName>style.visibility</p:attrName>
                                        </p:attrNameLst>
                                      </p:cBhvr>
                                      <p:to>
                                        <p:strVal val="visible"/>
                                      </p:to>
                                    </p:set>
                                  </p:childTnLst>
                                </p:cTn>
                              </p:par>
                              <p:par>
                                <p:cTn id="291" presetID="1" presetClass="entr" presetSubtype="0" fill="hold" nodeType="withEffect">
                                  <p:stCondLst>
                                    <p:cond delay="0"/>
                                  </p:stCondLst>
                                  <p:childTnLst>
                                    <p:set>
                                      <p:cBhvr>
                                        <p:cTn id="292" dur="1" fill="hold">
                                          <p:stCondLst>
                                            <p:cond delay="9"/>
                                          </p:stCondLst>
                                        </p:cTn>
                                        <p:tgtEl>
                                          <p:spTgt spid="95"/>
                                        </p:tgtEl>
                                        <p:attrNameLst>
                                          <p:attrName>style.visibility</p:attrName>
                                        </p:attrNameLst>
                                      </p:cBhvr>
                                      <p:to>
                                        <p:strVal val="visible"/>
                                      </p:to>
                                    </p:set>
                                  </p:childTnLst>
                                </p:cTn>
                              </p:par>
                              <p:par>
                                <p:cTn id="293" presetID="1" presetClass="entr" presetSubtype="0" fill="hold" nodeType="withEffect">
                                  <p:stCondLst>
                                    <p:cond delay="0"/>
                                  </p:stCondLst>
                                  <p:childTnLst>
                                    <p:set>
                                      <p:cBhvr>
                                        <p:cTn id="294" dur="1" fill="hold">
                                          <p:stCondLst>
                                            <p:cond delay="9"/>
                                          </p:stCondLst>
                                        </p:cTn>
                                        <p:tgtEl>
                                          <p:spTgt spid="96"/>
                                        </p:tgtEl>
                                        <p:attrNameLst>
                                          <p:attrName>style.visibility</p:attrName>
                                        </p:attrNameLst>
                                      </p:cBhvr>
                                      <p:to>
                                        <p:strVal val="visible"/>
                                      </p:to>
                                    </p:set>
                                  </p:childTnLst>
                                </p:cTn>
                              </p:par>
                              <p:par>
                                <p:cTn id="295" presetID="1" presetClass="entr" presetSubtype="0" fill="hold" nodeType="withEffect">
                                  <p:stCondLst>
                                    <p:cond delay="0"/>
                                  </p:stCondLst>
                                  <p:childTnLst>
                                    <p:set>
                                      <p:cBhvr>
                                        <p:cTn id="296" dur="1" fill="hold">
                                          <p:stCondLst>
                                            <p:cond delay="9"/>
                                          </p:stCondLst>
                                        </p:cTn>
                                        <p:tgtEl>
                                          <p:spTgt spid="97"/>
                                        </p:tgtEl>
                                        <p:attrNameLst>
                                          <p:attrName>style.visibility</p:attrName>
                                        </p:attrNameLst>
                                      </p:cBhvr>
                                      <p:to>
                                        <p:strVal val="visible"/>
                                      </p:to>
                                    </p:set>
                                  </p:childTnLst>
                                </p:cTn>
                              </p:par>
                              <p:par>
                                <p:cTn id="297" presetID="1" presetClass="entr" presetSubtype="0" fill="hold" nodeType="withEffect">
                                  <p:stCondLst>
                                    <p:cond delay="0"/>
                                  </p:stCondLst>
                                  <p:childTnLst>
                                    <p:set>
                                      <p:cBhvr>
                                        <p:cTn id="298" dur="1" fill="hold">
                                          <p:stCondLst>
                                            <p:cond delay="9"/>
                                          </p:stCondLst>
                                        </p:cTn>
                                        <p:tgtEl>
                                          <p:spTgt spid="98"/>
                                        </p:tgtEl>
                                        <p:attrNameLst>
                                          <p:attrName>style.visibility</p:attrName>
                                        </p:attrNameLst>
                                      </p:cBhvr>
                                      <p:to>
                                        <p:strVal val="visible"/>
                                      </p:to>
                                    </p:set>
                                  </p:childTnLst>
                                </p:cTn>
                              </p:par>
                              <p:par>
                                <p:cTn id="299" presetID="1" presetClass="entr" presetSubtype="0" fill="hold" nodeType="withEffect">
                                  <p:stCondLst>
                                    <p:cond delay="0"/>
                                  </p:stCondLst>
                                  <p:childTnLst>
                                    <p:set>
                                      <p:cBhvr>
                                        <p:cTn id="300" dur="1" fill="hold">
                                          <p:stCondLst>
                                            <p:cond delay="9"/>
                                          </p:stCondLst>
                                        </p:cTn>
                                        <p:tgtEl>
                                          <p:spTgt spid="99"/>
                                        </p:tgtEl>
                                        <p:attrNameLst>
                                          <p:attrName>style.visibility</p:attrName>
                                        </p:attrNameLst>
                                      </p:cBhvr>
                                      <p:to>
                                        <p:strVal val="visible"/>
                                      </p:to>
                                    </p:set>
                                  </p:childTnLst>
                                </p:cTn>
                              </p:par>
                              <p:par>
                                <p:cTn id="301" presetID="1" presetClass="entr" presetSubtype="0" fill="hold" nodeType="withEffect">
                                  <p:stCondLst>
                                    <p:cond delay="0"/>
                                  </p:stCondLst>
                                  <p:childTnLst>
                                    <p:set>
                                      <p:cBhvr>
                                        <p:cTn id="302" dur="1" fill="hold">
                                          <p:stCondLst>
                                            <p:cond delay="9"/>
                                          </p:stCondLst>
                                        </p:cTn>
                                        <p:tgtEl>
                                          <p:spTgt spid="100"/>
                                        </p:tgtEl>
                                        <p:attrNameLst>
                                          <p:attrName>style.visibility</p:attrName>
                                        </p:attrNameLst>
                                      </p:cBhvr>
                                      <p:to>
                                        <p:strVal val="visible"/>
                                      </p:to>
                                    </p:set>
                                  </p:childTnLst>
                                </p:cTn>
                              </p:par>
                              <p:par>
                                <p:cTn id="303" presetID="1" presetClass="entr" presetSubtype="0" fill="hold" nodeType="withEffect">
                                  <p:stCondLst>
                                    <p:cond delay="0"/>
                                  </p:stCondLst>
                                  <p:childTnLst>
                                    <p:set>
                                      <p:cBhvr>
                                        <p:cTn id="304" dur="1" fill="hold">
                                          <p:stCondLst>
                                            <p:cond delay="9"/>
                                          </p:stCondLst>
                                        </p:cTn>
                                        <p:tgtEl>
                                          <p:spTgt spid="101"/>
                                        </p:tgtEl>
                                        <p:attrNameLst>
                                          <p:attrName>style.visibility</p:attrName>
                                        </p:attrNameLst>
                                      </p:cBhvr>
                                      <p:to>
                                        <p:strVal val="visible"/>
                                      </p:to>
                                    </p:set>
                                  </p:childTnLst>
                                </p:cTn>
                              </p:par>
                              <p:par>
                                <p:cTn id="305" presetID="1" presetClass="entr" presetSubtype="0" fill="hold" nodeType="withEffect">
                                  <p:stCondLst>
                                    <p:cond delay="0"/>
                                  </p:stCondLst>
                                  <p:childTnLst>
                                    <p:set>
                                      <p:cBhvr>
                                        <p:cTn id="306" dur="1" fill="hold">
                                          <p:stCondLst>
                                            <p:cond delay="9"/>
                                          </p:stCondLst>
                                        </p:cTn>
                                        <p:tgtEl>
                                          <p:spTgt spid="102"/>
                                        </p:tgtEl>
                                        <p:attrNameLst>
                                          <p:attrName>style.visibility</p:attrName>
                                        </p:attrNameLst>
                                      </p:cBhvr>
                                      <p:to>
                                        <p:strVal val="visible"/>
                                      </p:to>
                                    </p:set>
                                  </p:childTnLst>
                                </p:cTn>
                              </p:par>
                              <p:par>
                                <p:cTn id="307" presetID="1" presetClass="entr" presetSubtype="0" fill="hold" nodeType="withEffect">
                                  <p:stCondLst>
                                    <p:cond delay="0"/>
                                  </p:stCondLst>
                                  <p:childTnLst>
                                    <p:set>
                                      <p:cBhvr>
                                        <p:cTn id="308" dur="1" fill="hold">
                                          <p:stCondLst>
                                            <p:cond delay="9"/>
                                          </p:stCondLst>
                                        </p:cTn>
                                        <p:tgtEl>
                                          <p:spTgt spid="103"/>
                                        </p:tgtEl>
                                        <p:attrNameLst>
                                          <p:attrName>style.visibility</p:attrName>
                                        </p:attrNameLst>
                                      </p:cBhvr>
                                      <p:to>
                                        <p:strVal val="visible"/>
                                      </p:to>
                                    </p:set>
                                  </p:childTnLst>
                                </p:cTn>
                              </p:par>
                              <p:par>
                                <p:cTn id="309" presetID="1" presetClass="entr" presetSubtype="0" fill="hold" nodeType="withEffect">
                                  <p:stCondLst>
                                    <p:cond delay="0"/>
                                  </p:stCondLst>
                                  <p:childTnLst>
                                    <p:set>
                                      <p:cBhvr>
                                        <p:cTn id="310" dur="1" fill="hold">
                                          <p:stCondLst>
                                            <p:cond delay="9"/>
                                          </p:stCondLst>
                                        </p:cTn>
                                        <p:tgtEl>
                                          <p:spTgt spid="104"/>
                                        </p:tgtEl>
                                        <p:attrNameLst>
                                          <p:attrName>style.visibility</p:attrName>
                                        </p:attrNameLst>
                                      </p:cBhvr>
                                      <p:to>
                                        <p:strVal val="visible"/>
                                      </p:to>
                                    </p:set>
                                  </p:childTnLst>
                                </p:cTn>
                              </p:par>
                              <p:par>
                                <p:cTn id="311" presetID="1" presetClass="entr" presetSubtype="0" fill="hold" nodeType="withEffect">
                                  <p:stCondLst>
                                    <p:cond delay="0"/>
                                  </p:stCondLst>
                                  <p:childTnLst>
                                    <p:set>
                                      <p:cBhvr>
                                        <p:cTn id="312" dur="1" fill="hold">
                                          <p:stCondLst>
                                            <p:cond delay="9"/>
                                          </p:stCondLst>
                                        </p:cTn>
                                        <p:tgtEl>
                                          <p:spTgt spid="105"/>
                                        </p:tgtEl>
                                        <p:attrNameLst>
                                          <p:attrName>style.visibility</p:attrName>
                                        </p:attrNameLst>
                                      </p:cBhvr>
                                      <p:to>
                                        <p:strVal val="visible"/>
                                      </p:to>
                                    </p:set>
                                  </p:childTnLst>
                                </p:cTn>
                              </p:par>
                              <p:par>
                                <p:cTn id="313" presetID="1" presetClass="entr" presetSubtype="0" fill="hold" nodeType="withEffect">
                                  <p:stCondLst>
                                    <p:cond delay="0"/>
                                  </p:stCondLst>
                                  <p:childTnLst>
                                    <p:set>
                                      <p:cBhvr>
                                        <p:cTn id="314" dur="1" fill="hold">
                                          <p:stCondLst>
                                            <p:cond delay="9"/>
                                          </p:stCondLst>
                                        </p:cTn>
                                        <p:tgtEl>
                                          <p:spTgt spid="106"/>
                                        </p:tgtEl>
                                        <p:attrNameLst>
                                          <p:attrName>style.visibility</p:attrName>
                                        </p:attrNameLst>
                                      </p:cBhvr>
                                      <p:to>
                                        <p:strVal val="visible"/>
                                      </p:to>
                                    </p:set>
                                  </p:childTnLst>
                                </p:cTn>
                              </p:par>
                              <p:par>
                                <p:cTn id="315" presetID="1" presetClass="entr" presetSubtype="0" fill="hold" nodeType="withEffect">
                                  <p:stCondLst>
                                    <p:cond delay="0"/>
                                  </p:stCondLst>
                                  <p:childTnLst>
                                    <p:set>
                                      <p:cBhvr>
                                        <p:cTn id="316" dur="1" fill="hold">
                                          <p:stCondLst>
                                            <p:cond delay="9"/>
                                          </p:stCondLst>
                                        </p:cTn>
                                        <p:tgtEl>
                                          <p:spTgt spid="107"/>
                                        </p:tgtEl>
                                        <p:attrNameLst>
                                          <p:attrName>style.visibility</p:attrName>
                                        </p:attrNameLst>
                                      </p:cBhvr>
                                      <p:to>
                                        <p:strVal val="visible"/>
                                      </p:to>
                                    </p:set>
                                  </p:childTnLst>
                                </p:cTn>
                              </p:par>
                              <p:par>
                                <p:cTn id="317" presetID="1" presetClass="entr" presetSubtype="0" fill="hold" nodeType="withEffect">
                                  <p:stCondLst>
                                    <p:cond delay="0"/>
                                  </p:stCondLst>
                                  <p:childTnLst>
                                    <p:set>
                                      <p:cBhvr>
                                        <p:cTn id="318" dur="1" fill="hold">
                                          <p:stCondLst>
                                            <p:cond delay="9"/>
                                          </p:stCondLst>
                                        </p:cTn>
                                        <p:tgtEl>
                                          <p:spTgt spid="108"/>
                                        </p:tgtEl>
                                        <p:attrNameLst>
                                          <p:attrName>style.visibility</p:attrName>
                                        </p:attrNameLst>
                                      </p:cBhvr>
                                      <p:to>
                                        <p:strVal val="visible"/>
                                      </p:to>
                                    </p:set>
                                  </p:childTnLst>
                                </p:cTn>
                              </p:par>
                              <p:par>
                                <p:cTn id="319" presetID="1" presetClass="entr" presetSubtype="0" fill="hold" nodeType="withEffect">
                                  <p:stCondLst>
                                    <p:cond delay="0"/>
                                  </p:stCondLst>
                                  <p:childTnLst>
                                    <p:set>
                                      <p:cBhvr>
                                        <p:cTn id="320" dur="1" fill="hold">
                                          <p:stCondLst>
                                            <p:cond delay="9"/>
                                          </p:stCondLst>
                                        </p:cTn>
                                        <p:tgtEl>
                                          <p:spTgt spid="109"/>
                                        </p:tgtEl>
                                        <p:attrNameLst>
                                          <p:attrName>style.visibility</p:attrName>
                                        </p:attrNameLst>
                                      </p:cBhvr>
                                      <p:to>
                                        <p:strVal val="visible"/>
                                      </p:to>
                                    </p:set>
                                  </p:childTnLst>
                                </p:cTn>
                              </p:par>
                              <p:par>
                                <p:cTn id="321" presetID="1" presetClass="entr" presetSubtype="0" fill="hold" nodeType="withEffect">
                                  <p:stCondLst>
                                    <p:cond delay="0"/>
                                  </p:stCondLst>
                                  <p:childTnLst>
                                    <p:set>
                                      <p:cBhvr>
                                        <p:cTn id="322" dur="1" fill="hold">
                                          <p:stCondLst>
                                            <p:cond delay="9"/>
                                          </p:stCondLst>
                                        </p:cTn>
                                        <p:tgtEl>
                                          <p:spTgt spid="110"/>
                                        </p:tgtEl>
                                        <p:attrNameLst>
                                          <p:attrName>style.visibility</p:attrName>
                                        </p:attrNameLst>
                                      </p:cBhvr>
                                      <p:to>
                                        <p:strVal val="visible"/>
                                      </p:to>
                                    </p:set>
                                  </p:childTnLst>
                                </p:cTn>
                              </p:par>
                              <p:par>
                                <p:cTn id="323" presetID="1" presetClass="entr" presetSubtype="0" fill="hold" nodeType="withEffect">
                                  <p:stCondLst>
                                    <p:cond delay="0"/>
                                  </p:stCondLst>
                                  <p:childTnLst>
                                    <p:set>
                                      <p:cBhvr>
                                        <p:cTn id="324" dur="1" fill="hold">
                                          <p:stCondLst>
                                            <p:cond delay="9"/>
                                          </p:stCondLst>
                                        </p:cTn>
                                        <p:tgtEl>
                                          <p:spTgt spid="111"/>
                                        </p:tgtEl>
                                        <p:attrNameLst>
                                          <p:attrName>style.visibility</p:attrName>
                                        </p:attrNameLst>
                                      </p:cBhvr>
                                      <p:to>
                                        <p:strVal val="visible"/>
                                      </p:to>
                                    </p:set>
                                  </p:childTnLst>
                                </p:cTn>
                              </p:par>
                              <p:par>
                                <p:cTn id="325" presetID="1" presetClass="entr" presetSubtype="0" fill="hold" nodeType="withEffect">
                                  <p:stCondLst>
                                    <p:cond delay="0"/>
                                  </p:stCondLst>
                                  <p:childTnLst>
                                    <p:set>
                                      <p:cBhvr>
                                        <p:cTn id="326" dur="1" fill="hold">
                                          <p:stCondLst>
                                            <p:cond delay="9"/>
                                          </p:stCondLst>
                                        </p:cTn>
                                        <p:tgtEl>
                                          <p:spTgt spid="112"/>
                                        </p:tgtEl>
                                        <p:attrNameLst>
                                          <p:attrName>style.visibility</p:attrName>
                                        </p:attrNameLst>
                                      </p:cBhvr>
                                      <p:to>
                                        <p:strVal val="visible"/>
                                      </p:to>
                                    </p:set>
                                  </p:childTnLst>
                                </p:cTn>
                              </p:par>
                              <p:par>
                                <p:cTn id="327" presetID="1" presetClass="entr" presetSubtype="0" fill="hold" nodeType="withEffect">
                                  <p:stCondLst>
                                    <p:cond delay="0"/>
                                  </p:stCondLst>
                                  <p:childTnLst>
                                    <p:set>
                                      <p:cBhvr>
                                        <p:cTn id="328" dur="1" fill="hold">
                                          <p:stCondLst>
                                            <p:cond delay="9"/>
                                          </p:stCondLst>
                                        </p:cTn>
                                        <p:tgtEl>
                                          <p:spTgt spid="113"/>
                                        </p:tgtEl>
                                        <p:attrNameLst>
                                          <p:attrName>style.visibility</p:attrName>
                                        </p:attrNameLst>
                                      </p:cBhvr>
                                      <p:to>
                                        <p:strVal val="visible"/>
                                      </p:to>
                                    </p:set>
                                  </p:childTnLst>
                                </p:cTn>
                              </p:par>
                              <p:par>
                                <p:cTn id="329" presetID="1" presetClass="entr" presetSubtype="0" fill="hold" nodeType="withEffect">
                                  <p:stCondLst>
                                    <p:cond delay="0"/>
                                  </p:stCondLst>
                                  <p:childTnLst>
                                    <p:set>
                                      <p:cBhvr>
                                        <p:cTn id="330" dur="1" fill="hold">
                                          <p:stCondLst>
                                            <p:cond delay="9"/>
                                          </p:stCondLst>
                                        </p:cTn>
                                        <p:tgtEl>
                                          <p:spTgt spid="114"/>
                                        </p:tgtEl>
                                        <p:attrNameLst>
                                          <p:attrName>style.visibility</p:attrName>
                                        </p:attrNameLst>
                                      </p:cBhvr>
                                      <p:to>
                                        <p:strVal val="visible"/>
                                      </p:to>
                                    </p:set>
                                  </p:childTnLst>
                                </p:cTn>
                              </p:par>
                              <p:par>
                                <p:cTn id="331" presetID="1" presetClass="entr" presetSubtype="0" fill="hold" nodeType="withEffect">
                                  <p:stCondLst>
                                    <p:cond delay="0"/>
                                  </p:stCondLst>
                                  <p:childTnLst>
                                    <p:set>
                                      <p:cBhvr>
                                        <p:cTn id="332" dur="1" fill="hold">
                                          <p:stCondLst>
                                            <p:cond delay="9"/>
                                          </p:stCondLst>
                                        </p:cTn>
                                        <p:tgtEl>
                                          <p:spTgt spid="115"/>
                                        </p:tgtEl>
                                        <p:attrNameLst>
                                          <p:attrName>style.visibility</p:attrName>
                                        </p:attrNameLst>
                                      </p:cBhvr>
                                      <p:to>
                                        <p:strVal val="visible"/>
                                      </p:to>
                                    </p:set>
                                  </p:childTnLst>
                                </p:cTn>
                              </p:par>
                              <p:par>
                                <p:cTn id="333" presetID="1" presetClass="entr" presetSubtype="0" fill="hold" nodeType="withEffect">
                                  <p:stCondLst>
                                    <p:cond delay="0"/>
                                  </p:stCondLst>
                                  <p:childTnLst>
                                    <p:set>
                                      <p:cBhvr>
                                        <p:cTn id="334" dur="1" fill="hold">
                                          <p:stCondLst>
                                            <p:cond delay="9"/>
                                          </p:stCondLst>
                                        </p:cTn>
                                        <p:tgtEl>
                                          <p:spTgt spid="116"/>
                                        </p:tgtEl>
                                        <p:attrNameLst>
                                          <p:attrName>style.visibility</p:attrName>
                                        </p:attrNameLst>
                                      </p:cBhvr>
                                      <p:to>
                                        <p:strVal val="visible"/>
                                      </p:to>
                                    </p:set>
                                  </p:childTnLst>
                                </p:cTn>
                              </p:par>
                              <p:par>
                                <p:cTn id="335" presetID="1" presetClass="entr" presetSubtype="0" fill="hold" nodeType="withEffect">
                                  <p:stCondLst>
                                    <p:cond delay="0"/>
                                  </p:stCondLst>
                                  <p:childTnLst>
                                    <p:set>
                                      <p:cBhvr>
                                        <p:cTn id="336" dur="1" fill="hold">
                                          <p:stCondLst>
                                            <p:cond delay="9"/>
                                          </p:stCondLst>
                                        </p:cTn>
                                        <p:tgtEl>
                                          <p:spTgt spid="1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P spid="13" grpId="0" animBg="1"/>
      <p:bldP spid="14" grpId="0" animBg="1"/>
      <p:bldP spid="15" grpId="0" animBg="1"/>
      <p:bldP spid="16" grpId="0" animBg="1"/>
      <p:bldGraphic spid="17" grpId="0">
        <p:bldAsOne/>
      </p:bldGraphic>
      <p:bldGraphic spid="17" grpId="1">
        <p:bldAsOne/>
      </p:bldGraphic>
      <p:bldP spid="18" grpId="0" animBg="1"/>
      <p:bldP spid="18" grpId="1" animBg="1"/>
      <p:bldP spid="19" grpId="0" animBg="1"/>
      <p:bldP spid="19" grpId="1" animBg="1"/>
      <p:bldP spid="20" grpId="0" animBg="1"/>
      <p:bldP spid="20" grpId="1" animBg="1"/>
      <p:bldP spid="21" grpId="0" animBg="1"/>
      <p:bldP spid="21" grpId="1" animBg="1"/>
      <p:bldGraphic spid="24" grpId="0">
        <p:bldAsOne/>
      </p:bldGraphic>
      <p:bldGraphic spid="24" grpId="1">
        <p:bldAsOne/>
      </p:bldGraphic>
      <p:bldP spid="25" grpId="0" animBg="1"/>
      <p:bldP spid="25" grpId="1" animBg="1"/>
      <p:bldP spid="26" grpId="0" animBg="1"/>
      <p:bldP spid="26" grpId="1" animBg="1"/>
      <p:bldP spid="27" grpId="0" animBg="1"/>
      <p:bldP spid="27" grpId="1" animBg="1"/>
      <p:bldP spid="28" grpId="0" animBg="1"/>
      <p:bldP spid="28" grpId="1" animBg="1"/>
      <p:bldGraphic spid="33" grpId="0">
        <p:bldAsOne/>
      </p:bldGraphic>
      <p:bldGraphic spid="33" grpId="1">
        <p:bldAsOne/>
      </p:bldGraphic>
      <p:bldP spid="34" grpId="0" animBg="1"/>
      <p:bldP spid="34" grpId="1" animBg="1"/>
      <p:bldP spid="35" grpId="0" animBg="1"/>
      <p:bldP spid="35" grpId="1" animBg="1"/>
      <p:bldP spid="36" grpId="0" animBg="1"/>
      <p:bldP spid="36" grpId="1" animBg="1"/>
      <p:bldP spid="37" grpId="0" animBg="1"/>
      <p:bldP spid="37" grpId="1" animBg="1"/>
      <p:bldGraphic spid="48" grpId="0">
        <p:bldAsOne/>
      </p:bldGraphic>
      <p:bldGraphic spid="48" grpId="1">
        <p:bldAsOne/>
      </p:bldGraphic>
      <p:bldP spid="49" grpId="0" animBg="1"/>
      <p:bldP spid="49" grpId="1" animBg="1"/>
      <p:bldP spid="50" grpId="0" animBg="1"/>
      <p:bldP spid="50" grpId="1" animBg="1"/>
      <p:bldP spid="51" grpId="0" animBg="1"/>
      <p:bldP spid="51" grpId="1" animBg="1"/>
      <p:bldP spid="52" grpId="0" animBg="1"/>
      <p:bldP spid="52" grpId="1" animBg="1"/>
      <p:bldGraphic spid="73" grpId="0">
        <p:bldAsOne/>
      </p:bldGraphic>
      <p:bldP spid="74" grpId="0" animBg="1"/>
      <p:bldP spid="75" grpId="0" animBg="1"/>
      <p:bldP spid="76" grpId="0" animBg="1"/>
      <p:bldP spid="7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7015F027-3D39-4975-90F3-4AAE6DB6C824}"/>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Finding useful solutions in practice</a:t>
            </a:r>
          </a:p>
        </p:txBody>
      </p:sp>
      <p:sp>
        <p:nvSpPr>
          <p:cNvPr id="2" name="lead">
            <a:extLst>
              <a:ext uri="{FF2B5EF4-FFF2-40B4-BE49-F238E27FC236}">
                <a16:creationId xmlns:a16="http://schemas.microsoft.com/office/drawing/2014/main" id="{B7DE42E4-5177-4D4F-AE38-15395D744B7B}"/>
              </a:ext>
            </a:extLst>
          </p:cNvPr>
          <p:cNvSpPr>
            <a:spLocks noGrp="1"/>
          </p:cNvSpPr>
          <p:nvPr/>
        </p:nvSpPr>
        <p:spPr>
          <a:xfrm>
            <a:off x="523871" y="903380"/>
            <a:ext cx="11144250" cy="78105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These practical </a:t>
            </a:r>
            <a:r>
              <a:rPr sz="2175" b="0" dirty="0">
                <a:solidFill>
                  <a:srgbClr val="FF0000"/>
                </a:solidFill>
                <a:latin typeface="DejaVu Sans"/>
                <a:ea typeface="DejaVu Sans"/>
                <a:cs typeface="DejaVu Sans"/>
              </a:rPr>
              <a:t>heuristics</a:t>
            </a:r>
            <a:r>
              <a:rPr sz="2175" b="0" dirty="0">
                <a:solidFill>
                  <a:srgbClr val="526276"/>
                </a:solidFill>
                <a:latin typeface="DejaVu Sans"/>
                <a:ea typeface="DejaVu Sans"/>
                <a:cs typeface="DejaVu Sans"/>
              </a:rPr>
              <a:t> can help,</a:t>
            </a:r>
            <a:endParaRPr lang="it-IT" sz="2175" b="0" dirty="0">
              <a:solidFill>
                <a:srgbClr val="526276"/>
              </a:solidFill>
              <a:latin typeface="DejaVu Sans"/>
              <a:ea typeface="DejaVu Sans"/>
              <a:cs typeface="DejaVu Sans"/>
            </a:endParaRPr>
          </a:p>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without guaranteeing </a:t>
            </a:r>
            <a:r>
              <a:rPr lang="it-IT" sz="2175" b="0" dirty="0" err="1">
                <a:solidFill>
                  <a:srgbClr val="526276"/>
                </a:solidFill>
                <a:latin typeface="DejaVu Sans"/>
                <a:ea typeface="DejaVu Sans"/>
                <a:cs typeface="DejaVu Sans"/>
              </a:rPr>
              <a:t>convergence</a:t>
            </a:r>
            <a:r>
              <a:rPr lang="it-IT" sz="2175" b="0" dirty="0">
                <a:solidFill>
                  <a:srgbClr val="526276"/>
                </a:solidFill>
                <a:latin typeface="DejaVu Sans"/>
                <a:ea typeface="DejaVu Sans"/>
                <a:cs typeface="DejaVu Sans"/>
              </a:rPr>
              <a:t> to a</a:t>
            </a:r>
            <a:r>
              <a:rPr sz="2175" b="0" dirty="0">
                <a:solidFill>
                  <a:srgbClr val="526276"/>
                </a:solidFill>
                <a:latin typeface="DejaVu Sans"/>
                <a:ea typeface="DejaVu Sans"/>
                <a:cs typeface="DejaVu Sans"/>
              </a:rPr>
              <a:t> global minimum.</a:t>
            </a:r>
          </a:p>
        </p:txBody>
      </p:sp>
      <p:sp>
        <p:nvSpPr>
          <p:cNvPr id="3" name="footer_course">
            <a:extLst>
              <a:ext uri="{FF2B5EF4-FFF2-40B4-BE49-F238E27FC236}">
                <a16:creationId xmlns:a16="http://schemas.microsoft.com/office/drawing/2014/main" id="{D7BF2048-5671-4051-989A-023604FFD680}"/>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ED139E99-32BD-4AE8-8B34-D04EA99BB440}"/>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dirty="0">
                <a:solidFill>
                  <a:srgbClr val="526276"/>
                </a:solidFill>
                <a:latin typeface="DejaVu Sans"/>
                <a:ea typeface="DejaVu Sans"/>
                <a:cs typeface="DejaVu Sans"/>
              </a:rPr>
              <a:t>4</a:t>
            </a:r>
            <a:r>
              <a:rPr lang="it-IT" sz="1050" b="0" dirty="0">
                <a:solidFill>
                  <a:srgbClr val="526276"/>
                </a:solidFill>
                <a:latin typeface="DejaVu Sans"/>
                <a:ea typeface="DejaVu Sans"/>
                <a:cs typeface="DejaVu Sans"/>
              </a:rPr>
              <a:t>2</a:t>
            </a:r>
            <a:endParaRPr sz="1050" b="0" dirty="0">
              <a:solidFill>
                <a:srgbClr val="526276"/>
              </a:solidFill>
              <a:latin typeface="DejaVu Sans"/>
              <a:ea typeface="DejaVu Sans"/>
              <a:cs typeface="DejaVu Sans"/>
            </a:endParaRPr>
          </a:p>
        </p:txBody>
      </p:sp>
      <p:sp>
        <p:nvSpPr>
          <p:cNvPr id="5" name="text_1">
            <a:extLst>
              <a:ext uri="{FF2B5EF4-FFF2-40B4-BE49-F238E27FC236}">
                <a16:creationId xmlns:a16="http://schemas.microsoft.com/office/drawing/2014/main" id="{82BCC0A2-1699-4A7D-A2AB-6CA570704F38}"/>
              </a:ext>
            </a:extLst>
          </p:cNvPr>
          <p:cNvSpPr>
            <a:spLocks noGrp="1"/>
          </p:cNvSpPr>
          <p:nvPr/>
        </p:nvSpPr>
        <p:spPr>
          <a:xfrm>
            <a:off x="3381371" y="1714106"/>
            <a:ext cx="5238750" cy="457200"/>
          </a:xfrm>
          <a:prstGeom prst="rect">
            <a:avLst/>
          </a:prstGeom>
          <a:noFill/>
          <a:ln w="0">
            <a:noFill/>
          </a:ln>
        </p:spPr>
        <p:txBody>
          <a:bodyPr anchor="ctr">
            <a:noAutofit/>
          </a:bodyPr>
          <a:lstStyle/>
          <a:p>
            <a:pPr algn="ctr">
              <a:defRPr sz="2175" b="1">
                <a:solidFill>
                  <a:srgbClr val="087F83"/>
                </a:solidFill>
                <a:latin typeface="DejaVu Sans"/>
                <a:ea typeface="DejaVu Sans"/>
                <a:cs typeface="DejaVu Sans"/>
              </a:defRPr>
            </a:pPr>
            <a:r>
              <a:rPr sz="2175" b="1" dirty="0">
                <a:solidFill>
                  <a:srgbClr val="087F83"/>
                </a:solidFill>
                <a:latin typeface="DejaVu Sans"/>
                <a:ea typeface="DejaVu Sans"/>
                <a:cs typeface="DejaVu Sans"/>
              </a:rPr>
              <a:t>Try different </a:t>
            </a:r>
            <a:r>
              <a:rPr sz="2175" b="1" dirty="0" err="1">
                <a:solidFill>
                  <a:srgbClr val="087F83"/>
                </a:solidFill>
                <a:latin typeface="DejaVu Sans"/>
                <a:ea typeface="DejaVu Sans"/>
                <a:cs typeface="DejaVu Sans"/>
              </a:rPr>
              <a:t>initialisations</a:t>
            </a:r>
            <a:endParaRPr sz="2175" b="1" dirty="0">
              <a:solidFill>
                <a:srgbClr val="087F83"/>
              </a:solidFill>
              <a:latin typeface="DejaVu Sans"/>
              <a:ea typeface="DejaVu Sans"/>
              <a:cs typeface="DejaVu Sans"/>
            </a:endParaRPr>
          </a:p>
        </p:txBody>
      </p:sp>
      <p:sp>
        <p:nvSpPr>
          <p:cNvPr id="6" name="text_2">
            <a:extLst>
              <a:ext uri="{FF2B5EF4-FFF2-40B4-BE49-F238E27FC236}">
                <a16:creationId xmlns:a16="http://schemas.microsoft.com/office/drawing/2014/main" id="{7BA0ACF9-270D-42C1-B41C-44866B2B2BD3}"/>
              </a:ext>
            </a:extLst>
          </p:cNvPr>
          <p:cNvSpPr>
            <a:spLocks noGrp="1"/>
          </p:cNvSpPr>
          <p:nvPr/>
        </p:nvSpPr>
        <p:spPr>
          <a:xfrm>
            <a:off x="452434" y="2065758"/>
            <a:ext cx="11096625" cy="742950"/>
          </a:xfrm>
          <a:prstGeom prst="rect">
            <a:avLst/>
          </a:prstGeom>
          <a:noFill/>
          <a:ln w="0">
            <a:noFill/>
          </a:ln>
        </p:spPr>
        <p:txBody>
          <a:bodyPr anchor="ctr">
            <a:noAutofit/>
          </a:bodyPr>
          <a:lstStyle/>
          <a:p>
            <a:pPr algn="ctr">
              <a:defRPr sz="2025" b="0">
                <a:solidFill>
                  <a:srgbClr val="182D45"/>
                </a:solidFill>
                <a:latin typeface="DejaVu Sans"/>
                <a:ea typeface="DejaVu Sans"/>
                <a:cs typeface="DejaVu Sans"/>
              </a:defRPr>
            </a:pPr>
            <a:r>
              <a:rPr sz="2025" b="0" dirty="0">
                <a:solidFill>
                  <a:srgbClr val="FF0000"/>
                </a:solidFill>
                <a:latin typeface="DejaVu Sans"/>
                <a:ea typeface="DejaVu Sans"/>
                <a:cs typeface="DejaVu Sans"/>
              </a:rPr>
              <a:t>Different starting points</a:t>
            </a:r>
            <a:r>
              <a:rPr sz="2025" b="0" dirty="0">
                <a:solidFill>
                  <a:srgbClr val="182D45"/>
                </a:solidFill>
                <a:latin typeface="DejaVu Sans"/>
                <a:ea typeface="DejaVu Sans"/>
                <a:cs typeface="DejaVu Sans"/>
              </a:rPr>
              <a:t> can lead to different final fits.</a:t>
            </a:r>
          </a:p>
          <a:p>
            <a:pPr algn="ctr">
              <a:defRPr sz="2025" b="0">
                <a:solidFill>
                  <a:srgbClr val="182D45"/>
                </a:solidFill>
                <a:latin typeface="DejaVu Sans"/>
                <a:ea typeface="DejaVu Sans"/>
                <a:cs typeface="DejaVu Sans"/>
              </a:defRPr>
            </a:pPr>
            <a:r>
              <a:rPr sz="2025" b="0" dirty="0">
                <a:solidFill>
                  <a:srgbClr val="182D45"/>
                </a:solidFill>
                <a:latin typeface="DejaVu Sans"/>
                <a:ea typeface="DejaVu Sans"/>
                <a:cs typeface="DejaVu Sans"/>
              </a:rPr>
              <a:t>Keep track of which runs fit the training data better.</a:t>
            </a:r>
          </a:p>
        </p:txBody>
      </p:sp>
      <p:sp>
        <p:nvSpPr>
          <p:cNvPr id="7" name="text_3">
            <a:extLst>
              <a:ext uri="{FF2B5EF4-FFF2-40B4-BE49-F238E27FC236}">
                <a16:creationId xmlns:a16="http://schemas.microsoft.com/office/drawing/2014/main" id="{D0233B3F-5B71-4522-8838-994A78AF7906}"/>
              </a:ext>
            </a:extLst>
          </p:cNvPr>
          <p:cNvSpPr>
            <a:spLocks noGrp="1"/>
          </p:cNvSpPr>
          <p:nvPr/>
        </p:nvSpPr>
        <p:spPr>
          <a:xfrm>
            <a:off x="619121" y="2868652"/>
            <a:ext cx="10953750" cy="457200"/>
          </a:xfrm>
          <a:prstGeom prst="rect">
            <a:avLst/>
          </a:prstGeom>
          <a:noFill/>
          <a:ln w="0">
            <a:noFill/>
          </a:ln>
        </p:spPr>
        <p:txBody>
          <a:bodyPr anchor="ctr">
            <a:noAutofit/>
          </a:bodyPr>
          <a:lstStyle/>
          <a:p>
            <a:pPr algn="ctr">
              <a:defRPr sz="2175" b="1">
                <a:solidFill>
                  <a:srgbClr val="087F83"/>
                </a:solidFill>
                <a:latin typeface="DejaVu Sans"/>
                <a:ea typeface="DejaVu Sans"/>
                <a:cs typeface="DejaVu Sans"/>
              </a:defRPr>
            </a:pPr>
            <a:r>
              <a:rPr sz="2175" b="1" dirty="0">
                <a:solidFill>
                  <a:srgbClr val="087F83"/>
                </a:solidFill>
                <a:latin typeface="DejaVu Sans"/>
                <a:ea typeface="DejaVu Sans"/>
                <a:cs typeface="DejaVu Sans"/>
              </a:rPr>
              <a:t>Change how the updates are computed</a:t>
            </a:r>
          </a:p>
        </p:txBody>
      </p:sp>
      <p:sp>
        <p:nvSpPr>
          <p:cNvPr id="8" name="text_4">
            <a:extLst>
              <a:ext uri="{FF2B5EF4-FFF2-40B4-BE49-F238E27FC236}">
                <a16:creationId xmlns:a16="http://schemas.microsoft.com/office/drawing/2014/main" id="{7AFDAF17-BA98-4773-9B6D-AC59EC084D30}"/>
              </a:ext>
            </a:extLst>
          </p:cNvPr>
          <p:cNvSpPr>
            <a:spLocks noGrp="1"/>
          </p:cNvSpPr>
          <p:nvPr/>
        </p:nvSpPr>
        <p:spPr>
          <a:xfrm>
            <a:off x="547684" y="3245704"/>
            <a:ext cx="11096625" cy="1114425"/>
          </a:xfrm>
          <a:prstGeom prst="rect">
            <a:avLst/>
          </a:prstGeom>
          <a:noFill/>
          <a:ln w="0">
            <a:noFill/>
          </a:ln>
        </p:spPr>
        <p:txBody>
          <a:bodyPr lIns="0" tIns="0" rIns="0" bIns="0" anchor="ctr">
            <a:noAutofit/>
          </a:bodyPr>
          <a:lstStyle/>
          <a:p>
            <a:pPr algn="ctr">
              <a:defRPr sz="2300" b="0">
                <a:solidFill>
                  <a:srgbClr val="182D45"/>
                </a:solidFill>
                <a:latin typeface="DejaVu Sans"/>
                <a:ea typeface="DejaVu Sans"/>
                <a:cs typeface="DejaVu Sans"/>
              </a:defRPr>
            </a:pPr>
            <a:r>
              <a:rPr sz="2300" b="0">
                <a:solidFill>
                  <a:srgbClr val="FF0000"/>
                </a:solidFill>
                <a:latin typeface="DejaVu Sans"/>
                <a:ea typeface="DejaVu Sans"/>
                <a:cs typeface="DejaVu Sans"/>
              </a:rPr>
              <a:t>Minibatches</a:t>
            </a:r>
            <a:r>
              <a:rPr sz="2300" b="0">
                <a:solidFill>
                  <a:srgbClr val="182D45"/>
                </a:solidFill>
                <a:latin typeface="DejaVu Sans"/>
                <a:ea typeface="DejaVu Sans"/>
                <a:cs typeface="DejaVu Sans"/>
              </a:rPr>
              <a:t> use gradients from small random subsets.</a:t>
            </a:r>
          </a:p>
          <a:p>
            <a:pPr algn="ctr">
              <a:defRPr sz="2300" b="0">
                <a:solidFill>
                  <a:srgbClr val="182D45"/>
                </a:solidFill>
                <a:latin typeface="DejaVu Sans"/>
                <a:ea typeface="DejaVu Sans"/>
                <a:cs typeface="DejaVu Sans"/>
              </a:defRPr>
            </a:pPr>
            <a:r>
              <a:rPr sz="2300" b="0">
                <a:solidFill>
                  <a:srgbClr val="182D45"/>
                </a:solidFill>
                <a:latin typeface="DejaVu Sans"/>
                <a:ea typeface="DejaVu Sans"/>
                <a:cs typeface="DejaVu Sans"/>
              </a:rPr>
              <a:t>This may help the iterates leave the region around a local minimum.</a:t>
            </a:r>
          </a:p>
        </p:txBody>
      </p:sp>
      <p:sp>
        <p:nvSpPr>
          <p:cNvPr id="9" name="text_5">
            <a:extLst>
              <a:ext uri="{FF2B5EF4-FFF2-40B4-BE49-F238E27FC236}">
                <a16:creationId xmlns:a16="http://schemas.microsoft.com/office/drawing/2014/main" id="{49DE25A8-5D3D-48AF-8EFA-0A1D2885F32B}"/>
              </a:ext>
            </a:extLst>
          </p:cNvPr>
          <p:cNvSpPr>
            <a:spLocks noGrp="1"/>
          </p:cNvSpPr>
          <p:nvPr/>
        </p:nvSpPr>
        <p:spPr>
          <a:xfrm>
            <a:off x="547685" y="4368542"/>
            <a:ext cx="10953750" cy="457200"/>
          </a:xfrm>
          <a:prstGeom prst="rect">
            <a:avLst/>
          </a:prstGeom>
          <a:noFill/>
          <a:ln w="0">
            <a:noFill/>
          </a:ln>
        </p:spPr>
        <p:txBody>
          <a:bodyPr anchor="ctr">
            <a:noAutofit/>
          </a:bodyPr>
          <a:lstStyle/>
          <a:p>
            <a:pPr algn="ctr">
              <a:defRPr sz="2175" b="1">
                <a:solidFill>
                  <a:srgbClr val="087F83"/>
                </a:solidFill>
                <a:latin typeface="DejaVu Sans"/>
                <a:ea typeface="DejaVu Sans"/>
                <a:cs typeface="DejaVu Sans"/>
              </a:defRPr>
            </a:pPr>
            <a:r>
              <a:rPr sz="2175" b="1" dirty="0">
                <a:solidFill>
                  <a:srgbClr val="087F83"/>
                </a:solidFill>
                <a:latin typeface="DejaVu Sans"/>
                <a:ea typeface="DejaVu Sans"/>
                <a:cs typeface="DejaVu Sans"/>
              </a:rPr>
              <a:t>Consider </a:t>
            </a:r>
            <a:r>
              <a:rPr lang="it-IT" sz="2175" b="1" dirty="0" err="1">
                <a:solidFill>
                  <a:srgbClr val="087F83"/>
                </a:solidFill>
                <a:latin typeface="DejaVu Sans"/>
                <a:ea typeface="DejaVu Sans"/>
                <a:cs typeface="DejaVu Sans"/>
              </a:rPr>
              <a:t>increasing</a:t>
            </a:r>
            <a:r>
              <a:rPr lang="it-IT" sz="2175" b="1" dirty="0">
                <a:solidFill>
                  <a:srgbClr val="087F83"/>
                </a:solidFill>
                <a:latin typeface="DejaVu Sans"/>
                <a:ea typeface="DejaVu Sans"/>
                <a:cs typeface="DejaVu Sans"/>
              </a:rPr>
              <a:t> the </a:t>
            </a:r>
            <a:r>
              <a:rPr sz="2175" b="1" dirty="0">
                <a:solidFill>
                  <a:srgbClr val="087F83"/>
                </a:solidFill>
                <a:latin typeface="DejaVu Sans"/>
                <a:ea typeface="DejaVu Sans"/>
                <a:cs typeface="DejaVu Sans"/>
              </a:rPr>
              <a:t>width</a:t>
            </a:r>
          </a:p>
        </p:txBody>
      </p:sp>
      <p:sp>
        <p:nvSpPr>
          <p:cNvPr id="10" name="text_6">
            <a:extLst>
              <a:ext uri="{FF2B5EF4-FFF2-40B4-BE49-F238E27FC236}">
                <a16:creationId xmlns:a16="http://schemas.microsoft.com/office/drawing/2014/main" id="{D3006BC7-E614-45FD-A48E-7462C4857A11}"/>
              </a:ext>
            </a:extLst>
          </p:cNvPr>
          <p:cNvSpPr>
            <a:spLocks noGrp="1"/>
          </p:cNvSpPr>
          <p:nvPr/>
        </p:nvSpPr>
        <p:spPr>
          <a:xfrm>
            <a:off x="323850" y="4654292"/>
            <a:ext cx="11096625" cy="1485994"/>
          </a:xfrm>
          <a:prstGeom prst="rect">
            <a:avLst/>
          </a:prstGeom>
          <a:noFill/>
          <a:ln w="0">
            <a:noFill/>
          </a:ln>
        </p:spPr>
        <p:txBody>
          <a:bodyPr lIns="0" tIns="0" rIns="0" bIns="0" anchor="ctr">
            <a:noAutofit/>
          </a:bodyPr>
          <a:lstStyle/>
          <a:p>
            <a:pPr algn="ctr">
              <a:defRPr sz="2300" b="0">
                <a:solidFill>
                  <a:srgbClr val="182D45"/>
                </a:solidFill>
                <a:latin typeface="DejaVu Sans"/>
                <a:ea typeface="DejaVu Sans"/>
                <a:cs typeface="DejaVu Sans"/>
              </a:defRPr>
            </a:pPr>
            <a:r>
              <a:rPr sz="2300" b="0">
                <a:solidFill>
                  <a:srgbClr val="182D45"/>
                </a:solidFill>
                <a:latin typeface="DejaVu Sans"/>
                <a:ea typeface="DejaVu Sans"/>
                <a:cs typeface="DejaVu Sans"/>
              </a:rPr>
              <a:t>A wider network can sometimes be easier to optimise.</a:t>
            </a:r>
          </a:p>
          <a:p>
            <a:pPr algn="ctr">
              <a:defRPr sz="2300" b="0">
                <a:solidFill>
                  <a:srgbClr val="182D45"/>
                </a:solidFill>
                <a:latin typeface="DejaVu Sans"/>
                <a:ea typeface="DejaVu Sans"/>
                <a:cs typeface="DejaVu Sans"/>
              </a:defRPr>
            </a:pPr>
            <a:r>
              <a:rPr sz="2300" b="0">
                <a:solidFill>
                  <a:srgbClr val="182D45"/>
                </a:solidFill>
                <a:latin typeface="DejaVu Sans"/>
                <a:ea typeface="DejaVu Sans"/>
                <a:cs typeface="DejaVu Sans"/>
              </a:rPr>
              <a:t>Increasing width </a:t>
            </a:r>
            <a:r>
              <a:rPr sz="2300" b="0">
                <a:solidFill>
                  <a:srgbClr val="FF0000"/>
                </a:solidFill>
                <a:latin typeface="DejaVu Sans"/>
                <a:ea typeface="DejaVu Sans"/>
                <a:cs typeface="DejaVu Sans"/>
              </a:rPr>
              <a:t>does not guarantee</a:t>
            </a:r>
            <a:r>
              <a:rPr sz="2300" b="0">
                <a:solidFill>
                  <a:srgbClr val="182D45"/>
                </a:solidFill>
                <a:latin typeface="DejaVu Sans"/>
                <a:ea typeface="DejaVu Sans"/>
                <a:cs typeface="DejaVu Sans"/>
              </a:rPr>
              <a:t> that gradient descent</a:t>
            </a:r>
          </a:p>
          <a:p>
            <a:pPr algn="ctr">
              <a:defRPr sz="2300" b="0">
                <a:solidFill>
                  <a:srgbClr val="182D45"/>
                </a:solidFill>
                <a:latin typeface="DejaVu Sans"/>
                <a:ea typeface="DejaVu Sans"/>
                <a:cs typeface="DejaVu Sans"/>
              </a:defRPr>
            </a:pPr>
            <a:r>
              <a:rPr sz="2300" b="0">
                <a:solidFill>
                  <a:srgbClr val="182D45"/>
                </a:solidFill>
                <a:latin typeface="DejaVu Sans"/>
                <a:ea typeface="DejaVu Sans"/>
                <a:cs typeface="DejaVu Sans"/>
              </a:rPr>
              <a:t>reaches a global minimum.</a:t>
            </a:r>
          </a:p>
        </p:txBody>
      </p:sp>
    </p:spTree>
    <p:extLst>
      <p:ext uri="{BB962C8B-B14F-4D97-AF65-F5344CB8AC3E}">
        <p14:creationId xmlns:p14="http://schemas.microsoft.com/office/powerpoint/2010/main" val="556765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oter_course">
            <a:extLst>
              <a:ext uri="{FF2B5EF4-FFF2-40B4-BE49-F238E27FC236}">
                <a16:creationId xmlns:a16="http://schemas.microsoft.com/office/drawing/2014/main" id="{AD17576B-1270-4BEA-B609-EC9692FBED3F}"/>
              </a:ext>
            </a:extLst>
          </p:cNvPr>
          <p:cNvSpPr>
            <a:spLocks noGrp="1"/>
          </p:cNvSpPr>
          <p:nvPr/>
        </p:nvSpPr>
        <p:spPr>
          <a:xfrm>
            <a:off x="247650" y="6515100"/>
            <a:ext cx="6667500" cy="247650"/>
          </a:xfrm>
          <a:prstGeom prst="rect">
            <a:avLst/>
          </a:prstGeom>
          <a:noFill/>
          <a:ln w="0">
            <a:noFill/>
          </a:ln>
        </p:spPr>
        <p:txBody>
          <a:bodyPr anchor="ctr">
            <a:noAutofit/>
          </a:body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4</a:t>
            </a:r>
          </a:p>
        </p:txBody>
      </p:sp>
      <p:sp>
        <p:nvSpPr>
          <p:cNvPr id="4" name="footer_number">
            <a:extLst>
              <a:ext uri="{FF2B5EF4-FFF2-40B4-BE49-F238E27FC236}">
                <a16:creationId xmlns:a16="http://schemas.microsoft.com/office/drawing/2014/main" id="{3B966EE1-B4D5-4A64-83A6-247EB89F02AB}"/>
              </a:ext>
            </a:extLst>
          </p:cNvPr>
          <p:cNvSpPr>
            <a:spLocks noGrp="1"/>
          </p:cNvSpPr>
          <p:nvPr/>
        </p:nvSpPr>
        <p:spPr>
          <a:xfrm>
            <a:off x="11372850" y="6515100"/>
            <a:ext cx="552450" cy="247650"/>
          </a:xfrm>
          <a:prstGeom prst="rect">
            <a:avLst/>
          </a:prstGeom>
          <a:noFill/>
          <a:ln w="0">
            <a:noFill/>
          </a:ln>
        </p:spPr>
        <p:txBody>
          <a:bodyPr anchor="ctr">
            <a:noAutofit/>
          </a:bodyPr>
          <a:lstStyle/>
          <a:p>
            <a:pPr algn="r">
              <a:defRPr sz="1050" b="0">
                <a:solidFill>
                  <a:srgbClr val="526276"/>
                </a:solidFill>
                <a:latin typeface="DejaVu Sans"/>
                <a:ea typeface="DejaVu Sans"/>
                <a:cs typeface="DejaVu Sans"/>
              </a:defRPr>
            </a:pPr>
            <a:r>
              <a:rPr sz="1050" b="0" dirty="0">
                <a:solidFill>
                  <a:srgbClr val="526276"/>
                </a:solidFill>
                <a:latin typeface="DejaVu Sans"/>
                <a:ea typeface="DejaVu Sans"/>
                <a:cs typeface="DejaVu Sans"/>
              </a:rPr>
              <a:t>4</a:t>
            </a:r>
            <a:r>
              <a:rPr lang="it-IT" sz="1050" b="0" dirty="0">
                <a:solidFill>
                  <a:srgbClr val="526276"/>
                </a:solidFill>
                <a:latin typeface="DejaVu Sans"/>
                <a:ea typeface="DejaVu Sans"/>
                <a:cs typeface="DejaVu Sans"/>
              </a:rPr>
              <a:t>3</a:t>
            </a:r>
            <a:endParaRPr sz="1050" b="0" dirty="0">
              <a:solidFill>
                <a:srgbClr val="526276"/>
              </a:solidFill>
              <a:latin typeface="DejaVu Sans"/>
              <a:ea typeface="DejaVu Sans"/>
              <a:cs typeface="DejaVu Sans"/>
            </a:endParaRPr>
          </a:p>
        </p:txBody>
      </p:sp>
      <p:sp>
        <p:nvSpPr>
          <p:cNvPr id="5" name="title">
            <a:extLst>
              <a:ext uri="{FF2B5EF4-FFF2-40B4-BE49-F238E27FC236}">
                <a16:creationId xmlns:a16="http://schemas.microsoft.com/office/drawing/2014/main" id="{B44C4810-CAE0-4DAE-93FD-BF7A9D55FFE4}"/>
              </a:ext>
            </a:extLst>
          </p:cNvPr>
          <p:cNvSpPr>
            <a:spLocks noGrp="1"/>
          </p:cNvSpPr>
          <p:nvPr/>
        </p:nvSpPr>
        <p:spPr>
          <a:xfrm>
            <a:off x="323850" y="171450"/>
            <a:ext cx="11544300" cy="714375"/>
          </a:xfrm>
          <a:prstGeom prst="rect">
            <a:avLst/>
          </a:prstGeom>
          <a:noFill/>
          <a:ln w="0">
            <a:noFill/>
          </a:ln>
        </p:spPr>
        <p:txBody>
          <a:bodyPr anchor="ctr">
            <a:noAutofit/>
          </a:bodyPr>
          <a:lstStyle/>
          <a:p>
            <a:pPr algn="ctr">
              <a:defRPr sz="3600" b="1">
                <a:solidFill>
                  <a:srgbClr val="182D45"/>
                </a:solidFill>
                <a:latin typeface="DejaVu Sans"/>
                <a:ea typeface="DejaVu Sans"/>
                <a:cs typeface="DejaVu Sans"/>
              </a:defRPr>
            </a:pPr>
            <a:r>
              <a:rPr sz="3600" b="1">
                <a:solidFill>
                  <a:srgbClr val="182D45"/>
                </a:solidFill>
                <a:latin typeface="DejaVu Sans"/>
                <a:ea typeface="DejaVu Sans"/>
                <a:cs typeface="DejaVu Sans"/>
              </a:rPr>
              <a:t>Computing the gradient</a:t>
            </a:r>
          </a:p>
        </p:txBody>
      </p:sp>
      <p:sp>
        <p:nvSpPr>
          <p:cNvPr id="6" name="lead">
            <a:extLst>
              <a:ext uri="{FF2B5EF4-FFF2-40B4-BE49-F238E27FC236}">
                <a16:creationId xmlns:a16="http://schemas.microsoft.com/office/drawing/2014/main" id="{F876655C-576E-4405-BD01-6AFAC4F1650F}"/>
              </a:ext>
            </a:extLst>
          </p:cNvPr>
          <p:cNvSpPr>
            <a:spLocks noGrp="1"/>
          </p:cNvSpPr>
          <p:nvPr/>
        </p:nvSpPr>
        <p:spPr>
          <a:xfrm>
            <a:off x="523875" y="1020000"/>
            <a:ext cx="11144250" cy="720000"/>
          </a:xfrm>
          <a:prstGeom prst="rect">
            <a:avLst/>
          </a:prstGeom>
          <a:noFill/>
          <a:ln w="0">
            <a:noFill/>
          </a:ln>
        </p:spPr>
        <p:txBody>
          <a:bodyPr anchor="ctr">
            <a:noAutofit/>
          </a:bodyPr>
          <a:lstStyle/>
          <a:p>
            <a:pPr algn="ctr">
              <a:defRPr sz="2175" b="0">
                <a:solidFill>
                  <a:srgbClr val="526276"/>
                </a:solidFill>
                <a:latin typeface="DejaVu Sans"/>
                <a:ea typeface="DejaVu Sans"/>
                <a:cs typeface="DejaVu Sans"/>
              </a:defRPr>
            </a:pPr>
            <a:r>
              <a:rPr sz="2175" b="0" dirty="0">
                <a:solidFill>
                  <a:srgbClr val="FF0000"/>
                </a:solidFill>
                <a:latin typeface="DejaVu Sans"/>
                <a:ea typeface="DejaVu Sans"/>
                <a:cs typeface="DejaVu Sans"/>
              </a:rPr>
              <a:t>Gradient descent </a:t>
            </a:r>
            <a:r>
              <a:rPr sz="2175" b="0" dirty="0">
                <a:solidFill>
                  <a:srgbClr val="526276"/>
                </a:solidFill>
                <a:latin typeface="DejaVu Sans"/>
                <a:ea typeface="DejaVu Sans"/>
                <a:cs typeface="DejaVu Sans"/>
              </a:rPr>
              <a:t>requires the </a:t>
            </a:r>
            <a:r>
              <a:rPr sz="2175" b="0" dirty="0">
                <a:solidFill>
                  <a:srgbClr val="FF0000"/>
                </a:solidFill>
                <a:latin typeface="DejaVu Sans"/>
                <a:ea typeface="DejaVu Sans"/>
                <a:cs typeface="DejaVu Sans"/>
              </a:rPr>
              <a:t>derivative of the loss</a:t>
            </a:r>
          </a:p>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with respect to every </a:t>
            </a:r>
            <a:r>
              <a:rPr sz="2175" b="0" dirty="0">
                <a:solidFill>
                  <a:srgbClr val="FF0000"/>
                </a:solidFill>
                <a:latin typeface="DejaVu Sans"/>
                <a:ea typeface="DejaVu Sans"/>
                <a:cs typeface="DejaVu Sans"/>
              </a:rPr>
              <a:t>weight and bias</a:t>
            </a:r>
            <a:r>
              <a:rPr sz="2175" b="0" dirty="0">
                <a:solidFill>
                  <a:srgbClr val="526276"/>
                </a:solidFill>
                <a:latin typeface="DejaVu Sans"/>
                <a:ea typeface="DejaVu Sans"/>
                <a:cs typeface="DejaVu Sans"/>
              </a:rPr>
              <a:t>.</a:t>
            </a:r>
          </a:p>
        </p:txBody>
      </p:sp>
      <p:sp>
        <p:nvSpPr>
          <p:cNvPr id="7" name="composition">
            <a:extLst>
              <a:ext uri="{FF2B5EF4-FFF2-40B4-BE49-F238E27FC236}">
                <a16:creationId xmlns:a16="http://schemas.microsoft.com/office/drawing/2014/main" id="{08AA75F1-A564-4585-9089-39FA35DCD18E}"/>
              </a:ext>
            </a:extLst>
          </p:cNvPr>
          <p:cNvSpPr>
            <a:spLocks noGrp="1"/>
          </p:cNvSpPr>
          <p:nvPr/>
        </p:nvSpPr>
        <p:spPr>
          <a:xfrm>
            <a:off x="619125" y="2010000"/>
            <a:ext cx="10953750" cy="700000"/>
          </a:xfrm>
          <a:prstGeom prst="rect">
            <a:avLst/>
          </a:prstGeom>
          <a:noFill/>
          <a:ln w="0">
            <a:noFill/>
          </a:ln>
        </p:spPr>
        <p:txBody>
          <a:bodyPr lIns="0" tIns="0" rIns="0" bIns="0" anchor="ctr">
            <a:noAutofit/>
          </a:bodyPr>
          <a:lstStyle/>
          <a:p>
            <a:pPr algn="ctr">
              <a:defRPr sz="2150" b="0">
                <a:solidFill>
                  <a:srgbClr val="182D45"/>
                </a:solidFill>
                <a:latin typeface="DejaVu Sans"/>
                <a:ea typeface="DejaVu Sans"/>
                <a:cs typeface="DejaVu Sans"/>
              </a:defRPr>
            </a:pPr>
            <a:r>
              <a:rPr sz="2150" b="0" dirty="0">
                <a:solidFill>
                  <a:srgbClr val="182D45"/>
                </a:solidFill>
                <a:latin typeface="DejaVu Sans"/>
                <a:ea typeface="DejaVu Sans"/>
                <a:cs typeface="DejaVu Sans"/>
              </a:rPr>
              <a:t>The network composes affine transformations and activation functions.</a:t>
            </a:r>
          </a:p>
          <a:p>
            <a:pPr algn="ctr">
              <a:defRPr sz="2150" b="0">
                <a:solidFill>
                  <a:srgbClr val="182D45"/>
                </a:solidFill>
                <a:latin typeface="DejaVu Sans"/>
                <a:ea typeface="DejaVu Sans"/>
                <a:cs typeface="DejaVu Sans"/>
              </a:defRPr>
            </a:pPr>
            <a:r>
              <a:rPr sz="2150" b="0" dirty="0">
                <a:solidFill>
                  <a:srgbClr val="182D45"/>
                </a:solidFill>
                <a:latin typeface="DejaVu Sans"/>
                <a:ea typeface="DejaVu Sans"/>
                <a:cs typeface="DejaVu Sans"/>
              </a:rPr>
              <a:t>We then evaluate the loss.</a:t>
            </a:r>
          </a:p>
        </p:txBody>
      </p:sp>
      <p:sp>
        <p:nvSpPr>
          <p:cNvPr id="8" name="chain_rule">
            <a:extLst>
              <a:ext uri="{FF2B5EF4-FFF2-40B4-BE49-F238E27FC236}">
                <a16:creationId xmlns:a16="http://schemas.microsoft.com/office/drawing/2014/main" id="{7C24EB7C-7F00-47DB-B47E-11B9114CAB05}"/>
              </a:ext>
            </a:extLst>
          </p:cNvPr>
          <p:cNvSpPr>
            <a:spLocks noGrp="1"/>
          </p:cNvSpPr>
          <p:nvPr/>
        </p:nvSpPr>
        <p:spPr>
          <a:xfrm>
            <a:off x="619125" y="2880000"/>
            <a:ext cx="10953750" cy="700000"/>
          </a:xfrm>
          <a:prstGeom prst="rect">
            <a:avLst/>
          </a:prstGeom>
          <a:noFill/>
          <a:ln w="0">
            <a:noFill/>
          </a:ln>
        </p:spPr>
        <p:txBody>
          <a:bodyPr lIns="0" tIns="0" rIns="0" bIns="0" anchor="ctr">
            <a:noAutofit/>
          </a:bodyPr>
          <a:lstStyle/>
          <a:p>
            <a:pPr algn="ctr">
              <a:defRPr sz="2150" b="0">
                <a:solidFill>
                  <a:srgbClr val="087F83"/>
                </a:solidFill>
                <a:latin typeface="DejaVu Sans"/>
                <a:ea typeface="DejaVu Sans"/>
                <a:cs typeface="DejaVu Sans"/>
              </a:defRPr>
            </a:pPr>
            <a:r>
              <a:rPr sz="2150" b="0" dirty="0">
                <a:solidFill>
                  <a:srgbClr val="087F83"/>
                </a:solidFill>
                <a:latin typeface="DejaVu Sans"/>
                <a:ea typeface="DejaVu Sans"/>
                <a:cs typeface="DejaVu Sans"/>
              </a:rPr>
              <a:t>Where these operations are differentiable,</a:t>
            </a:r>
          </a:p>
          <a:p>
            <a:pPr algn="ctr">
              <a:defRPr sz="2150" b="0">
                <a:solidFill>
                  <a:srgbClr val="087F83"/>
                </a:solidFill>
                <a:latin typeface="DejaVu Sans"/>
                <a:ea typeface="DejaVu Sans"/>
                <a:cs typeface="DejaVu Sans"/>
              </a:defRPr>
            </a:pPr>
            <a:r>
              <a:rPr sz="2150" b="0" dirty="0">
                <a:solidFill>
                  <a:srgbClr val="087F83"/>
                </a:solidFill>
                <a:latin typeface="DejaVu Sans"/>
                <a:ea typeface="DejaVu Sans"/>
                <a:cs typeface="DejaVu Sans"/>
              </a:rPr>
              <a:t>we apply the </a:t>
            </a:r>
            <a:r>
              <a:rPr sz="2150" b="0" dirty="0">
                <a:solidFill>
                  <a:srgbClr val="FF0000"/>
                </a:solidFill>
                <a:latin typeface="DejaVu Sans"/>
                <a:ea typeface="DejaVu Sans"/>
                <a:cs typeface="DejaVu Sans"/>
              </a:rPr>
              <a:t>chain rule</a:t>
            </a:r>
            <a:r>
              <a:rPr sz="2150" b="0" dirty="0">
                <a:solidFill>
                  <a:srgbClr val="087F83"/>
                </a:solidFill>
                <a:latin typeface="DejaVu Sans"/>
                <a:ea typeface="DejaVu Sans"/>
                <a:cs typeface="DejaVu Sans"/>
              </a:rPr>
              <a:t> through this composition.</a:t>
            </a:r>
          </a:p>
        </p:txBody>
      </p:sp>
      <p:sp>
        <p:nvSpPr>
          <p:cNvPr id="9" name="takeaway">
            <a:extLst>
              <a:ext uri="{FF2B5EF4-FFF2-40B4-BE49-F238E27FC236}">
                <a16:creationId xmlns:a16="http://schemas.microsoft.com/office/drawing/2014/main" id="{3A2B1598-FFF3-4B61-BA12-F05BA5E11E2D}"/>
              </a:ext>
            </a:extLst>
          </p:cNvPr>
          <p:cNvSpPr>
            <a:spLocks noGrp="1"/>
          </p:cNvSpPr>
          <p:nvPr/>
        </p:nvSpPr>
        <p:spPr>
          <a:xfrm>
            <a:off x="619125" y="5360000"/>
            <a:ext cx="10953750" cy="460000"/>
          </a:xfrm>
          <a:prstGeom prst="rect">
            <a:avLst/>
          </a:prstGeom>
          <a:noFill/>
          <a:ln w="0">
            <a:noFill/>
          </a:ln>
        </p:spPr>
        <p:txBody>
          <a:bodyPr lIns="0" tIns="0" rIns="0" bIns="0" anchor="ctr">
            <a:noAutofit/>
          </a:bodyPr>
          <a:lstStyle/>
          <a:p>
            <a:pPr algn="ctr">
              <a:defRPr sz="2250" b="1">
                <a:solidFill>
                  <a:srgbClr val="182D45"/>
                </a:solidFill>
                <a:latin typeface="DejaVu Sans"/>
                <a:ea typeface="DejaVu Sans"/>
                <a:cs typeface="DejaVu Sans"/>
              </a:defRPr>
            </a:pPr>
            <a:r>
              <a:rPr sz="2250" b="1" dirty="0">
                <a:solidFill>
                  <a:srgbClr val="FF0000"/>
                </a:solidFill>
                <a:latin typeface="DejaVu Sans"/>
                <a:ea typeface="DejaVu Sans"/>
                <a:cs typeface="DejaVu Sans"/>
              </a:rPr>
              <a:t>Backpropagation</a:t>
            </a:r>
            <a:r>
              <a:rPr sz="2250" b="1" dirty="0">
                <a:solidFill>
                  <a:srgbClr val="182D45"/>
                </a:solidFill>
                <a:latin typeface="DejaVu Sans"/>
                <a:ea typeface="DejaVu Sans"/>
                <a:cs typeface="DejaVu Sans"/>
              </a:rPr>
              <a:t> </a:t>
            </a:r>
            <a:r>
              <a:rPr sz="2250" b="1" dirty="0" err="1">
                <a:solidFill>
                  <a:srgbClr val="182D45"/>
                </a:solidFill>
                <a:latin typeface="DejaVu Sans"/>
                <a:ea typeface="DejaVu Sans"/>
                <a:cs typeface="DejaVu Sans"/>
              </a:rPr>
              <a:t>organises</a:t>
            </a:r>
            <a:r>
              <a:rPr sz="2250" b="1" dirty="0">
                <a:solidFill>
                  <a:srgbClr val="182D45"/>
                </a:solidFill>
                <a:latin typeface="DejaVu Sans"/>
                <a:ea typeface="DejaVu Sans"/>
                <a:cs typeface="DejaVu Sans"/>
              </a:rPr>
              <a:t> this calculation efficiently.</a:t>
            </a:r>
          </a:p>
        </p:txBody>
      </p:sp>
      <p:sp>
        <p:nvSpPr>
          <p:cNvPr id="10" name="next_lecture">
            <a:extLst>
              <a:ext uri="{FF2B5EF4-FFF2-40B4-BE49-F238E27FC236}">
                <a16:creationId xmlns:a16="http://schemas.microsoft.com/office/drawing/2014/main" id="{0183824D-E448-498A-A190-51518854DE8E}"/>
              </a:ext>
            </a:extLst>
          </p:cNvPr>
          <p:cNvSpPr>
            <a:spLocks noGrp="1"/>
          </p:cNvSpPr>
          <p:nvPr/>
        </p:nvSpPr>
        <p:spPr>
          <a:xfrm>
            <a:off x="619125" y="6076950"/>
            <a:ext cx="10953750" cy="333375"/>
          </a:xfrm>
          <a:prstGeom prst="rect">
            <a:avLst/>
          </a:prstGeom>
          <a:noFill/>
          <a:ln w="0">
            <a:noFill/>
          </a:ln>
        </p:spPr>
        <p:txBody>
          <a:bodyPr anchor="ctr">
            <a:noAutofit/>
          </a:bodyPr>
          <a:lstStyle/>
          <a:p>
            <a:pPr algn="ctr">
              <a:defRPr sz="2025" b="1">
                <a:solidFill>
                  <a:srgbClr val="087F83"/>
                </a:solidFill>
                <a:latin typeface="DejaVu Sans"/>
                <a:ea typeface="DejaVu Sans"/>
                <a:cs typeface="DejaVu Sans"/>
              </a:defRPr>
            </a:pPr>
            <a:r>
              <a:rPr sz="2025" b="1">
                <a:solidFill>
                  <a:srgbClr val="087F83"/>
                </a:solidFill>
                <a:latin typeface="DejaVu Sans"/>
                <a:ea typeface="DejaVu Sans"/>
                <a:cs typeface="DejaVu Sans"/>
              </a:rPr>
              <a:t>Next lecture: backpropagation.</a:t>
            </a:r>
          </a:p>
        </p:txBody>
      </p:sp>
      <p:sp>
        <p:nvSpPr>
          <p:cNvPr id="11" name="relu_zero_convention"/>
          <p:cNvSpPr txBox="1"/>
          <p:nvPr/>
        </p:nvSpPr>
        <p:spPr>
          <a:xfrm>
            <a:off x="619125" y="3870000"/>
            <a:ext cx="10953750" cy="1140000"/>
          </a:xfrm>
          <a:prstGeom prst="rect">
            <a:avLst/>
          </a:prstGeom>
          <a:noFill/>
          <a:ln w="0">
            <a:noFill/>
          </a:ln>
        </p:spPr>
        <p:txBody>
          <a:bodyPr lIns="0" tIns="0" rIns="0" bIns="0" anchor="ctr">
            <a:noAutofit/>
          </a:bodyPr>
          <a:lstStyle/>
          <a:p>
            <a:pPr algn="ctr">
              <a:defRPr sz="2150" b="0">
                <a:solidFill>
                  <a:srgbClr val="182D45"/>
                </a:solidFill>
                <a:latin typeface="DejaVu Sans"/>
                <a:ea typeface="DejaVu Sans"/>
                <a:cs typeface="DejaVu Sans"/>
              </a:defRPr>
            </a:pPr>
            <a:r>
              <a:rPr sz="2150" b="0" dirty="0" err="1">
                <a:solidFill>
                  <a:srgbClr val="FF0000"/>
                </a:solidFill>
                <a:latin typeface="DejaVu Sans"/>
                <a:ea typeface="DejaVu Sans"/>
                <a:cs typeface="DejaVu Sans"/>
              </a:rPr>
              <a:t>ReLU</a:t>
            </a:r>
            <a:r>
              <a:rPr sz="2150" b="0" dirty="0">
                <a:solidFill>
                  <a:srgbClr val="FF0000"/>
                </a:solidFill>
                <a:latin typeface="DejaVu Sans"/>
                <a:ea typeface="DejaVu Sans"/>
                <a:cs typeface="DejaVu Sans"/>
              </a:rPr>
              <a:t> is not differentiable at zero.</a:t>
            </a:r>
          </a:p>
          <a:p>
            <a:pPr algn="ctr">
              <a:defRPr sz="2150" b="0">
                <a:solidFill>
                  <a:srgbClr val="182D45"/>
                </a:solidFill>
                <a:latin typeface="DejaVu Sans"/>
                <a:ea typeface="DejaVu Sans"/>
                <a:cs typeface="DejaVu Sans"/>
              </a:defRPr>
            </a:pPr>
            <a:r>
              <a:rPr sz="2150" b="0" dirty="0">
                <a:solidFill>
                  <a:srgbClr val="182D45"/>
                </a:solidFill>
                <a:latin typeface="DejaVu Sans"/>
                <a:ea typeface="DejaVu Sans"/>
                <a:cs typeface="DejaVu Sans"/>
              </a:rPr>
              <a:t>For parameter updates, we use 0 as its multiplier there.</a:t>
            </a:r>
          </a:p>
          <a:p>
            <a:pPr algn="ctr">
              <a:defRPr sz="2150" b="0">
                <a:solidFill>
                  <a:srgbClr val="182D45"/>
                </a:solidFill>
                <a:latin typeface="DejaVu Sans"/>
                <a:ea typeface="DejaVu Sans"/>
                <a:cs typeface="DejaVu Sans"/>
              </a:defRPr>
            </a:pPr>
            <a:r>
              <a:rPr sz="2150" b="0" dirty="0">
                <a:solidFill>
                  <a:srgbClr val="182D45"/>
                </a:solidFill>
                <a:latin typeface="DejaVu Sans"/>
                <a:ea typeface="DejaVu Sans"/>
                <a:cs typeface="DejaVu Sans"/>
              </a:rPr>
              <a:t>This is a computational convention, not an ordinary derivative.</a:t>
            </a:r>
          </a:p>
        </p:txBody>
      </p:sp>
    </p:spTree>
    <p:extLst>
      <p:ext uri="{BB962C8B-B14F-4D97-AF65-F5344CB8AC3E}">
        <p14:creationId xmlns:p14="http://schemas.microsoft.com/office/powerpoint/2010/main" val="90007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narrative_s41_text1">
            <a:extLst>
              <a:ext uri="{FF2B5EF4-FFF2-40B4-BE49-F238E27FC236}">
                <a16:creationId xmlns:a16="http://schemas.microsoft.com/office/drawing/2014/main" id="{26C07F11-C794-40F6-AD81-20A4BC23E2D9}"/>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Lecture notes and exercises</a:t>
            </a:r>
          </a:p>
        </p:txBody>
      </p:sp>
      <p:sp>
        <p:nvSpPr>
          <p:cNvPr id="2" name="page_number">
            <a:extLst>
              <a:ext uri="{FF2B5EF4-FFF2-40B4-BE49-F238E27FC236}">
                <a16:creationId xmlns:a16="http://schemas.microsoft.com/office/drawing/2014/main" id="{875CA721-60E0-4B83-AAC6-02AB9F5CE585}"/>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sz="1350" b="0" dirty="0">
                <a:solidFill>
                  <a:srgbClr val="526276"/>
                </a:solidFill>
                <a:latin typeface="DejaVu Sans"/>
                <a:ea typeface="DejaVu Sans"/>
                <a:cs typeface="DejaVu Sans"/>
              </a:rPr>
              <a:t>4</a:t>
            </a:r>
            <a:r>
              <a:rPr lang="it-IT" sz="1350" b="0" dirty="0">
                <a:solidFill>
                  <a:srgbClr val="526276"/>
                </a:solidFill>
                <a:latin typeface="DejaVu Sans"/>
                <a:ea typeface="DejaVu Sans"/>
                <a:cs typeface="DejaVu Sans"/>
              </a:rPr>
              <a:t>4</a:t>
            </a:r>
            <a:endParaRPr sz="1350" b="0" dirty="0">
              <a:solidFill>
                <a:srgbClr val="526276"/>
              </a:solidFill>
              <a:latin typeface="DejaVu Sans"/>
              <a:ea typeface="DejaVu Sans"/>
              <a:cs typeface="DejaVu Sans"/>
            </a:endParaRPr>
          </a:p>
        </p:txBody>
      </p:sp>
      <p:sp>
        <p:nvSpPr>
          <p:cNvPr id="5" name="Lecture notes"/>
          <p:cNvSpPr txBox="1"/>
          <p:nvPr/>
        </p:nvSpPr>
        <p:spPr>
          <a:xfrm>
            <a:off x="609600" y="1714500"/>
            <a:ext cx="7067550" cy="904875"/>
          </a:xfrm>
          <a:prstGeom prst="rect">
            <a:avLst/>
          </a:prstGeom>
          <a:noFill/>
          <a:ln w="0">
            <a:noFill/>
          </a:ln>
        </p:spPr>
        <p:txBody>
          <a:bodyPr wrap="square" lIns="0" tIns="0" rIns="0" bIns="0" anchor="t">
            <a:noAutofit/>
          </a:bodyPr>
          <a:lstStyle/>
          <a:p>
            <a:pPr algn="l">
              <a:lnSpc>
                <a:spcPct val="115000"/>
              </a:lnSpc>
              <a:spcAft>
                <a:spcPts val="0"/>
              </a:spcAft>
            </a:pPr>
            <a:r>
              <a:rPr lang="en-GB" sz="2100" b="0" i="0">
                <a:solidFill>
                  <a:srgbClr val="182D45"/>
                </a:solidFill>
                <a:latin typeface="DejaVu Sans"/>
                <a:ea typeface="DejaVu Sans"/>
                <a:cs typeface="DejaVu Sans"/>
              </a:rPr>
              <a:t>The notes for today's lecture are available</a:t>
            </a:r>
            <a:endParaRPr lang="en-GB" sz="2100"/>
          </a:p>
          <a:p>
            <a:pPr algn="l">
              <a:lnSpc>
                <a:spcPct val="115000"/>
              </a:lnSpc>
              <a:spcAft>
                <a:spcPts val="0"/>
              </a:spcAft>
            </a:pPr>
            <a:r>
              <a:rPr lang="en-GB" sz="2100" b="0" i="0">
                <a:solidFill>
                  <a:srgbClr val="182D45"/>
                </a:solidFill>
                <a:latin typeface="DejaVu Sans"/>
                <a:ea typeface="DejaVu Sans"/>
                <a:cs typeface="DejaVu Sans"/>
              </a:rPr>
              <a:t>on the course GitHub page.</a:t>
            </a:r>
            <a:endParaRPr lang="en-GB" sz="2100"/>
          </a:p>
        </p:txBody>
      </p:sp>
      <p:sp>
        <p:nvSpPr>
          <p:cNvPr id="6" name="More detail and exercises"/>
          <p:cNvSpPr txBox="1"/>
          <p:nvPr/>
        </p:nvSpPr>
        <p:spPr>
          <a:xfrm>
            <a:off x="609600" y="2952750"/>
            <a:ext cx="7067550" cy="904875"/>
          </a:xfrm>
          <a:prstGeom prst="rect">
            <a:avLst/>
          </a:prstGeom>
          <a:noFill/>
          <a:ln w="0">
            <a:noFill/>
          </a:ln>
        </p:spPr>
        <p:txBody>
          <a:bodyPr wrap="square" lIns="0" tIns="0" rIns="0" bIns="0" anchor="t">
            <a:noAutofit/>
          </a:bodyPr>
          <a:lstStyle/>
          <a:p>
            <a:pPr algn="l">
              <a:lnSpc>
                <a:spcPct val="115000"/>
              </a:lnSpc>
              <a:spcAft>
                <a:spcPts val="0"/>
              </a:spcAft>
            </a:pPr>
            <a:r>
              <a:rPr lang="en-GB" sz="2100" b="0" i="0">
                <a:solidFill>
                  <a:srgbClr val="182D45"/>
                </a:solidFill>
                <a:latin typeface="DejaVu Sans"/>
                <a:ea typeface="DejaVu Sans"/>
                <a:cs typeface="DejaVu Sans"/>
              </a:rPr>
              <a:t>They explain the material in more detail</a:t>
            </a:r>
            <a:endParaRPr lang="en-GB" sz="2100"/>
          </a:p>
          <a:p>
            <a:pPr algn="l">
              <a:lnSpc>
                <a:spcPct val="115000"/>
              </a:lnSpc>
              <a:spcAft>
                <a:spcPts val="0"/>
              </a:spcAft>
            </a:pPr>
            <a:r>
              <a:rPr lang="en-GB" sz="2100" b="0" i="0">
                <a:solidFill>
                  <a:srgbClr val="182D45"/>
                </a:solidFill>
                <a:latin typeface="DejaVu Sans"/>
                <a:ea typeface="DejaVu Sans"/>
                <a:cs typeface="DejaVu Sans"/>
              </a:rPr>
              <a:t>and include exercises.</a:t>
            </a:r>
            <a:endParaRPr lang="en-GB" sz="2100"/>
          </a:p>
        </p:txBody>
      </p:sp>
      <p:sp>
        <p:nvSpPr>
          <p:cNvPr id="7" name="Weekly solutions"/>
          <p:cNvSpPr txBox="1"/>
          <p:nvPr/>
        </p:nvSpPr>
        <p:spPr>
          <a:xfrm>
            <a:off x="609600" y="4191000"/>
            <a:ext cx="7067550" cy="904875"/>
          </a:xfrm>
          <a:prstGeom prst="rect">
            <a:avLst/>
          </a:prstGeom>
          <a:noFill/>
          <a:ln w="0">
            <a:noFill/>
          </a:ln>
        </p:spPr>
        <p:txBody>
          <a:bodyPr wrap="square" lIns="0" tIns="0" rIns="0" bIns="0" anchor="t">
            <a:noAutofit/>
          </a:bodyPr>
          <a:lstStyle/>
          <a:p>
            <a:pPr>
              <a:lnSpc>
                <a:spcPct val="115000"/>
              </a:lnSpc>
            </a:pPr>
            <a:r>
              <a:rPr lang="en-GB" sz="2100" dirty="0">
                <a:solidFill>
                  <a:srgbClr val="182D45"/>
                </a:solidFill>
                <a:latin typeface="DejaVu Sans"/>
                <a:ea typeface="DejaVu Sans"/>
                <a:cs typeface="DejaVu Sans"/>
              </a:rPr>
              <a:t>I will post the exercise solutions</a:t>
            </a:r>
            <a:endParaRPr lang="en-GB" sz="2100" dirty="0"/>
          </a:p>
          <a:p>
            <a:pPr>
              <a:lnSpc>
                <a:spcPct val="115000"/>
              </a:lnSpc>
            </a:pPr>
            <a:r>
              <a:rPr lang="en-GB" sz="2100" dirty="0">
                <a:solidFill>
                  <a:srgbClr val="182D45"/>
                </a:solidFill>
                <a:latin typeface="DejaVu Sans"/>
                <a:ea typeface="DejaVu Sans"/>
                <a:cs typeface="DejaVu Sans"/>
              </a:rPr>
              <a:t>before the next lecture.</a:t>
            </a:r>
            <a:endParaRPr lang="en-GB" sz="2100" dirty="0"/>
          </a:p>
        </p:txBody>
      </p:sp>
      <p:sp>
        <p:nvSpPr>
          <p:cNvPr id="8" name="Course GitHub link"/>
          <p:cNvSpPr txBox="1"/>
          <p:nvPr/>
        </p:nvSpPr>
        <p:spPr>
          <a:xfrm>
            <a:off x="609600" y="5638800"/>
            <a:ext cx="7239000" cy="495300"/>
          </a:xfrm>
          <a:prstGeom prst="rect">
            <a:avLst/>
          </a:prstGeom>
          <a:noFill/>
          <a:ln w="0">
            <a:noFill/>
          </a:ln>
        </p:spPr>
        <p:txBody>
          <a:bodyPr wrap="square" lIns="0" tIns="0" rIns="0" bIns="0" anchor="t">
            <a:noAutofit/>
          </a:bodyPr>
          <a:lstStyle/>
          <a:p>
            <a:pPr algn="l">
              <a:lnSpc>
                <a:spcPct val="115000"/>
              </a:lnSpc>
              <a:spcAft>
                <a:spcPts val="0"/>
              </a:spcAft>
            </a:pPr>
            <a:r>
              <a:rPr lang="en-GB" sz="2250" b="1" i="0" u="sng">
                <a:solidFill>
                  <a:srgbClr val="008C95"/>
                </a:solidFill>
                <a:latin typeface="DejaVu Sans"/>
                <a:ea typeface="DejaVu Sans"/>
                <a:cs typeface="DejaVu Sans"/>
                <a:hlinkClick r:id="rId3" tooltip="Open the course GitHub page"/>
              </a:rPr>
              <a:t>github.com/semtm0051/2026_27</a:t>
            </a:r>
            <a:endParaRPr lang="en-GB" sz="2250"/>
          </a:p>
        </p:txBody>
      </p:sp>
      <p:pic>
        <p:nvPicPr>
          <p:cNvPr id="9" name="Course GitHub QR code" descr="QR code linking to https://github.com/semtm0051/2026_27">
            <a:hlinkClick r:id="rId3" tooltip="Open the course GitHub page"/>
          </p:cNvPr>
          <p:cNvPicPr>
            <a:picLocks noChangeAspect="1"/>
          </p:cNvPicPr>
          <p:nvPr/>
        </p:nvPicPr>
        <p:blipFill>
          <a:blip r:embed="rId4"/>
          <a:stretch>
            <a:fillRect/>
          </a:stretch>
        </p:blipFill>
        <p:spPr>
          <a:xfrm>
            <a:off x="8210550" y="2143125"/>
            <a:ext cx="3371850" cy="3371850"/>
          </a:xfrm>
          <a:prstGeom prst="rect">
            <a:avLst/>
          </a:prstGeom>
        </p:spPr>
      </p:pic>
      <p:sp>
        <p:nvSpPr>
          <p:cNvPr id="10" name="QR caption"/>
          <p:cNvSpPr txBox="1"/>
          <p:nvPr/>
        </p:nvSpPr>
        <p:spPr>
          <a:xfrm>
            <a:off x="7953375" y="5676900"/>
            <a:ext cx="3886200" cy="400050"/>
          </a:xfrm>
          <a:prstGeom prst="rect">
            <a:avLst/>
          </a:prstGeom>
          <a:noFill/>
          <a:ln w="0">
            <a:noFill/>
          </a:ln>
        </p:spPr>
        <p:txBody>
          <a:bodyPr wrap="square" lIns="0" tIns="0" rIns="0" bIns="0" anchor="t">
            <a:noAutofit/>
          </a:bodyPr>
          <a:lstStyle/>
          <a:p>
            <a:pPr algn="ctr">
              <a:lnSpc>
                <a:spcPct val="115000"/>
              </a:lnSpc>
              <a:spcAft>
                <a:spcPts val="0"/>
              </a:spcAft>
            </a:pPr>
            <a:r>
              <a:rPr lang="en-GB" sz="1725" b="0" i="0">
                <a:solidFill>
                  <a:srgbClr val="526276"/>
                </a:solidFill>
                <a:latin typeface="DejaVu Sans"/>
                <a:ea typeface="DejaVu Sans"/>
                <a:cs typeface="DejaVu Sans"/>
              </a:rPr>
              <a:t>Scan for course materials</a:t>
            </a:r>
            <a:endParaRPr lang="en-GB" sz="1725"/>
          </a:p>
        </p:txBody>
      </p:sp>
    </p:spTree>
    <p:extLst>
      <p:ext uri="{BB962C8B-B14F-4D97-AF65-F5344CB8AC3E}">
        <p14:creationId xmlns:p14="http://schemas.microsoft.com/office/powerpoint/2010/main" val="202885578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372</TotalTime>
  <Words>7841</Words>
  <Application>Microsoft Office PowerPoint</Application>
  <DocSecurity>0</DocSecurity>
  <PresentationFormat>Widescreen</PresentationFormat>
  <Paragraphs>855</Paragraphs>
  <Slides>44</Slides>
  <Notes>43</Notes>
  <HiddenSlides>0</HiddenSlides>
  <MMClips>0</MMClips>
  <ScaleCrop>false</ScaleCrop>
  <HeadingPairs>
    <vt:vector size="6" baseType="variant">
      <vt:variant>
        <vt:lpstr>Caratteri utilizzati</vt:lpstr>
      </vt:variant>
      <vt:variant>
        <vt:i4>4</vt:i4>
      </vt:variant>
      <vt:variant>
        <vt:lpstr>Tema</vt:lpstr>
      </vt:variant>
      <vt:variant>
        <vt:i4>2</vt:i4>
      </vt:variant>
      <vt:variant>
        <vt:lpstr>Titoli diapositive</vt:lpstr>
      </vt:variant>
      <vt:variant>
        <vt:i4>44</vt:i4>
      </vt:variant>
    </vt:vector>
  </HeadingPairs>
  <TitlesOfParts>
    <vt:vector size="50" baseType="lpstr">
      <vt:lpstr>Arial</vt:lpstr>
      <vt:lpstr>Calibri</vt:lpstr>
      <vt:lpstr>Cambria Math</vt:lpstr>
      <vt:lpstr>DejaVu Sans</vt:lpstr>
      <vt:lpstr>ChatGPT</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Roberto Colomboni</cp:lastModifiedBy>
  <cp:revision>29</cp:revision>
  <dcterms:created xsi:type="dcterms:W3CDTF">2026-10-03T10:26:10Z</dcterms:created>
  <dcterms:modified xsi:type="dcterms:W3CDTF">2026-10-12T13:45:48Z</dcterms:modified>
</cp:coreProperties>
</file>